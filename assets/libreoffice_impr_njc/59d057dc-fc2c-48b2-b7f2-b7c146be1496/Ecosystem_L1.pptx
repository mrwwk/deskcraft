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jpg" ContentType="image/jpg"/>
  <Override PartName="/ppt/media/image-12-1.jpg" ContentType="image/jpg"/>
  <Override PartName="/ppt/media/image-16-1.jpg" ContentType="image/jpg"/>
  <Override PartName="/ppt/media/image-19-1.jpg" ContentType="image/jpg"/>
  <Override PartName="/ppt/media/image-4-1.jpg" ContentType="image/jpg"/>
  <Override PartName="/ppt/media/image-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6"/>
        </a:solidFill>
      </p:bgPr>
    </p:bg>
    <p:spTree>
      <p:nvGrpSpPr>
        <p:cNvPr id="1" name=""/>
        <p:cNvGrpSpPr/>
        <p:nvPr/>
      </p:nvGrpSpPr>
      <p:grpSpPr>
        <a:xfrm>
          <a:off x="0" y="0"/>
          <a:ext cx="0" cy="0"/>
          <a:chOff x="0" y="0"/>
          <a:chExt cx="0" cy="0"/>
        </a:xfrm>
      </p:grpSpPr>
      <p:pic>
        <p:nvPicPr>
          <p:cNvPr id="2" name="Image 0" descr="https://kimi-web-img.moonshot.cn/img/media.istockphoto.com/cfa0ec59a44a894f0969eea2974d029fa6236610.jpg">    </p:cNvPr>
          <p:cNvPicPr>
            <a:picLocks noChangeAspect="1"/>
          </p:cNvPicPr>
          <p:nvPr/>
        </p:nvPicPr>
        <p:blipFill>
          <a:blip r:embed="rId1"/>
          <a:srcRect l="0" r="0" t="7813" b="7813"/>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80000"/>
                </a:srgbClr>
              </a:gs>
              <a:gs pos="100000">
                <a:srgbClr val="000000">
                  <a:alpha val="0"/>
                </a:srgbClr>
              </a:gs>
            </a:gsLst>
            <a:lin ang="0" scaled="1"/>
          </a:gradFill>
          <a:ln/>
        </p:spPr>
      </p:sp>
      <p:sp>
        <p:nvSpPr>
          <p:cNvPr id="4" name="Shape 1"/>
          <p:cNvSpPr/>
          <p:nvPr/>
        </p:nvSpPr>
        <p:spPr>
          <a:xfrm>
            <a:off x="381000" y="615404"/>
            <a:ext cx="2724150" cy="381000"/>
          </a:xfrm>
          <a:custGeom>
            <a:avLst/>
            <a:gdLst/>
            <a:ahLst/>
            <a:cxnLst/>
            <a:rect l="l" t="t" r="r" b="b"/>
            <a:pathLst>
              <a:path w="2724150" h="381000">
                <a:moveTo>
                  <a:pt x="190500" y="0"/>
                </a:moveTo>
                <a:lnTo>
                  <a:pt x="2533650" y="0"/>
                </a:lnTo>
                <a:cubicBezTo>
                  <a:pt x="2638790" y="0"/>
                  <a:pt x="2724150" y="85360"/>
                  <a:pt x="2724150" y="190500"/>
                </a:cubicBezTo>
                <a:lnTo>
                  <a:pt x="2724150" y="190500"/>
                </a:lnTo>
                <a:cubicBezTo>
                  <a:pt x="2724150" y="295640"/>
                  <a:pt x="2638790" y="381000"/>
                  <a:pt x="25336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25098"/>
            </a:srgbClr>
          </a:solidFill>
          <a:ln/>
        </p:spPr>
      </p:sp>
      <p:sp>
        <p:nvSpPr>
          <p:cNvPr id="5" name="Text 2"/>
          <p:cNvSpPr/>
          <p:nvPr/>
        </p:nvSpPr>
        <p:spPr>
          <a:xfrm>
            <a:off x="571500" y="691604"/>
            <a:ext cx="2419350" cy="228600"/>
          </a:xfrm>
          <a:prstGeom prst="rect">
            <a:avLst/>
          </a:prstGeom>
          <a:noFill/>
          <a:ln/>
        </p:spPr>
        <p:txBody>
          <a:bodyPr wrap="square" lIns="0" tIns="0" rIns="0" bIns="0" rtlCol="0" anchor="ctr"/>
          <a:lstStyle/>
          <a:p>
            <a:pPr>
              <a:lnSpc>
                <a:spcPct val="130000"/>
              </a:lnSpc>
            </a:pPr>
            <a:r>
              <a:rPr lang="en-US" sz="1200" b="1" spc="120" kern="0" dirty="0">
                <a:solidFill>
                  <a:srgbClr val="8FB7AC"/>
                </a:solidFill>
                <a:latin typeface="Quattrocento Sans" pitchFamily="34" charset="0"/>
                <a:ea typeface="Quattrocento Sans" pitchFamily="34" charset="-122"/>
                <a:cs typeface="Quattrocento Sans" pitchFamily="34" charset="-120"/>
              </a:rPr>
              <a:t>Forest Ecology Research</a:t>
            </a:r>
            <a:endParaRPr lang="en-US" sz="1600" dirty="0"/>
          </a:p>
        </p:txBody>
      </p:sp>
      <p:sp>
        <p:nvSpPr>
          <p:cNvPr id="6" name="Text 3"/>
          <p:cNvSpPr/>
          <p:nvPr/>
        </p:nvSpPr>
        <p:spPr>
          <a:xfrm>
            <a:off x="381000" y="1225004"/>
            <a:ext cx="7486650" cy="3019425"/>
          </a:xfrm>
          <a:prstGeom prst="rect">
            <a:avLst/>
          </a:prstGeom>
          <a:noFill/>
          <a:ln/>
        </p:spPr>
        <p:txBody>
          <a:bodyPr wrap="square" lIns="0" tIns="0" rIns="0" bIns="0" rtlCol="0" anchor="ctr"/>
          <a:lstStyle/>
          <a:p>
            <a:pPr>
              <a:lnSpc>
                <a:spcPct val="90000"/>
              </a:lnSpc>
            </a:pPr>
            <a:r>
              <a:rPr lang="en-US" sz="5400" b="1" dirty="0">
                <a:solidFill>
                  <a:srgbClr val="FFFFFF"/>
                </a:solidFill>
                <a:latin typeface="Sorts Mill Goudy" pitchFamily="34" charset="0"/>
                <a:ea typeface="Sorts Mill Goudy" pitchFamily="34" charset="-122"/>
                <a:cs typeface="Sorts Mill Goudy" pitchFamily="34" charset="-120"/>
              </a:rPr>
              <a:t>Ecosystem Mechanisms for Maintaining Biodiversity in Natural Forests</a:t>
            </a:r>
            <a:endParaRPr lang="en-US" sz="1600" dirty="0"/>
          </a:p>
        </p:txBody>
      </p:sp>
      <p:sp>
        <p:nvSpPr>
          <p:cNvPr id="7" name="Text 4"/>
          <p:cNvSpPr/>
          <p:nvPr/>
        </p:nvSpPr>
        <p:spPr>
          <a:xfrm>
            <a:off x="381000" y="4470946"/>
            <a:ext cx="5829300" cy="742950"/>
          </a:xfrm>
          <a:prstGeom prst="rect">
            <a:avLst/>
          </a:prstGeom>
          <a:noFill/>
          <a:ln/>
        </p:spPr>
        <p:txBody>
          <a:bodyPr wrap="square" lIns="0" tIns="0" rIns="0" bIns="0" rtlCol="0" anchor="ctr"/>
          <a:lstStyle/>
          <a:p>
            <a:pPr>
              <a:lnSpc>
                <a:spcPct val="140000"/>
              </a:lnSpc>
            </a:pPr>
            <a:r>
              <a:rPr lang="en-US" sz="1800" dirty="0">
                <a:solidFill>
                  <a:srgbClr val="8FB7AC"/>
                </a:solidFill>
                <a:latin typeface="Quattrocento Sans" pitchFamily="34" charset="0"/>
                <a:ea typeface="Quattrocento Sans" pitchFamily="34" charset="-122"/>
                <a:cs typeface="Quattrocento Sans" pitchFamily="34" charset="-120"/>
              </a:rPr>
              <a:t>An Exploration of Ecological Processes Sustaining Forest Biological Diversity</a:t>
            </a:r>
            <a:endParaRPr lang="en-US" sz="1600" dirty="0"/>
          </a:p>
        </p:txBody>
      </p:sp>
      <p:sp>
        <p:nvSpPr>
          <p:cNvPr id="8" name="Shape 5"/>
          <p:cNvSpPr/>
          <p:nvPr/>
        </p:nvSpPr>
        <p:spPr>
          <a:xfrm>
            <a:off x="416719" y="6013996"/>
            <a:ext cx="166688" cy="190500"/>
          </a:xfrm>
          <a:custGeom>
            <a:avLst/>
            <a:gdLst/>
            <a:ahLst/>
            <a:cxnLst/>
            <a:rect l="l" t="t" r="r" b="b"/>
            <a:pathLst>
              <a:path w="166688" h="190500">
                <a:moveTo>
                  <a:pt x="47625" y="0"/>
                </a:moveTo>
                <a:cubicBezTo>
                  <a:pt x="41039" y="0"/>
                  <a:pt x="35719" y="5321"/>
                  <a:pt x="35719" y="11906"/>
                </a:cubicBezTo>
                <a:lnTo>
                  <a:pt x="35719" y="23812"/>
                </a:lnTo>
                <a:lnTo>
                  <a:pt x="23812" y="23812"/>
                </a:lnTo>
                <a:cubicBezTo>
                  <a:pt x="10678" y="23812"/>
                  <a:pt x="0" y="34491"/>
                  <a:pt x="0" y="47625"/>
                </a:cubicBezTo>
                <a:lnTo>
                  <a:pt x="0" y="65484"/>
                </a:lnTo>
                <a:lnTo>
                  <a:pt x="166688" y="65484"/>
                </a:lnTo>
                <a:lnTo>
                  <a:pt x="166688" y="47625"/>
                </a:lnTo>
                <a:cubicBezTo>
                  <a:pt x="166688" y="34491"/>
                  <a:pt x="156009" y="23812"/>
                  <a:pt x="142875" y="23812"/>
                </a:cubicBezTo>
                <a:lnTo>
                  <a:pt x="130969" y="23812"/>
                </a:lnTo>
                <a:lnTo>
                  <a:pt x="130969" y="11906"/>
                </a:lnTo>
                <a:cubicBezTo>
                  <a:pt x="130969" y="5321"/>
                  <a:pt x="125648" y="0"/>
                  <a:pt x="119063" y="0"/>
                </a:cubicBezTo>
                <a:cubicBezTo>
                  <a:pt x="112477" y="0"/>
                  <a:pt x="107156" y="5321"/>
                  <a:pt x="107156" y="11906"/>
                </a:cubicBezTo>
                <a:lnTo>
                  <a:pt x="107156" y="23812"/>
                </a:lnTo>
                <a:lnTo>
                  <a:pt x="59531" y="23812"/>
                </a:lnTo>
                <a:lnTo>
                  <a:pt x="59531" y="11906"/>
                </a:lnTo>
                <a:cubicBezTo>
                  <a:pt x="59531" y="5321"/>
                  <a:pt x="54211" y="0"/>
                  <a:pt x="47625" y="0"/>
                </a:cubicBezTo>
                <a:close/>
                <a:moveTo>
                  <a:pt x="0" y="83344"/>
                </a:moveTo>
                <a:lnTo>
                  <a:pt x="0" y="154781"/>
                </a:lnTo>
                <a:cubicBezTo>
                  <a:pt x="0" y="167915"/>
                  <a:pt x="10678" y="178594"/>
                  <a:pt x="23812" y="178594"/>
                </a:cubicBezTo>
                <a:lnTo>
                  <a:pt x="142875" y="178594"/>
                </a:lnTo>
                <a:cubicBezTo>
                  <a:pt x="156009" y="178594"/>
                  <a:pt x="166688" y="167915"/>
                  <a:pt x="166688" y="154781"/>
                </a:cubicBezTo>
                <a:lnTo>
                  <a:pt x="166688" y="83344"/>
                </a:lnTo>
                <a:lnTo>
                  <a:pt x="0" y="83344"/>
                </a:lnTo>
                <a:close/>
              </a:path>
            </a:pathLst>
          </a:custGeom>
          <a:solidFill>
            <a:srgbClr val="8FB7AC"/>
          </a:solidFill>
          <a:ln/>
        </p:spPr>
      </p:sp>
      <p:sp>
        <p:nvSpPr>
          <p:cNvPr id="9" name="Text 6"/>
          <p:cNvSpPr/>
          <p:nvPr/>
        </p:nvSpPr>
        <p:spPr>
          <a:xfrm>
            <a:off x="733425" y="5975896"/>
            <a:ext cx="466725" cy="266700"/>
          </a:xfrm>
          <a:prstGeom prst="rect">
            <a:avLst/>
          </a:prstGeom>
          <a:noFill/>
          <a:ln/>
        </p:spPr>
        <p:txBody>
          <a:bodyPr wrap="square" lIns="0" tIns="0" rIns="0" bIns="0" rtlCol="0" anchor="ctr"/>
          <a:lstStyle/>
          <a:p>
            <a:pPr>
              <a:lnSpc>
                <a:spcPct val="130000"/>
              </a:lnSpc>
            </a:pPr>
            <a:r>
              <a:rPr lang="en-US" sz="1350" dirty="0">
                <a:solidFill>
                  <a:srgbClr val="8FB7AC"/>
                </a:solidFill>
                <a:latin typeface="Quattrocento Sans" pitchFamily="34" charset="0"/>
                <a:ea typeface="Quattrocento Sans" pitchFamily="34" charset="-122"/>
                <a:cs typeface="Quattrocento Sans" pitchFamily="34" charset="-120"/>
              </a:rPr>
              <a:t>2026</a:t>
            </a:r>
            <a:endParaRPr lang="en-US" sz="1600" dirty="0"/>
          </a:p>
        </p:txBody>
      </p:sp>
      <p:sp>
        <p:nvSpPr>
          <p:cNvPr id="10" name="Shape 7"/>
          <p:cNvSpPr/>
          <p:nvPr/>
        </p:nvSpPr>
        <p:spPr>
          <a:xfrm>
            <a:off x="1442368" y="6013996"/>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FB7AC"/>
          </a:solidFill>
          <a:ln/>
        </p:spPr>
      </p:sp>
      <p:sp>
        <p:nvSpPr>
          <p:cNvPr id="11" name="Text 8"/>
          <p:cNvSpPr/>
          <p:nvPr/>
        </p:nvSpPr>
        <p:spPr>
          <a:xfrm>
            <a:off x="1770980" y="5975896"/>
            <a:ext cx="1447800" cy="266700"/>
          </a:xfrm>
          <a:prstGeom prst="rect">
            <a:avLst/>
          </a:prstGeom>
          <a:noFill/>
          <a:ln/>
        </p:spPr>
        <p:txBody>
          <a:bodyPr wrap="square" lIns="0" tIns="0" rIns="0" bIns="0" rtlCol="0" anchor="ctr"/>
          <a:lstStyle/>
          <a:p>
            <a:pPr>
              <a:lnSpc>
                <a:spcPct val="130000"/>
              </a:lnSpc>
            </a:pPr>
            <a:r>
              <a:rPr lang="en-US" sz="1350" dirty="0">
                <a:solidFill>
                  <a:srgbClr val="8FB7AC"/>
                </a:solidFill>
                <a:latin typeface="Quattrocento Sans" pitchFamily="34" charset="0"/>
                <a:ea typeface="Quattrocento Sans" pitchFamily="34" charset="-122"/>
                <a:cs typeface="Quattrocento Sans" pitchFamily="34" charset="-120"/>
              </a:rPr>
              <a:t>Ecological Science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Overview</a:t>
            </a:r>
            <a:endParaRPr lang="en-US" sz="1600" dirty="0"/>
          </a:p>
        </p:txBody>
      </p:sp>
      <p:sp>
        <p:nvSpPr>
          <p:cNvPr id="3" name="Text 1"/>
          <p:cNvSpPr/>
          <p:nvPr/>
        </p:nvSpPr>
        <p:spPr>
          <a:xfrm>
            <a:off x="381000" y="647700"/>
            <a:ext cx="11658600" cy="457200"/>
          </a:xfrm>
          <a:prstGeom prst="rect">
            <a:avLst/>
          </a:prstGeom>
          <a:noFill/>
          <a:ln/>
        </p:spPr>
        <p:txBody>
          <a:bodyPr wrap="square" lIns="0" tIns="0" rIns="0" bIns="0" rtlCol="0" anchor="ctr"/>
          <a:lstStyle/>
          <a:p>
            <a:pPr>
              <a:lnSpc>
                <a:spcPct val="80000"/>
              </a:lnSpc>
            </a:pPr>
            <a:r>
              <a:rPr lang="en-US" sz="3600" b="1" dirty="0">
                <a:solidFill>
                  <a:srgbClr val="2F3E3B"/>
                </a:solidFill>
                <a:latin typeface="Sorts Mill Goudy" pitchFamily="34" charset="0"/>
                <a:ea typeface="Sorts Mill Goudy" pitchFamily="34" charset="-122"/>
                <a:cs typeface="Sorts Mill Goudy" pitchFamily="34" charset="-120"/>
              </a:rPr>
              <a:t>Contents</a:t>
            </a:r>
            <a:endParaRPr lang="en-US" sz="1600" dirty="0"/>
          </a:p>
        </p:txBody>
      </p:sp>
      <p:sp>
        <p:nvSpPr>
          <p:cNvPr id="4" name="Shape 2"/>
          <p:cNvSpPr/>
          <p:nvPr/>
        </p:nvSpPr>
        <p:spPr>
          <a:xfrm>
            <a:off x="4000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5" name="Shape 3"/>
          <p:cNvSpPr/>
          <p:nvPr/>
        </p:nvSpPr>
        <p:spPr>
          <a:xfrm>
            <a:off x="4000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sp>
      <p:sp>
        <p:nvSpPr>
          <p:cNvPr id="6" name="Shape 4"/>
          <p:cNvSpPr/>
          <p:nvPr/>
        </p:nvSpPr>
        <p:spPr>
          <a:xfrm>
            <a:off x="5715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sp>
      <p:sp>
        <p:nvSpPr>
          <p:cNvPr id="7" name="Text 5"/>
          <p:cNvSpPr/>
          <p:nvPr/>
        </p:nvSpPr>
        <p:spPr>
          <a:xfrm>
            <a:off x="523875" y="15621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01</a:t>
            </a:r>
            <a:endParaRPr lang="en-US" sz="1600" dirty="0"/>
          </a:p>
        </p:txBody>
      </p:sp>
      <p:sp>
        <p:nvSpPr>
          <p:cNvPr id="8" name="Text 6"/>
          <p:cNvSpPr/>
          <p:nvPr/>
        </p:nvSpPr>
        <p:spPr>
          <a:xfrm>
            <a:off x="1181100" y="1562100"/>
            <a:ext cx="32289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Introduction to Forest Biodiversity</a:t>
            </a:r>
            <a:endParaRPr lang="en-US" sz="1600" dirty="0"/>
          </a:p>
        </p:txBody>
      </p:sp>
      <p:sp>
        <p:nvSpPr>
          <p:cNvPr id="9" name="Text 7"/>
          <p:cNvSpPr/>
          <p:nvPr/>
        </p:nvSpPr>
        <p:spPr>
          <a:xfrm>
            <a:off x="1181100" y="1866900"/>
            <a:ext cx="32099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Global significance and conservation challenges</a:t>
            </a:r>
            <a:endParaRPr lang="en-US" sz="1600" dirty="0"/>
          </a:p>
        </p:txBody>
      </p:sp>
      <p:sp>
        <p:nvSpPr>
          <p:cNvPr id="10" name="Shape 8"/>
          <p:cNvSpPr/>
          <p:nvPr/>
        </p:nvSpPr>
        <p:spPr>
          <a:xfrm>
            <a:off x="6267450" y="140970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1" name="Shape 9"/>
          <p:cNvSpPr/>
          <p:nvPr/>
        </p:nvSpPr>
        <p:spPr>
          <a:xfrm>
            <a:off x="6267450" y="140970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4C8A7A"/>
          </a:solidFill>
          <a:ln/>
        </p:spPr>
      </p:sp>
      <p:sp>
        <p:nvSpPr>
          <p:cNvPr id="12" name="Shape 10"/>
          <p:cNvSpPr/>
          <p:nvPr/>
        </p:nvSpPr>
        <p:spPr>
          <a:xfrm>
            <a:off x="6438900" y="15621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4C8A7A"/>
          </a:solidFill>
          <a:ln/>
        </p:spPr>
      </p:sp>
      <p:sp>
        <p:nvSpPr>
          <p:cNvPr id="13" name="Text 11"/>
          <p:cNvSpPr/>
          <p:nvPr/>
        </p:nvSpPr>
        <p:spPr>
          <a:xfrm>
            <a:off x="6391275" y="156210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02</a:t>
            </a:r>
            <a:endParaRPr lang="en-US" sz="1600" dirty="0"/>
          </a:p>
        </p:txBody>
      </p:sp>
      <p:sp>
        <p:nvSpPr>
          <p:cNvPr id="14" name="Text 12"/>
          <p:cNvSpPr/>
          <p:nvPr/>
        </p:nvSpPr>
        <p:spPr>
          <a:xfrm>
            <a:off x="7048500" y="1562100"/>
            <a:ext cx="29527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Structural Complexity</a:t>
            </a:r>
            <a:endParaRPr lang="en-US" sz="1600" dirty="0"/>
          </a:p>
        </p:txBody>
      </p:sp>
      <p:sp>
        <p:nvSpPr>
          <p:cNvPr id="15" name="Text 13"/>
          <p:cNvSpPr/>
          <p:nvPr/>
        </p:nvSpPr>
        <p:spPr>
          <a:xfrm>
            <a:off x="7048500" y="1866900"/>
            <a:ext cx="29337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Habitat heterogeneity and vertical structure</a:t>
            </a:r>
            <a:endParaRPr lang="en-US" sz="1600" dirty="0"/>
          </a:p>
        </p:txBody>
      </p:sp>
      <p:sp>
        <p:nvSpPr>
          <p:cNvPr id="16" name="Shape 14"/>
          <p:cNvSpPr/>
          <p:nvPr/>
        </p:nvSpPr>
        <p:spPr>
          <a:xfrm>
            <a:off x="4000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7" name="Shape 15"/>
          <p:cNvSpPr/>
          <p:nvPr/>
        </p:nvSpPr>
        <p:spPr>
          <a:xfrm>
            <a:off x="4000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sp>
      <p:sp>
        <p:nvSpPr>
          <p:cNvPr id="18" name="Shape 16"/>
          <p:cNvSpPr/>
          <p:nvPr/>
        </p:nvSpPr>
        <p:spPr>
          <a:xfrm>
            <a:off x="5715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sp>
      <p:sp>
        <p:nvSpPr>
          <p:cNvPr id="19" name="Text 17"/>
          <p:cNvSpPr/>
          <p:nvPr/>
        </p:nvSpPr>
        <p:spPr>
          <a:xfrm>
            <a:off x="523875" y="2867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03</a:t>
            </a:r>
            <a:endParaRPr lang="en-US" sz="1600" dirty="0"/>
          </a:p>
        </p:txBody>
      </p:sp>
      <p:sp>
        <p:nvSpPr>
          <p:cNvPr id="20" name="Text 18"/>
          <p:cNvSpPr/>
          <p:nvPr/>
        </p:nvSpPr>
        <p:spPr>
          <a:xfrm>
            <a:off x="1181100" y="2867025"/>
            <a:ext cx="28003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Species Interactions</a:t>
            </a:r>
            <a:endParaRPr lang="en-US" sz="1600" dirty="0"/>
          </a:p>
        </p:txBody>
      </p:sp>
      <p:sp>
        <p:nvSpPr>
          <p:cNvPr id="21" name="Text 19"/>
          <p:cNvSpPr/>
          <p:nvPr/>
        </p:nvSpPr>
        <p:spPr>
          <a:xfrm>
            <a:off x="1181100" y="3171825"/>
            <a:ext cx="27813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Competition, facilitation, and coexistence</a:t>
            </a:r>
            <a:endParaRPr lang="en-US" sz="1600" dirty="0"/>
          </a:p>
        </p:txBody>
      </p:sp>
      <p:sp>
        <p:nvSpPr>
          <p:cNvPr id="22" name="Shape 20"/>
          <p:cNvSpPr/>
          <p:nvPr/>
        </p:nvSpPr>
        <p:spPr>
          <a:xfrm>
            <a:off x="6267450" y="271462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3" name="Shape 21"/>
          <p:cNvSpPr/>
          <p:nvPr/>
        </p:nvSpPr>
        <p:spPr>
          <a:xfrm>
            <a:off x="6267450" y="271462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8FB7AC"/>
          </a:solidFill>
          <a:ln/>
        </p:spPr>
      </p:sp>
      <p:sp>
        <p:nvSpPr>
          <p:cNvPr id="24" name="Shape 22"/>
          <p:cNvSpPr/>
          <p:nvPr/>
        </p:nvSpPr>
        <p:spPr>
          <a:xfrm>
            <a:off x="6438900" y="286702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FB7AC"/>
          </a:solidFill>
          <a:ln/>
        </p:spPr>
      </p:sp>
      <p:sp>
        <p:nvSpPr>
          <p:cNvPr id="25" name="Text 23"/>
          <p:cNvSpPr/>
          <p:nvPr/>
        </p:nvSpPr>
        <p:spPr>
          <a:xfrm>
            <a:off x="6391275" y="2867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04</a:t>
            </a:r>
            <a:endParaRPr lang="en-US" sz="1600" dirty="0"/>
          </a:p>
        </p:txBody>
      </p:sp>
      <p:sp>
        <p:nvSpPr>
          <p:cNvPr id="26" name="Text 24"/>
          <p:cNvSpPr/>
          <p:nvPr/>
        </p:nvSpPr>
        <p:spPr>
          <a:xfrm>
            <a:off x="7048500" y="2867025"/>
            <a:ext cx="27717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Disturbance Regimes</a:t>
            </a:r>
            <a:endParaRPr lang="en-US" sz="1600" dirty="0"/>
          </a:p>
        </p:txBody>
      </p:sp>
      <p:sp>
        <p:nvSpPr>
          <p:cNvPr id="27" name="Text 25"/>
          <p:cNvSpPr/>
          <p:nvPr/>
        </p:nvSpPr>
        <p:spPr>
          <a:xfrm>
            <a:off x="7048500" y="3171825"/>
            <a:ext cx="27527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Gap dynamics and succession processes</a:t>
            </a:r>
            <a:endParaRPr lang="en-US" sz="1600" dirty="0"/>
          </a:p>
        </p:txBody>
      </p:sp>
      <p:sp>
        <p:nvSpPr>
          <p:cNvPr id="28" name="Shape 26"/>
          <p:cNvSpPr/>
          <p:nvPr/>
        </p:nvSpPr>
        <p:spPr>
          <a:xfrm>
            <a:off x="4000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9" name="Shape 27"/>
          <p:cNvSpPr/>
          <p:nvPr/>
        </p:nvSpPr>
        <p:spPr>
          <a:xfrm>
            <a:off x="4000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sp>
      <p:sp>
        <p:nvSpPr>
          <p:cNvPr id="30" name="Shape 28"/>
          <p:cNvSpPr/>
          <p:nvPr/>
        </p:nvSpPr>
        <p:spPr>
          <a:xfrm>
            <a:off x="5715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sp>
      <p:sp>
        <p:nvSpPr>
          <p:cNvPr id="31" name="Text 29"/>
          <p:cNvSpPr/>
          <p:nvPr/>
        </p:nvSpPr>
        <p:spPr>
          <a:xfrm>
            <a:off x="523875" y="41719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05</a:t>
            </a:r>
            <a:endParaRPr lang="en-US" sz="1600" dirty="0"/>
          </a:p>
        </p:txBody>
      </p:sp>
      <p:sp>
        <p:nvSpPr>
          <p:cNvPr id="32" name="Text 30"/>
          <p:cNvSpPr/>
          <p:nvPr/>
        </p:nvSpPr>
        <p:spPr>
          <a:xfrm>
            <a:off x="1181100" y="4171950"/>
            <a:ext cx="284797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Belowground Processes</a:t>
            </a:r>
            <a:endParaRPr lang="en-US" sz="1600" dirty="0"/>
          </a:p>
        </p:txBody>
      </p:sp>
      <p:sp>
        <p:nvSpPr>
          <p:cNvPr id="33" name="Text 31"/>
          <p:cNvSpPr/>
          <p:nvPr/>
        </p:nvSpPr>
        <p:spPr>
          <a:xfrm>
            <a:off x="1181100" y="4476750"/>
            <a:ext cx="28289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Mycorrhizal networks and nutrient cycling</a:t>
            </a:r>
            <a:endParaRPr lang="en-US" sz="1600" dirty="0"/>
          </a:p>
        </p:txBody>
      </p:sp>
      <p:sp>
        <p:nvSpPr>
          <p:cNvPr id="34" name="Shape 32"/>
          <p:cNvSpPr/>
          <p:nvPr/>
        </p:nvSpPr>
        <p:spPr>
          <a:xfrm>
            <a:off x="6267450" y="4019550"/>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35" name="Shape 33"/>
          <p:cNvSpPr/>
          <p:nvPr/>
        </p:nvSpPr>
        <p:spPr>
          <a:xfrm>
            <a:off x="6267450" y="4019550"/>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5F6F6B"/>
          </a:solidFill>
          <a:ln/>
        </p:spPr>
      </p:sp>
      <p:sp>
        <p:nvSpPr>
          <p:cNvPr id="36" name="Shape 34"/>
          <p:cNvSpPr/>
          <p:nvPr/>
        </p:nvSpPr>
        <p:spPr>
          <a:xfrm>
            <a:off x="6438900" y="417195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5F6F6B"/>
          </a:solidFill>
          <a:ln/>
        </p:spPr>
      </p:sp>
      <p:sp>
        <p:nvSpPr>
          <p:cNvPr id="37" name="Text 35"/>
          <p:cNvSpPr/>
          <p:nvPr/>
        </p:nvSpPr>
        <p:spPr>
          <a:xfrm>
            <a:off x="6391275" y="4171950"/>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06</a:t>
            </a:r>
            <a:endParaRPr lang="en-US" sz="1600" dirty="0"/>
          </a:p>
        </p:txBody>
      </p:sp>
      <p:sp>
        <p:nvSpPr>
          <p:cNvPr id="38" name="Text 36"/>
          <p:cNvSpPr/>
          <p:nvPr/>
        </p:nvSpPr>
        <p:spPr>
          <a:xfrm>
            <a:off x="7048500" y="4171950"/>
            <a:ext cx="24955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Animal-Mediated Processes</a:t>
            </a:r>
            <a:endParaRPr lang="en-US" sz="1600" dirty="0"/>
          </a:p>
        </p:txBody>
      </p:sp>
      <p:sp>
        <p:nvSpPr>
          <p:cNvPr id="39" name="Text 37"/>
          <p:cNvSpPr/>
          <p:nvPr/>
        </p:nvSpPr>
        <p:spPr>
          <a:xfrm>
            <a:off x="7048500" y="4476750"/>
            <a:ext cx="24765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Seed dispersal and keystone species</a:t>
            </a:r>
            <a:endParaRPr lang="en-US" sz="1600" dirty="0"/>
          </a:p>
        </p:txBody>
      </p:sp>
      <p:sp>
        <p:nvSpPr>
          <p:cNvPr id="40" name="Shape 38"/>
          <p:cNvSpPr/>
          <p:nvPr/>
        </p:nvSpPr>
        <p:spPr>
          <a:xfrm>
            <a:off x="4000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41" name="Shape 39"/>
          <p:cNvSpPr/>
          <p:nvPr/>
        </p:nvSpPr>
        <p:spPr>
          <a:xfrm>
            <a:off x="4000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sp>
      <p:sp>
        <p:nvSpPr>
          <p:cNvPr id="42" name="Shape 40"/>
          <p:cNvSpPr/>
          <p:nvPr/>
        </p:nvSpPr>
        <p:spPr>
          <a:xfrm>
            <a:off x="5715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sp>
      <p:sp>
        <p:nvSpPr>
          <p:cNvPr id="43" name="Text 41"/>
          <p:cNvSpPr/>
          <p:nvPr/>
        </p:nvSpPr>
        <p:spPr>
          <a:xfrm>
            <a:off x="523875" y="54768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07</a:t>
            </a:r>
            <a:endParaRPr lang="en-US" sz="1600" dirty="0"/>
          </a:p>
        </p:txBody>
      </p:sp>
      <p:sp>
        <p:nvSpPr>
          <p:cNvPr id="44" name="Text 42"/>
          <p:cNvSpPr/>
          <p:nvPr/>
        </p:nvSpPr>
        <p:spPr>
          <a:xfrm>
            <a:off x="1181100" y="5476875"/>
            <a:ext cx="2724150"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Latitudinal Gradients</a:t>
            </a:r>
            <a:endParaRPr lang="en-US" sz="1600" dirty="0"/>
          </a:p>
        </p:txBody>
      </p:sp>
      <p:sp>
        <p:nvSpPr>
          <p:cNvPr id="45" name="Text 43"/>
          <p:cNvSpPr/>
          <p:nvPr/>
        </p:nvSpPr>
        <p:spPr>
          <a:xfrm>
            <a:off x="1181100" y="5781675"/>
            <a:ext cx="2705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Biome variation and climate adaptations</a:t>
            </a:r>
            <a:endParaRPr lang="en-US" sz="1600" dirty="0"/>
          </a:p>
        </p:txBody>
      </p:sp>
      <p:sp>
        <p:nvSpPr>
          <p:cNvPr id="46" name="Shape 44"/>
          <p:cNvSpPr/>
          <p:nvPr/>
        </p:nvSpPr>
        <p:spPr>
          <a:xfrm>
            <a:off x="6267450" y="5324475"/>
            <a:ext cx="5543550" cy="1152525"/>
          </a:xfrm>
          <a:custGeom>
            <a:avLst/>
            <a:gdLst/>
            <a:ahLst/>
            <a:cxnLst/>
            <a:rect l="l" t="t" r="r" b="b"/>
            <a:pathLst>
              <a:path w="5543550" h="1152525">
                <a:moveTo>
                  <a:pt x="38100" y="0"/>
                </a:moveTo>
                <a:lnTo>
                  <a:pt x="5429254" y="0"/>
                </a:lnTo>
                <a:cubicBezTo>
                  <a:pt x="5492378" y="0"/>
                  <a:pt x="5543550" y="51172"/>
                  <a:pt x="5543550" y="114296"/>
                </a:cubicBezTo>
                <a:lnTo>
                  <a:pt x="5543550" y="1038229"/>
                </a:lnTo>
                <a:cubicBezTo>
                  <a:pt x="5543550" y="1101353"/>
                  <a:pt x="5492378" y="1152525"/>
                  <a:pt x="5429254" y="1152525"/>
                </a:cubicBezTo>
                <a:lnTo>
                  <a:pt x="38100" y="1152525"/>
                </a:lnTo>
                <a:cubicBezTo>
                  <a:pt x="17072" y="1152525"/>
                  <a:pt x="0" y="1135453"/>
                  <a:pt x="0" y="1114425"/>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47" name="Shape 45"/>
          <p:cNvSpPr/>
          <p:nvPr/>
        </p:nvSpPr>
        <p:spPr>
          <a:xfrm>
            <a:off x="6267450" y="5324475"/>
            <a:ext cx="38100" cy="1152525"/>
          </a:xfrm>
          <a:custGeom>
            <a:avLst/>
            <a:gdLst/>
            <a:ahLst/>
            <a:cxnLst/>
            <a:rect l="l" t="t" r="r" b="b"/>
            <a:pathLst>
              <a:path w="38100" h="1152525">
                <a:moveTo>
                  <a:pt x="38100" y="0"/>
                </a:moveTo>
                <a:lnTo>
                  <a:pt x="38100" y="0"/>
                </a:lnTo>
                <a:lnTo>
                  <a:pt x="38100" y="1152525"/>
                </a:lnTo>
                <a:lnTo>
                  <a:pt x="38100" y="1152525"/>
                </a:lnTo>
                <a:cubicBezTo>
                  <a:pt x="17072" y="1152525"/>
                  <a:pt x="0" y="1135453"/>
                  <a:pt x="0" y="1114425"/>
                </a:cubicBezTo>
                <a:lnTo>
                  <a:pt x="0" y="38100"/>
                </a:lnTo>
                <a:cubicBezTo>
                  <a:pt x="0" y="17072"/>
                  <a:pt x="17072" y="0"/>
                  <a:pt x="38100" y="0"/>
                </a:cubicBezTo>
                <a:close/>
              </a:path>
            </a:pathLst>
          </a:custGeom>
          <a:solidFill>
            <a:srgbClr val="2F3E3B"/>
          </a:solidFill>
          <a:ln/>
        </p:spPr>
      </p:sp>
      <p:sp>
        <p:nvSpPr>
          <p:cNvPr id="48" name="Shape 46"/>
          <p:cNvSpPr/>
          <p:nvPr/>
        </p:nvSpPr>
        <p:spPr>
          <a:xfrm>
            <a:off x="6438900" y="547687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F3E3B"/>
          </a:solidFill>
          <a:ln/>
        </p:spPr>
      </p:sp>
      <p:sp>
        <p:nvSpPr>
          <p:cNvPr id="49" name="Text 47"/>
          <p:cNvSpPr/>
          <p:nvPr/>
        </p:nvSpPr>
        <p:spPr>
          <a:xfrm>
            <a:off x="6391275" y="54768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Quattrocento Sans" pitchFamily="34" charset="0"/>
                <a:ea typeface="Quattrocento Sans" pitchFamily="34" charset="-122"/>
                <a:cs typeface="Quattrocento Sans" pitchFamily="34" charset="-120"/>
              </a:rPr>
              <a:t>08</a:t>
            </a:r>
            <a:endParaRPr lang="en-US" sz="1600" dirty="0"/>
          </a:p>
        </p:txBody>
      </p:sp>
      <p:sp>
        <p:nvSpPr>
          <p:cNvPr id="50" name="Text 48"/>
          <p:cNvSpPr/>
          <p:nvPr/>
        </p:nvSpPr>
        <p:spPr>
          <a:xfrm>
            <a:off x="7048500" y="5476875"/>
            <a:ext cx="30194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Conservation Implications</a:t>
            </a:r>
            <a:endParaRPr lang="en-US" sz="1600" dirty="0"/>
          </a:p>
        </p:txBody>
      </p:sp>
      <p:sp>
        <p:nvSpPr>
          <p:cNvPr id="51" name="Text 49"/>
          <p:cNvSpPr/>
          <p:nvPr/>
        </p:nvSpPr>
        <p:spPr>
          <a:xfrm>
            <a:off x="7048500" y="5781675"/>
            <a:ext cx="300037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Management strategies and future directions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01 • Introduction</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Forests as Biodiversity Reservoirs</a:t>
            </a:r>
            <a:endParaRPr lang="en-US" sz="1600" dirty="0"/>
          </a:p>
        </p:txBody>
      </p:sp>
      <p:sp>
        <p:nvSpPr>
          <p:cNvPr id="4" name="Text 2"/>
          <p:cNvSpPr/>
          <p:nvPr/>
        </p:nvSpPr>
        <p:spPr>
          <a:xfrm>
            <a:off x="381000" y="11430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Understanding the global significance of forests for terrestrial biodiversity conservation</a:t>
            </a:r>
            <a:endParaRPr lang="en-US" sz="1600" dirty="0"/>
          </a:p>
        </p:txBody>
      </p:sp>
      <p:sp>
        <p:nvSpPr>
          <p:cNvPr id="5" name="Shape 3"/>
          <p:cNvSpPr/>
          <p:nvPr/>
        </p:nvSpPr>
        <p:spPr>
          <a:xfrm>
            <a:off x="400050" y="1638300"/>
            <a:ext cx="7524750" cy="2362200"/>
          </a:xfrm>
          <a:custGeom>
            <a:avLst/>
            <a:gdLst/>
            <a:ahLst/>
            <a:cxnLst/>
            <a:rect l="l" t="t" r="r" b="b"/>
            <a:pathLst>
              <a:path w="7524750" h="2362200">
                <a:moveTo>
                  <a:pt x="38100" y="0"/>
                </a:moveTo>
                <a:lnTo>
                  <a:pt x="7410443" y="0"/>
                </a:lnTo>
                <a:cubicBezTo>
                  <a:pt x="7473531" y="0"/>
                  <a:pt x="7524750" y="51219"/>
                  <a:pt x="7524750" y="114307"/>
                </a:cubicBezTo>
                <a:lnTo>
                  <a:pt x="7524750" y="2247893"/>
                </a:lnTo>
                <a:cubicBezTo>
                  <a:pt x="7524750" y="2310981"/>
                  <a:pt x="7473531" y="2362200"/>
                  <a:pt x="7410443" y="2362200"/>
                </a:cubicBezTo>
                <a:lnTo>
                  <a:pt x="38100" y="2362200"/>
                </a:lnTo>
                <a:cubicBezTo>
                  <a:pt x="17072" y="2362200"/>
                  <a:pt x="0" y="2345128"/>
                  <a:pt x="0" y="23241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400050" y="16383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4C8A7A"/>
          </a:solidFill>
          <a:ln/>
        </p:spPr>
      </p:sp>
      <p:sp>
        <p:nvSpPr>
          <p:cNvPr id="7" name="Shape 5"/>
          <p:cNvSpPr/>
          <p:nvPr/>
        </p:nvSpPr>
        <p:spPr>
          <a:xfrm>
            <a:off x="633413" y="1866900"/>
            <a:ext cx="190500" cy="190500"/>
          </a:xfrm>
          <a:custGeom>
            <a:avLst/>
            <a:gdLst/>
            <a:ahLst/>
            <a:cxnLst/>
            <a:rect l="l" t="t" r="r" b="b"/>
            <a:pathLst>
              <a:path w="190500" h="190500">
                <a:moveTo>
                  <a:pt x="20724" y="74302"/>
                </a:moveTo>
                <a:lnTo>
                  <a:pt x="32221" y="85799"/>
                </a:lnTo>
                <a:cubicBezTo>
                  <a:pt x="34454" y="88032"/>
                  <a:pt x="37467" y="89297"/>
                  <a:pt x="40630" y="89297"/>
                </a:cubicBezTo>
                <a:lnTo>
                  <a:pt x="48630" y="89297"/>
                </a:lnTo>
                <a:cubicBezTo>
                  <a:pt x="51792" y="89297"/>
                  <a:pt x="54806" y="90562"/>
                  <a:pt x="57038" y="92794"/>
                </a:cubicBezTo>
                <a:lnTo>
                  <a:pt x="67940" y="103696"/>
                </a:lnTo>
                <a:cubicBezTo>
                  <a:pt x="70172" y="105928"/>
                  <a:pt x="71438" y="108942"/>
                  <a:pt x="71438" y="112105"/>
                </a:cubicBezTo>
                <a:lnTo>
                  <a:pt x="71438" y="126057"/>
                </a:lnTo>
                <a:cubicBezTo>
                  <a:pt x="71438" y="129220"/>
                  <a:pt x="72703" y="132234"/>
                  <a:pt x="74935" y="134466"/>
                </a:cubicBezTo>
                <a:lnTo>
                  <a:pt x="79883" y="139415"/>
                </a:lnTo>
                <a:cubicBezTo>
                  <a:pt x="82116" y="141647"/>
                  <a:pt x="83381" y="144661"/>
                  <a:pt x="83381" y="147824"/>
                </a:cubicBezTo>
                <a:lnTo>
                  <a:pt x="83381" y="154781"/>
                </a:lnTo>
                <a:cubicBezTo>
                  <a:pt x="83381" y="161367"/>
                  <a:pt x="88702" y="166688"/>
                  <a:pt x="95287" y="166688"/>
                </a:cubicBezTo>
                <a:cubicBezTo>
                  <a:pt x="101873" y="166688"/>
                  <a:pt x="107193" y="161367"/>
                  <a:pt x="107193" y="154781"/>
                </a:cubicBezTo>
                <a:lnTo>
                  <a:pt x="107193" y="153777"/>
                </a:lnTo>
                <a:cubicBezTo>
                  <a:pt x="107193" y="150614"/>
                  <a:pt x="108458" y="147600"/>
                  <a:pt x="110691" y="145368"/>
                </a:cubicBezTo>
                <a:lnTo>
                  <a:pt x="127546" y="128513"/>
                </a:lnTo>
                <a:cubicBezTo>
                  <a:pt x="129778" y="126281"/>
                  <a:pt x="131043" y="123267"/>
                  <a:pt x="131043" y="120104"/>
                </a:cubicBezTo>
                <a:lnTo>
                  <a:pt x="131043" y="107193"/>
                </a:lnTo>
                <a:cubicBezTo>
                  <a:pt x="131043" y="100608"/>
                  <a:pt x="125723" y="95287"/>
                  <a:pt x="119137" y="95287"/>
                </a:cubicBezTo>
                <a:lnTo>
                  <a:pt x="88367" y="95287"/>
                </a:lnTo>
                <a:cubicBezTo>
                  <a:pt x="85204" y="95287"/>
                  <a:pt x="82190" y="94022"/>
                  <a:pt x="79958" y="91790"/>
                </a:cubicBezTo>
                <a:lnTo>
                  <a:pt x="74005" y="85837"/>
                </a:lnTo>
                <a:cubicBezTo>
                  <a:pt x="72442" y="84274"/>
                  <a:pt x="71549" y="82116"/>
                  <a:pt x="71549" y="79883"/>
                </a:cubicBezTo>
                <a:cubicBezTo>
                  <a:pt x="71549" y="75233"/>
                  <a:pt x="75307" y="71475"/>
                  <a:pt x="79958" y="71475"/>
                </a:cubicBezTo>
                <a:lnTo>
                  <a:pt x="92869" y="71475"/>
                </a:lnTo>
                <a:cubicBezTo>
                  <a:pt x="97520" y="71475"/>
                  <a:pt x="101278" y="67717"/>
                  <a:pt x="101278" y="63066"/>
                </a:cubicBezTo>
                <a:cubicBezTo>
                  <a:pt x="101278" y="60833"/>
                  <a:pt x="100385" y="58675"/>
                  <a:pt x="98822" y="57113"/>
                </a:cubicBezTo>
                <a:lnTo>
                  <a:pt x="91492" y="49783"/>
                </a:lnTo>
                <a:cubicBezTo>
                  <a:pt x="90041" y="48369"/>
                  <a:pt x="89297" y="46546"/>
                  <a:pt x="89297" y="44648"/>
                </a:cubicBezTo>
                <a:cubicBezTo>
                  <a:pt x="89297" y="42751"/>
                  <a:pt x="90041" y="40928"/>
                  <a:pt x="91418" y="39551"/>
                </a:cubicBezTo>
                <a:lnTo>
                  <a:pt x="97854" y="33114"/>
                </a:lnTo>
                <a:cubicBezTo>
                  <a:pt x="100013" y="30956"/>
                  <a:pt x="101240" y="28017"/>
                  <a:pt x="101240" y="24966"/>
                </a:cubicBezTo>
                <a:cubicBezTo>
                  <a:pt x="101240" y="22287"/>
                  <a:pt x="100347" y="19869"/>
                  <a:pt x="98859" y="17934"/>
                </a:cubicBezTo>
                <a:cubicBezTo>
                  <a:pt x="97668" y="17897"/>
                  <a:pt x="96478" y="17859"/>
                  <a:pt x="95287" y="17859"/>
                </a:cubicBezTo>
                <a:cubicBezTo>
                  <a:pt x="59792" y="17859"/>
                  <a:pt x="29914" y="41746"/>
                  <a:pt x="20762" y="74302"/>
                </a:cubicBezTo>
                <a:close/>
                <a:moveTo>
                  <a:pt x="172641" y="95250"/>
                </a:moveTo>
                <a:cubicBezTo>
                  <a:pt x="172641" y="82376"/>
                  <a:pt x="169515" y="70247"/>
                  <a:pt x="163934" y="59606"/>
                </a:cubicBezTo>
                <a:cubicBezTo>
                  <a:pt x="161553" y="59941"/>
                  <a:pt x="159209" y="61057"/>
                  <a:pt x="157274" y="62992"/>
                </a:cubicBezTo>
                <a:lnTo>
                  <a:pt x="152288" y="67977"/>
                </a:lnTo>
                <a:cubicBezTo>
                  <a:pt x="150056" y="70210"/>
                  <a:pt x="148791" y="73223"/>
                  <a:pt x="148791" y="76386"/>
                </a:cubicBezTo>
                <a:lnTo>
                  <a:pt x="148791" y="89297"/>
                </a:lnTo>
                <a:cubicBezTo>
                  <a:pt x="148791" y="95883"/>
                  <a:pt x="154112" y="101203"/>
                  <a:pt x="160697" y="101203"/>
                </a:cubicBezTo>
                <a:lnTo>
                  <a:pt x="169664" y="101203"/>
                </a:lnTo>
                <a:cubicBezTo>
                  <a:pt x="170594" y="101203"/>
                  <a:pt x="171524" y="101092"/>
                  <a:pt x="172380" y="100905"/>
                </a:cubicBezTo>
                <a:cubicBezTo>
                  <a:pt x="172529" y="99045"/>
                  <a:pt x="172566" y="97148"/>
                  <a:pt x="172566"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path>
            </a:pathLst>
          </a:custGeom>
          <a:solidFill>
            <a:srgbClr val="4C8A7A"/>
          </a:solidFill>
          <a:ln/>
        </p:spPr>
      </p:sp>
      <p:sp>
        <p:nvSpPr>
          <p:cNvPr id="8" name="Text 6"/>
          <p:cNvSpPr/>
          <p:nvPr/>
        </p:nvSpPr>
        <p:spPr>
          <a:xfrm>
            <a:off x="847725" y="18288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Global Forest Coverage</a:t>
            </a:r>
            <a:endParaRPr lang="en-US" sz="1600" dirty="0"/>
          </a:p>
        </p:txBody>
      </p:sp>
      <p:sp>
        <p:nvSpPr>
          <p:cNvPr id="9" name="Text 7"/>
          <p:cNvSpPr/>
          <p:nvPr/>
        </p:nvSpPr>
        <p:spPr>
          <a:xfrm>
            <a:off x="609600" y="2209800"/>
            <a:ext cx="7200900" cy="74295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Forests cover approximately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31% of Earth's land surface</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representing one of the most extensive terrestrial ecosystems. These complex biological systems harbor </a:t>
            </a:r>
            <a:pPr>
              <a:lnSpc>
                <a:spcPct val="140000"/>
              </a:lnSpc>
            </a:pPr>
            <a:r>
              <a:rPr lang="en-US" sz="1200" b="1" dirty="0">
                <a:solidFill>
                  <a:srgbClr val="1F2A28"/>
                </a:solidFill>
                <a:latin typeface="Quattrocento Sans" pitchFamily="34" charset="0"/>
                <a:ea typeface="Quattrocento Sans" pitchFamily="34" charset="-122"/>
                <a:cs typeface="Quattrocento Sans" pitchFamily="34" charset="-120"/>
              </a:rPr>
              <a:t>over 80% of terrestrial biodiversity</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 providing habitat for millions of species across all taxonomic groups.</a:t>
            </a:r>
            <a:endParaRPr lang="en-US" sz="1600" dirty="0"/>
          </a:p>
        </p:txBody>
      </p:sp>
      <p:sp>
        <p:nvSpPr>
          <p:cNvPr id="10" name="Text 8"/>
          <p:cNvSpPr/>
          <p:nvPr/>
        </p:nvSpPr>
        <p:spPr>
          <a:xfrm>
            <a:off x="609600" y="3067050"/>
            <a:ext cx="7200900" cy="74295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From the towering emergent trees of tropical rainforests to the resilient conifers of boreal zones, forests create three-dimensional habitats that support intricate food webs and ecological interactions essential for planetary health.</a:t>
            </a:r>
            <a:endParaRPr lang="en-US" sz="1600" dirty="0"/>
          </a:p>
        </p:txBody>
      </p:sp>
      <p:sp>
        <p:nvSpPr>
          <p:cNvPr id="11" name="Shape 9"/>
          <p:cNvSpPr/>
          <p:nvPr/>
        </p:nvSpPr>
        <p:spPr>
          <a:xfrm>
            <a:off x="400050" y="4152900"/>
            <a:ext cx="7524750" cy="1752600"/>
          </a:xfrm>
          <a:custGeom>
            <a:avLst/>
            <a:gdLst/>
            <a:ahLst/>
            <a:cxnLst/>
            <a:rect l="l" t="t" r="r" b="b"/>
            <a:pathLst>
              <a:path w="7524750" h="1752600">
                <a:moveTo>
                  <a:pt x="38100" y="0"/>
                </a:moveTo>
                <a:lnTo>
                  <a:pt x="7410445" y="0"/>
                </a:lnTo>
                <a:cubicBezTo>
                  <a:pt x="7473574" y="0"/>
                  <a:pt x="7524750" y="51176"/>
                  <a:pt x="7524750" y="114305"/>
                </a:cubicBezTo>
                <a:lnTo>
                  <a:pt x="7524750" y="1638295"/>
                </a:lnTo>
                <a:cubicBezTo>
                  <a:pt x="7524750" y="1701424"/>
                  <a:pt x="7473574" y="1752600"/>
                  <a:pt x="7410445" y="1752600"/>
                </a:cubicBezTo>
                <a:lnTo>
                  <a:pt x="38100" y="1752600"/>
                </a:lnTo>
                <a:cubicBezTo>
                  <a:pt x="17072" y="1752600"/>
                  <a:pt x="0" y="1735528"/>
                  <a:pt x="0" y="1714500"/>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400050" y="4152900"/>
            <a:ext cx="38100" cy="1752600"/>
          </a:xfrm>
          <a:custGeom>
            <a:avLst/>
            <a:gdLst/>
            <a:ahLst/>
            <a:cxnLst/>
            <a:rect l="l" t="t" r="r" b="b"/>
            <a:pathLst>
              <a:path w="38100" h="1752600">
                <a:moveTo>
                  <a:pt x="38100" y="0"/>
                </a:moveTo>
                <a:lnTo>
                  <a:pt x="38100" y="0"/>
                </a:lnTo>
                <a:lnTo>
                  <a:pt x="38100" y="1752600"/>
                </a:lnTo>
                <a:lnTo>
                  <a:pt x="38100" y="1752600"/>
                </a:lnTo>
                <a:cubicBezTo>
                  <a:pt x="17072" y="1752600"/>
                  <a:pt x="0" y="1735528"/>
                  <a:pt x="0" y="1714500"/>
                </a:cubicBezTo>
                <a:lnTo>
                  <a:pt x="0" y="38100"/>
                </a:lnTo>
                <a:cubicBezTo>
                  <a:pt x="0" y="17072"/>
                  <a:pt x="17072" y="0"/>
                  <a:pt x="38100" y="0"/>
                </a:cubicBezTo>
                <a:close/>
              </a:path>
            </a:pathLst>
          </a:custGeom>
          <a:solidFill>
            <a:srgbClr val="8FB7AC"/>
          </a:solidFill>
          <a:ln/>
        </p:spPr>
      </p:sp>
      <p:sp>
        <p:nvSpPr>
          <p:cNvPr id="13" name="Shape 11"/>
          <p:cNvSpPr/>
          <p:nvPr/>
        </p:nvSpPr>
        <p:spPr>
          <a:xfrm>
            <a:off x="645319" y="4381500"/>
            <a:ext cx="166688" cy="190500"/>
          </a:xfrm>
          <a:custGeom>
            <a:avLst/>
            <a:gdLst/>
            <a:ahLst/>
            <a:cxnLst/>
            <a:rect l="l" t="t" r="r" b="b"/>
            <a:pathLst>
              <a:path w="166688" h="190500">
                <a:moveTo>
                  <a:pt x="83344" y="-11906"/>
                </a:moveTo>
                <a:cubicBezTo>
                  <a:pt x="85948" y="-11906"/>
                  <a:pt x="88441" y="-10753"/>
                  <a:pt x="90153" y="-8744"/>
                </a:cubicBezTo>
                <a:lnTo>
                  <a:pt x="140754" y="50788"/>
                </a:lnTo>
                <a:cubicBezTo>
                  <a:pt x="143024" y="53429"/>
                  <a:pt x="143508" y="57150"/>
                  <a:pt x="142056" y="60313"/>
                </a:cubicBezTo>
                <a:cubicBezTo>
                  <a:pt x="140605" y="63475"/>
                  <a:pt x="137443" y="65484"/>
                  <a:pt x="133945" y="65484"/>
                </a:cubicBezTo>
                <a:lnTo>
                  <a:pt x="124681" y="65484"/>
                </a:lnTo>
                <a:lnTo>
                  <a:pt x="152660" y="98413"/>
                </a:lnTo>
                <a:cubicBezTo>
                  <a:pt x="154930" y="101054"/>
                  <a:pt x="155414" y="104775"/>
                  <a:pt x="153963" y="107938"/>
                </a:cubicBezTo>
                <a:cubicBezTo>
                  <a:pt x="152512" y="111100"/>
                  <a:pt x="149349" y="113109"/>
                  <a:pt x="145852" y="113109"/>
                </a:cubicBezTo>
                <a:lnTo>
                  <a:pt x="131527" y="113109"/>
                </a:lnTo>
                <a:lnTo>
                  <a:pt x="164567" y="151991"/>
                </a:lnTo>
                <a:cubicBezTo>
                  <a:pt x="166836" y="154632"/>
                  <a:pt x="167320" y="158353"/>
                  <a:pt x="165869" y="161516"/>
                </a:cubicBezTo>
                <a:cubicBezTo>
                  <a:pt x="164418" y="164678"/>
                  <a:pt x="161255" y="166688"/>
                  <a:pt x="157758" y="166688"/>
                </a:cubicBezTo>
                <a:lnTo>
                  <a:pt x="95250" y="166688"/>
                </a:lnTo>
                <a:lnTo>
                  <a:pt x="95250" y="190500"/>
                </a:lnTo>
                <a:cubicBezTo>
                  <a:pt x="95250" y="197086"/>
                  <a:pt x="89929" y="202406"/>
                  <a:pt x="83344" y="202406"/>
                </a:cubicBezTo>
                <a:cubicBezTo>
                  <a:pt x="76758" y="202406"/>
                  <a:pt x="71438" y="197086"/>
                  <a:pt x="71438" y="190500"/>
                </a:cubicBezTo>
                <a:lnTo>
                  <a:pt x="71438" y="166688"/>
                </a:lnTo>
                <a:lnTo>
                  <a:pt x="8930" y="166688"/>
                </a:lnTo>
                <a:cubicBezTo>
                  <a:pt x="5432" y="166688"/>
                  <a:pt x="2270" y="164678"/>
                  <a:pt x="819" y="161516"/>
                </a:cubicBezTo>
                <a:cubicBezTo>
                  <a:pt x="-633" y="158353"/>
                  <a:pt x="-149" y="154632"/>
                  <a:pt x="2121" y="151991"/>
                </a:cubicBezTo>
                <a:lnTo>
                  <a:pt x="35161" y="113109"/>
                </a:lnTo>
                <a:lnTo>
                  <a:pt x="20836" y="113109"/>
                </a:lnTo>
                <a:cubicBezTo>
                  <a:pt x="17338" y="113109"/>
                  <a:pt x="14176" y="111100"/>
                  <a:pt x="12725" y="107938"/>
                </a:cubicBezTo>
                <a:cubicBezTo>
                  <a:pt x="11274" y="104775"/>
                  <a:pt x="11757" y="101054"/>
                  <a:pt x="14027" y="98413"/>
                </a:cubicBezTo>
                <a:lnTo>
                  <a:pt x="42007" y="65484"/>
                </a:lnTo>
                <a:lnTo>
                  <a:pt x="32742" y="65484"/>
                </a:lnTo>
                <a:cubicBezTo>
                  <a:pt x="29245" y="65484"/>
                  <a:pt x="26082" y="63475"/>
                  <a:pt x="24631" y="60313"/>
                </a:cubicBezTo>
                <a:cubicBezTo>
                  <a:pt x="23180" y="57150"/>
                  <a:pt x="23664" y="53429"/>
                  <a:pt x="25933" y="50788"/>
                </a:cubicBezTo>
                <a:lnTo>
                  <a:pt x="76535" y="-8744"/>
                </a:lnTo>
                <a:cubicBezTo>
                  <a:pt x="78246" y="-10753"/>
                  <a:pt x="80739" y="-11906"/>
                  <a:pt x="83344" y="-11906"/>
                </a:cubicBezTo>
                <a:close/>
              </a:path>
            </a:pathLst>
          </a:custGeom>
          <a:solidFill>
            <a:srgbClr val="8FB7AC"/>
          </a:solidFill>
          <a:ln/>
        </p:spPr>
      </p:sp>
      <p:sp>
        <p:nvSpPr>
          <p:cNvPr id="14" name="Text 12"/>
          <p:cNvSpPr/>
          <p:nvPr/>
        </p:nvSpPr>
        <p:spPr>
          <a:xfrm>
            <a:off x="847725" y="4343400"/>
            <a:ext cx="69818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The Biodiversity Challenge</a:t>
            </a:r>
            <a:endParaRPr lang="en-US" sz="1600" dirty="0"/>
          </a:p>
        </p:txBody>
      </p:sp>
      <p:sp>
        <p:nvSpPr>
          <p:cNvPr id="15" name="Text 13"/>
          <p:cNvSpPr/>
          <p:nvPr/>
        </p:nvSpPr>
        <p:spPr>
          <a:xfrm>
            <a:off x="609600" y="4724400"/>
            <a:ext cx="72009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Understanding the mechanisms that maintain high species diversity in natural forests remains a fundamental challenge in ecology. Unlike simplified plantation forests, natural forests sustain hundreds of tree species coexisting within the same landscape—a phenomenon that defies simple competitive exclusion principles and requires explanation through complex ecological mechanisms.</a:t>
            </a:r>
            <a:endParaRPr lang="en-US" sz="1600" dirty="0"/>
          </a:p>
        </p:txBody>
      </p:sp>
      <p:sp>
        <p:nvSpPr>
          <p:cNvPr id="16" name="Shape 14"/>
          <p:cNvSpPr/>
          <p:nvPr/>
        </p:nvSpPr>
        <p:spPr>
          <a:xfrm>
            <a:off x="8153400" y="1638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4C8A7A"/>
          </a:solidFill>
          <a:ln/>
        </p:spPr>
      </p:sp>
      <p:sp>
        <p:nvSpPr>
          <p:cNvPr id="17" name="Text 15"/>
          <p:cNvSpPr/>
          <p:nvPr/>
        </p:nvSpPr>
        <p:spPr>
          <a:xfrm>
            <a:off x="8343900" y="1828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31%</a:t>
            </a:r>
            <a:endParaRPr lang="en-US" sz="1600" dirty="0"/>
          </a:p>
        </p:txBody>
      </p:sp>
      <p:sp>
        <p:nvSpPr>
          <p:cNvPr id="18" name="Text 16"/>
          <p:cNvSpPr/>
          <p:nvPr/>
        </p:nvSpPr>
        <p:spPr>
          <a:xfrm>
            <a:off x="8343900" y="2362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Global Land Coverage</a:t>
            </a:r>
            <a:endParaRPr lang="en-US" sz="1600" dirty="0"/>
          </a:p>
        </p:txBody>
      </p:sp>
      <p:sp>
        <p:nvSpPr>
          <p:cNvPr id="19" name="Text 17"/>
          <p:cNvSpPr/>
          <p:nvPr/>
        </p:nvSpPr>
        <p:spPr>
          <a:xfrm>
            <a:off x="8343900" y="2628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~4 billion hectares</a:t>
            </a:r>
            <a:endParaRPr lang="en-US" sz="1600" dirty="0"/>
          </a:p>
        </p:txBody>
      </p:sp>
      <p:sp>
        <p:nvSpPr>
          <p:cNvPr id="20" name="Shape 18"/>
          <p:cNvSpPr/>
          <p:nvPr/>
        </p:nvSpPr>
        <p:spPr>
          <a:xfrm>
            <a:off x="8153400" y="3162300"/>
            <a:ext cx="3657600" cy="1371600"/>
          </a:xfrm>
          <a:custGeom>
            <a:avLst/>
            <a:gdLst/>
            <a:ahLst/>
            <a:cxnLst/>
            <a:rect l="l" t="t" r="r" b="b"/>
            <a:pathLst>
              <a:path w="3657600" h="1371600">
                <a:moveTo>
                  <a:pt x="114295" y="0"/>
                </a:moveTo>
                <a:lnTo>
                  <a:pt x="3543305" y="0"/>
                </a:lnTo>
                <a:cubicBezTo>
                  <a:pt x="3606386" y="0"/>
                  <a:pt x="3657600" y="51214"/>
                  <a:pt x="3657600" y="114295"/>
                </a:cubicBezTo>
                <a:lnTo>
                  <a:pt x="3657600" y="1257305"/>
                </a:lnTo>
                <a:cubicBezTo>
                  <a:pt x="3657600" y="1320386"/>
                  <a:pt x="3606386" y="1371600"/>
                  <a:pt x="3543305" y="1371600"/>
                </a:cubicBezTo>
                <a:lnTo>
                  <a:pt x="114295" y="1371600"/>
                </a:lnTo>
                <a:cubicBezTo>
                  <a:pt x="51214" y="1371600"/>
                  <a:pt x="0" y="1320386"/>
                  <a:pt x="0" y="1257305"/>
                </a:cubicBezTo>
                <a:lnTo>
                  <a:pt x="0" y="114295"/>
                </a:lnTo>
                <a:cubicBezTo>
                  <a:pt x="0" y="51214"/>
                  <a:pt x="51214" y="0"/>
                  <a:pt x="114295" y="0"/>
                </a:cubicBezTo>
                <a:close/>
              </a:path>
            </a:pathLst>
          </a:custGeom>
          <a:solidFill>
            <a:srgbClr val="2F3E3B"/>
          </a:solidFill>
          <a:ln/>
        </p:spPr>
      </p:sp>
      <p:sp>
        <p:nvSpPr>
          <p:cNvPr id="21" name="Text 19"/>
          <p:cNvSpPr/>
          <p:nvPr/>
        </p:nvSpPr>
        <p:spPr>
          <a:xfrm>
            <a:off x="8343900" y="3352800"/>
            <a:ext cx="3505200" cy="457200"/>
          </a:xfrm>
          <a:prstGeom prst="rect">
            <a:avLst/>
          </a:prstGeom>
          <a:noFill/>
          <a:ln/>
        </p:spPr>
        <p:txBody>
          <a:bodyPr wrap="square" lIns="0" tIns="0" rIns="0" bIns="0" rtlCol="0" anchor="ctr"/>
          <a:lstStyle/>
          <a:p>
            <a:pPr>
              <a:lnSpc>
                <a:spcPct val="80000"/>
              </a:lnSpc>
            </a:pPr>
            <a:r>
              <a:rPr lang="en-US" sz="3600" b="1" dirty="0">
                <a:solidFill>
                  <a:srgbClr val="FFFFFF"/>
                </a:solidFill>
                <a:latin typeface="Sorts Mill Goudy" pitchFamily="34" charset="0"/>
                <a:ea typeface="Sorts Mill Goudy" pitchFamily="34" charset="-122"/>
                <a:cs typeface="Sorts Mill Goudy" pitchFamily="34" charset="-120"/>
              </a:rPr>
              <a:t>80%</a:t>
            </a:r>
            <a:endParaRPr lang="en-US" sz="1600" dirty="0"/>
          </a:p>
        </p:txBody>
      </p:sp>
      <p:sp>
        <p:nvSpPr>
          <p:cNvPr id="22" name="Text 20"/>
          <p:cNvSpPr/>
          <p:nvPr/>
        </p:nvSpPr>
        <p:spPr>
          <a:xfrm>
            <a:off x="8343900" y="3886200"/>
            <a:ext cx="3352800" cy="228600"/>
          </a:xfrm>
          <a:prstGeom prst="rect">
            <a:avLst/>
          </a:prstGeom>
          <a:noFill/>
          <a:ln/>
        </p:spPr>
        <p:txBody>
          <a:bodyPr wrap="square" lIns="0" tIns="0" rIns="0" bIns="0" rtlCol="0" anchor="ctr"/>
          <a:lstStyle/>
          <a:p>
            <a:pPr>
              <a:lnSpc>
                <a:spcPct val="130000"/>
              </a:lnSpc>
            </a:pPr>
            <a:r>
              <a:rPr lang="en-US" sz="1200" dirty="0">
                <a:solidFill>
                  <a:srgbClr val="FFFFFF">
                    <a:alpha val="90000"/>
                  </a:srgbClr>
                </a:solidFill>
                <a:latin typeface="Quattrocento Sans" pitchFamily="34" charset="0"/>
                <a:ea typeface="Quattrocento Sans" pitchFamily="34" charset="-122"/>
                <a:cs typeface="Quattrocento Sans" pitchFamily="34" charset="-120"/>
              </a:rPr>
              <a:t>Terrestrial Biodiversity</a:t>
            </a:r>
            <a:endParaRPr lang="en-US" sz="1600" dirty="0"/>
          </a:p>
        </p:txBody>
      </p:sp>
      <p:sp>
        <p:nvSpPr>
          <p:cNvPr id="23" name="Text 21"/>
          <p:cNvSpPr/>
          <p:nvPr/>
        </p:nvSpPr>
        <p:spPr>
          <a:xfrm>
            <a:off x="8343900" y="4152900"/>
            <a:ext cx="3343275" cy="190500"/>
          </a:xfrm>
          <a:prstGeom prst="rect">
            <a:avLst/>
          </a:prstGeom>
          <a:noFill/>
          <a:ln/>
        </p:spPr>
        <p:txBody>
          <a:bodyPr wrap="square" lIns="0" tIns="0" rIns="0" bIns="0" rtlCol="0" anchor="ctr"/>
          <a:lstStyle/>
          <a:p>
            <a:pPr>
              <a:lnSpc>
                <a:spcPct val="120000"/>
              </a:lnSpc>
            </a:pPr>
            <a:r>
              <a:rPr lang="en-US" sz="1050" dirty="0">
                <a:solidFill>
                  <a:srgbClr val="FFFFFF">
                    <a:alpha val="75000"/>
                  </a:srgbClr>
                </a:solidFill>
                <a:latin typeface="Quattrocento Sans" pitchFamily="34" charset="0"/>
                <a:ea typeface="Quattrocento Sans" pitchFamily="34" charset="-122"/>
                <a:cs typeface="Quattrocento Sans" pitchFamily="34" charset="-120"/>
              </a:rPr>
              <a:t>Species habitat</a:t>
            </a:r>
            <a:endParaRPr lang="en-US" sz="1600" dirty="0"/>
          </a:p>
        </p:txBody>
      </p:sp>
      <p:sp>
        <p:nvSpPr>
          <p:cNvPr id="24" name="Shape 22"/>
          <p:cNvSpPr/>
          <p:nvPr/>
        </p:nvSpPr>
        <p:spPr>
          <a:xfrm>
            <a:off x="8153400" y="4686300"/>
            <a:ext cx="3657600" cy="1905000"/>
          </a:xfrm>
          <a:custGeom>
            <a:avLst/>
            <a:gdLst/>
            <a:ahLst/>
            <a:cxnLst/>
            <a:rect l="l" t="t" r="r" b="b"/>
            <a:pathLst>
              <a:path w="3657600" h="1905000">
                <a:moveTo>
                  <a:pt x="114300" y="0"/>
                </a:moveTo>
                <a:lnTo>
                  <a:pt x="3543300" y="0"/>
                </a:lnTo>
                <a:cubicBezTo>
                  <a:pt x="3606384" y="0"/>
                  <a:pt x="3657600" y="51216"/>
                  <a:pt x="3657600" y="114300"/>
                </a:cubicBezTo>
                <a:lnTo>
                  <a:pt x="3657600" y="1790700"/>
                </a:lnTo>
                <a:cubicBezTo>
                  <a:pt x="3657600" y="1853784"/>
                  <a:pt x="3606384" y="1905000"/>
                  <a:pt x="35433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5" name="Text 23"/>
          <p:cNvSpPr/>
          <p:nvPr/>
        </p:nvSpPr>
        <p:spPr>
          <a:xfrm>
            <a:off x="8343900" y="4876800"/>
            <a:ext cx="33623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Ecosystem Services</a:t>
            </a:r>
            <a:endParaRPr lang="en-US" sz="1600" dirty="0"/>
          </a:p>
        </p:txBody>
      </p:sp>
      <p:sp>
        <p:nvSpPr>
          <p:cNvPr id="26" name="Shape 24"/>
          <p:cNvSpPr/>
          <p:nvPr/>
        </p:nvSpPr>
        <p:spPr>
          <a:xfrm>
            <a:off x="8372475" y="52959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7" name="Text 25"/>
          <p:cNvSpPr/>
          <p:nvPr/>
        </p:nvSpPr>
        <p:spPr>
          <a:xfrm>
            <a:off x="8610600" y="5257800"/>
            <a:ext cx="14859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Carbon sequestration</a:t>
            </a:r>
            <a:endParaRPr lang="en-US" sz="1600" dirty="0"/>
          </a:p>
        </p:txBody>
      </p:sp>
      <p:sp>
        <p:nvSpPr>
          <p:cNvPr id="28" name="Shape 26"/>
          <p:cNvSpPr/>
          <p:nvPr/>
        </p:nvSpPr>
        <p:spPr>
          <a:xfrm>
            <a:off x="8372475" y="56007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29" name="Text 27"/>
          <p:cNvSpPr/>
          <p:nvPr/>
        </p:nvSpPr>
        <p:spPr>
          <a:xfrm>
            <a:off x="8610600" y="5562600"/>
            <a:ext cx="11906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Water regulation</a:t>
            </a:r>
            <a:endParaRPr lang="en-US" sz="1600" dirty="0"/>
          </a:p>
        </p:txBody>
      </p:sp>
      <p:sp>
        <p:nvSpPr>
          <p:cNvPr id="30" name="Shape 28"/>
          <p:cNvSpPr/>
          <p:nvPr/>
        </p:nvSpPr>
        <p:spPr>
          <a:xfrm>
            <a:off x="8372475" y="59055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1" name="Text 29"/>
          <p:cNvSpPr/>
          <p:nvPr/>
        </p:nvSpPr>
        <p:spPr>
          <a:xfrm>
            <a:off x="8610600" y="5867400"/>
            <a:ext cx="1038225"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Soil protection</a:t>
            </a:r>
            <a:endParaRPr lang="en-US" sz="1600" dirty="0"/>
          </a:p>
        </p:txBody>
      </p:sp>
      <p:sp>
        <p:nvSpPr>
          <p:cNvPr id="32" name="Shape 30"/>
          <p:cNvSpPr/>
          <p:nvPr/>
        </p:nvSpPr>
        <p:spPr>
          <a:xfrm>
            <a:off x="8372475" y="62103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4C8A7A"/>
          </a:solidFill>
          <a:ln/>
        </p:spPr>
      </p:sp>
      <p:sp>
        <p:nvSpPr>
          <p:cNvPr id="33" name="Text 31"/>
          <p:cNvSpPr/>
          <p:nvPr/>
        </p:nvSpPr>
        <p:spPr>
          <a:xfrm>
            <a:off x="8610600" y="6172200"/>
            <a:ext cx="127635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Climate regulation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2F3E3B"/>
                </a:solidFill>
                <a:latin typeface="Sorts Mill Goudy" pitchFamily="34" charset="0"/>
                <a:ea typeface="Sorts Mill Goudy" pitchFamily="34" charset="-122"/>
                <a:cs typeface="Sorts Mill Goudy" pitchFamily="34" charset="-120"/>
              </a:rPr>
              <a:t>The Foundation of Forest Biodiversity</a:t>
            </a:r>
            <a:endParaRPr lang="en-US" sz="1600" dirty="0"/>
          </a:p>
        </p:txBody>
      </p:sp>
      <p:sp>
        <p:nvSpPr>
          <p:cNvPr id="4" name="Text 2"/>
          <p:cNvSpPr/>
          <p:nvPr/>
        </p:nvSpPr>
        <p:spPr>
          <a:xfrm>
            <a:off x="381000" y="1104900"/>
            <a:ext cx="11515725" cy="266700"/>
          </a:xfrm>
          <a:prstGeom prst="rect">
            <a:avLst/>
          </a:prstGeom>
          <a:noFill/>
          <a:ln/>
        </p:spPr>
        <p:txBody>
          <a:bodyPr wrap="square" lIns="0" tIns="0" rIns="0" bIns="0" rtlCol="0" anchor="ctr"/>
          <a:lstStyle/>
          <a:p>
            <a:pPr>
              <a:lnSpc>
                <a:spcPct val="130000"/>
              </a:lnSpc>
            </a:pPr>
            <a:r>
              <a:rPr lang="en-US" sz="1350" dirty="0">
                <a:solidFill>
                  <a:srgbClr val="5F6F6B"/>
                </a:solidFill>
                <a:latin typeface="Quattrocento Sans" pitchFamily="34" charset="0"/>
                <a:ea typeface="Quattrocento Sans" pitchFamily="34" charset="-122"/>
                <a:cs typeface="Quattrocento Sans" pitchFamily="34" charset="-120"/>
              </a:rPr>
              <a:t>How forest structural heterogeneity creates diverse habitats</a:t>
            </a:r>
            <a:endParaRPr lang="en-US" sz="1600" dirty="0"/>
          </a:p>
        </p:txBody>
      </p:sp>
      <p:sp>
        <p:nvSpPr>
          <p:cNvPr id="5" name="Shape 3"/>
          <p:cNvSpPr/>
          <p:nvPr/>
        </p:nvSpPr>
        <p:spPr>
          <a:xfrm>
            <a:off x="381000" y="1562100"/>
            <a:ext cx="6781800" cy="2667000"/>
          </a:xfrm>
          <a:custGeom>
            <a:avLst/>
            <a:gdLst/>
            <a:ahLst/>
            <a:cxnLst/>
            <a:rect l="l" t="t" r="r" b="b"/>
            <a:pathLst>
              <a:path w="6781800" h="2667000">
                <a:moveTo>
                  <a:pt x="114308" y="0"/>
                </a:moveTo>
                <a:lnTo>
                  <a:pt x="6667492" y="0"/>
                </a:lnTo>
                <a:cubicBezTo>
                  <a:pt x="6730623" y="0"/>
                  <a:pt x="6781800" y="51177"/>
                  <a:pt x="6781800" y="114308"/>
                </a:cubicBezTo>
                <a:lnTo>
                  <a:pt x="6781800" y="2552692"/>
                </a:lnTo>
                <a:cubicBezTo>
                  <a:pt x="6781800" y="2615823"/>
                  <a:pt x="6730623" y="2667000"/>
                  <a:pt x="6667492" y="2667000"/>
                </a:cubicBezTo>
                <a:lnTo>
                  <a:pt x="114308" y="2667000"/>
                </a:lnTo>
                <a:cubicBezTo>
                  <a:pt x="51177" y="2667000"/>
                  <a:pt x="0" y="2615823"/>
                  <a:pt x="0" y="2552692"/>
                </a:cubicBezTo>
                <a:lnTo>
                  <a:pt x="0" y="114308"/>
                </a:lnTo>
                <a:cubicBezTo>
                  <a:pt x="0" y="51177"/>
                  <a:pt x="51177" y="0"/>
                  <a:pt x="114308"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6" name="Shape 4"/>
          <p:cNvSpPr/>
          <p:nvPr/>
        </p:nvSpPr>
        <p:spPr>
          <a:xfrm>
            <a:off x="595313" y="17907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4C8A7A"/>
          </a:solidFill>
          <a:ln/>
        </p:spPr>
      </p:sp>
      <p:sp>
        <p:nvSpPr>
          <p:cNvPr id="7" name="Text 5"/>
          <p:cNvSpPr/>
          <p:nvPr/>
        </p:nvSpPr>
        <p:spPr>
          <a:xfrm>
            <a:off x="809625" y="1752600"/>
            <a:ext cx="6257925" cy="266700"/>
          </a:xfrm>
          <a:prstGeom prst="rect">
            <a:avLst/>
          </a:prstGeom>
          <a:noFill/>
          <a:ln/>
        </p:spPr>
        <p:txBody>
          <a:bodyPr wrap="square" lIns="0" tIns="0" rIns="0" bIns="0" rtlCol="0" anchor="ctr"/>
          <a:lstStyle/>
          <a:p>
            <a:pPr>
              <a:lnSpc>
                <a:spcPct val="120000"/>
              </a:lnSpc>
            </a:pPr>
            <a:r>
              <a:rPr lang="en-US" sz="1500" b="1" dirty="0">
                <a:solidFill>
                  <a:srgbClr val="2F3E3B"/>
                </a:solidFill>
                <a:latin typeface="Sorts Mill Goudy" pitchFamily="34" charset="0"/>
                <a:ea typeface="Sorts Mill Goudy" pitchFamily="34" charset="-122"/>
                <a:cs typeface="Sorts Mill Goudy" pitchFamily="34" charset="-120"/>
              </a:rPr>
              <a:t>Habitat-Heterogeneity Hypothesis</a:t>
            </a:r>
            <a:endParaRPr lang="en-US" sz="1600" dirty="0"/>
          </a:p>
        </p:txBody>
      </p:sp>
      <p:sp>
        <p:nvSpPr>
          <p:cNvPr id="8" name="Text 6"/>
          <p:cNvSpPr/>
          <p:nvPr/>
        </p:nvSpPr>
        <p:spPr>
          <a:xfrm>
            <a:off x="571500" y="2133600"/>
            <a:ext cx="6477000" cy="990600"/>
          </a:xfrm>
          <a:prstGeom prst="rect">
            <a:avLst/>
          </a:prstGeom>
          <a:noFill/>
          <a:ln/>
        </p:spPr>
        <p:txBody>
          <a:bodyPr wrap="square" lIns="0" tIns="0" rIns="0" bIns="0" rtlCol="0" anchor="ctr"/>
          <a:lstStyle/>
          <a:p>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First proposed by MacArthur and MacArthur (1961), this foundational theory posits that </a:t>
            </a:r>
            <a:pPr>
              <a:lnSpc>
                <a:spcPct val="140000"/>
              </a:lnSpc>
            </a:pPr>
            <a:r>
              <a:rPr lang="en-US" sz="12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increased environmental heterogeneity supports greater species diversity </a:t>
            </a:r>
            <a:pPr>
              <a:lnSpc>
                <a:spcPct val="140000"/>
              </a:lnSpc>
            </a:pPr>
            <a:r>
              <a:rPr lang="en-US" sz="1200" dirty="0">
                <a:solidFill>
                  <a:srgbClr val="1F2A28"/>
                </a:solidFill>
                <a:latin typeface="Quattrocento Sans" pitchFamily="34" charset="0"/>
                <a:ea typeface="Quattrocento Sans" pitchFamily="34" charset="-122"/>
                <a:cs typeface="Quattrocento Sans" pitchFamily="34" charset="-120"/>
              </a:rPr>
              <a:t>by creating more ecological niches. Forests with complex structures provide diverse microhabitats that accommodate species with varying ecological requirements.</a:t>
            </a:r>
            <a:endParaRPr lang="en-US" sz="1600" dirty="0"/>
          </a:p>
        </p:txBody>
      </p:sp>
      <p:sp>
        <p:nvSpPr>
          <p:cNvPr id="9" name="Shape 7"/>
          <p:cNvSpPr/>
          <p:nvPr/>
        </p:nvSpPr>
        <p:spPr>
          <a:xfrm>
            <a:off x="571500" y="3238500"/>
            <a:ext cx="6400800" cy="800100"/>
          </a:xfrm>
          <a:custGeom>
            <a:avLst/>
            <a:gdLst/>
            <a:ahLst/>
            <a:cxnLst/>
            <a:rect l="l" t="t" r="r" b="b"/>
            <a:pathLst>
              <a:path w="6400800" h="800100">
                <a:moveTo>
                  <a:pt x="76202" y="0"/>
                </a:moveTo>
                <a:lnTo>
                  <a:pt x="6324598" y="0"/>
                </a:lnTo>
                <a:cubicBezTo>
                  <a:pt x="6366683" y="0"/>
                  <a:pt x="6400800" y="34117"/>
                  <a:pt x="6400800" y="76202"/>
                </a:cubicBezTo>
                <a:lnTo>
                  <a:pt x="6400800" y="723898"/>
                </a:lnTo>
                <a:cubicBezTo>
                  <a:pt x="6400800" y="765983"/>
                  <a:pt x="6366683" y="800100"/>
                  <a:pt x="6324598" y="800100"/>
                </a:cubicBezTo>
                <a:lnTo>
                  <a:pt x="76202" y="800100"/>
                </a:lnTo>
                <a:cubicBezTo>
                  <a:pt x="34117" y="800100"/>
                  <a:pt x="0" y="765983"/>
                  <a:pt x="0" y="723898"/>
                </a:cubicBezTo>
                <a:lnTo>
                  <a:pt x="0" y="76202"/>
                </a:lnTo>
                <a:cubicBezTo>
                  <a:pt x="0" y="34145"/>
                  <a:pt x="34145" y="0"/>
                  <a:pt x="76202" y="0"/>
                </a:cubicBezTo>
                <a:close/>
              </a:path>
            </a:pathLst>
          </a:custGeom>
          <a:solidFill>
            <a:srgbClr val="F5F7F6"/>
          </a:solidFill>
          <a:ln/>
        </p:spPr>
      </p:sp>
      <p:sp>
        <p:nvSpPr>
          <p:cNvPr id="10" name="Text 8"/>
          <p:cNvSpPr/>
          <p:nvPr/>
        </p:nvSpPr>
        <p:spPr>
          <a:xfrm>
            <a:off x="723900" y="3390900"/>
            <a:ext cx="6172200" cy="495300"/>
          </a:xfrm>
          <a:prstGeom prst="rect">
            <a:avLst/>
          </a:prstGeom>
          <a:noFill/>
          <a:ln/>
        </p:spPr>
        <p:txBody>
          <a:bodyPr wrap="square" lIns="0" tIns="0" rIns="0" bIns="0" rtlCol="0" anchor="ctr"/>
          <a:lstStyle/>
          <a:p>
            <a:pPr>
              <a:lnSpc>
                <a:spcPct val="140000"/>
              </a:lnSpc>
            </a:pPr>
            <a:r>
              <a:rPr lang="en-US" sz="1200" dirty="0">
                <a:solidFill>
                  <a:srgbClr val="5F6F6B"/>
                </a:solidFill>
                <a:latin typeface="Quattrocento Sans" pitchFamily="34" charset="0"/>
                <a:ea typeface="Quattrocento Sans" pitchFamily="34" charset="-122"/>
                <a:cs typeface="Quattrocento Sans" pitchFamily="34" charset="-120"/>
              </a:rPr>
              <a:t>"Structural complexity promotes biodiversity by increasing environmental heterogeneity, microclimate, and microhabitat variations."</a:t>
            </a:r>
            <a:endParaRPr lang="en-US" sz="1600" dirty="0"/>
          </a:p>
        </p:txBody>
      </p:sp>
      <p:sp>
        <p:nvSpPr>
          <p:cNvPr id="11" name="Shape 9"/>
          <p:cNvSpPr/>
          <p:nvPr/>
        </p:nvSpPr>
        <p:spPr>
          <a:xfrm>
            <a:off x="3810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12" name="Shape 10"/>
          <p:cNvSpPr/>
          <p:nvPr/>
        </p:nvSpPr>
        <p:spPr>
          <a:xfrm>
            <a:off x="3810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4C8A7A"/>
          </a:solidFill>
          <a:ln/>
        </p:spPr>
      </p:sp>
      <p:sp>
        <p:nvSpPr>
          <p:cNvPr id="13" name="Shape 11"/>
          <p:cNvSpPr/>
          <p:nvPr/>
        </p:nvSpPr>
        <p:spPr>
          <a:xfrm>
            <a:off x="5334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14902"/>
            </a:srgbClr>
          </a:solidFill>
          <a:ln/>
        </p:spPr>
      </p:sp>
      <p:sp>
        <p:nvSpPr>
          <p:cNvPr id="14" name="Shape 12"/>
          <p:cNvSpPr/>
          <p:nvPr/>
        </p:nvSpPr>
        <p:spPr>
          <a:xfrm>
            <a:off x="640556" y="4676775"/>
            <a:ext cx="171450" cy="171450"/>
          </a:xfrm>
          <a:custGeom>
            <a:avLst/>
            <a:gdLst/>
            <a:ahLst/>
            <a:cxnLst/>
            <a:rect l="l" t="t" r="r" b="b"/>
            <a:pathLst>
              <a:path w="171450" h="171450">
                <a:moveTo>
                  <a:pt x="136155" y="168302"/>
                </a:moveTo>
                <a:lnTo>
                  <a:pt x="168302" y="136155"/>
                </a:lnTo>
                <a:cubicBezTo>
                  <a:pt x="171383" y="133075"/>
                  <a:pt x="172287" y="128487"/>
                  <a:pt x="170613" y="124469"/>
                </a:cubicBezTo>
                <a:cubicBezTo>
                  <a:pt x="168939" y="120450"/>
                  <a:pt x="165054" y="117872"/>
                  <a:pt x="160734" y="117872"/>
                </a:cubicBezTo>
                <a:lnTo>
                  <a:pt x="139303" y="117872"/>
                </a:lnTo>
                <a:lnTo>
                  <a:pt x="139303" y="10716"/>
                </a:lnTo>
                <a:cubicBezTo>
                  <a:pt x="139303" y="4789"/>
                  <a:pt x="134515" y="0"/>
                  <a:pt x="128588" y="0"/>
                </a:cubicBezTo>
                <a:cubicBezTo>
                  <a:pt x="122660" y="0"/>
                  <a:pt x="117872" y="4789"/>
                  <a:pt x="117872" y="10716"/>
                </a:cubicBezTo>
                <a:lnTo>
                  <a:pt x="117872" y="117872"/>
                </a:lnTo>
                <a:lnTo>
                  <a:pt x="96441" y="117872"/>
                </a:lnTo>
                <a:cubicBezTo>
                  <a:pt x="92121" y="117872"/>
                  <a:pt x="88203" y="120484"/>
                  <a:pt x="86529" y="124502"/>
                </a:cubicBezTo>
                <a:cubicBezTo>
                  <a:pt x="84854" y="128521"/>
                  <a:pt x="85792" y="133108"/>
                  <a:pt x="88839" y="136189"/>
                </a:cubicBezTo>
                <a:lnTo>
                  <a:pt x="120986" y="168336"/>
                </a:lnTo>
                <a:cubicBezTo>
                  <a:pt x="125172" y="172522"/>
                  <a:pt x="131970" y="172522"/>
                  <a:pt x="136155" y="168336"/>
                </a:cubicBezTo>
                <a:close/>
                <a:moveTo>
                  <a:pt x="50430" y="3148"/>
                </a:moveTo>
                <a:cubicBezTo>
                  <a:pt x="46245" y="-1038"/>
                  <a:pt x="39447" y="-1038"/>
                  <a:pt x="35261" y="3148"/>
                </a:cubicBezTo>
                <a:lnTo>
                  <a:pt x="3114" y="35295"/>
                </a:lnTo>
                <a:cubicBezTo>
                  <a:pt x="33" y="38375"/>
                  <a:pt x="-871" y="42963"/>
                  <a:pt x="804" y="46981"/>
                </a:cubicBezTo>
                <a:cubicBezTo>
                  <a:pt x="2478" y="51000"/>
                  <a:pt x="6396" y="53578"/>
                  <a:pt x="10716" y="53578"/>
                </a:cubicBezTo>
                <a:lnTo>
                  <a:pt x="32147" y="53578"/>
                </a:lnTo>
                <a:lnTo>
                  <a:pt x="32147" y="160734"/>
                </a:lnTo>
                <a:cubicBezTo>
                  <a:pt x="32147" y="166661"/>
                  <a:pt x="36935" y="171450"/>
                  <a:pt x="42863" y="171450"/>
                </a:cubicBezTo>
                <a:cubicBezTo>
                  <a:pt x="48790" y="171450"/>
                  <a:pt x="53578" y="166661"/>
                  <a:pt x="53578" y="160734"/>
                </a:cubicBezTo>
                <a:lnTo>
                  <a:pt x="53578" y="53578"/>
                </a:lnTo>
                <a:lnTo>
                  <a:pt x="75009" y="53578"/>
                </a:lnTo>
                <a:cubicBezTo>
                  <a:pt x="79329" y="53578"/>
                  <a:pt x="83247" y="50966"/>
                  <a:pt x="84921" y="46948"/>
                </a:cubicBezTo>
                <a:cubicBezTo>
                  <a:pt x="86596" y="42929"/>
                  <a:pt x="85658" y="38342"/>
                  <a:pt x="82611" y="35261"/>
                </a:cubicBezTo>
                <a:lnTo>
                  <a:pt x="50464" y="3114"/>
                </a:lnTo>
                <a:close/>
              </a:path>
            </a:pathLst>
          </a:custGeom>
          <a:solidFill>
            <a:srgbClr val="4C8A7A"/>
          </a:solidFill>
          <a:ln/>
        </p:spPr>
      </p:sp>
      <p:sp>
        <p:nvSpPr>
          <p:cNvPr id="15" name="Text 13"/>
          <p:cNvSpPr/>
          <p:nvPr/>
        </p:nvSpPr>
        <p:spPr>
          <a:xfrm>
            <a:off x="1028700" y="4629150"/>
            <a:ext cx="14192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Vertical Structure</a:t>
            </a:r>
            <a:endParaRPr lang="en-US" sz="1600" dirty="0"/>
          </a:p>
        </p:txBody>
      </p:sp>
      <p:sp>
        <p:nvSpPr>
          <p:cNvPr id="16" name="Text 14"/>
          <p:cNvSpPr/>
          <p:nvPr/>
        </p:nvSpPr>
        <p:spPr>
          <a:xfrm>
            <a:off x="5334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Emergent layer (&gt;40m)</a:t>
            </a:r>
            <a:endParaRPr lang="en-US" sz="1600" dirty="0"/>
          </a:p>
        </p:txBody>
      </p:sp>
      <p:sp>
        <p:nvSpPr>
          <p:cNvPr id="17" name="Text 15"/>
          <p:cNvSpPr/>
          <p:nvPr/>
        </p:nvSpPr>
        <p:spPr>
          <a:xfrm>
            <a:off x="5334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Main canopy (20-40m)</a:t>
            </a:r>
            <a:endParaRPr lang="en-US" sz="1600" dirty="0"/>
          </a:p>
        </p:txBody>
      </p:sp>
      <p:sp>
        <p:nvSpPr>
          <p:cNvPr id="18" name="Text 16"/>
          <p:cNvSpPr/>
          <p:nvPr/>
        </p:nvSpPr>
        <p:spPr>
          <a:xfrm>
            <a:off x="5334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Subcanopy (10-20m)</a:t>
            </a:r>
            <a:endParaRPr lang="en-US" sz="1600" dirty="0"/>
          </a:p>
        </p:txBody>
      </p:sp>
      <p:sp>
        <p:nvSpPr>
          <p:cNvPr id="19" name="Text 17"/>
          <p:cNvSpPr/>
          <p:nvPr/>
        </p:nvSpPr>
        <p:spPr>
          <a:xfrm>
            <a:off x="5334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Understory (&lt;10m)</a:t>
            </a:r>
            <a:endParaRPr lang="en-US" sz="1600" dirty="0"/>
          </a:p>
        </p:txBody>
      </p:sp>
      <p:sp>
        <p:nvSpPr>
          <p:cNvPr id="20" name="Text 18"/>
          <p:cNvSpPr/>
          <p:nvPr/>
        </p:nvSpPr>
        <p:spPr>
          <a:xfrm>
            <a:off x="5334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Ground vegetation</a:t>
            </a:r>
            <a:endParaRPr lang="en-US" sz="1600" dirty="0"/>
          </a:p>
        </p:txBody>
      </p:sp>
      <p:sp>
        <p:nvSpPr>
          <p:cNvPr id="21" name="Shape 19"/>
          <p:cNvSpPr/>
          <p:nvPr/>
        </p:nvSpPr>
        <p:spPr>
          <a:xfrm>
            <a:off x="3848100" y="4400550"/>
            <a:ext cx="3314700" cy="2190750"/>
          </a:xfrm>
          <a:custGeom>
            <a:avLst/>
            <a:gdLst/>
            <a:ahLst/>
            <a:cxnLst/>
            <a:rect l="l" t="t" r="r" b="b"/>
            <a:pathLst>
              <a:path w="3314700" h="2190750">
                <a:moveTo>
                  <a:pt x="38100" y="0"/>
                </a:moveTo>
                <a:lnTo>
                  <a:pt x="3276600" y="0"/>
                </a:lnTo>
                <a:cubicBezTo>
                  <a:pt x="3297628" y="0"/>
                  <a:pt x="3314700" y="17072"/>
                  <a:pt x="3314700" y="38100"/>
                </a:cubicBezTo>
                <a:lnTo>
                  <a:pt x="3314700" y="2076459"/>
                </a:lnTo>
                <a:cubicBezTo>
                  <a:pt x="3314700" y="2139580"/>
                  <a:pt x="3263530" y="2190750"/>
                  <a:pt x="3200409" y="2190750"/>
                </a:cubicBezTo>
                <a:lnTo>
                  <a:pt x="114291" y="2190750"/>
                </a:lnTo>
                <a:cubicBezTo>
                  <a:pt x="51170" y="2190750"/>
                  <a:pt x="0" y="2139580"/>
                  <a:pt x="0" y="2076459"/>
                </a:cubicBezTo>
                <a:lnTo>
                  <a:pt x="0" y="38100"/>
                </a:lnTo>
                <a:cubicBezTo>
                  <a:pt x="0" y="17072"/>
                  <a:pt x="17072" y="0"/>
                  <a:pt x="38100" y="0"/>
                </a:cubicBezTo>
                <a:close/>
              </a:path>
            </a:pathLst>
          </a:custGeom>
          <a:solidFill>
            <a:srgbClr val="FFFFFF"/>
          </a:solidFill>
          <a:ln/>
          <a:effectLst>
            <a:outerShdw sx="100000" sy="100000" kx="0" ky="0" algn="bl" rotWithShape="0" blurRad="28575" dist="9525" dir="5400000">
              <a:srgbClr val="000000">
                <a:alpha val="10196"/>
              </a:srgbClr>
            </a:outerShdw>
          </a:effectLst>
        </p:spPr>
      </p:sp>
      <p:sp>
        <p:nvSpPr>
          <p:cNvPr id="22" name="Shape 20"/>
          <p:cNvSpPr/>
          <p:nvPr/>
        </p:nvSpPr>
        <p:spPr>
          <a:xfrm>
            <a:off x="3848100" y="4400550"/>
            <a:ext cx="3314700" cy="38100"/>
          </a:xfrm>
          <a:custGeom>
            <a:avLst/>
            <a:gdLst/>
            <a:ahLst/>
            <a:cxnLst/>
            <a:rect l="l" t="t" r="r" b="b"/>
            <a:pathLst>
              <a:path w="3314700" h="38100">
                <a:moveTo>
                  <a:pt x="38100" y="0"/>
                </a:moveTo>
                <a:lnTo>
                  <a:pt x="3276600" y="0"/>
                </a:lnTo>
                <a:cubicBezTo>
                  <a:pt x="3297628" y="0"/>
                  <a:pt x="3314700" y="17072"/>
                  <a:pt x="3314700" y="38100"/>
                </a:cubicBezTo>
                <a:lnTo>
                  <a:pt x="3314700" y="38100"/>
                </a:lnTo>
                <a:lnTo>
                  <a:pt x="0" y="38100"/>
                </a:lnTo>
                <a:lnTo>
                  <a:pt x="0" y="38100"/>
                </a:lnTo>
                <a:cubicBezTo>
                  <a:pt x="0" y="17072"/>
                  <a:pt x="17072" y="0"/>
                  <a:pt x="38100" y="0"/>
                </a:cubicBezTo>
                <a:close/>
              </a:path>
            </a:pathLst>
          </a:custGeom>
          <a:solidFill>
            <a:srgbClr val="8FB7AC"/>
          </a:solidFill>
          <a:ln/>
        </p:spPr>
      </p:sp>
      <p:sp>
        <p:nvSpPr>
          <p:cNvPr id="23" name="Shape 21"/>
          <p:cNvSpPr/>
          <p:nvPr/>
        </p:nvSpPr>
        <p:spPr>
          <a:xfrm>
            <a:off x="4000500" y="4572000"/>
            <a:ext cx="381000" cy="381000"/>
          </a:xfrm>
          <a:custGeom>
            <a:avLst/>
            <a:gdLst/>
            <a:ahLst/>
            <a:cxnLst/>
            <a:rect l="l" t="t" r="r" b="b"/>
            <a:pathLst>
              <a:path w="381000" h="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8FB7AC">
              <a:alpha val="14902"/>
            </a:srgbClr>
          </a:solidFill>
          <a:ln/>
        </p:spPr>
      </p:sp>
      <p:sp>
        <p:nvSpPr>
          <p:cNvPr id="24" name="Shape 22"/>
          <p:cNvSpPr/>
          <p:nvPr/>
        </p:nvSpPr>
        <p:spPr>
          <a:xfrm>
            <a:off x="4107656" y="4676775"/>
            <a:ext cx="171450" cy="171450"/>
          </a:xfrm>
          <a:custGeom>
            <a:avLst/>
            <a:gdLst/>
            <a:ahLst/>
            <a:cxnLst/>
            <a:rect l="l" t="t" r="r" b="b"/>
            <a:pathLst>
              <a:path w="171450" h="171450">
                <a:moveTo>
                  <a:pt x="168302" y="136155"/>
                </a:moveTo>
                <a:lnTo>
                  <a:pt x="136155" y="168302"/>
                </a:lnTo>
                <a:cubicBezTo>
                  <a:pt x="133075" y="171383"/>
                  <a:pt x="128487" y="172287"/>
                  <a:pt x="124469" y="170613"/>
                </a:cubicBezTo>
                <a:cubicBezTo>
                  <a:pt x="120450" y="168939"/>
                  <a:pt x="117872" y="165054"/>
                  <a:pt x="117872" y="160734"/>
                </a:cubicBezTo>
                <a:lnTo>
                  <a:pt x="117872" y="139303"/>
                </a:lnTo>
                <a:lnTo>
                  <a:pt x="10716" y="139303"/>
                </a:lnTo>
                <a:cubicBezTo>
                  <a:pt x="4789" y="139303"/>
                  <a:pt x="0" y="134515"/>
                  <a:pt x="0" y="128588"/>
                </a:cubicBezTo>
                <a:cubicBezTo>
                  <a:pt x="0" y="122660"/>
                  <a:pt x="4789" y="117872"/>
                  <a:pt x="10716" y="117872"/>
                </a:cubicBezTo>
                <a:lnTo>
                  <a:pt x="117872" y="117872"/>
                </a:lnTo>
                <a:lnTo>
                  <a:pt x="117872" y="96441"/>
                </a:lnTo>
                <a:cubicBezTo>
                  <a:pt x="117872" y="92121"/>
                  <a:pt x="120484" y="88203"/>
                  <a:pt x="124502" y="86529"/>
                </a:cubicBezTo>
                <a:cubicBezTo>
                  <a:pt x="128521" y="84854"/>
                  <a:pt x="133108" y="85792"/>
                  <a:pt x="136189" y="88839"/>
                </a:cubicBezTo>
                <a:lnTo>
                  <a:pt x="168336" y="120986"/>
                </a:lnTo>
                <a:cubicBezTo>
                  <a:pt x="172522" y="125172"/>
                  <a:pt x="172522" y="131970"/>
                  <a:pt x="168336" y="136155"/>
                </a:cubicBezTo>
                <a:close/>
                <a:moveTo>
                  <a:pt x="3148" y="50430"/>
                </a:moveTo>
                <a:cubicBezTo>
                  <a:pt x="-1038" y="46245"/>
                  <a:pt x="-1038" y="39447"/>
                  <a:pt x="3148" y="35261"/>
                </a:cubicBezTo>
                <a:lnTo>
                  <a:pt x="35295" y="3114"/>
                </a:lnTo>
                <a:cubicBezTo>
                  <a:pt x="38375" y="33"/>
                  <a:pt x="42963" y="-871"/>
                  <a:pt x="46981" y="804"/>
                </a:cubicBezTo>
                <a:cubicBezTo>
                  <a:pt x="51000" y="2478"/>
                  <a:pt x="53578" y="6396"/>
                  <a:pt x="53578" y="10716"/>
                </a:cubicBezTo>
                <a:lnTo>
                  <a:pt x="53578" y="32147"/>
                </a:lnTo>
                <a:lnTo>
                  <a:pt x="160734" y="32147"/>
                </a:lnTo>
                <a:cubicBezTo>
                  <a:pt x="166661" y="32147"/>
                  <a:pt x="171450" y="36935"/>
                  <a:pt x="171450" y="42863"/>
                </a:cubicBezTo>
                <a:cubicBezTo>
                  <a:pt x="171450" y="48790"/>
                  <a:pt x="166661" y="53578"/>
                  <a:pt x="160734" y="53578"/>
                </a:cubicBezTo>
                <a:lnTo>
                  <a:pt x="53578" y="53578"/>
                </a:lnTo>
                <a:lnTo>
                  <a:pt x="53578" y="75009"/>
                </a:lnTo>
                <a:cubicBezTo>
                  <a:pt x="53578" y="79329"/>
                  <a:pt x="50966" y="83247"/>
                  <a:pt x="46948" y="84921"/>
                </a:cubicBezTo>
                <a:cubicBezTo>
                  <a:pt x="42929" y="86596"/>
                  <a:pt x="38342" y="85658"/>
                  <a:pt x="35261" y="82611"/>
                </a:cubicBezTo>
                <a:lnTo>
                  <a:pt x="3114" y="50464"/>
                </a:lnTo>
                <a:close/>
              </a:path>
            </a:pathLst>
          </a:custGeom>
          <a:solidFill>
            <a:srgbClr val="8FB7AC"/>
          </a:solidFill>
          <a:ln/>
        </p:spPr>
      </p:sp>
      <p:sp>
        <p:nvSpPr>
          <p:cNvPr id="25" name="Text 23"/>
          <p:cNvSpPr/>
          <p:nvPr/>
        </p:nvSpPr>
        <p:spPr>
          <a:xfrm>
            <a:off x="4495800" y="4629150"/>
            <a:ext cx="1609725" cy="266700"/>
          </a:xfrm>
          <a:prstGeom prst="rect">
            <a:avLst/>
          </a:prstGeom>
          <a:noFill/>
          <a:ln/>
        </p:spPr>
        <p:txBody>
          <a:bodyPr wrap="square" lIns="0" tIns="0" rIns="0" bIns="0" rtlCol="0" anchor="ctr"/>
          <a:lstStyle/>
          <a:p>
            <a:pPr>
              <a:lnSpc>
                <a:spcPct val="130000"/>
              </a:lnSpc>
            </a:pPr>
            <a:r>
              <a:rPr lang="en-US" sz="1350" b="1" dirty="0">
                <a:solidFill>
                  <a:srgbClr val="2F3E3B"/>
                </a:solidFill>
                <a:latin typeface="Sorts Mill Goudy" pitchFamily="34" charset="0"/>
                <a:ea typeface="Sorts Mill Goudy" pitchFamily="34" charset="-122"/>
                <a:cs typeface="Sorts Mill Goudy" pitchFamily="34" charset="-120"/>
              </a:rPr>
              <a:t>Horizontal Structure</a:t>
            </a:r>
            <a:endParaRPr lang="en-US" sz="1600" dirty="0"/>
          </a:p>
        </p:txBody>
      </p:sp>
      <p:sp>
        <p:nvSpPr>
          <p:cNvPr id="26" name="Text 24"/>
          <p:cNvSpPr/>
          <p:nvPr/>
        </p:nvSpPr>
        <p:spPr>
          <a:xfrm>
            <a:off x="4000500" y="5067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Canopy gaps</a:t>
            </a:r>
            <a:endParaRPr lang="en-US" sz="1600" dirty="0"/>
          </a:p>
        </p:txBody>
      </p:sp>
      <p:sp>
        <p:nvSpPr>
          <p:cNvPr id="27" name="Text 25"/>
          <p:cNvSpPr/>
          <p:nvPr/>
        </p:nvSpPr>
        <p:spPr>
          <a:xfrm>
            <a:off x="4000500" y="53530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Forest edges</a:t>
            </a:r>
            <a:endParaRPr lang="en-US" sz="1600" dirty="0"/>
          </a:p>
        </p:txBody>
      </p:sp>
      <p:sp>
        <p:nvSpPr>
          <p:cNvPr id="28" name="Text 26"/>
          <p:cNvSpPr/>
          <p:nvPr/>
        </p:nvSpPr>
        <p:spPr>
          <a:xfrm>
            <a:off x="4000500" y="56388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Interior habitats</a:t>
            </a:r>
            <a:endParaRPr lang="en-US" sz="1600" dirty="0"/>
          </a:p>
        </p:txBody>
      </p:sp>
      <p:sp>
        <p:nvSpPr>
          <p:cNvPr id="29" name="Text 27"/>
          <p:cNvSpPr/>
          <p:nvPr/>
        </p:nvSpPr>
        <p:spPr>
          <a:xfrm>
            <a:off x="4000500" y="592455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Stand mosaics</a:t>
            </a:r>
            <a:endParaRPr lang="en-US" sz="1600" dirty="0"/>
          </a:p>
        </p:txBody>
      </p:sp>
      <p:sp>
        <p:nvSpPr>
          <p:cNvPr id="30" name="Text 28"/>
          <p:cNvSpPr/>
          <p:nvPr/>
        </p:nvSpPr>
        <p:spPr>
          <a:xfrm>
            <a:off x="4000500" y="6210300"/>
            <a:ext cx="3086100" cy="228600"/>
          </a:xfrm>
          <a:prstGeom prst="rect">
            <a:avLst/>
          </a:prstGeom>
          <a:noFill/>
          <a:ln/>
        </p:spPr>
        <p:txBody>
          <a:bodyPr wrap="square" lIns="0" tIns="0" rIns="0" bIns="0" rtlCol="0" anchor="ctr"/>
          <a:lstStyle/>
          <a:p>
            <a:pPr>
              <a:lnSpc>
                <a:spcPct val="130000"/>
              </a:lnSpc>
            </a:pPr>
            <a:r>
              <a:rPr lang="en-US" sz="1200" dirty="0">
                <a:solidFill>
                  <a:srgbClr val="5F6F6B"/>
                </a:solidFill>
                <a:latin typeface="Quattrocento Sans" pitchFamily="34" charset="0"/>
                <a:ea typeface="Quattrocento Sans" pitchFamily="34" charset="-122"/>
                <a:cs typeface="Quattrocento Sans" pitchFamily="34" charset="-120"/>
              </a:rPr>
              <a:t>• Microtopography</a:t>
            </a:r>
            <a:endParaRPr lang="en-US" sz="1600" dirty="0"/>
          </a:p>
        </p:txBody>
      </p:sp>
      <p:sp>
        <p:nvSpPr>
          <p:cNvPr id="31" name="Shape 29"/>
          <p:cNvSpPr/>
          <p:nvPr/>
        </p:nvSpPr>
        <p:spPr>
          <a:xfrm>
            <a:off x="7353300" y="1562100"/>
            <a:ext cx="4457700" cy="2971800"/>
          </a:xfrm>
          <a:custGeom>
            <a:avLst/>
            <a:gdLst/>
            <a:ahLst/>
            <a:cxnLst/>
            <a:rect l="l" t="t" r="r" b="b"/>
            <a:pathLst>
              <a:path w="4457700" h="2971800">
                <a:moveTo>
                  <a:pt x="114295" y="0"/>
                </a:moveTo>
                <a:lnTo>
                  <a:pt x="4343405" y="0"/>
                </a:lnTo>
                <a:cubicBezTo>
                  <a:pt x="4406486" y="0"/>
                  <a:pt x="4457700" y="51214"/>
                  <a:pt x="4457700" y="114295"/>
                </a:cubicBezTo>
                <a:lnTo>
                  <a:pt x="4457700" y="2857505"/>
                </a:lnTo>
                <a:cubicBezTo>
                  <a:pt x="4457700" y="2920586"/>
                  <a:pt x="4406486" y="2971800"/>
                  <a:pt x="4343405" y="2971800"/>
                </a:cubicBezTo>
                <a:lnTo>
                  <a:pt x="114295" y="2971800"/>
                </a:lnTo>
                <a:cubicBezTo>
                  <a:pt x="51214" y="2971800"/>
                  <a:pt x="0" y="2920586"/>
                  <a:pt x="0" y="2857505"/>
                </a:cubicBezTo>
                <a:lnTo>
                  <a:pt x="0" y="114295"/>
                </a:lnTo>
                <a:cubicBezTo>
                  <a:pt x="0" y="51214"/>
                  <a:pt x="51214" y="0"/>
                  <a:pt x="114295" y="0"/>
                </a:cubicBezTo>
                <a:close/>
              </a:path>
            </a:pathLst>
          </a:custGeom>
          <a:solidFill>
            <a:srgbClr val="FFFFFF"/>
          </a:solidFill>
          <a:ln/>
          <a:effectLst>
            <a:outerShdw sx="100000" sy="100000" kx="0" ky="0" algn="bl" rotWithShape="0" blurRad="28575" dist="9525" dir="5400000">
              <a:srgbClr val="000000">
                <a:alpha val="10196"/>
              </a:srgbClr>
            </a:outerShdw>
          </a:effectLst>
        </p:spPr>
      </p:sp>
      <p:pic>
        <p:nvPicPr>
          <p:cNvPr id="32" name="Image 0" descr="https://kimi-web-img.moonshot.cn/img/cid-inc.com/35940feae4a0e4355176818085041cc308403a74.jpg">    </p:cNvPr>
          <p:cNvPicPr>
            <a:picLocks noChangeAspect="1"/>
          </p:cNvPicPr>
          <p:nvPr/>
        </p:nvPicPr>
        <p:blipFill>
          <a:blip r:embed="rId1"/>
          <a:srcRect l="1808" r="1808" t="0" b="0"/>
          <a:stretch/>
        </p:blipFill>
        <p:spPr>
          <a:xfrm>
            <a:off x="7353300" y="1562100"/>
            <a:ext cx="4457700" cy="2971800"/>
          </a:xfrm>
          <a:prstGeom prst="roundRect">
            <a:avLst>
              <a:gd name="adj" fmla="val 3846"/>
            </a:avLst>
          </a:prstGeom>
        </p:spPr>
      </p:pic>
      <p:sp>
        <p:nvSpPr>
          <p:cNvPr id="33" name="Shape 30"/>
          <p:cNvSpPr/>
          <p:nvPr/>
        </p:nvSpPr>
        <p:spPr>
          <a:xfrm>
            <a:off x="7353300" y="4686300"/>
            <a:ext cx="4457700" cy="1905000"/>
          </a:xfrm>
          <a:custGeom>
            <a:avLst/>
            <a:gdLst/>
            <a:ahLst/>
            <a:cxnLst/>
            <a:rect l="l" t="t" r="r" b="b"/>
            <a:pathLst>
              <a:path w="4457700" h="1905000">
                <a:moveTo>
                  <a:pt x="114300" y="0"/>
                </a:moveTo>
                <a:lnTo>
                  <a:pt x="4343400" y="0"/>
                </a:lnTo>
                <a:cubicBezTo>
                  <a:pt x="4406484" y="0"/>
                  <a:pt x="4457700" y="51216"/>
                  <a:pt x="4457700" y="114300"/>
                </a:cubicBezTo>
                <a:lnTo>
                  <a:pt x="4457700" y="1790700"/>
                </a:lnTo>
                <a:cubicBezTo>
                  <a:pt x="4457700" y="1853784"/>
                  <a:pt x="4406484" y="1905000"/>
                  <a:pt x="4343400" y="1905000"/>
                </a:cubicBezTo>
                <a:lnTo>
                  <a:pt x="114300" y="1905000"/>
                </a:lnTo>
                <a:cubicBezTo>
                  <a:pt x="51216" y="1905000"/>
                  <a:pt x="0" y="1853784"/>
                  <a:pt x="0" y="1790700"/>
                </a:cubicBezTo>
                <a:lnTo>
                  <a:pt x="0" y="114300"/>
                </a:lnTo>
                <a:cubicBezTo>
                  <a:pt x="0" y="51216"/>
                  <a:pt x="51216" y="0"/>
                  <a:pt x="114300" y="0"/>
                </a:cubicBezTo>
                <a:close/>
              </a:path>
            </a:pathLst>
          </a:custGeom>
          <a:solidFill>
            <a:srgbClr val="2F3E3B"/>
          </a:solidFill>
          <a:ln/>
        </p:spPr>
      </p:sp>
      <p:sp>
        <p:nvSpPr>
          <p:cNvPr id="34" name="Text 31"/>
          <p:cNvSpPr/>
          <p:nvPr/>
        </p:nvSpPr>
        <p:spPr>
          <a:xfrm>
            <a:off x="7543800" y="4876800"/>
            <a:ext cx="4162425"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Key Structural Elements</a:t>
            </a:r>
            <a:endParaRPr lang="en-US" sz="1600" dirty="0"/>
          </a:p>
        </p:txBody>
      </p:sp>
      <p:sp>
        <p:nvSpPr>
          <p:cNvPr id="35" name="Shape 32"/>
          <p:cNvSpPr/>
          <p:nvPr/>
        </p:nvSpPr>
        <p:spPr>
          <a:xfrm>
            <a:off x="7558088" y="53149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6" name="Text 33"/>
          <p:cNvSpPr/>
          <p:nvPr/>
        </p:nvSpPr>
        <p:spPr>
          <a:xfrm>
            <a:off x="7800975" y="5257800"/>
            <a:ext cx="35528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Dead Wood:</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Critical habitat for saproxylic organisms</a:t>
            </a:r>
            <a:endParaRPr lang="en-US" sz="1600" dirty="0"/>
          </a:p>
        </p:txBody>
      </p:sp>
      <p:sp>
        <p:nvSpPr>
          <p:cNvPr id="37" name="Shape 34"/>
          <p:cNvSpPr/>
          <p:nvPr/>
        </p:nvSpPr>
        <p:spPr>
          <a:xfrm>
            <a:off x="7558088" y="56197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38" name="Text 35"/>
          <p:cNvSpPr/>
          <p:nvPr/>
        </p:nvSpPr>
        <p:spPr>
          <a:xfrm>
            <a:off x="7800975" y="5562600"/>
            <a:ext cx="3505200"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Veteran Trees: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Support epiphytes and cavity nesters</a:t>
            </a:r>
            <a:endParaRPr lang="en-US" sz="1600" dirty="0"/>
          </a:p>
        </p:txBody>
      </p:sp>
      <p:sp>
        <p:nvSpPr>
          <p:cNvPr id="39" name="Shape 36"/>
          <p:cNvSpPr/>
          <p:nvPr/>
        </p:nvSpPr>
        <p:spPr>
          <a:xfrm>
            <a:off x="7558088" y="59245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0" name="Text 37"/>
          <p:cNvSpPr/>
          <p:nvPr/>
        </p:nvSpPr>
        <p:spPr>
          <a:xfrm>
            <a:off x="7800975" y="5867400"/>
            <a:ext cx="32480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Canopy Gaps:</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Create regeneration opportunities</a:t>
            </a:r>
            <a:endParaRPr lang="en-US" sz="1600" dirty="0"/>
          </a:p>
        </p:txBody>
      </p:sp>
      <p:sp>
        <p:nvSpPr>
          <p:cNvPr id="41" name="Shape 38"/>
          <p:cNvSpPr/>
          <p:nvPr/>
        </p:nvSpPr>
        <p:spPr>
          <a:xfrm>
            <a:off x="7558088" y="6229350"/>
            <a:ext cx="114300" cy="114300"/>
          </a:xfrm>
          <a:custGeom>
            <a:avLst/>
            <a:gdLst/>
            <a:ahLst/>
            <a:cxnLst/>
            <a:rect l="l" t="t" r="r" b="b"/>
            <a:pathLst>
              <a:path w="114300" h="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8FB7AC"/>
          </a:solidFill>
          <a:ln/>
        </p:spPr>
      </p:sp>
      <p:sp>
        <p:nvSpPr>
          <p:cNvPr id="42" name="Text 39"/>
          <p:cNvSpPr/>
          <p:nvPr/>
        </p:nvSpPr>
        <p:spPr>
          <a:xfrm>
            <a:off x="7800975" y="6172200"/>
            <a:ext cx="3362325" cy="228600"/>
          </a:xfrm>
          <a:prstGeom prst="rect">
            <a:avLst/>
          </a:prstGeom>
          <a:noFill/>
          <a:ln/>
        </p:spPr>
        <p:txBody>
          <a:bodyPr wrap="square" lIns="0" tIns="0" rIns="0" bIns="0" rtlCol="0" anchor="ctr"/>
          <a:lstStyle/>
          <a:p>
            <a:pPr>
              <a:lnSpc>
                <a:spcPct val="130000"/>
              </a:lnSpc>
            </a:pPr>
            <a:r>
              <a:rPr lang="en-US" sz="1200" b="1" dirty="0">
                <a:solidFill>
                  <a:srgbClr val="FFFFFF"/>
                </a:solidFill>
                <a:latin typeface="Quattrocento Sans" pitchFamily="34" charset="0"/>
                <a:ea typeface="Quattrocento Sans" pitchFamily="34" charset="-122"/>
                <a:cs typeface="Quattrocento Sans" pitchFamily="34" charset="-120"/>
              </a:rPr>
              <a:t>Bark Diversity:</a:t>
            </a:r>
            <a:pPr>
              <a:lnSpc>
                <a:spcPct val="130000"/>
              </a:lnSpc>
            </a:pPr>
            <a:r>
              <a:rPr lang="en-US" sz="1200" dirty="0">
                <a:solidFill>
                  <a:srgbClr val="FFFFFF"/>
                </a:solidFill>
                <a:latin typeface="Quattrocento Sans" pitchFamily="34" charset="0"/>
                <a:ea typeface="Quattrocento Sans" pitchFamily="34" charset="-122"/>
                <a:cs typeface="Quattrocento Sans" pitchFamily="34" charset="-120"/>
              </a:rPr>
              <a:t> Various textures support epiphytes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Vertical Structure &amp; Canopy Layering</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Three-dimensional stratification creates distinct microclimates and niche spaces</a:t>
            </a:r>
            <a:endParaRPr lang="en-US" sz="1600" dirty="0"/>
          </a:p>
        </p:txBody>
      </p:sp>
      <p:sp>
        <p:nvSpPr>
          <p:cNvPr id="5" name="Shape 3"/>
          <p:cNvSpPr/>
          <p:nvPr/>
        </p:nvSpPr>
        <p:spPr>
          <a:xfrm>
            <a:off x="317500" y="1301750"/>
            <a:ext cx="5683250" cy="3190875"/>
          </a:xfrm>
          <a:custGeom>
            <a:avLst/>
            <a:gdLst/>
            <a:ahLst/>
            <a:cxnLst/>
            <a:rect l="l" t="t" r="r" b="b"/>
            <a:pathLst>
              <a:path w="5683250" h="3190875">
                <a:moveTo>
                  <a:pt x="95248" y="0"/>
                </a:moveTo>
                <a:lnTo>
                  <a:pt x="5588002" y="0"/>
                </a:lnTo>
                <a:cubicBezTo>
                  <a:pt x="5640606" y="0"/>
                  <a:pt x="5683250" y="42644"/>
                  <a:pt x="5683250" y="95248"/>
                </a:cubicBezTo>
                <a:lnTo>
                  <a:pt x="5683250" y="3095627"/>
                </a:lnTo>
                <a:cubicBezTo>
                  <a:pt x="5683250" y="3148231"/>
                  <a:pt x="5640606" y="3190875"/>
                  <a:pt x="5588002" y="3190875"/>
                </a:cubicBezTo>
                <a:lnTo>
                  <a:pt x="95248" y="3190875"/>
                </a:lnTo>
                <a:cubicBezTo>
                  <a:pt x="42644" y="3190875"/>
                  <a:pt x="0" y="3148231"/>
                  <a:pt x="0" y="3095627"/>
                </a:cubicBezTo>
                <a:lnTo>
                  <a:pt x="0" y="95248"/>
                </a:lnTo>
                <a:cubicBezTo>
                  <a:pt x="0" y="42679"/>
                  <a:pt x="42679" y="0"/>
                  <a:pt x="95248"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Forest Stratification</a:t>
            </a:r>
            <a:endParaRPr lang="en-US" sz="1600" dirty="0"/>
          </a:p>
        </p:txBody>
      </p:sp>
      <p:sp>
        <p:nvSpPr>
          <p:cNvPr id="7" name="Text 5"/>
          <p:cNvSpPr/>
          <p:nvPr/>
        </p:nvSpPr>
        <p:spPr>
          <a:xfrm>
            <a:off x="476250" y="1778000"/>
            <a:ext cx="5429250" cy="619125"/>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Vertical stratification in forests creates </a:t>
            </a:r>
            <a:pPr>
              <a:lnSpc>
                <a:spcPct val="140000"/>
              </a:lnSpc>
            </a:pPr>
            <a:r>
              <a:rPr lang="en-US" sz="1000" b="1" dirty="0">
                <a:solidFill>
                  <a:srgbClr val="1F2A28"/>
                </a:solidFill>
                <a:latin typeface="Quattrocento Sans" pitchFamily="34" charset="0"/>
                <a:ea typeface="Quattrocento Sans" pitchFamily="34" charset="-122"/>
                <a:cs typeface="Quattrocento Sans" pitchFamily="34" charset="-120"/>
              </a:rPr>
              <a:t>distinct microclimates and niche spaces</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 that support specialized communities. Each layer differs in light availability, temperature, humidity, and wind exposure—factors that determine which species can thrive.</a:t>
            </a:r>
            <a:endParaRPr lang="en-US" sz="1600" dirty="0"/>
          </a:p>
        </p:txBody>
      </p:sp>
      <p:sp>
        <p:nvSpPr>
          <p:cNvPr id="8" name="Shape 6"/>
          <p:cNvSpPr/>
          <p:nvPr/>
        </p:nvSpPr>
        <p:spPr>
          <a:xfrm>
            <a:off x="476250" y="252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9" name="Shape 7"/>
          <p:cNvSpPr/>
          <p:nvPr/>
        </p:nvSpPr>
        <p:spPr>
          <a:xfrm>
            <a:off x="571500" y="261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4C8A7A"/>
          </a:solidFill>
          <a:ln/>
        </p:spPr>
      </p:sp>
      <p:sp>
        <p:nvSpPr>
          <p:cNvPr id="10" name="Text 8"/>
          <p:cNvSpPr/>
          <p:nvPr/>
        </p:nvSpPr>
        <p:spPr>
          <a:xfrm>
            <a:off x="543719" y="261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E</a:t>
            </a:r>
            <a:endParaRPr lang="en-US" sz="1600" dirty="0"/>
          </a:p>
        </p:txBody>
      </p:sp>
      <p:sp>
        <p:nvSpPr>
          <p:cNvPr id="11" name="Text 9"/>
          <p:cNvSpPr/>
          <p:nvPr/>
        </p:nvSpPr>
        <p:spPr>
          <a:xfrm>
            <a:off x="920750" y="2619375"/>
            <a:ext cx="244475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Emergent Layer (&gt;40m)</a:t>
            </a:r>
            <a:endParaRPr lang="en-US" sz="1600" dirty="0"/>
          </a:p>
        </p:txBody>
      </p:sp>
      <p:sp>
        <p:nvSpPr>
          <p:cNvPr id="12" name="Text 10"/>
          <p:cNvSpPr/>
          <p:nvPr/>
        </p:nvSpPr>
        <p:spPr>
          <a:xfrm>
            <a:off x="920750" y="2809875"/>
            <a:ext cx="24368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Full sun exposure, wind-resistant species, raptors</a:t>
            </a:r>
            <a:endParaRPr lang="en-US" sz="1600" dirty="0"/>
          </a:p>
        </p:txBody>
      </p:sp>
      <p:sp>
        <p:nvSpPr>
          <p:cNvPr id="13" name="Shape 11"/>
          <p:cNvSpPr/>
          <p:nvPr/>
        </p:nvSpPr>
        <p:spPr>
          <a:xfrm>
            <a:off x="476250" y="3159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4" name="Shape 12"/>
          <p:cNvSpPr/>
          <p:nvPr/>
        </p:nvSpPr>
        <p:spPr>
          <a:xfrm>
            <a:off x="571500" y="3254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8FB7AC"/>
          </a:solidFill>
          <a:ln/>
        </p:spPr>
      </p:sp>
      <p:sp>
        <p:nvSpPr>
          <p:cNvPr id="15" name="Text 13"/>
          <p:cNvSpPr/>
          <p:nvPr/>
        </p:nvSpPr>
        <p:spPr>
          <a:xfrm>
            <a:off x="543719" y="3254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C</a:t>
            </a:r>
            <a:endParaRPr lang="en-US" sz="1600" dirty="0"/>
          </a:p>
        </p:txBody>
      </p:sp>
      <p:sp>
        <p:nvSpPr>
          <p:cNvPr id="16" name="Text 14"/>
          <p:cNvSpPr/>
          <p:nvPr/>
        </p:nvSpPr>
        <p:spPr>
          <a:xfrm>
            <a:off x="920750" y="3254375"/>
            <a:ext cx="289718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Canopy Layer (20-40m)</a:t>
            </a:r>
            <a:endParaRPr lang="en-US" sz="1600" dirty="0"/>
          </a:p>
        </p:txBody>
      </p:sp>
      <p:sp>
        <p:nvSpPr>
          <p:cNvPr id="17" name="Text 15"/>
          <p:cNvSpPr/>
          <p:nvPr/>
        </p:nvSpPr>
        <p:spPr>
          <a:xfrm>
            <a:off x="920750" y="3444875"/>
            <a:ext cx="288925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Filtered light, primary productivity zone, arboreal mammals</a:t>
            </a:r>
            <a:endParaRPr lang="en-US" sz="1600" dirty="0"/>
          </a:p>
        </p:txBody>
      </p:sp>
      <p:sp>
        <p:nvSpPr>
          <p:cNvPr id="18" name="Shape 16"/>
          <p:cNvSpPr/>
          <p:nvPr/>
        </p:nvSpPr>
        <p:spPr>
          <a:xfrm>
            <a:off x="476250" y="379412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5F6F6B">
              <a:alpha val="10196"/>
            </a:srgbClr>
          </a:solidFill>
          <a:ln/>
        </p:spPr>
      </p:sp>
      <p:sp>
        <p:nvSpPr>
          <p:cNvPr id="19" name="Shape 17"/>
          <p:cNvSpPr/>
          <p:nvPr/>
        </p:nvSpPr>
        <p:spPr>
          <a:xfrm>
            <a:off x="571500" y="3889375"/>
            <a:ext cx="254000" cy="254000"/>
          </a:xfrm>
          <a:custGeom>
            <a:avLst/>
            <a:gdLst/>
            <a:ahLst/>
            <a:cxnLst/>
            <a:rect l="l" t="t" r="r" b="b"/>
            <a:pathLst>
              <a:path w="254000" h="254000">
                <a:moveTo>
                  <a:pt x="127000" y="0"/>
                </a:moveTo>
                <a:lnTo>
                  <a:pt x="127000" y="0"/>
                </a:lnTo>
                <a:cubicBezTo>
                  <a:pt x="197093" y="0"/>
                  <a:pt x="254000" y="56907"/>
                  <a:pt x="254000" y="127000"/>
                </a:cubicBezTo>
                <a:lnTo>
                  <a:pt x="254000" y="127000"/>
                </a:lnTo>
                <a:cubicBezTo>
                  <a:pt x="254000" y="197093"/>
                  <a:pt x="197093" y="254000"/>
                  <a:pt x="127000" y="254000"/>
                </a:cubicBezTo>
                <a:lnTo>
                  <a:pt x="127000" y="254000"/>
                </a:lnTo>
                <a:cubicBezTo>
                  <a:pt x="56907" y="254000"/>
                  <a:pt x="0" y="197093"/>
                  <a:pt x="0" y="127000"/>
                </a:cubicBezTo>
                <a:lnTo>
                  <a:pt x="0" y="127000"/>
                </a:lnTo>
                <a:cubicBezTo>
                  <a:pt x="0" y="56907"/>
                  <a:pt x="56907" y="0"/>
                  <a:pt x="127000" y="0"/>
                </a:cubicBezTo>
                <a:close/>
              </a:path>
            </a:pathLst>
          </a:custGeom>
          <a:solidFill>
            <a:srgbClr val="5F6F6B"/>
          </a:solidFill>
          <a:ln/>
        </p:spPr>
      </p:sp>
      <p:sp>
        <p:nvSpPr>
          <p:cNvPr id="20" name="Text 18"/>
          <p:cNvSpPr/>
          <p:nvPr/>
        </p:nvSpPr>
        <p:spPr>
          <a:xfrm>
            <a:off x="543719" y="3889375"/>
            <a:ext cx="309563" cy="254000"/>
          </a:xfrm>
          <a:prstGeom prst="rect">
            <a:avLst/>
          </a:prstGeom>
          <a:noFill/>
          <a:ln/>
        </p:spPr>
        <p:txBody>
          <a:bodyPr wrap="square" lIns="0" tIns="0" rIns="0" bIns="0" rtlCol="0" anchor="ctr"/>
          <a:lstStyle/>
          <a:p>
            <a:pPr algn="ctr">
              <a:lnSpc>
                <a:spcPct val="120000"/>
              </a:lnSpc>
            </a:pPr>
            <a:r>
              <a:rPr lang="en-US" sz="875" b="1" dirty="0">
                <a:solidFill>
                  <a:srgbClr val="FFFFFF"/>
                </a:solidFill>
                <a:latin typeface="Quattrocento Sans" pitchFamily="34" charset="0"/>
                <a:ea typeface="Quattrocento Sans" pitchFamily="34" charset="-122"/>
                <a:cs typeface="Quattrocento Sans" pitchFamily="34" charset="-120"/>
              </a:rPr>
              <a:t>U</a:t>
            </a:r>
            <a:endParaRPr lang="en-US" sz="1600" dirty="0"/>
          </a:p>
        </p:txBody>
      </p:sp>
      <p:sp>
        <p:nvSpPr>
          <p:cNvPr id="21" name="Text 19"/>
          <p:cNvSpPr/>
          <p:nvPr/>
        </p:nvSpPr>
        <p:spPr>
          <a:xfrm>
            <a:off x="920750" y="3889375"/>
            <a:ext cx="2357438"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Understory (&lt;20m)</a:t>
            </a:r>
            <a:endParaRPr lang="en-US" sz="1600" dirty="0"/>
          </a:p>
        </p:txBody>
      </p:sp>
      <p:sp>
        <p:nvSpPr>
          <p:cNvPr id="22" name="Text 20"/>
          <p:cNvSpPr/>
          <p:nvPr/>
        </p:nvSpPr>
        <p:spPr>
          <a:xfrm>
            <a:off x="920750" y="4079875"/>
            <a:ext cx="2349500"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Low light, shade-tolerant species, high humidity</a:t>
            </a:r>
            <a:endParaRPr lang="en-US" sz="1600" dirty="0"/>
          </a:p>
        </p:txBody>
      </p:sp>
      <p:sp>
        <p:nvSpPr>
          <p:cNvPr id="23" name="Shape 21"/>
          <p:cNvSpPr/>
          <p:nvPr/>
        </p:nvSpPr>
        <p:spPr>
          <a:xfrm>
            <a:off x="6191250" y="1301750"/>
            <a:ext cx="5683250" cy="7651750"/>
          </a:xfrm>
          <a:custGeom>
            <a:avLst/>
            <a:gdLst/>
            <a:ahLst/>
            <a:cxnLst/>
            <a:rect l="l" t="t" r="r" b="b"/>
            <a:pathLst>
              <a:path w="5683250" h="7651750">
                <a:moveTo>
                  <a:pt x="95251" y="0"/>
                </a:moveTo>
                <a:lnTo>
                  <a:pt x="5587999" y="0"/>
                </a:lnTo>
                <a:cubicBezTo>
                  <a:pt x="5640605" y="0"/>
                  <a:pt x="5683250" y="42645"/>
                  <a:pt x="5683250" y="95251"/>
                </a:cubicBezTo>
                <a:lnTo>
                  <a:pt x="5683250" y="7556499"/>
                </a:lnTo>
                <a:cubicBezTo>
                  <a:pt x="5683250" y="7609105"/>
                  <a:pt x="5640605" y="7651750"/>
                  <a:pt x="5587999" y="7651750"/>
                </a:cubicBezTo>
                <a:lnTo>
                  <a:pt x="95251" y="7651750"/>
                </a:lnTo>
                <a:cubicBezTo>
                  <a:pt x="42645" y="7651750"/>
                  <a:pt x="0" y="7609105"/>
                  <a:pt x="0" y="7556499"/>
                </a:cubicBezTo>
                <a:lnTo>
                  <a:pt x="0" y="95251"/>
                </a:lnTo>
                <a:cubicBezTo>
                  <a:pt x="0" y="42645"/>
                  <a:pt x="42645" y="0"/>
                  <a:pt x="95251"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www.shutterstock.com/70e58d0fe0e76badb2bc150d090c70d3b77e9dbc.jpg">    </p:cNvPr>
          <p:cNvPicPr>
            <a:picLocks noChangeAspect="1"/>
          </p:cNvPicPr>
          <p:nvPr/>
        </p:nvPicPr>
        <p:blipFill>
          <a:blip r:embed="rId1"/>
          <a:srcRect l="8" r="8" t="0" b="0"/>
          <a:stretch/>
        </p:blipFill>
        <p:spPr>
          <a:xfrm>
            <a:off x="6191250" y="1301750"/>
            <a:ext cx="5683250" cy="7651750"/>
          </a:xfrm>
          <a:prstGeom prst="roundRect">
            <a:avLst>
              <a:gd name="adj" fmla="val 1676"/>
            </a:avLst>
          </a:prstGeom>
        </p:spPr>
      </p:pic>
      <p:sp>
        <p:nvSpPr>
          <p:cNvPr id="25" name="Shape 22"/>
          <p:cNvSpPr/>
          <p:nvPr/>
        </p:nvSpPr>
        <p:spPr>
          <a:xfrm>
            <a:off x="6191250" y="9079260"/>
            <a:ext cx="5683250" cy="1333500"/>
          </a:xfrm>
          <a:custGeom>
            <a:avLst/>
            <a:gdLst/>
            <a:ahLst/>
            <a:cxnLst/>
            <a:rect l="l" t="t" r="r" b="b"/>
            <a:pathLst>
              <a:path w="5683250" h="1333500">
                <a:moveTo>
                  <a:pt x="95252" y="0"/>
                </a:moveTo>
                <a:lnTo>
                  <a:pt x="5587998" y="0"/>
                </a:lnTo>
                <a:cubicBezTo>
                  <a:pt x="5640604" y="0"/>
                  <a:pt x="5683250" y="42646"/>
                  <a:pt x="5683250" y="95252"/>
                </a:cubicBezTo>
                <a:lnTo>
                  <a:pt x="5683250" y="1238248"/>
                </a:lnTo>
                <a:cubicBezTo>
                  <a:pt x="5683250" y="1290854"/>
                  <a:pt x="5640604" y="1333500"/>
                  <a:pt x="5587998" y="1333500"/>
                </a:cubicBezTo>
                <a:lnTo>
                  <a:pt x="95252" y="1333500"/>
                </a:lnTo>
                <a:cubicBezTo>
                  <a:pt x="42646" y="1333500"/>
                  <a:pt x="0" y="1290854"/>
                  <a:pt x="0" y="1238248"/>
                </a:cubicBezTo>
                <a:lnTo>
                  <a:pt x="0" y="95252"/>
                </a:lnTo>
                <a:cubicBezTo>
                  <a:pt x="0" y="42646"/>
                  <a:pt x="42646" y="0"/>
                  <a:pt x="95252" y="0"/>
                </a:cubicBezTo>
                <a:close/>
              </a:path>
            </a:pathLst>
          </a:custGeom>
          <a:solidFill>
            <a:srgbClr val="2F3E3B"/>
          </a:solidFill>
          <a:ln/>
        </p:spPr>
      </p:sp>
      <p:sp>
        <p:nvSpPr>
          <p:cNvPr id="26" name="Text 23"/>
          <p:cNvSpPr/>
          <p:nvPr/>
        </p:nvSpPr>
        <p:spPr>
          <a:xfrm>
            <a:off x="6350000" y="9238010"/>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Research Evidence</a:t>
            </a:r>
            <a:endParaRPr lang="en-US" sz="1600" dirty="0"/>
          </a:p>
        </p:txBody>
      </p:sp>
      <p:sp>
        <p:nvSpPr>
          <p:cNvPr id="27" name="Shape 24"/>
          <p:cNvSpPr/>
          <p:nvPr/>
        </p:nvSpPr>
        <p:spPr>
          <a:xfrm>
            <a:off x="6365875" y="9587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28" name="Text 25"/>
          <p:cNvSpPr/>
          <p:nvPr/>
        </p:nvSpPr>
        <p:spPr>
          <a:xfrm>
            <a:off x="6572250" y="9555510"/>
            <a:ext cx="41989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Foliage Height Diversity (FHD)</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strongly correlates with bird species richness</a:t>
            </a:r>
            <a:endParaRPr lang="en-US" sz="1600" dirty="0"/>
          </a:p>
        </p:txBody>
      </p:sp>
      <p:sp>
        <p:nvSpPr>
          <p:cNvPr id="29" name="Shape 26"/>
          <p:cNvSpPr/>
          <p:nvPr/>
        </p:nvSpPr>
        <p:spPr>
          <a:xfrm>
            <a:off x="6365875" y="9841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0" name="Text 27"/>
          <p:cNvSpPr/>
          <p:nvPr/>
        </p:nvSpPr>
        <p:spPr>
          <a:xfrm>
            <a:off x="6572250" y="9809510"/>
            <a:ext cx="42386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Vertical structural diversity</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explains 41.8% of variance in community stability</a:t>
            </a:r>
            <a:endParaRPr lang="en-US" sz="1600" dirty="0"/>
          </a:p>
        </p:txBody>
      </p:sp>
      <p:sp>
        <p:nvSpPr>
          <p:cNvPr id="31" name="Shape 28"/>
          <p:cNvSpPr/>
          <p:nvPr/>
        </p:nvSpPr>
        <p:spPr>
          <a:xfrm>
            <a:off x="6365875" y="10095260"/>
            <a:ext cx="127000" cy="127000"/>
          </a:xfrm>
          <a:custGeom>
            <a:avLst/>
            <a:gdLst/>
            <a:ahLst/>
            <a:cxnLst/>
            <a:rect l="l" t="t" r="r" b="b"/>
            <a:pathLst>
              <a:path w="127000" h="127000">
                <a:moveTo>
                  <a:pt x="15875" y="15875"/>
                </a:moveTo>
                <a:cubicBezTo>
                  <a:pt x="15875" y="11485"/>
                  <a:pt x="12328" y="7938"/>
                  <a:pt x="7938" y="7938"/>
                </a:cubicBezTo>
                <a:cubicBezTo>
                  <a:pt x="3547" y="7938"/>
                  <a:pt x="0" y="11485"/>
                  <a:pt x="0" y="15875"/>
                </a:cubicBezTo>
                <a:lnTo>
                  <a:pt x="0" y="99219"/>
                </a:lnTo>
                <a:cubicBezTo>
                  <a:pt x="0" y="110182"/>
                  <a:pt x="8880" y="119063"/>
                  <a:pt x="19844" y="119063"/>
                </a:cubicBezTo>
                <a:lnTo>
                  <a:pt x="119063" y="119063"/>
                </a:lnTo>
                <a:cubicBezTo>
                  <a:pt x="123453" y="119063"/>
                  <a:pt x="127000" y="115515"/>
                  <a:pt x="127000" y="111125"/>
                </a:cubicBezTo>
                <a:cubicBezTo>
                  <a:pt x="127000" y="106735"/>
                  <a:pt x="123453" y="103188"/>
                  <a:pt x="119063" y="103188"/>
                </a:cubicBezTo>
                <a:lnTo>
                  <a:pt x="19844" y="103188"/>
                </a:lnTo>
                <a:cubicBezTo>
                  <a:pt x="17661" y="103188"/>
                  <a:pt x="15875" y="101402"/>
                  <a:pt x="15875" y="99219"/>
                </a:cubicBezTo>
                <a:lnTo>
                  <a:pt x="15875" y="15875"/>
                </a:lnTo>
                <a:close/>
                <a:moveTo>
                  <a:pt x="116731" y="37356"/>
                </a:moveTo>
                <a:cubicBezTo>
                  <a:pt x="119831" y="34255"/>
                  <a:pt x="119831" y="29220"/>
                  <a:pt x="116731" y="26119"/>
                </a:cubicBezTo>
                <a:cubicBezTo>
                  <a:pt x="113630" y="23019"/>
                  <a:pt x="108595" y="23019"/>
                  <a:pt x="105494" y="26119"/>
                </a:cubicBezTo>
                <a:lnTo>
                  <a:pt x="79375" y="52263"/>
                </a:lnTo>
                <a:lnTo>
                  <a:pt x="65137" y="38050"/>
                </a:lnTo>
                <a:cubicBezTo>
                  <a:pt x="62037" y="34950"/>
                  <a:pt x="57001" y="34950"/>
                  <a:pt x="53901" y="38050"/>
                </a:cubicBezTo>
                <a:lnTo>
                  <a:pt x="30088" y="61863"/>
                </a:lnTo>
                <a:cubicBezTo>
                  <a:pt x="26988" y="64963"/>
                  <a:pt x="26988" y="69999"/>
                  <a:pt x="30088" y="73099"/>
                </a:cubicBezTo>
                <a:cubicBezTo>
                  <a:pt x="33189" y="76200"/>
                  <a:pt x="38224" y="76200"/>
                  <a:pt x="41325" y="73099"/>
                </a:cubicBezTo>
                <a:lnTo>
                  <a:pt x="59531" y="54893"/>
                </a:lnTo>
                <a:lnTo>
                  <a:pt x="73769" y="69131"/>
                </a:lnTo>
                <a:cubicBezTo>
                  <a:pt x="76870" y="72231"/>
                  <a:pt x="81905" y="72231"/>
                  <a:pt x="85006" y="69131"/>
                </a:cubicBezTo>
                <a:lnTo>
                  <a:pt x="116756" y="37381"/>
                </a:lnTo>
                <a:close/>
              </a:path>
            </a:pathLst>
          </a:custGeom>
          <a:solidFill>
            <a:srgbClr val="8FB7AC"/>
          </a:solidFill>
          <a:ln/>
        </p:spPr>
      </p:sp>
      <p:sp>
        <p:nvSpPr>
          <p:cNvPr id="32" name="Text 29"/>
          <p:cNvSpPr/>
          <p:nvPr/>
        </p:nvSpPr>
        <p:spPr>
          <a:xfrm>
            <a:off x="6572250" y="10063510"/>
            <a:ext cx="4016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Simpson's Diversity Index</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on tree heights best differentiates forest types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53391" y="353391"/>
            <a:ext cx="11547061" cy="176696"/>
          </a:xfrm>
          <a:prstGeom prst="rect">
            <a:avLst/>
          </a:prstGeom>
          <a:noFill/>
          <a:ln/>
        </p:spPr>
        <p:txBody>
          <a:bodyPr wrap="square" lIns="0" tIns="0" rIns="0" bIns="0" rtlCol="0" anchor="ctr"/>
          <a:lstStyle/>
          <a:p>
            <a:pPr>
              <a:lnSpc>
                <a:spcPct val="120000"/>
              </a:lnSpc>
            </a:pPr>
            <a:r>
              <a:rPr lang="en-US" sz="974" b="1" spc="97" kern="0" dirty="0">
                <a:solidFill>
                  <a:srgbClr val="4C8A7A"/>
                </a:solidFill>
                <a:latin typeface="Quattrocento Sans" pitchFamily="34" charset="0"/>
                <a:ea typeface="Quattrocento Sans" pitchFamily="34" charset="-122"/>
                <a:cs typeface="Quattrocento Sans" pitchFamily="34" charset="-120"/>
              </a:rPr>
              <a:t>02 • Structural Complexity</a:t>
            </a:r>
            <a:endParaRPr lang="en-US" sz="1600" dirty="0"/>
          </a:p>
        </p:txBody>
      </p:sp>
      <p:sp>
        <p:nvSpPr>
          <p:cNvPr id="3" name="Text 1"/>
          <p:cNvSpPr/>
          <p:nvPr/>
        </p:nvSpPr>
        <p:spPr>
          <a:xfrm>
            <a:off x="353391" y="600765"/>
            <a:ext cx="11644243" cy="353391"/>
          </a:xfrm>
          <a:prstGeom prst="rect">
            <a:avLst/>
          </a:prstGeom>
          <a:noFill/>
          <a:ln/>
        </p:spPr>
        <p:txBody>
          <a:bodyPr wrap="square" lIns="0" tIns="0" rIns="0" bIns="0" rtlCol="0" anchor="ctr"/>
          <a:lstStyle/>
          <a:p>
            <a:pPr>
              <a:lnSpc>
                <a:spcPct val="90000"/>
              </a:lnSpc>
            </a:pPr>
            <a:r>
              <a:rPr lang="en-US" sz="2504" b="1" dirty="0">
                <a:solidFill>
                  <a:srgbClr val="2F3E3B"/>
                </a:solidFill>
                <a:latin typeface="Sorts Mill Goudy" pitchFamily="34" charset="0"/>
                <a:ea typeface="Sorts Mill Goudy" pitchFamily="34" charset="-122"/>
                <a:cs typeface="Sorts Mill Goudy" pitchFamily="34" charset="-120"/>
              </a:rPr>
              <a:t>Microhabitat Heterogeneity &amp; Niche Provision</a:t>
            </a:r>
            <a:endParaRPr lang="en-US" sz="1600" dirty="0"/>
          </a:p>
        </p:txBody>
      </p:sp>
      <p:sp>
        <p:nvSpPr>
          <p:cNvPr id="4" name="Text 2"/>
          <p:cNvSpPr/>
          <p:nvPr/>
        </p:nvSpPr>
        <p:spPr>
          <a:xfrm>
            <a:off x="353391" y="1024835"/>
            <a:ext cx="11564730" cy="247374"/>
          </a:xfrm>
          <a:prstGeom prst="rect">
            <a:avLst/>
          </a:prstGeom>
          <a:noFill/>
          <a:ln/>
        </p:spPr>
        <p:txBody>
          <a:bodyPr wrap="square" lIns="0" tIns="0" rIns="0" bIns="0" rtlCol="0" anchor="ctr"/>
          <a:lstStyle/>
          <a:p>
            <a:pPr>
              <a:lnSpc>
                <a:spcPct val="130000"/>
              </a:lnSpc>
            </a:pPr>
            <a:r>
              <a:rPr lang="en-US" sz="1252" dirty="0">
                <a:solidFill>
                  <a:srgbClr val="5F6F6B"/>
                </a:solidFill>
                <a:latin typeface="Quattrocento Sans" pitchFamily="34" charset="0"/>
                <a:ea typeface="Quattrocento Sans" pitchFamily="34" charset="-122"/>
                <a:cs typeface="Quattrocento Sans" pitchFamily="34" charset="-120"/>
              </a:rPr>
              <a:t>Fine-scale habitat diversity enables species coexistence</a:t>
            </a:r>
            <a:endParaRPr lang="en-US" sz="1600" dirty="0"/>
          </a:p>
        </p:txBody>
      </p:sp>
      <p:sp>
        <p:nvSpPr>
          <p:cNvPr id="5" name="Shape 3"/>
          <p:cNvSpPr/>
          <p:nvPr/>
        </p:nvSpPr>
        <p:spPr>
          <a:xfrm>
            <a:off x="353391" y="1448904"/>
            <a:ext cx="7597913" cy="3339548"/>
          </a:xfrm>
          <a:custGeom>
            <a:avLst/>
            <a:gdLst/>
            <a:ahLst/>
            <a:cxnLst/>
            <a:rect l="l" t="t" r="r" b="b"/>
            <a:pathLst>
              <a:path w="7597913" h="3339548">
                <a:moveTo>
                  <a:pt x="106031" y="0"/>
                </a:moveTo>
                <a:lnTo>
                  <a:pt x="7491882" y="0"/>
                </a:lnTo>
                <a:cubicBezTo>
                  <a:pt x="7550442" y="0"/>
                  <a:pt x="7597913" y="47472"/>
                  <a:pt x="7597913" y="106031"/>
                </a:cubicBezTo>
                <a:lnTo>
                  <a:pt x="7597913" y="3233517"/>
                </a:lnTo>
                <a:cubicBezTo>
                  <a:pt x="7597913" y="3292076"/>
                  <a:pt x="7550442" y="3339548"/>
                  <a:pt x="7491882" y="3339548"/>
                </a:cubicBezTo>
                <a:lnTo>
                  <a:pt x="106031" y="3339548"/>
                </a:lnTo>
                <a:cubicBezTo>
                  <a:pt x="47472" y="3339548"/>
                  <a:pt x="0" y="3292076"/>
                  <a:pt x="0" y="3233517"/>
                </a:cubicBezTo>
                <a:lnTo>
                  <a:pt x="0" y="106031"/>
                </a:lnTo>
                <a:cubicBezTo>
                  <a:pt x="0" y="47472"/>
                  <a:pt x="47472" y="0"/>
                  <a:pt x="106031"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6" name="Text 4"/>
          <p:cNvSpPr/>
          <p:nvPr/>
        </p:nvSpPr>
        <p:spPr>
          <a:xfrm>
            <a:off x="530087" y="1625600"/>
            <a:ext cx="7332870" cy="247374"/>
          </a:xfrm>
          <a:prstGeom prst="rect">
            <a:avLst/>
          </a:prstGeom>
          <a:noFill/>
          <a:ln/>
        </p:spPr>
        <p:txBody>
          <a:bodyPr wrap="square" lIns="0" tIns="0" rIns="0" bIns="0" rtlCol="0" anchor="ctr"/>
          <a:lstStyle/>
          <a:p>
            <a:pPr>
              <a:lnSpc>
                <a:spcPct val="120000"/>
              </a:lnSpc>
            </a:pPr>
            <a:r>
              <a:rPr lang="en-US" sz="1391" b="1" dirty="0">
                <a:solidFill>
                  <a:srgbClr val="2F3E3B"/>
                </a:solidFill>
                <a:latin typeface="Sorts Mill Goudy" pitchFamily="34" charset="0"/>
                <a:ea typeface="Sorts Mill Goudy" pitchFamily="34" charset="-122"/>
                <a:cs typeface="Sorts Mill Goudy" pitchFamily="34" charset="-120"/>
              </a:rPr>
              <a:t>Microhabitat Types &amp; Their Biodiversity Value</a:t>
            </a:r>
            <a:endParaRPr lang="en-US" sz="1600" dirty="0"/>
          </a:p>
        </p:txBody>
      </p:sp>
      <p:sp>
        <p:nvSpPr>
          <p:cNvPr id="7" name="Text 5"/>
          <p:cNvSpPr/>
          <p:nvPr/>
        </p:nvSpPr>
        <p:spPr>
          <a:xfrm>
            <a:off x="530087" y="1978991"/>
            <a:ext cx="7315200" cy="689113"/>
          </a:xfrm>
          <a:prstGeom prst="rect">
            <a:avLst/>
          </a:prstGeom>
          <a:noFill/>
          <a:ln/>
        </p:spPr>
        <p:txBody>
          <a:bodyPr wrap="square" lIns="0" tIns="0" rIns="0" bIns="0" rtlCol="0" anchor="ctr"/>
          <a:lstStyle/>
          <a:p>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Research demonstrates that </a:t>
            </a:r>
            <a:pPr>
              <a:lnSpc>
                <a:spcPct val="140000"/>
              </a:lnSpc>
            </a:pPr>
            <a:r>
              <a:rPr lang="en-US" sz="1113"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microhabitat heterogeneity is a stronger predictor of species richness than microhabitat frequency alone </a:t>
            </a:r>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 Natural forests contain numerous specialized microhabitats that support distinct ecological communities.</a:t>
            </a:r>
            <a:endParaRPr lang="en-US" sz="1600" dirty="0"/>
          </a:p>
        </p:txBody>
      </p:sp>
      <p:sp>
        <p:nvSpPr>
          <p:cNvPr id="8" name="Shape 6"/>
          <p:cNvSpPr/>
          <p:nvPr/>
        </p:nvSpPr>
        <p:spPr>
          <a:xfrm>
            <a:off x="530087"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sp>
      <p:sp>
        <p:nvSpPr>
          <p:cNvPr id="9" name="Shape 7"/>
          <p:cNvSpPr/>
          <p:nvPr/>
        </p:nvSpPr>
        <p:spPr>
          <a:xfrm>
            <a:off x="662609" y="2950817"/>
            <a:ext cx="123687" cy="141357"/>
          </a:xfrm>
          <a:custGeom>
            <a:avLst/>
            <a:gdLst/>
            <a:ahLst/>
            <a:cxnLst/>
            <a:rect l="l" t="t" r="r" b="b"/>
            <a:pathLst>
              <a:path w="123687" h="141357">
                <a:moveTo>
                  <a:pt x="61843" y="-8835"/>
                </a:moveTo>
                <a:cubicBezTo>
                  <a:pt x="63776" y="-8835"/>
                  <a:pt x="65626" y="-7979"/>
                  <a:pt x="66896" y="-6488"/>
                </a:cubicBezTo>
                <a:lnTo>
                  <a:pt x="104444" y="37686"/>
                </a:lnTo>
                <a:cubicBezTo>
                  <a:pt x="106128" y="39646"/>
                  <a:pt x="106487" y="42407"/>
                  <a:pt x="105410" y="44754"/>
                </a:cubicBezTo>
                <a:cubicBezTo>
                  <a:pt x="104333" y="47100"/>
                  <a:pt x="101987" y="48591"/>
                  <a:pt x="99391" y="48591"/>
                </a:cubicBezTo>
                <a:lnTo>
                  <a:pt x="92517" y="48591"/>
                </a:lnTo>
                <a:lnTo>
                  <a:pt x="113278" y="73025"/>
                </a:lnTo>
                <a:cubicBezTo>
                  <a:pt x="114963" y="74985"/>
                  <a:pt x="115322" y="77746"/>
                  <a:pt x="114245" y="80093"/>
                </a:cubicBezTo>
                <a:cubicBezTo>
                  <a:pt x="113168" y="82440"/>
                  <a:pt x="110821" y="83930"/>
                  <a:pt x="108226" y="83930"/>
                </a:cubicBezTo>
                <a:lnTo>
                  <a:pt x="97597" y="83930"/>
                </a:lnTo>
                <a:lnTo>
                  <a:pt x="122113" y="112782"/>
                </a:lnTo>
                <a:cubicBezTo>
                  <a:pt x="123797" y="114742"/>
                  <a:pt x="124156" y="117503"/>
                  <a:pt x="123080" y="119849"/>
                </a:cubicBezTo>
                <a:cubicBezTo>
                  <a:pt x="122003" y="122196"/>
                  <a:pt x="119656" y="123687"/>
                  <a:pt x="117061" y="123687"/>
                </a:cubicBezTo>
                <a:lnTo>
                  <a:pt x="70678" y="123687"/>
                </a:lnTo>
                <a:lnTo>
                  <a:pt x="70678" y="141357"/>
                </a:lnTo>
                <a:cubicBezTo>
                  <a:pt x="70678" y="146243"/>
                  <a:pt x="66730" y="150191"/>
                  <a:pt x="61843" y="150191"/>
                </a:cubicBezTo>
                <a:cubicBezTo>
                  <a:pt x="56957" y="150191"/>
                  <a:pt x="53009" y="146243"/>
                  <a:pt x="53009" y="141357"/>
                </a:cubicBezTo>
                <a:lnTo>
                  <a:pt x="53009" y="123687"/>
                </a:lnTo>
                <a:lnTo>
                  <a:pt x="6626" y="123687"/>
                </a:lnTo>
                <a:cubicBezTo>
                  <a:pt x="4031" y="123687"/>
                  <a:pt x="1684" y="122196"/>
                  <a:pt x="607" y="119849"/>
                </a:cubicBezTo>
                <a:cubicBezTo>
                  <a:pt x="-469" y="117503"/>
                  <a:pt x="-110" y="114742"/>
                  <a:pt x="1574" y="112782"/>
                </a:cubicBezTo>
                <a:lnTo>
                  <a:pt x="26090" y="83930"/>
                </a:lnTo>
                <a:lnTo>
                  <a:pt x="15461" y="83930"/>
                </a:lnTo>
                <a:cubicBezTo>
                  <a:pt x="12866" y="83930"/>
                  <a:pt x="10519" y="82440"/>
                  <a:pt x="9442" y="80093"/>
                </a:cubicBezTo>
                <a:cubicBezTo>
                  <a:pt x="8365" y="77746"/>
                  <a:pt x="8724" y="74985"/>
                  <a:pt x="10408" y="73025"/>
                </a:cubicBezTo>
                <a:lnTo>
                  <a:pt x="31170" y="48591"/>
                </a:lnTo>
                <a:lnTo>
                  <a:pt x="24296" y="48591"/>
                </a:lnTo>
                <a:cubicBezTo>
                  <a:pt x="21700" y="48591"/>
                  <a:pt x="19354" y="47100"/>
                  <a:pt x="18277" y="44754"/>
                </a:cubicBezTo>
                <a:cubicBezTo>
                  <a:pt x="17200" y="42407"/>
                  <a:pt x="17559" y="39646"/>
                  <a:pt x="19243" y="37686"/>
                </a:cubicBezTo>
                <a:lnTo>
                  <a:pt x="56791" y="-6488"/>
                </a:lnTo>
                <a:cubicBezTo>
                  <a:pt x="58061" y="-7979"/>
                  <a:pt x="59911" y="-8835"/>
                  <a:pt x="61843" y="-8835"/>
                </a:cubicBezTo>
                <a:close/>
              </a:path>
            </a:pathLst>
          </a:custGeom>
          <a:solidFill>
            <a:srgbClr val="4C8A7A"/>
          </a:solidFill>
          <a:ln/>
        </p:spPr>
      </p:sp>
      <p:sp>
        <p:nvSpPr>
          <p:cNvPr id="10" name="Text 8"/>
          <p:cNvSpPr/>
          <p:nvPr/>
        </p:nvSpPr>
        <p:spPr>
          <a:xfrm>
            <a:off x="812800" y="2915478"/>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Bark Surfaces</a:t>
            </a:r>
            <a:endParaRPr lang="en-US" sz="1600" dirty="0"/>
          </a:p>
        </p:txBody>
      </p:sp>
      <p:sp>
        <p:nvSpPr>
          <p:cNvPr id="11" name="Text 9"/>
          <p:cNvSpPr/>
          <p:nvPr/>
        </p:nvSpPr>
        <p:spPr>
          <a:xfrm>
            <a:off x="636104" y="3198191"/>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Support epiphytic lichens, mosses, and invertebrates. Chemistry and texture determine species composition.</a:t>
            </a:r>
            <a:endParaRPr lang="en-US" sz="1600" dirty="0"/>
          </a:p>
        </p:txBody>
      </p:sp>
      <p:sp>
        <p:nvSpPr>
          <p:cNvPr id="12" name="Shape 10"/>
          <p:cNvSpPr/>
          <p:nvPr/>
        </p:nvSpPr>
        <p:spPr>
          <a:xfrm>
            <a:off x="4204045" y="2809461"/>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8FB7AC">
              <a:alpha val="10196"/>
            </a:srgbClr>
          </a:solidFill>
          <a:ln/>
        </p:spPr>
      </p:sp>
      <p:sp>
        <p:nvSpPr>
          <p:cNvPr id="13" name="Shape 11"/>
          <p:cNvSpPr/>
          <p:nvPr/>
        </p:nvSpPr>
        <p:spPr>
          <a:xfrm>
            <a:off x="4327732" y="2950817"/>
            <a:ext cx="141357" cy="141357"/>
          </a:xfrm>
          <a:custGeom>
            <a:avLst/>
            <a:gdLst/>
            <a:ahLst/>
            <a:cxnLst/>
            <a:rect l="l" t="t" r="r" b="b"/>
            <a:pathLst>
              <a:path w="141357" h="141357">
                <a:moveTo>
                  <a:pt x="61926" y="-690"/>
                </a:moveTo>
                <a:cubicBezTo>
                  <a:pt x="67393" y="-3838"/>
                  <a:pt x="74129" y="-3838"/>
                  <a:pt x="79596" y="-690"/>
                </a:cubicBezTo>
                <a:lnTo>
                  <a:pt x="128160" y="27333"/>
                </a:lnTo>
                <a:cubicBezTo>
                  <a:pt x="133626" y="30480"/>
                  <a:pt x="136994" y="36333"/>
                  <a:pt x="136994" y="42628"/>
                </a:cubicBezTo>
                <a:lnTo>
                  <a:pt x="136994" y="98673"/>
                </a:lnTo>
                <a:cubicBezTo>
                  <a:pt x="136994" y="104996"/>
                  <a:pt x="133626" y="110821"/>
                  <a:pt x="128160" y="113969"/>
                </a:cubicBezTo>
                <a:lnTo>
                  <a:pt x="79596" y="142047"/>
                </a:lnTo>
                <a:cubicBezTo>
                  <a:pt x="74129" y="145194"/>
                  <a:pt x="67393" y="145194"/>
                  <a:pt x="61926" y="142047"/>
                </a:cubicBezTo>
                <a:lnTo>
                  <a:pt x="13390" y="114024"/>
                </a:lnTo>
                <a:cubicBezTo>
                  <a:pt x="7924" y="110877"/>
                  <a:pt x="4555" y="105023"/>
                  <a:pt x="4555" y="98729"/>
                </a:cubicBezTo>
                <a:lnTo>
                  <a:pt x="4555" y="42683"/>
                </a:lnTo>
                <a:cubicBezTo>
                  <a:pt x="4555" y="36361"/>
                  <a:pt x="7924" y="30535"/>
                  <a:pt x="13390" y="27388"/>
                </a:cubicBezTo>
                <a:lnTo>
                  <a:pt x="61926" y="-690"/>
                </a:lnTo>
                <a:close/>
                <a:moveTo>
                  <a:pt x="119297" y="98701"/>
                </a:moveTo>
                <a:lnTo>
                  <a:pt x="119297" y="52843"/>
                </a:lnTo>
                <a:lnTo>
                  <a:pt x="79596" y="75758"/>
                </a:lnTo>
                <a:lnTo>
                  <a:pt x="79596" y="121616"/>
                </a:lnTo>
                <a:lnTo>
                  <a:pt x="119297" y="98701"/>
                </a:lnTo>
                <a:close/>
              </a:path>
            </a:pathLst>
          </a:custGeom>
          <a:solidFill>
            <a:srgbClr val="8FB7AC"/>
          </a:solidFill>
          <a:ln/>
        </p:spPr>
      </p:sp>
      <p:sp>
        <p:nvSpPr>
          <p:cNvPr id="14" name="Text 12"/>
          <p:cNvSpPr/>
          <p:nvPr/>
        </p:nvSpPr>
        <p:spPr>
          <a:xfrm>
            <a:off x="4486758" y="2915478"/>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Dead Wood</a:t>
            </a:r>
            <a:endParaRPr lang="en-US" sz="1600" dirty="0"/>
          </a:p>
        </p:txBody>
      </p:sp>
      <p:sp>
        <p:nvSpPr>
          <p:cNvPr id="15" name="Text 13"/>
          <p:cNvSpPr/>
          <p:nvPr/>
        </p:nvSpPr>
        <p:spPr>
          <a:xfrm>
            <a:off x="4310063" y="3198191"/>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Critical for saproxylic beetles, fungi, and cavity-nesting birds. Decay stages create temporal niches.</a:t>
            </a:r>
            <a:endParaRPr lang="en-US" sz="1600" dirty="0"/>
          </a:p>
        </p:txBody>
      </p:sp>
      <p:sp>
        <p:nvSpPr>
          <p:cNvPr id="16" name="Shape 14"/>
          <p:cNvSpPr/>
          <p:nvPr/>
        </p:nvSpPr>
        <p:spPr>
          <a:xfrm>
            <a:off x="530087"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5F6F6B">
              <a:alpha val="10196"/>
            </a:srgbClr>
          </a:solidFill>
          <a:ln/>
        </p:spPr>
      </p:sp>
      <p:sp>
        <p:nvSpPr>
          <p:cNvPr id="17" name="Shape 15"/>
          <p:cNvSpPr/>
          <p:nvPr/>
        </p:nvSpPr>
        <p:spPr>
          <a:xfrm>
            <a:off x="653774" y="3904974"/>
            <a:ext cx="141357" cy="141357"/>
          </a:xfrm>
          <a:custGeom>
            <a:avLst/>
            <a:gdLst/>
            <a:ahLst/>
            <a:cxnLst/>
            <a:rect l="l" t="t" r="r" b="b"/>
            <a:pathLst>
              <a:path w="141357" h="141357">
                <a:moveTo>
                  <a:pt x="76697" y="2374"/>
                </a:moveTo>
                <a:cubicBezTo>
                  <a:pt x="73301" y="-773"/>
                  <a:pt x="68055" y="-773"/>
                  <a:pt x="64687" y="2374"/>
                </a:cubicBezTo>
                <a:lnTo>
                  <a:pt x="2844" y="59800"/>
                </a:lnTo>
                <a:cubicBezTo>
                  <a:pt x="193" y="62285"/>
                  <a:pt x="-690" y="66123"/>
                  <a:pt x="635" y="69491"/>
                </a:cubicBezTo>
                <a:cubicBezTo>
                  <a:pt x="1960" y="72859"/>
                  <a:pt x="5190" y="75096"/>
                  <a:pt x="8835" y="75096"/>
                </a:cubicBezTo>
                <a:lnTo>
                  <a:pt x="13252" y="75096"/>
                </a:lnTo>
                <a:lnTo>
                  <a:pt x="13252" y="123687"/>
                </a:lnTo>
                <a:cubicBezTo>
                  <a:pt x="13252" y="133433"/>
                  <a:pt x="21176" y="141357"/>
                  <a:pt x="30922" y="141357"/>
                </a:cubicBezTo>
                <a:lnTo>
                  <a:pt x="110435" y="141357"/>
                </a:lnTo>
                <a:cubicBezTo>
                  <a:pt x="120181" y="141357"/>
                  <a:pt x="128104" y="133433"/>
                  <a:pt x="128104" y="123687"/>
                </a:cubicBezTo>
                <a:lnTo>
                  <a:pt x="128104" y="75096"/>
                </a:lnTo>
                <a:lnTo>
                  <a:pt x="132522" y="75096"/>
                </a:lnTo>
                <a:cubicBezTo>
                  <a:pt x="136166" y="75096"/>
                  <a:pt x="139424" y="72859"/>
                  <a:pt x="140749" y="69491"/>
                </a:cubicBezTo>
                <a:cubicBezTo>
                  <a:pt x="142074" y="66123"/>
                  <a:pt x="141191" y="62258"/>
                  <a:pt x="138540" y="59800"/>
                </a:cubicBezTo>
                <a:lnTo>
                  <a:pt x="76697" y="2374"/>
                </a:lnTo>
                <a:close/>
                <a:moveTo>
                  <a:pt x="66261" y="88348"/>
                </a:moveTo>
                <a:lnTo>
                  <a:pt x="75096" y="88348"/>
                </a:lnTo>
                <a:cubicBezTo>
                  <a:pt x="82412" y="88348"/>
                  <a:pt x="88348" y="94284"/>
                  <a:pt x="88348" y="101600"/>
                </a:cubicBezTo>
                <a:lnTo>
                  <a:pt x="88348" y="128104"/>
                </a:lnTo>
                <a:lnTo>
                  <a:pt x="53009" y="128104"/>
                </a:lnTo>
                <a:lnTo>
                  <a:pt x="53009" y="101600"/>
                </a:lnTo>
                <a:cubicBezTo>
                  <a:pt x="53009" y="94284"/>
                  <a:pt x="58945" y="88348"/>
                  <a:pt x="66261" y="88348"/>
                </a:cubicBezTo>
                <a:close/>
              </a:path>
            </a:pathLst>
          </a:custGeom>
          <a:solidFill>
            <a:srgbClr val="5F6F6B"/>
          </a:solidFill>
          <a:ln/>
        </p:spPr>
      </p:sp>
      <p:sp>
        <p:nvSpPr>
          <p:cNvPr id="18" name="Text 16"/>
          <p:cNvSpPr/>
          <p:nvPr/>
        </p:nvSpPr>
        <p:spPr>
          <a:xfrm>
            <a:off x="812800" y="3869635"/>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Tree Cavities</a:t>
            </a:r>
            <a:endParaRPr lang="en-US" sz="1600" dirty="0"/>
          </a:p>
        </p:txBody>
      </p:sp>
      <p:sp>
        <p:nvSpPr>
          <p:cNvPr id="19" name="Text 17"/>
          <p:cNvSpPr/>
          <p:nvPr/>
        </p:nvSpPr>
        <p:spPr>
          <a:xfrm>
            <a:off x="636104" y="4152348"/>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Rot holes and woodpecker cavities provide nesting sites for birds, mammals, and insects.</a:t>
            </a:r>
            <a:endParaRPr lang="en-US" sz="1600" dirty="0"/>
          </a:p>
        </p:txBody>
      </p:sp>
      <p:sp>
        <p:nvSpPr>
          <p:cNvPr id="20" name="Shape 18"/>
          <p:cNvSpPr/>
          <p:nvPr/>
        </p:nvSpPr>
        <p:spPr>
          <a:xfrm>
            <a:off x="4204045" y="3763617"/>
            <a:ext cx="3569252" cy="848139"/>
          </a:xfrm>
          <a:custGeom>
            <a:avLst/>
            <a:gdLst/>
            <a:ahLst/>
            <a:cxnLst/>
            <a:rect l="l" t="t" r="r" b="b"/>
            <a:pathLst>
              <a:path w="3569252" h="848139">
                <a:moveTo>
                  <a:pt x="70675" y="0"/>
                </a:moveTo>
                <a:lnTo>
                  <a:pt x="3498577" y="0"/>
                </a:lnTo>
                <a:cubicBezTo>
                  <a:pt x="3537610" y="0"/>
                  <a:pt x="3569252" y="31642"/>
                  <a:pt x="3569252" y="70675"/>
                </a:cubicBezTo>
                <a:lnTo>
                  <a:pt x="3569252" y="777464"/>
                </a:lnTo>
                <a:cubicBezTo>
                  <a:pt x="3569252" y="816497"/>
                  <a:pt x="3537610" y="848139"/>
                  <a:pt x="3498577" y="848139"/>
                </a:cubicBezTo>
                <a:lnTo>
                  <a:pt x="70675" y="848139"/>
                </a:lnTo>
                <a:cubicBezTo>
                  <a:pt x="31669" y="848139"/>
                  <a:pt x="0" y="816471"/>
                  <a:pt x="0" y="777464"/>
                </a:cubicBezTo>
                <a:lnTo>
                  <a:pt x="0" y="70675"/>
                </a:lnTo>
                <a:cubicBezTo>
                  <a:pt x="0" y="31669"/>
                  <a:pt x="31669" y="0"/>
                  <a:pt x="70675" y="0"/>
                </a:cubicBezTo>
                <a:close/>
              </a:path>
            </a:pathLst>
          </a:custGeom>
          <a:solidFill>
            <a:srgbClr val="4C8A7A">
              <a:alpha val="10196"/>
            </a:srgbClr>
          </a:solidFill>
          <a:ln/>
        </p:spPr>
      </p:sp>
      <p:sp>
        <p:nvSpPr>
          <p:cNvPr id="21" name="Shape 19"/>
          <p:cNvSpPr/>
          <p:nvPr/>
        </p:nvSpPr>
        <p:spPr>
          <a:xfrm>
            <a:off x="4345402" y="3904974"/>
            <a:ext cx="106017" cy="141357"/>
          </a:xfrm>
          <a:custGeom>
            <a:avLst/>
            <a:gdLst/>
            <a:ahLst/>
            <a:cxnLst/>
            <a:rect l="l" t="t" r="r" b="b"/>
            <a:pathLst>
              <a:path w="106017" h="141357">
                <a:moveTo>
                  <a:pt x="53009" y="141357"/>
                </a:moveTo>
                <a:cubicBezTo>
                  <a:pt x="23743" y="141357"/>
                  <a:pt x="0" y="117613"/>
                  <a:pt x="0" y="88348"/>
                </a:cubicBezTo>
                <a:cubicBezTo>
                  <a:pt x="0" y="63169"/>
                  <a:pt x="35947" y="12672"/>
                  <a:pt x="45996" y="-966"/>
                </a:cubicBezTo>
                <a:cubicBezTo>
                  <a:pt x="47625" y="-3175"/>
                  <a:pt x="50193" y="-4417"/>
                  <a:pt x="52953" y="-4417"/>
                </a:cubicBezTo>
                <a:lnTo>
                  <a:pt x="53064" y="-4417"/>
                </a:lnTo>
                <a:cubicBezTo>
                  <a:pt x="55825" y="-4417"/>
                  <a:pt x="58392" y="-3175"/>
                  <a:pt x="60021" y="-966"/>
                </a:cubicBezTo>
                <a:cubicBezTo>
                  <a:pt x="70071" y="12672"/>
                  <a:pt x="106017" y="63169"/>
                  <a:pt x="106017" y="88348"/>
                </a:cubicBezTo>
                <a:cubicBezTo>
                  <a:pt x="106017" y="117613"/>
                  <a:pt x="82274" y="141357"/>
                  <a:pt x="53009" y="141357"/>
                </a:cubicBezTo>
                <a:close/>
                <a:moveTo>
                  <a:pt x="30922" y="86139"/>
                </a:moveTo>
                <a:cubicBezTo>
                  <a:pt x="30922" y="82467"/>
                  <a:pt x="27968" y="79513"/>
                  <a:pt x="24296" y="79513"/>
                </a:cubicBezTo>
                <a:cubicBezTo>
                  <a:pt x="20624" y="79513"/>
                  <a:pt x="17670" y="82467"/>
                  <a:pt x="17670" y="86139"/>
                </a:cubicBezTo>
                <a:cubicBezTo>
                  <a:pt x="17670" y="106873"/>
                  <a:pt x="34483" y="123687"/>
                  <a:pt x="55217" y="123687"/>
                </a:cubicBezTo>
                <a:cubicBezTo>
                  <a:pt x="58889" y="123687"/>
                  <a:pt x="61843" y="120733"/>
                  <a:pt x="61843" y="117061"/>
                </a:cubicBezTo>
                <a:cubicBezTo>
                  <a:pt x="61843" y="113389"/>
                  <a:pt x="58889" y="110435"/>
                  <a:pt x="55217" y="110435"/>
                </a:cubicBezTo>
                <a:cubicBezTo>
                  <a:pt x="41800" y="110435"/>
                  <a:pt x="30922" y="99557"/>
                  <a:pt x="30922" y="86139"/>
                </a:cubicBezTo>
                <a:close/>
              </a:path>
            </a:pathLst>
          </a:custGeom>
          <a:solidFill>
            <a:srgbClr val="4C8A7A"/>
          </a:solidFill>
          <a:ln/>
        </p:spPr>
      </p:sp>
      <p:sp>
        <p:nvSpPr>
          <p:cNvPr id="22" name="Text 20"/>
          <p:cNvSpPr/>
          <p:nvPr/>
        </p:nvSpPr>
        <p:spPr>
          <a:xfrm>
            <a:off x="4486758" y="3869635"/>
            <a:ext cx="3251200" cy="212035"/>
          </a:xfrm>
          <a:prstGeom prst="rect">
            <a:avLst/>
          </a:prstGeom>
          <a:noFill/>
          <a:ln/>
        </p:spPr>
        <p:txBody>
          <a:bodyPr wrap="square" lIns="0" tIns="0" rIns="0" bIns="0" rtlCol="0" anchor="ctr"/>
          <a:lstStyle/>
          <a:p>
            <a:pPr>
              <a:lnSpc>
                <a:spcPct val="130000"/>
              </a:lnSpc>
            </a:pPr>
            <a:r>
              <a:rPr lang="en-US" sz="1113" b="1" dirty="0">
                <a:solidFill>
                  <a:srgbClr val="2F3E3B"/>
                </a:solidFill>
                <a:latin typeface="Quattrocento Sans" pitchFamily="34" charset="0"/>
                <a:ea typeface="Quattrocento Sans" pitchFamily="34" charset="-122"/>
                <a:cs typeface="Quattrocento Sans" pitchFamily="34" charset="-120"/>
              </a:rPr>
              <a:t>Moist Microsites</a:t>
            </a:r>
            <a:endParaRPr lang="en-US" sz="1600" dirty="0"/>
          </a:p>
        </p:txBody>
      </p:sp>
      <p:sp>
        <p:nvSpPr>
          <p:cNvPr id="23" name="Text 21"/>
          <p:cNvSpPr/>
          <p:nvPr/>
        </p:nvSpPr>
        <p:spPr>
          <a:xfrm>
            <a:off x="4310063" y="4152348"/>
            <a:ext cx="3419061" cy="353391"/>
          </a:xfrm>
          <a:prstGeom prst="rect">
            <a:avLst/>
          </a:prstGeom>
          <a:noFill/>
          <a:ln/>
        </p:spPr>
        <p:txBody>
          <a:bodyPr wrap="square" lIns="0" tIns="0" rIns="0" bIns="0" rtlCol="0" anchor="ctr"/>
          <a:lstStyle/>
          <a:p>
            <a:pPr>
              <a:lnSpc>
                <a:spcPct val="120000"/>
              </a:lnSpc>
            </a:pPr>
            <a:r>
              <a:rPr lang="en-US" sz="974" dirty="0">
                <a:solidFill>
                  <a:srgbClr val="5F6F6B"/>
                </a:solidFill>
                <a:latin typeface="Quattrocento Sans" pitchFamily="34" charset="0"/>
                <a:ea typeface="Quattrocento Sans" pitchFamily="34" charset="-122"/>
                <a:cs typeface="Quattrocento Sans" pitchFamily="34" charset="-120"/>
              </a:rPr>
              <a:t>Support bryophytes and moisture-dependent species. Critical in fragmented landscapes.</a:t>
            </a:r>
            <a:endParaRPr lang="en-US" sz="1600" dirty="0"/>
          </a:p>
        </p:txBody>
      </p:sp>
      <p:sp>
        <p:nvSpPr>
          <p:cNvPr id="24" name="Shape 22"/>
          <p:cNvSpPr/>
          <p:nvPr/>
        </p:nvSpPr>
        <p:spPr>
          <a:xfrm>
            <a:off x="353391" y="4929809"/>
            <a:ext cx="7597913" cy="1395896"/>
          </a:xfrm>
          <a:custGeom>
            <a:avLst/>
            <a:gdLst/>
            <a:ahLst/>
            <a:cxnLst/>
            <a:rect l="l" t="t" r="r" b="b"/>
            <a:pathLst>
              <a:path w="7597913" h="1395896">
                <a:moveTo>
                  <a:pt x="106018" y="0"/>
                </a:moveTo>
                <a:lnTo>
                  <a:pt x="7491895" y="0"/>
                </a:lnTo>
                <a:cubicBezTo>
                  <a:pt x="7550447" y="0"/>
                  <a:pt x="7597913" y="47466"/>
                  <a:pt x="7597913" y="106018"/>
                </a:cubicBezTo>
                <a:lnTo>
                  <a:pt x="7597913" y="1289877"/>
                </a:lnTo>
                <a:cubicBezTo>
                  <a:pt x="7597913" y="1348430"/>
                  <a:pt x="7550447" y="1395896"/>
                  <a:pt x="7491895" y="1395896"/>
                </a:cubicBezTo>
                <a:lnTo>
                  <a:pt x="106018" y="1395896"/>
                </a:lnTo>
                <a:cubicBezTo>
                  <a:pt x="47466" y="1395896"/>
                  <a:pt x="0" y="1348430"/>
                  <a:pt x="0" y="1289877"/>
                </a:cubicBezTo>
                <a:lnTo>
                  <a:pt x="0" y="106018"/>
                </a:lnTo>
                <a:cubicBezTo>
                  <a:pt x="0" y="47505"/>
                  <a:pt x="47505" y="0"/>
                  <a:pt x="106018"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25" name="Text 23"/>
          <p:cNvSpPr/>
          <p:nvPr/>
        </p:nvSpPr>
        <p:spPr>
          <a:xfrm>
            <a:off x="530087" y="5106504"/>
            <a:ext cx="7332870" cy="247374"/>
          </a:xfrm>
          <a:prstGeom prst="rect">
            <a:avLst/>
          </a:prstGeom>
          <a:noFill/>
          <a:ln/>
        </p:spPr>
        <p:txBody>
          <a:bodyPr wrap="square" lIns="0" tIns="0" rIns="0" bIns="0" rtlCol="0" anchor="ctr"/>
          <a:lstStyle/>
          <a:p>
            <a:pPr>
              <a:lnSpc>
                <a:spcPct val="120000"/>
              </a:lnSpc>
            </a:pPr>
            <a:r>
              <a:rPr lang="en-US" sz="1391" b="1" dirty="0">
                <a:solidFill>
                  <a:srgbClr val="2F3E3B"/>
                </a:solidFill>
                <a:latin typeface="Sorts Mill Goudy" pitchFamily="34" charset="0"/>
                <a:ea typeface="Sorts Mill Goudy" pitchFamily="34" charset="-122"/>
                <a:cs typeface="Sorts Mill Goudy" pitchFamily="34" charset="-120"/>
              </a:rPr>
              <a:t>Habitat Continuity Importance</a:t>
            </a:r>
            <a:endParaRPr lang="en-US" sz="1600" dirty="0"/>
          </a:p>
        </p:txBody>
      </p:sp>
      <p:sp>
        <p:nvSpPr>
          <p:cNvPr id="26" name="Text 24"/>
          <p:cNvSpPr/>
          <p:nvPr/>
        </p:nvSpPr>
        <p:spPr>
          <a:xfrm>
            <a:off x="530087" y="5459896"/>
            <a:ext cx="7315200" cy="689113"/>
          </a:xfrm>
          <a:prstGeom prst="rect">
            <a:avLst/>
          </a:prstGeom>
          <a:noFill/>
          <a:ln/>
        </p:spPr>
        <p:txBody>
          <a:bodyPr wrap="square" lIns="0" tIns="0" rIns="0" bIns="0" rtlCol="0" anchor="ctr"/>
          <a:lstStyle/>
          <a:p>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Studies of epiphytic lichens in fragmented temperate forests reveal that </a:t>
            </a:r>
            <a:pPr>
              <a:lnSpc>
                <a:spcPct val="140000"/>
              </a:lnSpc>
            </a:pPr>
            <a:r>
              <a:rPr lang="en-US" sz="1113" b="1" dirty="0">
                <a:solidFill>
                  <a:srgbClr val="1F2A28"/>
                </a:solidFill>
                <a:latin typeface="Quattrocento Sans" pitchFamily="34" charset="0"/>
                <a:ea typeface="Quattrocento Sans" pitchFamily="34" charset="-122"/>
                <a:cs typeface="Quattrocento Sans" pitchFamily="34" charset="-120"/>
              </a:rPr>
              <a:t>spatiotemporal habitat continuity</a:t>
            </a:r>
            <a:pPr>
              <a:lnSpc>
                <a:spcPct val="140000"/>
              </a:lnSpc>
            </a:pPr>
            <a:r>
              <a:rPr lang="en-US" sz="1113" dirty="0">
                <a:solidFill>
                  <a:srgbClr val="1F2A28"/>
                </a:solidFill>
                <a:latin typeface="Quattrocento Sans" pitchFamily="34" charset="0"/>
                <a:ea typeface="Quattrocento Sans" pitchFamily="34" charset="-122"/>
                <a:cs typeface="Quattrocento Sans" pitchFamily="34" charset="-120"/>
              </a:rPr>
              <a:t> is crucial for maintaining species-rich communities. Hotspots of diversity capture substantial portions of regional species pools but require ongoing protection to ensure long-term persistence.</a:t>
            </a:r>
            <a:endParaRPr lang="en-US" sz="1600" dirty="0"/>
          </a:p>
        </p:txBody>
      </p:sp>
      <p:sp>
        <p:nvSpPr>
          <p:cNvPr id="27" name="Shape 25"/>
          <p:cNvSpPr/>
          <p:nvPr/>
        </p:nvSpPr>
        <p:spPr>
          <a:xfrm>
            <a:off x="8125377" y="1448904"/>
            <a:ext cx="3710609" cy="1625600"/>
          </a:xfrm>
          <a:custGeom>
            <a:avLst/>
            <a:gdLst/>
            <a:ahLst/>
            <a:cxnLst/>
            <a:rect l="l" t="t" r="r" b="b"/>
            <a:pathLst>
              <a:path w="3710609" h="1625600">
                <a:moveTo>
                  <a:pt x="106022" y="0"/>
                </a:moveTo>
                <a:lnTo>
                  <a:pt x="3604587" y="0"/>
                </a:lnTo>
                <a:cubicBezTo>
                  <a:pt x="3663141" y="0"/>
                  <a:pt x="3710609" y="47468"/>
                  <a:pt x="3710609" y="106022"/>
                </a:cubicBezTo>
                <a:lnTo>
                  <a:pt x="3710609" y="1519578"/>
                </a:lnTo>
                <a:cubicBezTo>
                  <a:pt x="3710609" y="1578132"/>
                  <a:pt x="3663141" y="1625600"/>
                  <a:pt x="3604587" y="1625600"/>
                </a:cubicBezTo>
                <a:lnTo>
                  <a:pt x="106022" y="1625600"/>
                </a:lnTo>
                <a:cubicBezTo>
                  <a:pt x="47468" y="1625600"/>
                  <a:pt x="0" y="1578132"/>
                  <a:pt x="0" y="1519578"/>
                </a:cubicBezTo>
                <a:lnTo>
                  <a:pt x="0" y="106022"/>
                </a:lnTo>
                <a:cubicBezTo>
                  <a:pt x="0" y="47507"/>
                  <a:pt x="47507" y="0"/>
                  <a:pt x="106022" y="0"/>
                </a:cubicBezTo>
                <a:close/>
              </a:path>
            </a:pathLst>
          </a:custGeom>
          <a:solidFill>
            <a:srgbClr val="4C8A7A"/>
          </a:solidFill>
          <a:ln/>
        </p:spPr>
      </p:sp>
      <p:sp>
        <p:nvSpPr>
          <p:cNvPr id="28" name="Text 26"/>
          <p:cNvSpPr/>
          <p:nvPr/>
        </p:nvSpPr>
        <p:spPr>
          <a:xfrm>
            <a:off x="8302073" y="1625600"/>
            <a:ext cx="3436730" cy="247374"/>
          </a:xfrm>
          <a:prstGeom prst="rect">
            <a:avLst/>
          </a:prstGeom>
          <a:noFill/>
          <a:ln/>
        </p:spPr>
        <p:txBody>
          <a:bodyPr wrap="square" lIns="0" tIns="0" rIns="0" bIns="0" rtlCol="0" anchor="ctr"/>
          <a:lstStyle/>
          <a:p>
            <a:pPr>
              <a:lnSpc>
                <a:spcPct val="130000"/>
              </a:lnSpc>
            </a:pPr>
            <a:r>
              <a:rPr lang="en-US" sz="1252" b="1" dirty="0">
                <a:solidFill>
                  <a:srgbClr val="FFFFFF"/>
                </a:solidFill>
                <a:latin typeface="Sorts Mill Goudy" pitchFamily="34" charset="0"/>
                <a:ea typeface="Sorts Mill Goudy" pitchFamily="34" charset="-122"/>
                <a:cs typeface="Sorts Mill Goudy" pitchFamily="34" charset="-120"/>
              </a:rPr>
              <a:t>Key Finding</a:t>
            </a:r>
            <a:endParaRPr lang="en-US" sz="1600" dirty="0"/>
          </a:p>
        </p:txBody>
      </p:sp>
      <p:sp>
        <p:nvSpPr>
          <p:cNvPr id="29" name="Text 27"/>
          <p:cNvSpPr/>
          <p:nvPr/>
        </p:nvSpPr>
        <p:spPr>
          <a:xfrm>
            <a:off x="8302073" y="1978991"/>
            <a:ext cx="3427896" cy="918817"/>
          </a:xfrm>
          <a:prstGeom prst="rect">
            <a:avLst/>
          </a:prstGeom>
          <a:noFill/>
          <a:ln/>
        </p:spPr>
        <p:txBody>
          <a:bodyPr wrap="square" lIns="0" tIns="0" rIns="0" bIns="0" rtlCol="0" anchor="ctr"/>
          <a:lstStyle/>
          <a:p>
            <a:pPr>
              <a:lnSpc>
                <a:spcPct val="140000"/>
              </a:lnSpc>
            </a:pPr>
            <a:r>
              <a:rPr lang="en-US" sz="1113" dirty="0">
                <a:solidFill>
                  <a:srgbClr val="FFFFFF"/>
                </a:solidFill>
                <a:latin typeface="Quattrocento Sans" pitchFamily="34" charset="0"/>
                <a:ea typeface="Quattrocento Sans" pitchFamily="34" charset="-122"/>
                <a:cs typeface="Quattrocento Sans" pitchFamily="34" charset="-120"/>
              </a:rPr>
              <a:t>Microhabitat heterogeneity in unmanaged forests (mean = 15 types) exceeds that in managed forests (mean = 12 types), explaining higher biodiversity in natural stands.</a:t>
            </a:r>
            <a:endParaRPr lang="en-US" sz="1600" dirty="0"/>
          </a:p>
        </p:txBody>
      </p:sp>
      <p:sp>
        <p:nvSpPr>
          <p:cNvPr id="30" name="Shape 28"/>
          <p:cNvSpPr/>
          <p:nvPr/>
        </p:nvSpPr>
        <p:spPr>
          <a:xfrm>
            <a:off x="8125377" y="3215861"/>
            <a:ext cx="3710609" cy="2191026"/>
          </a:xfrm>
          <a:custGeom>
            <a:avLst/>
            <a:gdLst/>
            <a:ahLst/>
            <a:cxnLst/>
            <a:rect l="l" t="t" r="r" b="b"/>
            <a:pathLst>
              <a:path w="3710609" h="2191026">
                <a:moveTo>
                  <a:pt x="106024" y="0"/>
                </a:moveTo>
                <a:lnTo>
                  <a:pt x="3604585" y="0"/>
                </a:lnTo>
                <a:cubicBezTo>
                  <a:pt x="3663140" y="0"/>
                  <a:pt x="3710609" y="47468"/>
                  <a:pt x="3710609" y="106024"/>
                </a:cubicBezTo>
                <a:lnTo>
                  <a:pt x="3710609" y="2085002"/>
                </a:lnTo>
                <a:cubicBezTo>
                  <a:pt x="3710609" y="2143558"/>
                  <a:pt x="3663140" y="2191026"/>
                  <a:pt x="3604585" y="2191026"/>
                </a:cubicBezTo>
                <a:lnTo>
                  <a:pt x="106024" y="2191026"/>
                </a:lnTo>
                <a:cubicBezTo>
                  <a:pt x="47468" y="2191026"/>
                  <a:pt x="0" y="2143558"/>
                  <a:pt x="0" y="2085002"/>
                </a:cubicBezTo>
                <a:lnTo>
                  <a:pt x="0" y="106024"/>
                </a:lnTo>
                <a:cubicBezTo>
                  <a:pt x="0" y="47508"/>
                  <a:pt x="47508" y="0"/>
                  <a:pt x="106024" y="0"/>
                </a:cubicBezTo>
                <a:close/>
              </a:path>
            </a:pathLst>
          </a:custGeom>
          <a:solidFill>
            <a:srgbClr val="FFFFFF"/>
          </a:solidFill>
          <a:ln/>
          <a:effectLst>
            <a:outerShdw sx="100000" sy="100000" kx="0" ky="0" algn="bl" rotWithShape="0" blurRad="26504" dist="8835" dir="5400000">
              <a:srgbClr val="000000">
                <a:alpha val="10196"/>
              </a:srgbClr>
            </a:outerShdw>
          </a:effectLst>
        </p:spPr>
      </p:sp>
      <p:sp>
        <p:nvSpPr>
          <p:cNvPr id="31" name="Text 29"/>
          <p:cNvSpPr/>
          <p:nvPr/>
        </p:nvSpPr>
        <p:spPr>
          <a:xfrm>
            <a:off x="8302073" y="3392557"/>
            <a:ext cx="3436730" cy="247374"/>
          </a:xfrm>
          <a:prstGeom prst="rect">
            <a:avLst/>
          </a:prstGeom>
          <a:noFill/>
          <a:ln/>
        </p:spPr>
        <p:txBody>
          <a:bodyPr wrap="square" lIns="0" tIns="0" rIns="0" bIns="0" rtlCol="0" anchor="ctr"/>
          <a:lstStyle/>
          <a:p>
            <a:pPr>
              <a:lnSpc>
                <a:spcPct val="130000"/>
              </a:lnSpc>
            </a:pPr>
            <a:r>
              <a:rPr lang="en-US" sz="1252" b="1" dirty="0">
                <a:solidFill>
                  <a:srgbClr val="2F3E3B"/>
                </a:solidFill>
                <a:latin typeface="Sorts Mill Goudy" pitchFamily="34" charset="0"/>
                <a:ea typeface="Sorts Mill Goudy" pitchFamily="34" charset="-122"/>
                <a:cs typeface="Sorts Mill Goudy" pitchFamily="34" charset="-120"/>
              </a:rPr>
              <a:t>Research Insights</a:t>
            </a:r>
            <a:endParaRPr lang="en-US" sz="1600" dirty="0"/>
          </a:p>
        </p:txBody>
      </p:sp>
      <p:sp>
        <p:nvSpPr>
          <p:cNvPr id="32" name="Shape 30"/>
          <p:cNvSpPr/>
          <p:nvPr/>
        </p:nvSpPr>
        <p:spPr>
          <a:xfrm>
            <a:off x="8284403" y="3781287"/>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3" name="Text 31"/>
          <p:cNvSpPr/>
          <p:nvPr/>
        </p:nvSpPr>
        <p:spPr>
          <a:xfrm>
            <a:off x="8482703" y="3745948"/>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Amphibian communities can change abruptly across microclimate gradients of only a few meters</a:t>
            </a:r>
            <a:endParaRPr lang="en-US" sz="1600" dirty="0"/>
          </a:p>
        </p:txBody>
      </p:sp>
      <p:sp>
        <p:nvSpPr>
          <p:cNvPr id="34" name="Shape 32"/>
          <p:cNvSpPr/>
          <p:nvPr/>
        </p:nvSpPr>
        <p:spPr>
          <a:xfrm>
            <a:off x="8284403" y="4311374"/>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5" name="Text 33"/>
          <p:cNvSpPr/>
          <p:nvPr/>
        </p:nvSpPr>
        <p:spPr>
          <a:xfrm>
            <a:off x="8482703" y="4276035"/>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Old-growth stands offer higher substrate density, quality, and diversity for epiphytes</a:t>
            </a:r>
            <a:endParaRPr lang="en-US" sz="1600" dirty="0"/>
          </a:p>
        </p:txBody>
      </p:sp>
      <p:sp>
        <p:nvSpPr>
          <p:cNvPr id="36" name="Shape 34"/>
          <p:cNvSpPr/>
          <p:nvPr/>
        </p:nvSpPr>
        <p:spPr>
          <a:xfrm>
            <a:off x="8288821" y="4841461"/>
            <a:ext cx="141357" cy="141357"/>
          </a:xfrm>
          <a:custGeom>
            <a:avLst/>
            <a:gdLst/>
            <a:ahLst/>
            <a:cxnLst/>
            <a:rect l="l" t="t" r="r" b="b"/>
            <a:pathLst>
              <a:path w="141357" h="141357">
                <a:moveTo>
                  <a:pt x="48591" y="0"/>
                </a:moveTo>
                <a:cubicBezTo>
                  <a:pt x="41275" y="0"/>
                  <a:pt x="35339" y="5936"/>
                  <a:pt x="35339" y="13252"/>
                </a:cubicBezTo>
                <a:lnTo>
                  <a:pt x="35339" y="70678"/>
                </a:lnTo>
                <a:cubicBezTo>
                  <a:pt x="35339" y="77995"/>
                  <a:pt x="41275" y="83930"/>
                  <a:pt x="48591" y="83930"/>
                </a:cubicBezTo>
                <a:lnTo>
                  <a:pt x="66261" y="83930"/>
                </a:lnTo>
                <a:cubicBezTo>
                  <a:pt x="73577" y="83930"/>
                  <a:pt x="79513" y="77995"/>
                  <a:pt x="79513" y="70678"/>
                </a:cubicBezTo>
                <a:lnTo>
                  <a:pt x="79513" y="53009"/>
                </a:lnTo>
                <a:lnTo>
                  <a:pt x="88348" y="53009"/>
                </a:lnTo>
                <a:cubicBezTo>
                  <a:pt x="107867" y="53009"/>
                  <a:pt x="123687" y="68828"/>
                  <a:pt x="123687" y="88348"/>
                </a:cubicBezTo>
                <a:cubicBezTo>
                  <a:pt x="123687" y="107867"/>
                  <a:pt x="107867" y="123687"/>
                  <a:pt x="88348" y="123687"/>
                </a:cubicBezTo>
                <a:lnTo>
                  <a:pt x="8835" y="123687"/>
                </a:lnTo>
                <a:cubicBezTo>
                  <a:pt x="3948" y="123687"/>
                  <a:pt x="0" y="127635"/>
                  <a:pt x="0" y="132522"/>
                </a:cubicBezTo>
                <a:cubicBezTo>
                  <a:pt x="0" y="137408"/>
                  <a:pt x="3948" y="141357"/>
                  <a:pt x="8835" y="141357"/>
                </a:cubicBezTo>
                <a:lnTo>
                  <a:pt x="132522" y="141357"/>
                </a:lnTo>
                <a:cubicBezTo>
                  <a:pt x="137408" y="141357"/>
                  <a:pt x="141357" y="137408"/>
                  <a:pt x="141357" y="132522"/>
                </a:cubicBezTo>
                <a:cubicBezTo>
                  <a:pt x="141357" y="127635"/>
                  <a:pt x="137408" y="123687"/>
                  <a:pt x="132522" y="123687"/>
                </a:cubicBezTo>
                <a:lnTo>
                  <a:pt x="127856" y="123687"/>
                </a:lnTo>
                <a:cubicBezTo>
                  <a:pt x="136249" y="114300"/>
                  <a:pt x="141357" y="101931"/>
                  <a:pt x="141357" y="88348"/>
                </a:cubicBezTo>
                <a:cubicBezTo>
                  <a:pt x="141357" y="59083"/>
                  <a:pt x="117613" y="35339"/>
                  <a:pt x="88348" y="35339"/>
                </a:cubicBezTo>
                <a:lnTo>
                  <a:pt x="79513" y="35339"/>
                </a:lnTo>
                <a:lnTo>
                  <a:pt x="79513" y="13252"/>
                </a:lnTo>
                <a:cubicBezTo>
                  <a:pt x="79513" y="5936"/>
                  <a:pt x="73577" y="0"/>
                  <a:pt x="66261" y="0"/>
                </a:cubicBezTo>
                <a:lnTo>
                  <a:pt x="48591" y="0"/>
                </a:lnTo>
                <a:close/>
                <a:moveTo>
                  <a:pt x="33130" y="97183"/>
                </a:moveTo>
                <a:cubicBezTo>
                  <a:pt x="29458" y="97183"/>
                  <a:pt x="26504" y="100137"/>
                  <a:pt x="26504" y="103809"/>
                </a:cubicBezTo>
                <a:cubicBezTo>
                  <a:pt x="26504" y="107481"/>
                  <a:pt x="29458" y="110435"/>
                  <a:pt x="33130" y="110435"/>
                </a:cubicBezTo>
                <a:lnTo>
                  <a:pt x="81722" y="110435"/>
                </a:lnTo>
                <a:cubicBezTo>
                  <a:pt x="85394" y="110435"/>
                  <a:pt x="88348" y="107481"/>
                  <a:pt x="88348" y="103809"/>
                </a:cubicBezTo>
                <a:cubicBezTo>
                  <a:pt x="88348" y="100137"/>
                  <a:pt x="85394" y="97183"/>
                  <a:pt x="81722" y="97183"/>
                </a:cubicBezTo>
                <a:lnTo>
                  <a:pt x="33130" y="97183"/>
                </a:lnTo>
                <a:close/>
              </a:path>
            </a:pathLst>
          </a:custGeom>
          <a:solidFill>
            <a:srgbClr val="4C8A7A"/>
          </a:solidFill>
          <a:ln/>
        </p:spPr>
      </p:sp>
      <p:sp>
        <p:nvSpPr>
          <p:cNvPr id="37" name="Text 35"/>
          <p:cNvSpPr/>
          <p:nvPr/>
        </p:nvSpPr>
        <p:spPr>
          <a:xfrm>
            <a:off x="8489536" y="4806122"/>
            <a:ext cx="3242365" cy="424070"/>
          </a:xfrm>
          <a:prstGeom prst="rect">
            <a:avLst/>
          </a:prstGeom>
          <a:noFill/>
          <a:ln/>
        </p:spPr>
        <p:txBody>
          <a:bodyPr wrap="square" lIns="0" tIns="0" rIns="0" bIns="0" rtlCol="0" anchor="ctr"/>
          <a:lstStyle/>
          <a:p>
            <a:pPr>
              <a:lnSpc>
                <a:spcPct val="130000"/>
              </a:lnSpc>
            </a:pPr>
            <a:r>
              <a:rPr lang="en-US" sz="1113" dirty="0">
                <a:solidFill>
                  <a:srgbClr val="5F6F6B"/>
                </a:solidFill>
                <a:latin typeface="Quattrocento Sans" pitchFamily="34" charset="0"/>
                <a:ea typeface="Quattrocento Sans" pitchFamily="34" charset="-122"/>
                <a:cs typeface="Quattrocento Sans" pitchFamily="34" charset="-120"/>
              </a:rPr>
              <a:t>Veteran trees host unique microhabitats including rot holes and dead branches</a:t>
            </a:r>
            <a:endParaRPr lang="en-US" sz="1600" dirty="0"/>
          </a:p>
        </p:txBody>
      </p:sp>
      <p:sp>
        <p:nvSpPr>
          <p:cNvPr id="38" name="Shape 36"/>
          <p:cNvSpPr/>
          <p:nvPr/>
        </p:nvSpPr>
        <p:spPr>
          <a:xfrm>
            <a:off x="8125377" y="5548243"/>
            <a:ext cx="3710609" cy="1095513"/>
          </a:xfrm>
          <a:custGeom>
            <a:avLst/>
            <a:gdLst/>
            <a:ahLst/>
            <a:cxnLst/>
            <a:rect l="l" t="t" r="r" b="b"/>
            <a:pathLst>
              <a:path w="3710609" h="1095513">
                <a:moveTo>
                  <a:pt x="106013" y="0"/>
                </a:moveTo>
                <a:lnTo>
                  <a:pt x="3604596" y="0"/>
                </a:lnTo>
                <a:cubicBezTo>
                  <a:pt x="3663145" y="0"/>
                  <a:pt x="3710609" y="47464"/>
                  <a:pt x="3710609" y="106013"/>
                </a:cubicBezTo>
                <a:lnTo>
                  <a:pt x="3710609" y="989500"/>
                </a:lnTo>
                <a:cubicBezTo>
                  <a:pt x="3710609" y="1048049"/>
                  <a:pt x="3663145" y="1095513"/>
                  <a:pt x="3604596" y="1095513"/>
                </a:cubicBezTo>
                <a:lnTo>
                  <a:pt x="106013" y="1095513"/>
                </a:lnTo>
                <a:cubicBezTo>
                  <a:pt x="47464" y="1095513"/>
                  <a:pt x="0" y="1048049"/>
                  <a:pt x="0" y="989500"/>
                </a:cubicBezTo>
                <a:lnTo>
                  <a:pt x="0" y="106013"/>
                </a:lnTo>
                <a:cubicBezTo>
                  <a:pt x="0" y="47503"/>
                  <a:pt x="47503" y="0"/>
                  <a:pt x="106013" y="0"/>
                </a:cubicBezTo>
                <a:close/>
              </a:path>
            </a:pathLst>
          </a:custGeom>
          <a:solidFill>
            <a:srgbClr val="2F3E3B"/>
          </a:solidFill>
          <a:ln/>
        </p:spPr>
      </p:sp>
      <p:sp>
        <p:nvSpPr>
          <p:cNvPr id="39" name="Text 37"/>
          <p:cNvSpPr/>
          <p:nvPr/>
        </p:nvSpPr>
        <p:spPr>
          <a:xfrm>
            <a:off x="8187221" y="5689600"/>
            <a:ext cx="3586922" cy="353391"/>
          </a:xfrm>
          <a:prstGeom prst="rect">
            <a:avLst/>
          </a:prstGeom>
          <a:noFill/>
          <a:ln/>
        </p:spPr>
        <p:txBody>
          <a:bodyPr wrap="square" lIns="0" tIns="0" rIns="0" bIns="0" rtlCol="0" anchor="ctr"/>
          <a:lstStyle/>
          <a:p>
            <a:pPr algn="ctr">
              <a:lnSpc>
                <a:spcPct val="90000"/>
              </a:lnSpc>
            </a:pPr>
            <a:r>
              <a:rPr lang="en-US" sz="2504" b="1" dirty="0">
                <a:solidFill>
                  <a:srgbClr val="FFFFFF"/>
                </a:solidFill>
                <a:latin typeface="Sorts Mill Goudy" pitchFamily="34" charset="0"/>
                <a:ea typeface="Sorts Mill Goudy" pitchFamily="34" charset="-122"/>
                <a:cs typeface="Sorts Mill Goudy" pitchFamily="34" charset="-120"/>
              </a:rPr>
              <a:t>19</a:t>
            </a:r>
            <a:endParaRPr lang="en-US" sz="1600" dirty="0"/>
          </a:p>
        </p:txBody>
      </p:sp>
      <p:sp>
        <p:nvSpPr>
          <p:cNvPr id="40" name="Text 38"/>
          <p:cNvSpPr/>
          <p:nvPr/>
        </p:nvSpPr>
        <p:spPr>
          <a:xfrm>
            <a:off x="8231395" y="6078330"/>
            <a:ext cx="3498574" cy="212035"/>
          </a:xfrm>
          <a:prstGeom prst="rect">
            <a:avLst/>
          </a:prstGeom>
          <a:noFill/>
          <a:ln/>
        </p:spPr>
        <p:txBody>
          <a:bodyPr wrap="square" lIns="0" tIns="0" rIns="0" bIns="0" rtlCol="0" anchor="ctr"/>
          <a:lstStyle/>
          <a:p>
            <a:pPr algn="ctr">
              <a:lnSpc>
                <a:spcPct val="130000"/>
              </a:lnSpc>
            </a:pPr>
            <a:r>
              <a:rPr lang="en-US" sz="1113" dirty="0">
                <a:solidFill>
                  <a:srgbClr val="FFFFFF"/>
                </a:solidFill>
                <a:latin typeface="Quattrocento Sans" pitchFamily="34" charset="0"/>
                <a:ea typeface="Quattrocento Sans" pitchFamily="34" charset="-122"/>
                <a:cs typeface="Quattrocento Sans" pitchFamily="34" charset="-120"/>
              </a:rPr>
              <a:t>Microhabitat Types Identified</a:t>
            </a:r>
            <a:endParaRPr lang="en-US" sz="1600" dirty="0"/>
          </a:p>
        </p:txBody>
      </p:sp>
      <p:sp>
        <p:nvSpPr>
          <p:cNvPr id="41" name="Text 39"/>
          <p:cNvSpPr/>
          <p:nvPr/>
        </p:nvSpPr>
        <p:spPr>
          <a:xfrm>
            <a:off x="8235812" y="6325704"/>
            <a:ext cx="3489739" cy="176696"/>
          </a:xfrm>
          <a:prstGeom prst="rect">
            <a:avLst/>
          </a:prstGeom>
          <a:noFill/>
          <a:ln/>
        </p:spPr>
        <p:txBody>
          <a:bodyPr wrap="square" lIns="0" tIns="0" rIns="0" bIns="0" rtlCol="0" anchor="ctr"/>
          <a:lstStyle/>
          <a:p>
            <a:pPr algn="ctr">
              <a:lnSpc>
                <a:spcPct val="120000"/>
              </a:lnSpc>
            </a:pPr>
            <a:r>
              <a:rPr lang="en-US" sz="974" dirty="0">
                <a:solidFill>
                  <a:srgbClr val="FFFFFF">
                    <a:alpha val="75000"/>
                  </a:srgbClr>
                </a:solidFill>
                <a:latin typeface="Quattrocento Sans" pitchFamily="34" charset="0"/>
                <a:ea typeface="Quattrocento Sans" pitchFamily="34" charset="-122"/>
                <a:cs typeface="Quattrocento Sans" pitchFamily="34" charset="-120"/>
              </a:rPr>
              <a:t>in Central European forests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49091" y="349091"/>
            <a:ext cx="11554909" cy="174545"/>
          </a:xfrm>
          <a:prstGeom prst="rect">
            <a:avLst/>
          </a:prstGeom>
          <a:noFill/>
          <a:ln/>
        </p:spPr>
        <p:txBody>
          <a:bodyPr wrap="square" lIns="0" tIns="0" rIns="0" bIns="0" rtlCol="0" anchor="ctr"/>
          <a:lstStyle/>
          <a:p>
            <a:pPr>
              <a:lnSpc>
                <a:spcPct val="120000"/>
              </a:lnSpc>
            </a:pPr>
            <a:r>
              <a:rPr lang="en-US" sz="962" b="1" spc="96"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49091" y="593455"/>
            <a:ext cx="11650909" cy="349091"/>
          </a:xfrm>
          <a:prstGeom prst="rect">
            <a:avLst/>
          </a:prstGeom>
          <a:noFill/>
          <a:ln/>
        </p:spPr>
        <p:txBody>
          <a:bodyPr wrap="square" lIns="0" tIns="0" rIns="0" bIns="0" rtlCol="0" anchor="ctr"/>
          <a:lstStyle/>
          <a:p>
            <a:pPr>
              <a:lnSpc>
                <a:spcPct val="90000"/>
              </a:lnSpc>
            </a:pPr>
            <a:r>
              <a:rPr lang="en-US" sz="2474" b="1" dirty="0">
                <a:solidFill>
                  <a:srgbClr val="2F3E3B"/>
                </a:solidFill>
                <a:latin typeface="Sorts Mill Goudy" pitchFamily="34" charset="0"/>
                <a:ea typeface="Sorts Mill Goudy" pitchFamily="34" charset="-122"/>
                <a:cs typeface="Sorts Mill Goudy" pitchFamily="34" charset="-120"/>
              </a:rPr>
              <a:t>Competition &amp; Facilitation</a:t>
            </a:r>
            <a:endParaRPr lang="en-US" sz="1600" dirty="0"/>
          </a:p>
        </p:txBody>
      </p:sp>
      <p:sp>
        <p:nvSpPr>
          <p:cNvPr id="4" name="Text 2"/>
          <p:cNvSpPr/>
          <p:nvPr/>
        </p:nvSpPr>
        <p:spPr>
          <a:xfrm>
            <a:off x="349091" y="1012364"/>
            <a:ext cx="11572364" cy="244364"/>
          </a:xfrm>
          <a:prstGeom prst="rect">
            <a:avLst/>
          </a:prstGeom>
          <a:noFill/>
          <a:ln/>
        </p:spPr>
        <p:txBody>
          <a:bodyPr wrap="square" lIns="0" tIns="0" rIns="0" bIns="0" rtlCol="0" anchor="ctr"/>
          <a:lstStyle/>
          <a:p>
            <a:pPr>
              <a:lnSpc>
                <a:spcPct val="130000"/>
              </a:lnSpc>
            </a:pPr>
            <a:r>
              <a:rPr lang="en-US" sz="1237" dirty="0">
                <a:solidFill>
                  <a:srgbClr val="5F6F6B"/>
                </a:solidFill>
                <a:latin typeface="Quattrocento Sans" pitchFamily="34" charset="0"/>
                <a:ea typeface="Quattrocento Sans" pitchFamily="34" charset="-122"/>
                <a:cs typeface="Quattrocento Sans" pitchFamily="34" charset="-120"/>
              </a:rPr>
              <a:t>Dual processes structuring forest communities</a:t>
            </a:r>
            <a:endParaRPr lang="en-US" sz="1600" dirty="0"/>
          </a:p>
        </p:txBody>
      </p:sp>
      <p:sp>
        <p:nvSpPr>
          <p:cNvPr id="5" name="Shape 3"/>
          <p:cNvSpPr/>
          <p:nvPr/>
        </p:nvSpPr>
        <p:spPr>
          <a:xfrm>
            <a:off x="349091" y="1431273"/>
            <a:ext cx="5646545" cy="2426182"/>
          </a:xfrm>
          <a:custGeom>
            <a:avLst/>
            <a:gdLst/>
            <a:ahLst/>
            <a:cxnLst/>
            <a:rect l="l" t="t" r="r" b="b"/>
            <a:pathLst>
              <a:path w="5646545" h="2426182">
                <a:moveTo>
                  <a:pt x="104738" y="0"/>
                </a:moveTo>
                <a:lnTo>
                  <a:pt x="5541807" y="0"/>
                </a:lnTo>
                <a:cubicBezTo>
                  <a:pt x="5599653" y="0"/>
                  <a:pt x="5646545" y="46893"/>
                  <a:pt x="5646545" y="104738"/>
                </a:cubicBezTo>
                <a:lnTo>
                  <a:pt x="5646545" y="2321444"/>
                </a:lnTo>
                <a:cubicBezTo>
                  <a:pt x="5646545" y="2379289"/>
                  <a:pt x="5599653" y="2426182"/>
                  <a:pt x="5541807" y="2426182"/>
                </a:cubicBezTo>
                <a:lnTo>
                  <a:pt x="104738" y="2426182"/>
                </a:lnTo>
                <a:cubicBezTo>
                  <a:pt x="46893" y="2426182"/>
                  <a:pt x="0" y="2379289"/>
                  <a:pt x="0" y="2321444"/>
                </a:cubicBezTo>
                <a:lnTo>
                  <a:pt x="0" y="104738"/>
                </a:lnTo>
                <a:cubicBezTo>
                  <a:pt x="0" y="46932"/>
                  <a:pt x="46932" y="0"/>
                  <a:pt x="10473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6" name="Shape 4"/>
          <p:cNvSpPr/>
          <p:nvPr/>
        </p:nvSpPr>
        <p:spPr>
          <a:xfrm>
            <a:off x="523636" y="1640727"/>
            <a:ext cx="218182" cy="174545"/>
          </a:xfrm>
          <a:custGeom>
            <a:avLst/>
            <a:gdLst/>
            <a:ahLst/>
            <a:cxnLst/>
            <a:rect l="l" t="t" r="r" b="b"/>
            <a:pathLst>
              <a:path w="218182" h="174545">
                <a:moveTo>
                  <a:pt x="130909" y="10909"/>
                </a:moveTo>
                <a:lnTo>
                  <a:pt x="174545" y="10909"/>
                </a:lnTo>
                <a:cubicBezTo>
                  <a:pt x="180580" y="10909"/>
                  <a:pt x="185455" y="15784"/>
                  <a:pt x="185455" y="21818"/>
                </a:cubicBezTo>
                <a:cubicBezTo>
                  <a:pt x="185455" y="27852"/>
                  <a:pt x="180580" y="32727"/>
                  <a:pt x="174545" y="32727"/>
                </a:cubicBezTo>
                <a:lnTo>
                  <a:pt x="135818" y="32727"/>
                </a:lnTo>
                <a:cubicBezTo>
                  <a:pt x="134045" y="41523"/>
                  <a:pt x="128011" y="48784"/>
                  <a:pt x="120000" y="52261"/>
                </a:cubicBezTo>
                <a:lnTo>
                  <a:pt x="120000" y="152727"/>
                </a:lnTo>
                <a:lnTo>
                  <a:pt x="174545" y="152727"/>
                </a:lnTo>
                <a:cubicBezTo>
                  <a:pt x="180580" y="152727"/>
                  <a:pt x="185455" y="157602"/>
                  <a:pt x="185455" y="163636"/>
                </a:cubicBezTo>
                <a:cubicBezTo>
                  <a:pt x="185455" y="169670"/>
                  <a:pt x="180580" y="174545"/>
                  <a:pt x="174545" y="174545"/>
                </a:cubicBezTo>
                <a:lnTo>
                  <a:pt x="43636" y="174545"/>
                </a:lnTo>
                <a:cubicBezTo>
                  <a:pt x="37602" y="174545"/>
                  <a:pt x="32727" y="169670"/>
                  <a:pt x="32727" y="163636"/>
                </a:cubicBezTo>
                <a:cubicBezTo>
                  <a:pt x="32727" y="157602"/>
                  <a:pt x="37602" y="152727"/>
                  <a:pt x="43636" y="152727"/>
                </a:cubicBezTo>
                <a:lnTo>
                  <a:pt x="98182" y="152727"/>
                </a:lnTo>
                <a:lnTo>
                  <a:pt x="98182" y="52261"/>
                </a:lnTo>
                <a:cubicBezTo>
                  <a:pt x="90170" y="48750"/>
                  <a:pt x="84136" y="41489"/>
                  <a:pt x="82364" y="32727"/>
                </a:cubicBezTo>
                <a:lnTo>
                  <a:pt x="43636" y="32727"/>
                </a:lnTo>
                <a:cubicBezTo>
                  <a:pt x="37602" y="32727"/>
                  <a:pt x="32727" y="27852"/>
                  <a:pt x="32727" y="21818"/>
                </a:cubicBezTo>
                <a:cubicBezTo>
                  <a:pt x="32727" y="15784"/>
                  <a:pt x="37602" y="10909"/>
                  <a:pt x="43636" y="10909"/>
                </a:cubicBezTo>
                <a:lnTo>
                  <a:pt x="87273" y="10909"/>
                </a:lnTo>
                <a:cubicBezTo>
                  <a:pt x="92250" y="4295"/>
                  <a:pt x="100159" y="0"/>
                  <a:pt x="109091" y="0"/>
                </a:cubicBezTo>
                <a:cubicBezTo>
                  <a:pt x="118023" y="0"/>
                  <a:pt x="125932" y="4295"/>
                  <a:pt x="130909" y="10909"/>
                </a:cubicBezTo>
                <a:close/>
                <a:moveTo>
                  <a:pt x="149864" y="109091"/>
                </a:moveTo>
                <a:lnTo>
                  <a:pt x="199227" y="109091"/>
                </a:lnTo>
                <a:lnTo>
                  <a:pt x="174545" y="66750"/>
                </a:lnTo>
                <a:lnTo>
                  <a:pt x="149864" y="109091"/>
                </a:lnTo>
                <a:close/>
                <a:moveTo>
                  <a:pt x="174545" y="141818"/>
                </a:moveTo>
                <a:cubicBezTo>
                  <a:pt x="153102" y="141818"/>
                  <a:pt x="135273" y="130227"/>
                  <a:pt x="131591" y="114920"/>
                </a:cubicBezTo>
                <a:cubicBezTo>
                  <a:pt x="130705" y="111170"/>
                  <a:pt x="131932" y="107318"/>
                  <a:pt x="133875" y="103977"/>
                </a:cubicBezTo>
                <a:lnTo>
                  <a:pt x="166330" y="48341"/>
                </a:lnTo>
                <a:cubicBezTo>
                  <a:pt x="168034" y="45409"/>
                  <a:pt x="171170" y="43636"/>
                  <a:pt x="174545" y="43636"/>
                </a:cubicBezTo>
                <a:cubicBezTo>
                  <a:pt x="177920" y="43636"/>
                  <a:pt x="181057" y="45443"/>
                  <a:pt x="182761" y="48341"/>
                </a:cubicBezTo>
                <a:lnTo>
                  <a:pt x="215216" y="103977"/>
                </a:lnTo>
                <a:cubicBezTo>
                  <a:pt x="217159" y="107318"/>
                  <a:pt x="218386" y="111170"/>
                  <a:pt x="217500" y="114920"/>
                </a:cubicBezTo>
                <a:cubicBezTo>
                  <a:pt x="213818" y="130193"/>
                  <a:pt x="195989" y="141818"/>
                  <a:pt x="174545" y="141818"/>
                </a:cubicBezTo>
                <a:close/>
                <a:moveTo>
                  <a:pt x="43227" y="66750"/>
                </a:moveTo>
                <a:lnTo>
                  <a:pt x="18545" y="109091"/>
                </a:lnTo>
                <a:lnTo>
                  <a:pt x="67943" y="109091"/>
                </a:lnTo>
                <a:lnTo>
                  <a:pt x="43227" y="66750"/>
                </a:lnTo>
                <a:close/>
                <a:moveTo>
                  <a:pt x="307" y="114920"/>
                </a:moveTo>
                <a:cubicBezTo>
                  <a:pt x="-580" y="111170"/>
                  <a:pt x="648" y="107318"/>
                  <a:pt x="2591" y="103977"/>
                </a:cubicBezTo>
                <a:lnTo>
                  <a:pt x="35045" y="48341"/>
                </a:lnTo>
                <a:cubicBezTo>
                  <a:pt x="36750" y="45409"/>
                  <a:pt x="39886" y="43636"/>
                  <a:pt x="43261" y="43636"/>
                </a:cubicBezTo>
                <a:cubicBezTo>
                  <a:pt x="46636" y="43636"/>
                  <a:pt x="49773" y="45443"/>
                  <a:pt x="51477" y="48341"/>
                </a:cubicBezTo>
                <a:lnTo>
                  <a:pt x="83932" y="103977"/>
                </a:lnTo>
                <a:cubicBezTo>
                  <a:pt x="85875" y="107318"/>
                  <a:pt x="87102" y="111170"/>
                  <a:pt x="86216" y="114920"/>
                </a:cubicBezTo>
                <a:cubicBezTo>
                  <a:pt x="82534" y="130193"/>
                  <a:pt x="64705" y="141818"/>
                  <a:pt x="43261" y="141818"/>
                </a:cubicBezTo>
                <a:cubicBezTo>
                  <a:pt x="21818" y="141818"/>
                  <a:pt x="3989" y="130227"/>
                  <a:pt x="307" y="114920"/>
                </a:cubicBezTo>
                <a:close/>
              </a:path>
            </a:pathLst>
          </a:custGeom>
          <a:solidFill>
            <a:srgbClr val="4C8A7A"/>
          </a:solidFill>
          <a:ln/>
        </p:spPr>
      </p:sp>
      <p:sp>
        <p:nvSpPr>
          <p:cNvPr id="7" name="Text 5"/>
          <p:cNvSpPr/>
          <p:nvPr/>
        </p:nvSpPr>
        <p:spPr>
          <a:xfrm>
            <a:off x="741818" y="1605818"/>
            <a:ext cx="5166545"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The Stress-Gradient Hypothesis</a:t>
            </a:r>
            <a:endParaRPr lang="en-US" sz="1600" dirty="0"/>
          </a:p>
        </p:txBody>
      </p:sp>
      <p:sp>
        <p:nvSpPr>
          <p:cNvPr id="8" name="Text 6"/>
          <p:cNvSpPr/>
          <p:nvPr/>
        </p:nvSpPr>
        <p:spPr>
          <a:xfrm>
            <a:off x="523636" y="1954909"/>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The </a:t>
            </a:r>
            <a:pPr>
              <a:lnSpc>
                <a:spcPct val="140000"/>
              </a:lnSpc>
            </a:pPr>
            <a:r>
              <a:rPr lang="en-US" sz="1100" b="1" dirty="0">
                <a:solidFill>
                  <a:srgbClr val="1F2A28"/>
                </a:solidFill>
                <a:latin typeface="Quattrocento Sans" pitchFamily="34" charset="0"/>
                <a:ea typeface="Quattrocento Sans" pitchFamily="34" charset="-122"/>
                <a:cs typeface="Quattrocento Sans" pitchFamily="34" charset="-120"/>
              </a:rPr>
              <a:t>stress-gradient hypothesis</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predicts that </a:t>
            </a:r>
            <a:pPr>
              <a:lnSpc>
                <a:spcPct val="140000"/>
              </a:lnSpc>
            </a:pPr>
            <a:r>
              <a:rPr lang="en-US" sz="11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competitive interactions decrease and facilitation increases under harsh environmental conditions </a:t>
            </a:r>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 This dynamic shift shapes community assembly across environmental gradients.</a:t>
            </a:r>
            <a:endParaRPr lang="en-US" sz="1600" dirty="0"/>
          </a:p>
        </p:txBody>
      </p:sp>
      <p:sp>
        <p:nvSpPr>
          <p:cNvPr id="9" name="Shape 7"/>
          <p:cNvSpPr/>
          <p:nvPr/>
        </p:nvSpPr>
        <p:spPr>
          <a:xfrm>
            <a:off x="523636"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4C8A7A">
              <a:alpha val="10196"/>
            </a:srgbClr>
          </a:solidFill>
          <a:ln/>
        </p:spPr>
      </p:sp>
      <p:sp>
        <p:nvSpPr>
          <p:cNvPr id="10" name="Text 8"/>
          <p:cNvSpPr/>
          <p:nvPr/>
        </p:nvSpPr>
        <p:spPr>
          <a:xfrm>
            <a:off x="663273"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Favorable Conditions</a:t>
            </a:r>
            <a:endParaRPr lang="en-US" sz="1600" dirty="0"/>
          </a:p>
        </p:txBody>
      </p:sp>
      <p:sp>
        <p:nvSpPr>
          <p:cNvPr id="11" name="Text 9"/>
          <p:cNvSpPr/>
          <p:nvPr/>
        </p:nvSpPr>
        <p:spPr>
          <a:xfrm>
            <a:off x="663273"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Competition dominates as species vie for abundant resources</a:t>
            </a:r>
            <a:endParaRPr lang="en-US" sz="1600" dirty="0"/>
          </a:p>
        </p:txBody>
      </p:sp>
      <p:sp>
        <p:nvSpPr>
          <p:cNvPr id="12" name="Shape 10"/>
          <p:cNvSpPr/>
          <p:nvPr/>
        </p:nvSpPr>
        <p:spPr>
          <a:xfrm>
            <a:off x="3240682" y="2775273"/>
            <a:ext cx="2574545" cy="907636"/>
          </a:xfrm>
          <a:custGeom>
            <a:avLst/>
            <a:gdLst/>
            <a:ahLst/>
            <a:cxnLst/>
            <a:rect l="l" t="t" r="r" b="b"/>
            <a:pathLst>
              <a:path w="2574545" h="907636">
                <a:moveTo>
                  <a:pt x="69815" y="0"/>
                </a:moveTo>
                <a:lnTo>
                  <a:pt x="2504730" y="0"/>
                </a:lnTo>
                <a:cubicBezTo>
                  <a:pt x="2543262" y="0"/>
                  <a:pt x="2574545" y="31283"/>
                  <a:pt x="2574545" y="69815"/>
                </a:cubicBezTo>
                <a:lnTo>
                  <a:pt x="2574545" y="837821"/>
                </a:lnTo>
                <a:cubicBezTo>
                  <a:pt x="2574545" y="876353"/>
                  <a:pt x="2543262" y="907636"/>
                  <a:pt x="2504730" y="907636"/>
                </a:cubicBezTo>
                <a:lnTo>
                  <a:pt x="69815" y="907636"/>
                </a:lnTo>
                <a:cubicBezTo>
                  <a:pt x="31283" y="907636"/>
                  <a:pt x="0" y="876353"/>
                  <a:pt x="0" y="837821"/>
                </a:cubicBezTo>
                <a:lnTo>
                  <a:pt x="0" y="69815"/>
                </a:lnTo>
                <a:cubicBezTo>
                  <a:pt x="0" y="31283"/>
                  <a:pt x="31283" y="0"/>
                  <a:pt x="69815" y="0"/>
                </a:cubicBezTo>
                <a:close/>
              </a:path>
            </a:pathLst>
          </a:custGeom>
          <a:solidFill>
            <a:srgbClr val="8FB7AC">
              <a:alpha val="10196"/>
            </a:srgbClr>
          </a:solidFill>
          <a:ln/>
        </p:spPr>
      </p:sp>
      <p:sp>
        <p:nvSpPr>
          <p:cNvPr id="13" name="Text 11"/>
          <p:cNvSpPr/>
          <p:nvPr/>
        </p:nvSpPr>
        <p:spPr>
          <a:xfrm>
            <a:off x="3380318" y="2914909"/>
            <a:ext cx="2365091"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Stressful Conditions</a:t>
            </a:r>
            <a:endParaRPr lang="en-US" sz="1600" dirty="0"/>
          </a:p>
        </p:txBody>
      </p:sp>
      <p:sp>
        <p:nvSpPr>
          <p:cNvPr id="14" name="Text 12"/>
          <p:cNvSpPr/>
          <p:nvPr/>
        </p:nvSpPr>
        <p:spPr>
          <a:xfrm>
            <a:off x="3380318" y="3194182"/>
            <a:ext cx="2356364" cy="349091"/>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Facilitation increases as species benefit from mutual support</a:t>
            </a:r>
            <a:endParaRPr lang="en-US" sz="1600" dirty="0"/>
          </a:p>
        </p:txBody>
      </p:sp>
      <p:sp>
        <p:nvSpPr>
          <p:cNvPr id="15" name="Shape 13"/>
          <p:cNvSpPr/>
          <p:nvPr/>
        </p:nvSpPr>
        <p:spPr>
          <a:xfrm>
            <a:off x="349091" y="3997091"/>
            <a:ext cx="5646545" cy="2688000"/>
          </a:xfrm>
          <a:custGeom>
            <a:avLst/>
            <a:gdLst/>
            <a:ahLst/>
            <a:cxnLst/>
            <a:rect l="l" t="t" r="r" b="b"/>
            <a:pathLst>
              <a:path w="5646545" h="2688000">
                <a:moveTo>
                  <a:pt x="104724" y="0"/>
                </a:moveTo>
                <a:lnTo>
                  <a:pt x="5541821" y="0"/>
                </a:lnTo>
                <a:cubicBezTo>
                  <a:pt x="5599659" y="0"/>
                  <a:pt x="5646545" y="46887"/>
                  <a:pt x="5646545" y="104724"/>
                </a:cubicBezTo>
                <a:lnTo>
                  <a:pt x="5646545" y="2583276"/>
                </a:lnTo>
                <a:cubicBezTo>
                  <a:pt x="5646545" y="2641113"/>
                  <a:pt x="5599659" y="2688000"/>
                  <a:pt x="5541821" y="2688000"/>
                </a:cubicBezTo>
                <a:lnTo>
                  <a:pt x="104724" y="2688000"/>
                </a:lnTo>
                <a:cubicBezTo>
                  <a:pt x="46887" y="2688000"/>
                  <a:pt x="0" y="2641113"/>
                  <a:pt x="0" y="2583276"/>
                </a:cubicBezTo>
                <a:lnTo>
                  <a:pt x="0" y="104724"/>
                </a:lnTo>
                <a:cubicBezTo>
                  <a:pt x="0" y="46925"/>
                  <a:pt x="46925" y="0"/>
                  <a:pt x="104724"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16" name="Text 14"/>
          <p:cNvSpPr/>
          <p:nvPr/>
        </p:nvSpPr>
        <p:spPr>
          <a:xfrm>
            <a:off x="523636" y="4171636"/>
            <a:ext cx="5384727" cy="244364"/>
          </a:xfrm>
          <a:prstGeom prst="rect">
            <a:avLst/>
          </a:prstGeom>
          <a:noFill/>
          <a:ln/>
        </p:spPr>
        <p:txBody>
          <a:bodyPr wrap="square" lIns="0" tIns="0" rIns="0" bIns="0" rtlCol="0" anchor="ctr"/>
          <a:lstStyle/>
          <a:p>
            <a:pPr>
              <a:lnSpc>
                <a:spcPct val="120000"/>
              </a:lnSpc>
            </a:pPr>
            <a:r>
              <a:rPr lang="en-US" sz="1374" b="1" dirty="0">
                <a:solidFill>
                  <a:srgbClr val="2F3E3B"/>
                </a:solidFill>
                <a:latin typeface="Sorts Mill Goudy" pitchFamily="34" charset="0"/>
                <a:ea typeface="Sorts Mill Goudy" pitchFamily="34" charset="-122"/>
                <a:cs typeface="Sorts Mill Goudy" pitchFamily="34" charset="-120"/>
              </a:rPr>
              <a:t>Interaction Types in Forests</a:t>
            </a:r>
            <a:endParaRPr lang="en-US" sz="1600" dirty="0"/>
          </a:p>
        </p:txBody>
      </p:sp>
      <p:sp>
        <p:nvSpPr>
          <p:cNvPr id="17" name="Shape 15"/>
          <p:cNvSpPr/>
          <p:nvPr/>
        </p:nvSpPr>
        <p:spPr>
          <a:xfrm>
            <a:off x="523636" y="4520727"/>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18" name="Shape 16"/>
          <p:cNvSpPr/>
          <p:nvPr/>
        </p:nvSpPr>
        <p:spPr>
          <a:xfrm>
            <a:off x="628364" y="4625455"/>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FFE2E2"/>
          </a:solidFill>
          <a:ln/>
        </p:spPr>
      </p:sp>
      <p:sp>
        <p:nvSpPr>
          <p:cNvPr id="19" name="Shape 17"/>
          <p:cNvSpPr/>
          <p:nvPr/>
        </p:nvSpPr>
        <p:spPr>
          <a:xfrm>
            <a:off x="741818" y="4730182"/>
            <a:ext cx="122182" cy="139636"/>
          </a:xfrm>
          <a:custGeom>
            <a:avLst/>
            <a:gdLst/>
            <a:ahLst/>
            <a:cxnLst/>
            <a:rect l="l" t="t" r="r" b="b"/>
            <a:pathLst>
              <a:path w="122182" h="139636">
                <a:moveTo>
                  <a:pt x="0" y="69818"/>
                </a:moveTo>
                <a:cubicBezTo>
                  <a:pt x="0" y="64991"/>
                  <a:pt x="3900" y="61091"/>
                  <a:pt x="8727" y="61091"/>
                </a:cubicBezTo>
                <a:lnTo>
                  <a:pt x="113455" y="61091"/>
                </a:lnTo>
                <a:cubicBezTo>
                  <a:pt x="118282" y="61091"/>
                  <a:pt x="122182" y="64991"/>
                  <a:pt x="122182" y="69818"/>
                </a:cubicBezTo>
                <a:cubicBezTo>
                  <a:pt x="122182" y="74645"/>
                  <a:pt x="118282" y="78545"/>
                  <a:pt x="113455" y="78545"/>
                </a:cubicBezTo>
                <a:lnTo>
                  <a:pt x="8727" y="78545"/>
                </a:lnTo>
                <a:cubicBezTo>
                  <a:pt x="3900" y="78545"/>
                  <a:pt x="0" y="74645"/>
                  <a:pt x="0" y="69818"/>
                </a:cubicBezTo>
                <a:close/>
              </a:path>
            </a:pathLst>
          </a:custGeom>
          <a:solidFill>
            <a:srgbClr val="E7000B"/>
          </a:solidFill>
          <a:ln/>
        </p:spPr>
      </p:sp>
      <p:sp>
        <p:nvSpPr>
          <p:cNvPr id="20" name="Text 18"/>
          <p:cNvSpPr/>
          <p:nvPr/>
        </p:nvSpPr>
        <p:spPr>
          <a:xfrm>
            <a:off x="1082182" y="4625455"/>
            <a:ext cx="3892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Competition</a:t>
            </a:r>
            <a:endParaRPr lang="en-US" sz="1600" dirty="0"/>
          </a:p>
        </p:txBody>
      </p:sp>
      <p:sp>
        <p:nvSpPr>
          <p:cNvPr id="21" name="Text 19"/>
          <p:cNvSpPr/>
          <p:nvPr/>
        </p:nvSpPr>
        <p:spPr>
          <a:xfrm>
            <a:off x="1082182" y="4834909"/>
            <a:ext cx="3883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Negative effects on growth/survival; strongest among similar-sized trees</a:t>
            </a:r>
            <a:endParaRPr lang="en-US" sz="1600" dirty="0"/>
          </a:p>
        </p:txBody>
      </p:sp>
      <p:sp>
        <p:nvSpPr>
          <p:cNvPr id="22" name="Shape 20"/>
          <p:cNvSpPr/>
          <p:nvPr/>
        </p:nvSpPr>
        <p:spPr>
          <a:xfrm>
            <a:off x="523636" y="5218909"/>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3" name="Shape 21"/>
          <p:cNvSpPr/>
          <p:nvPr/>
        </p:nvSpPr>
        <p:spPr>
          <a:xfrm>
            <a:off x="628364" y="5323636"/>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CFCE7"/>
          </a:solidFill>
          <a:ln/>
        </p:spPr>
      </p:sp>
      <p:sp>
        <p:nvSpPr>
          <p:cNvPr id="24" name="Shape 22"/>
          <p:cNvSpPr/>
          <p:nvPr/>
        </p:nvSpPr>
        <p:spPr>
          <a:xfrm>
            <a:off x="741818" y="5428364"/>
            <a:ext cx="122182" cy="139636"/>
          </a:xfrm>
          <a:custGeom>
            <a:avLst/>
            <a:gdLst/>
            <a:ahLst/>
            <a:cxnLst/>
            <a:rect l="l" t="t" r="r" b="b"/>
            <a:pathLst>
              <a:path w="122182" h="139636">
                <a:moveTo>
                  <a:pt x="69818" y="17455"/>
                </a:moveTo>
                <a:cubicBezTo>
                  <a:pt x="69818" y="12627"/>
                  <a:pt x="65918" y="8727"/>
                  <a:pt x="61091" y="8727"/>
                </a:cubicBezTo>
                <a:cubicBezTo>
                  <a:pt x="56264" y="8727"/>
                  <a:pt x="52364" y="12627"/>
                  <a:pt x="52364" y="17455"/>
                </a:cubicBezTo>
                <a:lnTo>
                  <a:pt x="52364" y="61091"/>
                </a:lnTo>
                <a:lnTo>
                  <a:pt x="8727" y="61091"/>
                </a:lnTo>
                <a:cubicBezTo>
                  <a:pt x="3900" y="61091"/>
                  <a:pt x="0" y="64991"/>
                  <a:pt x="0" y="69818"/>
                </a:cubicBezTo>
                <a:cubicBezTo>
                  <a:pt x="0" y="74645"/>
                  <a:pt x="3900" y="78545"/>
                  <a:pt x="8727" y="78545"/>
                </a:cubicBezTo>
                <a:lnTo>
                  <a:pt x="52364" y="78545"/>
                </a:lnTo>
                <a:lnTo>
                  <a:pt x="52364" y="122182"/>
                </a:lnTo>
                <a:cubicBezTo>
                  <a:pt x="52364" y="127009"/>
                  <a:pt x="56264" y="130909"/>
                  <a:pt x="61091" y="130909"/>
                </a:cubicBezTo>
                <a:cubicBezTo>
                  <a:pt x="65918" y="130909"/>
                  <a:pt x="69818" y="127009"/>
                  <a:pt x="69818" y="122182"/>
                </a:cubicBezTo>
                <a:lnTo>
                  <a:pt x="69818" y="78545"/>
                </a:lnTo>
                <a:lnTo>
                  <a:pt x="113455" y="78545"/>
                </a:lnTo>
                <a:cubicBezTo>
                  <a:pt x="118282" y="78545"/>
                  <a:pt x="122182" y="74645"/>
                  <a:pt x="122182" y="69818"/>
                </a:cubicBezTo>
                <a:cubicBezTo>
                  <a:pt x="122182" y="64991"/>
                  <a:pt x="118282" y="61091"/>
                  <a:pt x="113455" y="61091"/>
                </a:cubicBezTo>
                <a:lnTo>
                  <a:pt x="69818" y="61091"/>
                </a:lnTo>
                <a:lnTo>
                  <a:pt x="69818" y="17455"/>
                </a:lnTo>
                <a:close/>
              </a:path>
            </a:pathLst>
          </a:custGeom>
          <a:solidFill>
            <a:srgbClr val="00A63E"/>
          </a:solidFill>
          <a:ln/>
        </p:spPr>
      </p:sp>
      <p:sp>
        <p:nvSpPr>
          <p:cNvPr id="25" name="Text 23"/>
          <p:cNvSpPr/>
          <p:nvPr/>
        </p:nvSpPr>
        <p:spPr>
          <a:xfrm>
            <a:off x="1082182" y="5323636"/>
            <a:ext cx="4101818"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Facilitation</a:t>
            </a:r>
            <a:endParaRPr lang="en-US" sz="1600" dirty="0"/>
          </a:p>
        </p:txBody>
      </p:sp>
      <p:sp>
        <p:nvSpPr>
          <p:cNvPr id="26" name="Text 24"/>
          <p:cNvSpPr/>
          <p:nvPr/>
        </p:nvSpPr>
        <p:spPr>
          <a:xfrm>
            <a:off x="1082182" y="5533091"/>
            <a:ext cx="4093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Positive effects; nurse plants, hydraulic redistribution, microclimate buffering</a:t>
            </a:r>
            <a:endParaRPr lang="en-US" sz="1600" dirty="0"/>
          </a:p>
        </p:txBody>
      </p:sp>
      <p:sp>
        <p:nvSpPr>
          <p:cNvPr id="27" name="Shape 25"/>
          <p:cNvSpPr/>
          <p:nvPr/>
        </p:nvSpPr>
        <p:spPr>
          <a:xfrm>
            <a:off x="523636" y="5917091"/>
            <a:ext cx="5297455" cy="593455"/>
          </a:xfrm>
          <a:custGeom>
            <a:avLst/>
            <a:gdLst/>
            <a:ahLst/>
            <a:cxnLst/>
            <a:rect l="l" t="t" r="r" b="b"/>
            <a:pathLst>
              <a:path w="5297455" h="593455">
                <a:moveTo>
                  <a:pt x="69820" y="0"/>
                </a:moveTo>
                <a:lnTo>
                  <a:pt x="5227635" y="0"/>
                </a:lnTo>
                <a:cubicBezTo>
                  <a:pt x="5266195" y="0"/>
                  <a:pt x="5297455" y="31259"/>
                  <a:pt x="5297455" y="69820"/>
                </a:cubicBezTo>
                <a:lnTo>
                  <a:pt x="5297455" y="523635"/>
                </a:lnTo>
                <a:cubicBezTo>
                  <a:pt x="5297455" y="562195"/>
                  <a:pt x="5266195" y="593455"/>
                  <a:pt x="5227635" y="593455"/>
                </a:cubicBezTo>
                <a:lnTo>
                  <a:pt x="69820" y="593455"/>
                </a:lnTo>
                <a:cubicBezTo>
                  <a:pt x="31259" y="593455"/>
                  <a:pt x="0" y="562195"/>
                  <a:pt x="0" y="523635"/>
                </a:cubicBezTo>
                <a:lnTo>
                  <a:pt x="0" y="69820"/>
                </a:lnTo>
                <a:cubicBezTo>
                  <a:pt x="0" y="31285"/>
                  <a:pt x="31285" y="0"/>
                  <a:pt x="69820" y="0"/>
                </a:cubicBezTo>
                <a:close/>
              </a:path>
            </a:pathLst>
          </a:custGeom>
          <a:solidFill>
            <a:srgbClr val="F5F7F6"/>
          </a:solidFill>
          <a:ln/>
        </p:spPr>
      </p:sp>
      <p:sp>
        <p:nvSpPr>
          <p:cNvPr id="28" name="Shape 26"/>
          <p:cNvSpPr/>
          <p:nvPr/>
        </p:nvSpPr>
        <p:spPr>
          <a:xfrm>
            <a:off x="628364" y="6021818"/>
            <a:ext cx="349091" cy="349091"/>
          </a:xfrm>
          <a:custGeom>
            <a:avLst/>
            <a:gdLst/>
            <a:ahLst/>
            <a:cxnLst/>
            <a:rect l="l" t="t" r="r" b="b"/>
            <a:pathLst>
              <a:path w="349091" h="349091">
                <a:moveTo>
                  <a:pt x="174545" y="0"/>
                </a:moveTo>
                <a:lnTo>
                  <a:pt x="174545" y="0"/>
                </a:lnTo>
                <a:cubicBezTo>
                  <a:pt x="270880" y="0"/>
                  <a:pt x="349091" y="78211"/>
                  <a:pt x="349091" y="174545"/>
                </a:cubicBezTo>
                <a:lnTo>
                  <a:pt x="349091" y="174545"/>
                </a:lnTo>
                <a:cubicBezTo>
                  <a:pt x="349091" y="270880"/>
                  <a:pt x="270880" y="349091"/>
                  <a:pt x="174545" y="349091"/>
                </a:cubicBezTo>
                <a:lnTo>
                  <a:pt x="174545" y="349091"/>
                </a:lnTo>
                <a:cubicBezTo>
                  <a:pt x="78211" y="349091"/>
                  <a:pt x="0" y="270880"/>
                  <a:pt x="0" y="174545"/>
                </a:cubicBezTo>
                <a:lnTo>
                  <a:pt x="0" y="174545"/>
                </a:lnTo>
                <a:cubicBezTo>
                  <a:pt x="0" y="78211"/>
                  <a:pt x="78211" y="0"/>
                  <a:pt x="174545" y="0"/>
                </a:cubicBezTo>
                <a:close/>
              </a:path>
            </a:pathLst>
          </a:custGeom>
          <a:solidFill>
            <a:srgbClr val="DBEAFE"/>
          </a:solidFill>
          <a:ln/>
        </p:spPr>
      </p:sp>
      <p:sp>
        <p:nvSpPr>
          <p:cNvPr id="29" name="Shape 27"/>
          <p:cNvSpPr/>
          <p:nvPr/>
        </p:nvSpPr>
        <p:spPr>
          <a:xfrm>
            <a:off x="733091" y="6126545"/>
            <a:ext cx="139636" cy="139636"/>
          </a:xfrm>
          <a:custGeom>
            <a:avLst/>
            <a:gdLst/>
            <a:ahLst/>
            <a:cxnLst/>
            <a:rect l="l" t="t" r="r" b="b"/>
            <a:pathLst>
              <a:path w="139636" h="139636">
                <a:moveTo>
                  <a:pt x="137073" y="41073"/>
                </a:moveTo>
                <a:lnTo>
                  <a:pt x="110891" y="67255"/>
                </a:lnTo>
                <a:cubicBezTo>
                  <a:pt x="108382" y="69764"/>
                  <a:pt x="104645" y="70500"/>
                  <a:pt x="101373" y="69136"/>
                </a:cubicBezTo>
                <a:cubicBezTo>
                  <a:pt x="98100" y="67773"/>
                  <a:pt x="96000" y="64609"/>
                  <a:pt x="96000" y="61091"/>
                </a:cubicBezTo>
                <a:lnTo>
                  <a:pt x="96000" y="43636"/>
                </a:lnTo>
                <a:lnTo>
                  <a:pt x="8727" y="43636"/>
                </a:lnTo>
                <a:cubicBezTo>
                  <a:pt x="3900" y="43636"/>
                  <a:pt x="0" y="39736"/>
                  <a:pt x="0" y="34909"/>
                </a:cubicBezTo>
                <a:cubicBezTo>
                  <a:pt x="0" y="30082"/>
                  <a:pt x="3900" y="26182"/>
                  <a:pt x="8727" y="26182"/>
                </a:cubicBezTo>
                <a:lnTo>
                  <a:pt x="96000" y="26182"/>
                </a:lnTo>
                <a:lnTo>
                  <a:pt x="96000" y="8727"/>
                </a:lnTo>
                <a:cubicBezTo>
                  <a:pt x="96000" y="5209"/>
                  <a:pt x="98127" y="2018"/>
                  <a:pt x="101400" y="655"/>
                </a:cubicBezTo>
                <a:cubicBezTo>
                  <a:pt x="104673" y="-709"/>
                  <a:pt x="108409" y="55"/>
                  <a:pt x="110918" y="2536"/>
                </a:cubicBezTo>
                <a:lnTo>
                  <a:pt x="137100" y="28718"/>
                </a:lnTo>
                <a:cubicBezTo>
                  <a:pt x="140509" y="32127"/>
                  <a:pt x="140509" y="37664"/>
                  <a:pt x="137100" y="41073"/>
                </a:cubicBezTo>
                <a:close/>
                <a:moveTo>
                  <a:pt x="28718" y="137073"/>
                </a:moveTo>
                <a:lnTo>
                  <a:pt x="2536" y="110891"/>
                </a:lnTo>
                <a:cubicBezTo>
                  <a:pt x="-873" y="107482"/>
                  <a:pt x="-873" y="101945"/>
                  <a:pt x="2536" y="98536"/>
                </a:cubicBezTo>
                <a:lnTo>
                  <a:pt x="28718" y="72355"/>
                </a:lnTo>
                <a:cubicBezTo>
                  <a:pt x="31227" y="69845"/>
                  <a:pt x="34964" y="69109"/>
                  <a:pt x="38236" y="70473"/>
                </a:cubicBezTo>
                <a:cubicBezTo>
                  <a:pt x="41509" y="71836"/>
                  <a:pt x="43636" y="75027"/>
                  <a:pt x="43636" y="78545"/>
                </a:cubicBezTo>
                <a:lnTo>
                  <a:pt x="43636" y="96000"/>
                </a:lnTo>
                <a:lnTo>
                  <a:pt x="130909" y="96000"/>
                </a:lnTo>
                <a:cubicBezTo>
                  <a:pt x="135736" y="96000"/>
                  <a:pt x="139636" y="99900"/>
                  <a:pt x="139636" y="104727"/>
                </a:cubicBezTo>
                <a:cubicBezTo>
                  <a:pt x="139636" y="109555"/>
                  <a:pt x="135736" y="113455"/>
                  <a:pt x="130909" y="113455"/>
                </a:cubicBezTo>
                <a:lnTo>
                  <a:pt x="43636" y="113455"/>
                </a:lnTo>
                <a:lnTo>
                  <a:pt x="43636" y="130909"/>
                </a:lnTo>
                <a:cubicBezTo>
                  <a:pt x="43636" y="134427"/>
                  <a:pt x="41509" y="137618"/>
                  <a:pt x="38236" y="138982"/>
                </a:cubicBezTo>
                <a:cubicBezTo>
                  <a:pt x="34964" y="140345"/>
                  <a:pt x="31227" y="139582"/>
                  <a:pt x="28718" y="137100"/>
                </a:cubicBezTo>
                <a:close/>
              </a:path>
            </a:pathLst>
          </a:custGeom>
          <a:solidFill>
            <a:srgbClr val="155DFC"/>
          </a:solidFill>
          <a:ln/>
        </p:spPr>
      </p:sp>
      <p:sp>
        <p:nvSpPr>
          <p:cNvPr id="30" name="Text 28"/>
          <p:cNvSpPr/>
          <p:nvPr/>
        </p:nvSpPr>
        <p:spPr>
          <a:xfrm>
            <a:off x="1082182" y="6021818"/>
            <a:ext cx="3988364" cy="209455"/>
          </a:xfrm>
          <a:prstGeom prst="rect">
            <a:avLst/>
          </a:prstGeom>
          <a:noFill/>
          <a:ln/>
        </p:spPr>
        <p:txBody>
          <a:bodyPr wrap="square" lIns="0" tIns="0" rIns="0" bIns="0" rtlCol="0" anchor="ctr"/>
          <a:lstStyle/>
          <a:p>
            <a:pPr>
              <a:lnSpc>
                <a:spcPct val="130000"/>
              </a:lnSpc>
            </a:pPr>
            <a:r>
              <a:rPr lang="en-US" sz="1100" b="1" dirty="0">
                <a:solidFill>
                  <a:srgbClr val="2F3E3B"/>
                </a:solidFill>
                <a:latin typeface="Quattrocento Sans" pitchFamily="34" charset="0"/>
                <a:ea typeface="Quattrocento Sans" pitchFamily="34" charset="-122"/>
                <a:cs typeface="Quattrocento Sans" pitchFamily="34" charset="-120"/>
              </a:rPr>
              <a:t>Competitive Reduction</a:t>
            </a:r>
            <a:endParaRPr lang="en-US" sz="1600" dirty="0"/>
          </a:p>
        </p:txBody>
      </p:sp>
      <p:sp>
        <p:nvSpPr>
          <p:cNvPr id="31" name="Text 29"/>
          <p:cNvSpPr/>
          <p:nvPr/>
        </p:nvSpPr>
        <p:spPr>
          <a:xfrm>
            <a:off x="1082182" y="6231273"/>
            <a:ext cx="3979636"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Interspecific competition less than intraspecific due to niche differentiation</a:t>
            </a:r>
            <a:endParaRPr lang="en-US" sz="1600" dirty="0"/>
          </a:p>
        </p:txBody>
      </p:sp>
      <p:sp>
        <p:nvSpPr>
          <p:cNvPr id="32" name="Shape 30"/>
          <p:cNvSpPr/>
          <p:nvPr/>
        </p:nvSpPr>
        <p:spPr>
          <a:xfrm>
            <a:off x="6202159" y="1431273"/>
            <a:ext cx="5646545" cy="2234182"/>
          </a:xfrm>
          <a:custGeom>
            <a:avLst/>
            <a:gdLst/>
            <a:ahLst/>
            <a:cxnLst/>
            <a:rect l="l" t="t" r="r" b="b"/>
            <a:pathLst>
              <a:path w="5646545" h="2234182">
                <a:moveTo>
                  <a:pt x="104738" y="0"/>
                </a:moveTo>
                <a:lnTo>
                  <a:pt x="5541807" y="0"/>
                </a:lnTo>
                <a:cubicBezTo>
                  <a:pt x="5599652" y="0"/>
                  <a:pt x="5646545" y="46893"/>
                  <a:pt x="5646545" y="104738"/>
                </a:cubicBezTo>
                <a:lnTo>
                  <a:pt x="5646545" y="2129443"/>
                </a:lnTo>
                <a:cubicBezTo>
                  <a:pt x="5646545" y="2187289"/>
                  <a:pt x="5599652" y="2234182"/>
                  <a:pt x="5541807" y="2234182"/>
                </a:cubicBezTo>
                <a:lnTo>
                  <a:pt x="104738" y="2234182"/>
                </a:lnTo>
                <a:cubicBezTo>
                  <a:pt x="46893" y="2234182"/>
                  <a:pt x="0" y="2187289"/>
                  <a:pt x="0" y="2129443"/>
                </a:cubicBezTo>
                <a:lnTo>
                  <a:pt x="0" y="104738"/>
                </a:lnTo>
                <a:cubicBezTo>
                  <a:pt x="0" y="46932"/>
                  <a:pt x="46932" y="0"/>
                  <a:pt x="104738" y="0"/>
                </a:cubicBezTo>
                <a:close/>
              </a:path>
            </a:pathLst>
          </a:custGeom>
          <a:solidFill>
            <a:srgbClr val="2F3E3B"/>
          </a:solidFill>
          <a:ln/>
        </p:spPr>
      </p:sp>
      <p:sp>
        <p:nvSpPr>
          <p:cNvPr id="33" name="Text 31"/>
          <p:cNvSpPr/>
          <p:nvPr/>
        </p:nvSpPr>
        <p:spPr>
          <a:xfrm>
            <a:off x="6376705" y="1605818"/>
            <a:ext cx="5376000" cy="244364"/>
          </a:xfrm>
          <a:prstGeom prst="rect">
            <a:avLst/>
          </a:prstGeom>
          <a:noFill/>
          <a:ln/>
        </p:spPr>
        <p:txBody>
          <a:bodyPr wrap="square" lIns="0" tIns="0" rIns="0" bIns="0" rtlCol="0" anchor="ctr"/>
          <a:lstStyle/>
          <a:p>
            <a:pPr>
              <a:lnSpc>
                <a:spcPct val="130000"/>
              </a:lnSpc>
            </a:pPr>
            <a:r>
              <a:rPr lang="en-US" sz="1237" b="1" dirty="0">
                <a:solidFill>
                  <a:srgbClr val="FFFFFF"/>
                </a:solidFill>
                <a:latin typeface="Sorts Mill Goudy" pitchFamily="34" charset="0"/>
                <a:ea typeface="Sorts Mill Goudy" pitchFamily="34" charset="-122"/>
                <a:cs typeface="Sorts Mill Goudy" pitchFamily="34" charset="-120"/>
              </a:rPr>
              <a:t>Research Evidence: Boreal Forest</a:t>
            </a:r>
            <a:endParaRPr lang="en-US" sz="1600" dirty="0"/>
          </a:p>
        </p:txBody>
      </p:sp>
      <p:sp>
        <p:nvSpPr>
          <p:cNvPr id="34" name="Text 32"/>
          <p:cNvSpPr/>
          <p:nvPr/>
        </p:nvSpPr>
        <p:spPr>
          <a:xfrm>
            <a:off x="6376705" y="1954909"/>
            <a:ext cx="5367273" cy="453818"/>
          </a:xfrm>
          <a:prstGeom prst="rect">
            <a:avLst/>
          </a:prstGeom>
          <a:noFill/>
          <a:ln/>
        </p:spPr>
        <p:txBody>
          <a:bodyPr wrap="square" lIns="0" tIns="0" rIns="0" bIns="0" rtlCol="0" anchor="ctr"/>
          <a:lstStyle/>
          <a:p>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Studies in Kanas boreal forest reveal that </a:t>
            </a:r>
            <a:pPr>
              <a:lnSpc>
                <a:spcPct val="140000"/>
              </a:lnSpc>
            </a:pPr>
            <a:r>
              <a:rPr lang="en-US" sz="1100" b="1" dirty="0">
                <a:solidFill>
                  <a:srgbClr val="FFFFFF"/>
                </a:solidFill>
                <a:latin typeface="Quattrocento Sans" pitchFamily="34" charset="0"/>
                <a:ea typeface="Quattrocento Sans" pitchFamily="34" charset="-122"/>
                <a:cs typeface="Quattrocento Sans" pitchFamily="34" charset="-120"/>
              </a:rPr>
              <a:t>positive interactions are more common than competition</a:t>
            </a:r>
            <a:pPr>
              <a:lnSpc>
                <a:spcPct val="140000"/>
              </a:lnSpc>
            </a:pPr>
            <a:r>
              <a:rPr lang="en-US" sz="1100" dirty="0">
                <a:solidFill>
                  <a:srgbClr val="FFFFFF"/>
                </a:solidFill>
                <a:latin typeface="Quattrocento Sans" pitchFamily="34" charset="0"/>
                <a:ea typeface="Quattrocento Sans" pitchFamily="34" charset="-122"/>
                <a:cs typeface="Quattrocento Sans" pitchFamily="34" charset="-120"/>
              </a:rPr>
              <a:t> for tree survival and growth:</a:t>
            </a:r>
            <a:endParaRPr lang="en-US" sz="1600" dirty="0"/>
          </a:p>
        </p:txBody>
      </p:sp>
      <p:sp>
        <p:nvSpPr>
          <p:cNvPr id="35" name="Shape 33"/>
          <p:cNvSpPr/>
          <p:nvPr/>
        </p:nvSpPr>
        <p:spPr>
          <a:xfrm>
            <a:off x="6389795" y="2548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6" name="Text 34"/>
          <p:cNvSpPr/>
          <p:nvPr/>
        </p:nvSpPr>
        <p:spPr>
          <a:xfrm>
            <a:off x="6616227" y="2513455"/>
            <a:ext cx="5122909" cy="418909"/>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Most intra- and interspecific interactions showed positive or no significant correlations</a:t>
            </a:r>
            <a:endParaRPr lang="en-US" sz="1600" dirty="0"/>
          </a:p>
        </p:txBody>
      </p:sp>
      <p:sp>
        <p:nvSpPr>
          <p:cNvPr id="37" name="Shape 35"/>
          <p:cNvSpPr/>
          <p:nvPr/>
        </p:nvSpPr>
        <p:spPr>
          <a:xfrm>
            <a:off x="6394159" y="3037091"/>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38" name="Text 36"/>
          <p:cNvSpPr/>
          <p:nvPr/>
        </p:nvSpPr>
        <p:spPr>
          <a:xfrm>
            <a:off x="6621068" y="3002182"/>
            <a:ext cx="4669091"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Facilitation mainly exists between individuals with different shade tolerances</a:t>
            </a:r>
            <a:endParaRPr lang="en-US" sz="1600" dirty="0"/>
          </a:p>
        </p:txBody>
      </p:sp>
      <p:sp>
        <p:nvSpPr>
          <p:cNvPr id="39" name="Shape 37"/>
          <p:cNvSpPr/>
          <p:nvPr/>
        </p:nvSpPr>
        <p:spPr>
          <a:xfrm>
            <a:off x="6394159" y="3316364"/>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FB7AC"/>
          </a:solidFill>
          <a:ln/>
        </p:spPr>
      </p:sp>
      <p:sp>
        <p:nvSpPr>
          <p:cNvPr id="40" name="Text 38"/>
          <p:cNvSpPr/>
          <p:nvPr/>
        </p:nvSpPr>
        <p:spPr>
          <a:xfrm>
            <a:off x="6621068" y="3281455"/>
            <a:ext cx="3778909" cy="209455"/>
          </a:xfrm>
          <a:prstGeom prst="rect">
            <a:avLst/>
          </a:prstGeom>
          <a:noFill/>
          <a:ln/>
        </p:spPr>
        <p:txBody>
          <a:bodyPr wrap="square" lIns="0" tIns="0" rIns="0" bIns="0" rtlCol="0" anchor="ctr"/>
          <a:lstStyle/>
          <a:p>
            <a:pP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Negative associations less common than positive associations</a:t>
            </a:r>
            <a:endParaRPr lang="en-US" sz="1600" dirty="0"/>
          </a:p>
        </p:txBody>
      </p:sp>
      <p:sp>
        <p:nvSpPr>
          <p:cNvPr id="41" name="Shape 39"/>
          <p:cNvSpPr/>
          <p:nvPr/>
        </p:nvSpPr>
        <p:spPr>
          <a:xfrm>
            <a:off x="6202159" y="3805091"/>
            <a:ext cx="5646545" cy="1867636"/>
          </a:xfrm>
          <a:custGeom>
            <a:avLst/>
            <a:gdLst/>
            <a:ahLst/>
            <a:cxnLst/>
            <a:rect l="l" t="t" r="r" b="b"/>
            <a:pathLst>
              <a:path w="5646545" h="1867636">
                <a:moveTo>
                  <a:pt x="104718" y="0"/>
                </a:moveTo>
                <a:lnTo>
                  <a:pt x="5541827" y="0"/>
                </a:lnTo>
                <a:cubicBezTo>
                  <a:pt x="5599661" y="0"/>
                  <a:pt x="5646545" y="46884"/>
                  <a:pt x="5646545" y="104718"/>
                </a:cubicBezTo>
                <a:lnTo>
                  <a:pt x="5646545" y="1762918"/>
                </a:lnTo>
                <a:cubicBezTo>
                  <a:pt x="5646545" y="1820752"/>
                  <a:pt x="5599661" y="1867636"/>
                  <a:pt x="5541827" y="1867636"/>
                </a:cubicBezTo>
                <a:lnTo>
                  <a:pt x="104718" y="1867636"/>
                </a:lnTo>
                <a:cubicBezTo>
                  <a:pt x="46884" y="1867636"/>
                  <a:pt x="0" y="1820752"/>
                  <a:pt x="0" y="1762918"/>
                </a:cubicBezTo>
                <a:lnTo>
                  <a:pt x="0" y="104718"/>
                </a:lnTo>
                <a:cubicBezTo>
                  <a:pt x="0" y="46923"/>
                  <a:pt x="46923" y="0"/>
                  <a:pt x="104718" y="0"/>
                </a:cubicBezTo>
                <a:close/>
              </a:path>
            </a:pathLst>
          </a:custGeom>
          <a:solidFill>
            <a:srgbClr val="FFFFFF"/>
          </a:solidFill>
          <a:ln/>
          <a:effectLst>
            <a:outerShdw sx="100000" sy="100000" kx="0" ky="0" algn="bl" rotWithShape="0" blurRad="26182" dist="8727" dir="5400000">
              <a:srgbClr val="000000">
                <a:alpha val="10196"/>
              </a:srgbClr>
            </a:outerShdw>
          </a:effectLst>
        </p:spPr>
      </p:sp>
      <p:sp>
        <p:nvSpPr>
          <p:cNvPr id="42" name="Text 40"/>
          <p:cNvSpPr/>
          <p:nvPr/>
        </p:nvSpPr>
        <p:spPr>
          <a:xfrm>
            <a:off x="6376705" y="3979636"/>
            <a:ext cx="5376000" cy="244364"/>
          </a:xfrm>
          <a:prstGeom prst="rect">
            <a:avLst/>
          </a:prstGeom>
          <a:noFill/>
          <a:ln/>
        </p:spPr>
        <p:txBody>
          <a:bodyPr wrap="square" lIns="0" tIns="0" rIns="0" bIns="0" rtlCol="0" anchor="ctr"/>
          <a:lstStyle/>
          <a:p>
            <a:pPr>
              <a:lnSpc>
                <a:spcPct val="130000"/>
              </a:lnSpc>
            </a:pPr>
            <a:r>
              <a:rPr lang="en-US" sz="1237" b="1" dirty="0">
                <a:solidFill>
                  <a:srgbClr val="2F3E3B"/>
                </a:solidFill>
                <a:latin typeface="Sorts Mill Goudy" pitchFamily="34" charset="0"/>
                <a:ea typeface="Sorts Mill Goudy" pitchFamily="34" charset="-122"/>
                <a:cs typeface="Sorts Mill Goudy" pitchFamily="34" charset="-120"/>
              </a:rPr>
              <a:t>Hydraulic Redistribution Example</a:t>
            </a:r>
            <a:endParaRPr lang="en-US" sz="1600" dirty="0"/>
          </a:p>
        </p:txBody>
      </p:sp>
      <p:sp>
        <p:nvSpPr>
          <p:cNvPr id="43" name="Text 41"/>
          <p:cNvSpPr/>
          <p:nvPr/>
        </p:nvSpPr>
        <p:spPr>
          <a:xfrm>
            <a:off x="6376705" y="4328727"/>
            <a:ext cx="5367273" cy="680727"/>
          </a:xfrm>
          <a:prstGeom prst="rect">
            <a:avLst/>
          </a:prstGeom>
          <a:noFill/>
          <a:ln/>
        </p:spPr>
        <p:txBody>
          <a:bodyPr wrap="square" lIns="0" tIns="0" rIns="0" bIns="0" rtlCol="0" anchor="ctr"/>
          <a:lstStyle/>
          <a:p>
            <a:pPr>
              <a:lnSpc>
                <a:spcPct val="140000"/>
              </a:lnSpc>
            </a:pPr>
            <a:r>
              <a:rPr lang="en-US" sz="1100" dirty="0">
                <a:solidFill>
                  <a:srgbClr val="1F2A28"/>
                </a:solidFill>
                <a:latin typeface="Quattrocento Sans" pitchFamily="34" charset="0"/>
                <a:ea typeface="Quattrocento Sans" pitchFamily="34" charset="-122"/>
                <a:cs typeface="Quattrocento Sans" pitchFamily="34" charset="-120"/>
              </a:rPr>
              <a:t>Oak species with deep taproots uptake water and release it in upper soil layers at night, providing additional water for shallow-rooted species like beech—a clear facilitation mechanism.</a:t>
            </a:r>
            <a:endParaRPr lang="en-US" sz="1600" dirty="0"/>
          </a:p>
        </p:txBody>
      </p:sp>
      <p:sp>
        <p:nvSpPr>
          <p:cNvPr id="44" name="Shape 42"/>
          <p:cNvSpPr/>
          <p:nvPr/>
        </p:nvSpPr>
        <p:spPr>
          <a:xfrm>
            <a:off x="6376705" y="5114182"/>
            <a:ext cx="5297455" cy="384000"/>
          </a:xfrm>
          <a:custGeom>
            <a:avLst/>
            <a:gdLst/>
            <a:ahLst/>
            <a:cxnLst/>
            <a:rect l="l" t="t" r="r" b="b"/>
            <a:pathLst>
              <a:path w="5297455" h="384000">
                <a:moveTo>
                  <a:pt x="69819" y="0"/>
                </a:moveTo>
                <a:lnTo>
                  <a:pt x="5227636" y="0"/>
                </a:lnTo>
                <a:cubicBezTo>
                  <a:pt x="5266196" y="0"/>
                  <a:pt x="5297455" y="31259"/>
                  <a:pt x="5297455" y="69819"/>
                </a:cubicBezTo>
                <a:lnTo>
                  <a:pt x="5297455" y="314181"/>
                </a:lnTo>
                <a:cubicBezTo>
                  <a:pt x="5297455" y="352741"/>
                  <a:pt x="5266196" y="384000"/>
                  <a:pt x="5227636" y="384000"/>
                </a:cubicBezTo>
                <a:lnTo>
                  <a:pt x="69819" y="384000"/>
                </a:lnTo>
                <a:cubicBezTo>
                  <a:pt x="31285" y="384000"/>
                  <a:pt x="0" y="352715"/>
                  <a:pt x="0" y="314181"/>
                </a:cubicBezTo>
                <a:lnTo>
                  <a:pt x="0" y="69819"/>
                </a:lnTo>
                <a:cubicBezTo>
                  <a:pt x="0" y="31285"/>
                  <a:pt x="31285" y="0"/>
                  <a:pt x="69819" y="0"/>
                </a:cubicBezTo>
                <a:close/>
              </a:path>
            </a:pathLst>
          </a:custGeom>
          <a:solidFill>
            <a:srgbClr val="F5F7F6"/>
          </a:solidFill>
          <a:ln/>
        </p:spPr>
      </p:sp>
      <p:sp>
        <p:nvSpPr>
          <p:cNvPr id="45" name="Text 43"/>
          <p:cNvSpPr/>
          <p:nvPr/>
        </p:nvSpPr>
        <p:spPr>
          <a:xfrm>
            <a:off x="6481432" y="5218909"/>
            <a:ext cx="5149091" cy="174545"/>
          </a:xfrm>
          <a:prstGeom prst="rect">
            <a:avLst/>
          </a:prstGeom>
          <a:noFill/>
          <a:ln/>
        </p:spPr>
        <p:txBody>
          <a:bodyPr wrap="square" lIns="0" tIns="0" rIns="0" bIns="0" rtlCol="0" anchor="ctr"/>
          <a:lstStyle/>
          <a:p>
            <a:pPr>
              <a:lnSpc>
                <a:spcPct val="120000"/>
              </a:lnSpc>
            </a:pPr>
            <a:r>
              <a:rPr lang="en-US" sz="962" dirty="0">
                <a:solidFill>
                  <a:srgbClr val="5F6F6B"/>
                </a:solidFill>
                <a:latin typeface="Quattrocento Sans" pitchFamily="34" charset="0"/>
                <a:ea typeface="Quattrocento Sans" pitchFamily="34" charset="-122"/>
                <a:cs typeface="Quattrocento Sans" pitchFamily="34" charset="-120"/>
              </a:rPr>
              <a:t>Source: Caldwell &amp; Richards (1989); Loreau &amp; Hector (2001)</a:t>
            </a:r>
            <a:endParaRPr lang="en-US" sz="1600" dirty="0"/>
          </a:p>
        </p:txBody>
      </p:sp>
      <p:sp>
        <p:nvSpPr>
          <p:cNvPr id="46" name="Shape 44"/>
          <p:cNvSpPr/>
          <p:nvPr/>
        </p:nvSpPr>
        <p:spPr>
          <a:xfrm>
            <a:off x="6202159" y="5812364"/>
            <a:ext cx="5646545" cy="837818"/>
          </a:xfrm>
          <a:custGeom>
            <a:avLst/>
            <a:gdLst/>
            <a:ahLst/>
            <a:cxnLst/>
            <a:rect l="l" t="t" r="r" b="b"/>
            <a:pathLst>
              <a:path w="5646545" h="837818">
                <a:moveTo>
                  <a:pt x="104727" y="0"/>
                </a:moveTo>
                <a:lnTo>
                  <a:pt x="5541818" y="0"/>
                </a:lnTo>
                <a:cubicBezTo>
                  <a:pt x="5599657" y="0"/>
                  <a:pt x="5646545" y="46888"/>
                  <a:pt x="5646545" y="104727"/>
                </a:cubicBezTo>
                <a:lnTo>
                  <a:pt x="5646545" y="733091"/>
                </a:lnTo>
                <a:cubicBezTo>
                  <a:pt x="5646545" y="790930"/>
                  <a:pt x="5599657" y="837818"/>
                  <a:pt x="5541818" y="837818"/>
                </a:cubicBezTo>
                <a:lnTo>
                  <a:pt x="104727" y="837818"/>
                </a:lnTo>
                <a:cubicBezTo>
                  <a:pt x="46888" y="837818"/>
                  <a:pt x="0" y="790930"/>
                  <a:pt x="0" y="733091"/>
                </a:cubicBezTo>
                <a:lnTo>
                  <a:pt x="0" y="104727"/>
                </a:lnTo>
                <a:cubicBezTo>
                  <a:pt x="0" y="46927"/>
                  <a:pt x="46927" y="0"/>
                  <a:pt x="104727" y="0"/>
                </a:cubicBezTo>
                <a:close/>
              </a:path>
            </a:pathLst>
          </a:custGeom>
          <a:solidFill>
            <a:srgbClr val="4C8A7A"/>
          </a:solidFill>
          <a:ln/>
        </p:spPr>
      </p:sp>
      <p:sp>
        <p:nvSpPr>
          <p:cNvPr id="47" name="Text 45"/>
          <p:cNvSpPr/>
          <p:nvPr/>
        </p:nvSpPr>
        <p:spPr>
          <a:xfrm>
            <a:off x="6276341" y="5952000"/>
            <a:ext cx="5498182" cy="314182"/>
          </a:xfrm>
          <a:prstGeom prst="rect">
            <a:avLst/>
          </a:prstGeom>
          <a:noFill/>
          <a:ln/>
        </p:spPr>
        <p:txBody>
          <a:bodyPr wrap="square" lIns="0" tIns="0" rIns="0" bIns="0" rtlCol="0" anchor="ctr"/>
          <a:lstStyle/>
          <a:p>
            <a:pPr algn="ctr">
              <a:lnSpc>
                <a:spcPct val="100000"/>
              </a:lnSpc>
            </a:pPr>
            <a:r>
              <a:rPr lang="en-US" sz="2062" b="1" dirty="0">
                <a:solidFill>
                  <a:srgbClr val="FFFFFF"/>
                </a:solidFill>
                <a:latin typeface="Sorts Mill Goudy" pitchFamily="34" charset="0"/>
                <a:ea typeface="Sorts Mill Goudy" pitchFamily="34" charset="-122"/>
                <a:cs typeface="Sorts Mill Goudy" pitchFamily="34" charset="-120"/>
              </a:rPr>
              <a:t>Co-regulation</a:t>
            </a:r>
            <a:endParaRPr lang="en-US" sz="1600" dirty="0"/>
          </a:p>
        </p:txBody>
      </p:sp>
      <p:sp>
        <p:nvSpPr>
          <p:cNvPr id="48" name="Text 46"/>
          <p:cNvSpPr/>
          <p:nvPr/>
        </p:nvSpPr>
        <p:spPr>
          <a:xfrm>
            <a:off x="6306886" y="6301091"/>
            <a:ext cx="5437091" cy="209455"/>
          </a:xfrm>
          <a:prstGeom prst="rect">
            <a:avLst/>
          </a:prstGeom>
          <a:noFill/>
          <a:ln/>
        </p:spPr>
        <p:txBody>
          <a:bodyPr wrap="square" lIns="0" tIns="0" rIns="0" bIns="0" rtlCol="0" anchor="ctr"/>
          <a:lstStyle/>
          <a:p>
            <a:pPr algn="ctr">
              <a:lnSpc>
                <a:spcPct val="130000"/>
              </a:lnSpc>
            </a:pPr>
            <a:r>
              <a:rPr lang="en-US" sz="1100" dirty="0">
                <a:solidFill>
                  <a:srgbClr val="FFFFFF"/>
                </a:solidFill>
                <a:latin typeface="Quattrocento Sans" pitchFamily="34" charset="0"/>
                <a:ea typeface="Quattrocento Sans" pitchFamily="34" charset="-122"/>
                <a:cs typeface="Quattrocento Sans" pitchFamily="34" charset="-120"/>
              </a:rPr>
              <a:t>Competition &amp; facilitation simultaneously influence spatial patterns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8FB7AC"/>
                </a:solidFill>
                <a:latin typeface="Quattrocento Sans" pitchFamily="34" charset="0"/>
                <a:ea typeface="Quattrocento Sans" pitchFamily="34" charset="-122"/>
                <a:cs typeface="Quattrocento Sans" pitchFamily="34" charset="-120"/>
              </a:rPr>
              <a:t>03 • Species Interactions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Community Assembly &amp; Coexistence Mechanisms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How diverse species coexist in forest communities</a:t>
            </a:r>
            <a:endParaRPr lang="en-US" sz="1600" dirty="0"/>
          </a:p>
        </p:txBody>
      </p:sp>
      <p:sp>
        <p:nvSpPr>
          <p:cNvPr id="5" name="Shape 3"/>
          <p:cNvSpPr/>
          <p:nvPr/>
        </p:nvSpPr>
        <p:spPr>
          <a:xfrm>
            <a:off x="336099" y="1378007"/>
            <a:ext cx="7621050" cy="2285475"/>
          </a:xfrm>
          <a:custGeom>
            <a:avLst/>
            <a:gdLst/>
            <a:ahLst/>
            <a:cxnLst/>
            <a:rect l="l" t="t" r="r" b="b"/>
            <a:pathLst>
              <a:path w="7621050" h="2285475">
                <a:moveTo>
                  <a:pt x="100835" y="0"/>
                </a:moveTo>
                <a:lnTo>
                  <a:pt x="7520215" y="0"/>
                </a:lnTo>
                <a:cubicBezTo>
                  <a:pt x="7575905" y="0"/>
                  <a:pt x="7621050" y="45145"/>
                  <a:pt x="7621050" y="100835"/>
                </a:cubicBezTo>
                <a:lnTo>
                  <a:pt x="7621050" y="2184640"/>
                </a:lnTo>
                <a:cubicBezTo>
                  <a:pt x="7621050" y="2240329"/>
                  <a:pt x="7575905" y="2285475"/>
                  <a:pt x="7520215" y="2285475"/>
                </a:cubicBezTo>
                <a:lnTo>
                  <a:pt x="100835" y="2285475"/>
                </a:lnTo>
                <a:cubicBezTo>
                  <a:pt x="45145" y="2285475"/>
                  <a:pt x="0" y="2240329"/>
                  <a:pt x="0" y="2184640"/>
                </a:cubicBezTo>
                <a:lnTo>
                  <a:pt x="0" y="100835"/>
                </a:lnTo>
                <a:cubicBezTo>
                  <a:pt x="0" y="45145"/>
                  <a:pt x="45145" y="0"/>
                  <a:pt x="100835"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Niche Differentiation &amp; Resource Partitioning</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Species coexistence is enabled through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niche differentiation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—the partitioning of limited resources along multiple dimensions. This reduces competitive overlap and allows multiple species to occupy the same landscape.</a:t>
            </a:r>
            <a:endParaRPr lang="en-US" sz="1600" dirty="0"/>
          </a:p>
        </p:txBody>
      </p:sp>
      <p:sp>
        <p:nvSpPr>
          <p:cNvPr id="8" name="Shape 6"/>
          <p:cNvSpPr/>
          <p:nvPr/>
        </p:nvSpPr>
        <p:spPr>
          <a:xfrm>
            <a:off x="504149"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4C8A7A">
              <a:alpha val="10196"/>
            </a:srgbClr>
          </a:solidFill>
          <a:ln/>
        </p:spPr>
      </p:sp>
      <p:sp>
        <p:nvSpPr>
          <p:cNvPr id="9" name="Shape 7"/>
          <p:cNvSpPr/>
          <p:nvPr/>
        </p:nvSpPr>
        <p:spPr>
          <a:xfrm>
            <a:off x="1571395" y="2554354"/>
            <a:ext cx="226867" cy="201660"/>
          </a:xfrm>
          <a:custGeom>
            <a:avLst/>
            <a:gdLst/>
            <a:ahLst/>
            <a:cxnLst/>
            <a:rect l="l" t="t" r="r" b="b"/>
            <a:pathLst>
              <a:path w="226867" h="201660">
                <a:moveTo>
                  <a:pt x="70187" y="-3978"/>
                </a:moveTo>
                <a:cubicBezTo>
                  <a:pt x="73102" y="-5199"/>
                  <a:pt x="76410" y="-4845"/>
                  <a:pt x="79049" y="-3112"/>
                </a:cubicBezTo>
                <a:lnTo>
                  <a:pt x="113630" y="19811"/>
                </a:lnTo>
                <a:lnTo>
                  <a:pt x="148212" y="-3112"/>
                </a:lnTo>
                <a:cubicBezTo>
                  <a:pt x="150851" y="-4845"/>
                  <a:pt x="154159" y="-5160"/>
                  <a:pt x="157074" y="-3978"/>
                </a:cubicBezTo>
                <a:cubicBezTo>
                  <a:pt x="159988" y="-2796"/>
                  <a:pt x="162037" y="-197"/>
                  <a:pt x="162667" y="2875"/>
                </a:cubicBezTo>
                <a:lnTo>
                  <a:pt x="170899" y="43522"/>
                </a:lnTo>
                <a:lnTo>
                  <a:pt x="211546" y="51754"/>
                </a:lnTo>
                <a:cubicBezTo>
                  <a:pt x="214618" y="52384"/>
                  <a:pt x="217217" y="54511"/>
                  <a:pt x="218399" y="57386"/>
                </a:cubicBezTo>
                <a:cubicBezTo>
                  <a:pt x="219580" y="60262"/>
                  <a:pt x="219265" y="63609"/>
                  <a:pt x="217532" y="66248"/>
                </a:cubicBezTo>
                <a:lnTo>
                  <a:pt x="194609" y="100830"/>
                </a:lnTo>
                <a:lnTo>
                  <a:pt x="217532" y="135411"/>
                </a:lnTo>
                <a:cubicBezTo>
                  <a:pt x="219265" y="138050"/>
                  <a:pt x="219580" y="141359"/>
                  <a:pt x="218399" y="144273"/>
                </a:cubicBezTo>
                <a:cubicBezTo>
                  <a:pt x="217217" y="147188"/>
                  <a:pt x="214618" y="149315"/>
                  <a:pt x="211546" y="149906"/>
                </a:cubicBezTo>
                <a:lnTo>
                  <a:pt x="170859" y="158098"/>
                </a:lnTo>
                <a:lnTo>
                  <a:pt x="162667" y="198784"/>
                </a:lnTo>
                <a:cubicBezTo>
                  <a:pt x="162037" y="201856"/>
                  <a:pt x="159910" y="204456"/>
                  <a:pt x="157034" y="205638"/>
                </a:cubicBezTo>
                <a:cubicBezTo>
                  <a:pt x="154159" y="206819"/>
                  <a:pt x="150811" y="206504"/>
                  <a:pt x="148173" y="204771"/>
                </a:cubicBezTo>
                <a:lnTo>
                  <a:pt x="113591" y="181848"/>
                </a:lnTo>
                <a:lnTo>
                  <a:pt x="79010" y="204771"/>
                </a:lnTo>
                <a:cubicBezTo>
                  <a:pt x="76371" y="206504"/>
                  <a:pt x="73062" y="206819"/>
                  <a:pt x="70148" y="205638"/>
                </a:cubicBezTo>
                <a:cubicBezTo>
                  <a:pt x="67233" y="204456"/>
                  <a:pt x="65106" y="201856"/>
                  <a:pt x="64515" y="198784"/>
                </a:cubicBezTo>
                <a:lnTo>
                  <a:pt x="56323" y="158098"/>
                </a:lnTo>
                <a:lnTo>
                  <a:pt x="15636" y="149866"/>
                </a:lnTo>
                <a:cubicBezTo>
                  <a:pt x="12564" y="149236"/>
                  <a:pt x="9965" y="147109"/>
                  <a:pt x="8783" y="144234"/>
                </a:cubicBezTo>
                <a:cubicBezTo>
                  <a:pt x="7602" y="141359"/>
                  <a:pt x="7917" y="138011"/>
                  <a:pt x="9650" y="135372"/>
                </a:cubicBezTo>
                <a:lnTo>
                  <a:pt x="32573" y="100830"/>
                </a:lnTo>
                <a:lnTo>
                  <a:pt x="9650" y="66248"/>
                </a:lnTo>
                <a:cubicBezTo>
                  <a:pt x="7917" y="63609"/>
                  <a:pt x="7602" y="60301"/>
                  <a:pt x="8783" y="57386"/>
                </a:cubicBezTo>
                <a:cubicBezTo>
                  <a:pt x="9965" y="54472"/>
                  <a:pt x="12564" y="52345"/>
                  <a:pt x="15636" y="51754"/>
                </a:cubicBezTo>
                <a:lnTo>
                  <a:pt x="56323" y="43562"/>
                </a:lnTo>
                <a:lnTo>
                  <a:pt x="64555" y="2875"/>
                </a:lnTo>
                <a:cubicBezTo>
                  <a:pt x="65185" y="-197"/>
                  <a:pt x="67312" y="-2796"/>
                  <a:pt x="70187" y="-3978"/>
                </a:cubicBezTo>
                <a:close/>
                <a:moveTo>
                  <a:pt x="81767" y="100830"/>
                </a:moveTo>
                <a:cubicBezTo>
                  <a:pt x="81767" y="89516"/>
                  <a:pt x="87802" y="79062"/>
                  <a:pt x="97600" y="73405"/>
                </a:cubicBezTo>
                <a:cubicBezTo>
                  <a:pt x="107398" y="67749"/>
                  <a:pt x="119469" y="67749"/>
                  <a:pt x="129267" y="73405"/>
                </a:cubicBezTo>
                <a:cubicBezTo>
                  <a:pt x="139065" y="79062"/>
                  <a:pt x="145100" y="89516"/>
                  <a:pt x="145100" y="100830"/>
                </a:cubicBezTo>
                <a:cubicBezTo>
                  <a:pt x="145100" y="118307"/>
                  <a:pt x="130911" y="132497"/>
                  <a:pt x="113433" y="132497"/>
                </a:cubicBezTo>
                <a:cubicBezTo>
                  <a:pt x="95956" y="132497"/>
                  <a:pt x="81767" y="118307"/>
                  <a:pt x="81767" y="100830"/>
                </a:cubicBezTo>
                <a:close/>
                <a:moveTo>
                  <a:pt x="164006" y="100830"/>
                </a:moveTo>
                <a:cubicBezTo>
                  <a:pt x="164006" y="72918"/>
                  <a:pt x="141345" y="50257"/>
                  <a:pt x="113433" y="50257"/>
                </a:cubicBezTo>
                <a:cubicBezTo>
                  <a:pt x="85522" y="50257"/>
                  <a:pt x="62861" y="72918"/>
                  <a:pt x="62861" y="100830"/>
                </a:cubicBezTo>
                <a:cubicBezTo>
                  <a:pt x="62861" y="118898"/>
                  <a:pt x="72500" y="135593"/>
                  <a:pt x="88147" y="144627"/>
                </a:cubicBezTo>
                <a:cubicBezTo>
                  <a:pt x="103794" y="153661"/>
                  <a:pt x="123073" y="153661"/>
                  <a:pt x="138720" y="144627"/>
                </a:cubicBezTo>
                <a:cubicBezTo>
                  <a:pt x="154367" y="135593"/>
                  <a:pt x="164006" y="118898"/>
                  <a:pt x="164006" y="100830"/>
                </a:cubicBezTo>
                <a:close/>
              </a:path>
            </a:pathLst>
          </a:custGeom>
          <a:solidFill>
            <a:srgbClr val="4C8A7A"/>
          </a:solidFill>
          <a:ln/>
        </p:spPr>
      </p:sp>
      <p:sp>
        <p:nvSpPr>
          <p:cNvPr id="10" name="Text 8"/>
          <p:cNvSpPr/>
          <p:nvPr/>
        </p:nvSpPr>
        <p:spPr>
          <a:xfrm>
            <a:off x="571369"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Light</a:t>
            </a:r>
            <a:endParaRPr lang="en-US" sz="1600" dirty="0"/>
          </a:p>
        </p:txBody>
      </p:sp>
      <p:sp>
        <p:nvSpPr>
          <p:cNvPr id="11" name="Text 9"/>
          <p:cNvSpPr/>
          <p:nvPr/>
        </p:nvSpPr>
        <p:spPr>
          <a:xfrm>
            <a:off x="575570"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Shade-tolerant vs. shade-intolerant species partition light gradients</a:t>
            </a:r>
            <a:endParaRPr lang="en-US" sz="1600" dirty="0"/>
          </a:p>
        </p:txBody>
      </p:sp>
      <p:sp>
        <p:nvSpPr>
          <p:cNvPr id="12" name="Shape 10"/>
          <p:cNvSpPr/>
          <p:nvPr/>
        </p:nvSpPr>
        <p:spPr>
          <a:xfrm>
            <a:off x="2966338"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8FB7AC">
              <a:alpha val="10196"/>
            </a:srgbClr>
          </a:solidFill>
          <a:ln/>
        </p:spPr>
      </p:sp>
      <p:sp>
        <p:nvSpPr>
          <p:cNvPr id="13" name="Shape 11"/>
          <p:cNvSpPr/>
          <p:nvPr/>
        </p:nvSpPr>
        <p:spPr>
          <a:xfrm>
            <a:off x="4071396" y="2554354"/>
            <a:ext cx="151245" cy="201660"/>
          </a:xfrm>
          <a:custGeom>
            <a:avLst/>
            <a:gdLst/>
            <a:ahLst/>
            <a:cxnLst/>
            <a:rect l="l" t="t" r="r" b="b"/>
            <a:pathLst>
              <a:path w="151245" h="201660">
                <a:moveTo>
                  <a:pt x="75622" y="201660"/>
                </a:moveTo>
                <a:cubicBezTo>
                  <a:pt x="33873" y="201660"/>
                  <a:pt x="0" y="167787"/>
                  <a:pt x="0" y="126037"/>
                </a:cubicBezTo>
                <a:cubicBezTo>
                  <a:pt x="0" y="90117"/>
                  <a:pt x="51281" y="18078"/>
                  <a:pt x="65618" y="-1379"/>
                </a:cubicBezTo>
                <a:cubicBezTo>
                  <a:pt x="67942" y="-4529"/>
                  <a:pt x="71605" y="-6302"/>
                  <a:pt x="75544" y="-6302"/>
                </a:cubicBezTo>
                <a:lnTo>
                  <a:pt x="75701" y="-6302"/>
                </a:lnTo>
                <a:cubicBezTo>
                  <a:pt x="79640" y="-6302"/>
                  <a:pt x="83303" y="-4529"/>
                  <a:pt x="85627" y="-1379"/>
                </a:cubicBezTo>
                <a:cubicBezTo>
                  <a:pt x="99963" y="18078"/>
                  <a:pt x="151245" y="90117"/>
                  <a:pt x="151245" y="126037"/>
                </a:cubicBezTo>
                <a:cubicBezTo>
                  <a:pt x="151245" y="167787"/>
                  <a:pt x="117372" y="201660"/>
                  <a:pt x="75622" y="201660"/>
                </a:cubicBezTo>
                <a:close/>
                <a:moveTo>
                  <a:pt x="44113" y="122886"/>
                </a:moveTo>
                <a:cubicBezTo>
                  <a:pt x="44113" y="117648"/>
                  <a:pt x="39899" y="113433"/>
                  <a:pt x="34660" y="113433"/>
                </a:cubicBezTo>
                <a:cubicBezTo>
                  <a:pt x="29422" y="113433"/>
                  <a:pt x="25207" y="117648"/>
                  <a:pt x="25207" y="122886"/>
                </a:cubicBezTo>
                <a:cubicBezTo>
                  <a:pt x="25207" y="152466"/>
                  <a:pt x="49194" y="176452"/>
                  <a:pt x="78773" y="176452"/>
                </a:cubicBezTo>
                <a:cubicBezTo>
                  <a:pt x="84012" y="176452"/>
                  <a:pt x="88226" y="172238"/>
                  <a:pt x="88226" y="166999"/>
                </a:cubicBezTo>
                <a:cubicBezTo>
                  <a:pt x="88226" y="161761"/>
                  <a:pt x="84012" y="157547"/>
                  <a:pt x="78773" y="157547"/>
                </a:cubicBezTo>
                <a:cubicBezTo>
                  <a:pt x="59631" y="157547"/>
                  <a:pt x="44113" y="142028"/>
                  <a:pt x="44113" y="122886"/>
                </a:cubicBezTo>
                <a:close/>
              </a:path>
            </a:pathLst>
          </a:custGeom>
          <a:solidFill>
            <a:srgbClr val="8FB7AC"/>
          </a:solidFill>
          <a:ln/>
        </p:spPr>
      </p:sp>
      <p:sp>
        <p:nvSpPr>
          <p:cNvPr id="14" name="Text 12"/>
          <p:cNvSpPr/>
          <p:nvPr/>
        </p:nvSpPr>
        <p:spPr>
          <a:xfrm>
            <a:off x="3033558"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Water</a:t>
            </a:r>
            <a:endParaRPr lang="en-US" sz="1600" dirty="0"/>
          </a:p>
        </p:txBody>
      </p:sp>
      <p:sp>
        <p:nvSpPr>
          <p:cNvPr id="15" name="Text 13"/>
          <p:cNvSpPr/>
          <p:nvPr/>
        </p:nvSpPr>
        <p:spPr>
          <a:xfrm>
            <a:off x="3037759"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Deep vs. shallow rooting strategies access different soil layers</a:t>
            </a:r>
            <a:endParaRPr lang="en-US" sz="1600" dirty="0"/>
          </a:p>
        </p:txBody>
      </p:sp>
      <p:sp>
        <p:nvSpPr>
          <p:cNvPr id="16" name="Shape 14"/>
          <p:cNvSpPr/>
          <p:nvPr/>
        </p:nvSpPr>
        <p:spPr>
          <a:xfrm>
            <a:off x="5428594" y="2453524"/>
            <a:ext cx="2361097" cy="1041908"/>
          </a:xfrm>
          <a:custGeom>
            <a:avLst/>
            <a:gdLst/>
            <a:ahLst/>
            <a:cxnLst/>
            <a:rect l="l" t="t" r="r" b="b"/>
            <a:pathLst>
              <a:path w="2361097" h="1041908">
                <a:moveTo>
                  <a:pt x="67224" y="0"/>
                </a:moveTo>
                <a:lnTo>
                  <a:pt x="2293873" y="0"/>
                </a:lnTo>
                <a:cubicBezTo>
                  <a:pt x="2331000" y="0"/>
                  <a:pt x="2361097" y="30097"/>
                  <a:pt x="2361097" y="67224"/>
                </a:cubicBezTo>
                <a:lnTo>
                  <a:pt x="2361097" y="974684"/>
                </a:lnTo>
                <a:cubicBezTo>
                  <a:pt x="2361097" y="1011810"/>
                  <a:pt x="2331000" y="1041908"/>
                  <a:pt x="2293873" y="1041908"/>
                </a:cubicBezTo>
                <a:lnTo>
                  <a:pt x="67224" y="1041908"/>
                </a:lnTo>
                <a:cubicBezTo>
                  <a:pt x="30097" y="1041908"/>
                  <a:pt x="0" y="1011810"/>
                  <a:pt x="0" y="974684"/>
                </a:cubicBezTo>
                <a:lnTo>
                  <a:pt x="0" y="67224"/>
                </a:lnTo>
                <a:cubicBezTo>
                  <a:pt x="0" y="30097"/>
                  <a:pt x="30097" y="0"/>
                  <a:pt x="67224" y="0"/>
                </a:cubicBezTo>
                <a:close/>
              </a:path>
            </a:pathLst>
          </a:custGeom>
          <a:solidFill>
            <a:srgbClr val="5F6F6B">
              <a:alpha val="10196"/>
            </a:srgbClr>
          </a:solidFill>
          <a:ln/>
        </p:spPr>
      </p:sp>
      <p:sp>
        <p:nvSpPr>
          <p:cNvPr id="17" name="Shape 15"/>
          <p:cNvSpPr/>
          <p:nvPr/>
        </p:nvSpPr>
        <p:spPr>
          <a:xfrm>
            <a:off x="6508444" y="2554354"/>
            <a:ext cx="201660" cy="201660"/>
          </a:xfrm>
          <a:custGeom>
            <a:avLst/>
            <a:gdLst/>
            <a:ahLst/>
            <a:cxnLst/>
            <a:rect l="l" t="t" r="r" b="b"/>
            <a:pathLst>
              <a:path w="201660" h="201660">
                <a:moveTo>
                  <a:pt x="201660" y="12604"/>
                </a:moveTo>
                <a:cubicBezTo>
                  <a:pt x="201660" y="55181"/>
                  <a:pt x="171489" y="90707"/>
                  <a:pt x="131394" y="99018"/>
                </a:cubicBezTo>
                <a:cubicBezTo>
                  <a:pt x="128282" y="76134"/>
                  <a:pt x="118002" y="55535"/>
                  <a:pt x="102838" y="39584"/>
                </a:cubicBezTo>
                <a:cubicBezTo>
                  <a:pt x="118633" y="15755"/>
                  <a:pt x="145691" y="0"/>
                  <a:pt x="176452" y="0"/>
                </a:cubicBezTo>
                <a:lnTo>
                  <a:pt x="189056" y="0"/>
                </a:lnTo>
                <a:cubicBezTo>
                  <a:pt x="196027" y="0"/>
                  <a:pt x="201660" y="5632"/>
                  <a:pt x="201660" y="12604"/>
                </a:cubicBezTo>
                <a:close/>
                <a:moveTo>
                  <a:pt x="0" y="37811"/>
                </a:moveTo>
                <a:cubicBezTo>
                  <a:pt x="0" y="30840"/>
                  <a:pt x="5632" y="25207"/>
                  <a:pt x="12604" y="25207"/>
                </a:cubicBezTo>
                <a:lnTo>
                  <a:pt x="25207" y="25207"/>
                </a:lnTo>
                <a:cubicBezTo>
                  <a:pt x="73929" y="25207"/>
                  <a:pt x="113433" y="64712"/>
                  <a:pt x="113433" y="113433"/>
                </a:cubicBezTo>
                <a:lnTo>
                  <a:pt x="113433" y="189056"/>
                </a:lnTo>
                <a:cubicBezTo>
                  <a:pt x="113433" y="196027"/>
                  <a:pt x="107801" y="201660"/>
                  <a:pt x="100830" y="201660"/>
                </a:cubicBezTo>
                <a:cubicBezTo>
                  <a:pt x="93858" y="201660"/>
                  <a:pt x="88226" y="196027"/>
                  <a:pt x="88226" y="189056"/>
                </a:cubicBezTo>
                <a:lnTo>
                  <a:pt x="88226" y="126037"/>
                </a:lnTo>
                <a:cubicBezTo>
                  <a:pt x="39505" y="126037"/>
                  <a:pt x="0" y="86532"/>
                  <a:pt x="0" y="37811"/>
                </a:cubicBezTo>
                <a:close/>
              </a:path>
            </a:pathLst>
          </a:custGeom>
          <a:solidFill>
            <a:srgbClr val="5F6F6B"/>
          </a:solidFill>
          <a:ln/>
        </p:spPr>
      </p:sp>
      <p:sp>
        <p:nvSpPr>
          <p:cNvPr id="18" name="Text 16"/>
          <p:cNvSpPr/>
          <p:nvPr/>
        </p:nvSpPr>
        <p:spPr>
          <a:xfrm>
            <a:off x="5495813" y="2823234"/>
            <a:ext cx="2226657" cy="201660"/>
          </a:xfrm>
          <a:prstGeom prst="rect">
            <a:avLst/>
          </a:prstGeom>
          <a:noFill/>
          <a:ln/>
        </p:spPr>
        <p:txBody>
          <a:bodyPr wrap="square" lIns="0" tIns="0" rIns="0" bIns="0" rtlCol="0" anchor="ctr"/>
          <a:lstStyle/>
          <a:p>
            <a:pPr algn="ct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Nutrients</a:t>
            </a:r>
            <a:endParaRPr lang="en-US" sz="1600" dirty="0"/>
          </a:p>
        </p:txBody>
      </p:sp>
      <p:sp>
        <p:nvSpPr>
          <p:cNvPr id="19" name="Text 17"/>
          <p:cNvSpPr/>
          <p:nvPr/>
        </p:nvSpPr>
        <p:spPr>
          <a:xfrm>
            <a:off x="5500015" y="3058503"/>
            <a:ext cx="2218255" cy="336099"/>
          </a:xfrm>
          <a:prstGeom prst="rect">
            <a:avLst/>
          </a:prstGeom>
          <a:noFill/>
          <a:ln/>
        </p:spPr>
        <p:txBody>
          <a:bodyPr wrap="square" lIns="0" tIns="0" rIns="0" bIns="0" rtlCol="0" anchor="ctr"/>
          <a:lstStyle/>
          <a:p>
            <a:pPr algn="ct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Species vary in N, P requirements and use efficiency</a:t>
            </a:r>
            <a:endParaRPr lang="en-US" sz="1600" dirty="0"/>
          </a:p>
        </p:txBody>
      </p:sp>
      <p:sp>
        <p:nvSpPr>
          <p:cNvPr id="20" name="Shape 18"/>
          <p:cNvSpPr/>
          <p:nvPr/>
        </p:nvSpPr>
        <p:spPr>
          <a:xfrm>
            <a:off x="336099"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Text 19"/>
          <p:cNvSpPr/>
          <p:nvPr/>
        </p:nvSpPr>
        <p:spPr>
          <a:xfrm>
            <a:off x="470539"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Temporal Partitioning</a:t>
            </a:r>
            <a:endParaRPr lang="en-US" sz="1600" dirty="0"/>
          </a:p>
        </p:txBody>
      </p:sp>
      <p:sp>
        <p:nvSpPr>
          <p:cNvPr id="22" name="Text 20"/>
          <p:cNvSpPr/>
          <p:nvPr/>
        </p:nvSpPr>
        <p:spPr>
          <a:xfrm>
            <a:off x="470539"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Phenological differences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reduce competition by separating resource demands in time:</a:t>
            </a:r>
            <a:endParaRPr lang="en-US" sz="1600" dirty="0"/>
          </a:p>
        </p:txBody>
      </p:sp>
      <p:sp>
        <p:nvSpPr>
          <p:cNvPr id="23" name="Text 21"/>
          <p:cNvSpPr/>
          <p:nvPr/>
        </p:nvSpPr>
        <p:spPr>
          <a:xfrm>
            <a:off x="470539"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Early vs. late growing season activity</a:t>
            </a:r>
            <a:endParaRPr lang="en-US" sz="1600" dirty="0"/>
          </a:p>
        </p:txBody>
      </p:sp>
      <p:sp>
        <p:nvSpPr>
          <p:cNvPr id="24" name="Text 22"/>
          <p:cNvSpPr/>
          <p:nvPr/>
        </p:nvSpPr>
        <p:spPr>
          <a:xfrm>
            <a:off x="470539"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Different flowering and fruiting times</a:t>
            </a:r>
            <a:endParaRPr lang="en-US" sz="1600" dirty="0"/>
          </a:p>
        </p:txBody>
      </p:sp>
      <p:sp>
        <p:nvSpPr>
          <p:cNvPr id="25" name="Text 23"/>
          <p:cNvSpPr/>
          <p:nvPr/>
        </p:nvSpPr>
        <p:spPr>
          <a:xfrm>
            <a:off x="470539"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Seasonal leaf senescence patterns</a:t>
            </a:r>
            <a:endParaRPr lang="en-US" sz="1600" dirty="0"/>
          </a:p>
        </p:txBody>
      </p:sp>
      <p:sp>
        <p:nvSpPr>
          <p:cNvPr id="26" name="Text 24"/>
          <p:cNvSpPr/>
          <p:nvPr/>
        </p:nvSpPr>
        <p:spPr>
          <a:xfrm>
            <a:off x="470539"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Staggered germination periods</a:t>
            </a:r>
            <a:endParaRPr lang="en-US" sz="1600" dirty="0"/>
          </a:p>
        </p:txBody>
      </p:sp>
      <p:sp>
        <p:nvSpPr>
          <p:cNvPr id="27" name="Shape 25"/>
          <p:cNvSpPr/>
          <p:nvPr/>
        </p:nvSpPr>
        <p:spPr>
          <a:xfrm>
            <a:off x="4214304" y="3797921"/>
            <a:ext cx="3747507" cy="2722404"/>
          </a:xfrm>
          <a:custGeom>
            <a:avLst/>
            <a:gdLst/>
            <a:ahLst/>
            <a:cxnLst/>
            <a:rect l="l" t="t" r="r" b="b"/>
            <a:pathLst>
              <a:path w="3747507" h="2722404">
                <a:moveTo>
                  <a:pt x="100838" y="0"/>
                </a:moveTo>
                <a:lnTo>
                  <a:pt x="3646669" y="0"/>
                </a:lnTo>
                <a:cubicBezTo>
                  <a:pt x="3702360" y="0"/>
                  <a:pt x="3747507" y="45147"/>
                  <a:pt x="3747507" y="100838"/>
                </a:cubicBezTo>
                <a:lnTo>
                  <a:pt x="3747507" y="2621566"/>
                </a:lnTo>
                <a:cubicBezTo>
                  <a:pt x="3747507" y="2677257"/>
                  <a:pt x="3702360" y="2722404"/>
                  <a:pt x="3646669" y="2722404"/>
                </a:cubicBezTo>
                <a:lnTo>
                  <a:pt x="100838" y="2722404"/>
                </a:lnTo>
                <a:cubicBezTo>
                  <a:pt x="45147" y="2722404"/>
                  <a:pt x="0" y="2677257"/>
                  <a:pt x="0" y="2621566"/>
                </a:cubicBezTo>
                <a:lnTo>
                  <a:pt x="0" y="100838"/>
                </a:lnTo>
                <a:cubicBezTo>
                  <a:pt x="0" y="45147"/>
                  <a:pt x="45147" y="0"/>
                  <a:pt x="100838"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8" name="Text 26"/>
          <p:cNvSpPr/>
          <p:nvPr/>
        </p:nvSpPr>
        <p:spPr>
          <a:xfrm>
            <a:off x="4348743" y="3932361"/>
            <a:ext cx="3554249"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Spatial Partitioning</a:t>
            </a:r>
            <a:endParaRPr lang="en-US" sz="1600" dirty="0"/>
          </a:p>
        </p:txBody>
      </p:sp>
      <p:sp>
        <p:nvSpPr>
          <p:cNvPr id="29" name="Text 27"/>
          <p:cNvSpPr/>
          <p:nvPr/>
        </p:nvSpPr>
        <p:spPr>
          <a:xfrm>
            <a:off x="4348743" y="4268460"/>
            <a:ext cx="3545847"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Microhabitat specialization</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allows species to occupy distinct physical spaces:</a:t>
            </a:r>
            <a:endParaRPr lang="en-US" sz="1600" dirty="0"/>
          </a:p>
        </p:txBody>
      </p:sp>
      <p:sp>
        <p:nvSpPr>
          <p:cNvPr id="30" name="Text 28"/>
          <p:cNvSpPr/>
          <p:nvPr/>
        </p:nvSpPr>
        <p:spPr>
          <a:xfrm>
            <a:off x="4348743" y="4806219"/>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Topographic preferences (ridge vs. valley)</a:t>
            </a:r>
            <a:endParaRPr lang="en-US" sz="1600" dirty="0"/>
          </a:p>
        </p:txBody>
      </p:sp>
      <p:sp>
        <p:nvSpPr>
          <p:cNvPr id="31" name="Text 29"/>
          <p:cNvSpPr/>
          <p:nvPr/>
        </p:nvSpPr>
        <p:spPr>
          <a:xfrm>
            <a:off x="4348743" y="5058294"/>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Soil moisture gradients</a:t>
            </a:r>
            <a:endParaRPr lang="en-US" sz="1600" dirty="0"/>
          </a:p>
        </p:txBody>
      </p:sp>
      <p:sp>
        <p:nvSpPr>
          <p:cNvPr id="32" name="Text 30"/>
          <p:cNvSpPr/>
          <p:nvPr/>
        </p:nvSpPr>
        <p:spPr>
          <a:xfrm>
            <a:off x="4348743" y="5310368"/>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Distance to streams or gaps</a:t>
            </a:r>
            <a:endParaRPr lang="en-US" sz="1600" dirty="0"/>
          </a:p>
        </p:txBody>
      </p:sp>
      <p:sp>
        <p:nvSpPr>
          <p:cNvPr id="33" name="Text 31"/>
          <p:cNvSpPr/>
          <p:nvPr/>
        </p:nvSpPr>
        <p:spPr>
          <a:xfrm>
            <a:off x="4348743" y="5562442"/>
            <a:ext cx="3545847" cy="201660"/>
          </a:xfrm>
          <a:prstGeom prst="rect">
            <a:avLst/>
          </a:prstGeom>
          <a:noFill/>
          <a:ln/>
        </p:spPr>
        <p:txBody>
          <a:bodyPr wrap="square" lIns="0" tIns="0" rIns="0" bIns="0" rtlCol="0" anchor="ctr"/>
          <a:lstStyle/>
          <a:p>
            <a:pPr>
              <a:lnSpc>
                <a:spcPct val="130000"/>
              </a:lnSpc>
            </a:pPr>
            <a:r>
              <a:rPr lang="en-US" sz="1059" dirty="0">
                <a:solidFill>
                  <a:srgbClr val="5F6F6B"/>
                </a:solidFill>
                <a:latin typeface="Quattrocento Sans" pitchFamily="34" charset="0"/>
                <a:ea typeface="Quattrocento Sans" pitchFamily="34" charset="-122"/>
                <a:cs typeface="Quattrocento Sans" pitchFamily="34" charset="-120"/>
              </a:rPr>
              <a:t>• Vertical stratification niches</a:t>
            </a:r>
            <a:endParaRPr lang="en-US" sz="1600" dirty="0"/>
          </a:p>
        </p:txBody>
      </p:sp>
      <p:sp>
        <p:nvSpPr>
          <p:cNvPr id="34" name="Shape 32"/>
          <p:cNvSpPr/>
          <p:nvPr/>
        </p:nvSpPr>
        <p:spPr>
          <a:xfrm>
            <a:off x="8126118" y="1378007"/>
            <a:ext cx="3730702" cy="1680496"/>
          </a:xfrm>
          <a:custGeom>
            <a:avLst/>
            <a:gdLst/>
            <a:ahLst/>
            <a:cxnLst/>
            <a:rect l="l" t="t" r="r" b="b"/>
            <a:pathLst>
              <a:path w="3730702" h="1680496">
                <a:moveTo>
                  <a:pt x="100830" y="0"/>
                </a:moveTo>
                <a:lnTo>
                  <a:pt x="3629872" y="0"/>
                </a:lnTo>
                <a:cubicBezTo>
                  <a:pt x="3685559" y="0"/>
                  <a:pt x="3730702" y="45143"/>
                  <a:pt x="3730702" y="100830"/>
                </a:cubicBezTo>
                <a:lnTo>
                  <a:pt x="3730702" y="1579666"/>
                </a:lnTo>
                <a:cubicBezTo>
                  <a:pt x="3730702" y="1635353"/>
                  <a:pt x="3685559" y="1680496"/>
                  <a:pt x="3629872" y="1680496"/>
                </a:cubicBezTo>
                <a:lnTo>
                  <a:pt x="100830" y="1680496"/>
                </a:lnTo>
                <a:cubicBezTo>
                  <a:pt x="45143" y="1680496"/>
                  <a:pt x="0" y="1635353"/>
                  <a:pt x="0" y="1579666"/>
                </a:cubicBezTo>
                <a:lnTo>
                  <a:pt x="0" y="100830"/>
                </a:lnTo>
                <a:cubicBezTo>
                  <a:pt x="0" y="45180"/>
                  <a:pt x="45180" y="0"/>
                  <a:pt x="100830" y="0"/>
                </a:cubicBezTo>
                <a:close/>
              </a:path>
            </a:pathLst>
          </a:custGeom>
          <a:solidFill>
            <a:srgbClr val="4C8A7A"/>
          </a:solidFill>
          <a:ln/>
        </p:spPr>
      </p:sp>
      <p:sp>
        <p:nvSpPr>
          <p:cNvPr id="35" name="Text 33"/>
          <p:cNvSpPr/>
          <p:nvPr/>
        </p:nvSpPr>
        <p:spPr>
          <a:xfrm>
            <a:off x="8294168" y="1546057"/>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Mass-Ratio Hypothesis</a:t>
            </a:r>
            <a:endParaRPr lang="en-US" sz="1600" dirty="0"/>
          </a:p>
        </p:txBody>
      </p:sp>
      <p:sp>
        <p:nvSpPr>
          <p:cNvPr id="36" name="Text 34"/>
          <p:cNvSpPr/>
          <p:nvPr/>
        </p:nvSpPr>
        <p:spPr>
          <a:xfrm>
            <a:off x="8294168" y="1882156"/>
            <a:ext cx="3461822" cy="436929"/>
          </a:xfrm>
          <a:prstGeom prst="rect">
            <a:avLst/>
          </a:prstGeom>
          <a:noFill/>
          <a:ln/>
        </p:spPr>
        <p:txBody>
          <a:bodyPr wrap="square" lIns="0" tIns="0" rIns="0" bIns="0" rtlCol="0" anchor="ctr"/>
          <a:lstStyle/>
          <a:p>
            <a:pPr>
              <a:lnSpc>
                <a:spcPct val="140000"/>
              </a:lnSpc>
            </a:pPr>
            <a:r>
              <a:rPr lang="en-US" sz="1059" dirty="0">
                <a:solidFill>
                  <a:srgbClr val="FFFFFF"/>
                </a:solidFill>
                <a:latin typeface="Quattrocento Sans" pitchFamily="34" charset="0"/>
                <a:ea typeface="Quattrocento Sans" pitchFamily="34" charset="-122"/>
                <a:cs typeface="Quattrocento Sans" pitchFamily="34" charset="-120"/>
              </a:rPr>
              <a:t>Dominant species drive ecosystem processes through their traits. Species with:</a:t>
            </a:r>
            <a:endParaRPr lang="en-US" sz="1600" dirty="0"/>
          </a:p>
        </p:txBody>
      </p:sp>
      <p:sp>
        <p:nvSpPr>
          <p:cNvPr id="37" name="Shape 35"/>
          <p:cNvSpPr/>
          <p:nvPr/>
        </p:nvSpPr>
        <p:spPr>
          <a:xfrm>
            <a:off x="8310973" y="245352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38" name="Text 36"/>
          <p:cNvSpPr/>
          <p:nvPr/>
        </p:nvSpPr>
        <p:spPr>
          <a:xfrm>
            <a:off x="8529437" y="2419915"/>
            <a:ext cx="2243462"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Acquisitive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Fast carbon capture</a:t>
            </a:r>
            <a:endParaRPr lang="en-US" sz="1600" dirty="0"/>
          </a:p>
        </p:txBody>
      </p:sp>
      <p:sp>
        <p:nvSpPr>
          <p:cNvPr id="39" name="Shape 37"/>
          <p:cNvSpPr/>
          <p:nvPr/>
        </p:nvSpPr>
        <p:spPr>
          <a:xfrm>
            <a:off x="8310973" y="2722404"/>
            <a:ext cx="134440" cy="134440"/>
          </a:xfrm>
          <a:custGeom>
            <a:avLst/>
            <a:gdLst/>
            <a:ahLst/>
            <a:cxnLst/>
            <a:rect l="l" t="t" r="r" b="b"/>
            <a:pathLst>
              <a:path w="134440" h="134440">
                <a:moveTo>
                  <a:pt x="123753" y="1759"/>
                </a:moveTo>
                <a:cubicBezTo>
                  <a:pt x="125433" y="158"/>
                  <a:pt x="127875" y="-420"/>
                  <a:pt x="130133" y="315"/>
                </a:cubicBezTo>
                <a:cubicBezTo>
                  <a:pt x="132707" y="1182"/>
                  <a:pt x="134440" y="3597"/>
                  <a:pt x="134440" y="6302"/>
                </a:cubicBezTo>
                <a:lnTo>
                  <a:pt x="134440" y="55378"/>
                </a:lnTo>
                <a:cubicBezTo>
                  <a:pt x="134440" y="89828"/>
                  <a:pt x="106055" y="117635"/>
                  <a:pt x="71736" y="117635"/>
                </a:cubicBezTo>
                <a:cubicBezTo>
                  <a:pt x="51518" y="117635"/>
                  <a:pt x="34083" y="104637"/>
                  <a:pt x="27754" y="86467"/>
                </a:cubicBezTo>
                <a:cubicBezTo>
                  <a:pt x="18459" y="94554"/>
                  <a:pt x="12604" y="106449"/>
                  <a:pt x="12604" y="119735"/>
                </a:cubicBezTo>
                <a:cubicBezTo>
                  <a:pt x="12604" y="123228"/>
                  <a:pt x="9794" y="126037"/>
                  <a:pt x="6302" y="126037"/>
                </a:cubicBezTo>
                <a:cubicBezTo>
                  <a:pt x="2810" y="126037"/>
                  <a:pt x="0" y="123228"/>
                  <a:pt x="0" y="119735"/>
                </a:cubicBezTo>
                <a:cubicBezTo>
                  <a:pt x="0" y="100068"/>
                  <a:pt x="10030" y="82738"/>
                  <a:pt x="25234" y="72550"/>
                </a:cubicBezTo>
                <a:cubicBezTo>
                  <a:pt x="34503" y="66353"/>
                  <a:pt x="45557" y="63019"/>
                  <a:pt x="56717" y="63019"/>
                </a:cubicBezTo>
                <a:lnTo>
                  <a:pt x="77723" y="63019"/>
                </a:lnTo>
                <a:cubicBezTo>
                  <a:pt x="81215" y="63019"/>
                  <a:pt x="84025" y="60209"/>
                  <a:pt x="84025" y="56717"/>
                </a:cubicBezTo>
                <a:cubicBezTo>
                  <a:pt x="84025" y="53224"/>
                  <a:pt x="81215" y="50415"/>
                  <a:pt x="77723" y="50415"/>
                </a:cubicBezTo>
                <a:lnTo>
                  <a:pt x="56717" y="50415"/>
                </a:lnTo>
                <a:cubicBezTo>
                  <a:pt x="46292" y="50415"/>
                  <a:pt x="36420" y="52726"/>
                  <a:pt x="27571" y="56848"/>
                </a:cubicBezTo>
                <a:cubicBezTo>
                  <a:pt x="33689" y="38468"/>
                  <a:pt x="50993" y="25207"/>
                  <a:pt x="71421" y="25207"/>
                </a:cubicBezTo>
                <a:cubicBezTo>
                  <a:pt x="88856" y="25207"/>
                  <a:pt x="101828" y="19404"/>
                  <a:pt x="110466" y="13654"/>
                </a:cubicBezTo>
                <a:cubicBezTo>
                  <a:pt x="115508" y="10293"/>
                  <a:pt x="119788" y="6276"/>
                  <a:pt x="123779" y="1759"/>
                </a:cubicBezTo>
                <a:close/>
              </a:path>
            </a:pathLst>
          </a:custGeom>
          <a:solidFill>
            <a:srgbClr val="FFFFFF"/>
          </a:solidFill>
          <a:ln/>
        </p:spPr>
      </p:sp>
      <p:sp>
        <p:nvSpPr>
          <p:cNvPr id="40" name="Text 38"/>
          <p:cNvSpPr/>
          <p:nvPr/>
        </p:nvSpPr>
        <p:spPr>
          <a:xfrm>
            <a:off x="8529437" y="2688794"/>
            <a:ext cx="3100516" cy="201660"/>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Conservative traits: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Long-term carbon sequestration</a:t>
            </a:r>
            <a:endParaRPr lang="en-US" sz="1600" dirty="0"/>
          </a:p>
        </p:txBody>
      </p:sp>
      <p:sp>
        <p:nvSpPr>
          <p:cNvPr id="41" name="Shape 39"/>
          <p:cNvSpPr/>
          <p:nvPr/>
        </p:nvSpPr>
        <p:spPr>
          <a:xfrm>
            <a:off x="8126118" y="3192943"/>
            <a:ext cx="3730702" cy="2151035"/>
          </a:xfrm>
          <a:custGeom>
            <a:avLst/>
            <a:gdLst/>
            <a:ahLst/>
            <a:cxnLst/>
            <a:rect l="l" t="t" r="r" b="b"/>
            <a:pathLst>
              <a:path w="3730702" h="2151035">
                <a:moveTo>
                  <a:pt x="100841" y="0"/>
                </a:moveTo>
                <a:lnTo>
                  <a:pt x="3629861" y="0"/>
                </a:lnTo>
                <a:cubicBezTo>
                  <a:pt x="3685554" y="0"/>
                  <a:pt x="3730702" y="45148"/>
                  <a:pt x="3730702" y="100841"/>
                </a:cubicBezTo>
                <a:lnTo>
                  <a:pt x="3730702" y="2050195"/>
                </a:lnTo>
                <a:cubicBezTo>
                  <a:pt x="3730702" y="2105887"/>
                  <a:pt x="3685554" y="2151035"/>
                  <a:pt x="3629861" y="2151035"/>
                </a:cubicBezTo>
                <a:lnTo>
                  <a:pt x="100841" y="2151035"/>
                </a:lnTo>
                <a:cubicBezTo>
                  <a:pt x="45148" y="2151035"/>
                  <a:pt x="0" y="2105887"/>
                  <a:pt x="0" y="2050195"/>
                </a:cubicBezTo>
                <a:lnTo>
                  <a:pt x="0" y="100841"/>
                </a:lnTo>
                <a:cubicBezTo>
                  <a:pt x="0" y="45185"/>
                  <a:pt x="45185" y="0"/>
                  <a:pt x="100841"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42" name="Text 40"/>
          <p:cNvSpPr/>
          <p:nvPr/>
        </p:nvSpPr>
        <p:spPr>
          <a:xfrm>
            <a:off x="8294168" y="3360992"/>
            <a:ext cx="3470225"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Diversity Effects</a:t>
            </a:r>
            <a:endParaRPr lang="en-US" sz="1600" dirty="0"/>
          </a:p>
        </p:txBody>
      </p:sp>
      <p:sp>
        <p:nvSpPr>
          <p:cNvPr id="43" name="Shape 41"/>
          <p:cNvSpPr/>
          <p:nvPr/>
        </p:nvSpPr>
        <p:spPr>
          <a:xfrm>
            <a:off x="8294168" y="3697092"/>
            <a:ext cx="3394602" cy="604979"/>
          </a:xfrm>
          <a:custGeom>
            <a:avLst/>
            <a:gdLst/>
            <a:ahLst/>
            <a:cxnLst/>
            <a:rect l="l" t="t" r="r" b="b"/>
            <a:pathLst>
              <a:path w="3394602" h="604979">
                <a:moveTo>
                  <a:pt x="67219" y="0"/>
                </a:moveTo>
                <a:lnTo>
                  <a:pt x="3327383" y="0"/>
                </a:lnTo>
                <a:cubicBezTo>
                  <a:pt x="3364507" y="0"/>
                  <a:pt x="3394602" y="30095"/>
                  <a:pt x="3394602" y="67219"/>
                </a:cubicBezTo>
                <a:lnTo>
                  <a:pt x="3394602" y="537759"/>
                </a:lnTo>
                <a:cubicBezTo>
                  <a:pt x="3394602" y="574884"/>
                  <a:pt x="3364507" y="604979"/>
                  <a:pt x="3327383" y="604979"/>
                </a:cubicBezTo>
                <a:lnTo>
                  <a:pt x="67219" y="604979"/>
                </a:lnTo>
                <a:cubicBezTo>
                  <a:pt x="30095" y="604979"/>
                  <a:pt x="0" y="574884"/>
                  <a:pt x="0" y="537759"/>
                </a:cubicBezTo>
                <a:lnTo>
                  <a:pt x="0" y="67219"/>
                </a:lnTo>
                <a:cubicBezTo>
                  <a:pt x="0" y="30095"/>
                  <a:pt x="30095" y="0"/>
                  <a:pt x="67219" y="0"/>
                </a:cubicBezTo>
                <a:close/>
              </a:path>
            </a:pathLst>
          </a:custGeom>
          <a:solidFill>
            <a:srgbClr val="F5F7F6"/>
          </a:solidFill>
          <a:ln/>
        </p:spPr>
      </p:sp>
      <p:sp>
        <p:nvSpPr>
          <p:cNvPr id="44" name="Text 42"/>
          <p:cNvSpPr/>
          <p:nvPr/>
        </p:nvSpPr>
        <p:spPr>
          <a:xfrm>
            <a:off x="8394998" y="3797921"/>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Complementarity Effect</a:t>
            </a:r>
            <a:endParaRPr lang="en-US" sz="1600" dirty="0"/>
          </a:p>
        </p:txBody>
      </p:sp>
      <p:sp>
        <p:nvSpPr>
          <p:cNvPr id="45" name="Text 43"/>
          <p:cNvSpPr/>
          <p:nvPr/>
        </p:nvSpPr>
        <p:spPr>
          <a:xfrm>
            <a:off x="8394998" y="4033191"/>
            <a:ext cx="3251760" cy="168050"/>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Resource partitioning and facilitation enhance productivity</a:t>
            </a:r>
            <a:endParaRPr lang="en-US" sz="1600" dirty="0"/>
          </a:p>
        </p:txBody>
      </p:sp>
      <p:sp>
        <p:nvSpPr>
          <p:cNvPr id="46" name="Shape 44"/>
          <p:cNvSpPr/>
          <p:nvPr/>
        </p:nvSpPr>
        <p:spPr>
          <a:xfrm>
            <a:off x="8294168" y="4402900"/>
            <a:ext cx="3394602" cy="773028"/>
          </a:xfrm>
          <a:custGeom>
            <a:avLst/>
            <a:gdLst/>
            <a:ahLst/>
            <a:cxnLst/>
            <a:rect l="l" t="t" r="r" b="b"/>
            <a:pathLst>
              <a:path w="3394602" h="773028">
                <a:moveTo>
                  <a:pt x="67223" y="0"/>
                </a:moveTo>
                <a:lnTo>
                  <a:pt x="3327380" y="0"/>
                </a:lnTo>
                <a:cubicBezTo>
                  <a:pt x="3364506" y="0"/>
                  <a:pt x="3394602" y="30097"/>
                  <a:pt x="3394602" y="67223"/>
                </a:cubicBezTo>
                <a:lnTo>
                  <a:pt x="3394602" y="705806"/>
                </a:lnTo>
                <a:cubicBezTo>
                  <a:pt x="3394602" y="742932"/>
                  <a:pt x="3364506" y="773028"/>
                  <a:pt x="3327380" y="773028"/>
                </a:cubicBezTo>
                <a:lnTo>
                  <a:pt x="67223" y="773028"/>
                </a:lnTo>
                <a:cubicBezTo>
                  <a:pt x="30097" y="773028"/>
                  <a:pt x="0" y="742932"/>
                  <a:pt x="0" y="705806"/>
                </a:cubicBezTo>
                <a:lnTo>
                  <a:pt x="0" y="67223"/>
                </a:lnTo>
                <a:cubicBezTo>
                  <a:pt x="0" y="30121"/>
                  <a:pt x="30121" y="0"/>
                  <a:pt x="67223" y="0"/>
                </a:cubicBezTo>
                <a:close/>
              </a:path>
            </a:pathLst>
          </a:custGeom>
          <a:solidFill>
            <a:srgbClr val="F5F7F6"/>
          </a:solidFill>
          <a:ln/>
        </p:spPr>
      </p:sp>
      <p:sp>
        <p:nvSpPr>
          <p:cNvPr id="47" name="Text 45"/>
          <p:cNvSpPr/>
          <p:nvPr/>
        </p:nvSpPr>
        <p:spPr>
          <a:xfrm>
            <a:off x="8394998" y="4503730"/>
            <a:ext cx="3260163"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Selection Effect</a:t>
            </a:r>
            <a:endParaRPr lang="en-US" sz="1600" dirty="0"/>
          </a:p>
        </p:txBody>
      </p:sp>
      <p:sp>
        <p:nvSpPr>
          <p:cNvPr id="48" name="Text 46"/>
          <p:cNvSpPr/>
          <p:nvPr/>
        </p:nvSpPr>
        <p:spPr>
          <a:xfrm>
            <a:off x="8394998" y="4738999"/>
            <a:ext cx="3251760" cy="336099"/>
          </a:xfrm>
          <a:prstGeom prst="rect">
            <a:avLst/>
          </a:prstGeom>
          <a:noFill/>
          <a:ln/>
        </p:spPr>
        <p:txBody>
          <a:bodyPr wrap="square" lIns="0" tIns="0" rIns="0" bIns="0" rtlCol="0" anchor="ctr"/>
          <a:lstStyle/>
          <a:p>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Higher diversity increases probability of including productive species</a:t>
            </a:r>
            <a:endParaRPr lang="en-US" sz="1600" dirty="0"/>
          </a:p>
        </p:txBody>
      </p:sp>
      <p:sp>
        <p:nvSpPr>
          <p:cNvPr id="49" name="Shape 47"/>
          <p:cNvSpPr/>
          <p:nvPr/>
        </p:nvSpPr>
        <p:spPr>
          <a:xfrm>
            <a:off x="8126118" y="5478418"/>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2F3E3B"/>
          </a:solidFill>
          <a:ln/>
        </p:spPr>
      </p:sp>
      <p:sp>
        <p:nvSpPr>
          <p:cNvPr id="50" name="Text 48"/>
          <p:cNvSpPr/>
          <p:nvPr/>
        </p:nvSpPr>
        <p:spPr>
          <a:xfrm>
            <a:off x="8197539" y="561285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Phylogenetic Diversity</a:t>
            </a:r>
            <a:endParaRPr lang="en-US" sz="1600" dirty="0"/>
          </a:p>
        </p:txBody>
      </p:sp>
      <p:sp>
        <p:nvSpPr>
          <p:cNvPr id="51" name="Text 49"/>
          <p:cNvSpPr/>
          <p:nvPr/>
        </p:nvSpPr>
        <p:spPr>
          <a:xfrm>
            <a:off x="8226948" y="5948957"/>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Stronger predictor of biomass than species richness alone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46364" y="346364"/>
            <a:ext cx="11559886" cy="173182"/>
          </a:xfrm>
          <a:prstGeom prst="rect">
            <a:avLst/>
          </a:prstGeom>
          <a:noFill/>
          <a:ln/>
        </p:spPr>
        <p:txBody>
          <a:bodyPr wrap="square" lIns="0" tIns="0" rIns="0" bIns="0" rtlCol="0" anchor="ctr"/>
          <a:lstStyle/>
          <a:p>
            <a:pPr>
              <a:lnSpc>
                <a:spcPct val="120000"/>
              </a:lnSpc>
            </a:pPr>
            <a:r>
              <a:rPr lang="en-US" sz="955" b="1" spc="95"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46364" y="588818"/>
            <a:ext cx="11655136" cy="346364"/>
          </a:xfrm>
          <a:prstGeom prst="rect">
            <a:avLst/>
          </a:prstGeom>
          <a:noFill/>
          <a:ln/>
        </p:spPr>
        <p:txBody>
          <a:bodyPr wrap="square" lIns="0" tIns="0" rIns="0" bIns="0" rtlCol="0" anchor="ctr"/>
          <a:lstStyle/>
          <a:p>
            <a:pPr>
              <a:lnSpc>
                <a:spcPct val="90000"/>
              </a:lnSpc>
            </a:pPr>
            <a:r>
              <a:rPr lang="en-US" sz="2455" b="1" dirty="0">
                <a:solidFill>
                  <a:srgbClr val="2F3E3B"/>
                </a:solidFill>
                <a:latin typeface="Sorts Mill Goudy" pitchFamily="34" charset="0"/>
                <a:ea typeface="Sorts Mill Goudy" pitchFamily="34" charset="-122"/>
                <a:cs typeface="Sorts Mill Goudy" pitchFamily="34" charset="-120"/>
              </a:rPr>
              <a:t>Gap Dynamics &amp; Forest Regeneration</a:t>
            </a:r>
            <a:endParaRPr lang="en-US" sz="1600" dirty="0"/>
          </a:p>
        </p:txBody>
      </p:sp>
      <p:sp>
        <p:nvSpPr>
          <p:cNvPr id="4" name="Text 2"/>
          <p:cNvSpPr/>
          <p:nvPr/>
        </p:nvSpPr>
        <p:spPr>
          <a:xfrm>
            <a:off x="346364" y="1004455"/>
            <a:ext cx="11577205" cy="242455"/>
          </a:xfrm>
          <a:prstGeom prst="rect">
            <a:avLst/>
          </a:prstGeom>
          <a:noFill/>
          <a:ln/>
        </p:spPr>
        <p:txBody>
          <a:bodyPr wrap="square" lIns="0" tIns="0" rIns="0" bIns="0" rtlCol="0" anchor="ctr"/>
          <a:lstStyle/>
          <a:p>
            <a:pPr>
              <a:lnSpc>
                <a:spcPct val="130000"/>
              </a:lnSpc>
            </a:pPr>
            <a:r>
              <a:rPr lang="en-US" sz="1227" dirty="0">
                <a:solidFill>
                  <a:srgbClr val="5F6F6B"/>
                </a:solidFill>
                <a:latin typeface="Quattrocento Sans" pitchFamily="34" charset="0"/>
                <a:ea typeface="Quattrocento Sans" pitchFamily="34" charset="-122"/>
                <a:cs typeface="Quattrocento Sans" pitchFamily="34" charset="-120"/>
              </a:rPr>
              <a:t>Natural disturbances maintain diversity through regeneration opportunities</a:t>
            </a:r>
            <a:endParaRPr lang="en-US" sz="1600" dirty="0"/>
          </a:p>
        </p:txBody>
      </p:sp>
      <p:sp>
        <p:nvSpPr>
          <p:cNvPr id="5" name="Shape 3"/>
          <p:cNvSpPr/>
          <p:nvPr/>
        </p:nvSpPr>
        <p:spPr>
          <a:xfrm>
            <a:off x="346364" y="1420091"/>
            <a:ext cx="5645727" cy="2407227"/>
          </a:xfrm>
          <a:custGeom>
            <a:avLst/>
            <a:gdLst/>
            <a:ahLst/>
            <a:cxnLst/>
            <a:rect l="l" t="t" r="r" b="b"/>
            <a:pathLst>
              <a:path w="5645727" h="2407227">
                <a:moveTo>
                  <a:pt x="103920" y="0"/>
                </a:moveTo>
                <a:lnTo>
                  <a:pt x="5541807" y="0"/>
                </a:lnTo>
                <a:cubicBezTo>
                  <a:pt x="5599201" y="0"/>
                  <a:pt x="5645727" y="46527"/>
                  <a:pt x="5645727" y="103920"/>
                </a:cubicBezTo>
                <a:lnTo>
                  <a:pt x="5645727" y="2303307"/>
                </a:lnTo>
                <a:cubicBezTo>
                  <a:pt x="5645727" y="2360701"/>
                  <a:pt x="5599201" y="2407227"/>
                  <a:pt x="5541807" y="2407227"/>
                </a:cubicBezTo>
                <a:lnTo>
                  <a:pt x="103920" y="2407227"/>
                </a:lnTo>
                <a:cubicBezTo>
                  <a:pt x="46527" y="2407227"/>
                  <a:pt x="0" y="2360701"/>
                  <a:pt x="0" y="2303307"/>
                </a:cubicBezTo>
                <a:lnTo>
                  <a:pt x="0" y="103920"/>
                </a:lnTo>
                <a:cubicBezTo>
                  <a:pt x="0" y="46565"/>
                  <a:pt x="46565" y="0"/>
                  <a:pt x="103920"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6" name="Text 4"/>
          <p:cNvSpPr/>
          <p:nvPr/>
        </p:nvSpPr>
        <p:spPr>
          <a:xfrm>
            <a:off x="519545" y="1593273"/>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Gap-Phase Regeneration Theory</a:t>
            </a:r>
            <a:endParaRPr lang="en-US" sz="1600" dirty="0"/>
          </a:p>
        </p:txBody>
      </p:sp>
      <p:sp>
        <p:nvSpPr>
          <p:cNvPr id="7" name="Text 5"/>
          <p:cNvSpPr/>
          <p:nvPr/>
        </p:nvSpPr>
        <p:spPr>
          <a:xfrm>
            <a:off x="519545" y="1939636"/>
            <a:ext cx="5368636" cy="675409"/>
          </a:xfrm>
          <a:prstGeom prst="rect">
            <a:avLst/>
          </a:prstGeom>
          <a:noFill/>
          <a:ln/>
        </p:spPr>
        <p:txBody>
          <a:bodyPr wrap="square" lIns="0" tIns="0" rIns="0" bIns="0" rtlCol="0" anchor="ctr"/>
          <a:lstStyle/>
          <a:p>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First proposed by Watt (1947), the </a:t>
            </a:r>
            <a:pPr>
              <a:lnSpc>
                <a:spcPct val="140000"/>
              </a:lnSpc>
            </a:pPr>
            <a:r>
              <a:rPr lang="en-US" sz="1091" b="1" dirty="0">
                <a:solidFill>
                  <a:srgbClr val="1F2A28"/>
                </a:solidFill>
                <a:latin typeface="Quattrocento Sans" pitchFamily="34" charset="0"/>
                <a:ea typeface="Quattrocento Sans" pitchFamily="34" charset="-122"/>
                <a:cs typeface="Quattrocento Sans" pitchFamily="34" charset="-120"/>
              </a:rPr>
              <a:t>gap-phase regeneration theory</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explains how </a:t>
            </a:r>
            <a:pPr>
              <a:lnSpc>
                <a:spcPct val="140000"/>
              </a:lnSpc>
            </a:pPr>
            <a:r>
              <a:rPr lang="en-US" sz="109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canopy gaps created by tree death drive forest dynamics </a:t>
            </a:r>
            <a:pPr>
              <a:lnSpc>
                <a:spcPct val="140000"/>
              </a:lnSpc>
            </a:pPr>
            <a:r>
              <a:rPr lang="en-US" sz="1091" dirty="0">
                <a:solidFill>
                  <a:srgbClr val="1F2A28"/>
                </a:solidFill>
                <a:latin typeface="Quattrocento Sans" pitchFamily="34" charset="0"/>
                <a:ea typeface="Quattrocento Sans" pitchFamily="34" charset="-122"/>
                <a:cs typeface="Quattrocento Sans" pitchFamily="34" charset="-120"/>
              </a:rPr>
              <a:t>. These gaps initiate localized succession, preventing competitive exclusion and maintaining species diversity.</a:t>
            </a:r>
            <a:endParaRPr lang="en-US" sz="1600" dirty="0"/>
          </a:p>
        </p:txBody>
      </p:sp>
      <p:sp>
        <p:nvSpPr>
          <p:cNvPr id="8" name="Shape 6"/>
          <p:cNvSpPr/>
          <p:nvPr/>
        </p:nvSpPr>
        <p:spPr>
          <a:xfrm>
            <a:off x="519545"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4C8A7A">
              <a:alpha val="10196"/>
            </a:srgbClr>
          </a:solidFill>
          <a:ln/>
        </p:spPr>
      </p:sp>
      <p:sp>
        <p:nvSpPr>
          <p:cNvPr id="9" name="Text 7"/>
          <p:cNvSpPr/>
          <p:nvPr/>
        </p:nvSpPr>
        <p:spPr>
          <a:xfrm>
            <a:off x="658091"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Canopy Gap (CG)</a:t>
            </a:r>
            <a:endParaRPr lang="en-US" sz="1600" dirty="0"/>
          </a:p>
        </p:txBody>
      </p:sp>
      <p:sp>
        <p:nvSpPr>
          <p:cNvPr id="10" name="Text 8"/>
          <p:cNvSpPr/>
          <p:nvPr/>
        </p:nvSpPr>
        <p:spPr>
          <a:xfrm>
            <a:off x="658091"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Area directly under canopy opening. Average: 52-75 m²</a:t>
            </a:r>
            <a:endParaRPr lang="en-US" sz="1600" dirty="0"/>
          </a:p>
        </p:txBody>
      </p:sp>
      <p:sp>
        <p:nvSpPr>
          <p:cNvPr id="11" name="Shape 9"/>
          <p:cNvSpPr/>
          <p:nvPr/>
        </p:nvSpPr>
        <p:spPr>
          <a:xfrm>
            <a:off x="3238500" y="2753591"/>
            <a:ext cx="2580409" cy="900545"/>
          </a:xfrm>
          <a:custGeom>
            <a:avLst/>
            <a:gdLst/>
            <a:ahLst/>
            <a:cxnLst/>
            <a:rect l="l" t="t" r="r" b="b"/>
            <a:pathLst>
              <a:path w="2580409" h="900545">
                <a:moveTo>
                  <a:pt x="69270" y="0"/>
                </a:moveTo>
                <a:lnTo>
                  <a:pt x="2511139" y="0"/>
                </a:lnTo>
                <a:cubicBezTo>
                  <a:pt x="2549396" y="0"/>
                  <a:pt x="2580409" y="31013"/>
                  <a:pt x="2580409" y="69270"/>
                </a:cubicBezTo>
                <a:lnTo>
                  <a:pt x="2580409" y="831275"/>
                </a:lnTo>
                <a:cubicBezTo>
                  <a:pt x="2580409" y="869532"/>
                  <a:pt x="2549396" y="900545"/>
                  <a:pt x="2511139" y="900545"/>
                </a:cubicBezTo>
                <a:lnTo>
                  <a:pt x="69270" y="900545"/>
                </a:lnTo>
                <a:cubicBezTo>
                  <a:pt x="31013" y="900545"/>
                  <a:pt x="0" y="869532"/>
                  <a:pt x="0" y="831275"/>
                </a:cubicBezTo>
                <a:lnTo>
                  <a:pt x="0" y="69270"/>
                </a:lnTo>
                <a:cubicBezTo>
                  <a:pt x="0" y="31039"/>
                  <a:pt x="31039" y="0"/>
                  <a:pt x="69270" y="0"/>
                </a:cubicBezTo>
                <a:close/>
              </a:path>
            </a:pathLst>
          </a:custGeom>
          <a:solidFill>
            <a:srgbClr val="8FB7AC">
              <a:alpha val="10196"/>
            </a:srgbClr>
          </a:solidFill>
          <a:ln/>
        </p:spPr>
      </p:sp>
      <p:sp>
        <p:nvSpPr>
          <p:cNvPr id="12" name="Text 10"/>
          <p:cNvSpPr/>
          <p:nvPr/>
        </p:nvSpPr>
        <p:spPr>
          <a:xfrm>
            <a:off x="3377045" y="2892136"/>
            <a:ext cx="2372591"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Expanded Gap (EG)</a:t>
            </a:r>
            <a:endParaRPr lang="en-US" sz="1600" dirty="0"/>
          </a:p>
        </p:txBody>
      </p:sp>
      <p:sp>
        <p:nvSpPr>
          <p:cNvPr id="13" name="Text 11"/>
          <p:cNvSpPr/>
          <p:nvPr/>
        </p:nvSpPr>
        <p:spPr>
          <a:xfrm>
            <a:off x="3377045" y="3169227"/>
            <a:ext cx="2363932"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Includes CG plus area to surrounding tree trunks</a:t>
            </a:r>
            <a:endParaRPr lang="en-US" sz="1600" dirty="0"/>
          </a:p>
        </p:txBody>
      </p:sp>
      <p:sp>
        <p:nvSpPr>
          <p:cNvPr id="14" name="Shape 12"/>
          <p:cNvSpPr/>
          <p:nvPr/>
        </p:nvSpPr>
        <p:spPr>
          <a:xfrm>
            <a:off x="346364" y="3965864"/>
            <a:ext cx="5645727" cy="2667000"/>
          </a:xfrm>
          <a:custGeom>
            <a:avLst/>
            <a:gdLst/>
            <a:ahLst/>
            <a:cxnLst/>
            <a:rect l="l" t="t" r="r" b="b"/>
            <a:pathLst>
              <a:path w="5645727" h="2667000">
                <a:moveTo>
                  <a:pt x="103906" y="0"/>
                </a:moveTo>
                <a:lnTo>
                  <a:pt x="5541821" y="0"/>
                </a:lnTo>
                <a:cubicBezTo>
                  <a:pt x="5599207" y="0"/>
                  <a:pt x="5645727" y="46520"/>
                  <a:pt x="5645727" y="103906"/>
                </a:cubicBezTo>
                <a:lnTo>
                  <a:pt x="5645727" y="2563094"/>
                </a:lnTo>
                <a:cubicBezTo>
                  <a:pt x="5645727" y="2620480"/>
                  <a:pt x="5599207" y="2667000"/>
                  <a:pt x="5541821" y="2667000"/>
                </a:cubicBezTo>
                <a:lnTo>
                  <a:pt x="103906" y="2667000"/>
                </a:lnTo>
                <a:cubicBezTo>
                  <a:pt x="46520" y="2667000"/>
                  <a:pt x="0" y="2620480"/>
                  <a:pt x="0" y="2563094"/>
                </a:cubicBezTo>
                <a:lnTo>
                  <a:pt x="0" y="103906"/>
                </a:lnTo>
                <a:cubicBezTo>
                  <a:pt x="0" y="46520"/>
                  <a:pt x="46520" y="0"/>
                  <a:pt x="103906"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15" name="Text 13"/>
          <p:cNvSpPr/>
          <p:nvPr/>
        </p:nvSpPr>
        <p:spPr>
          <a:xfrm>
            <a:off x="519545" y="4139045"/>
            <a:ext cx="5385955" cy="242455"/>
          </a:xfrm>
          <a:prstGeom prst="rect">
            <a:avLst/>
          </a:prstGeom>
          <a:noFill/>
          <a:ln/>
        </p:spPr>
        <p:txBody>
          <a:bodyPr wrap="square" lIns="0" tIns="0" rIns="0" bIns="0" rtlCol="0" anchor="ctr"/>
          <a:lstStyle/>
          <a:p>
            <a:pPr>
              <a:lnSpc>
                <a:spcPct val="120000"/>
              </a:lnSpc>
            </a:pPr>
            <a:r>
              <a:rPr lang="en-US" sz="1364" b="1" dirty="0">
                <a:solidFill>
                  <a:srgbClr val="2F3E3B"/>
                </a:solidFill>
                <a:latin typeface="Sorts Mill Goudy" pitchFamily="34" charset="0"/>
                <a:ea typeface="Sorts Mill Goudy" pitchFamily="34" charset="-122"/>
                <a:cs typeface="Sorts Mill Goudy" pitchFamily="34" charset="-120"/>
              </a:rPr>
              <a:t>Gap Formation Mechanisms</a:t>
            </a:r>
            <a:endParaRPr lang="en-US" sz="1600" dirty="0"/>
          </a:p>
        </p:txBody>
      </p:sp>
      <p:sp>
        <p:nvSpPr>
          <p:cNvPr id="16" name="Shape 14"/>
          <p:cNvSpPr/>
          <p:nvPr/>
        </p:nvSpPr>
        <p:spPr>
          <a:xfrm>
            <a:off x="519545" y="4485409"/>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17" name="Shape 15"/>
          <p:cNvSpPr/>
          <p:nvPr/>
        </p:nvSpPr>
        <p:spPr>
          <a:xfrm>
            <a:off x="654844" y="4623955"/>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4C8A7A"/>
          </a:solidFill>
          <a:ln/>
        </p:spPr>
      </p:sp>
      <p:sp>
        <p:nvSpPr>
          <p:cNvPr id="18" name="Text 16"/>
          <p:cNvSpPr/>
          <p:nvPr/>
        </p:nvSpPr>
        <p:spPr>
          <a:xfrm>
            <a:off x="922193" y="4589318"/>
            <a:ext cx="282286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Uprooting</a:t>
            </a:r>
            <a:endParaRPr lang="en-US" sz="1600" dirty="0"/>
          </a:p>
        </p:txBody>
      </p:sp>
      <p:sp>
        <p:nvSpPr>
          <p:cNvPr id="19" name="Text 17"/>
          <p:cNvSpPr/>
          <p:nvPr/>
        </p:nvSpPr>
        <p:spPr>
          <a:xfrm>
            <a:off x="922193" y="4797136"/>
            <a:ext cx="281420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Creates pit-mound topography, exposes mineral soil</a:t>
            </a:r>
            <a:endParaRPr lang="en-US" sz="1600" dirty="0"/>
          </a:p>
        </p:txBody>
      </p:sp>
      <p:sp>
        <p:nvSpPr>
          <p:cNvPr id="20" name="Shape 18"/>
          <p:cNvSpPr/>
          <p:nvPr/>
        </p:nvSpPr>
        <p:spPr>
          <a:xfrm>
            <a:off x="519545" y="5178136"/>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1" name="Shape 19"/>
          <p:cNvSpPr/>
          <p:nvPr/>
        </p:nvSpPr>
        <p:spPr>
          <a:xfrm>
            <a:off x="654844" y="5316682"/>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8FB7AC"/>
          </a:solidFill>
          <a:ln/>
        </p:spPr>
      </p:sp>
      <p:sp>
        <p:nvSpPr>
          <p:cNvPr id="22" name="Text 20"/>
          <p:cNvSpPr/>
          <p:nvPr/>
        </p:nvSpPr>
        <p:spPr>
          <a:xfrm>
            <a:off x="922193" y="5282045"/>
            <a:ext cx="2727614"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Stem Breakage</a:t>
            </a:r>
            <a:endParaRPr lang="en-US" sz="1600" dirty="0"/>
          </a:p>
        </p:txBody>
      </p:sp>
      <p:sp>
        <p:nvSpPr>
          <p:cNvPr id="23" name="Text 21"/>
          <p:cNvSpPr/>
          <p:nvPr/>
        </p:nvSpPr>
        <p:spPr>
          <a:xfrm>
            <a:off x="922193" y="5489864"/>
            <a:ext cx="2718955"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Leaves standing dead wood (snags), creates debris</a:t>
            </a:r>
            <a:endParaRPr lang="en-US" sz="1600" dirty="0"/>
          </a:p>
        </p:txBody>
      </p:sp>
      <p:sp>
        <p:nvSpPr>
          <p:cNvPr id="24" name="Shape 22"/>
          <p:cNvSpPr/>
          <p:nvPr/>
        </p:nvSpPr>
        <p:spPr>
          <a:xfrm>
            <a:off x="519545" y="5870864"/>
            <a:ext cx="5299364" cy="588818"/>
          </a:xfrm>
          <a:custGeom>
            <a:avLst/>
            <a:gdLst/>
            <a:ahLst/>
            <a:cxnLst/>
            <a:rect l="l" t="t" r="r" b="b"/>
            <a:pathLst>
              <a:path w="5299364" h="588818">
                <a:moveTo>
                  <a:pt x="69274" y="0"/>
                </a:moveTo>
                <a:lnTo>
                  <a:pt x="5230089" y="0"/>
                </a:lnTo>
                <a:cubicBezTo>
                  <a:pt x="5268348" y="0"/>
                  <a:pt x="5299364" y="31015"/>
                  <a:pt x="5299364" y="69274"/>
                </a:cubicBezTo>
                <a:lnTo>
                  <a:pt x="5299364" y="519544"/>
                </a:lnTo>
                <a:cubicBezTo>
                  <a:pt x="5299364" y="557803"/>
                  <a:pt x="5268348" y="588818"/>
                  <a:pt x="5230089" y="588818"/>
                </a:cubicBezTo>
                <a:lnTo>
                  <a:pt x="69274" y="588818"/>
                </a:lnTo>
                <a:cubicBezTo>
                  <a:pt x="31041" y="588818"/>
                  <a:pt x="0" y="557777"/>
                  <a:pt x="0" y="519544"/>
                </a:cubicBezTo>
                <a:lnTo>
                  <a:pt x="0" y="69274"/>
                </a:lnTo>
                <a:cubicBezTo>
                  <a:pt x="0" y="31041"/>
                  <a:pt x="31041" y="0"/>
                  <a:pt x="69274" y="0"/>
                </a:cubicBezTo>
                <a:close/>
              </a:path>
            </a:pathLst>
          </a:custGeom>
          <a:solidFill>
            <a:srgbClr val="F5F7F6"/>
          </a:solidFill>
          <a:ln/>
        </p:spPr>
      </p:sp>
      <p:sp>
        <p:nvSpPr>
          <p:cNvPr id="25" name="Shape 23"/>
          <p:cNvSpPr/>
          <p:nvPr/>
        </p:nvSpPr>
        <p:spPr>
          <a:xfrm>
            <a:off x="654844" y="6009409"/>
            <a:ext cx="136381" cy="155864"/>
          </a:xfrm>
          <a:custGeom>
            <a:avLst/>
            <a:gdLst/>
            <a:ahLst/>
            <a:cxnLst/>
            <a:rect l="l" t="t" r="r" b="b"/>
            <a:pathLst>
              <a:path w="136381" h="155864">
                <a:moveTo>
                  <a:pt x="68190" y="-9741"/>
                </a:moveTo>
                <a:cubicBezTo>
                  <a:pt x="70321" y="-9741"/>
                  <a:pt x="72361" y="-8798"/>
                  <a:pt x="73761" y="-7154"/>
                </a:cubicBezTo>
                <a:lnTo>
                  <a:pt x="115163" y="41553"/>
                </a:lnTo>
                <a:cubicBezTo>
                  <a:pt x="117019" y="43715"/>
                  <a:pt x="117415" y="46759"/>
                  <a:pt x="116228" y="49347"/>
                </a:cubicBezTo>
                <a:cubicBezTo>
                  <a:pt x="115041" y="51934"/>
                  <a:pt x="112453" y="53578"/>
                  <a:pt x="109592" y="53578"/>
                </a:cubicBezTo>
                <a:lnTo>
                  <a:pt x="102012" y="53578"/>
                </a:lnTo>
                <a:lnTo>
                  <a:pt x="124904" y="80519"/>
                </a:lnTo>
                <a:cubicBezTo>
                  <a:pt x="126761" y="82681"/>
                  <a:pt x="127157" y="85725"/>
                  <a:pt x="125969" y="88313"/>
                </a:cubicBezTo>
                <a:cubicBezTo>
                  <a:pt x="124782" y="90900"/>
                  <a:pt x="122195" y="92544"/>
                  <a:pt x="119333" y="92544"/>
                </a:cubicBezTo>
                <a:lnTo>
                  <a:pt x="107613" y="92544"/>
                </a:lnTo>
                <a:lnTo>
                  <a:pt x="134645" y="124356"/>
                </a:lnTo>
                <a:cubicBezTo>
                  <a:pt x="136502" y="126517"/>
                  <a:pt x="136898" y="129562"/>
                  <a:pt x="135711" y="132149"/>
                </a:cubicBezTo>
                <a:cubicBezTo>
                  <a:pt x="134524" y="134737"/>
                  <a:pt x="131936" y="136381"/>
                  <a:pt x="129075" y="136381"/>
                </a:cubicBezTo>
                <a:lnTo>
                  <a:pt x="77932" y="136381"/>
                </a:lnTo>
                <a:lnTo>
                  <a:pt x="77932" y="155864"/>
                </a:lnTo>
                <a:cubicBezTo>
                  <a:pt x="77932" y="161252"/>
                  <a:pt x="73579" y="165605"/>
                  <a:pt x="68190" y="165605"/>
                </a:cubicBezTo>
                <a:cubicBezTo>
                  <a:pt x="62802" y="165605"/>
                  <a:pt x="58449" y="161252"/>
                  <a:pt x="58449" y="155864"/>
                </a:cubicBezTo>
                <a:lnTo>
                  <a:pt x="58449" y="136381"/>
                </a:lnTo>
                <a:lnTo>
                  <a:pt x="7306" y="136381"/>
                </a:lnTo>
                <a:cubicBezTo>
                  <a:pt x="4445" y="136381"/>
                  <a:pt x="1857" y="134737"/>
                  <a:pt x="670" y="132149"/>
                </a:cubicBezTo>
                <a:cubicBezTo>
                  <a:pt x="-518" y="129562"/>
                  <a:pt x="-122" y="126517"/>
                  <a:pt x="1735" y="124356"/>
                </a:cubicBezTo>
                <a:lnTo>
                  <a:pt x="28768" y="92544"/>
                </a:lnTo>
                <a:lnTo>
                  <a:pt x="17048" y="92544"/>
                </a:lnTo>
                <a:cubicBezTo>
                  <a:pt x="14186" y="92544"/>
                  <a:pt x="11598" y="90900"/>
                  <a:pt x="10411" y="88313"/>
                </a:cubicBezTo>
                <a:cubicBezTo>
                  <a:pt x="9224" y="85725"/>
                  <a:pt x="9620" y="82681"/>
                  <a:pt x="11477" y="80519"/>
                </a:cubicBezTo>
                <a:lnTo>
                  <a:pt x="34369" y="53578"/>
                </a:lnTo>
                <a:lnTo>
                  <a:pt x="26789" y="53578"/>
                </a:lnTo>
                <a:cubicBezTo>
                  <a:pt x="23928" y="53578"/>
                  <a:pt x="21340" y="51934"/>
                  <a:pt x="20153" y="49347"/>
                </a:cubicBezTo>
                <a:cubicBezTo>
                  <a:pt x="18965" y="46759"/>
                  <a:pt x="19361" y="43715"/>
                  <a:pt x="21218" y="41553"/>
                </a:cubicBezTo>
                <a:lnTo>
                  <a:pt x="62619" y="-7154"/>
                </a:lnTo>
                <a:cubicBezTo>
                  <a:pt x="64020" y="-8798"/>
                  <a:pt x="66059" y="-9741"/>
                  <a:pt x="68190" y="-9741"/>
                </a:cubicBezTo>
                <a:close/>
              </a:path>
            </a:pathLst>
          </a:custGeom>
          <a:solidFill>
            <a:srgbClr val="5F6F6B"/>
          </a:solidFill>
          <a:ln/>
        </p:spPr>
      </p:sp>
      <p:sp>
        <p:nvSpPr>
          <p:cNvPr id="26" name="Text 24"/>
          <p:cNvSpPr/>
          <p:nvPr/>
        </p:nvSpPr>
        <p:spPr>
          <a:xfrm>
            <a:off x="922193" y="5974773"/>
            <a:ext cx="2095500" cy="207818"/>
          </a:xfrm>
          <a:prstGeom prst="rect">
            <a:avLst/>
          </a:prstGeom>
          <a:noFill/>
          <a:ln/>
        </p:spPr>
        <p:txBody>
          <a:bodyPr wrap="square" lIns="0" tIns="0" rIns="0" bIns="0" rtlCol="0" anchor="ctr"/>
          <a:lstStyle/>
          <a:p>
            <a:pPr>
              <a:lnSpc>
                <a:spcPct val="130000"/>
              </a:lnSpc>
            </a:pPr>
            <a:r>
              <a:rPr lang="en-US" sz="1091" b="1" dirty="0">
                <a:solidFill>
                  <a:srgbClr val="2F3E3B"/>
                </a:solidFill>
                <a:latin typeface="Quattrocento Sans" pitchFamily="34" charset="0"/>
                <a:ea typeface="Quattrocento Sans" pitchFamily="34" charset="-122"/>
                <a:cs typeface="Quattrocento Sans" pitchFamily="34" charset="-120"/>
              </a:rPr>
              <a:t>Natural Mortality</a:t>
            </a:r>
            <a:endParaRPr lang="en-US" sz="1600" dirty="0"/>
          </a:p>
        </p:txBody>
      </p:sp>
      <p:sp>
        <p:nvSpPr>
          <p:cNvPr id="27" name="Text 25"/>
          <p:cNvSpPr/>
          <p:nvPr/>
        </p:nvSpPr>
        <p:spPr>
          <a:xfrm>
            <a:off x="922193" y="6182591"/>
            <a:ext cx="2086841"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Senescence, disease, or insect damage</a:t>
            </a:r>
            <a:endParaRPr lang="en-US" sz="1600" dirty="0"/>
          </a:p>
        </p:txBody>
      </p:sp>
      <p:sp>
        <p:nvSpPr>
          <p:cNvPr id="28" name="Shape 26"/>
          <p:cNvSpPr/>
          <p:nvPr/>
        </p:nvSpPr>
        <p:spPr>
          <a:xfrm>
            <a:off x="6199909" y="1420091"/>
            <a:ext cx="5645727" cy="2112818"/>
          </a:xfrm>
          <a:custGeom>
            <a:avLst/>
            <a:gdLst/>
            <a:ahLst/>
            <a:cxnLst/>
            <a:rect l="l" t="t" r="r" b="b"/>
            <a:pathLst>
              <a:path w="5645727" h="2112818">
                <a:moveTo>
                  <a:pt x="103908" y="0"/>
                </a:moveTo>
                <a:lnTo>
                  <a:pt x="5541819" y="0"/>
                </a:lnTo>
                <a:cubicBezTo>
                  <a:pt x="5599206" y="0"/>
                  <a:pt x="5645727" y="46521"/>
                  <a:pt x="5645727" y="103908"/>
                </a:cubicBezTo>
                <a:lnTo>
                  <a:pt x="5645727" y="2008910"/>
                </a:lnTo>
                <a:cubicBezTo>
                  <a:pt x="5645727" y="2066297"/>
                  <a:pt x="5599206" y="2112818"/>
                  <a:pt x="5541819" y="2112818"/>
                </a:cubicBezTo>
                <a:lnTo>
                  <a:pt x="103908" y="2112818"/>
                </a:lnTo>
                <a:cubicBezTo>
                  <a:pt x="46521" y="2112818"/>
                  <a:pt x="0" y="2066297"/>
                  <a:pt x="0" y="2008910"/>
                </a:cubicBezTo>
                <a:lnTo>
                  <a:pt x="0" y="103908"/>
                </a:lnTo>
                <a:cubicBezTo>
                  <a:pt x="0" y="46521"/>
                  <a:pt x="46521" y="0"/>
                  <a:pt x="103908" y="0"/>
                </a:cubicBezTo>
                <a:close/>
              </a:path>
            </a:pathLst>
          </a:custGeom>
          <a:solidFill>
            <a:srgbClr val="2F3E3B"/>
          </a:solidFill>
          <a:ln/>
        </p:spPr>
      </p:sp>
      <p:sp>
        <p:nvSpPr>
          <p:cNvPr id="29" name="Text 27"/>
          <p:cNvSpPr/>
          <p:nvPr/>
        </p:nvSpPr>
        <p:spPr>
          <a:xfrm>
            <a:off x="6373091" y="1593273"/>
            <a:ext cx="5377295" cy="242455"/>
          </a:xfrm>
          <a:prstGeom prst="rect">
            <a:avLst/>
          </a:prstGeom>
          <a:noFill/>
          <a:ln/>
        </p:spPr>
        <p:txBody>
          <a:bodyPr wrap="square" lIns="0" tIns="0" rIns="0" bIns="0" rtlCol="0" anchor="ctr"/>
          <a:lstStyle/>
          <a:p>
            <a:pPr>
              <a:lnSpc>
                <a:spcPct val="130000"/>
              </a:lnSpc>
            </a:pPr>
            <a:r>
              <a:rPr lang="en-US" sz="1227" b="1" dirty="0">
                <a:solidFill>
                  <a:srgbClr val="FFFFFF"/>
                </a:solidFill>
                <a:latin typeface="Sorts Mill Goudy" pitchFamily="34" charset="0"/>
                <a:ea typeface="Sorts Mill Goudy" pitchFamily="34" charset="-122"/>
                <a:cs typeface="Sorts Mill Goudy" pitchFamily="34" charset="-120"/>
              </a:rPr>
              <a:t>Gap Characteristics: Korean Pine Forest</a:t>
            </a:r>
            <a:endParaRPr lang="en-US" sz="1600" dirty="0"/>
          </a:p>
        </p:txBody>
      </p:sp>
      <p:sp>
        <p:nvSpPr>
          <p:cNvPr id="30" name="Shape 28"/>
          <p:cNvSpPr/>
          <p:nvPr/>
        </p:nvSpPr>
        <p:spPr>
          <a:xfrm>
            <a:off x="6373091"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1" name="Text 29"/>
          <p:cNvSpPr/>
          <p:nvPr/>
        </p:nvSpPr>
        <p:spPr>
          <a:xfrm>
            <a:off x="6477000"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18.1%</a:t>
            </a:r>
            <a:endParaRPr lang="en-US" sz="1600" dirty="0"/>
          </a:p>
        </p:txBody>
      </p:sp>
      <p:sp>
        <p:nvSpPr>
          <p:cNvPr id="32" name="Text 30"/>
          <p:cNvSpPr/>
          <p:nvPr/>
        </p:nvSpPr>
        <p:spPr>
          <a:xfrm>
            <a:off x="6477000"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Expanded gaps in landscape</a:t>
            </a:r>
            <a:endParaRPr lang="en-US" sz="1600" dirty="0"/>
          </a:p>
        </p:txBody>
      </p:sp>
      <p:sp>
        <p:nvSpPr>
          <p:cNvPr id="33" name="Shape 31"/>
          <p:cNvSpPr/>
          <p:nvPr/>
        </p:nvSpPr>
        <p:spPr>
          <a:xfrm>
            <a:off x="9074727" y="1939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4" name="Text 32"/>
          <p:cNvSpPr/>
          <p:nvPr/>
        </p:nvSpPr>
        <p:spPr>
          <a:xfrm>
            <a:off x="9178636" y="2043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12.5%</a:t>
            </a:r>
            <a:endParaRPr lang="en-US" sz="1600" dirty="0"/>
          </a:p>
        </p:txBody>
      </p:sp>
      <p:sp>
        <p:nvSpPr>
          <p:cNvPr id="35" name="Text 33"/>
          <p:cNvSpPr/>
          <p:nvPr/>
        </p:nvSpPr>
        <p:spPr>
          <a:xfrm>
            <a:off x="9178636" y="2320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Canopy gaps in landscape</a:t>
            </a:r>
            <a:endParaRPr lang="en-US" sz="1600" dirty="0"/>
          </a:p>
        </p:txBody>
      </p:sp>
      <p:sp>
        <p:nvSpPr>
          <p:cNvPr id="36" name="Shape 34"/>
          <p:cNvSpPr/>
          <p:nvPr/>
        </p:nvSpPr>
        <p:spPr>
          <a:xfrm>
            <a:off x="6373091"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37" name="Text 35"/>
          <p:cNvSpPr/>
          <p:nvPr/>
        </p:nvSpPr>
        <p:spPr>
          <a:xfrm>
            <a:off x="6477000"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~700 yr</a:t>
            </a:r>
            <a:endParaRPr lang="en-US" sz="1600" dirty="0"/>
          </a:p>
        </p:txBody>
      </p:sp>
      <p:sp>
        <p:nvSpPr>
          <p:cNvPr id="38" name="Text 36"/>
          <p:cNvSpPr/>
          <p:nvPr/>
        </p:nvSpPr>
        <p:spPr>
          <a:xfrm>
            <a:off x="6477000"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return interval</a:t>
            </a:r>
            <a:endParaRPr lang="en-US" sz="1600" dirty="0"/>
          </a:p>
        </p:txBody>
      </p:sp>
      <p:sp>
        <p:nvSpPr>
          <p:cNvPr id="39" name="Shape 37"/>
          <p:cNvSpPr/>
          <p:nvPr/>
        </p:nvSpPr>
        <p:spPr>
          <a:xfrm>
            <a:off x="9074727" y="2701636"/>
            <a:ext cx="2597727" cy="658091"/>
          </a:xfrm>
          <a:custGeom>
            <a:avLst/>
            <a:gdLst/>
            <a:ahLst/>
            <a:cxnLst/>
            <a:rect l="l" t="t" r="r" b="b"/>
            <a:pathLst>
              <a:path w="2597727" h="658091">
                <a:moveTo>
                  <a:pt x="69271" y="0"/>
                </a:moveTo>
                <a:lnTo>
                  <a:pt x="2528457" y="0"/>
                </a:lnTo>
                <a:cubicBezTo>
                  <a:pt x="2566714" y="0"/>
                  <a:pt x="2597727" y="31014"/>
                  <a:pt x="2597727" y="69271"/>
                </a:cubicBezTo>
                <a:lnTo>
                  <a:pt x="2597727" y="588820"/>
                </a:lnTo>
                <a:cubicBezTo>
                  <a:pt x="2597727" y="627052"/>
                  <a:pt x="2566688" y="658091"/>
                  <a:pt x="2528457" y="658091"/>
                </a:cubicBezTo>
                <a:lnTo>
                  <a:pt x="69271" y="658091"/>
                </a:lnTo>
                <a:cubicBezTo>
                  <a:pt x="31014" y="658091"/>
                  <a:pt x="0" y="627077"/>
                  <a:pt x="0" y="588820"/>
                </a:cubicBezTo>
                <a:lnTo>
                  <a:pt x="0" y="69271"/>
                </a:lnTo>
                <a:cubicBezTo>
                  <a:pt x="0" y="31039"/>
                  <a:pt x="31039" y="0"/>
                  <a:pt x="69271" y="0"/>
                </a:cubicBezTo>
                <a:close/>
              </a:path>
            </a:pathLst>
          </a:custGeom>
          <a:solidFill>
            <a:srgbClr val="FFFFFF">
              <a:alpha val="10196"/>
            </a:srgbClr>
          </a:solidFill>
          <a:ln/>
        </p:spPr>
      </p:sp>
      <p:sp>
        <p:nvSpPr>
          <p:cNvPr id="40" name="Text 38"/>
          <p:cNvSpPr/>
          <p:nvPr/>
        </p:nvSpPr>
        <p:spPr>
          <a:xfrm>
            <a:off x="9178636" y="2805545"/>
            <a:ext cx="2493818" cy="277091"/>
          </a:xfrm>
          <a:prstGeom prst="rect">
            <a:avLst/>
          </a:prstGeom>
          <a:noFill/>
          <a:ln/>
        </p:spPr>
        <p:txBody>
          <a:bodyPr wrap="square" lIns="0" tIns="0" rIns="0" bIns="0" rtlCol="0" anchor="ctr"/>
          <a:lstStyle/>
          <a:p>
            <a:pPr>
              <a:lnSpc>
                <a:spcPct val="110000"/>
              </a:lnSpc>
            </a:pPr>
            <a:r>
              <a:rPr lang="en-US" sz="1636" b="1" dirty="0">
                <a:solidFill>
                  <a:srgbClr val="FFFFFF"/>
                </a:solidFill>
                <a:latin typeface="Sorts Mill Goudy" pitchFamily="34" charset="0"/>
                <a:ea typeface="Sorts Mill Goudy" pitchFamily="34" charset="-122"/>
                <a:cs typeface="Sorts Mill Goudy" pitchFamily="34" charset="-120"/>
              </a:rPr>
              <a:t>20-60%</a:t>
            </a:r>
            <a:endParaRPr lang="en-US" sz="1600" dirty="0"/>
          </a:p>
        </p:txBody>
      </p:sp>
      <p:sp>
        <p:nvSpPr>
          <p:cNvPr id="41" name="Text 39"/>
          <p:cNvSpPr/>
          <p:nvPr/>
        </p:nvSpPr>
        <p:spPr>
          <a:xfrm>
            <a:off x="9178636" y="3082636"/>
            <a:ext cx="2450523" cy="173182"/>
          </a:xfrm>
          <a:prstGeom prst="rect">
            <a:avLst/>
          </a:prstGeom>
          <a:noFill/>
          <a:ln/>
        </p:spPr>
        <p:txBody>
          <a:bodyPr wrap="square" lIns="0" tIns="0" rIns="0" bIns="0" rtlCol="0" anchor="ctr"/>
          <a:lstStyle/>
          <a:p>
            <a:pPr>
              <a:lnSpc>
                <a:spcPct val="120000"/>
              </a:lnSpc>
            </a:pPr>
            <a:r>
              <a:rPr lang="en-US" sz="955" dirty="0">
                <a:solidFill>
                  <a:srgbClr val="FFFFFF">
                    <a:alpha val="90000"/>
                  </a:srgbClr>
                </a:solidFill>
                <a:latin typeface="Quattrocento Sans" pitchFamily="34" charset="0"/>
                <a:ea typeface="Quattrocento Sans" pitchFamily="34" charset="-122"/>
                <a:cs typeface="Quattrocento Sans" pitchFamily="34" charset="-120"/>
              </a:rPr>
              <a:t>Gap diameter/canopy height</a:t>
            </a:r>
            <a:endParaRPr lang="en-US" sz="1600" dirty="0"/>
          </a:p>
        </p:txBody>
      </p:sp>
      <p:sp>
        <p:nvSpPr>
          <p:cNvPr id="42" name="Shape 40"/>
          <p:cNvSpPr/>
          <p:nvPr/>
        </p:nvSpPr>
        <p:spPr>
          <a:xfrm>
            <a:off x="6199909" y="3671455"/>
            <a:ext cx="5645727" cy="1593273"/>
          </a:xfrm>
          <a:custGeom>
            <a:avLst/>
            <a:gdLst/>
            <a:ahLst/>
            <a:cxnLst/>
            <a:rect l="l" t="t" r="r" b="b"/>
            <a:pathLst>
              <a:path w="5645727" h="1593273">
                <a:moveTo>
                  <a:pt x="103913" y="0"/>
                </a:moveTo>
                <a:lnTo>
                  <a:pt x="5541814" y="0"/>
                </a:lnTo>
                <a:cubicBezTo>
                  <a:pt x="5599204" y="0"/>
                  <a:pt x="5645727" y="46524"/>
                  <a:pt x="5645727" y="103913"/>
                </a:cubicBezTo>
                <a:lnTo>
                  <a:pt x="5645727" y="1489359"/>
                </a:lnTo>
                <a:cubicBezTo>
                  <a:pt x="5645727" y="1546749"/>
                  <a:pt x="5599204" y="1593273"/>
                  <a:pt x="5541814" y="1593273"/>
                </a:cubicBezTo>
                <a:lnTo>
                  <a:pt x="103913" y="1593273"/>
                </a:lnTo>
                <a:cubicBezTo>
                  <a:pt x="46524" y="1593273"/>
                  <a:pt x="0" y="1546749"/>
                  <a:pt x="0" y="1489359"/>
                </a:cubicBezTo>
                <a:lnTo>
                  <a:pt x="0" y="103913"/>
                </a:lnTo>
                <a:cubicBezTo>
                  <a:pt x="0" y="46562"/>
                  <a:pt x="46562" y="0"/>
                  <a:pt x="103913" y="0"/>
                </a:cubicBezTo>
                <a:close/>
              </a:path>
            </a:pathLst>
          </a:custGeom>
          <a:solidFill>
            <a:srgbClr val="FFFFFF"/>
          </a:solidFill>
          <a:ln/>
          <a:effectLst>
            <a:outerShdw sx="100000" sy="100000" kx="0" ky="0" algn="bl" rotWithShape="0" blurRad="25977" dist="8659" dir="5400000">
              <a:srgbClr val="000000">
                <a:alpha val="10196"/>
              </a:srgbClr>
            </a:outerShdw>
          </a:effectLst>
        </p:spPr>
      </p:sp>
      <p:sp>
        <p:nvSpPr>
          <p:cNvPr id="43" name="Text 41"/>
          <p:cNvSpPr/>
          <p:nvPr/>
        </p:nvSpPr>
        <p:spPr>
          <a:xfrm>
            <a:off x="6373091" y="3844636"/>
            <a:ext cx="5377295" cy="242455"/>
          </a:xfrm>
          <a:prstGeom prst="rect">
            <a:avLst/>
          </a:prstGeom>
          <a:noFill/>
          <a:ln/>
        </p:spPr>
        <p:txBody>
          <a:bodyPr wrap="square" lIns="0" tIns="0" rIns="0" bIns="0" rtlCol="0" anchor="ctr"/>
          <a:lstStyle/>
          <a:p>
            <a:pPr>
              <a:lnSpc>
                <a:spcPct val="130000"/>
              </a:lnSpc>
            </a:pPr>
            <a:r>
              <a:rPr lang="en-US" sz="1227" b="1" dirty="0">
                <a:solidFill>
                  <a:srgbClr val="2F3E3B"/>
                </a:solidFill>
                <a:latin typeface="Sorts Mill Goudy" pitchFamily="34" charset="0"/>
                <a:ea typeface="Sorts Mill Goudy" pitchFamily="34" charset="-122"/>
                <a:cs typeface="Sorts Mill Goudy" pitchFamily="34" charset="-120"/>
              </a:rPr>
              <a:t>Gap Closure Timeline</a:t>
            </a:r>
            <a:endParaRPr lang="en-US" sz="1600" dirty="0"/>
          </a:p>
        </p:txBody>
      </p:sp>
      <p:sp>
        <p:nvSpPr>
          <p:cNvPr id="44" name="Text 42"/>
          <p:cNvSpPr/>
          <p:nvPr/>
        </p:nvSpPr>
        <p:spPr>
          <a:xfrm>
            <a:off x="6373091" y="4191000"/>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Small gaps</a:t>
            </a:r>
            <a:endParaRPr lang="en-US" sz="1600" dirty="0"/>
          </a:p>
        </p:txBody>
      </p:sp>
      <p:sp>
        <p:nvSpPr>
          <p:cNvPr id="45" name="Shape 43"/>
          <p:cNvSpPr/>
          <p:nvPr/>
        </p:nvSpPr>
        <p:spPr>
          <a:xfrm>
            <a:off x="7169727" y="4208318"/>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46" name="Shape 44"/>
          <p:cNvSpPr/>
          <p:nvPr/>
        </p:nvSpPr>
        <p:spPr>
          <a:xfrm>
            <a:off x="7169727" y="4208318"/>
            <a:ext cx="891886" cy="138545"/>
          </a:xfrm>
          <a:custGeom>
            <a:avLst/>
            <a:gdLst/>
            <a:ahLst/>
            <a:cxnLst/>
            <a:rect l="l" t="t" r="r" b="b"/>
            <a:pathLst>
              <a:path w="891886" h="138545">
                <a:moveTo>
                  <a:pt x="69273" y="0"/>
                </a:moveTo>
                <a:lnTo>
                  <a:pt x="822614" y="0"/>
                </a:lnTo>
                <a:cubicBezTo>
                  <a:pt x="860846" y="0"/>
                  <a:pt x="891886" y="31040"/>
                  <a:pt x="891886" y="69273"/>
                </a:cubicBezTo>
                <a:lnTo>
                  <a:pt x="891886" y="69273"/>
                </a:lnTo>
                <a:cubicBezTo>
                  <a:pt x="891886" y="107505"/>
                  <a:pt x="860846" y="138545"/>
                  <a:pt x="822614" y="138545"/>
                </a:cubicBezTo>
                <a:lnTo>
                  <a:pt x="69273" y="138545"/>
                </a:lnTo>
                <a:cubicBezTo>
                  <a:pt x="31040" y="138545"/>
                  <a:pt x="0" y="107505"/>
                  <a:pt x="0" y="69273"/>
                </a:cubicBezTo>
                <a:lnTo>
                  <a:pt x="0" y="69273"/>
                </a:lnTo>
                <a:cubicBezTo>
                  <a:pt x="0" y="31040"/>
                  <a:pt x="31040" y="0"/>
                  <a:pt x="69273" y="0"/>
                </a:cubicBezTo>
                <a:close/>
              </a:path>
            </a:pathLst>
          </a:custGeom>
          <a:solidFill>
            <a:srgbClr val="4C8A7A"/>
          </a:solidFill>
          <a:ln/>
        </p:spPr>
      </p:sp>
      <p:sp>
        <p:nvSpPr>
          <p:cNvPr id="47" name="Text 45"/>
          <p:cNvSpPr/>
          <p:nvPr/>
        </p:nvSpPr>
        <p:spPr>
          <a:xfrm>
            <a:off x="10841182" y="4191000"/>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≥10 years</a:t>
            </a:r>
            <a:endParaRPr lang="en-US" sz="1600" dirty="0"/>
          </a:p>
        </p:txBody>
      </p:sp>
      <p:sp>
        <p:nvSpPr>
          <p:cNvPr id="48" name="Text 46"/>
          <p:cNvSpPr/>
          <p:nvPr/>
        </p:nvSpPr>
        <p:spPr>
          <a:xfrm>
            <a:off x="6373091" y="4468091"/>
            <a:ext cx="753341" cy="173182"/>
          </a:xfrm>
          <a:prstGeom prst="rect">
            <a:avLst/>
          </a:prstGeom>
          <a:noFill/>
          <a:ln/>
        </p:spPr>
        <p:txBody>
          <a:bodyPr wrap="square" lIns="0" tIns="0" rIns="0" bIns="0" rtlCol="0" anchor="ctr"/>
          <a:lstStyle/>
          <a:p>
            <a:pPr>
              <a:lnSpc>
                <a:spcPct val="120000"/>
              </a:lnSpc>
            </a:pPr>
            <a:r>
              <a:rPr lang="en-US" sz="955" b="1" dirty="0">
                <a:solidFill>
                  <a:srgbClr val="2F3E3B"/>
                </a:solidFill>
                <a:latin typeface="Quattrocento Sans" pitchFamily="34" charset="0"/>
                <a:ea typeface="Quattrocento Sans" pitchFamily="34" charset="-122"/>
                <a:cs typeface="Quattrocento Sans" pitchFamily="34" charset="-120"/>
              </a:rPr>
              <a:t>Large gaps</a:t>
            </a:r>
            <a:endParaRPr lang="en-US" sz="1600" dirty="0"/>
          </a:p>
        </p:txBody>
      </p:sp>
      <p:sp>
        <p:nvSpPr>
          <p:cNvPr id="49" name="Shape 47"/>
          <p:cNvSpPr/>
          <p:nvPr/>
        </p:nvSpPr>
        <p:spPr>
          <a:xfrm>
            <a:off x="7169727" y="4485409"/>
            <a:ext cx="3567545" cy="138545"/>
          </a:xfrm>
          <a:custGeom>
            <a:avLst/>
            <a:gdLst/>
            <a:ahLst/>
            <a:cxnLst/>
            <a:rect l="l" t="t" r="r" b="b"/>
            <a:pathLst>
              <a:path w="3567545" h="138545">
                <a:moveTo>
                  <a:pt x="69273" y="0"/>
                </a:moveTo>
                <a:lnTo>
                  <a:pt x="3498273" y="0"/>
                </a:lnTo>
                <a:cubicBezTo>
                  <a:pt x="3536531" y="0"/>
                  <a:pt x="3567545" y="31014"/>
                  <a:pt x="3567545" y="69273"/>
                </a:cubicBezTo>
                <a:lnTo>
                  <a:pt x="3567545" y="69273"/>
                </a:lnTo>
                <a:cubicBezTo>
                  <a:pt x="3567545" y="107531"/>
                  <a:pt x="3536531" y="138545"/>
                  <a:pt x="3498273" y="138545"/>
                </a:cubicBezTo>
                <a:lnTo>
                  <a:pt x="69273" y="138545"/>
                </a:lnTo>
                <a:cubicBezTo>
                  <a:pt x="31040" y="138545"/>
                  <a:pt x="0" y="107505"/>
                  <a:pt x="0" y="69273"/>
                </a:cubicBezTo>
                <a:lnTo>
                  <a:pt x="0" y="69273"/>
                </a:lnTo>
                <a:cubicBezTo>
                  <a:pt x="0" y="31040"/>
                  <a:pt x="31040" y="0"/>
                  <a:pt x="69273" y="0"/>
                </a:cubicBezTo>
                <a:close/>
              </a:path>
            </a:pathLst>
          </a:custGeom>
          <a:solidFill>
            <a:srgbClr val="E3E7E5"/>
          </a:solidFill>
          <a:ln/>
        </p:spPr>
      </p:sp>
      <p:sp>
        <p:nvSpPr>
          <p:cNvPr id="50" name="Shape 48"/>
          <p:cNvSpPr/>
          <p:nvPr/>
        </p:nvSpPr>
        <p:spPr>
          <a:xfrm>
            <a:off x="7169727" y="4485409"/>
            <a:ext cx="2675659" cy="138545"/>
          </a:xfrm>
          <a:custGeom>
            <a:avLst/>
            <a:gdLst/>
            <a:ahLst/>
            <a:cxnLst/>
            <a:rect l="l" t="t" r="r" b="b"/>
            <a:pathLst>
              <a:path w="2675659" h="138545">
                <a:moveTo>
                  <a:pt x="69273" y="0"/>
                </a:moveTo>
                <a:lnTo>
                  <a:pt x="2606386" y="0"/>
                </a:lnTo>
                <a:cubicBezTo>
                  <a:pt x="2644645" y="0"/>
                  <a:pt x="2675659" y="31014"/>
                  <a:pt x="2675659" y="69273"/>
                </a:cubicBezTo>
                <a:lnTo>
                  <a:pt x="2675659" y="69273"/>
                </a:lnTo>
                <a:cubicBezTo>
                  <a:pt x="2675659" y="107531"/>
                  <a:pt x="2644645" y="138545"/>
                  <a:pt x="2606386" y="138545"/>
                </a:cubicBezTo>
                <a:lnTo>
                  <a:pt x="69273" y="138545"/>
                </a:lnTo>
                <a:cubicBezTo>
                  <a:pt x="31040" y="138545"/>
                  <a:pt x="0" y="107505"/>
                  <a:pt x="0" y="69273"/>
                </a:cubicBezTo>
                <a:lnTo>
                  <a:pt x="0" y="69273"/>
                </a:lnTo>
                <a:cubicBezTo>
                  <a:pt x="0" y="31040"/>
                  <a:pt x="31040" y="0"/>
                  <a:pt x="69273" y="0"/>
                </a:cubicBezTo>
                <a:close/>
              </a:path>
            </a:pathLst>
          </a:custGeom>
          <a:solidFill>
            <a:srgbClr val="8FB7AC"/>
          </a:solidFill>
          <a:ln/>
        </p:spPr>
      </p:sp>
      <p:sp>
        <p:nvSpPr>
          <p:cNvPr id="51" name="Text 49"/>
          <p:cNvSpPr/>
          <p:nvPr/>
        </p:nvSpPr>
        <p:spPr>
          <a:xfrm>
            <a:off x="10841182" y="4468091"/>
            <a:ext cx="891886" cy="173182"/>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30-40 years</a:t>
            </a:r>
            <a:endParaRPr lang="en-US" sz="1600" dirty="0"/>
          </a:p>
        </p:txBody>
      </p:sp>
      <p:sp>
        <p:nvSpPr>
          <p:cNvPr id="52" name="Text 50"/>
          <p:cNvSpPr/>
          <p:nvPr/>
        </p:nvSpPr>
        <p:spPr>
          <a:xfrm>
            <a:off x="6373091" y="4745182"/>
            <a:ext cx="5359977" cy="346364"/>
          </a:xfrm>
          <a:prstGeom prst="rect">
            <a:avLst/>
          </a:prstGeom>
          <a:noFill/>
          <a:ln/>
        </p:spPr>
        <p:txBody>
          <a:bodyPr wrap="square" lIns="0" tIns="0" rIns="0" bIns="0" rtlCol="0" anchor="ctr"/>
          <a:lstStyle/>
          <a:p>
            <a:pPr>
              <a:lnSpc>
                <a:spcPct val="120000"/>
              </a:lnSpc>
            </a:pPr>
            <a:r>
              <a:rPr lang="en-US" sz="955" dirty="0">
                <a:solidFill>
                  <a:srgbClr val="5F6F6B"/>
                </a:solidFill>
                <a:latin typeface="Quattrocento Sans" pitchFamily="34" charset="0"/>
                <a:ea typeface="Quattrocento Sans" pitchFamily="34" charset="-122"/>
                <a:cs typeface="Quattrocento Sans" pitchFamily="34" charset="-120"/>
              </a:rPr>
              <a:t>Gap closure occurs through lateral canopy expansion of surrounding trees and vertical growth of gap-fillers.</a:t>
            </a:r>
            <a:endParaRPr lang="en-US" sz="1600" dirty="0"/>
          </a:p>
        </p:txBody>
      </p:sp>
      <p:sp>
        <p:nvSpPr>
          <p:cNvPr id="53" name="Shape 51"/>
          <p:cNvSpPr/>
          <p:nvPr/>
        </p:nvSpPr>
        <p:spPr>
          <a:xfrm>
            <a:off x="6199909" y="5403273"/>
            <a:ext cx="5645727" cy="831273"/>
          </a:xfrm>
          <a:custGeom>
            <a:avLst/>
            <a:gdLst/>
            <a:ahLst/>
            <a:cxnLst/>
            <a:rect l="l" t="t" r="r" b="b"/>
            <a:pathLst>
              <a:path w="5645727" h="831273">
                <a:moveTo>
                  <a:pt x="103909" y="0"/>
                </a:moveTo>
                <a:lnTo>
                  <a:pt x="5541818" y="0"/>
                </a:lnTo>
                <a:cubicBezTo>
                  <a:pt x="5599206" y="0"/>
                  <a:pt x="5645727" y="46522"/>
                  <a:pt x="5645727" y="103909"/>
                </a:cubicBezTo>
                <a:lnTo>
                  <a:pt x="5645727" y="727364"/>
                </a:lnTo>
                <a:cubicBezTo>
                  <a:pt x="5645727" y="784751"/>
                  <a:pt x="5599206" y="831273"/>
                  <a:pt x="5541818" y="831273"/>
                </a:cubicBezTo>
                <a:lnTo>
                  <a:pt x="103909" y="831273"/>
                </a:lnTo>
                <a:cubicBezTo>
                  <a:pt x="46522" y="831273"/>
                  <a:pt x="0" y="784751"/>
                  <a:pt x="0" y="727364"/>
                </a:cubicBezTo>
                <a:lnTo>
                  <a:pt x="0" y="103909"/>
                </a:lnTo>
                <a:cubicBezTo>
                  <a:pt x="0" y="46560"/>
                  <a:pt x="46560" y="0"/>
                  <a:pt x="103909" y="0"/>
                </a:cubicBezTo>
                <a:close/>
              </a:path>
            </a:pathLst>
          </a:custGeom>
          <a:solidFill>
            <a:srgbClr val="4C8A7A"/>
          </a:solidFill>
          <a:ln/>
        </p:spPr>
      </p:sp>
      <p:sp>
        <p:nvSpPr>
          <p:cNvPr id="54" name="Text 52"/>
          <p:cNvSpPr/>
          <p:nvPr/>
        </p:nvSpPr>
        <p:spPr>
          <a:xfrm>
            <a:off x="6273511" y="5541818"/>
            <a:ext cx="5498523" cy="311727"/>
          </a:xfrm>
          <a:prstGeom prst="rect">
            <a:avLst/>
          </a:prstGeom>
          <a:noFill/>
          <a:ln/>
        </p:spPr>
        <p:txBody>
          <a:bodyPr wrap="square" lIns="0" tIns="0" rIns="0" bIns="0" rtlCol="0" anchor="ctr"/>
          <a:lstStyle/>
          <a:p>
            <a:pPr algn="ctr">
              <a:lnSpc>
                <a:spcPct val="100000"/>
              </a:lnSpc>
            </a:pPr>
            <a:r>
              <a:rPr lang="en-US" sz="2045" b="1" dirty="0">
                <a:solidFill>
                  <a:srgbClr val="FFFFFF"/>
                </a:solidFill>
                <a:latin typeface="Sorts Mill Goudy" pitchFamily="34" charset="0"/>
                <a:ea typeface="Sorts Mill Goudy" pitchFamily="34" charset="-122"/>
                <a:cs typeface="Sorts Mill Goudy" pitchFamily="34" charset="-120"/>
              </a:rPr>
              <a:t>Intermediate Disturbance</a:t>
            </a:r>
            <a:endParaRPr lang="en-US" sz="1600" dirty="0"/>
          </a:p>
        </p:txBody>
      </p:sp>
      <p:sp>
        <p:nvSpPr>
          <p:cNvPr id="55" name="Text 53"/>
          <p:cNvSpPr/>
          <p:nvPr/>
        </p:nvSpPr>
        <p:spPr>
          <a:xfrm>
            <a:off x="6303818" y="5888182"/>
            <a:ext cx="5437909" cy="207818"/>
          </a:xfrm>
          <a:prstGeom prst="rect">
            <a:avLst/>
          </a:prstGeom>
          <a:noFill/>
          <a:ln/>
        </p:spPr>
        <p:txBody>
          <a:bodyPr wrap="square" lIns="0" tIns="0" rIns="0" bIns="0" rtlCol="0" anchor="ctr"/>
          <a:lstStyle/>
          <a:p>
            <a:pPr algn="ctr">
              <a:lnSpc>
                <a:spcPct val="130000"/>
              </a:lnSpc>
            </a:pPr>
            <a:r>
              <a:rPr lang="en-US" sz="1091" dirty="0">
                <a:solidFill>
                  <a:srgbClr val="FFFFFF"/>
                </a:solidFill>
                <a:latin typeface="Quattrocento Sans" pitchFamily="34" charset="0"/>
                <a:ea typeface="Quattrocento Sans" pitchFamily="34" charset="-122"/>
                <a:cs typeface="Quattrocento Sans" pitchFamily="34" charset="-120"/>
              </a:rPr>
              <a:t>Maximizes diversity by preventing competitive exclusion</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4486" y="334486"/>
            <a:ext cx="11581564" cy="167243"/>
          </a:xfrm>
          <a:prstGeom prst="rect">
            <a:avLst/>
          </a:prstGeom>
          <a:noFill/>
          <a:ln/>
        </p:spPr>
        <p:txBody>
          <a:bodyPr wrap="square" lIns="0" tIns="0" rIns="0" bIns="0" rtlCol="0" anchor="ctr"/>
          <a:lstStyle/>
          <a:p>
            <a:pPr>
              <a:lnSpc>
                <a:spcPct val="120000"/>
              </a:lnSpc>
            </a:pPr>
            <a:r>
              <a:rPr lang="en-US" sz="922" b="1" spc="92" kern="0" dirty="0">
                <a:solidFill>
                  <a:srgbClr val="8FB7AC"/>
                </a:solidFill>
                <a:latin typeface="Quattrocento Sans" pitchFamily="34" charset="0"/>
                <a:ea typeface="Quattrocento Sans" pitchFamily="34" charset="-122"/>
                <a:cs typeface="Quattrocento Sans" pitchFamily="34" charset="-120"/>
              </a:rPr>
              <a:t>04 • Disturbance Regimes</a:t>
            </a:r>
            <a:endParaRPr lang="en-US" sz="1600" dirty="0"/>
          </a:p>
        </p:txBody>
      </p:sp>
      <p:sp>
        <p:nvSpPr>
          <p:cNvPr id="3" name="Text 1"/>
          <p:cNvSpPr/>
          <p:nvPr/>
        </p:nvSpPr>
        <p:spPr>
          <a:xfrm>
            <a:off x="334486" y="568626"/>
            <a:ext cx="11673547" cy="334486"/>
          </a:xfrm>
          <a:prstGeom prst="rect">
            <a:avLst/>
          </a:prstGeom>
          <a:noFill/>
          <a:ln/>
        </p:spPr>
        <p:txBody>
          <a:bodyPr wrap="square" lIns="0" tIns="0" rIns="0" bIns="0" rtlCol="0" anchor="ctr"/>
          <a:lstStyle/>
          <a:p>
            <a:pPr>
              <a:lnSpc>
                <a:spcPct val="90000"/>
              </a:lnSpc>
            </a:pPr>
            <a:r>
              <a:rPr lang="en-US" sz="2370" b="1" dirty="0">
                <a:solidFill>
                  <a:srgbClr val="2F3E3B"/>
                </a:solidFill>
                <a:latin typeface="Sorts Mill Goudy" pitchFamily="34" charset="0"/>
                <a:ea typeface="Sorts Mill Goudy" pitchFamily="34" charset="-122"/>
                <a:cs typeface="Sorts Mill Goudy" pitchFamily="34" charset="-120"/>
              </a:rPr>
              <a:t>Succession &amp; Regeneration Dynamics</a:t>
            </a:r>
            <a:endParaRPr lang="en-US" sz="1600" dirty="0"/>
          </a:p>
        </p:txBody>
      </p:sp>
      <p:sp>
        <p:nvSpPr>
          <p:cNvPr id="4" name="Text 2"/>
          <p:cNvSpPr/>
          <p:nvPr/>
        </p:nvSpPr>
        <p:spPr>
          <a:xfrm>
            <a:off x="334486" y="970008"/>
            <a:ext cx="11598288" cy="234140"/>
          </a:xfrm>
          <a:prstGeom prst="rect">
            <a:avLst/>
          </a:prstGeom>
          <a:noFill/>
          <a:ln/>
        </p:spPr>
        <p:txBody>
          <a:bodyPr wrap="square" lIns="0" tIns="0" rIns="0" bIns="0" rtlCol="0" anchor="ctr"/>
          <a:lstStyle/>
          <a:p>
            <a:pPr>
              <a:lnSpc>
                <a:spcPct val="130000"/>
              </a:lnSpc>
            </a:pPr>
            <a:r>
              <a:rPr lang="en-US" sz="1185" dirty="0">
                <a:solidFill>
                  <a:srgbClr val="5F6F6B"/>
                </a:solidFill>
                <a:latin typeface="Quattrocento Sans" pitchFamily="34" charset="0"/>
                <a:ea typeface="Quattrocento Sans" pitchFamily="34" charset="-122"/>
                <a:cs typeface="Quattrocento Sans" pitchFamily="34" charset="-120"/>
              </a:rPr>
              <a:t>Forest development pathways maintain biodiversity over time</a:t>
            </a:r>
            <a:endParaRPr lang="en-US" sz="1600" dirty="0"/>
          </a:p>
        </p:txBody>
      </p:sp>
      <p:sp>
        <p:nvSpPr>
          <p:cNvPr id="5" name="Shape 3"/>
          <p:cNvSpPr/>
          <p:nvPr/>
        </p:nvSpPr>
        <p:spPr>
          <a:xfrm>
            <a:off x="334486" y="1371391"/>
            <a:ext cx="6848593" cy="2475193"/>
          </a:xfrm>
          <a:custGeom>
            <a:avLst/>
            <a:gdLst/>
            <a:ahLst/>
            <a:cxnLst/>
            <a:rect l="l" t="t" r="r" b="b"/>
            <a:pathLst>
              <a:path w="6848593" h="2475193">
                <a:moveTo>
                  <a:pt x="100344" y="0"/>
                </a:moveTo>
                <a:lnTo>
                  <a:pt x="6748248" y="0"/>
                </a:lnTo>
                <a:cubicBezTo>
                  <a:pt x="6803667" y="0"/>
                  <a:pt x="6848593" y="44926"/>
                  <a:pt x="6848593" y="100344"/>
                </a:cubicBezTo>
                <a:lnTo>
                  <a:pt x="6848593" y="2374849"/>
                </a:lnTo>
                <a:cubicBezTo>
                  <a:pt x="6848593" y="2430268"/>
                  <a:pt x="6803667" y="2475193"/>
                  <a:pt x="6748248" y="2475193"/>
                </a:cubicBezTo>
                <a:lnTo>
                  <a:pt x="100344" y="2475193"/>
                </a:lnTo>
                <a:cubicBezTo>
                  <a:pt x="44926" y="2475193"/>
                  <a:pt x="0" y="2430268"/>
                  <a:pt x="0" y="2374849"/>
                </a:cubicBezTo>
                <a:lnTo>
                  <a:pt x="0" y="100344"/>
                </a:lnTo>
                <a:cubicBezTo>
                  <a:pt x="0" y="44926"/>
                  <a:pt x="44926" y="0"/>
                  <a:pt x="100344"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6" name="Text 4"/>
          <p:cNvSpPr/>
          <p:nvPr/>
        </p:nvSpPr>
        <p:spPr>
          <a:xfrm>
            <a:off x="501728" y="1538634"/>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Successional Pathways</a:t>
            </a:r>
            <a:endParaRPr lang="en-US" sz="1600" dirty="0"/>
          </a:p>
        </p:txBody>
      </p:sp>
      <p:sp>
        <p:nvSpPr>
          <p:cNvPr id="7" name="Text 5"/>
          <p:cNvSpPr/>
          <p:nvPr/>
        </p:nvSpPr>
        <p:spPr>
          <a:xfrm>
            <a:off x="501728" y="1873119"/>
            <a:ext cx="6581004" cy="434831"/>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Forest succession progresses from </a:t>
            </a:r>
            <a:pPr>
              <a:lnSpc>
                <a:spcPct val="140000"/>
              </a:lnSpc>
            </a:pPr>
            <a:r>
              <a:rPr lang="en-US" sz="1054"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pioneer to climax communities </a:t>
            </a:r>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 with gap dynamics creating a mosaic of successional stages that supports diverse species assemblages.</a:t>
            </a:r>
            <a:endParaRPr lang="en-US" sz="1600" dirty="0"/>
          </a:p>
        </p:txBody>
      </p:sp>
      <p:sp>
        <p:nvSpPr>
          <p:cNvPr id="8" name="Shape 6"/>
          <p:cNvSpPr/>
          <p:nvPr/>
        </p:nvSpPr>
        <p:spPr>
          <a:xfrm>
            <a:off x="501728"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4C8A7A">
              <a:alpha val="10196"/>
            </a:srgbClr>
          </a:solidFill>
          <a:ln/>
        </p:spPr>
      </p:sp>
      <p:sp>
        <p:nvSpPr>
          <p:cNvPr id="9" name="Shape 7"/>
          <p:cNvSpPr/>
          <p:nvPr/>
        </p:nvSpPr>
        <p:spPr>
          <a:xfrm>
            <a:off x="1352772"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4C8A7A"/>
          </a:solidFill>
          <a:ln/>
        </p:spPr>
      </p:sp>
      <p:sp>
        <p:nvSpPr>
          <p:cNvPr id="10" name="Shape 8"/>
          <p:cNvSpPr/>
          <p:nvPr/>
        </p:nvSpPr>
        <p:spPr>
          <a:xfrm>
            <a:off x="1469842" y="2659160"/>
            <a:ext cx="167243" cy="167243"/>
          </a:xfrm>
          <a:custGeom>
            <a:avLst/>
            <a:gdLst/>
            <a:ahLst/>
            <a:cxnLst/>
            <a:rect l="l" t="t" r="r" b="b"/>
            <a:pathLst>
              <a:path w="167243" h="167243">
                <a:moveTo>
                  <a:pt x="167243" y="10453"/>
                </a:moveTo>
                <a:cubicBezTo>
                  <a:pt x="167243" y="45763"/>
                  <a:pt x="142222" y="75227"/>
                  <a:pt x="108969" y="82119"/>
                </a:cubicBezTo>
                <a:cubicBezTo>
                  <a:pt x="106389" y="63141"/>
                  <a:pt x="97863" y="46057"/>
                  <a:pt x="85287" y="32828"/>
                </a:cubicBezTo>
                <a:cubicBezTo>
                  <a:pt x="98386" y="13066"/>
                  <a:pt x="120826" y="0"/>
                  <a:pt x="146337" y="0"/>
                </a:cubicBezTo>
                <a:lnTo>
                  <a:pt x="156790" y="0"/>
                </a:lnTo>
                <a:cubicBezTo>
                  <a:pt x="162572" y="0"/>
                  <a:pt x="167243" y="4671"/>
                  <a:pt x="167243" y="10453"/>
                </a:cubicBezTo>
                <a:close/>
                <a:moveTo>
                  <a:pt x="0" y="31358"/>
                </a:moveTo>
                <a:cubicBezTo>
                  <a:pt x="0" y="25576"/>
                  <a:pt x="4671" y="20905"/>
                  <a:pt x="10453" y="20905"/>
                </a:cubicBezTo>
                <a:lnTo>
                  <a:pt x="20905" y="20905"/>
                </a:lnTo>
                <a:cubicBezTo>
                  <a:pt x="61311" y="20905"/>
                  <a:pt x="94074" y="53668"/>
                  <a:pt x="94074" y="94074"/>
                </a:cubicBezTo>
                <a:lnTo>
                  <a:pt x="94074" y="156790"/>
                </a:lnTo>
                <a:cubicBezTo>
                  <a:pt x="94074" y="162572"/>
                  <a:pt x="89403" y="167243"/>
                  <a:pt x="83621" y="167243"/>
                </a:cubicBezTo>
                <a:cubicBezTo>
                  <a:pt x="77840" y="167243"/>
                  <a:pt x="73169" y="162572"/>
                  <a:pt x="73169" y="156790"/>
                </a:cubicBezTo>
                <a:lnTo>
                  <a:pt x="73169" y="104527"/>
                </a:lnTo>
                <a:cubicBezTo>
                  <a:pt x="32763" y="104527"/>
                  <a:pt x="0" y="71764"/>
                  <a:pt x="0" y="31358"/>
                </a:cubicBezTo>
                <a:close/>
              </a:path>
            </a:pathLst>
          </a:custGeom>
          <a:solidFill>
            <a:srgbClr val="FFFFFF"/>
          </a:solidFill>
          <a:ln/>
        </p:spPr>
      </p:sp>
      <p:sp>
        <p:nvSpPr>
          <p:cNvPr id="11" name="Text 9"/>
          <p:cNvSpPr/>
          <p:nvPr/>
        </p:nvSpPr>
        <p:spPr>
          <a:xfrm>
            <a:off x="568626"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Pioneer Stage</a:t>
            </a:r>
            <a:endParaRPr lang="en-US" sz="1600" dirty="0"/>
          </a:p>
        </p:txBody>
      </p:sp>
      <p:sp>
        <p:nvSpPr>
          <p:cNvPr id="12" name="Text 10"/>
          <p:cNvSpPr/>
          <p:nvPr/>
        </p:nvSpPr>
        <p:spPr>
          <a:xfrm>
            <a:off x="572807"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Fast-growing, light-demanding species colonize gaps</a:t>
            </a:r>
            <a:endParaRPr lang="en-US" sz="1600" dirty="0"/>
          </a:p>
        </p:txBody>
      </p:sp>
      <p:sp>
        <p:nvSpPr>
          <p:cNvPr id="13" name="Shape 11"/>
          <p:cNvSpPr/>
          <p:nvPr/>
        </p:nvSpPr>
        <p:spPr>
          <a:xfrm>
            <a:off x="2705610"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8FB7AC">
              <a:alpha val="10196"/>
            </a:srgbClr>
          </a:solidFill>
          <a:ln/>
        </p:spPr>
      </p:sp>
      <p:sp>
        <p:nvSpPr>
          <p:cNvPr id="14" name="Shape 12"/>
          <p:cNvSpPr/>
          <p:nvPr/>
        </p:nvSpPr>
        <p:spPr>
          <a:xfrm>
            <a:off x="3556653"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8FB7AC"/>
          </a:solidFill>
          <a:ln/>
        </p:spPr>
      </p:sp>
      <p:sp>
        <p:nvSpPr>
          <p:cNvPr id="15" name="Shape 13"/>
          <p:cNvSpPr/>
          <p:nvPr/>
        </p:nvSpPr>
        <p:spPr>
          <a:xfrm>
            <a:off x="3684176" y="2659160"/>
            <a:ext cx="146337" cy="167243"/>
          </a:xfrm>
          <a:custGeom>
            <a:avLst/>
            <a:gdLst/>
            <a:ahLst/>
            <a:cxnLst/>
            <a:rect l="l" t="t" r="r" b="b"/>
            <a:pathLst>
              <a:path w="146337" h="167243">
                <a:moveTo>
                  <a:pt x="73169" y="-10453"/>
                </a:moveTo>
                <a:cubicBezTo>
                  <a:pt x="75455" y="-10453"/>
                  <a:pt x="77644" y="-9440"/>
                  <a:pt x="79146" y="-7676"/>
                </a:cubicBezTo>
                <a:lnTo>
                  <a:pt x="123570" y="44587"/>
                </a:lnTo>
                <a:cubicBezTo>
                  <a:pt x="125563" y="46906"/>
                  <a:pt x="125987" y="50173"/>
                  <a:pt x="124713" y="52949"/>
                </a:cubicBezTo>
                <a:cubicBezTo>
                  <a:pt x="123440" y="55726"/>
                  <a:pt x="120663" y="57490"/>
                  <a:pt x="117593" y="57490"/>
                </a:cubicBezTo>
                <a:lnTo>
                  <a:pt x="109459" y="57490"/>
                </a:lnTo>
                <a:lnTo>
                  <a:pt x="134023" y="86398"/>
                </a:lnTo>
                <a:cubicBezTo>
                  <a:pt x="136015" y="88717"/>
                  <a:pt x="136440" y="91984"/>
                  <a:pt x="135166" y="94760"/>
                </a:cubicBezTo>
                <a:cubicBezTo>
                  <a:pt x="133892" y="97537"/>
                  <a:pt x="131116" y="99300"/>
                  <a:pt x="128045" y="99300"/>
                </a:cubicBezTo>
                <a:lnTo>
                  <a:pt x="115469" y="99300"/>
                </a:lnTo>
                <a:lnTo>
                  <a:pt x="144476" y="133435"/>
                </a:lnTo>
                <a:cubicBezTo>
                  <a:pt x="146468" y="135754"/>
                  <a:pt x="146893" y="139021"/>
                  <a:pt x="145619" y="141797"/>
                </a:cubicBezTo>
                <a:cubicBezTo>
                  <a:pt x="144345" y="144574"/>
                  <a:pt x="141568" y="146337"/>
                  <a:pt x="138498" y="146337"/>
                </a:cubicBezTo>
                <a:lnTo>
                  <a:pt x="83621" y="146337"/>
                </a:lnTo>
                <a:lnTo>
                  <a:pt x="83621" y="167243"/>
                </a:lnTo>
                <a:cubicBezTo>
                  <a:pt x="83621" y="173024"/>
                  <a:pt x="78950" y="177695"/>
                  <a:pt x="73169" y="177695"/>
                </a:cubicBezTo>
                <a:cubicBezTo>
                  <a:pt x="67387" y="177695"/>
                  <a:pt x="62716" y="173024"/>
                  <a:pt x="62716" y="167243"/>
                </a:cubicBezTo>
                <a:lnTo>
                  <a:pt x="62716" y="146337"/>
                </a:lnTo>
                <a:lnTo>
                  <a:pt x="7840" y="146337"/>
                </a:lnTo>
                <a:cubicBezTo>
                  <a:pt x="4769" y="146337"/>
                  <a:pt x="1993" y="144574"/>
                  <a:pt x="719" y="141797"/>
                </a:cubicBezTo>
                <a:cubicBezTo>
                  <a:pt x="-555" y="139021"/>
                  <a:pt x="-131" y="135754"/>
                  <a:pt x="1862" y="133435"/>
                </a:cubicBezTo>
                <a:lnTo>
                  <a:pt x="30868" y="99300"/>
                </a:lnTo>
                <a:lnTo>
                  <a:pt x="18292" y="99300"/>
                </a:lnTo>
                <a:cubicBezTo>
                  <a:pt x="15222" y="99300"/>
                  <a:pt x="12445" y="97537"/>
                  <a:pt x="11171" y="94760"/>
                </a:cubicBezTo>
                <a:cubicBezTo>
                  <a:pt x="9897" y="91984"/>
                  <a:pt x="10322" y="88717"/>
                  <a:pt x="12315" y="86398"/>
                </a:cubicBezTo>
                <a:lnTo>
                  <a:pt x="36878" y="57490"/>
                </a:lnTo>
                <a:lnTo>
                  <a:pt x="28745" y="57490"/>
                </a:lnTo>
                <a:cubicBezTo>
                  <a:pt x="25674" y="57490"/>
                  <a:pt x="22898" y="55726"/>
                  <a:pt x="21624" y="52949"/>
                </a:cubicBezTo>
                <a:cubicBezTo>
                  <a:pt x="20350" y="50173"/>
                  <a:pt x="20775" y="46906"/>
                  <a:pt x="22767" y="44587"/>
                </a:cubicBezTo>
                <a:lnTo>
                  <a:pt x="67191" y="-7676"/>
                </a:lnTo>
                <a:cubicBezTo>
                  <a:pt x="68694" y="-9440"/>
                  <a:pt x="70882" y="-10453"/>
                  <a:pt x="73169" y="-10453"/>
                </a:cubicBezTo>
                <a:close/>
              </a:path>
            </a:pathLst>
          </a:custGeom>
          <a:solidFill>
            <a:srgbClr val="FFFFFF"/>
          </a:solidFill>
          <a:ln/>
        </p:spPr>
      </p:sp>
      <p:sp>
        <p:nvSpPr>
          <p:cNvPr id="16" name="Text 14"/>
          <p:cNvSpPr/>
          <p:nvPr/>
        </p:nvSpPr>
        <p:spPr>
          <a:xfrm>
            <a:off x="2772507"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Mid-Successional</a:t>
            </a:r>
            <a:endParaRPr lang="en-US" sz="1600" dirty="0"/>
          </a:p>
        </p:txBody>
      </p:sp>
      <p:sp>
        <p:nvSpPr>
          <p:cNvPr id="17" name="Text 15"/>
          <p:cNvSpPr/>
          <p:nvPr/>
        </p:nvSpPr>
        <p:spPr>
          <a:xfrm>
            <a:off x="2776688"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Intermediate shade-tolerant species establish</a:t>
            </a:r>
            <a:endParaRPr lang="en-US" sz="1600" dirty="0"/>
          </a:p>
        </p:txBody>
      </p:sp>
      <p:sp>
        <p:nvSpPr>
          <p:cNvPr id="18" name="Shape 16"/>
          <p:cNvSpPr/>
          <p:nvPr/>
        </p:nvSpPr>
        <p:spPr>
          <a:xfrm>
            <a:off x="4909491" y="2441745"/>
            <a:ext cx="2107259" cy="1237597"/>
          </a:xfrm>
          <a:custGeom>
            <a:avLst/>
            <a:gdLst/>
            <a:ahLst/>
            <a:cxnLst/>
            <a:rect l="l" t="t" r="r" b="b"/>
            <a:pathLst>
              <a:path w="2107259" h="1237597">
                <a:moveTo>
                  <a:pt x="66892" y="0"/>
                </a:moveTo>
                <a:lnTo>
                  <a:pt x="2040367" y="0"/>
                </a:lnTo>
                <a:cubicBezTo>
                  <a:pt x="2077311" y="0"/>
                  <a:pt x="2107259" y="29949"/>
                  <a:pt x="2107259" y="66892"/>
                </a:cubicBezTo>
                <a:lnTo>
                  <a:pt x="2107259" y="1170705"/>
                </a:lnTo>
                <a:cubicBezTo>
                  <a:pt x="2107259" y="1207648"/>
                  <a:pt x="2077311" y="1237597"/>
                  <a:pt x="2040367" y="1237597"/>
                </a:cubicBezTo>
                <a:lnTo>
                  <a:pt x="66892" y="1237597"/>
                </a:lnTo>
                <a:cubicBezTo>
                  <a:pt x="29949" y="1237597"/>
                  <a:pt x="0" y="1207648"/>
                  <a:pt x="0" y="1170705"/>
                </a:cubicBezTo>
                <a:lnTo>
                  <a:pt x="0" y="66892"/>
                </a:lnTo>
                <a:cubicBezTo>
                  <a:pt x="0" y="29949"/>
                  <a:pt x="29949" y="0"/>
                  <a:pt x="66892" y="0"/>
                </a:cubicBezTo>
                <a:close/>
              </a:path>
            </a:pathLst>
          </a:custGeom>
          <a:solidFill>
            <a:srgbClr val="5F6F6B">
              <a:alpha val="10196"/>
            </a:srgbClr>
          </a:solidFill>
          <a:ln/>
        </p:spPr>
      </p:sp>
      <p:sp>
        <p:nvSpPr>
          <p:cNvPr id="19" name="Shape 17"/>
          <p:cNvSpPr/>
          <p:nvPr/>
        </p:nvSpPr>
        <p:spPr>
          <a:xfrm>
            <a:off x="5760534" y="2542091"/>
            <a:ext cx="401383" cy="401383"/>
          </a:xfrm>
          <a:custGeom>
            <a:avLst/>
            <a:gdLst/>
            <a:ahLst/>
            <a:cxnLst/>
            <a:rect l="l" t="t" r="r" b="b"/>
            <a:pathLst>
              <a:path w="401383" h="401383">
                <a:moveTo>
                  <a:pt x="200691" y="0"/>
                </a:moveTo>
                <a:lnTo>
                  <a:pt x="200691" y="0"/>
                </a:lnTo>
                <a:cubicBezTo>
                  <a:pt x="311456" y="0"/>
                  <a:pt x="401383" y="89927"/>
                  <a:pt x="401383" y="200691"/>
                </a:cubicBezTo>
                <a:lnTo>
                  <a:pt x="401383" y="200691"/>
                </a:lnTo>
                <a:cubicBezTo>
                  <a:pt x="401383" y="311456"/>
                  <a:pt x="311456" y="401383"/>
                  <a:pt x="200691" y="401383"/>
                </a:cubicBezTo>
                <a:lnTo>
                  <a:pt x="200691" y="401383"/>
                </a:lnTo>
                <a:cubicBezTo>
                  <a:pt x="89927" y="401383"/>
                  <a:pt x="0" y="311456"/>
                  <a:pt x="0" y="200691"/>
                </a:cubicBezTo>
                <a:lnTo>
                  <a:pt x="0" y="200691"/>
                </a:lnTo>
                <a:cubicBezTo>
                  <a:pt x="0" y="89927"/>
                  <a:pt x="89927" y="0"/>
                  <a:pt x="200691" y="0"/>
                </a:cubicBezTo>
                <a:close/>
              </a:path>
            </a:pathLst>
          </a:custGeom>
          <a:solidFill>
            <a:srgbClr val="5F6F6B"/>
          </a:solidFill>
          <a:ln/>
        </p:spPr>
      </p:sp>
      <p:sp>
        <p:nvSpPr>
          <p:cNvPr id="20" name="Shape 18"/>
          <p:cNvSpPr/>
          <p:nvPr/>
        </p:nvSpPr>
        <p:spPr>
          <a:xfrm>
            <a:off x="5877604" y="2659160"/>
            <a:ext cx="167243" cy="167243"/>
          </a:xfrm>
          <a:custGeom>
            <a:avLst/>
            <a:gdLst/>
            <a:ahLst/>
            <a:cxnLst/>
            <a:rect l="l" t="t" r="r" b="b"/>
            <a:pathLst>
              <a:path w="167243" h="167243">
                <a:moveTo>
                  <a:pt x="21526" y="74639"/>
                </a:moveTo>
                <a:cubicBezTo>
                  <a:pt x="25870" y="44261"/>
                  <a:pt x="52035" y="20905"/>
                  <a:pt x="83621" y="20905"/>
                </a:cubicBezTo>
                <a:cubicBezTo>
                  <a:pt x="100934" y="20905"/>
                  <a:pt x="116613" y="27928"/>
                  <a:pt x="127980" y="39263"/>
                </a:cubicBezTo>
                <a:cubicBezTo>
                  <a:pt x="128045" y="39328"/>
                  <a:pt x="128111" y="39394"/>
                  <a:pt x="128176" y="39459"/>
                </a:cubicBezTo>
                <a:lnTo>
                  <a:pt x="130658" y="41811"/>
                </a:lnTo>
                <a:lnTo>
                  <a:pt x="115012" y="41811"/>
                </a:lnTo>
                <a:cubicBezTo>
                  <a:pt x="109230" y="41811"/>
                  <a:pt x="104559" y="46482"/>
                  <a:pt x="104559" y="52263"/>
                </a:cubicBezTo>
                <a:cubicBezTo>
                  <a:pt x="104559" y="58045"/>
                  <a:pt x="109230" y="62716"/>
                  <a:pt x="115012" y="62716"/>
                </a:cubicBezTo>
                <a:lnTo>
                  <a:pt x="156823" y="62716"/>
                </a:lnTo>
                <a:cubicBezTo>
                  <a:pt x="162604" y="62716"/>
                  <a:pt x="167275" y="58045"/>
                  <a:pt x="167275" y="52263"/>
                </a:cubicBezTo>
                <a:lnTo>
                  <a:pt x="167275" y="10453"/>
                </a:lnTo>
                <a:cubicBezTo>
                  <a:pt x="167275" y="4671"/>
                  <a:pt x="162604" y="0"/>
                  <a:pt x="156823" y="0"/>
                </a:cubicBezTo>
                <a:cubicBezTo>
                  <a:pt x="151041" y="0"/>
                  <a:pt x="146370" y="4671"/>
                  <a:pt x="146370" y="10453"/>
                </a:cubicBezTo>
                <a:lnTo>
                  <a:pt x="146370" y="27896"/>
                </a:lnTo>
                <a:lnTo>
                  <a:pt x="142679" y="24400"/>
                </a:lnTo>
                <a:cubicBezTo>
                  <a:pt x="127555" y="9342"/>
                  <a:pt x="106650" y="0"/>
                  <a:pt x="83621" y="0"/>
                </a:cubicBezTo>
                <a:cubicBezTo>
                  <a:pt x="41484" y="0"/>
                  <a:pt x="6631" y="31162"/>
                  <a:pt x="849" y="71699"/>
                </a:cubicBezTo>
                <a:cubicBezTo>
                  <a:pt x="33" y="77415"/>
                  <a:pt x="3985" y="82707"/>
                  <a:pt x="9701" y="83523"/>
                </a:cubicBezTo>
                <a:cubicBezTo>
                  <a:pt x="15418" y="84340"/>
                  <a:pt x="20709" y="80355"/>
                  <a:pt x="21526" y="74671"/>
                </a:cubicBezTo>
                <a:close/>
                <a:moveTo>
                  <a:pt x="166394" y="95544"/>
                </a:moveTo>
                <a:cubicBezTo>
                  <a:pt x="167210" y="89828"/>
                  <a:pt x="163225" y="84536"/>
                  <a:pt x="157541" y="83719"/>
                </a:cubicBezTo>
                <a:cubicBezTo>
                  <a:pt x="151858" y="82903"/>
                  <a:pt x="146533" y="86888"/>
                  <a:pt x="145717" y="92572"/>
                </a:cubicBezTo>
                <a:cubicBezTo>
                  <a:pt x="141372" y="122950"/>
                  <a:pt x="115208" y="146305"/>
                  <a:pt x="83621" y="146305"/>
                </a:cubicBezTo>
                <a:cubicBezTo>
                  <a:pt x="66309" y="146305"/>
                  <a:pt x="50630" y="139282"/>
                  <a:pt x="39263" y="127947"/>
                </a:cubicBezTo>
                <a:cubicBezTo>
                  <a:pt x="39198" y="127882"/>
                  <a:pt x="39132" y="127817"/>
                  <a:pt x="39067" y="127751"/>
                </a:cubicBezTo>
                <a:lnTo>
                  <a:pt x="36584" y="125399"/>
                </a:lnTo>
                <a:lnTo>
                  <a:pt x="52231" y="125399"/>
                </a:lnTo>
                <a:cubicBezTo>
                  <a:pt x="58012" y="125399"/>
                  <a:pt x="62683" y="120728"/>
                  <a:pt x="62683" y="114947"/>
                </a:cubicBezTo>
                <a:cubicBezTo>
                  <a:pt x="62683" y="109165"/>
                  <a:pt x="58012" y="104494"/>
                  <a:pt x="52231" y="104494"/>
                </a:cubicBezTo>
                <a:lnTo>
                  <a:pt x="10453" y="104527"/>
                </a:lnTo>
                <a:cubicBezTo>
                  <a:pt x="7676" y="104527"/>
                  <a:pt x="4998" y="105637"/>
                  <a:pt x="3038" y="107630"/>
                </a:cubicBezTo>
                <a:cubicBezTo>
                  <a:pt x="1078" y="109622"/>
                  <a:pt x="-33" y="112268"/>
                  <a:pt x="0" y="115077"/>
                </a:cubicBezTo>
                <a:lnTo>
                  <a:pt x="327" y="156561"/>
                </a:lnTo>
                <a:cubicBezTo>
                  <a:pt x="359" y="162343"/>
                  <a:pt x="5096" y="166981"/>
                  <a:pt x="10877" y="166916"/>
                </a:cubicBezTo>
                <a:cubicBezTo>
                  <a:pt x="16659" y="166851"/>
                  <a:pt x="21297" y="162147"/>
                  <a:pt x="21232" y="156365"/>
                </a:cubicBezTo>
                <a:lnTo>
                  <a:pt x="21101" y="139543"/>
                </a:lnTo>
                <a:lnTo>
                  <a:pt x="24596" y="142842"/>
                </a:lnTo>
                <a:cubicBezTo>
                  <a:pt x="39720" y="157901"/>
                  <a:pt x="60593" y="167243"/>
                  <a:pt x="83621" y="167243"/>
                </a:cubicBezTo>
                <a:cubicBezTo>
                  <a:pt x="125759" y="167243"/>
                  <a:pt x="160612" y="136081"/>
                  <a:pt x="166394" y="95544"/>
                </a:cubicBezTo>
                <a:close/>
              </a:path>
            </a:pathLst>
          </a:custGeom>
          <a:solidFill>
            <a:srgbClr val="FFFFFF"/>
          </a:solidFill>
          <a:ln/>
        </p:spPr>
      </p:sp>
      <p:sp>
        <p:nvSpPr>
          <p:cNvPr id="21" name="Text 19"/>
          <p:cNvSpPr/>
          <p:nvPr/>
        </p:nvSpPr>
        <p:spPr>
          <a:xfrm>
            <a:off x="4976388" y="3010370"/>
            <a:ext cx="1973465" cy="200691"/>
          </a:xfrm>
          <a:prstGeom prst="rect">
            <a:avLst/>
          </a:prstGeom>
          <a:noFill/>
          <a:ln/>
        </p:spPr>
        <p:txBody>
          <a:bodyPr wrap="square" lIns="0" tIns="0" rIns="0" bIns="0" rtlCol="0" anchor="ctr"/>
          <a:lstStyle/>
          <a:p>
            <a:pPr algn="ct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Late-Successional</a:t>
            </a:r>
            <a:endParaRPr lang="en-US" sz="1600" dirty="0"/>
          </a:p>
        </p:txBody>
      </p:sp>
      <p:sp>
        <p:nvSpPr>
          <p:cNvPr id="22" name="Text 20"/>
          <p:cNvSpPr/>
          <p:nvPr/>
        </p:nvSpPr>
        <p:spPr>
          <a:xfrm>
            <a:off x="4980569" y="3244510"/>
            <a:ext cx="1965103" cy="334486"/>
          </a:xfrm>
          <a:prstGeom prst="rect">
            <a:avLst/>
          </a:prstGeom>
          <a:noFill/>
          <a:ln/>
        </p:spPr>
        <p:txBody>
          <a:bodyPr wrap="square" lIns="0" tIns="0" rIns="0" bIns="0" rtlCol="0" anchor="ctr"/>
          <a:lstStyle/>
          <a:p>
            <a:pPr algn="ct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Shade-tolerant climax species dominate</a:t>
            </a:r>
            <a:endParaRPr lang="en-US" sz="1600" dirty="0"/>
          </a:p>
        </p:txBody>
      </p:sp>
      <p:sp>
        <p:nvSpPr>
          <p:cNvPr id="23" name="Shape 21"/>
          <p:cNvSpPr/>
          <p:nvPr/>
        </p:nvSpPr>
        <p:spPr>
          <a:xfrm>
            <a:off x="334486" y="3980379"/>
            <a:ext cx="6848593" cy="2684247"/>
          </a:xfrm>
          <a:custGeom>
            <a:avLst/>
            <a:gdLst/>
            <a:ahLst/>
            <a:cxnLst/>
            <a:rect l="l" t="t" r="r" b="b"/>
            <a:pathLst>
              <a:path w="6848593" h="2684247">
                <a:moveTo>
                  <a:pt x="100337" y="0"/>
                </a:moveTo>
                <a:lnTo>
                  <a:pt x="6748255" y="0"/>
                </a:lnTo>
                <a:cubicBezTo>
                  <a:pt x="6803670" y="0"/>
                  <a:pt x="6848593" y="44922"/>
                  <a:pt x="6848593" y="100337"/>
                </a:cubicBezTo>
                <a:lnTo>
                  <a:pt x="6848593" y="2583910"/>
                </a:lnTo>
                <a:cubicBezTo>
                  <a:pt x="6848593" y="2639324"/>
                  <a:pt x="6803670" y="2684247"/>
                  <a:pt x="6748255" y="2684247"/>
                </a:cubicBezTo>
                <a:lnTo>
                  <a:pt x="100337" y="2684247"/>
                </a:lnTo>
                <a:cubicBezTo>
                  <a:pt x="44922" y="2684247"/>
                  <a:pt x="0" y="2639324"/>
                  <a:pt x="0" y="2583910"/>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24" name="Text 22"/>
          <p:cNvSpPr/>
          <p:nvPr/>
        </p:nvSpPr>
        <p:spPr>
          <a:xfrm>
            <a:off x="501728" y="4147621"/>
            <a:ext cx="6597728" cy="234140"/>
          </a:xfrm>
          <a:prstGeom prst="rect">
            <a:avLst/>
          </a:prstGeom>
          <a:noFill/>
          <a:ln/>
        </p:spPr>
        <p:txBody>
          <a:bodyPr wrap="square" lIns="0" tIns="0" rIns="0" bIns="0" rtlCol="0" anchor="ctr"/>
          <a:lstStyle/>
          <a:p>
            <a:pPr>
              <a:lnSpc>
                <a:spcPct val="120000"/>
              </a:lnSpc>
            </a:pPr>
            <a:r>
              <a:rPr lang="en-US" sz="1317" b="1" dirty="0">
                <a:solidFill>
                  <a:srgbClr val="2F3E3B"/>
                </a:solidFill>
                <a:latin typeface="Sorts Mill Goudy" pitchFamily="34" charset="0"/>
                <a:ea typeface="Sorts Mill Goudy" pitchFamily="34" charset="-122"/>
                <a:cs typeface="Sorts Mill Goudy" pitchFamily="34" charset="-120"/>
              </a:rPr>
              <a:t>Ontogenetic Strategies</a:t>
            </a:r>
            <a:endParaRPr lang="en-US" sz="1600" dirty="0"/>
          </a:p>
        </p:txBody>
      </p:sp>
      <p:sp>
        <p:nvSpPr>
          <p:cNvPr id="25" name="Text 23"/>
          <p:cNvSpPr/>
          <p:nvPr/>
        </p:nvSpPr>
        <p:spPr>
          <a:xfrm>
            <a:off x="501728" y="4482107"/>
            <a:ext cx="6581004" cy="217416"/>
          </a:xfrm>
          <a:prstGeom prst="rect">
            <a:avLst/>
          </a:prstGeom>
          <a:noFill/>
          <a:ln/>
        </p:spPr>
        <p:txBody>
          <a:bodyPr wrap="square" lIns="0" tIns="0" rIns="0" bIns="0" rtlCol="0" anchor="ctr"/>
          <a:lstStyle/>
          <a:p>
            <a:pPr>
              <a:lnSpc>
                <a:spcPct val="140000"/>
              </a:lnSpc>
            </a:pPr>
            <a:r>
              <a:rPr lang="en-US" sz="1054" dirty="0">
                <a:solidFill>
                  <a:srgbClr val="1F2A28"/>
                </a:solidFill>
                <a:latin typeface="Quattrocento Sans" pitchFamily="34" charset="0"/>
                <a:ea typeface="Quattrocento Sans" pitchFamily="34" charset="-122"/>
                <a:cs typeface="Quattrocento Sans" pitchFamily="34" charset="-120"/>
              </a:rPr>
              <a:t>Tree species employ different regeneration strategies based on their shade tolerance and growth patterns:</a:t>
            </a:r>
            <a:endParaRPr lang="en-US" sz="1600" dirty="0"/>
          </a:p>
        </p:txBody>
      </p:sp>
      <p:sp>
        <p:nvSpPr>
          <p:cNvPr id="26" name="Shape 24"/>
          <p:cNvSpPr/>
          <p:nvPr/>
        </p:nvSpPr>
        <p:spPr>
          <a:xfrm>
            <a:off x="501728"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4C8A7A">
              <a:alpha val="10196"/>
            </a:srgbClr>
          </a:solidFill>
          <a:ln/>
        </p:spPr>
      </p:sp>
      <p:sp>
        <p:nvSpPr>
          <p:cNvPr id="27" name="Shape 25"/>
          <p:cNvSpPr/>
          <p:nvPr/>
        </p:nvSpPr>
        <p:spPr>
          <a:xfrm>
            <a:off x="643885" y="5000560"/>
            <a:ext cx="150519" cy="133794"/>
          </a:xfrm>
          <a:custGeom>
            <a:avLst/>
            <a:gdLst/>
            <a:ahLst/>
            <a:cxnLst/>
            <a:rect l="l" t="t" r="r" b="b"/>
            <a:pathLst>
              <a:path w="150519" h="133794">
                <a:moveTo>
                  <a:pt x="46567" y="-2639"/>
                </a:moveTo>
                <a:cubicBezTo>
                  <a:pt x="48500" y="-3449"/>
                  <a:pt x="50695" y="-3214"/>
                  <a:pt x="52446" y="-2064"/>
                </a:cubicBezTo>
                <a:lnTo>
                  <a:pt x="75390" y="13144"/>
                </a:lnTo>
                <a:lnTo>
                  <a:pt x="98334" y="-2064"/>
                </a:lnTo>
                <a:cubicBezTo>
                  <a:pt x="100084" y="-3214"/>
                  <a:pt x="102279" y="-3423"/>
                  <a:pt x="104213" y="-2639"/>
                </a:cubicBezTo>
                <a:cubicBezTo>
                  <a:pt x="106147" y="-1855"/>
                  <a:pt x="107506" y="-131"/>
                  <a:pt x="107924" y="1908"/>
                </a:cubicBezTo>
                <a:lnTo>
                  <a:pt x="113385" y="28876"/>
                </a:lnTo>
                <a:lnTo>
                  <a:pt x="140353" y="34337"/>
                </a:lnTo>
                <a:cubicBezTo>
                  <a:pt x="142392" y="34755"/>
                  <a:pt x="144116" y="36166"/>
                  <a:pt x="144900" y="38074"/>
                </a:cubicBezTo>
                <a:cubicBezTo>
                  <a:pt x="145684" y="39981"/>
                  <a:pt x="145475" y="42203"/>
                  <a:pt x="144325" y="43953"/>
                </a:cubicBezTo>
                <a:lnTo>
                  <a:pt x="129117" y="66897"/>
                </a:lnTo>
                <a:lnTo>
                  <a:pt x="144325" y="89841"/>
                </a:lnTo>
                <a:cubicBezTo>
                  <a:pt x="145475" y="91592"/>
                  <a:pt x="145684" y="93787"/>
                  <a:pt x="144900" y="95720"/>
                </a:cubicBezTo>
                <a:cubicBezTo>
                  <a:pt x="144116" y="97654"/>
                  <a:pt x="142392" y="99065"/>
                  <a:pt x="140353" y="99457"/>
                </a:cubicBezTo>
                <a:lnTo>
                  <a:pt x="113359" y="104893"/>
                </a:lnTo>
                <a:lnTo>
                  <a:pt x="107924" y="131887"/>
                </a:lnTo>
                <a:cubicBezTo>
                  <a:pt x="107506" y="133925"/>
                  <a:pt x="106095" y="135650"/>
                  <a:pt x="104187" y="136434"/>
                </a:cubicBezTo>
                <a:cubicBezTo>
                  <a:pt x="102279" y="137217"/>
                  <a:pt x="100058" y="137008"/>
                  <a:pt x="98307" y="135859"/>
                </a:cubicBezTo>
                <a:lnTo>
                  <a:pt x="75364" y="120650"/>
                </a:lnTo>
                <a:lnTo>
                  <a:pt x="52420" y="135859"/>
                </a:lnTo>
                <a:cubicBezTo>
                  <a:pt x="50669" y="137008"/>
                  <a:pt x="48474" y="137217"/>
                  <a:pt x="46541" y="136434"/>
                </a:cubicBezTo>
                <a:cubicBezTo>
                  <a:pt x="44607" y="135650"/>
                  <a:pt x="43196" y="133925"/>
                  <a:pt x="42804" y="131887"/>
                </a:cubicBezTo>
                <a:lnTo>
                  <a:pt x="37368" y="104893"/>
                </a:lnTo>
                <a:lnTo>
                  <a:pt x="10374" y="99431"/>
                </a:lnTo>
                <a:cubicBezTo>
                  <a:pt x="8336" y="99013"/>
                  <a:pt x="6611" y="97602"/>
                  <a:pt x="5827" y="95694"/>
                </a:cubicBezTo>
                <a:cubicBezTo>
                  <a:pt x="5043" y="93787"/>
                  <a:pt x="5252" y="91565"/>
                  <a:pt x="6402" y="89815"/>
                </a:cubicBezTo>
                <a:lnTo>
                  <a:pt x="21611" y="66897"/>
                </a:lnTo>
                <a:lnTo>
                  <a:pt x="6402" y="43953"/>
                </a:lnTo>
                <a:cubicBezTo>
                  <a:pt x="5252" y="42203"/>
                  <a:pt x="5043" y="40008"/>
                  <a:pt x="5827" y="38074"/>
                </a:cubicBezTo>
                <a:cubicBezTo>
                  <a:pt x="6611" y="36140"/>
                  <a:pt x="8336" y="34729"/>
                  <a:pt x="10374" y="34337"/>
                </a:cubicBezTo>
                <a:lnTo>
                  <a:pt x="37368" y="28902"/>
                </a:lnTo>
                <a:lnTo>
                  <a:pt x="42830" y="1908"/>
                </a:lnTo>
                <a:cubicBezTo>
                  <a:pt x="43248" y="-131"/>
                  <a:pt x="44659" y="-1855"/>
                  <a:pt x="46567" y="-2639"/>
                </a:cubicBezTo>
                <a:close/>
                <a:moveTo>
                  <a:pt x="54249" y="66897"/>
                </a:moveTo>
                <a:cubicBezTo>
                  <a:pt x="54249" y="59391"/>
                  <a:pt x="58254" y="52455"/>
                  <a:pt x="64754" y="48702"/>
                </a:cubicBezTo>
                <a:cubicBezTo>
                  <a:pt x="71255" y="44949"/>
                  <a:pt x="79264" y="44949"/>
                  <a:pt x="85764" y="48702"/>
                </a:cubicBezTo>
                <a:cubicBezTo>
                  <a:pt x="92265" y="52455"/>
                  <a:pt x="96269" y="59391"/>
                  <a:pt x="96269" y="66897"/>
                </a:cubicBezTo>
                <a:cubicBezTo>
                  <a:pt x="96269" y="78493"/>
                  <a:pt x="86855" y="87907"/>
                  <a:pt x="75259" y="87907"/>
                </a:cubicBezTo>
                <a:cubicBezTo>
                  <a:pt x="63664" y="87907"/>
                  <a:pt x="54249" y="78493"/>
                  <a:pt x="54249" y="66897"/>
                </a:cubicBezTo>
                <a:close/>
                <a:moveTo>
                  <a:pt x="108812" y="66897"/>
                </a:moveTo>
                <a:cubicBezTo>
                  <a:pt x="108812" y="48379"/>
                  <a:pt x="93778" y="33344"/>
                  <a:pt x="75259" y="33344"/>
                </a:cubicBezTo>
                <a:cubicBezTo>
                  <a:pt x="56741" y="33344"/>
                  <a:pt x="41706" y="48379"/>
                  <a:pt x="41706" y="66897"/>
                </a:cubicBezTo>
                <a:cubicBezTo>
                  <a:pt x="41706" y="78884"/>
                  <a:pt x="48101" y="89961"/>
                  <a:pt x="58483" y="95955"/>
                </a:cubicBezTo>
                <a:cubicBezTo>
                  <a:pt x="68864" y="101949"/>
                  <a:pt x="81654" y="101949"/>
                  <a:pt x="92036" y="95955"/>
                </a:cubicBezTo>
                <a:cubicBezTo>
                  <a:pt x="102417" y="89961"/>
                  <a:pt x="108812" y="78884"/>
                  <a:pt x="108812" y="66897"/>
                </a:cubicBezTo>
                <a:close/>
              </a:path>
            </a:pathLst>
          </a:custGeom>
          <a:solidFill>
            <a:srgbClr val="4C8A7A"/>
          </a:solidFill>
          <a:ln/>
        </p:spPr>
      </p:sp>
      <p:sp>
        <p:nvSpPr>
          <p:cNvPr id="28" name="Text 26"/>
          <p:cNvSpPr/>
          <p:nvPr/>
        </p:nvSpPr>
        <p:spPr>
          <a:xfrm>
            <a:off x="802765"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Shade-Intolerant</a:t>
            </a:r>
            <a:endParaRPr lang="en-US" sz="1600" dirty="0"/>
          </a:p>
        </p:txBody>
      </p:sp>
      <p:sp>
        <p:nvSpPr>
          <p:cNvPr id="29" name="Text 27"/>
          <p:cNvSpPr/>
          <p:nvPr/>
        </p:nvSpPr>
        <p:spPr>
          <a:xfrm>
            <a:off x="635523"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Require full light for establishment</a:t>
            </a:r>
            <a:endParaRPr lang="en-US" sz="1600" dirty="0"/>
          </a:p>
        </p:txBody>
      </p:sp>
      <p:sp>
        <p:nvSpPr>
          <p:cNvPr id="30" name="Text 28"/>
          <p:cNvSpPr/>
          <p:nvPr/>
        </p:nvSpPr>
        <p:spPr>
          <a:xfrm>
            <a:off x="635523"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Fast initial growth rates</a:t>
            </a:r>
            <a:endParaRPr lang="en-US" sz="1600" dirty="0"/>
          </a:p>
        </p:txBody>
      </p:sp>
      <p:sp>
        <p:nvSpPr>
          <p:cNvPr id="31" name="Text 29"/>
          <p:cNvSpPr/>
          <p:nvPr/>
        </p:nvSpPr>
        <p:spPr>
          <a:xfrm>
            <a:off x="635523"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Depend on large gaps</a:t>
            </a:r>
            <a:endParaRPr lang="en-US" sz="1600" dirty="0"/>
          </a:p>
        </p:txBody>
      </p:sp>
      <p:sp>
        <p:nvSpPr>
          <p:cNvPr id="32" name="Text 30"/>
          <p:cNvSpPr/>
          <p:nvPr/>
        </p:nvSpPr>
        <p:spPr>
          <a:xfrm>
            <a:off x="635523"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Early successional species</a:t>
            </a:r>
            <a:endParaRPr lang="en-US" sz="1600" dirty="0"/>
          </a:p>
        </p:txBody>
      </p:sp>
      <p:sp>
        <p:nvSpPr>
          <p:cNvPr id="33" name="Shape 31"/>
          <p:cNvSpPr/>
          <p:nvPr/>
        </p:nvSpPr>
        <p:spPr>
          <a:xfrm>
            <a:off x="3824242" y="4833317"/>
            <a:ext cx="3185975" cy="1304494"/>
          </a:xfrm>
          <a:custGeom>
            <a:avLst/>
            <a:gdLst/>
            <a:ahLst/>
            <a:cxnLst/>
            <a:rect l="l" t="t" r="r" b="b"/>
            <a:pathLst>
              <a:path w="3185975" h="1304494">
                <a:moveTo>
                  <a:pt x="66894" y="0"/>
                </a:moveTo>
                <a:lnTo>
                  <a:pt x="3119081" y="0"/>
                </a:lnTo>
                <a:cubicBezTo>
                  <a:pt x="3156026" y="0"/>
                  <a:pt x="3185975" y="29950"/>
                  <a:pt x="3185975" y="66894"/>
                </a:cubicBezTo>
                <a:lnTo>
                  <a:pt x="3185975" y="1237599"/>
                </a:lnTo>
                <a:cubicBezTo>
                  <a:pt x="3185975" y="1274544"/>
                  <a:pt x="3156026" y="1304494"/>
                  <a:pt x="3119081" y="1304494"/>
                </a:cubicBezTo>
                <a:lnTo>
                  <a:pt x="66894" y="1304494"/>
                </a:lnTo>
                <a:cubicBezTo>
                  <a:pt x="29950" y="1304494"/>
                  <a:pt x="0" y="1274544"/>
                  <a:pt x="0" y="1237599"/>
                </a:cubicBezTo>
                <a:lnTo>
                  <a:pt x="0" y="66894"/>
                </a:lnTo>
                <a:cubicBezTo>
                  <a:pt x="0" y="29950"/>
                  <a:pt x="29950" y="0"/>
                  <a:pt x="66894" y="0"/>
                </a:cubicBezTo>
                <a:close/>
              </a:path>
            </a:pathLst>
          </a:custGeom>
          <a:solidFill>
            <a:srgbClr val="8FB7AC">
              <a:alpha val="10196"/>
            </a:srgbClr>
          </a:solidFill>
          <a:ln/>
        </p:spPr>
      </p:sp>
      <p:sp>
        <p:nvSpPr>
          <p:cNvPr id="34" name="Shape 32"/>
          <p:cNvSpPr/>
          <p:nvPr/>
        </p:nvSpPr>
        <p:spPr>
          <a:xfrm>
            <a:off x="3966398" y="5000560"/>
            <a:ext cx="150519" cy="133794"/>
          </a:xfrm>
          <a:custGeom>
            <a:avLst/>
            <a:gdLst/>
            <a:ahLst/>
            <a:cxnLst/>
            <a:rect l="l" t="t" r="r" b="b"/>
            <a:pathLst>
              <a:path w="150519" h="133794">
                <a:moveTo>
                  <a:pt x="0" y="87802"/>
                </a:moveTo>
                <a:cubicBezTo>
                  <a:pt x="0" y="108577"/>
                  <a:pt x="16855" y="125432"/>
                  <a:pt x="37630" y="125432"/>
                </a:cubicBezTo>
                <a:lnTo>
                  <a:pt x="117070" y="125432"/>
                </a:lnTo>
                <a:cubicBezTo>
                  <a:pt x="135545" y="125432"/>
                  <a:pt x="150519" y="110459"/>
                  <a:pt x="150519" y="91984"/>
                </a:cubicBezTo>
                <a:cubicBezTo>
                  <a:pt x="150519" y="78500"/>
                  <a:pt x="142548" y="66871"/>
                  <a:pt x="131050" y="61592"/>
                </a:cubicBezTo>
                <a:cubicBezTo>
                  <a:pt x="132801" y="58169"/>
                  <a:pt x="133794" y="54276"/>
                  <a:pt x="133794" y="50173"/>
                </a:cubicBezTo>
                <a:cubicBezTo>
                  <a:pt x="133794" y="36323"/>
                  <a:pt x="122558" y="25086"/>
                  <a:pt x="108708" y="25086"/>
                </a:cubicBezTo>
                <a:cubicBezTo>
                  <a:pt x="104083" y="25086"/>
                  <a:pt x="99771" y="26341"/>
                  <a:pt x="96060" y="28510"/>
                </a:cubicBezTo>
                <a:cubicBezTo>
                  <a:pt x="89762" y="16541"/>
                  <a:pt x="77193" y="8362"/>
                  <a:pt x="62716" y="8362"/>
                </a:cubicBezTo>
                <a:cubicBezTo>
                  <a:pt x="41941" y="8362"/>
                  <a:pt x="25086" y="25217"/>
                  <a:pt x="25086" y="45992"/>
                </a:cubicBezTo>
                <a:cubicBezTo>
                  <a:pt x="25086" y="48082"/>
                  <a:pt x="25269" y="50147"/>
                  <a:pt x="25583" y="52133"/>
                </a:cubicBezTo>
                <a:cubicBezTo>
                  <a:pt x="10714" y="57150"/>
                  <a:pt x="0" y="71235"/>
                  <a:pt x="0" y="87802"/>
                </a:cubicBezTo>
                <a:close/>
              </a:path>
            </a:pathLst>
          </a:custGeom>
          <a:solidFill>
            <a:srgbClr val="8FB7AC"/>
          </a:solidFill>
          <a:ln/>
        </p:spPr>
      </p:sp>
      <p:sp>
        <p:nvSpPr>
          <p:cNvPr id="35" name="Text 33"/>
          <p:cNvSpPr/>
          <p:nvPr/>
        </p:nvSpPr>
        <p:spPr>
          <a:xfrm>
            <a:off x="4125279" y="4967111"/>
            <a:ext cx="2818041" cy="200691"/>
          </a:xfrm>
          <a:prstGeom prst="rect">
            <a:avLst/>
          </a:prstGeom>
          <a:noFill/>
          <a:ln/>
        </p:spPr>
        <p:txBody>
          <a:bodyPr wrap="square" lIns="0" tIns="0" rIns="0" bIns="0" rtlCol="0" anchor="ctr"/>
          <a:lstStyle/>
          <a:p>
            <a:pPr>
              <a:lnSpc>
                <a:spcPct val="130000"/>
              </a:lnSpc>
            </a:pPr>
            <a:r>
              <a:rPr lang="en-US" sz="1054" b="1" dirty="0">
                <a:solidFill>
                  <a:srgbClr val="2F3E3B"/>
                </a:solidFill>
                <a:latin typeface="Quattrocento Sans" pitchFamily="34" charset="0"/>
                <a:ea typeface="Quattrocento Sans" pitchFamily="34" charset="-122"/>
                <a:cs typeface="Quattrocento Sans" pitchFamily="34" charset="-120"/>
              </a:rPr>
              <a:t>Shade-Tolerant</a:t>
            </a:r>
            <a:endParaRPr lang="en-US" sz="1600" dirty="0"/>
          </a:p>
        </p:txBody>
      </p:sp>
      <p:sp>
        <p:nvSpPr>
          <p:cNvPr id="36" name="Text 34"/>
          <p:cNvSpPr/>
          <p:nvPr/>
        </p:nvSpPr>
        <p:spPr>
          <a:xfrm>
            <a:off x="3958036" y="5234700"/>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Can establish under canopy</a:t>
            </a:r>
            <a:endParaRPr lang="en-US" sz="1600" dirty="0"/>
          </a:p>
        </p:txBody>
      </p:sp>
      <p:sp>
        <p:nvSpPr>
          <p:cNvPr id="37" name="Text 35"/>
          <p:cNvSpPr/>
          <p:nvPr/>
        </p:nvSpPr>
        <p:spPr>
          <a:xfrm>
            <a:off x="3958036" y="5435391"/>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Slow but sustained growth</a:t>
            </a:r>
            <a:endParaRPr lang="en-US" sz="1600" dirty="0"/>
          </a:p>
        </p:txBody>
      </p:sp>
      <p:sp>
        <p:nvSpPr>
          <p:cNvPr id="38" name="Text 36"/>
          <p:cNvSpPr/>
          <p:nvPr/>
        </p:nvSpPr>
        <p:spPr>
          <a:xfrm>
            <a:off x="3958036" y="5636082"/>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Survive in small gaps</a:t>
            </a:r>
            <a:endParaRPr lang="en-US" sz="1600" dirty="0"/>
          </a:p>
        </p:txBody>
      </p:sp>
      <p:sp>
        <p:nvSpPr>
          <p:cNvPr id="39" name="Text 37"/>
          <p:cNvSpPr/>
          <p:nvPr/>
        </p:nvSpPr>
        <p:spPr>
          <a:xfrm>
            <a:off x="3958036" y="5836774"/>
            <a:ext cx="2976922" cy="167243"/>
          </a:xfrm>
          <a:prstGeom prst="rect">
            <a:avLst/>
          </a:prstGeom>
          <a:noFill/>
          <a:ln/>
        </p:spPr>
        <p:txBody>
          <a:bodyPr wrap="square" lIns="0" tIns="0" rIns="0" bIns="0" rtlCol="0" anchor="ctr"/>
          <a:lstStyle/>
          <a:p>
            <a:pPr>
              <a:lnSpc>
                <a:spcPct val="120000"/>
              </a:lnSpc>
            </a:pPr>
            <a:r>
              <a:rPr lang="en-US" sz="922" dirty="0">
                <a:solidFill>
                  <a:srgbClr val="5F6F6B"/>
                </a:solidFill>
                <a:latin typeface="Quattrocento Sans" pitchFamily="34" charset="0"/>
                <a:ea typeface="Quattrocento Sans" pitchFamily="34" charset="-122"/>
                <a:cs typeface="Quattrocento Sans" pitchFamily="34" charset="-120"/>
              </a:rPr>
              <a:t>• Late successional species</a:t>
            </a:r>
            <a:endParaRPr lang="en-US" sz="1600" dirty="0"/>
          </a:p>
        </p:txBody>
      </p:sp>
      <p:sp>
        <p:nvSpPr>
          <p:cNvPr id="40" name="Shape 38"/>
          <p:cNvSpPr/>
          <p:nvPr/>
        </p:nvSpPr>
        <p:spPr>
          <a:xfrm>
            <a:off x="7347512" y="1371391"/>
            <a:ext cx="4507193" cy="1990189"/>
          </a:xfrm>
          <a:custGeom>
            <a:avLst/>
            <a:gdLst/>
            <a:ahLst/>
            <a:cxnLst/>
            <a:rect l="l" t="t" r="r" b="b"/>
            <a:pathLst>
              <a:path w="4507193" h="1990189">
                <a:moveTo>
                  <a:pt x="100345" y="0"/>
                </a:moveTo>
                <a:lnTo>
                  <a:pt x="4406848" y="0"/>
                </a:lnTo>
                <a:cubicBezTo>
                  <a:pt x="4462267" y="0"/>
                  <a:pt x="4507193" y="44926"/>
                  <a:pt x="4507193" y="100345"/>
                </a:cubicBezTo>
                <a:lnTo>
                  <a:pt x="4507193" y="1889844"/>
                </a:lnTo>
                <a:cubicBezTo>
                  <a:pt x="4507193" y="1945263"/>
                  <a:pt x="4462267" y="1990189"/>
                  <a:pt x="4406848" y="1990189"/>
                </a:cubicBezTo>
                <a:lnTo>
                  <a:pt x="100345" y="1990189"/>
                </a:lnTo>
                <a:cubicBezTo>
                  <a:pt x="44926" y="1990189"/>
                  <a:pt x="0" y="1945263"/>
                  <a:pt x="0" y="1889844"/>
                </a:cubicBezTo>
                <a:lnTo>
                  <a:pt x="0" y="100345"/>
                </a:lnTo>
                <a:cubicBezTo>
                  <a:pt x="0" y="44963"/>
                  <a:pt x="44963" y="0"/>
                  <a:pt x="100345" y="0"/>
                </a:cubicBezTo>
                <a:close/>
              </a:path>
            </a:pathLst>
          </a:custGeom>
          <a:solidFill>
            <a:srgbClr val="4C8A7A"/>
          </a:solidFill>
          <a:ln/>
        </p:spPr>
      </p:sp>
      <p:sp>
        <p:nvSpPr>
          <p:cNvPr id="41" name="Text 39"/>
          <p:cNvSpPr/>
          <p:nvPr/>
        </p:nvSpPr>
        <p:spPr>
          <a:xfrm>
            <a:off x="7514755" y="1538634"/>
            <a:ext cx="4247967" cy="234140"/>
          </a:xfrm>
          <a:prstGeom prst="rect">
            <a:avLst/>
          </a:prstGeom>
          <a:noFill/>
          <a:ln/>
        </p:spPr>
        <p:txBody>
          <a:bodyPr wrap="square" lIns="0" tIns="0" rIns="0" bIns="0" rtlCol="0" anchor="ctr"/>
          <a:lstStyle/>
          <a:p>
            <a:pPr>
              <a:lnSpc>
                <a:spcPct val="130000"/>
              </a:lnSpc>
            </a:pPr>
            <a:r>
              <a:rPr lang="en-US" sz="1185" b="1" dirty="0">
                <a:solidFill>
                  <a:srgbClr val="FFFFFF"/>
                </a:solidFill>
                <a:latin typeface="Sorts Mill Goudy" pitchFamily="34" charset="0"/>
                <a:ea typeface="Sorts Mill Goudy" pitchFamily="34" charset="-122"/>
                <a:cs typeface="Sorts Mill Goudy" pitchFamily="34" charset="-120"/>
              </a:rPr>
              <a:t>Diversity Maintenance</a:t>
            </a:r>
            <a:endParaRPr lang="en-US" sz="1600" dirty="0"/>
          </a:p>
        </p:txBody>
      </p:sp>
      <p:sp>
        <p:nvSpPr>
          <p:cNvPr id="42" name="Text 40"/>
          <p:cNvSpPr/>
          <p:nvPr/>
        </p:nvSpPr>
        <p:spPr>
          <a:xfrm>
            <a:off x="7514755" y="1873119"/>
            <a:ext cx="4239605" cy="217416"/>
          </a:xfrm>
          <a:prstGeom prst="rect">
            <a:avLst/>
          </a:prstGeom>
          <a:noFill/>
          <a:ln/>
        </p:spPr>
        <p:txBody>
          <a:bodyPr wrap="square" lIns="0" tIns="0" rIns="0" bIns="0" rtlCol="0" anchor="ctr"/>
          <a:lstStyle/>
          <a:p>
            <a:pPr>
              <a:lnSpc>
                <a:spcPct val="140000"/>
              </a:lnSpc>
            </a:pPr>
            <a:r>
              <a:rPr lang="en-US" sz="1054" dirty="0">
                <a:solidFill>
                  <a:srgbClr val="FFFFFF"/>
                </a:solidFill>
                <a:latin typeface="Quattrocento Sans" pitchFamily="34" charset="0"/>
                <a:ea typeface="Quattrocento Sans" pitchFamily="34" charset="-122"/>
                <a:cs typeface="Quattrocento Sans" pitchFamily="34" charset="-120"/>
              </a:rPr>
              <a:t>Gap dynamics prevent competitive exclusion by:</a:t>
            </a:r>
            <a:endParaRPr lang="en-US" sz="1600" dirty="0"/>
          </a:p>
        </p:txBody>
      </p:sp>
      <p:sp>
        <p:nvSpPr>
          <p:cNvPr id="43" name="Shape 41"/>
          <p:cNvSpPr/>
          <p:nvPr/>
        </p:nvSpPr>
        <p:spPr>
          <a:xfrm>
            <a:off x="7531479" y="2224329"/>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4" name="Text 42"/>
          <p:cNvSpPr/>
          <p:nvPr/>
        </p:nvSpPr>
        <p:spPr>
          <a:xfrm>
            <a:off x="7748895" y="2190881"/>
            <a:ext cx="2483556"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Creating opportunities for pioneer species</a:t>
            </a:r>
            <a:endParaRPr lang="en-US" sz="1600" dirty="0"/>
          </a:p>
        </p:txBody>
      </p:sp>
      <p:sp>
        <p:nvSpPr>
          <p:cNvPr id="45" name="Shape 43"/>
          <p:cNvSpPr/>
          <p:nvPr/>
        </p:nvSpPr>
        <p:spPr>
          <a:xfrm>
            <a:off x="7531479" y="2491918"/>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6" name="Text 44"/>
          <p:cNvSpPr/>
          <p:nvPr/>
        </p:nvSpPr>
        <p:spPr>
          <a:xfrm>
            <a:off x="7748895" y="2458469"/>
            <a:ext cx="303545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Allowing late-successional species to reach canopy</a:t>
            </a:r>
            <a:endParaRPr lang="en-US" sz="1600" dirty="0"/>
          </a:p>
        </p:txBody>
      </p:sp>
      <p:sp>
        <p:nvSpPr>
          <p:cNvPr id="47" name="Shape 45"/>
          <p:cNvSpPr/>
          <p:nvPr/>
        </p:nvSpPr>
        <p:spPr>
          <a:xfrm>
            <a:off x="7531479" y="2759506"/>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48" name="Text 46"/>
          <p:cNvSpPr/>
          <p:nvPr/>
        </p:nvSpPr>
        <p:spPr>
          <a:xfrm>
            <a:off x="7748895" y="2726058"/>
            <a:ext cx="2098897"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Maintaining resource heterogeneity</a:t>
            </a:r>
            <a:endParaRPr lang="en-US" sz="1600" dirty="0"/>
          </a:p>
        </p:txBody>
      </p:sp>
      <p:sp>
        <p:nvSpPr>
          <p:cNvPr id="49" name="Shape 47"/>
          <p:cNvSpPr/>
          <p:nvPr/>
        </p:nvSpPr>
        <p:spPr>
          <a:xfrm>
            <a:off x="7531479" y="3027095"/>
            <a:ext cx="133794" cy="133794"/>
          </a:xfrm>
          <a:custGeom>
            <a:avLst/>
            <a:gdLst/>
            <a:ahLst/>
            <a:cxnLst/>
            <a:rect l="l" t="t" r="r" b="b"/>
            <a:pathLst>
              <a:path w="133794" h="133794">
                <a:moveTo>
                  <a:pt x="66897" y="133794"/>
                </a:moveTo>
                <a:cubicBezTo>
                  <a:pt x="103819" y="133794"/>
                  <a:pt x="133794" y="103819"/>
                  <a:pt x="133794" y="66897"/>
                </a:cubicBezTo>
                <a:cubicBezTo>
                  <a:pt x="133794" y="29976"/>
                  <a:pt x="103819" y="0"/>
                  <a:pt x="66897" y="0"/>
                </a:cubicBezTo>
                <a:cubicBezTo>
                  <a:pt x="29976" y="0"/>
                  <a:pt x="0" y="29976"/>
                  <a:pt x="0" y="66897"/>
                </a:cubicBezTo>
                <a:cubicBezTo>
                  <a:pt x="0" y="103819"/>
                  <a:pt x="29976" y="133794"/>
                  <a:pt x="66897" y="133794"/>
                </a:cubicBezTo>
                <a:close/>
                <a:moveTo>
                  <a:pt x="88952" y="55582"/>
                </a:moveTo>
                <a:lnTo>
                  <a:pt x="68047" y="89031"/>
                </a:lnTo>
                <a:cubicBezTo>
                  <a:pt x="66949" y="90781"/>
                  <a:pt x="65068" y="91879"/>
                  <a:pt x="63003" y="91984"/>
                </a:cubicBezTo>
                <a:cubicBezTo>
                  <a:pt x="60939" y="92088"/>
                  <a:pt x="58953" y="91147"/>
                  <a:pt x="57725" y="89475"/>
                </a:cubicBezTo>
                <a:lnTo>
                  <a:pt x="45182" y="72751"/>
                </a:lnTo>
                <a:cubicBezTo>
                  <a:pt x="43091" y="69981"/>
                  <a:pt x="43666" y="66061"/>
                  <a:pt x="46436" y="63970"/>
                </a:cubicBezTo>
                <a:cubicBezTo>
                  <a:pt x="49206" y="61880"/>
                  <a:pt x="53126" y="62455"/>
                  <a:pt x="55216" y="65225"/>
                </a:cubicBezTo>
                <a:lnTo>
                  <a:pt x="62272" y="74632"/>
                </a:lnTo>
                <a:lnTo>
                  <a:pt x="78317" y="48945"/>
                </a:lnTo>
                <a:cubicBezTo>
                  <a:pt x="80146" y="46018"/>
                  <a:pt x="84013" y="45103"/>
                  <a:pt x="86966" y="46959"/>
                </a:cubicBezTo>
                <a:cubicBezTo>
                  <a:pt x="89919" y="48814"/>
                  <a:pt x="90808" y="52655"/>
                  <a:pt x="88952" y="55608"/>
                </a:cubicBezTo>
                <a:close/>
              </a:path>
            </a:pathLst>
          </a:custGeom>
          <a:solidFill>
            <a:srgbClr val="FFFFFF"/>
          </a:solidFill>
          <a:ln/>
        </p:spPr>
      </p:sp>
      <p:sp>
        <p:nvSpPr>
          <p:cNvPr id="50" name="Text 48"/>
          <p:cNvSpPr/>
          <p:nvPr/>
        </p:nvSpPr>
        <p:spPr>
          <a:xfrm>
            <a:off x="7748895" y="2993646"/>
            <a:ext cx="2692609" cy="200691"/>
          </a:xfrm>
          <a:prstGeom prst="rect">
            <a:avLst/>
          </a:prstGeom>
          <a:noFill/>
          <a:ln/>
        </p:spPr>
        <p:txBody>
          <a:bodyPr wrap="square" lIns="0" tIns="0" rIns="0" bIns="0" rtlCol="0" anchor="ctr"/>
          <a:lstStyle/>
          <a:p>
            <a:pP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Supporting species with different life histories</a:t>
            </a:r>
            <a:endParaRPr lang="en-US" sz="1600" dirty="0"/>
          </a:p>
        </p:txBody>
      </p:sp>
      <p:sp>
        <p:nvSpPr>
          <p:cNvPr id="51" name="Shape 49"/>
          <p:cNvSpPr/>
          <p:nvPr/>
        </p:nvSpPr>
        <p:spPr>
          <a:xfrm>
            <a:off x="7347512" y="3495374"/>
            <a:ext cx="4507193" cy="2232691"/>
          </a:xfrm>
          <a:custGeom>
            <a:avLst/>
            <a:gdLst/>
            <a:ahLst/>
            <a:cxnLst/>
            <a:rect l="l" t="t" r="r" b="b"/>
            <a:pathLst>
              <a:path w="4507193" h="2232691">
                <a:moveTo>
                  <a:pt x="100337" y="0"/>
                </a:moveTo>
                <a:lnTo>
                  <a:pt x="4406856" y="0"/>
                </a:lnTo>
                <a:cubicBezTo>
                  <a:pt x="4462271" y="0"/>
                  <a:pt x="4507193" y="44922"/>
                  <a:pt x="4507193" y="100337"/>
                </a:cubicBezTo>
                <a:lnTo>
                  <a:pt x="4507193" y="2132354"/>
                </a:lnTo>
                <a:cubicBezTo>
                  <a:pt x="4507193" y="2187769"/>
                  <a:pt x="4462271" y="2232691"/>
                  <a:pt x="4406856" y="2232691"/>
                </a:cubicBezTo>
                <a:lnTo>
                  <a:pt x="100337" y="2232691"/>
                </a:lnTo>
                <a:cubicBezTo>
                  <a:pt x="44922" y="2232691"/>
                  <a:pt x="0" y="2187769"/>
                  <a:pt x="0" y="2132354"/>
                </a:cubicBezTo>
                <a:lnTo>
                  <a:pt x="0" y="100337"/>
                </a:lnTo>
                <a:cubicBezTo>
                  <a:pt x="0" y="44960"/>
                  <a:pt x="44960" y="0"/>
                  <a:pt x="100337" y="0"/>
                </a:cubicBezTo>
                <a:close/>
              </a:path>
            </a:pathLst>
          </a:custGeom>
          <a:solidFill>
            <a:srgbClr val="FFFFFF"/>
          </a:solidFill>
          <a:ln/>
          <a:effectLst>
            <a:outerShdw sx="100000" sy="100000" kx="0" ky="0" algn="bl" rotWithShape="0" blurRad="25086" dist="8362" dir="5400000">
              <a:srgbClr val="000000">
                <a:alpha val="10196"/>
              </a:srgbClr>
            </a:outerShdw>
          </a:effectLst>
        </p:spPr>
      </p:sp>
      <p:sp>
        <p:nvSpPr>
          <p:cNvPr id="52" name="Text 50"/>
          <p:cNvSpPr/>
          <p:nvPr/>
        </p:nvSpPr>
        <p:spPr>
          <a:xfrm>
            <a:off x="7514755" y="3662617"/>
            <a:ext cx="4247967" cy="234140"/>
          </a:xfrm>
          <a:prstGeom prst="rect">
            <a:avLst/>
          </a:prstGeom>
          <a:noFill/>
          <a:ln/>
        </p:spPr>
        <p:txBody>
          <a:bodyPr wrap="square" lIns="0" tIns="0" rIns="0" bIns="0" rtlCol="0" anchor="ctr"/>
          <a:lstStyle/>
          <a:p>
            <a:pPr>
              <a:lnSpc>
                <a:spcPct val="130000"/>
              </a:lnSpc>
            </a:pPr>
            <a:r>
              <a:rPr lang="en-US" sz="1185" b="1" dirty="0">
                <a:solidFill>
                  <a:srgbClr val="2F3E3B"/>
                </a:solidFill>
                <a:latin typeface="Sorts Mill Goudy" pitchFamily="34" charset="0"/>
                <a:ea typeface="Sorts Mill Goudy" pitchFamily="34" charset="-122"/>
                <a:cs typeface="Sorts Mill Goudy" pitchFamily="34" charset="-120"/>
              </a:rPr>
              <a:t>Research Findings</a:t>
            </a:r>
            <a:endParaRPr lang="en-US" sz="1600" dirty="0"/>
          </a:p>
        </p:txBody>
      </p:sp>
      <p:sp>
        <p:nvSpPr>
          <p:cNvPr id="53" name="Shape 51"/>
          <p:cNvSpPr/>
          <p:nvPr/>
        </p:nvSpPr>
        <p:spPr>
          <a:xfrm>
            <a:off x="7514755" y="3997103"/>
            <a:ext cx="4172708" cy="585350"/>
          </a:xfrm>
          <a:custGeom>
            <a:avLst/>
            <a:gdLst/>
            <a:ahLst/>
            <a:cxnLst/>
            <a:rect l="l" t="t" r="r" b="b"/>
            <a:pathLst>
              <a:path w="4172708" h="585350">
                <a:moveTo>
                  <a:pt x="66900" y="0"/>
                </a:moveTo>
                <a:lnTo>
                  <a:pt x="4105808" y="0"/>
                </a:lnTo>
                <a:cubicBezTo>
                  <a:pt x="4142756" y="0"/>
                  <a:pt x="4172708" y="29952"/>
                  <a:pt x="4172708" y="66900"/>
                </a:cubicBezTo>
                <a:lnTo>
                  <a:pt x="4172708" y="518450"/>
                </a:lnTo>
                <a:cubicBezTo>
                  <a:pt x="4172708" y="555398"/>
                  <a:pt x="4142756" y="585350"/>
                  <a:pt x="4105808" y="585350"/>
                </a:cubicBezTo>
                <a:lnTo>
                  <a:pt x="66900" y="585350"/>
                </a:lnTo>
                <a:cubicBezTo>
                  <a:pt x="29977" y="585350"/>
                  <a:pt x="0" y="555373"/>
                  <a:pt x="0" y="518450"/>
                </a:cubicBezTo>
                <a:lnTo>
                  <a:pt x="0" y="66900"/>
                </a:lnTo>
                <a:cubicBezTo>
                  <a:pt x="0" y="29952"/>
                  <a:pt x="29952" y="0"/>
                  <a:pt x="66900" y="0"/>
                </a:cubicBezTo>
                <a:close/>
              </a:path>
            </a:pathLst>
          </a:custGeom>
          <a:solidFill>
            <a:srgbClr val="F5F7F6"/>
          </a:solidFill>
          <a:ln/>
        </p:spPr>
      </p:sp>
      <p:sp>
        <p:nvSpPr>
          <p:cNvPr id="54" name="Text 52"/>
          <p:cNvSpPr/>
          <p:nvPr/>
        </p:nvSpPr>
        <p:spPr>
          <a:xfrm>
            <a:off x="7615100" y="4097449"/>
            <a:ext cx="4030551" cy="384658"/>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Gap regeneration promotes renewal</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late-successional species in secondary forests</a:t>
            </a:r>
            <a:endParaRPr lang="en-US" sz="1600" dirty="0"/>
          </a:p>
        </p:txBody>
      </p:sp>
      <p:sp>
        <p:nvSpPr>
          <p:cNvPr id="55" name="Shape 53"/>
          <p:cNvSpPr/>
          <p:nvPr/>
        </p:nvSpPr>
        <p:spPr>
          <a:xfrm>
            <a:off x="7514755" y="4678617"/>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6" name="Text 54"/>
          <p:cNvSpPr/>
          <p:nvPr/>
        </p:nvSpPr>
        <p:spPr>
          <a:xfrm>
            <a:off x="7615100" y="4778963"/>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Resource heterogeneity</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allows early- and late-successional species to coexist</a:t>
            </a:r>
            <a:endParaRPr lang="en-US" sz="1600" dirty="0"/>
          </a:p>
        </p:txBody>
      </p:sp>
      <p:sp>
        <p:nvSpPr>
          <p:cNvPr id="57" name="Shape 55"/>
          <p:cNvSpPr/>
          <p:nvPr/>
        </p:nvSpPr>
        <p:spPr>
          <a:xfrm>
            <a:off x="7514755" y="5169893"/>
            <a:ext cx="4172708" cy="393021"/>
          </a:xfrm>
          <a:custGeom>
            <a:avLst/>
            <a:gdLst/>
            <a:ahLst/>
            <a:cxnLst/>
            <a:rect l="l" t="t" r="r" b="b"/>
            <a:pathLst>
              <a:path w="4172708" h="393021">
                <a:moveTo>
                  <a:pt x="66896" y="0"/>
                </a:moveTo>
                <a:lnTo>
                  <a:pt x="4105812" y="0"/>
                </a:lnTo>
                <a:cubicBezTo>
                  <a:pt x="4142757" y="0"/>
                  <a:pt x="4172708" y="29950"/>
                  <a:pt x="4172708" y="66896"/>
                </a:cubicBezTo>
                <a:lnTo>
                  <a:pt x="4172708" y="326125"/>
                </a:lnTo>
                <a:cubicBezTo>
                  <a:pt x="4172708" y="363070"/>
                  <a:pt x="4142757" y="393021"/>
                  <a:pt x="4105812" y="393021"/>
                </a:cubicBezTo>
                <a:lnTo>
                  <a:pt x="66896" y="393021"/>
                </a:lnTo>
                <a:cubicBezTo>
                  <a:pt x="29975" y="393021"/>
                  <a:pt x="0" y="363045"/>
                  <a:pt x="0" y="326125"/>
                </a:cubicBezTo>
                <a:lnTo>
                  <a:pt x="0" y="66896"/>
                </a:lnTo>
                <a:cubicBezTo>
                  <a:pt x="0" y="29975"/>
                  <a:pt x="29975" y="0"/>
                  <a:pt x="66896" y="0"/>
                </a:cubicBezTo>
                <a:close/>
              </a:path>
            </a:pathLst>
          </a:custGeom>
          <a:solidFill>
            <a:srgbClr val="F5F7F6"/>
          </a:solidFill>
          <a:ln/>
        </p:spPr>
      </p:sp>
      <p:sp>
        <p:nvSpPr>
          <p:cNvPr id="58" name="Text 56"/>
          <p:cNvSpPr/>
          <p:nvPr/>
        </p:nvSpPr>
        <p:spPr>
          <a:xfrm>
            <a:off x="7615100" y="5270239"/>
            <a:ext cx="4030551" cy="192329"/>
          </a:xfrm>
          <a:prstGeom prst="rect">
            <a:avLst/>
          </a:prstGeom>
          <a:noFill/>
          <a:ln/>
        </p:spPr>
        <p:txBody>
          <a:bodyPr wrap="square" lIns="0" tIns="0" rIns="0" bIns="0" rtlCol="0" anchor="ctr"/>
          <a:lstStyle/>
          <a:p>
            <a:pPr>
              <a:lnSpc>
                <a:spcPct val="140000"/>
              </a:lnSpc>
            </a:pPr>
            <a:r>
              <a:rPr lang="en-US" sz="922" b="1" dirty="0">
                <a:solidFill>
                  <a:srgbClr val="5F6F6B"/>
                </a:solidFill>
                <a:latin typeface="Quattrocento Sans" pitchFamily="34" charset="0"/>
                <a:ea typeface="Quattrocento Sans" pitchFamily="34" charset="-122"/>
                <a:cs typeface="Quattrocento Sans" pitchFamily="34" charset="-120"/>
              </a:rPr>
              <a:t>Functional traits</a:t>
            </a:r>
            <a:pPr>
              <a:lnSpc>
                <a:spcPct val="140000"/>
              </a:lnSpc>
            </a:pPr>
            <a:r>
              <a:rPr lang="en-US" sz="922" dirty="0">
                <a:solidFill>
                  <a:srgbClr val="5F6F6B"/>
                </a:solidFill>
                <a:latin typeface="Quattrocento Sans" pitchFamily="34" charset="0"/>
                <a:ea typeface="Quattrocento Sans" pitchFamily="34" charset="-122"/>
                <a:cs typeface="Quattrocento Sans" pitchFamily="34" charset="-120"/>
              </a:rPr>
              <a:t> of shade-tolerant species shift less under drought</a:t>
            </a:r>
            <a:endParaRPr lang="en-US" sz="1600" dirty="0"/>
          </a:p>
        </p:txBody>
      </p:sp>
      <p:sp>
        <p:nvSpPr>
          <p:cNvPr id="59" name="Shape 57"/>
          <p:cNvSpPr/>
          <p:nvPr/>
        </p:nvSpPr>
        <p:spPr>
          <a:xfrm>
            <a:off x="7347512" y="5861860"/>
            <a:ext cx="4507193" cy="802765"/>
          </a:xfrm>
          <a:custGeom>
            <a:avLst/>
            <a:gdLst/>
            <a:ahLst/>
            <a:cxnLst/>
            <a:rect l="l" t="t" r="r" b="b"/>
            <a:pathLst>
              <a:path w="4507193" h="802765">
                <a:moveTo>
                  <a:pt x="100346" y="0"/>
                </a:moveTo>
                <a:lnTo>
                  <a:pt x="4406848" y="0"/>
                </a:lnTo>
                <a:cubicBezTo>
                  <a:pt x="4462267" y="0"/>
                  <a:pt x="4507193" y="44926"/>
                  <a:pt x="4507193" y="100346"/>
                </a:cubicBezTo>
                <a:lnTo>
                  <a:pt x="4507193" y="702420"/>
                </a:lnTo>
                <a:cubicBezTo>
                  <a:pt x="4507193" y="757839"/>
                  <a:pt x="4462267" y="802765"/>
                  <a:pt x="4406848" y="802765"/>
                </a:cubicBezTo>
                <a:lnTo>
                  <a:pt x="100346" y="802765"/>
                </a:lnTo>
                <a:cubicBezTo>
                  <a:pt x="44926" y="802765"/>
                  <a:pt x="0" y="757839"/>
                  <a:pt x="0" y="702420"/>
                </a:cubicBezTo>
                <a:lnTo>
                  <a:pt x="0" y="100346"/>
                </a:lnTo>
                <a:cubicBezTo>
                  <a:pt x="0" y="44963"/>
                  <a:pt x="44963" y="0"/>
                  <a:pt x="100346" y="0"/>
                </a:cubicBezTo>
                <a:close/>
              </a:path>
            </a:pathLst>
          </a:custGeom>
          <a:solidFill>
            <a:srgbClr val="2F3E3B"/>
          </a:solidFill>
          <a:ln/>
        </p:spPr>
      </p:sp>
      <p:sp>
        <p:nvSpPr>
          <p:cNvPr id="60" name="Text 58"/>
          <p:cNvSpPr/>
          <p:nvPr/>
        </p:nvSpPr>
        <p:spPr>
          <a:xfrm>
            <a:off x="7418590" y="5995654"/>
            <a:ext cx="4365037" cy="301037"/>
          </a:xfrm>
          <a:prstGeom prst="rect">
            <a:avLst/>
          </a:prstGeom>
          <a:noFill/>
          <a:ln/>
        </p:spPr>
        <p:txBody>
          <a:bodyPr wrap="square" lIns="0" tIns="0" rIns="0" bIns="0" rtlCol="0" anchor="ctr"/>
          <a:lstStyle/>
          <a:p>
            <a:pPr algn="ctr">
              <a:lnSpc>
                <a:spcPct val="100000"/>
              </a:lnSpc>
            </a:pPr>
            <a:r>
              <a:rPr lang="en-US" sz="1975" b="1" dirty="0">
                <a:solidFill>
                  <a:srgbClr val="FFFFFF"/>
                </a:solidFill>
                <a:latin typeface="Sorts Mill Goudy" pitchFamily="34" charset="0"/>
                <a:ea typeface="Sorts Mill Goudy" pitchFamily="34" charset="-122"/>
                <a:cs typeface="Sorts Mill Goudy" pitchFamily="34" charset="-120"/>
              </a:rPr>
              <a:t>Mosaic Structure</a:t>
            </a:r>
            <a:endParaRPr lang="en-US" sz="1600" dirty="0"/>
          </a:p>
        </p:txBody>
      </p:sp>
      <p:sp>
        <p:nvSpPr>
          <p:cNvPr id="61" name="Text 59"/>
          <p:cNvSpPr/>
          <p:nvPr/>
        </p:nvSpPr>
        <p:spPr>
          <a:xfrm>
            <a:off x="7447858" y="6330140"/>
            <a:ext cx="4306502" cy="200691"/>
          </a:xfrm>
          <a:prstGeom prst="rect">
            <a:avLst/>
          </a:prstGeom>
          <a:noFill/>
          <a:ln/>
        </p:spPr>
        <p:txBody>
          <a:bodyPr wrap="square" lIns="0" tIns="0" rIns="0" bIns="0" rtlCol="0" anchor="ctr"/>
          <a:lstStyle/>
          <a:p>
            <a:pPr algn="ctr">
              <a:lnSpc>
                <a:spcPct val="130000"/>
              </a:lnSpc>
            </a:pPr>
            <a:r>
              <a:rPr lang="en-US" sz="1054" dirty="0">
                <a:solidFill>
                  <a:srgbClr val="FFFFFF"/>
                </a:solidFill>
                <a:latin typeface="Quattrocento Sans" pitchFamily="34" charset="0"/>
                <a:ea typeface="Quattrocento Sans" pitchFamily="34" charset="-122"/>
                <a:cs typeface="Quattrocento Sans" pitchFamily="34" charset="-120"/>
              </a:rPr>
              <a:t>Multiple successional stages support higher diversity</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spc="88"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2F3E3B"/>
                </a:solidFill>
                <a:latin typeface="Sorts Mill Goudy" pitchFamily="34" charset="0"/>
                <a:ea typeface="Sorts Mill Goudy" pitchFamily="34" charset="-122"/>
                <a:cs typeface="Sorts Mill Goudy" pitchFamily="34" charset="-120"/>
              </a:rPr>
              <a:t>Mycorrhizal Networks: The Wood Wide Web</a:t>
            </a:r>
            <a:endParaRPr lang="en-US" sz="1600" dirty="0"/>
          </a:p>
        </p:txBody>
      </p:sp>
      <p:sp>
        <p:nvSpPr>
          <p:cNvPr id="4" name="Text 2"/>
          <p:cNvSpPr/>
          <p:nvPr/>
        </p:nvSpPr>
        <p:spPr>
          <a:xfrm>
            <a:off x="317500" y="920750"/>
            <a:ext cx="11628438" cy="222250"/>
          </a:xfrm>
          <a:prstGeom prst="rect">
            <a:avLst/>
          </a:prstGeom>
          <a:noFill/>
          <a:ln/>
        </p:spPr>
        <p:txBody>
          <a:bodyPr wrap="square" lIns="0" tIns="0" rIns="0" bIns="0" rtlCol="0" anchor="ctr"/>
          <a:lstStyle/>
          <a:p>
            <a:pPr>
              <a:lnSpc>
                <a:spcPct val="130000"/>
              </a:lnSpc>
            </a:pPr>
            <a:r>
              <a:rPr lang="en-US" sz="1125" dirty="0">
                <a:solidFill>
                  <a:srgbClr val="5F6F6B"/>
                </a:solidFill>
                <a:latin typeface="Quattrocento Sans" pitchFamily="34" charset="0"/>
                <a:ea typeface="Quattrocento Sans" pitchFamily="34" charset="-122"/>
                <a:cs typeface="Quattrocento Sans" pitchFamily="34" charset="-120"/>
              </a:rPr>
              <a:t>Belowground fungal connections facilitate inter-plant communication and resource sharing</a:t>
            </a:r>
            <a:endParaRPr lang="en-US" sz="1600" dirty="0"/>
          </a:p>
        </p:txBody>
      </p:sp>
      <p:sp>
        <p:nvSpPr>
          <p:cNvPr id="5" name="Shape 3"/>
          <p:cNvSpPr/>
          <p:nvPr/>
        </p:nvSpPr>
        <p:spPr>
          <a:xfrm>
            <a:off x="317500" y="1301750"/>
            <a:ext cx="5683250" cy="2682875"/>
          </a:xfrm>
          <a:custGeom>
            <a:avLst/>
            <a:gdLst/>
            <a:ahLst/>
            <a:cxnLst/>
            <a:rect l="l" t="t" r="r" b="b"/>
            <a:pathLst>
              <a:path w="5683250" h="2682875">
                <a:moveTo>
                  <a:pt x="95242" y="0"/>
                </a:moveTo>
                <a:lnTo>
                  <a:pt x="5588008" y="0"/>
                </a:lnTo>
                <a:cubicBezTo>
                  <a:pt x="5640609" y="0"/>
                  <a:pt x="5683250" y="42641"/>
                  <a:pt x="5683250" y="95242"/>
                </a:cubicBezTo>
                <a:lnTo>
                  <a:pt x="5683250" y="2587633"/>
                </a:lnTo>
                <a:cubicBezTo>
                  <a:pt x="5683250" y="2640234"/>
                  <a:pt x="5640609" y="2682875"/>
                  <a:pt x="5588008" y="2682875"/>
                </a:cubicBezTo>
                <a:lnTo>
                  <a:pt x="95242" y="2682875"/>
                </a:lnTo>
                <a:cubicBezTo>
                  <a:pt x="42641" y="2682875"/>
                  <a:pt x="0" y="2640234"/>
                  <a:pt x="0" y="2587633"/>
                </a:cubicBezTo>
                <a:lnTo>
                  <a:pt x="0" y="95242"/>
                </a:lnTo>
                <a:cubicBezTo>
                  <a:pt x="0" y="42677"/>
                  <a:pt x="42677" y="0"/>
                  <a:pt x="95242"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6" name="Text 4"/>
          <p:cNvSpPr/>
          <p:nvPr/>
        </p:nvSpPr>
        <p:spPr>
          <a:xfrm>
            <a:off x="476250" y="1460500"/>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The Hidden Network</a:t>
            </a:r>
            <a:endParaRPr lang="en-US" sz="1600" dirty="0"/>
          </a:p>
        </p:txBody>
      </p:sp>
      <p:sp>
        <p:nvSpPr>
          <p:cNvPr id="7" name="Text 5"/>
          <p:cNvSpPr/>
          <p:nvPr/>
        </p:nvSpPr>
        <p:spPr>
          <a:xfrm>
            <a:off x="476250" y="1778000"/>
            <a:ext cx="5429250" cy="825500"/>
          </a:xfrm>
          <a:prstGeom prst="rect">
            <a:avLst/>
          </a:prstGeom>
          <a:noFill/>
          <a:ln/>
        </p:spPr>
        <p:txBody>
          <a:bodyPr wrap="square" lIns="0" tIns="0" rIns="0" bIns="0" rtlCol="0" anchor="ctr"/>
          <a:lstStyle/>
          <a:p>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Research by Simard et al. (1997) revealed that </a:t>
            </a:r>
            <a:pPr>
              <a:lnSpc>
                <a:spcPct val="140000"/>
              </a:lnSpc>
            </a:pPr>
            <a:r>
              <a:rPr lang="en-US" sz="1000"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trees communicate and share resources through mycorrhizal fungal networks </a:t>
            </a:r>
            <a:pPr>
              <a:lnSpc>
                <a:spcPct val="140000"/>
              </a:lnSpc>
            </a:pPr>
            <a:r>
              <a:rPr lang="en-US" sz="1000" dirty="0">
                <a:solidFill>
                  <a:srgbClr val="1F2A28"/>
                </a:solidFill>
                <a:latin typeface="Quattrocento Sans" pitchFamily="34" charset="0"/>
                <a:ea typeface="Quattrocento Sans" pitchFamily="34" charset="-122"/>
                <a:cs typeface="Quattrocento Sans" pitchFamily="34" charset="-120"/>
              </a:rPr>
              <a:t>—the "wood wide web." These belowground connections enable carbon and nutrient transfer between plants, fundamentally changing our understanding of forest communities.</a:t>
            </a:r>
            <a:endParaRPr lang="en-US" sz="1600" dirty="0"/>
          </a:p>
        </p:txBody>
      </p:sp>
      <p:sp>
        <p:nvSpPr>
          <p:cNvPr id="8" name="Shape 6"/>
          <p:cNvSpPr/>
          <p:nvPr/>
        </p:nvSpPr>
        <p:spPr>
          <a:xfrm>
            <a:off x="476250" y="2730500"/>
            <a:ext cx="5365750" cy="1095375"/>
          </a:xfrm>
          <a:custGeom>
            <a:avLst/>
            <a:gdLst/>
            <a:ahLst/>
            <a:cxnLst/>
            <a:rect l="l" t="t" r="r" b="b"/>
            <a:pathLst>
              <a:path w="5365750" h="1095375">
                <a:moveTo>
                  <a:pt x="63499" y="0"/>
                </a:moveTo>
                <a:lnTo>
                  <a:pt x="5302251" y="0"/>
                </a:lnTo>
                <a:cubicBezTo>
                  <a:pt x="5337321" y="0"/>
                  <a:pt x="5365750" y="28429"/>
                  <a:pt x="5365750" y="63499"/>
                </a:cubicBezTo>
                <a:lnTo>
                  <a:pt x="5365750" y="1031876"/>
                </a:lnTo>
                <a:cubicBezTo>
                  <a:pt x="5365750" y="1066946"/>
                  <a:pt x="5337321" y="1095375"/>
                  <a:pt x="5302251" y="1095375"/>
                </a:cubicBezTo>
                <a:lnTo>
                  <a:pt x="63499" y="1095375"/>
                </a:lnTo>
                <a:cubicBezTo>
                  <a:pt x="28429" y="1095375"/>
                  <a:pt x="0" y="1066946"/>
                  <a:pt x="0" y="1031876"/>
                </a:cubicBezTo>
                <a:lnTo>
                  <a:pt x="0" y="63499"/>
                </a:lnTo>
                <a:cubicBezTo>
                  <a:pt x="0" y="28453"/>
                  <a:pt x="28453" y="0"/>
                  <a:pt x="63499" y="0"/>
                </a:cubicBezTo>
                <a:close/>
              </a:path>
            </a:pathLst>
          </a:custGeom>
          <a:solidFill>
            <a:srgbClr val="F5F7F6"/>
          </a:solidFill>
          <a:ln/>
        </p:spPr>
      </p:sp>
      <p:sp>
        <p:nvSpPr>
          <p:cNvPr id="9" name="Text 7"/>
          <p:cNvSpPr/>
          <p:nvPr/>
        </p:nvSpPr>
        <p:spPr>
          <a:xfrm>
            <a:off x="603250" y="2857500"/>
            <a:ext cx="5175250" cy="619125"/>
          </a:xfrm>
          <a:prstGeom prst="rect">
            <a:avLst/>
          </a:prstGeom>
          <a:noFill/>
          <a:ln/>
        </p:spPr>
        <p:txBody>
          <a:bodyPr wrap="square" lIns="0" tIns="0" rIns="0" bIns="0" rtlCol="0" anchor="ctr"/>
          <a:lstStyle/>
          <a:p>
            <a:pPr>
              <a:lnSpc>
                <a:spcPct val="140000"/>
              </a:lnSpc>
            </a:pPr>
            <a:r>
              <a:rPr lang="en-US" sz="1000" dirty="0">
                <a:solidFill>
                  <a:srgbClr val="5F6F6B"/>
                </a:solidFill>
                <a:latin typeface="Quattrocento Sans" pitchFamily="34" charset="0"/>
                <a:ea typeface="Quattrocento Sans" pitchFamily="34" charset="-122"/>
                <a:cs typeface="Quattrocento Sans" pitchFamily="34" charset="-120"/>
              </a:rPr>
              <a:t>"A more even distribution of carbon among plants as a result of belowground transfer may have implications for local interspecific interactions, maintenance of biodiversity, and therefore for ecosystem productivity, stability and sustainability."</a:t>
            </a:r>
            <a:endParaRPr lang="en-US" sz="1600" dirty="0"/>
          </a:p>
        </p:txBody>
      </p:sp>
      <p:sp>
        <p:nvSpPr>
          <p:cNvPr id="10" name="Text 8"/>
          <p:cNvSpPr/>
          <p:nvPr/>
        </p:nvSpPr>
        <p:spPr>
          <a:xfrm>
            <a:off x="603250" y="3540125"/>
            <a:ext cx="516731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 Simard et al. (1997)</a:t>
            </a:r>
            <a:endParaRPr lang="en-US" sz="1600" dirty="0"/>
          </a:p>
        </p:txBody>
      </p:sp>
      <p:sp>
        <p:nvSpPr>
          <p:cNvPr id="11" name="Shape 9"/>
          <p:cNvSpPr/>
          <p:nvPr/>
        </p:nvSpPr>
        <p:spPr>
          <a:xfrm>
            <a:off x="317500" y="4111625"/>
            <a:ext cx="5683250" cy="3579813"/>
          </a:xfrm>
          <a:custGeom>
            <a:avLst/>
            <a:gdLst/>
            <a:ahLst/>
            <a:cxnLst/>
            <a:rect l="l" t="t" r="r" b="b"/>
            <a:pathLst>
              <a:path w="5683250" h="3579813">
                <a:moveTo>
                  <a:pt x="95259" y="0"/>
                </a:moveTo>
                <a:lnTo>
                  <a:pt x="5587991" y="0"/>
                </a:lnTo>
                <a:cubicBezTo>
                  <a:pt x="5640601" y="0"/>
                  <a:pt x="5683250" y="42649"/>
                  <a:pt x="5683250" y="95259"/>
                </a:cubicBezTo>
                <a:lnTo>
                  <a:pt x="5683250" y="3484554"/>
                </a:lnTo>
                <a:cubicBezTo>
                  <a:pt x="5683250" y="3537164"/>
                  <a:pt x="5640601" y="3579813"/>
                  <a:pt x="5587991" y="3579813"/>
                </a:cubicBezTo>
                <a:lnTo>
                  <a:pt x="95259" y="3579813"/>
                </a:lnTo>
                <a:cubicBezTo>
                  <a:pt x="42649" y="3579813"/>
                  <a:pt x="0" y="3537164"/>
                  <a:pt x="0" y="3484554"/>
                </a:cubicBezTo>
                <a:lnTo>
                  <a:pt x="0" y="95259"/>
                </a:lnTo>
                <a:cubicBezTo>
                  <a:pt x="0" y="42684"/>
                  <a:pt x="42684" y="0"/>
                  <a:pt x="95259" y="0"/>
                </a:cubicBezTo>
                <a:close/>
              </a:path>
            </a:pathLst>
          </a:custGeom>
          <a:solidFill>
            <a:srgbClr val="FFFFFF"/>
          </a:solidFill>
          <a:ln/>
          <a:effectLst>
            <a:outerShdw sx="100000" sy="100000" kx="0" ky="0" algn="bl" rotWithShape="0" blurRad="23813" dist="7938" dir="5400000">
              <a:srgbClr val="000000">
                <a:alpha val="10196"/>
              </a:srgbClr>
            </a:outerShdw>
          </a:effectLst>
        </p:spPr>
      </p:sp>
      <p:sp>
        <p:nvSpPr>
          <p:cNvPr id="12" name="Text 10"/>
          <p:cNvSpPr/>
          <p:nvPr/>
        </p:nvSpPr>
        <p:spPr>
          <a:xfrm>
            <a:off x="476250" y="4270375"/>
            <a:ext cx="5445125" cy="222250"/>
          </a:xfrm>
          <a:prstGeom prst="rect">
            <a:avLst/>
          </a:prstGeom>
          <a:noFill/>
          <a:ln/>
        </p:spPr>
        <p:txBody>
          <a:bodyPr wrap="square" lIns="0" tIns="0" rIns="0" bIns="0" rtlCol="0" anchor="ctr"/>
          <a:lstStyle/>
          <a:p>
            <a:pPr>
              <a:lnSpc>
                <a:spcPct val="120000"/>
              </a:lnSpc>
            </a:pPr>
            <a:r>
              <a:rPr lang="en-US" sz="1250" b="1" dirty="0">
                <a:solidFill>
                  <a:srgbClr val="2F3E3B"/>
                </a:solidFill>
                <a:latin typeface="Sorts Mill Goudy" pitchFamily="34" charset="0"/>
                <a:ea typeface="Sorts Mill Goudy" pitchFamily="34" charset="-122"/>
                <a:cs typeface="Sorts Mill Goudy" pitchFamily="34" charset="-120"/>
              </a:rPr>
              <a:t>Mycorrhizal Types</a:t>
            </a:r>
            <a:endParaRPr lang="en-US" sz="1600" dirty="0"/>
          </a:p>
        </p:txBody>
      </p:sp>
      <p:sp>
        <p:nvSpPr>
          <p:cNvPr id="13" name="Shape 11"/>
          <p:cNvSpPr/>
          <p:nvPr/>
        </p:nvSpPr>
        <p:spPr>
          <a:xfrm>
            <a:off x="476250" y="4587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4C8A7A">
              <a:alpha val="10196"/>
            </a:srgbClr>
          </a:solidFill>
          <a:ln/>
        </p:spPr>
      </p:sp>
      <p:sp>
        <p:nvSpPr>
          <p:cNvPr id="14" name="Shape 12"/>
          <p:cNvSpPr/>
          <p:nvPr/>
        </p:nvSpPr>
        <p:spPr>
          <a:xfrm>
            <a:off x="571500" y="4683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4C8A7A"/>
          </a:solidFill>
          <a:ln/>
        </p:spPr>
      </p:sp>
      <p:sp>
        <p:nvSpPr>
          <p:cNvPr id="15" name="Text 13"/>
          <p:cNvSpPr/>
          <p:nvPr/>
        </p:nvSpPr>
        <p:spPr>
          <a:xfrm>
            <a:off x="539750" y="4683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AM</a:t>
            </a:r>
            <a:endParaRPr lang="en-US" sz="1600" dirty="0"/>
          </a:p>
        </p:txBody>
      </p:sp>
      <p:sp>
        <p:nvSpPr>
          <p:cNvPr id="16" name="Text 14"/>
          <p:cNvSpPr/>
          <p:nvPr/>
        </p:nvSpPr>
        <p:spPr>
          <a:xfrm>
            <a:off x="984250" y="4683125"/>
            <a:ext cx="4064000"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Arbuscular Mycorrhizal</a:t>
            </a:r>
            <a:endParaRPr lang="en-US" sz="1600" dirty="0"/>
          </a:p>
        </p:txBody>
      </p:sp>
      <p:sp>
        <p:nvSpPr>
          <p:cNvPr id="17" name="Text 15"/>
          <p:cNvSpPr/>
          <p:nvPr/>
        </p:nvSpPr>
        <p:spPr>
          <a:xfrm>
            <a:off x="984250" y="4873625"/>
            <a:ext cx="4056063"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Most common; penetrate root cells. Associated with tropical diversity maintenance.</a:t>
            </a:r>
            <a:endParaRPr lang="en-US" sz="1600" dirty="0"/>
          </a:p>
        </p:txBody>
      </p:sp>
      <p:sp>
        <p:nvSpPr>
          <p:cNvPr id="18" name="Shape 16"/>
          <p:cNvSpPr/>
          <p:nvPr/>
        </p:nvSpPr>
        <p:spPr>
          <a:xfrm>
            <a:off x="476250" y="5222875"/>
            <a:ext cx="5365750" cy="539750"/>
          </a:xfrm>
          <a:custGeom>
            <a:avLst/>
            <a:gdLst/>
            <a:ahLst/>
            <a:cxnLst/>
            <a:rect l="l" t="t" r="r" b="b"/>
            <a:pathLst>
              <a:path w="5365750" h="539750">
                <a:moveTo>
                  <a:pt x="63502" y="0"/>
                </a:moveTo>
                <a:lnTo>
                  <a:pt x="5302248" y="0"/>
                </a:lnTo>
                <a:cubicBezTo>
                  <a:pt x="5337319" y="0"/>
                  <a:pt x="5365750" y="28431"/>
                  <a:pt x="5365750" y="63502"/>
                </a:cubicBezTo>
                <a:lnTo>
                  <a:pt x="5365750" y="476248"/>
                </a:lnTo>
                <a:cubicBezTo>
                  <a:pt x="5365750" y="511319"/>
                  <a:pt x="5337319" y="539750"/>
                  <a:pt x="5302248" y="539750"/>
                </a:cubicBezTo>
                <a:lnTo>
                  <a:pt x="63502" y="539750"/>
                </a:lnTo>
                <a:cubicBezTo>
                  <a:pt x="28431" y="539750"/>
                  <a:pt x="0" y="511319"/>
                  <a:pt x="0" y="476248"/>
                </a:cubicBezTo>
                <a:lnTo>
                  <a:pt x="0" y="63502"/>
                </a:lnTo>
                <a:cubicBezTo>
                  <a:pt x="0" y="28454"/>
                  <a:pt x="28454" y="0"/>
                  <a:pt x="63502" y="0"/>
                </a:cubicBezTo>
                <a:close/>
              </a:path>
            </a:pathLst>
          </a:custGeom>
          <a:solidFill>
            <a:srgbClr val="8FB7AC">
              <a:alpha val="10196"/>
            </a:srgbClr>
          </a:solidFill>
          <a:ln/>
        </p:spPr>
      </p:sp>
      <p:sp>
        <p:nvSpPr>
          <p:cNvPr id="19" name="Shape 17"/>
          <p:cNvSpPr/>
          <p:nvPr/>
        </p:nvSpPr>
        <p:spPr>
          <a:xfrm>
            <a:off x="571500" y="5318125"/>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8FB7AC"/>
          </a:solidFill>
          <a:ln/>
        </p:spPr>
      </p:sp>
      <p:sp>
        <p:nvSpPr>
          <p:cNvPr id="20" name="Text 18"/>
          <p:cNvSpPr/>
          <p:nvPr/>
        </p:nvSpPr>
        <p:spPr>
          <a:xfrm>
            <a:off x="539750" y="5318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ECM</a:t>
            </a:r>
            <a:endParaRPr lang="en-US" sz="1600" dirty="0"/>
          </a:p>
        </p:txBody>
      </p:sp>
      <p:sp>
        <p:nvSpPr>
          <p:cNvPr id="21" name="Text 19"/>
          <p:cNvSpPr/>
          <p:nvPr/>
        </p:nvSpPr>
        <p:spPr>
          <a:xfrm>
            <a:off x="984250" y="5318125"/>
            <a:ext cx="4532313" cy="190500"/>
          </a:xfrm>
          <a:prstGeom prst="rect">
            <a:avLst/>
          </a:prstGeom>
          <a:noFill/>
          <a:ln/>
        </p:spPr>
        <p:txBody>
          <a:bodyPr wrap="square" lIns="0" tIns="0" rIns="0" bIns="0" rtlCol="0" anchor="ctr"/>
          <a:lstStyle/>
          <a:p>
            <a:pPr>
              <a:lnSpc>
                <a:spcPct val="130000"/>
              </a:lnSpc>
            </a:pPr>
            <a:r>
              <a:rPr lang="en-US" sz="1000" b="1" dirty="0">
                <a:solidFill>
                  <a:srgbClr val="2F3E3B"/>
                </a:solidFill>
                <a:latin typeface="Quattrocento Sans" pitchFamily="34" charset="0"/>
                <a:ea typeface="Quattrocento Sans" pitchFamily="34" charset="-122"/>
                <a:cs typeface="Quattrocento Sans" pitchFamily="34" charset="-120"/>
              </a:rPr>
              <a:t>Ectomycorrhizal</a:t>
            </a:r>
            <a:endParaRPr lang="en-US" sz="1600" dirty="0"/>
          </a:p>
        </p:txBody>
      </p:sp>
      <p:sp>
        <p:nvSpPr>
          <p:cNvPr id="22" name="Text 20"/>
          <p:cNvSpPr/>
          <p:nvPr/>
        </p:nvSpPr>
        <p:spPr>
          <a:xfrm>
            <a:off x="984250" y="5508625"/>
            <a:ext cx="4524375" cy="158750"/>
          </a:xfrm>
          <a:prstGeom prst="rect">
            <a:avLst/>
          </a:prstGeom>
          <a:noFill/>
          <a:ln/>
        </p:spPr>
        <p:txBody>
          <a:bodyPr wrap="square" lIns="0" tIns="0" rIns="0" bIns="0" rtlCol="0" anchor="ctr"/>
          <a:lstStyle/>
          <a:p>
            <a:pPr>
              <a:lnSpc>
                <a:spcPct val="120000"/>
              </a:lnSpc>
            </a:pPr>
            <a:r>
              <a:rPr lang="en-US" sz="875" dirty="0">
                <a:solidFill>
                  <a:srgbClr val="5F6F6B"/>
                </a:solidFill>
                <a:latin typeface="Quattrocento Sans" pitchFamily="34" charset="0"/>
                <a:ea typeface="Quattrocento Sans" pitchFamily="34" charset="-122"/>
                <a:cs typeface="Quattrocento Sans" pitchFamily="34" charset="-120"/>
              </a:rPr>
              <a:t>Form sheath around roots; dominate temperate/boreal forests. Protect hosts from pathogens.</a:t>
            </a:r>
            <a:endParaRPr lang="en-US" sz="1600" dirty="0"/>
          </a:p>
        </p:txBody>
      </p:sp>
      <p:sp>
        <p:nvSpPr>
          <p:cNvPr id="23" name="Shape 21"/>
          <p:cNvSpPr/>
          <p:nvPr/>
        </p:nvSpPr>
        <p:spPr>
          <a:xfrm>
            <a:off x="6191250" y="1301750"/>
            <a:ext cx="5683250" cy="3786188"/>
          </a:xfrm>
          <a:custGeom>
            <a:avLst/>
            <a:gdLst/>
            <a:ahLst/>
            <a:cxnLst/>
            <a:rect l="l" t="t" r="r" b="b"/>
            <a:pathLst>
              <a:path w="5683250" h="3786188">
                <a:moveTo>
                  <a:pt x="95260" y="0"/>
                </a:moveTo>
                <a:lnTo>
                  <a:pt x="5587990" y="0"/>
                </a:lnTo>
                <a:cubicBezTo>
                  <a:pt x="5640600" y="0"/>
                  <a:pt x="5683250" y="42650"/>
                  <a:pt x="5683250" y="95260"/>
                </a:cubicBezTo>
                <a:lnTo>
                  <a:pt x="5683250" y="3690927"/>
                </a:lnTo>
                <a:cubicBezTo>
                  <a:pt x="5683250" y="3743538"/>
                  <a:pt x="5640600" y="3786188"/>
                  <a:pt x="5587990" y="3786188"/>
                </a:cubicBezTo>
                <a:lnTo>
                  <a:pt x="95260" y="3786188"/>
                </a:lnTo>
                <a:cubicBezTo>
                  <a:pt x="42650" y="3786188"/>
                  <a:pt x="0" y="3743538"/>
                  <a:pt x="0" y="3690927"/>
                </a:cubicBezTo>
                <a:lnTo>
                  <a:pt x="0" y="95260"/>
                </a:lnTo>
                <a:cubicBezTo>
                  <a:pt x="0" y="42650"/>
                  <a:pt x="42650" y="0"/>
                  <a:pt x="95260" y="0"/>
                </a:cubicBezTo>
                <a:close/>
              </a:path>
            </a:pathLst>
          </a:custGeom>
          <a:solidFill>
            <a:srgbClr val="FFFFFF"/>
          </a:solidFill>
          <a:ln/>
          <a:effectLst>
            <a:outerShdw sx="100000" sy="100000" kx="0" ky="0" algn="bl" rotWithShape="0" blurRad="23813" dist="7938" dir="5400000">
              <a:srgbClr val="000000">
                <a:alpha val="10196"/>
              </a:srgbClr>
            </a:outerShdw>
          </a:effectLst>
        </p:spPr>
      </p:sp>
      <p:pic>
        <p:nvPicPr>
          <p:cNvPr id="24" name="Image 0" descr="https://kimi-web-img.moonshot.cn/img/kids.mongabay.com/874962d6a2a2ea84500ac2b8f29d66ac35999fb8.jpg">    </p:cNvPr>
          <p:cNvPicPr>
            <a:picLocks noChangeAspect="1"/>
          </p:cNvPicPr>
          <p:nvPr/>
        </p:nvPicPr>
        <p:blipFill>
          <a:blip r:embed="rId1"/>
          <a:srcRect l="0" r="0" t="35" b="35"/>
          <a:stretch/>
        </p:blipFill>
        <p:spPr>
          <a:xfrm>
            <a:off x="6191250" y="1301750"/>
            <a:ext cx="5683250" cy="3786188"/>
          </a:xfrm>
          <a:prstGeom prst="roundRect">
            <a:avLst>
              <a:gd name="adj" fmla="val 2516"/>
            </a:avLst>
          </a:prstGeom>
        </p:spPr>
      </p:pic>
      <p:sp>
        <p:nvSpPr>
          <p:cNvPr id="25" name="Shape 22"/>
          <p:cNvSpPr/>
          <p:nvPr/>
        </p:nvSpPr>
        <p:spPr>
          <a:xfrm>
            <a:off x="6191250" y="5217542"/>
            <a:ext cx="5683250" cy="1587500"/>
          </a:xfrm>
          <a:custGeom>
            <a:avLst/>
            <a:gdLst/>
            <a:ahLst/>
            <a:cxnLst/>
            <a:rect l="l" t="t" r="r" b="b"/>
            <a:pathLst>
              <a:path w="5683250" h="1587500">
                <a:moveTo>
                  <a:pt x="95250" y="0"/>
                </a:moveTo>
                <a:lnTo>
                  <a:pt x="5588000" y="0"/>
                </a:lnTo>
                <a:cubicBezTo>
                  <a:pt x="5640570" y="0"/>
                  <a:pt x="5683250" y="42680"/>
                  <a:pt x="5683250" y="95250"/>
                </a:cubicBezTo>
                <a:lnTo>
                  <a:pt x="5683250" y="1492250"/>
                </a:lnTo>
                <a:cubicBezTo>
                  <a:pt x="5683250" y="1544820"/>
                  <a:pt x="5640570" y="1587500"/>
                  <a:pt x="5588000" y="1587500"/>
                </a:cubicBezTo>
                <a:lnTo>
                  <a:pt x="95250" y="1587500"/>
                </a:lnTo>
                <a:cubicBezTo>
                  <a:pt x="42680" y="1587500"/>
                  <a:pt x="0" y="1544820"/>
                  <a:pt x="0" y="1492250"/>
                </a:cubicBezTo>
                <a:lnTo>
                  <a:pt x="0" y="95250"/>
                </a:lnTo>
                <a:cubicBezTo>
                  <a:pt x="0" y="42680"/>
                  <a:pt x="42680" y="0"/>
                  <a:pt x="95250" y="0"/>
                </a:cubicBezTo>
                <a:close/>
              </a:path>
            </a:pathLst>
          </a:custGeom>
          <a:solidFill>
            <a:srgbClr val="2F3E3B"/>
          </a:solidFill>
          <a:ln/>
        </p:spPr>
      </p:sp>
      <p:sp>
        <p:nvSpPr>
          <p:cNvPr id="26" name="Text 23"/>
          <p:cNvSpPr/>
          <p:nvPr/>
        </p:nvSpPr>
        <p:spPr>
          <a:xfrm>
            <a:off x="6350000" y="5376292"/>
            <a:ext cx="5437188" cy="222250"/>
          </a:xfrm>
          <a:prstGeom prst="rect">
            <a:avLst/>
          </a:prstGeom>
          <a:noFill/>
          <a:ln/>
        </p:spPr>
        <p:txBody>
          <a:bodyPr wrap="square" lIns="0" tIns="0" rIns="0" bIns="0" rtlCol="0" anchor="ctr"/>
          <a:lstStyle/>
          <a:p>
            <a:pPr>
              <a:lnSpc>
                <a:spcPct val="130000"/>
              </a:lnSpc>
            </a:pPr>
            <a:r>
              <a:rPr lang="en-US" sz="1125" b="1" dirty="0">
                <a:solidFill>
                  <a:srgbClr val="FFFFFF"/>
                </a:solidFill>
                <a:latin typeface="Sorts Mill Goudy" pitchFamily="34" charset="0"/>
                <a:ea typeface="Sorts Mill Goudy" pitchFamily="34" charset="-122"/>
                <a:cs typeface="Sorts Mill Goudy" pitchFamily="34" charset="-120"/>
              </a:rPr>
              <a:t>Network Functions</a:t>
            </a:r>
            <a:endParaRPr lang="en-US" sz="1600" dirty="0"/>
          </a:p>
        </p:txBody>
      </p:sp>
      <p:sp>
        <p:nvSpPr>
          <p:cNvPr id="27" name="Shape 24"/>
          <p:cNvSpPr/>
          <p:nvPr/>
        </p:nvSpPr>
        <p:spPr>
          <a:xfrm>
            <a:off x="6365875" y="5725542"/>
            <a:ext cx="127000" cy="127000"/>
          </a:xfrm>
          <a:custGeom>
            <a:avLst/>
            <a:gdLst/>
            <a:ahLst/>
            <a:cxnLst/>
            <a:rect l="l" t="t" r="r" b="b"/>
            <a:pathLst>
              <a:path w="127000" h="127000">
                <a:moveTo>
                  <a:pt x="124668" y="37356"/>
                </a:moveTo>
                <a:lnTo>
                  <a:pt x="100856" y="61168"/>
                </a:lnTo>
                <a:cubicBezTo>
                  <a:pt x="98574" y="63450"/>
                  <a:pt x="95176" y="64120"/>
                  <a:pt x="92199" y="62880"/>
                </a:cubicBezTo>
                <a:cubicBezTo>
                  <a:pt x="89222" y="61640"/>
                  <a:pt x="87313" y="58762"/>
                  <a:pt x="87313" y="55563"/>
                </a:cubicBezTo>
                <a:lnTo>
                  <a:pt x="87313" y="39688"/>
                </a:lnTo>
                <a:lnTo>
                  <a:pt x="7938" y="39688"/>
                </a:lnTo>
                <a:cubicBezTo>
                  <a:pt x="3547" y="39688"/>
                  <a:pt x="0" y="36140"/>
                  <a:pt x="0" y="31750"/>
                </a:cubicBezTo>
                <a:cubicBezTo>
                  <a:pt x="0" y="27360"/>
                  <a:pt x="3547" y="23812"/>
                  <a:pt x="7938" y="23812"/>
                </a:cubicBezTo>
                <a:lnTo>
                  <a:pt x="87313" y="23812"/>
                </a:lnTo>
                <a:lnTo>
                  <a:pt x="87313" y="7938"/>
                </a:lnTo>
                <a:cubicBezTo>
                  <a:pt x="87313" y="4738"/>
                  <a:pt x="89247" y="1836"/>
                  <a:pt x="92224" y="595"/>
                </a:cubicBezTo>
                <a:cubicBezTo>
                  <a:pt x="95200" y="-645"/>
                  <a:pt x="98599" y="50"/>
                  <a:pt x="100881" y="2307"/>
                </a:cubicBezTo>
                <a:lnTo>
                  <a:pt x="124693" y="26119"/>
                </a:lnTo>
                <a:cubicBezTo>
                  <a:pt x="127794" y="29220"/>
                  <a:pt x="127794" y="34255"/>
                  <a:pt x="124693" y="37356"/>
                </a:cubicBezTo>
                <a:close/>
                <a:moveTo>
                  <a:pt x="26119" y="124668"/>
                </a:moveTo>
                <a:lnTo>
                  <a:pt x="2307" y="100856"/>
                </a:lnTo>
                <a:cubicBezTo>
                  <a:pt x="-794" y="97755"/>
                  <a:pt x="-794" y="92720"/>
                  <a:pt x="2307" y="89619"/>
                </a:cubicBezTo>
                <a:lnTo>
                  <a:pt x="26119" y="65807"/>
                </a:lnTo>
                <a:cubicBezTo>
                  <a:pt x="28401" y="63525"/>
                  <a:pt x="31800" y="62855"/>
                  <a:pt x="34776" y="64095"/>
                </a:cubicBezTo>
                <a:cubicBezTo>
                  <a:pt x="37753" y="65336"/>
                  <a:pt x="39688" y="68238"/>
                  <a:pt x="39688" y="71438"/>
                </a:cubicBezTo>
                <a:lnTo>
                  <a:pt x="39688" y="87313"/>
                </a:lnTo>
                <a:lnTo>
                  <a:pt x="119063" y="87313"/>
                </a:lnTo>
                <a:cubicBezTo>
                  <a:pt x="123453" y="87313"/>
                  <a:pt x="127000" y="90860"/>
                  <a:pt x="127000" y="95250"/>
                </a:cubicBezTo>
                <a:cubicBezTo>
                  <a:pt x="127000" y="99640"/>
                  <a:pt x="123453" y="103188"/>
                  <a:pt x="119063" y="103188"/>
                </a:cubicBezTo>
                <a:lnTo>
                  <a:pt x="39688" y="103188"/>
                </a:lnTo>
                <a:lnTo>
                  <a:pt x="39688" y="119063"/>
                </a:lnTo>
                <a:cubicBezTo>
                  <a:pt x="39688" y="122262"/>
                  <a:pt x="37753" y="125164"/>
                  <a:pt x="34776" y="126405"/>
                </a:cubicBezTo>
                <a:cubicBezTo>
                  <a:pt x="31800" y="127645"/>
                  <a:pt x="28401" y="126950"/>
                  <a:pt x="26119" y="124693"/>
                </a:cubicBezTo>
                <a:close/>
              </a:path>
            </a:pathLst>
          </a:custGeom>
          <a:solidFill>
            <a:srgbClr val="8FB7AC"/>
          </a:solidFill>
          <a:ln/>
        </p:spPr>
      </p:sp>
      <p:sp>
        <p:nvSpPr>
          <p:cNvPr id="28" name="Text 25"/>
          <p:cNvSpPr/>
          <p:nvPr/>
        </p:nvSpPr>
        <p:spPr>
          <a:xfrm>
            <a:off x="6572250" y="5693792"/>
            <a:ext cx="4008438"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Carbon Transfer:</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Photosynthates move between trees via fungal hyphae</a:t>
            </a:r>
            <a:endParaRPr lang="en-US" sz="1600" dirty="0"/>
          </a:p>
        </p:txBody>
      </p:sp>
      <p:sp>
        <p:nvSpPr>
          <p:cNvPr id="29" name="Shape 26"/>
          <p:cNvSpPr/>
          <p:nvPr/>
        </p:nvSpPr>
        <p:spPr>
          <a:xfrm>
            <a:off x="6365875" y="5979542"/>
            <a:ext cx="127000" cy="127000"/>
          </a:xfrm>
          <a:custGeom>
            <a:avLst/>
            <a:gdLst/>
            <a:ahLst/>
            <a:cxnLst/>
            <a:rect l="l" t="t" r="r" b="b"/>
            <a:pathLst>
              <a:path w="127000" h="127000">
                <a:moveTo>
                  <a:pt x="63500" y="0"/>
                </a:moveTo>
                <a:cubicBezTo>
                  <a:pt x="64641" y="0"/>
                  <a:pt x="65782" y="248"/>
                  <a:pt x="66824" y="719"/>
                </a:cubicBezTo>
                <a:lnTo>
                  <a:pt x="113556" y="20538"/>
                </a:lnTo>
                <a:cubicBezTo>
                  <a:pt x="119013" y="22845"/>
                  <a:pt x="123081" y="28228"/>
                  <a:pt x="123056" y="34727"/>
                </a:cubicBezTo>
                <a:cubicBezTo>
                  <a:pt x="122932" y="59333"/>
                  <a:pt x="112812" y="104353"/>
                  <a:pt x="70073" y="124817"/>
                </a:cubicBezTo>
                <a:cubicBezTo>
                  <a:pt x="65931" y="126802"/>
                  <a:pt x="61119" y="126802"/>
                  <a:pt x="56976" y="124817"/>
                </a:cubicBezTo>
                <a:cubicBezTo>
                  <a:pt x="14213" y="104353"/>
                  <a:pt x="4118" y="59333"/>
                  <a:pt x="3994" y="34727"/>
                </a:cubicBezTo>
                <a:cubicBezTo>
                  <a:pt x="3969" y="28228"/>
                  <a:pt x="8037" y="22845"/>
                  <a:pt x="13494" y="20538"/>
                </a:cubicBezTo>
                <a:lnTo>
                  <a:pt x="60201" y="719"/>
                </a:lnTo>
                <a:cubicBezTo>
                  <a:pt x="61243" y="248"/>
                  <a:pt x="62359" y="0"/>
                  <a:pt x="63500" y="0"/>
                </a:cubicBezTo>
                <a:close/>
                <a:moveTo>
                  <a:pt x="63500" y="16570"/>
                </a:moveTo>
                <a:lnTo>
                  <a:pt x="63500" y="110356"/>
                </a:lnTo>
                <a:cubicBezTo>
                  <a:pt x="97730" y="93787"/>
                  <a:pt x="106933" y="57076"/>
                  <a:pt x="107156" y="35099"/>
                </a:cubicBezTo>
                <a:lnTo>
                  <a:pt x="63500" y="16594"/>
                </a:lnTo>
                <a:lnTo>
                  <a:pt x="63500" y="16594"/>
                </a:lnTo>
                <a:close/>
              </a:path>
            </a:pathLst>
          </a:custGeom>
          <a:solidFill>
            <a:srgbClr val="8FB7AC"/>
          </a:solidFill>
          <a:ln/>
        </p:spPr>
      </p:sp>
      <p:sp>
        <p:nvSpPr>
          <p:cNvPr id="30" name="Text 27"/>
          <p:cNvSpPr/>
          <p:nvPr/>
        </p:nvSpPr>
        <p:spPr>
          <a:xfrm>
            <a:off x="6572250" y="5947792"/>
            <a:ext cx="4222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Pathogen Protection:</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ECM fungi defend host plants from soil-borne diseases</a:t>
            </a:r>
            <a:endParaRPr lang="en-US" sz="1600" dirty="0"/>
          </a:p>
        </p:txBody>
      </p:sp>
      <p:sp>
        <p:nvSpPr>
          <p:cNvPr id="31" name="Shape 28"/>
          <p:cNvSpPr/>
          <p:nvPr/>
        </p:nvSpPr>
        <p:spPr>
          <a:xfrm>
            <a:off x="6373813" y="6233542"/>
            <a:ext cx="111125" cy="127000"/>
          </a:xfrm>
          <a:custGeom>
            <a:avLst/>
            <a:gdLst/>
            <a:ahLst/>
            <a:cxnLst/>
            <a:rect l="l" t="t" r="r" b="b"/>
            <a:pathLst>
              <a:path w="111125" h="127000">
                <a:moveTo>
                  <a:pt x="55563" y="0"/>
                </a:moveTo>
                <a:cubicBezTo>
                  <a:pt x="51172" y="0"/>
                  <a:pt x="47625" y="3547"/>
                  <a:pt x="47625" y="7938"/>
                </a:cubicBezTo>
                <a:lnTo>
                  <a:pt x="47625" y="8731"/>
                </a:lnTo>
                <a:cubicBezTo>
                  <a:pt x="29518" y="12402"/>
                  <a:pt x="15875" y="28426"/>
                  <a:pt x="15875" y="47625"/>
                </a:cubicBezTo>
                <a:lnTo>
                  <a:pt x="15875" y="53008"/>
                </a:lnTo>
                <a:cubicBezTo>
                  <a:pt x="15875" y="64939"/>
                  <a:pt x="11807" y="76522"/>
                  <a:pt x="4366" y="85849"/>
                </a:cubicBezTo>
                <a:lnTo>
                  <a:pt x="1935" y="88875"/>
                </a:lnTo>
                <a:cubicBezTo>
                  <a:pt x="670" y="90438"/>
                  <a:pt x="0" y="92373"/>
                  <a:pt x="0" y="94382"/>
                </a:cubicBezTo>
                <a:cubicBezTo>
                  <a:pt x="0" y="99244"/>
                  <a:pt x="3944" y="103188"/>
                  <a:pt x="8806" y="103188"/>
                </a:cubicBezTo>
                <a:lnTo>
                  <a:pt x="102295" y="103188"/>
                </a:lnTo>
                <a:cubicBezTo>
                  <a:pt x="107156" y="103188"/>
                  <a:pt x="111100" y="99244"/>
                  <a:pt x="111100" y="94382"/>
                </a:cubicBezTo>
                <a:cubicBezTo>
                  <a:pt x="111100" y="92373"/>
                  <a:pt x="110430" y="90438"/>
                  <a:pt x="109165" y="88875"/>
                </a:cubicBezTo>
                <a:lnTo>
                  <a:pt x="106735" y="85849"/>
                </a:lnTo>
                <a:cubicBezTo>
                  <a:pt x="99318" y="76522"/>
                  <a:pt x="95250" y="64939"/>
                  <a:pt x="95250" y="53008"/>
                </a:cubicBezTo>
                <a:lnTo>
                  <a:pt x="95250" y="47625"/>
                </a:lnTo>
                <a:cubicBezTo>
                  <a:pt x="95250" y="28426"/>
                  <a:pt x="81607" y="12402"/>
                  <a:pt x="63500" y="8731"/>
                </a:cubicBezTo>
                <a:lnTo>
                  <a:pt x="63500" y="7937"/>
                </a:lnTo>
                <a:cubicBezTo>
                  <a:pt x="63500" y="3547"/>
                  <a:pt x="59953" y="0"/>
                  <a:pt x="55563" y="0"/>
                </a:cubicBezTo>
                <a:close/>
                <a:moveTo>
                  <a:pt x="40184" y="115094"/>
                </a:moveTo>
                <a:cubicBezTo>
                  <a:pt x="41945" y="121940"/>
                  <a:pt x="48171" y="127000"/>
                  <a:pt x="55563" y="127000"/>
                </a:cubicBezTo>
                <a:cubicBezTo>
                  <a:pt x="62954" y="127000"/>
                  <a:pt x="69180" y="121940"/>
                  <a:pt x="70941" y="115094"/>
                </a:cubicBezTo>
                <a:lnTo>
                  <a:pt x="40184" y="115094"/>
                </a:lnTo>
                <a:close/>
              </a:path>
            </a:pathLst>
          </a:custGeom>
          <a:solidFill>
            <a:srgbClr val="8FB7AC"/>
          </a:solidFill>
          <a:ln/>
        </p:spPr>
      </p:sp>
      <p:sp>
        <p:nvSpPr>
          <p:cNvPr id="32" name="Text 29"/>
          <p:cNvSpPr/>
          <p:nvPr/>
        </p:nvSpPr>
        <p:spPr>
          <a:xfrm>
            <a:off x="6572250" y="6201792"/>
            <a:ext cx="366712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Warning Signals:</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Trees communicate stress and herbivore attacks</a:t>
            </a:r>
            <a:endParaRPr lang="en-US" sz="1600" dirty="0"/>
          </a:p>
        </p:txBody>
      </p:sp>
      <p:sp>
        <p:nvSpPr>
          <p:cNvPr id="33" name="Shape 30"/>
          <p:cNvSpPr/>
          <p:nvPr/>
        </p:nvSpPr>
        <p:spPr>
          <a:xfrm>
            <a:off x="6350000" y="6487542"/>
            <a:ext cx="158750" cy="127000"/>
          </a:xfrm>
          <a:custGeom>
            <a:avLst/>
            <a:gdLst/>
            <a:ahLst/>
            <a:cxnLst/>
            <a:rect l="l" t="t" r="r" b="b"/>
            <a:pathLst>
              <a:path w="158750" h="127000">
                <a:moveTo>
                  <a:pt x="95250" y="7938"/>
                </a:moveTo>
                <a:lnTo>
                  <a:pt x="127000" y="7938"/>
                </a:lnTo>
                <a:cubicBezTo>
                  <a:pt x="131390" y="7938"/>
                  <a:pt x="134938" y="11485"/>
                  <a:pt x="134938" y="15875"/>
                </a:cubicBezTo>
                <a:cubicBezTo>
                  <a:pt x="134938" y="20265"/>
                  <a:pt x="131390" y="23812"/>
                  <a:pt x="127000" y="23812"/>
                </a:cubicBezTo>
                <a:lnTo>
                  <a:pt x="98822" y="23812"/>
                </a:lnTo>
                <a:cubicBezTo>
                  <a:pt x="97532" y="30212"/>
                  <a:pt x="93142" y="35496"/>
                  <a:pt x="87313" y="38026"/>
                </a:cubicBezTo>
                <a:lnTo>
                  <a:pt x="87313" y="111125"/>
                </a:lnTo>
                <a:lnTo>
                  <a:pt x="127000" y="111125"/>
                </a:lnTo>
                <a:cubicBezTo>
                  <a:pt x="131390" y="111125"/>
                  <a:pt x="134938" y="114672"/>
                  <a:pt x="134938" y="119063"/>
                </a:cubicBezTo>
                <a:cubicBezTo>
                  <a:pt x="134938" y="123453"/>
                  <a:pt x="131390" y="127000"/>
                  <a:pt x="127000" y="127000"/>
                </a:cubicBezTo>
                <a:lnTo>
                  <a:pt x="31750" y="127000"/>
                </a:lnTo>
                <a:cubicBezTo>
                  <a:pt x="27360" y="127000"/>
                  <a:pt x="23812" y="123453"/>
                  <a:pt x="23812" y="119063"/>
                </a:cubicBezTo>
                <a:cubicBezTo>
                  <a:pt x="23812" y="114672"/>
                  <a:pt x="27360" y="111125"/>
                  <a:pt x="31750" y="111125"/>
                </a:cubicBezTo>
                <a:lnTo>
                  <a:pt x="71438" y="111125"/>
                </a:lnTo>
                <a:lnTo>
                  <a:pt x="71438" y="38026"/>
                </a:lnTo>
                <a:cubicBezTo>
                  <a:pt x="65608" y="35471"/>
                  <a:pt x="61218" y="30187"/>
                  <a:pt x="59928" y="23813"/>
                </a:cubicBezTo>
                <a:lnTo>
                  <a:pt x="31750" y="23812"/>
                </a:lnTo>
                <a:cubicBezTo>
                  <a:pt x="27360" y="23812"/>
                  <a:pt x="23812" y="20265"/>
                  <a:pt x="23812" y="15875"/>
                </a:cubicBezTo>
                <a:cubicBezTo>
                  <a:pt x="23812" y="11485"/>
                  <a:pt x="27360" y="7938"/>
                  <a:pt x="31750" y="7938"/>
                </a:cubicBezTo>
                <a:lnTo>
                  <a:pt x="63500" y="7938"/>
                </a:lnTo>
                <a:cubicBezTo>
                  <a:pt x="67121" y="3125"/>
                  <a:pt x="72876" y="0"/>
                  <a:pt x="79375" y="0"/>
                </a:cubicBezTo>
                <a:cubicBezTo>
                  <a:pt x="85874" y="0"/>
                  <a:pt x="91629" y="3125"/>
                  <a:pt x="95250" y="7938"/>
                </a:cubicBezTo>
                <a:close/>
                <a:moveTo>
                  <a:pt x="109041" y="79375"/>
                </a:moveTo>
                <a:lnTo>
                  <a:pt x="144959" y="79375"/>
                </a:lnTo>
                <a:lnTo>
                  <a:pt x="127000" y="48568"/>
                </a:lnTo>
                <a:lnTo>
                  <a:pt x="109041" y="79375"/>
                </a:lnTo>
                <a:close/>
                <a:moveTo>
                  <a:pt x="127000" y="103188"/>
                </a:moveTo>
                <a:cubicBezTo>
                  <a:pt x="111398" y="103188"/>
                  <a:pt x="98425" y="94754"/>
                  <a:pt x="95746" y="83617"/>
                </a:cubicBezTo>
                <a:cubicBezTo>
                  <a:pt x="95101" y="80888"/>
                  <a:pt x="95994" y="78085"/>
                  <a:pt x="97408" y="75654"/>
                </a:cubicBezTo>
                <a:lnTo>
                  <a:pt x="121022" y="35173"/>
                </a:lnTo>
                <a:cubicBezTo>
                  <a:pt x="122262" y="33040"/>
                  <a:pt x="124544" y="31750"/>
                  <a:pt x="127000" y="31750"/>
                </a:cubicBezTo>
                <a:cubicBezTo>
                  <a:pt x="129456" y="31750"/>
                  <a:pt x="131738" y="33065"/>
                  <a:pt x="132978" y="35173"/>
                </a:cubicBezTo>
                <a:lnTo>
                  <a:pt x="156592" y="75654"/>
                </a:lnTo>
                <a:cubicBezTo>
                  <a:pt x="158006" y="78085"/>
                  <a:pt x="158899" y="80888"/>
                  <a:pt x="158254" y="83617"/>
                </a:cubicBezTo>
                <a:cubicBezTo>
                  <a:pt x="155575" y="94729"/>
                  <a:pt x="142602" y="103188"/>
                  <a:pt x="127000" y="103188"/>
                </a:cubicBezTo>
                <a:close/>
                <a:moveTo>
                  <a:pt x="31452" y="48568"/>
                </a:moveTo>
                <a:lnTo>
                  <a:pt x="13494" y="79375"/>
                </a:lnTo>
                <a:lnTo>
                  <a:pt x="49436" y="79375"/>
                </a:lnTo>
                <a:lnTo>
                  <a:pt x="31452" y="48568"/>
                </a:lnTo>
                <a:close/>
                <a:moveTo>
                  <a:pt x="223" y="83617"/>
                </a:moveTo>
                <a:cubicBezTo>
                  <a:pt x="-422" y="80888"/>
                  <a:pt x="471" y="78085"/>
                  <a:pt x="1885" y="75654"/>
                </a:cubicBezTo>
                <a:lnTo>
                  <a:pt x="25499" y="35173"/>
                </a:lnTo>
                <a:cubicBezTo>
                  <a:pt x="26739" y="33040"/>
                  <a:pt x="29021" y="31750"/>
                  <a:pt x="31477" y="31750"/>
                </a:cubicBezTo>
                <a:cubicBezTo>
                  <a:pt x="33933" y="31750"/>
                  <a:pt x="36215" y="33065"/>
                  <a:pt x="37455" y="35173"/>
                </a:cubicBezTo>
                <a:lnTo>
                  <a:pt x="61069" y="75654"/>
                </a:lnTo>
                <a:cubicBezTo>
                  <a:pt x="62483" y="78085"/>
                  <a:pt x="63376" y="80888"/>
                  <a:pt x="62731" y="83617"/>
                </a:cubicBezTo>
                <a:cubicBezTo>
                  <a:pt x="60052" y="94729"/>
                  <a:pt x="47079" y="103188"/>
                  <a:pt x="31477" y="103188"/>
                </a:cubicBezTo>
                <a:cubicBezTo>
                  <a:pt x="15875" y="103188"/>
                  <a:pt x="2902" y="94754"/>
                  <a:pt x="223" y="83617"/>
                </a:cubicBezTo>
                <a:close/>
              </a:path>
            </a:pathLst>
          </a:custGeom>
          <a:solidFill>
            <a:srgbClr val="8FB7AC"/>
          </a:solidFill>
          <a:ln/>
        </p:spPr>
      </p:sp>
      <p:sp>
        <p:nvSpPr>
          <p:cNvPr id="34" name="Text 31"/>
          <p:cNvSpPr/>
          <p:nvPr/>
        </p:nvSpPr>
        <p:spPr>
          <a:xfrm>
            <a:off x="6572250" y="6455792"/>
            <a:ext cx="3762375"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Quattrocento Sans" pitchFamily="34" charset="0"/>
                <a:ea typeface="Quattrocento Sans" pitchFamily="34" charset="-122"/>
                <a:cs typeface="Quattrocento Sans" pitchFamily="34" charset="-120"/>
              </a:rPr>
              <a:t>Resource Sharing:</a:t>
            </a:r>
            <a:pP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 Nutrients redistributed from source to sink plants</a:t>
            </a:r>
            <a:endParaRPr lang="en-US" sz="1600" dirty="0"/>
          </a:p>
        </p:txBody>
      </p:sp>
      <p:sp>
        <p:nvSpPr>
          <p:cNvPr id="35" name="Shape 32"/>
          <p:cNvSpPr/>
          <p:nvPr/>
        </p:nvSpPr>
        <p:spPr>
          <a:xfrm>
            <a:off x="6191250" y="6932042"/>
            <a:ext cx="5683250" cy="762000"/>
          </a:xfrm>
          <a:custGeom>
            <a:avLst/>
            <a:gdLst/>
            <a:ahLst/>
            <a:cxnLst/>
            <a:rect l="l" t="t" r="r" b="b"/>
            <a:pathLst>
              <a:path w="5683250" h="762000">
                <a:moveTo>
                  <a:pt x="95250" y="0"/>
                </a:moveTo>
                <a:lnTo>
                  <a:pt x="5588000" y="0"/>
                </a:lnTo>
                <a:cubicBezTo>
                  <a:pt x="5640570" y="0"/>
                  <a:pt x="5683250" y="42680"/>
                  <a:pt x="5683250" y="95250"/>
                </a:cubicBezTo>
                <a:lnTo>
                  <a:pt x="5683250" y="666750"/>
                </a:lnTo>
                <a:cubicBezTo>
                  <a:pt x="5683250" y="719320"/>
                  <a:pt x="5640570" y="762000"/>
                  <a:pt x="5588000" y="762000"/>
                </a:cubicBezTo>
                <a:lnTo>
                  <a:pt x="95250" y="762000"/>
                </a:lnTo>
                <a:cubicBezTo>
                  <a:pt x="42680" y="762000"/>
                  <a:pt x="0" y="719320"/>
                  <a:pt x="0" y="666750"/>
                </a:cubicBezTo>
                <a:lnTo>
                  <a:pt x="0" y="95250"/>
                </a:lnTo>
                <a:cubicBezTo>
                  <a:pt x="0" y="42680"/>
                  <a:pt x="42680" y="0"/>
                  <a:pt x="95250" y="0"/>
                </a:cubicBezTo>
                <a:close/>
              </a:path>
            </a:pathLst>
          </a:custGeom>
          <a:solidFill>
            <a:srgbClr val="4C8A7A"/>
          </a:solidFill>
          <a:ln/>
        </p:spPr>
      </p:sp>
      <p:sp>
        <p:nvSpPr>
          <p:cNvPr id="36" name="Text 33"/>
          <p:cNvSpPr/>
          <p:nvPr/>
        </p:nvSpPr>
        <p:spPr>
          <a:xfrm>
            <a:off x="6258719" y="7059042"/>
            <a:ext cx="5548313" cy="285750"/>
          </a:xfrm>
          <a:prstGeom prst="rect">
            <a:avLst/>
          </a:prstGeom>
          <a:noFill/>
          <a:ln/>
        </p:spPr>
        <p:txBody>
          <a:bodyPr wrap="square" lIns="0" tIns="0" rIns="0" bIns="0" rtlCol="0" anchor="ctr"/>
          <a:lstStyle/>
          <a:p>
            <a:pPr algn="ctr">
              <a:lnSpc>
                <a:spcPct val="100000"/>
              </a:lnSpc>
            </a:pPr>
            <a:r>
              <a:rPr lang="en-US" sz="1875" b="1" dirty="0">
                <a:solidFill>
                  <a:srgbClr val="FFFFFF"/>
                </a:solidFill>
                <a:latin typeface="Sorts Mill Goudy" pitchFamily="34" charset="0"/>
                <a:ea typeface="Sorts Mill Goudy" pitchFamily="34" charset="-122"/>
                <a:cs typeface="Sorts Mill Goudy" pitchFamily="34" charset="-120"/>
              </a:rPr>
              <a:t>Latitudinal Variation</a:t>
            </a:r>
            <a:endParaRPr lang="en-US" sz="1600" dirty="0"/>
          </a:p>
        </p:txBody>
      </p:sp>
      <p:sp>
        <p:nvSpPr>
          <p:cNvPr id="37" name="Text 34"/>
          <p:cNvSpPr/>
          <p:nvPr/>
        </p:nvSpPr>
        <p:spPr>
          <a:xfrm>
            <a:off x="6286500" y="7376542"/>
            <a:ext cx="5492750" cy="190500"/>
          </a:xfrm>
          <a:prstGeom prst="rect">
            <a:avLst/>
          </a:prstGeom>
          <a:noFill/>
          <a:ln/>
        </p:spPr>
        <p:txBody>
          <a:bodyPr wrap="square" lIns="0" tIns="0" rIns="0" bIns="0" rtlCol="0" anchor="ctr"/>
          <a:lstStyle/>
          <a:p>
            <a:pPr algn="ctr">
              <a:lnSpc>
                <a:spcPct val="130000"/>
              </a:lnSpc>
            </a:pPr>
            <a:r>
              <a:rPr lang="en-US" sz="1000" dirty="0">
                <a:solidFill>
                  <a:srgbClr val="FFFFFF"/>
                </a:solidFill>
                <a:latin typeface="Quattrocento Sans" pitchFamily="34" charset="0"/>
                <a:ea typeface="Quattrocento Sans" pitchFamily="34" charset="-122"/>
                <a:cs typeface="Quattrocento Sans" pitchFamily="34" charset="-120"/>
              </a:rPr>
              <a:t>AM-tropical, ECM-temperate associations explain biodiversity patterns</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52625" y="352625"/>
            <a:ext cx="11548460" cy="176312"/>
          </a:xfrm>
          <a:prstGeom prst="rect">
            <a:avLst/>
          </a:prstGeom>
          <a:noFill/>
          <a:ln/>
        </p:spPr>
        <p:txBody>
          <a:bodyPr wrap="square" lIns="0" tIns="0" rIns="0" bIns="0" rtlCol="0" anchor="ctr"/>
          <a:lstStyle/>
          <a:p>
            <a:pPr>
              <a:lnSpc>
                <a:spcPct val="120000"/>
              </a:lnSpc>
            </a:pPr>
            <a:r>
              <a:rPr lang="en-US" sz="972" b="1" spc="97" kern="0" dirty="0">
                <a:solidFill>
                  <a:srgbClr val="5F6F6B"/>
                </a:solidFill>
                <a:latin typeface="Quattrocento Sans" pitchFamily="34" charset="0"/>
                <a:ea typeface="Quattrocento Sans" pitchFamily="34" charset="-122"/>
                <a:cs typeface="Quattrocento Sans" pitchFamily="34" charset="-120"/>
              </a:rPr>
              <a:t>05 • Belowground Processes</a:t>
            </a:r>
            <a:endParaRPr lang="en-US" sz="1600" dirty="0"/>
          </a:p>
        </p:txBody>
      </p:sp>
      <p:sp>
        <p:nvSpPr>
          <p:cNvPr id="3" name="Text 1"/>
          <p:cNvSpPr/>
          <p:nvPr/>
        </p:nvSpPr>
        <p:spPr>
          <a:xfrm>
            <a:off x="352625" y="599462"/>
            <a:ext cx="11645432" cy="352625"/>
          </a:xfrm>
          <a:prstGeom prst="rect">
            <a:avLst/>
          </a:prstGeom>
          <a:noFill/>
          <a:ln/>
        </p:spPr>
        <p:txBody>
          <a:bodyPr wrap="square" lIns="0" tIns="0" rIns="0" bIns="0" rtlCol="0" anchor="ctr"/>
          <a:lstStyle/>
          <a:p>
            <a:pPr>
              <a:lnSpc>
                <a:spcPct val="90000"/>
              </a:lnSpc>
            </a:pPr>
            <a:r>
              <a:rPr lang="en-US" sz="2499" b="1" dirty="0">
                <a:solidFill>
                  <a:srgbClr val="2F3E3B"/>
                </a:solidFill>
                <a:latin typeface="Sorts Mill Goudy" pitchFamily="34" charset="0"/>
                <a:ea typeface="Sorts Mill Goudy" pitchFamily="34" charset="-122"/>
                <a:cs typeface="Sorts Mill Goudy" pitchFamily="34" charset="-120"/>
              </a:rPr>
              <a:t>Nutrient Cycling &amp; Resource Partitioning</a:t>
            </a:r>
            <a:endParaRPr lang="en-US" sz="1600" dirty="0"/>
          </a:p>
        </p:txBody>
      </p:sp>
      <p:sp>
        <p:nvSpPr>
          <p:cNvPr id="4" name="Text 2"/>
          <p:cNvSpPr/>
          <p:nvPr/>
        </p:nvSpPr>
        <p:spPr>
          <a:xfrm>
            <a:off x="352625" y="1022612"/>
            <a:ext cx="11566091" cy="246837"/>
          </a:xfrm>
          <a:prstGeom prst="rect">
            <a:avLst/>
          </a:prstGeom>
          <a:noFill/>
          <a:ln/>
        </p:spPr>
        <p:txBody>
          <a:bodyPr wrap="square" lIns="0" tIns="0" rIns="0" bIns="0" rtlCol="0" anchor="ctr"/>
          <a:lstStyle/>
          <a:p>
            <a:pPr>
              <a:lnSpc>
                <a:spcPct val="130000"/>
              </a:lnSpc>
            </a:pPr>
            <a:r>
              <a:rPr lang="en-US" sz="1249" dirty="0">
                <a:solidFill>
                  <a:srgbClr val="5F6F6B"/>
                </a:solidFill>
                <a:latin typeface="Quattrocento Sans" pitchFamily="34" charset="0"/>
                <a:ea typeface="Quattrocento Sans" pitchFamily="34" charset="-122"/>
                <a:cs typeface="Quattrocento Sans" pitchFamily="34" charset="-120"/>
              </a:rPr>
              <a:t>Biogeochemical processes support diverse forest communities</a:t>
            </a:r>
            <a:endParaRPr lang="en-US" sz="1600" dirty="0"/>
          </a:p>
        </p:txBody>
      </p:sp>
      <p:sp>
        <p:nvSpPr>
          <p:cNvPr id="5" name="Shape 3"/>
          <p:cNvSpPr/>
          <p:nvPr/>
        </p:nvSpPr>
        <p:spPr>
          <a:xfrm>
            <a:off x="352625" y="1445761"/>
            <a:ext cx="7599063" cy="2221536"/>
          </a:xfrm>
          <a:custGeom>
            <a:avLst/>
            <a:gdLst/>
            <a:ahLst/>
            <a:cxnLst/>
            <a:rect l="l" t="t" r="r" b="b"/>
            <a:pathLst>
              <a:path w="7599063" h="2221536">
                <a:moveTo>
                  <a:pt x="105790" y="0"/>
                </a:moveTo>
                <a:lnTo>
                  <a:pt x="7493273" y="0"/>
                </a:lnTo>
                <a:cubicBezTo>
                  <a:pt x="7551699" y="0"/>
                  <a:pt x="7599063" y="47364"/>
                  <a:pt x="7599063" y="105790"/>
                </a:cubicBezTo>
                <a:lnTo>
                  <a:pt x="7599063" y="2115746"/>
                </a:lnTo>
                <a:cubicBezTo>
                  <a:pt x="7599063" y="2174172"/>
                  <a:pt x="7551699" y="2221536"/>
                  <a:pt x="7493273" y="2221536"/>
                </a:cubicBezTo>
                <a:lnTo>
                  <a:pt x="105790" y="2221536"/>
                </a:lnTo>
                <a:cubicBezTo>
                  <a:pt x="47364" y="2221536"/>
                  <a:pt x="0" y="2174172"/>
                  <a:pt x="0" y="2115746"/>
                </a:cubicBezTo>
                <a:lnTo>
                  <a:pt x="0" y="105790"/>
                </a:lnTo>
                <a:cubicBezTo>
                  <a:pt x="0" y="47364"/>
                  <a:pt x="47364" y="0"/>
                  <a:pt x="105790"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6" name="Text 4"/>
          <p:cNvSpPr/>
          <p:nvPr/>
        </p:nvSpPr>
        <p:spPr>
          <a:xfrm>
            <a:off x="528937" y="1622074"/>
            <a:ext cx="7334594" cy="246837"/>
          </a:xfrm>
          <a:prstGeom prst="rect">
            <a:avLst/>
          </a:prstGeom>
          <a:noFill/>
          <a:ln/>
        </p:spPr>
        <p:txBody>
          <a:bodyPr wrap="square" lIns="0" tIns="0" rIns="0" bIns="0" rtlCol="0" anchor="ctr"/>
          <a:lstStyle/>
          <a:p>
            <a:pPr>
              <a:lnSpc>
                <a:spcPct val="120000"/>
              </a:lnSpc>
            </a:pPr>
            <a:r>
              <a:rPr lang="en-US" sz="1388" b="1" dirty="0">
                <a:solidFill>
                  <a:srgbClr val="2F3E3B"/>
                </a:solidFill>
                <a:latin typeface="Sorts Mill Goudy" pitchFamily="34" charset="0"/>
                <a:ea typeface="Sorts Mill Goudy" pitchFamily="34" charset="-122"/>
                <a:cs typeface="Sorts Mill Goudy" pitchFamily="34" charset="-120"/>
              </a:rPr>
              <a:t>Forest Nutrient Cycling</a:t>
            </a:r>
            <a:endParaRPr lang="en-US" sz="1600" dirty="0"/>
          </a:p>
        </p:txBody>
      </p:sp>
      <p:sp>
        <p:nvSpPr>
          <p:cNvPr id="7" name="Text 5"/>
          <p:cNvSpPr/>
          <p:nvPr/>
        </p:nvSpPr>
        <p:spPr>
          <a:xfrm>
            <a:off x="528937" y="1974698"/>
            <a:ext cx="7316963"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Nutrient cycling is the exchange of elements between living and non-living components of ecosystems. </a:t>
            </a:r>
            <a:pPr>
              <a:lnSpc>
                <a:spcPct val="140000"/>
              </a:lnSpc>
            </a:pPr>
            <a:r>
              <a:rPr lang="en-US" sz="11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Different tree species have varying nutrient requirements and strategies </a:t>
            </a:r>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 enabling coexistence through resource partitioning.</a:t>
            </a:r>
            <a:endParaRPr lang="en-US" sz="1600" dirty="0"/>
          </a:p>
        </p:txBody>
      </p:sp>
      <p:sp>
        <p:nvSpPr>
          <p:cNvPr id="8" name="Shape 6"/>
          <p:cNvSpPr/>
          <p:nvPr/>
        </p:nvSpPr>
        <p:spPr>
          <a:xfrm>
            <a:off x="528937"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4C8A7A">
              <a:alpha val="10196"/>
            </a:srgbClr>
          </a:solidFill>
          <a:ln/>
        </p:spPr>
      </p:sp>
      <p:sp>
        <p:nvSpPr>
          <p:cNvPr id="9" name="Shape 7"/>
          <p:cNvSpPr/>
          <p:nvPr/>
        </p:nvSpPr>
        <p:spPr>
          <a:xfrm>
            <a:off x="1595696" y="2679948"/>
            <a:ext cx="211575" cy="211575"/>
          </a:xfrm>
          <a:custGeom>
            <a:avLst/>
            <a:gdLst/>
            <a:ahLst/>
            <a:cxnLst/>
            <a:rect l="l" t="t" r="r" b="b"/>
            <a:pathLst>
              <a:path w="211575" h="211575">
                <a:moveTo>
                  <a:pt x="194756" y="2769"/>
                </a:moveTo>
                <a:cubicBezTo>
                  <a:pt x="197401" y="248"/>
                  <a:pt x="201244" y="-661"/>
                  <a:pt x="204798" y="496"/>
                </a:cubicBezTo>
                <a:cubicBezTo>
                  <a:pt x="208848" y="1860"/>
                  <a:pt x="211575" y="5661"/>
                  <a:pt x="211575" y="9918"/>
                </a:cubicBezTo>
                <a:lnTo>
                  <a:pt x="211575" y="87151"/>
                </a:lnTo>
                <a:cubicBezTo>
                  <a:pt x="211575" y="141367"/>
                  <a:pt x="166904" y="185128"/>
                  <a:pt x="112895" y="185128"/>
                </a:cubicBezTo>
                <a:cubicBezTo>
                  <a:pt x="81076" y="185128"/>
                  <a:pt x="53638" y="164673"/>
                  <a:pt x="43679" y="136077"/>
                </a:cubicBezTo>
                <a:cubicBezTo>
                  <a:pt x="29050" y="148805"/>
                  <a:pt x="19835" y="167524"/>
                  <a:pt x="19835" y="188434"/>
                </a:cubicBezTo>
                <a:cubicBezTo>
                  <a:pt x="19835" y="193930"/>
                  <a:pt x="15414" y="198351"/>
                  <a:pt x="9918" y="198351"/>
                </a:cubicBezTo>
                <a:cubicBezTo>
                  <a:pt x="4422" y="198351"/>
                  <a:pt x="0" y="193930"/>
                  <a:pt x="0" y="188434"/>
                </a:cubicBezTo>
                <a:cubicBezTo>
                  <a:pt x="0" y="157483"/>
                  <a:pt x="15785" y="130209"/>
                  <a:pt x="39712" y="114176"/>
                </a:cubicBezTo>
                <a:cubicBezTo>
                  <a:pt x="54299" y="104424"/>
                  <a:pt x="71696" y="99176"/>
                  <a:pt x="89258" y="99176"/>
                </a:cubicBezTo>
                <a:lnTo>
                  <a:pt x="122317" y="99176"/>
                </a:lnTo>
                <a:cubicBezTo>
                  <a:pt x="127813" y="99176"/>
                  <a:pt x="132234" y="94754"/>
                  <a:pt x="132234" y="89258"/>
                </a:cubicBezTo>
                <a:cubicBezTo>
                  <a:pt x="132234" y="83762"/>
                  <a:pt x="127813" y="79341"/>
                  <a:pt x="122317" y="79341"/>
                </a:cubicBezTo>
                <a:lnTo>
                  <a:pt x="89258" y="79341"/>
                </a:lnTo>
                <a:cubicBezTo>
                  <a:pt x="72853" y="79341"/>
                  <a:pt x="57315" y="82977"/>
                  <a:pt x="43389" y="89465"/>
                </a:cubicBezTo>
                <a:cubicBezTo>
                  <a:pt x="53018" y="60539"/>
                  <a:pt x="80250" y="39670"/>
                  <a:pt x="112399" y="39670"/>
                </a:cubicBezTo>
                <a:cubicBezTo>
                  <a:pt x="139838" y="39670"/>
                  <a:pt x="160251" y="30538"/>
                  <a:pt x="173847" y="21488"/>
                </a:cubicBezTo>
                <a:cubicBezTo>
                  <a:pt x="181781" y="16199"/>
                  <a:pt x="188516" y="9876"/>
                  <a:pt x="194798" y="2769"/>
                </a:cubicBezTo>
                <a:close/>
              </a:path>
            </a:pathLst>
          </a:custGeom>
          <a:solidFill>
            <a:srgbClr val="4C8A7A"/>
          </a:solidFill>
          <a:ln/>
        </p:spPr>
      </p:sp>
      <p:sp>
        <p:nvSpPr>
          <p:cNvPr id="10" name="Text 8"/>
          <p:cNvSpPr/>
          <p:nvPr/>
        </p:nvSpPr>
        <p:spPr>
          <a:xfrm>
            <a:off x="599462"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Uptake</a:t>
            </a:r>
            <a:endParaRPr lang="en-US" sz="1600" dirty="0"/>
          </a:p>
        </p:txBody>
      </p:sp>
      <p:sp>
        <p:nvSpPr>
          <p:cNvPr id="11" name="Text 9"/>
          <p:cNvSpPr/>
          <p:nvPr/>
        </p:nvSpPr>
        <p:spPr>
          <a:xfrm>
            <a:off x="603870"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Root absorption of N, P, K from soil</a:t>
            </a:r>
            <a:endParaRPr lang="en-US" sz="1600" dirty="0"/>
          </a:p>
        </p:txBody>
      </p:sp>
      <p:sp>
        <p:nvSpPr>
          <p:cNvPr id="12" name="Shape 10"/>
          <p:cNvSpPr/>
          <p:nvPr/>
        </p:nvSpPr>
        <p:spPr>
          <a:xfrm>
            <a:off x="2979886"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8FB7AC">
              <a:alpha val="10196"/>
            </a:srgbClr>
          </a:solidFill>
          <a:ln/>
        </p:spPr>
      </p:sp>
      <p:sp>
        <p:nvSpPr>
          <p:cNvPr id="13" name="Shape 11"/>
          <p:cNvSpPr/>
          <p:nvPr/>
        </p:nvSpPr>
        <p:spPr>
          <a:xfrm>
            <a:off x="4046644" y="2679948"/>
            <a:ext cx="211575" cy="211575"/>
          </a:xfrm>
          <a:custGeom>
            <a:avLst/>
            <a:gdLst/>
            <a:ahLst/>
            <a:cxnLst/>
            <a:rect l="l" t="t" r="r" b="b"/>
            <a:pathLst>
              <a:path w="211575" h="211575">
                <a:moveTo>
                  <a:pt x="62935" y="24794"/>
                </a:moveTo>
                <a:cubicBezTo>
                  <a:pt x="82027" y="-8265"/>
                  <a:pt x="129755" y="-8265"/>
                  <a:pt x="148846" y="24794"/>
                </a:cubicBezTo>
                <a:lnTo>
                  <a:pt x="164260" y="51489"/>
                </a:lnTo>
                <a:lnTo>
                  <a:pt x="175706" y="44877"/>
                </a:lnTo>
                <a:cubicBezTo>
                  <a:pt x="179177" y="42852"/>
                  <a:pt x="183516" y="43141"/>
                  <a:pt x="186698" y="45580"/>
                </a:cubicBezTo>
                <a:cubicBezTo>
                  <a:pt x="189880" y="48018"/>
                  <a:pt x="191285" y="52150"/>
                  <a:pt x="190252" y="56034"/>
                </a:cubicBezTo>
                <a:lnTo>
                  <a:pt x="180541" y="92151"/>
                </a:lnTo>
                <a:cubicBezTo>
                  <a:pt x="179136" y="97440"/>
                  <a:pt x="173681" y="100581"/>
                  <a:pt x="168392" y="99176"/>
                </a:cubicBezTo>
                <a:lnTo>
                  <a:pt x="132276" y="89506"/>
                </a:lnTo>
                <a:cubicBezTo>
                  <a:pt x="128391" y="88473"/>
                  <a:pt x="125540" y="85208"/>
                  <a:pt x="125003" y="81241"/>
                </a:cubicBezTo>
                <a:cubicBezTo>
                  <a:pt x="124466" y="77274"/>
                  <a:pt x="126408" y="73349"/>
                  <a:pt x="129879" y="71365"/>
                </a:cubicBezTo>
                <a:lnTo>
                  <a:pt x="141325" y="64753"/>
                </a:lnTo>
                <a:lnTo>
                  <a:pt x="125912" y="38059"/>
                </a:lnTo>
                <a:cubicBezTo>
                  <a:pt x="116986" y="22645"/>
                  <a:pt x="94754" y="22645"/>
                  <a:pt x="85828" y="38059"/>
                </a:cubicBezTo>
                <a:lnTo>
                  <a:pt x="83638" y="41819"/>
                </a:lnTo>
                <a:cubicBezTo>
                  <a:pt x="80002" y="48142"/>
                  <a:pt x="71902" y="50290"/>
                  <a:pt x="65580" y="46654"/>
                </a:cubicBezTo>
                <a:cubicBezTo>
                  <a:pt x="59257" y="43017"/>
                  <a:pt x="57109" y="34918"/>
                  <a:pt x="60745" y="28554"/>
                </a:cubicBezTo>
                <a:lnTo>
                  <a:pt x="62935" y="24794"/>
                </a:lnTo>
                <a:close/>
                <a:moveTo>
                  <a:pt x="185830" y="115333"/>
                </a:moveTo>
                <a:cubicBezTo>
                  <a:pt x="192153" y="111697"/>
                  <a:pt x="200252" y="113845"/>
                  <a:pt x="203889" y="120168"/>
                </a:cubicBezTo>
                <a:lnTo>
                  <a:pt x="206079" y="123928"/>
                </a:lnTo>
                <a:cubicBezTo>
                  <a:pt x="225170" y="156987"/>
                  <a:pt x="201327" y="198310"/>
                  <a:pt x="163144" y="198310"/>
                </a:cubicBezTo>
                <a:lnTo>
                  <a:pt x="132317" y="198310"/>
                </a:lnTo>
                <a:lnTo>
                  <a:pt x="132317" y="211534"/>
                </a:lnTo>
                <a:cubicBezTo>
                  <a:pt x="132317" y="215542"/>
                  <a:pt x="129920" y="219178"/>
                  <a:pt x="126201" y="220707"/>
                </a:cubicBezTo>
                <a:cubicBezTo>
                  <a:pt x="122482" y="222236"/>
                  <a:pt x="118226" y="221410"/>
                  <a:pt x="115374" y="218558"/>
                </a:cubicBezTo>
                <a:lnTo>
                  <a:pt x="88928" y="192112"/>
                </a:lnTo>
                <a:cubicBezTo>
                  <a:pt x="85043" y="188227"/>
                  <a:pt x="85043" y="181946"/>
                  <a:pt x="88928" y="178103"/>
                </a:cubicBezTo>
                <a:lnTo>
                  <a:pt x="115374" y="151656"/>
                </a:lnTo>
                <a:cubicBezTo>
                  <a:pt x="118226" y="148805"/>
                  <a:pt x="122482" y="147978"/>
                  <a:pt x="126201" y="149507"/>
                </a:cubicBezTo>
                <a:cubicBezTo>
                  <a:pt x="129920" y="151036"/>
                  <a:pt x="132317" y="154673"/>
                  <a:pt x="132317" y="158681"/>
                </a:cubicBezTo>
                <a:lnTo>
                  <a:pt x="132317" y="171905"/>
                </a:lnTo>
                <a:lnTo>
                  <a:pt x="163144" y="171905"/>
                </a:lnTo>
                <a:cubicBezTo>
                  <a:pt x="180954" y="171905"/>
                  <a:pt x="192112" y="152607"/>
                  <a:pt x="183186" y="137193"/>
                </a:cubicBezTo>
                <a:lnTo>
                  <a:pt x="180996" y="133433"/>
                </a:lnTo>
                <a:cubicBezTo>
                  <a:pt x="177359" y="127110"/>
                  <a:pt x="179508" y="119011"/>
                  <a:pt x="185830" y="115374"/>
                </a:cubicBezTo>
                <a:close/>
                <a:moveTo>
                  <a:pt x="21075" y="97275"/>
                </a:moveTo>
                <a:lnTo>
                  <a:pt x="9628" y="90663"/>
                </a:lnTo>
                <a:cubicBezTo>
                  <a:pt x="6157" y="88638"/>
                  <a:pt x="4215" y="84754"/>
                  <a:pt x="4752" y="80787"/>
                </a:cubicBezTo>
                <a:cubicBezTo>
                  <a:pt x="5289" y="76820"/>
                  <a:pt x="8141" y="73555"/>
                  <a:pt x="12025" y="72522"/>
                </a:cubicBezTo>
                <a:lnTo>
                  <a:pt x="48142" y="62811"/>
                </a:lnTo>
                <a:cubicBezTo>
                  <a:pt x="53431" y="61406"/>
                  <a:pt x="58886" y="64547"/>
                  <a:pt x="60291" y="69836"/>
                </a:cubicBezTo>
                <a:lnTo>
                  <a:pt x="69960" y="105953"/>
                </a:lnTo>
                <a:cubicBezTo>
                  <a:pt x="70993" y="109837"/>
                  <a:pt x="69588" y="113928"/>
                  <a:pt x="66406" y="116407"/>
                </a:cubicBezTo>
                <a:cubicBezTo>
                  <a:pt x="63225" y="118887"/>
                  <a:pt x="58886" y="119135"/>
                  <a:pt x="55414" y="117110"/>
                </a:cubicBezTo>
                <a:lnTo>
                  <a:pt x="43968" y="110498"/>
                </a:lnTo>
                <a:lnTo>
                  <a:pt x="28554" y="137193"/>
                </a:lnTo>
                <a:cubicBezTo>
                  <a:pt x="19629" y="152607"/>
                  <a:pt x="30786" y="171905"/>
                  <a:pt x="48596" y="171905"/>
                </a:cubicBezTo>
                <a:lnTo>
                  <a:pt x="52976" y="171905"/>
                </a:lnTo>
                <a:cubicBezTo>
                  <a:pt x="60291" y="171905"/>
                  <a:pt x="66200" y="177814"/>
                  <a:pt x="66200" y="185128"/>
                </a:cubicBezTo>
                <a:cubicBezTo>
                  <a:pt x="66200" y="192442"/>
                  <a:pt x="60291" y="198351"/>
                  <a:pt x="52976" y="198351"/>
                </a:cubicBezTo>
                <a:lnTo>
                  <a:pt x="48596" y="198351"/>
                </a:lnTo>
                <a:cubicBezTo>
                  <a:pt x="10455" y="198351"/>
                  <a:pt x="-13389" y="157028"/>
                  <a:pt x="5703" y="123970"/>
                </a:cubicBezTo>
                <a:lnTo>
                  <a:pt x="21075" y="97275"/>
                </a:lnTo>
                <a:close/>
              </a:path>
            </a:pathLst>
          </a:custGeom>
          <a:solidFill>
            <a:srgbClr val="8FB7AC"/>
          </a:solidFill>
          <a:ln/>
        </p:spPr>
      </p:sp>
      <p:sp>
        <p:nvSpPr>
          <p:cNvPr id="14" name="Text 12"/>
          <p:cNvSpPr/>
          <p:nvPr/>
        </p:nvSpPr>
        <p:spPr>
          <a:xfrm>
            <a:off x="3050411"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Cycling</a:t>
            </a:r>
            <a:endParaRPr lang="en-US" sz="1600" dirty="0"/>
          </a:p>
        </p:txBody>
      </p:sp>
      <p:sp>
        <p:nvSpPr>
          <p:cNvPr id="15" name="Text 13"/>
          <p:cNvSpPr/>
          <p:nvPr/>
        </p:nvSpPr>
        <p:spPr>
          <a:xfrm>
            <a:off x="3054818"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Litter decomposition, mineralization</a:t>
            </a:r>
            <a:endParaRPr lang="en-US" sz="1600" dirty="0"/>
          </a:p>
        </p:txBody>
      </p:sp>
      <p:sp>
        <p:nvSpPr>
          <p:cNvPr id="16" name="Shape 14"/>
          <p:cNvSpPr/>
          <p:nvPr/>
        </p:nvSpPr>
        <p:spPr>
          <a:xfrm>
            <a:off x="5430834" y="2574161"/>
            <a:ext cx="2344954" cy="916824"/>
          </a:xfrm>
          <a:custGeom>
            <a:avLst/>
            <a:gdLst/>
            <a:ahLst/>
            <a:cxnLst/>
            <a:rect l="l" t="t" r="r" b="b"/>
            <a:pathLst>
              <a:path w="2344954" h="916824">
                <a:moveTo>
                  <a:pt x="70522" y="0"/>
                </a:moveTo>
                <a:lnTo>
                  <a:pt x="2274432" y="0"/>
                </a:lnTo>
                <a:cubicBezTo>
                  <a:pt x="2313381" y="0"/>
                  <a:pt x="2344954" y="31574"/>
                  <a:pt x="2344954" y="70522"/>
                </a:cubicBezTo>
                <a:lnTo>
                  <a:pt x="2344954" y="846302"/>
                </a:lnTo>
                <a:cubicBezTo>
                  <a:pt x="2344954" y="885250"/>
                  <a:pt x="2313381" y="916824"/>
                  <a:pt x="2274432" y="916824"/>
                </a:cubicBezTo>
                <a:lnTo>
                  <a:pt x="70522" y="916824"/>
                </a:lnTo>
                <a:cubicBezTo>
                  <a:pt x="31600" y="916824"/>
                  <a:pt x="0" y="885224"/>
                  <a:pt x="0" y="846302"/>
                </a:cubicBezTo>
                <a:lnTo>
                  <a:pt x="0" y="70522"/>
                </a:lnTo>
                <a:cubicBezTo>
                  <a:pt x="0" y="31600"/>
                  <a:pt x="31600" y="0"/>
                  <a:pt x="70522" y="0"/>
                </a:cubicBezTo>
                <a:close/>
              </a:path>
            </a:pathLst>
          </a:custGeom>
          <a:solidFill>
            <a:srgbClr val="5F6F6B">
              <a:alpha val="10196"/>
            </a:srgbClr>
          </a:solidFill>
          <a:ln/>
        </p:spPr>
      </p:sp>
      <p:sp>
        <p:nvSpPr>
          <p:cNvPr id="17" name="Shape 15"/>
          <p:cNvSpPr/>
          <p:nvPr/>
        </p:nvSpPr>
        <p:spPr>
          <a:xfrm>
            <a:off x="6497593" y="2679948"/>
            <a:ext cx="211575" cy="211575"/>
          </a:xfrm>
          <a:custGeom>
            <a:avLst/>
            <a:gdLst/>
            <a:ahLst/>
            <a:cxnLst/>
            <a:rect l="l" t="t" r="r" b="b"/>
            <a:pathLst>
              <a:path w="211575" h="211575">
                <a:moveTo>
                  <a:pt x="211575" y="13223"/>
                </a:moveTo>
                <a:cubicBezTo>
                  <a:pt x="211575" y="57894"/>
                  <a:pt x="179921" y="95167"/>
                  <a:pt x="137854" y="103887"/>
                </a:cubicBezTo>
                <a:cubicBezTo>
                  <a:pt x="134590" y="79878"/>
                  <a:pt x="123804" y="58266"/>
                  <a:pt x="107895" y="41530"/>
                </a:cubicBezTo>
                <a:cubicBezTo>
                  <a:pt x="124466" y="16529"/>
                  <a:pt x="152855" y="0"/>
                  <a:pt x="185128" y="0"/>
                </a:cubicBezTo>
                <a:lnTo>
                  <a:pt x="198351" y="0"/>
                </a:lnTo>
                <a:cubicBezTo>
                  <a:pt x="205666" y="0"/>
                  <a:pt x="211575" y="5909"/>
                  <a:pt x="211575" y="13223"/>
                </a:cubicBezTo>
                <a:close/>
                <a:moveTo>
                  <a:pt x="0" y="39670"/>
                </a:moveTo>
                <a:cubicBezTo>
                  <a:pt x="0" y="32356"/>
                  <a:pt x="5909" y="26447"/>
                  <a:pt x="13223" y="26447"/>
                </a:cubicBezTo>
                <a:lnTo>
                  <a:pt x="26447" y="26447"/>
                </a:lnTo>
                <a:cubicBezTo>
                  <a:pt x="77564" y="26447"/>
                  <a:pt x="119011" y="67894"/>
                  <a:pt x="119011" y="119011"/>
                </a:cubicBezTo>
                <a:lnTo>
                  <a:pt x="119011" y="198351"/>
                </a:lnTo>
                <a:cubicBezTo>
                  <a:pt x="119011" y="205666"/>
                  <a:pt x="113102" y="211575"/>
                  <a:pt x="105787" y="211575"/>
                </a:cubicBezTo>
                <a:cubicBezTo>
                  <a:pt x="98473" y="211575"/>
                  <a:pt x="92564" y="205666"/>
                  <a:pt x="92564" y="198351"/>
                </a:cubicBezTo>
                <a:lnTo>
                  <a:pt x="92564" y="132234"/>
                </a:lnTo>
                <a:cubicBezTo>
                  <a:pt x="41447" y="132234"/>
                  <a:pt x="0" y="90787"/>
                  <a:pt x="0" y="39670"/>
                </a:cubicBezTo>
                <a:close/>
              </a:path>
            </a:pathLst>
          </a:custGeom>
          <a:solidFill>
            <a:srgbClr val="5F6F6B"/>
          </a:solidFill>
          <a:ln/>
        </p:spPr>
      </p:sp>
      <p:sp>
        <p:nvSpPr>
          <p:cNvPr id="18" name="Text 16"/>
          <p:cNvSpPr/>
          <p:nvPr/>
        </p:nvSpPr>
        <p:spPr>
          <a:xfrm>
            <a:off x="5501359" y="2962048"/>
            <a:ext cx="2203905" cy="211575"/>
          </a:xfrm>
          <a:prstGeom prst="rect">
            <a:avLst/>
          </a:prstGeom>
          <a:noFill/>
          <a:ln/>
        </p:spPr>
        <p:txBody>
          <a:bodyPr wrap="square" lIns="0" tIns="0" rIns="0" bIns="0" rtlCol="0" anchor="ctr"/>
          <a:lstStyle/>
          <a:p>
            <a:pPr algn="ctr">
              <a:lnSpc>
                <a:spcPct val="130000"/>
              </a:lnSpc>
            </a:pPr>
            <a:r>
              <a:rPr lang="en-US" sz="1111" b="1" dirty="0">
                <a:solidFill>
                  <a:srgbClr val="2F3E3B"/>
                </a:solidFill>
                <a:latin typeface="Quattrocento Sans" pitchFamily="34" charset="0"/>
                <a:ea typeface="Quattrocento Sans" pitchFamily="34" charset="-122"/>
                <a:cs typeface="Quattrocento Sans" pitchFamily="34" charset="-120"/>
              </a:rPr>
              <a:t>Return</a:t>
            </a:r>
            <a:endParaRPr lang="en-US" sz="1600" dirty="0"/>
          </a:p>
        </p:txBody>
      </p:sp>
      <p:sp>
        <p:nvSpPr>
          <p:cNvPr id="19" name="Text 17"/>
          <p:cNvSpPr/>
          <p:nvPr/>
        </p:nvSpPr>
        <p:spPr>
          <a:xfrm>
            <a:off x="5505767" y="3208885"/>
            <a:ext cx="2195089" cy="176312"/>
          </a:xfrm>
          <a:prstGeom prst="rect">
            <a:avLst/>
          </a:prstGeom>
          <a:noFill/>
          <a:ln/>
        </p:spPr>
        <p:txBody>
          <a:bodyPr wrap="square" lIns="0" tIns="0" rIns="0" bIns="0" rtlCol="0" anchor="ctr"/>
          <a:lstStyle/>
          <a:p>
            <a:pPr algn="ct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Nutrient release to soil for reuse</a:t>
            </a:r>
            <a:endParaRPr lang="en-US" sz="1600" dirty="0"/>
          </a:p>
        </p:txBody>
      </p:sp>
      <p:sp>
        <p:nvSpPr>
          <p:cNvPr id="20" name="Shape 18"/>
          <p:cNvSpPr/>
          <p:nvPr/>
        </p:nvSpPr>
        <p:spPr>
          <a:xfrm>
            <a:off x="352625"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21" name="Text 19"/>
          <p:cNvSpPr/>
          <p:nvPr/>
        </p:nvSpPr>
        <p:spPr>
          <a:xfrm>
            <a:off x="493675"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Species-Specific Strategies</a:t>
            </a:r>
            <a:endParaRPr lang="en-US" sz="1600" dirty="0"/>
          </a:p>
        </p:txBody>
      </p:sp>
      <p:sp>
        <p:nvSpPr>
          <p:cNvPr id="22" name="Shape 20"/>
          <p:cNvSpPr/>
          <p:nvPr/>
        </p:nvSpPr>
        <p:spPr>
          <a:xfrm>
            <a:off x="493675" y="4302022"/>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4C8A7A">
              <a:alpha val="10196"/>
            </a:srgbClr>
          </a:solidFill>
          <a:ln/>
        </p:spPr>
      </p:sp>
      <p:sp>
        <p:nvSpPr>
          <p:cNvPr id="23" name="Text 21"/>
          <p:cNvSpPr/>
          <p:nvPr/>
        </p:nvSpPr>
        <p:spPr>
          <a:xfrm>
            <a:off x="564200" y="4372547"/>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Nitrogen Fixers</a:t>
            </a:r>
            <a:endParaRPr lang="en-US" sz="1600" dirty="0"/>
          </a:p>
        </p:txBody>
      </p:sp>
      <p:sp>
        <p:nvSpPr>
          <p:cNvPr id="24" name="Text 22"/>
          <p:cNvSpPr/>
          <p:nvPr/>
        </p:nvSpPr>
        <p:spPr>
          <a:xfrm>
            <a:off x="564200" y="4548859"/>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Legumes enhance soil N availability for neighbors</a:t>
            </a:r>
            <a:endParaRPr lang="en-US" sz="1600" dirty="0"/>
          </a:p>
        </p:txBody>
      </p:sp>
      <p:sp>
        <p:nvSpPr>
          <p:cNvPr id="25" name="Shape 23"/>
          <p:cNvSpPr/>
          <p:nvPr/>
        </p:nvSpPr>
        <p:spPr>
          <a:xfrm>
            <a:off x="493675" y="4830959"/>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8FB7AC">
              <a:alpha val="10196"/>
            </a:srgbClr>
          </a:solidFill>
          <a:ln/>
        </p:spPr>
      </p:sp>
      <p:sp>
        <p:nvSpPr>
          <p:cNvPr id="26" name="Text 24"/>
          <p:cNvSpPr/>
          <p:nvPr/>
        </p:nvSpPr>
        <p:spPr>
          <a:xfrm>
            <a:off x="564200" y="4901484"/>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Phosphorus Specialists</a:t>
            </a:r>
            <a:endParaRPr lang="en-US" sz="1600" dirty="0"/>
          </a:p>
        </p:txBody>
      </p:sp>
      <p:sp>
        <p:nvSpPr>
          <p:cNvPr id="27" name="Text 25"/>
          <p:cNvSpPr/>
          <p:nvPr/>
        </p:nvSpPr>
        <p:spPr>
          <a:xfrm>
            <a:off x="564200" y="5077796"/>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Mycorrhizal associations improve P uptake</a:t>
            </a:r>
            <a:endParaRPr lang="en-US" sz="1600" dirty="0"/>
          </a:p>
        </p:txBody>
      </p:sp>
      <p:sp>
        <p:nvSpPr>
          <p:cNvPr id="28" name="Shape 26"/>
          <p:cNvSpPr/>
          <p:nvPr/>
        </p:nvSpPr>
        <p:spPr>
          <a:xfrm>
            <a:off x="493675" y="5359896"/>
            <a:ext cx="3446907" cy="458412"/>
          </a:xfrm>
          <a:custGeom>
            <a:avLst/>
            <a:gdLst/>
            <a:ahLst/>
            <a:cxnLst/>
            <a:rect l="l" t="t" r="r" b="b"/>
            <a:pathLst>
              <a:path w="3446907" h="458412">
                <a:moveTo>
                  <a:pt x="70527" y="0"/>
                </a:moveTo>
                <a:lnTo>
                  <a:pt x="3376380" y="0"/>
                </a:lnTo>
                <a:cubicBezTo>
                  <a:pt x="3415331" y="0"/>
                  <a:pt x="3446907" y="31576"/>
                  <a:pt x="3446907" y="70527"/>
                </a:cubicBezTo>
                <a:lnTo>
                  <a:pt x="3446907" y="387885"/>
                </a:lnTo>
                <a:cubicBezTo>
                  <a:pt x="3446907" y="426836"/>
                  <a:pt x="3415331" y="458412"/>
                  <a:pt x="3376380" y="458412"/>
                </a:cubicBezTo>
                <a:lnTo>
                  <a:pt x="70527" y="458412"/>
                </a:lnTo>
                <a:cubicBezTo>
                  <a:pt x="31602" y="458412"/>
                  <a:pt x="0" y="426810"/>
                  <a:pt x="0" y="387885"/>
                </a:cubicBezTo>
                <a:lnTo>
                  <a:pt x="0" y="70527"/>
                </a:lnTo>
                <a:cubicBezTo>
                  <a:pt x="0" y="31602"/>
                  <a:pt x="31602" y="0"/>
                  <a:pt x="70527" y="0"/>
                </a:cubicBezTo>
                <a:close/>
              </a:path>
            </a:pathLst>
          </a:custGeom>
          <a:solidFill>
            <a:srgbClr val="5F6F6B">
              <a:alpha val="10196"/>
            </a:srgbClr>
          </a:solidFill>
          <a:ln/>
        </p:spPr>
      </p:sp>
      <p:sp>
        <p:nvSpPr>
          <p:cNvPr id="29" name="Text 27"/>
          <p:cNvSpPr/>
          <p:nvPr/>
        </p:nvSpPr>
        <p:spPr>
          <a:xfrm>
            <a:off x="564200" y="5430421"/>
            <a:ext cx="3367566"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Conservative Species</a:t>
            </a:r>
            <a:endParaRPr lang="en-US" sz="1600" dirty="0"/>
          </a:p>
        </p:txBody>
      </p:sp>
      <p:sp>
        <p:nvSpPr>
          <p:cNvPr id="30" name="Text 28"/>
          <p:cNvSpPr/>
          <p:nvPr/>
        </p:nvSpPr>
        <p:spPr>
          <a:xfrm>
            <a:off x="564200" y="5606733"/>
            <a:ext cx="3358751"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Slow growth, nutrient retention, high lignin litter</a:t>
            </a:r>
            <a:endParaRPr lang="en-US" sz="1600" dirty="0"/>
          </a:p>
        </p:txBody>
      </p:sp>
      <p:sp>
        <p:nvSpPr>
          <p:cNvPr id="31" name="Shape 29"/>
          <p:cNvSpPr/>
          <p:nvPr/>
        </p:nvSpPr>
        <p:spPr>
          <a:xfrm>
            <a:off x="4222957" y="3808347"/>
            <a:ext cx="3729007" cy="3050204"/>
          </a:xfrm>
          <a:custGeom>
            <a:avLst/>
            <a:gdLst/>
            <a:ahLst/>
            <a:cxnLst/>
            <a:rect l="l" t="t" r="r" b="b"/>
            <a:pathLst>
              <a:path w="3729007" h="3050204">
                <a:moveTo>
                  <a:pt x="105781" y="0"/>
                </a:moveTo>
                <a:lnTo>
                  <a:pt x="3623225" y="0"/>
                </a:lnTo>
                <a:cubicBezTo>
                  <a:pt x="3681647" y="0"/>
                  <a:pt x="3729007" y="47360"/>
                  <a:pt x="3729007" y="105781"/>
                </a:cubicBezTo>
                <a:lnTo>
                  <a:pt x="3729007" y="2944423"/>
                </a:lnTo>
                <a:cubicBezTo>
                  <a:pt x="3729007" y="3002844"/>
                  <a:pt x="3681647" y="3050204"/>
                  <a:pt x="3623225" y="3050204"/>
                </a:cubicBezTo>
                <a:lnTo>
                  <a:pt x="105781" y="3050204"/>
                </a:lnTo>
                <a:cubicBezTo>
                  <a:pt x="47360" y="3050204"/>
                  <a:pt x="0" y="3002844"/>
                  <a:pt x="0" y="2944423"/>
                </a:cubicBezTo>
                <a:lnTo>
                  <a:pt x="0" y="105781"/>
                </a:lnTo>
                <a:cubicBezTo>
                  <a:pt x="0" y="47399"/>
                  <a:pt x="47399" y="0"/>
                  <a:pt x="105781"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32" name="Text 30"/>
          <p:cNvSpPr/>
          <p:nvPr/>
        </p:nvSpPr>
        <p:spPr>
          <a:xfrm>
            <a:off x="4364007" y="3949397"/>
            <a:ext cx="3526247"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Biome Variation</a:t>
            </a:r>
            <a:endParaRPr lang="en-US" sz="1600" dirty="0"/>
          </a:p>
        </p:txBody>
      </p:sp>
      <p:sp>
        <p:nvSpPr>
          <p:cNvPr id="33" name="Shape 31"/>
          <p:cNvSpPr/>
          <p:nvPr/>
        </p:nvSpPr>
        <p:spPr>
          <a:xfrm>
            <a:off x="4364007" y="4302022"/>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4" name="Text 32"/>
          <p:cNvSpPr/>
          <p:nvPr/>
        </p:nvSpPr>
        <p:spPr>
          <a:xfrm>
            <a:off x="4434531" y="4372547"/>
            <a:ext cx="493675"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Tropical</a:t>
            </a:r>
            <a:endParaRPr lang="en-US" sz="1600" dirty="0"/>
          </a:p>
        </p:txBody>
      </p:sp>
      <p:sp>
        <p:nvSpPr>
          <p:cNvPr id="35" name="Text 33"/>
          <p:cNvSpPr/>
          <p:nvPr/>
        </p:nvSpPr>
        <p:spPr>
          <a:xfrm>
            <a:off x="6060255" y="4372547"/>
            <a:ext cx="1745492"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Rapid cycling, low soil nutrients</a:t>
            </a:r>
            <a:endParaRPr lang="en-US" sz="1600" dirty="0"/>
          </a:p>
        </p:txBody>
      </p:sp>
      <p:sp>
        <p:nvSpPr>
          <p:cNvPr id="36" name="Shape 34"/>
          <p:cNvSpPr/>
          <p:nvPr/>
        </p:nvSpPr>
        <p:spPr>
          <a:xfrm>
            <a:off x="4364007" y="472517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37" name="Text 35"/>
          <p:cNvSpPr/>
          <p:nvPr/>
        </p:nvSpPr>
        <p:spPr>
          <a:xfrm>
            <a:off x="4434531" y="4795696"/>
            <a:ext cx="643540"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Temperate</a:t>
            </a:r>
            <a:endParaRPr lang="en-US" sz="1600" dirty="0"/>
          </a:p>
        </p:txBody>
      </p:sp>
      <p:sp>
        <p:nvSpPr>
          <p:cNvPr id="38" name="Text 36"/>
          <p:cNvSpPr/>
          <p:nvPr/>
        </p:nvSpPr>
        <p:spPr>
          <a:xfrm>
            <a:off x="5828570" y="4795696"/>
            <a:ext cx="1974698"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Moderate cycling, seasonal patterns</a:t>
            </a:r>
            <a:endParaRPr lang="en-US" sz="1600" dirty="0"/>
          </a:p>
        </p:txBody>
      </p:sp>
      <p:sp>
        <p:nvSpPr>
          <p:cNvPr id="39" name="Shape 37"/>
          <p:cNvSpPr/>
          <p:nvPr/>
        </p:nvSpPr>
        <p:spPr>
          <a:xfrm>
            <a:off x="4364007" y="5148321"/>
            <a:ext cx="3446907" cy="317362"/>
          </a:xfrm>
          <a:custGeom>
            <a:avLst/>
            <a:gdLst/>
            <a:ahLst/>
            <a:cxnLst/>
            <a:rect l="l" t="t" r="r" b="b"/>
            <a:pathLst>
              <a:path w="3446907" h="317362">
                <a:moveTo>
                  <a:pt x="70524" y="0"/>
                </a:moveTo>
                <a:lnTo>
                  <a:pt x="3376382" y="0"/>
                </a:lnTo>
                <a:cubicBezTo>
                  <a:pt x="3415332" y="0"/>
                  <a:pt x="3446907" y="31575"/>
                  <a:pt x="3446907" y="70524"/>
                </a:cubicBezTo>
                <a:lnTo>
                  <a:pt x="3446907" y="246838"/>
                </a:lnTo>
                <a:cubicBezTo>
                  <a:pt x="3446907" y="285787"/>
                  <a:pt x="3415332" y="317362"/>
                  <a:pt x="3376382" y="317362"/>
                </a:cubicBezTo>
                <a:lnTo>
                  <a:pt x="70524" y="317362"/>
                </a:lnTo>
                <a:cubicBezTo>
                  <a:pt x="31575" y="317362"/>
                  <a:pt x="0" y="285787"/>
                  <a:pt x="0" y="246838"/>
                </a:cubicBezTo>
                <a:lnTo>
                  <a:pt x="0" y="70524"/>
                </a:lnTo>
                <a:cubicBezTo>
                  <a:pt x="0" y="31601"/>
                  <a:pt x="31601" y="0"/>
                  <a:pt x="70524" y="0"/>
                </a:cubicBezTo>
                <a:close/>
              </a:path>
            </a:pathLst>
          </a:custGeom>
          <a:solidFill>
            <a:srgbClr val="F5F7F6"/>
          </a:solidFill>
          <a:ln/>
        </p:spPr>
      </p:sp>
      <p:sp>
        <p:nvSpPr>
          <p:cNvPr id="40" name="Text 38"/>
          <p:cNvSpPr/>
          <p:nvPr/>
        </p:nvSpPr>
        <p:spPr>
          <a:xfrm>
            <a:off x="4434531" y="5218846"/>
            <a:ext cx="396703" cy="176312"/>
          </a:xfrm>
          <a:prstGeom prst="rect">
            <a:avLst/>
          </a:prstGeom>
          <a:noFill/>
          <a:ln/>
        </p:spPr>
        <p:txBody>
          <a:bodyPr wrap="square" lIns="0" tIns="0" rIns="0" bIns="0" rtlCol="0" anchor="ctr"/>
          <a:lstStyle/>
          <a:p>
            <a:pPr>
              <a:lnSpc>
                <a:spcPct val="120000"/>
              </a:lnSpc>
            </a:pPr>
            <a:r>
              <a:rPr lang="en-US" sz="972" b="1" dirty="0">
                <a:solidFill>
                  <a:srgbClr val="2F3E3B"/>
                </a:solidFill>
                <a:latin typeface="Quattrocento Sans" pitchFamily="34" charset="0"/>
                <a:ea typeface="Quattrocento Sans" pitchFamily="34" charset="-122"/>
                <a:cs typeface="Quattrocento Sans" pitchFamily="34" charset="-120"/>
              </a:rPr>
              <a:t>Boreal</a:t>
            </a:r>
            <a:endParaRPr lang="en-US" sz="1600" dirty="0"/>
          </a:p>
        </p:txBody>
      </p:sp>
      <p:sp>
        <p:nvSpPr>
          <p:cNvPr id="41" name="Text 39"/>
          <p:cNvSpPr/>
          <p:nvPr/>
        </p:nvSpPr>
        <p:spPr>
          <a:xfrm>
            <a:off x="5974923" y="5218846"/>
            <a:ext cx="1824833" cy="176312"/>
          </a:xfrm>
          <a:prstGeom prst="rect">
            <a:avLst/>
          </a:prstGeom>
          <a:noFill/>
          <a:ln/>
        </p:spPr>
        <p:txBody>
          <a:bodyPr wrap="square" lIns="0" tIns="0" rIns="0" bIns="0" rtlCol="0" anchor="ctr"/>
          <a:lstStyle/>
          <a:p>
            <a:pPr>
              <a:lnSpc>
                <a:spcPct val="120000"/>
              </a:lnSpc>
            </a:pPr>
            <a:r>
              <a:rPr lang="en-US" sz="972" dirty="0">
                <a:solidFill>
                  <a:srgbClr val="5F6F6B"/>
                </a:solidFill>
                <a:latin typeface="Quattrocento Sans" pitchFamily="34" charset="0"/>
                <a:ea typeface="Quattrocento Sans" pitchFamily="34" charset="-122"/>
                <a:cs typeface="Quattrocento Sans" pitchFamily="34" charset="-120"/>
              </a:rPr>
              <a:t>Slow cycling, high organic matter</a:t>
            </a:r>
            <a:endParaRPr lang="en-US" sz="1600" dirty="0"/>
          </a:p>
        </p:txBody>
      </p:sp>
      <p:sp>
        <p:nvSpPr>
          <p:cNvPr id="42" name="Text 40"/>
          <p:cNvSpPr/>
          <p:nvPr/>
        </p:nvSpPr>
        <p:spPr>
          <a:xfrm>
            <a:off x="4364007" y="5571471"/>
            <a:ext cx="3499800" cy="141050"/>
          </a:xfrm>
          <a:prstGeom prst="rect">
            <a:avLst/>
          </a:prstGeom>
          <a:noFill/>
          <a:ln/>
        </p:spPr>
        <p:txBody>
          <a:bodyPr wrap="square" lIns="0" tIns="0" rIns="0" bIns="0" rtlCol="0" anchor="ctr"/>
          <a:lstStyle/>
          <a:p>
            <a:pPr>
              <a:lnSpc>
                <a:spcPct val="110000"/>
              </a:lnSpc>
            </a:pPr>
            <a:r>
              <a:rPr lang="en-US" sz="833" dirty="0">
                <a:solidFill>
                  <a:srgbClr val="5F6F6B"/>
                </a:solidFill>
                <a:latin typeface="Quattrocento Sans" pitchFamily="34" charset="0"/>
                <a:ea typeface="Quattrocento Sans" pitchFamily="34" charset="-122"/>
                <a:cs typeface="Quattrocento Sans" pitchFamily="34" charset="-120"/>
              </a:rPr>
              <a:t>Climate is the primary driver of nutrient cycling rates</a:t>
            </a:r>
            <a:endParaRPr lang="en-US" sz="1600" dirty="0"/>
          </a:p>
        </p:txBody>
      </p:sp>
      <p:sp>
        <p:nvSpPr>
          <p:cNvPr id="43" name="Shape 41"/>
          <p:cNvSpPr/>
          <p:nvPr/>
        </p:nvSpPr>
        <p:spPr>
          <a:xfrm>
            <a:off x="8128620" y="1445761"/>
            <a:ext cx="3711375" cy="1957067"/>
          </a:xfrm>
          <a:custGeom>
            <a:avLst/>
            <a:gdLst/>
            <a:ahLst/>
            <a:cxnLst/>
            <a:rect l="l" t="t" r="r" b="b"/>
            <a:pathLst>
              <a:path w="3711375" h="1957067">
                <a:moveTo>
                  <a:pt x="105779" y="0"/>
                </a:moveTo>
                <a:lnTo>
                  <a:pt x="3605596" y="0"/>
                </a:lnTo>
                <a:cubicBezTo>
                  <a:pt x="3664016" y="0"/>
                  <a:pt x="3711375" y="47359"/>
                  <a:pt x="3711375" y="105779"/>
                </a:cubicBezTo>
                <a:lnTo>
                  <a:pt x="3711375" y="1851288"/>
                </a:lnTo>
                <a:cubicBezTo>
                  <a:pt x="3711375" y="1909708"/>
                  <a:pt x="3664016" y="1957067"/>
                  <a:pt x="3605596" y="1957067"/>
                </a:cubicBezTo>
                <a:lnTo>
                  <a:pt x="105779" y="1957067"/>
                </a:lnTo>
                <a:cubicBezTo>
                  <a:pt x="47359" y="1957067"/>
                  <a:pt x="0" y="1909708"/>
                  <a:pt x="0" y="1851288"/>
                </a:cubicBezTo>
                <a:lnTo>
                  <a:pt x="0" y="105779"/>
                </a:lnTo>
                <a:cubicBezTo>
                  <a:pt x="0" y="47398"/>
                  <a:pt x="47398" y="0"/>
                  <a:pt x="105779" y="0"/>
                </a:cubicBezTo>
                <a:close/>
              </a:path>
            </a:pathLst>
          </a:custGeom>
          <a:solidFill>
            <a:srgbClr val="4C8A7A"/>
          </a:solidFill>
          <a:ln/>
        </p:spPr>
      </p:sp>
      <p:sp>
        <p:nvSpPr>
          <p:cNvPr id="44" name="Text 42"/>
          <p:cNvSpPr/>
          <p:nvPr/>
        </p:nvSpPr>
        <p:spPr>
          <a:xfrm>
            <a:off x="8304932" y="1622074"/>
            <a:ext cx="3438091" cy="246837"/>
          </a:xfrm>
          <a:prstGeom prst="rect">
            <a:avLst/>
          </a:prstGeom>
          <a:noFill/>
          <a:ln/>
        </p:spPr>
        <p:txBody>
          <a:bodyPr wrap="square" lIns="0" tIns="0" rIns="0" bIns="0" rtlCol="0" anchor="ctr"/>
          <a:lstStyle/>
          <a:p>
            <a:pPr>
              <a:lnSpc>
                <a:spcPct val="130000"/>
              </a:lnSpc>
            </a:pPr>
            <a:r>
              <a:rPr lang="en-US" sz="1249" b="1" dirty="0">
                <a:solidFill>
                  <a:srgbClr val="FFFFFF"/>
                </a:solidFill>
                <a:latin typeface="Sorts Mill Goudy" pitchFamily="34" charset="0"/>
                <a:ea typeface="Sorts Mill Goudy" pitchFamily="34" charset="-122"/>
                <a:cs typeface="Sorts Mill Goudy" pitchFamily="34" charset="-120"/>
              </a:rPr>
              <a:t>Litter Quality Effects</a:t>
            </a:r>
            <a:endParaRPr lang="en-US" sz="1600" dirty="0"/>
          </a:p>
        </p:txBody>
      </p:sp>
      <p:sp>
        <p:nvSpPr>
          <p:cNvPr id="45" name="Text 43"/>
          <p:cNvSpPr/>
          <p:nvPr/>
        </p:nvSpPr>
        <p:spPr>
          <a:xfrm>
            <a:off x="8304932" y="1974698"/>
            <a:ext cx="3429275" cy="229206"/>
          </a:xfrm>
          <a:prstGeom prst="rect">
            <a:avLst/>
          </a:prstGeom>
          <a:noFill/>
          <a:ln/>
        </p:spPr>
        <p:txBody>
          <a:bodyPr wrap="square" lIns="0" tIns="0" rIns="0" bIns="0" rtlCol="0" anchor="ctr"/>
          <a:lstStyle/>
          <a:p>
            <a:pPr>
              <a:lnSpc>
                <a:spcPct val="140000"/>
              </a:lnSpc>
            </a:pPr>
            <a:r>
              <a:rPr lang="en-US" sz="1111" dirty="0">
                <a:solidFill>
                  <a:srgbClr val="FFFFFF"/>
                </a:solidFill>
                <a:latin typeface="Quattrocento Sans" pitchFamily="34" charset="0"/>
                <a:ea typeface="Quattrocento Sans" pitchFamily="34" charset="-122"/>
                <a:cs typeface="Quattrocento Sans" pitchFamily="34" charset="-120"/>
              </a:rPr>
              <a:t>Litter chemistry determines decomposition rates:</a:t>
            </a:r>
            <a:endParaRPr lang="en-US" sz="1600" dirty="0"/>
          </a:p>
        </p:txBody>
      </p:sp>
      <p:sp>
        <p:nvSpPr>
          <p:cNvPr id="46" name="Shape 44"/>
          <p:cNvSpPr/>
          <p:nvPr/>
        </p:nvSpPr>
        <p:spPr>
          <a:xfrm>
            <a:off x="8318156" y="2344954"/>
            <a:ext cx="123419" cy="141050"/>
          </a:xfrm>
          <a:custGeom>
            <a:avLst/>
            <a:gdLst/>
            <a:ahLst/>
            <a:cxnLst/>
            <a:rect l="l" t="t" r="r" b="b"/>
            <a:pathLst>
              <a:path w="123419" h="141050">
                <a:moveTo>
                  <a:pt x="93335" y="-2727"/>
                </a:moveTo>
                <a:cubicBezTo>
                  <a:pt x="96614" y="-358"/>
                  <a:pt x="97826" y="3939"/>
                  <a:pt x="96338" y="7686"/>
                </a:cubicBezTo>
                <a:lnTo>
                  <a:pt x="74740" y="61709"/>
                </a:lnTo>
                <a:lnTo>
                  <a:pt x="114603" y="61709"/>
                </a:lnTo>
                <a:cubicBezTo>
                  <a:pt x="118322" y="61709"/>
                  <a:pt x="121628" y="64023"/>
                  <a:pt x="122895" y="67522"/>
                </a:cubicBezTo>
                <a:cubicBezTo>
                  <a:pt x="124162" y="71021"/>
                  <a:pt x="123088" y="74933"/>
                  <a:pt x="120251" y="77302"/>
                </a:cubicBezTo>
                <a:lnTo>
                  <a:pt x="40910" y="143419"/>
                </a:lnTo>
                <a:cubicBezTo>
                  <a:pt x="37797" y="146009"/>
                  <a:pt x="33362" y="146146"/>
                  <a:pt x="30083" y="143777"/>
                </a:cubicBezTo>
                <a:cubicBezTo>
                  <a:pt x="26805" y="141408"/>
                  <a:pt x="25593" y="137110"/>
                  <a:pt x="27080" y="133364"/>
                </a:cubicBezTo>
                <a:lnTo>
                  <a:pt x="48679" y="79341"/>
                </a:lnTo>
                <a:lnTo>
                  <a:pt x="8816" y="79341"/>
                </a:lnTo>
                <a:cubicBezTo>
                  <a:pt x="5097" y="79341"/>
                  <a:pt x="1791" y="77026"/>
                  <a:pt x="523" y="73528"/>
                </a:cubicBezTo>
                <a:cubicBezTo>
                  <a:pt x="-744" y="70029"/>
                  <a:pt x="331" y="66117"/>
                  <a:pt x="3168" y="63748"/>
                </a:cubicBezTo>
                <a:lnTo>
                  <a:pt x="82509" y="-2369"/>
                </a:lnTo>
                <a:cubicBezTo>
                  <a:pt x="85622" y="-4959"/>
                  <a:pt x="90057" y="-5097"/>
                  <a:pt x="93335" y="-2727"/>
                </a:cubicBezTo>
                <a:close/>
              </a:path>
            </a:pathLst>
          </a:custGeom>
          <a:solidFill>
            <a:srgbClr val="FFFFFF"/>
          </a:solidFill>
          <a:ln/>
        </p:spPr>
      </p:sp>
      <p:sp>
        <p:nvSpPr>
          <p:cNvPr id="47" name="Text 45"/>
          <p:cNvSpPr/>
          <p:nvPr/>
        </p:nvSpPr>
        <p:spPr>
          <a:xfrm>
            <a:off x="8525392" y="2309692"/>
            <a:ext cx="3208885"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High-quality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Fast decomposition, rapid nutrient release</a:t>
            </a:r>
            <a:endParaRPr lang="en-US" sz="1600" dirty="0"/>
          </a:p>
        </p:txBody>
      </p:sp>
      <p:sp>
        <p:nvSpPr>
          <p:cNvPr id="48" name="Shape 46"/>
          <p:cNvSpPr/>
          <p:nvPr/>
        </p:nvSpPr>
        <p:spPr>
          <a:xfrm>
            <a:off x="8322563" y="2838629"/>
            <a:ext cx="105787" cy="141050"/>
          </a:xfrm>
          <a:custGeom>
            <a:avLst/>
            <a:gdLst/>
            <a:ahLst/>
            <a:cxnLst/>
            <a:rect l="l" t="t" r="r" b="b"/>
            <a:pathLst>
              <a:path w="105787" h="141050">
                <a:moveTo>
                  <a:pt x="8816" y="0"/>
                </a:moveTo>
                <a:cubicBezTo>
                  <a:pt x="3939" y="0"/>
                  <a:pt x="0" y="3939"/>
                  <a:pt x="0" y="8816"/>
                </a:cubicBezTo>
                <a:cubicBezTo>
                  <a:pt x="0" y="13692"/>
                  <a:pt x="3939" y="17631"/>
                  <a:pt x="8816" y="17631"/>
                </a:cubicBezTo>
                <a:lnTo>
                  <a:pt x="8816" y="20662"/>
                </a:lnTo>
                <a:cubicBezTo>
                  <a:pt x="8816" y="32342"/>
                  <a:pt x="13471" y="43555"/>
                  <a:pt x="21736" y="51819"/>
                </a:cubicBezTo>
                <a:lnTo>
                  <a:pt x="40442" y="70525"/>
                </a:lnTo>
                <a:lnTo>
                  <a:pt x="21736" y="89231"/>
                </a:lnTo>
                <a:cubicBezTo>
                  <a:pt x="13471" y="97495"/>
                  <a:pt x="8816" y="108708"/>
                  <a:pt x="8816" y="120388"/>
                </a:cubicBezTo>
                <a:lnTo>
                  <a:pt x="8816" y="123419"/>
                </a:lnTo>
                <a:cubicBezTo>
                  <a:pt x="3939" y="123419"/>
                  <a:pt x="0" y="127358"/>
                  <a:pt x="0" y="132234"/>
                </a:cubicBezTo>
                <a:cubicBezTo>
                  <a:pt x="0" y="137110"/>
                  <a:pt x="3939" y="141050"/>
                  <a:pt x="8816" y="141050"/>
                </a:cubicBezTo>
                <a:lnTo>
                  <a:pt x="96972" y="141050"/>
                </a:lnTo>
                <a:cubicBezTo>
                  <a:pt x="101848" y="141050"/>
                  <a:pt x="105787" y="137110"/>
                  <a:pt x="105787" y="132234"/>
                </a:cubicBezTo>
                <a:cubicBezTo>
                  <a:pt x="105787" y="127358"/>
                  <a:pt x="101848" y="123419"/>
                  <a:pt x="96972" y="123419"/>
                </a:cubicBezTo>
                <a:lnTo>
                  <a:pt x="96972" y="120388"/>
                </a:lnTo>
                <a:cubicBezTo>
                  <a:pt x="96972" y="108708"/>
                  <a:pt x="92316" y="97495"/>
                  <a:pt x="84051" y="89231"/>
                </a:cubicBezTo>
                <a:lnTo>
                  <a:pt x="65346" y="70525"/>
                </a:lnTo>
                <a:lnTo>
                  <a:pt x="84051" y="51819"/>
                </a:lnTo>
                <a:cubicBezTo>
                  <a:pt x="92316" y="43555"/>
                  <a:pt x="96972" y="32342"/>
                  <a:pt x="96972" y="20662"/>
                </a:cubicBezTo>
                <a:lnTo>
                  <a:pt x="96972" y="17631"/>
                </a:lnTo>
                <a:cubicBezTo>
                  <a:pt x="101848" y="17631"/>
                  <a:pt x="105787" y="13692"/>
                  <a:pt x="105787" y="8816"/>
                </a:cubicBezTo>
                <a:cubicBezTo>
                  <a:pt x="105787" y="3939"/>
                  <a:pt x="101848" y="0"/>
                  <a:pt x="96972" y="0"/>
                </a:cubicBezTo>
                <a:lnTo>
                  <a:pt x="8816" y="0"/>
                </a:lnTo>
                <a:close/>
                <a:moveTo>
                  <a:pt x="26447" y="20662"/>
                </a:moveTo>
                <a:lnTo>
                  <a:pt x="26447" y="17631"/>
                </a:lnTo>
                <a:lnTo>
                  <a:pt x="79341" y="17631"/>
                </a:lnTo>
                <a:lnTo>
                  <a:pt x="79341" y="20662"/>
                </a:lnTo>
                <a:cubicBezTo>
                  <a:pt x="79341" y="25896"/>
                  <a:pt x="77798" y="30965"/>
                  <a:pt x="74933" y="35262"/>
                </a:cubicBezTo>
                <a:lnTo>
                  <a:pt x="30855" y="35262"/>
                </a:lnTo>
                <a:cubicBezTo>
                  <a:pt x="28017" y="30965"/>
                  <a:pt x="26447" y="25896"/>
                  <a:pt x="26447" y="20662"/>
                </a:cubicBezTo>
                <a:close/>
                <a:moveTo>
                  <a:pt x="30855" y="105787"/>
                </a:moveTo>
                <a:cubicBezTo>
                  <a:pt x="31819" y="104327"/>
                  <a:pt x="32948" y="102950"/>
                  <a:pt x="34188" y="101683"/>
                </a:cubicBezTo>
                <a:lnTo>
                  <a:pt x="52894" y="82977"/>
                </a:lnTo>
                <a:lnTo>
                  <a:pt x="71599" y="101683"/>
                </a:lnTo>
                <a:cubicBezTo>
                  <a:pt x="72867" y="102950"/>
                  <a:pt x="73969" y="104327"/>
                  <a:pt x="74960" y="105787"/>
                </a:cubicBezTo>
                <a:lnTo>
                  <a:pt x="30855" y="105787"/>
                </a:lnTo>
                <a:close/>
              </a:path>
            </a:pathLst>
          </a:custGeom>
          <a:solidFill>
            <a:srgbClr val="FFFFFF"/>
          </a:solidFill>
          <a:ln/>
        </p:spPr>
      </p:sp>
      <p:sp>
        <p:nvSpPr>
          <p:cNvPr id="49" name="Text 47"/>
          <p:cNvSpPr/>
          <p:nvPr/>
        </p:nvSpPr>
        <p:spPr>
          <a:xfrm>
            <a:off x="8519606" y="2803367"/>
            <a:ext cx="3217701" cy="423150"/>
          </a:xfrm>
          <a:prstGeom prst="rect">
            <a:avLst/>
          </a:prstGeom>
          <a:noFill/>
          <a:ln/>
        </p:spPr>
        <p:txBody>
          <a:bodyPr wrap="square" lIns="0" tIns="0" rIns="0" bIns="0" rtlCol="0" anchor="ctr"/>
          <a:lstStyle/>
          <a:p>
            <a:pPr>
              <a:lnSpc>
                <a:spcPct val="130000"/>
              </a:lnSpc>
            </a:pPr>
            <a:r>
              <a:rPr lang="en-US" sz="1111" b="1" dirty="0">
                <a:solidFill>
                  <a:srgbClr val="FFFFFF"/>
                </a:solidFill>
                <a:latin typeface="Quattrocento Sans" pitchFamily="34" charset="0"/>
                <a:ea typeface="Quattrocento Sans" pitchFamily="34" charset="-122"/>
                <a:cs typeface="Quattrocento Sans" pitchFamily="34" charset="-120"/>
              </a:rPr>
              <a:t>Low-quality litter:</a:t>
            </a:r>
            <a:pP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 Slow decomposition, nutrient immobilization</a:t>
            </a:r>
            <a:endParaRPr lang="en-US" sz="1600" dirty="0"/>
          </a:p>
        </p:txBody>
      </p:sp>
      <p:sp>
        <p:nvSpPr>
          <p:cNvPr id="50" name="Shape 48"/>
          <p:cNvSpPr/>
          <p:nvPr/>
        </p:nvSpPr>
        <p:spPr>
          <a:xfrm>
            <a:off x="8128620" y="3543879"/>
            <a:ext cx="3711375" cy="2327323"/>
          </a:xfrm>
          <a:custGeom>
            <a:avLst/>
            <a:gdLst/>
            <a:ahLst/>
            <a:cxnLst/>
            <a:rect l="l" t="t" r="r" b="b"/>
            <a:pathLst>
              <a:path w="3711375" h="2327323">
                <a:moveTo>
                  <a:pt x="105777" y="0"/>
                </a:moveTo>
                <a:lnTo>
                  <a:pt x="3605598" y="0"/>
                </a:lnTo>
                <a:cubicBezTo>
                  <a:pt x="3664017" y="0"/>
                  <a:pt x="3711375" y="47358"/>
                  <a:pt x="3711375" y="105777"/>
                </a:cubicBezTo>
                <a:lnTo>
                  <a:pt x="3711375" y="2221546"/>
                </a:lnTo>
                <a:cubicBezTo>
                  <a:pt x="3711375" y="2279965"/>
                  <a:pt x="3664017" y="2327323"/>
                  <a:pt x="3605598" y="2327323"/>
                </a:cubicBezTo>
                <a:lnTo>
                  <a:pt x="105777" y="2327323"/>
                </a:lnTo>
                <a:cubicBezTo>
                  <a:pt x="47358" y="2327323"/>
                  <a:pt x="0" y="2279965"/>
                  <a:pt x="0" y="2221546"/>
                </a:cubicBezTo>
                <a:lnTo>
                  <a:pt x="0" y="105777"/>
                </a:lnTo>
                <a:cubicBezTo>
                  <a:pt x="0" y="47397"/>
                  <a:pt x="47397" y="0"/>
                  <a:pt x="105777" y="0"/>
                </a:cubicBezTo>
                <a:close/>
              </a:path>
            </a:pathLst>
          </a:custGeom>
          <a:solidFill>
            <a:srgbClr val="FFFFFF"/>
          </a:solidFill>
          <a:ln/>
          <a:effectLst>
            <a:outerShdw sx="100000" sy="100000" kx="0" ky="0" algn="bl" rotWithShape="0" blurRad="26447" dist="8816" dir="5400000">
              <a:srgbClr val="000000">
                <a:alpha val="10196"/>
              </a:srgbClr>
            </a:outerShdw>
          </a:effectLst>
        </p:spPr>
      </p:sp>
      <p:sp>
        <p:nvSpPr>
          <p:cNvPr id="51" name="Text 49"/>
          <p:cNvSpPr/>
          <p:nvPr/>
        </p:nvSpPr>
        <p:spPr>
          <a:xfrm>
            <a:off x="8304932" y="3720191"/>
            <a:ext cx="3438091" cy="246837"/>
          </a:xfrm>
          <a:prstGeom prst="rect">
            <a:avLst/>
          </a:prstGeom>
          <a:noFill/>
          <a:ln/>
        </p:spPr>
        <p:txBody>
          <a:bodyPr wrap="square" lIns="0" tIns="0" rIns="0" bIns="0" rtlCol="0" anchor="ctr"/>
          <a:lstStyle/>
          <a:p>
            <a:pPr>
              <a:lnSpc>
                <a:spcPct val="130000"/>
              </a:lnSpc>
            </a:pPr>
            <a:r>
              <a:rPr lang="en-US" sz="1249" b="1" dirty="0">
                <a:solidFill>
                  <a:srgbClr val="2F3E3B"/>
                </a:solidFill>
                <a:latin typeface="Sorts Mill Goudy" pitchFamily="34" charset="0"/>
                <a:ea typeface="Sorts Mill Goudy" pitchFamily="34" charset="-122"/>
                <a:cs typeface="Sorts Mill Goudy" pitchFamily="34" charset="-120"/>
              </a:rPr>
              <a:t>Microbial Diversity</a:t>
            </a:r>
            <a:endParaRPr lang="en-US" sz="1600" dirty="0"/>
          </a:p>
        </p:txBody>
      </p:sp>
      <p:sp>
        <p:nvSpPr>
          <p:cNvPr id="52" name="Text 50"/>
          <p:cNvSpPr/>
          <p:nvPr/>
        </p:nvSpPr>
        <p:spPr>
          <a:xfrm>
            <a:off x="8304932" y="4072816"/>
            <a:ext cx="3429275" cy="458412"/>
          </a:xfrm>
          <a:prstGeom prst="rect">
            <a:avLst/>
          </a:prstGeom>
          <a:noFill/>
          <a:ln/>
        </p:spPr>
        <p:txBody>
          <a:bodyPr wrap="square" lIns="0" tIns="0" rIns="0" bIns="0" rtlCol="0" anchor="ctr"/>
          <a:lstStyle/>
          <a:p>
            <a:pPr>
              <a:lnSpc>
                <a:spcPct val="140000"/>
              </a:lnSpc>
            </a:pPr>
            <a:r>
              <a:rPr lang="en-US" sz="1111" dirty="0">
                <a:solidFill>
                  <a:srgbClr val="1F2A28"/>
                </a:solidFill>
                <a:latin typeface="Quattrocento Sans" pitchFamily="34" charset="0"/>
                <a:ea typeface="Quattrocento Sans" pitchFamily="34" charset="-122"/>
                <a:cs typeface="Quattrocento Sans" pitchFamily="34" charset="-120"/>
              </a:rPr>
              <a:t>Diverse forests support more diverse soil microbial communities, which:</a:t>
            </a:r>
            <a:endParaRPr lang="en-US" sz="1600" dirty="0"/>
          </a:p>
        </p:txBody>
      </p:sp>
      <p:sp>
        <p:nvSpPr>
          <p:cNvPr id="53" name="Shape 51"/>
          <p:cNvSpPr/>
          <p:nvPr/>
        </p:nvSpPr>
        <p:spPr>
          <a:xfrm>
            <a:off x="8331379" y="4672278"/>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4" name="Text 52"/>
          <p:cNvSpPr/>
          <p:nvPr/>
        </p:nvSpPr>
        <p:spPr>
          <a:xfrm>
            <a:off x="8551770" y="4637015"/>
            <a:ext cx="1860095"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Control nitrogen cycling rates</a:t>
            </a:r>
            <a:endParaRPr lang="en-US" sz="1600" dirty="0"/>
          </a:p>
        </p:txBody>
      </p:sp>
      <p:sp>
        <p:nvSpPr>
          <p:cNvPr id="55" name="Shape 53"/>
          <p:cNvSpPr/>
          <p:nvPr/>
        </p:nvSpPr>
        <p:spPr>
          <a:xfrm>
            <a:off x="8331379" y="49543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6" name="Text 54"/>
          <p:cNvSpPr/>
          <p:nvPr/>
        </p:nvSpPr>
        <p:spPr>
          <a:xfrm>
            <a:off x="8551770" y="4919115"/>
            <a:ext cx="1842464"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Enhance litter decomposition</a:t>
            </a:r>
            <a:endParaRPr lang="en-US" sz="1600" dirty="0"/>
          </a:p>
        </p:txBody>
      </p:sp>
      <p:sp>
        <p:nvSpPr>
          <p:cNvPr id="57" name="Shape 55"/>
          <p:cNvSpPr/>
          <p:nvPr/>
        </p:nvSpPr>
        <p:spPr>
          <a:xfrm>
            <a:off x="8331379" y="52364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58" name="Text 56"/>
          <p:cNvSpPr/>
          <p:nvPr/>
        </p:nvSpPr>
        <p:spPr>
          <a:xfrm>
            <a:off x="8551770" y="5201215"/>
            <a:ext cx="1287080"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Increase soil fertility</a:t>
            </a:r>
            <a:endParaRPr lang="en-US" sz="1600" dirty="0"/>
          </a:p>
        </p:txBody>
      </p:sp>
      <p:sp>
        <p:nvSpPr>
          <p:cNvPr id="59" name="Shape 57"/>
          <p:cNvSpPr/>
          <p:nvPr/>
        </p:nvSpPr>
        <p:spPr>
          <a:xfrm>
            <a:off x="8331379" y="5518577"/>
            <a:ext cx="123419" cy="141050"/>
          </a:xfrm>
          <a:custGeom>
            <a:avLst/>
            <a:gdLst/>
            <a:ahLst/>
            <a:cxnLst/>
            <a:rect l="l" t="t" r="r" b="b"/>
            <a:pathLst>
              <a:path w="123419" h="141050">
                <a:moveTo>
                  <a:pt x="119782" y="19312"/>
                </a:moveTo>
                <a:cubicBezTo>
                  <a:pt x="123722" y="22177"/>
                  <a:pt x="124603" y="27687"/>
                  <a:pt x="121738" y="31626"/>
                </a:cubicBezTo>
                <a:lnTo>
                  <a:pt x="51213" y="128598"/>
                </a:lnTo>
                <a:cubicBezTo>
                  <a:pt x="49698" y="130692"/>
                  <a:pt x="47356" y="131986"/>
                  <a:pt x="44767" y="132207"/>
                </a:cubicBezTo>
                <a:cubicBezTo>
                  <a:pt x="42177" y="132427"/>
                  <a:pt x="39670" y="131463"/>
                  <a:pt x="37852" y="129645"/>
                </a:cubicBezTo>
                <a:lnTo>
                  <a:pt x="2590" y="94382"/>
                </a:lnTo>
                <a:cubicBezTo>
                  <a:pt x="-854" y="90939"/>
                  <a:pt x="-854" y="85346"/>
                  <a:pt x="2590" y="81903"/>
                </a:cubicBezTo>
                <a:cubicBezTo>
                  <a:pt x="6033" y="78459"/>
                  <a:pt x="11626" y="78459"/>
                  <a:pt x="15069" y="81903"/>
                </a:cubicBezTo>
                <a:lnTo>
                  <a:pt x="43031" y="109865"/>
                </a:lnTo>
                <a:lnTo>
                  <a:pt x="107495" y="21240"/>
                </a:lnTo>
                <a:cubicBezTo>
                  <a:pt x="110361" y="17301"/>
                  <a:pt x="115870" y="16419"/>
                  <a:pt x="119810" y="19284"/>
                </a:cubicBezTo>
                <a:close/>
              </a:path>
            </a:pathLst>
          </a:custGeom>
          <a:solidFill>
            <a:srgbClr val="4C8A7A"/>
          </a:solidFill>
          <a:ln/>
        </p:spPr>
      </p:sp>
      <p:sp>
        <p:nvSpPr>
          <p:cNvPr id="60" name="Text 58"/>
          <p:cNvSpPr/>
          <p:nvPr/>
        </p:nvSpPr>
        <p:spPr>
          <a:xfrm>
            <a:off x="8551770" y="5483315"/>
            <a:ext cx="1948252" cy="211575"/>
          </a:xfrm>
          <a:prstGeom prst="rect">
            <a:avLst/>
          </a:prstGeom>
          <a:noFill/>
          <a:ln/>
        </p:spPr>
        <p:txBody>
          <a:bodyPr wrap="square" lIns="0" tIns="0" rIns="0" bIns="0" rtlCol="0" anchor="ctr"/>
          <a:lstStyle/>
          <a:p>
            <a:pPr>
              <a:lnSpc>
                <a:spcPct val="130000"/>
              </a:lnSpc>
            </a:pPr>
            <a:r>
              <a:rPr lang="en-US" sz="1111" dirty="0">
                <a:solidFill>
                  <a:srgbClr val="5F6F6B"/>
                </a:solidFill>
                <a:latin typeface="Quattrocento Sans" pitchFamily="34" charset="0"/>
                <a:ea typeface="Quattrocento Sans" pitchFamily="34" charset="-122"/>
                <a:cs typeface="Quattrocento Sans" pitchFamily="34" charset="-120"/>
              </a:rPr>
              <a:t>Create positive feedback loops</a:t>
            </a:r>
            <a:endParaRPr lang="en-US" sz="1600" dirty="0"/>
          </a:p>
        </p:txBody>
      </p:sp>
      <p:sp>
        <p:nvSpPr>
          <p:cNvPr id="61" name="Shape 59"/>
          <p:cNvSpPr/>
          <p:nvPr/>
        </p:nvSpPr>
        <p:spPr>
          <a:xfrm>
            <a:off x="8128620" y="6012252"/>
            <a:ext cx="3711375" cy="846299"/>
          </a:xfrm>
          <a:custGeom>
            <a:avLst/>
            <a:gdLst/>
            <a:ahLst/>
            <a:cxnLst/>
            <a:rect l="l" t="t" r="r" b="b"/>
            <a:pathLst>
              <a:path w="3711375" h="846299">
                <a:moveTo>
                  <a:pt x="105787" y="0"/>
                </a:moveTo>
                <a:lnTo>
                  <a:pt x="3605588" y="0"/>
                </a:lnTo>
                <a:cubicBezTo>
                  <a:pt x="3664013" y="0"/>
                  <a:pt x="3711375" y="47363"/>
                  <a:pt x="3711375" y="105787"/>
                </a:cubicBezTo>
                <a:lnTo>
                  <a:pt x="3711375" y="740512"/>
                </a:lnTo>
                <a:cubicBezTo>
                  <a:pt x="3711375" y="798937"/>
                  <a:pt x="3664013" y="846299"/>
                  <a:pt x="3605588" y="846299"/>
                </a:cubicBezTo>
                <a:lnTo>
                  <a:pt x="105787" y="846299"/>
                </a:lnTo>
                <a:cubicBezTo>
                  <a:pt x="47363" y="846299"/>
                  <a:pt x="0" y="798937"/>
                  <a:pt x="0" y="740512"/>
                </a:cubicBezTo>
                <a:lnTo>
                  <a:pt x="0" y="105787"/>
                </a:lnTo>
                <a:cubicBezTo>
                  <a:pt x="0" y="47402"/>
                  <a:pt x="47402" y="0"/>
                  <a:pt x="105787" y="0"/>
                </a:cubicBezTo>
                <a:close/>
              </a:path>
            </a:pathLst>
          </a:custGeom>
          <a:solidFill>
            <a:srgbClr val="2F3E3B"/>
          </a:solidFill>
          <a:ln/>
        </p:spPr>
      </p:sp>
      <p:sp>
        <p:nvSpPr>
          <p:cNvPr id="62" name="Text 60"/>
          <p:cNvSpPr/>
          <p:nvPr/>
        </p:nvSpPr>
        <p:spPr>
          <a:xfrm>
            <a:off x="8203553" y="6153302"/>
            <a:ext cx="3561510" cy="317362"/>
          </a:xfrm>
          <a:prstGeom prst="rect">
            <a:avLst/>
          </a:prstGeom>
          <a:noFill/>
          <a:ln/>
        </p:spPr>
        <p:txBody>
          <a:bodyPr wrap="square" lIns="0" tIns="0" rIns="0" bIns="0" rtlCol="0" anchor="ctr"/>
          <a:lstStyle/>
          <a:p>
            <a:pPr algn="ctr">
              <a:lnSpc>
                <a:spcPct val="100000"/>
              </a:lnSpc>
            </a:pPr>
            <a:r>
              <a:rPr lang="en-US" sz="2082" b="1" dirty="0">
                <a:solidFill>
                  <a:srgbClr val="FFFFFF"/>
                </a:solidFill>
                <a:latin typeface="Sorts Mill Goudy" pitchFamily="34" charset="0"/>
                <a:ea typeface="Sorts Mill Goudy" pitchFamily="34" charset="-122"/>
                <a:cs typeface="Sorts Mill Goudy" pitchFamily="34" charset="-120"/>
              </a:rPr>
              <a:t>Key Drivers</a:t>
            </a:r>
            <a:endParaRPr lang="en-US" sz="1600" dirty="0"/>
          </a:p>
        </p:txBody>
      </p:sp>
      <p:sp>
        <p:nvSpPr>
          <p:cNvPr id="63" name="Text 61"/>
          <p:cNvSpPr/>
          <p:nvPr/>
        </p:nvSpPr>
        <p:spPr>
          <a:xfrm>
            <a:off x="8234407" y="6505926"/>
            <a:ext cx="3499800" cy="211575"/>
          </a:xfrm>
          <a:prstGeom prst="rect">
            <a:avLst/>
          </a:prstGeom>
          <a:noFill/>
          <a:ln/>
        </p:spPr>
        <p:txBody>
          <a:bodyPr wrap="square" lIns="0" tIns="0" rIns="0" bIns="0" rtlCol="0" anchor="ctr"/>
          <a:lstStyle/>
          <a:p>
            <a:pPr algn="ctr">
              <a:lnSpc>
                <a:spcPct val="130000"/>
              </a:lnSpc>
            </a:pPr>
            <a:r>
              <a:rPr lang="en-US" sz="1111" dirty="0">
                <a:solidFill>
                  <a:srgbClr val="FFFFFF"/>
                </a:solidFill>
                <a:latin typeface="Quattrocento Sans" pitchFamily="34" charset="0"/>
                <a:ea typeface="Quattrocento Sans" pitchFamily="34" charset="-122"/>
                <a:cs typeface="Quattrocento Sans" pitchFamily="34" charset="-120"/>
              </a:rPr>
              <a:t>Climate &gt; Species composition &gt; Soil properties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0842" y="320842"/>
            <a:ext cx="11606463" cy="160421"/>
          </a:xfrm>
          <a:prstGeom prst="rect">
            <a:avLst/>
          </a:prstGeom>
          <a:noFill/>
          <a:ln/>
        </p:spPr>
        <p:txBody>
          <a:bodyPr wrap="square" lIns="0" tIns="0" rIns="0" bIns="0" rtlCol="0" anchor="ctr"/>
          <a:lstStyle/>
          <a:p>
            <a:pPr>
              <a:lnSpc>
                <a:spcPct val="120000"/>
              </a:lnSpc>
            </a:pPr>
            <a:r>
              <a:rPr lang="en-US" sz="884" b="1" spc="88"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20842" y="545432"/>
            <a:ext cx="11694695" cy="320842"/>
          </a:xfrm>
          <a:prstGeom prst="rect">
            <a:avLst/>
          </a:prstGeom>
          <a:noFill/>
          <a:ln/>
        </p:spPr>
        <p:txBody>
          <a:bodyPr wrap="square" lIns="0" tIns="0" rIns="0" bIns="0" rtlCol="0" anchor="ctr"/>
          <a:lstStyle/>
          <a:p>
            <a:pPr>
              <a:lnSpc>
                <a:spcPct val="90000"/>
              </a:lnSpc>
            </a:pPr>
            <a:r>
              <a:rPr lang="en-US" sz="2274" b="1" dirty="0">
                <a:solidFill>
                  <a:srgbClr val="2F3E3B"/>
                </a:solidFill>
                <a:latin typeface="Sorts Mill Goudy" pitchFamily="34" charset="0"/>
                <a:ea typeface="Sorts Mill Goudy" pitchFamily="34" charset="-122"/>
                <a:cs typeface="Sorts Mill Goudy" pitchFamily="34" charset="-120"/>
              </a:rPr>
              <a:t>Animal-Mediated Seed Dispersal</a:t>
            </a:r>
            <a:endParaRPr lang="en-US" sz="1600" dirty="0"/>
          </a:p>
        </p:txBody>
      </p:sp>
      <p:sp>
        <p:nvSpPr>
          <p:cNvPr id="4" name="Text 2"/>
          <p:cNvSpPr/>
          <p:nvPr/>
        </p:nvSpPr>
        <p:spPr>
          <a:xfrm>
            <a:off x="320842" y="930442"/>
            <a:ext cx="11622505" cy="224589"/>
          </a:xfrm>
          <a:prstGeom prst="rect">
            <a:avLst/>
          </a:prstGeom>
          <a:noFill/>
          <a:ln/>
        </p:spPr>
        <p:txBody>
          <a:bodyPr wrap="square" lIns="0" tIns="0" rIns="0" bIns="0" rtlCol="0" anchor="ctr"/>
          <a:lstStyle/>
          <a:p>
            <a:pPr>
              <a:lnSpc>
                <a:spcPct val="130000"/>
              </a:lnSpc>
            </a:pPr>
            <a:r>
              <a:rPr lang="en-US" sz="1137" dirty="0">
                <a:solidFill>
                  <a:srgbClr val="5F6F6B"/>
                </a:solidFill>
                <a:latin typeface="Quattrocento Sans" pitchFamily="34" charset="0"/>
                <a:ea typeface="Quattrocento Sans" pitchFamily="34" charset="-122"/>
                <a:cs typeface="Quattrocento Sans" pitchFamily="34" charset="-120"/>
              </a:rPr>
              <a:t>Critical role of animals in forest regeneration and diversity maintenance</a:t>
            </a:r>
            <a:endParaRPr lang="en-US" sz="1600" dirty="0"/>
          </a:p>
        </p:txBody>
      </p:sp>
      <p:sp>
        <p:nvSpPr>
          <p:cNvPr id="5" name="Shape 3"/>
          <p:cNvSpPr/>
          <p:nvPr/>
        </p:nvSpPr>
        <p:spPr>
          <a:xfrm>
            <a:off x="320842" y="1315453"/>
            <a:ext cx="5678905" cy="2294021"/>
          </a:xfrm>
          <a:custGeom>
            <a:avLst/>
            <a:gdLst/>
            <a:ahLst/>
            <a:cxnLst/>
            <a:rect l="l" t="t" r="r" b="b"/>
            <a:pathLst>
              <a:path w="5678905" h="2294021">
                <a:moveTo>
                  <a:pt x="96257" y="0"/>
                </a:moveTo>
                <a:lnTo>
                  <a:pt x="5582648" y="0"/>
                </a:lnTo>
                <a:cubicBezTo>
                  <a:pt x="5635809" y="0"/>
                  <a:pt x="5678905" y="43096"/>
                  <a:pt x="5678905" y="96257"/>
                </a:cubicBezTo>
                <a:lnTo>
                  <a:pt x="5678905" y="2197764"/>
                </a:lnTo>
                <a:cubicBezTo>
                  <a:pt x="5678905" y="2250890"/>
                  <a:pt x="5635774" y="2294021"/>
                  <a:pt x="5582648" y="2294021"/>
                </a:cubicBezTo>
                <a:lnTo>
                  <a:pt x="96257" y="2294021"/>
                </a:lnTo>
                <a:cubicBezTo>
                  <a:pt x="43096" y="2294021"/>
                  <a:pt x="0" y="2250925"/>
                  <a:pt x="0" y="2197764"/>
                </a:cubicBezTo>
                <a:lnTo>
                  <a:pt x="0" y="96257"/>
                </a:lnTo>
                <a:cubicBezTo>
                  <a:pt x="0" y="43096"/>
                  <a:pt x="43096" y="0"/>
                  <a:pt x="96257"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6" name="Shape 4"/>
          <p:cNvSpPr/>
          <p:nvPr/>
        </p:nvSpPr>
        <p:spPr>
          <a:xfrm>
            <a:off x="501316" y="1507958"/>
            <a:ext cx="160421" cy="160421"/>
          </a:xfrm>
          <a:custGeom>
            <a:avLst/>
            <a:gdLst/>
            <a:ahLst/>
            <a:cxnLst/>
            <a:rect l="l" t="t" r="r" b="b"/>
            <a:pathLst>
              <a:path w="160421" h="160421">
                <a:moveTo>
                  <a:pt x="155408" y="20053"/>
                </a:moveTo>
                <a:cubicBezTo>
                  <a:pt x="159544" y="20053"/>
                  <a:pt x="161894" y="24784"/>
                  <a:pt x="159418" y="28074"/>
                </a:cubicBezTo>
                <a:lnTo>
                  <a:pt x="150395" y="40105"/>
                </a:lnTo>
                <a:lnTo>
                  <a:pt x="150395" y="95250"/>
                </a:lnTo>
                <a:cubicBezTo>
                  <a:pt x="150395" y="120159"/>
                  <a:pt x="130185" y="140368"/>
                  <a:pt x="105276" y="140368"/>
                </a:cubicBezTo>
                <a:lnTo>
                  <a:pt x="70184" y="140368"/>
                </a:lnTo>
                <a:lnTo>
                  <a:pt x="55677" y="154875"/>
                </a:lnTo>
                <a:cubicBezTo>
                  <a:pt x="52419" y="158134"/>
                  <a:pt x="47374" y="158760"/>
                  <a:pt x="43426" y="156379"/>
                </a:cubicBezTo>
                <a:lnTo>
                  <a:pt x="13003" y="138144"/>
                </a:lnTo>
                <a:cubicBezTo>
                  <a:pt x="7676" y="134948"/>
                  <a:pt x="8303" y="127021"/>
                  <a:pt x="14068" y="124702"/>
                </a:cubicBezTo>
                <a:lnTo>
                  <a:pt x="50132" y="110289"/>
                </a:lnTo>
                <a:cubicBezTo>
                  <a:pt x="7457" y="97475"/>
                  <a:pt x="2350" y="53202"/>
                  <a:pt x="6893" y="29985"/>
                </a:cubicBezTo>
                <a:cubicBezTo>
                  <a:pt x="8021" y="24408"/>
                  <a:pt x="14194" y="22371"/>
                  <a:pt x="19207" y="25128"/>
                </a:cubicBezTo>
                <a:lnTo>
                  <a:pt x="100263" y="70184"/>
                </a:lnTo>
                <a:lnTo>
                  <a:pt x="100263" y="45118"/>
                </a:lnTo>
                <a:cubicBezTo>
                  <a:pt x="100263" y="31270"/>
                  <a:pt x="111480" y="20053"/>
                  <a:pt x="125329" y="20053"/>
                </a:cubicBezTo>
                <a:lnTo>
                  <a:pt x="155408" y="20053"/>
                </a:lnTo>
                <a:close/>
                <a:moveTo>
                  <a:pt x="125329" y="37599"/>
                </a:moveTo>
                <a:cubicBezTo>
                  <a:pt x="121179" y="37599"/>
                  <a:pt x="117809" y="40968"/>
                  <a:pt x="117809" y="45118"/>
                </a:cubicBezTo>
                <a:cubicBezTo>
                  <a:pt x="117809" y="49269"/>
                  <a:pt x="121179" y="52638"/>
                  <a:pt x="125329" y="52638"/>
                </a:cubicBezTo>
                <a:cubicBezTo>
                  <a:pt x="129479" y="52638"/>
                  <a:pt x="132849" y="49269"/>
                  <a:pt x="132849" y="45118"/>
                </a:cubicBezTo>
                <a:cubicBezTo>
                  <a:pt x="132849" y="40968"/>
                  <a:pt x="129479" y="37599"/>
                  <a:pt x="125329" y="37599"/>
                </a:cubicBezTo>
                <a:close/>
                <a:moveTo>
                  <a:pt x="57181" y="-3008"/>
                </a:moveTo>
                <a:cubicBezTo>
                  <a:pt x="61067" y="-7300"/>
                  <a:pt x="67615" y="-5796"/>
                  <a:pt x="70498" y="-783"/>
                </a:cubicBezTo>
                <a:lnTo>
                  <a:pt x="88169" y="30016"/>
                </a:lnTo>
                <a:cubicBezTo>
                  <a:pt x="86352" y="34528"/>
                  <a:pt x="85286" y="39447"/>
                  <a:pt x="85224" y="44586"/>
                </a:cubicBezTo>
                <a:lnTo>
                  <a:pt x="43270" y="21306"/>
                </a:lnTo>
                <a:cubicBezTo>
                  <a:pt x="46434" y="11405"/>
                  <a:pt x="51730" y="3008"/>
                  <a:pt x="57181" y="-3008"/>
                </a:cubicBezTo>
                <a:close/>
              </a:path>
            </a:pathLst>
          </a:custGeom>
          <a:solidFill>
            <a:srgbClr val="4C8A7A"/>
          </a:solidFill>
          <a:ln/>
        </p:spPr>
      </p:sp>
      <p:sp>
        <p:nvSpPr>
          <p:cNvPr id="7" name="Text 5"/>
          <p:cNvSpPr/>
          <p:nvPr/>
        </p:nvSpPr>
        <p:spPr>
          <a:xfrm>
            <a:off x="681789" y="1475874"/>
            <a:ext cx="5237747"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The 81% Finding</a:t>
            </a:r>
            <a:endParaRPr lang="en-US" sz="1600" dirty="0"/>
          </a:p>
        </p:txBody>
      </p:sp>
      <p:sp>
        <p:nvSpPr>
          <p:cNvPr id="8" name="Text 6"/>
          <p:cNvSpPr/>
          <p:nvPr/>
        </p:nvSpPr>
        <p:spPr>
          <a:xfrm>
            <a:off x="481263" y="1796716"/>
            <a:ext cx="5422232" cy="625642"/>
          </a:xfrm>
          <a:prstGeom prst="rect">
            <a:avLst/>
          </a:prstGeom>
          <a:noFill/>
          <a:ln/>
        </p:spPr>
        <p:txBody>
          <a:bodyPr wrap="square" lIns="0" tIns="0" rIns="0" bIns="0" rtlCol="0" anchor="ctr"/>
          <a:lstStyle/>
          <a:p>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Recent research reveals that </a:t>
            </a:r>
            <a:pPr>
              <a:lnSpc>
                <a:spcPct val="140000"/>
              </a:lnSpc>
            </a:pPr>
            <a:r>
              <a:rPr lang="en-US" sz="1011"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81% of tropical tree species depend on animals for seed dispersal </a:t>
            </a:r>
            <a:pPr>
              <a:lnSpc>
                <a:spcPct val="140000"/>
              </a:lnSpc>
            </a:pPr>
            <a:r>
              <a:rPr lang="en-US" sz="1011" dirty="0">
                <a:solidFill>
                  <a:srgbClr val="1F2A28"/>
                </a:solidFill>
                <a:latin typeface="Quattrocento Sans" pitchFamily="34" charset="0"/>
                <a:ea typeface="Quattrocento Sans" pitchFamily="34" charset="-122"/>
                <a:cs typeface="Quattrocento Sans" pitchFamily="34" charset="-120"/>
              </a:rPr>
              <a:t>. This mutualistic interaction is fundamental to forest dynamics, with frugivores increasing seed rain diversity and accelerating community turnover during succession.</a:t>
            </a:r>
            <a:endParaRPr lang="en-US" sz="1600" dirty="0"/>
          </a:p>
        </p:txBody>
      </p:sp>
      <p:sp>
        <p:nvSpPr>
          <p:cNvPr id="9" name="Shape 7"/>
          <p:cNvSpPr/>
          <p:nvPr/>
        </p:nvSpPr>
        <p:spPr>
          <a:xfrm>
            <a:off x="481263" y="2550695"/>
            <a:ext cx="5358063" cy="898358"/>
          </a:xfrm>
          <a:custGeom>
            <a:avLst/>
            <a:gdLst/>
            <a:ahLst/>
            <a:cxnLst/>
            <a:rect l="l" t="t" r="r" b="b"/>
            <a:pathLst>
              <a:path w="5358063" h="898358">
                <a:moveTo>
                  <a:pt x="64170" y="0"/>
                </a:moveTo>
                <a:lnTo>
                  <a:pt x="5293893" y="0"/>
                </a:lnTo>
                <a:cubicBezTo>
                  <a:pt x="5329333" y="0"/>
                  <a:pt x="5358063" y="28730"/>
                  <a:pt x="5358063" y="64170"/>
                </a:cubicBezTo>
                <a:lnTo>
                  <a:pt x="5358063" y="834188"/>
                </a:lnTo>
                <a:cubicBezTo>
                  <a:pt x="5358063" y="869628"/>
                  <a:pt x="5329333" y="898358"/>
                  <a:pt x="5293893" y="898358"/>
                </a:cubicBezTo>
                <a:lnTo>
                  <a:pt x="64170" y="898358"/>
                </a:lnTo>
                <a:cubicBezTo>
                  <a:pt x="28753" y="898358"/>
                  <a:pt x="0" y="869604"/>
                  <a:pt x="0" y="834188"/>
                </a:cubicBezTo>
                <a:lnTo>
                  <a:pt x="0" y="64170"/>
                </a:lnTo>
                <a:cubicBezTo>
                  <a:pt x="0" y="28753"/>
                  <a:pt x="28753" y="0"/>
                  <a:pt x="64170" y="0"/>
                </a:cubicBezTo>
                <a:close/>
              </a:path>
            </a:pathLst>
          </a:custGeom>
          <a:solidFill>
            <a:srgbClr val="F5F7F6"/>
          </a:solidFill>
          <a:ln/>
        </p:spPr>
      </p:sp>
      <p:sp>
        <p:nvSpPr>
          <p:cNvPr id="10" name="Text 8"/>
          <p:cNvSpPr/>
          <p:nvPr/>
        </p:nvSpPr>
        <p:spPr>
          <a:xfrm>
            <a:off x="609600" y="2679032"/>
            <a:ext cx="5165558" cy="417095"/>
          </a:xfrm>
          <a:prstGeom prst="rect">
            <a:avLst/>
          </a:prstGeom>
          <a:noFill/>
          <a:ln/>
        </p:spPr>
        <p:txBody>
          <a:bodyPr wrap="square" lIns="0" tIns="0" rIns="0" bIns="0" rtlCol="0" anchor="ctr"/>
          <a:lstStyle/>
          <a:p>
            <a:pPr>
              <a:lnSpc>
                <a:spcPct val="140000"/>
              </a:lnSpc>
            </a:pPr>
            <a:r>
              <a:rPr lang="en-US" sz="1011" dirty="0">
                <a:solidFill>
                  <a:srgbClr val="5F6F6B"/>
                </a:solidFill>
                <a:latin typeface="Quattrocento Sans" pitchFamily="34" charset="0"/>
                <a:ea typeface="Quattrocento Sans" pitchFamily="34" charset="-122"/>
                <a:cs typeface="Quattrocento Sans" pitchFamily="34" charset="-120"/>
              </a:rPr>
              <a:t>"Without animal seed dispersal, trees have lower survival rates and a harder time keeping up with environmental changes."</a:t>
            </a:r>
            <a:endParaRPr lang="en-US" sz="1600" dirty="0"/>
          </a:p>
        </p:txBody>
      </p:sp>
      <p:sp>
        <p:nvSpPr>
          <p:cNvPr id="11" name="Text 9"/>
          <p:cNvSpPr/>
          <p:nvPr/>
        </p:nvSpPr>
        <p:spPr>
          <a:xfrm>
            <a:off x="609600" y="3160295"/>
            <a:ext cx="515753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 Fricke et al. (2025)</a:t>
            </a:r>
            <a:endParaRPr lang="en-US" sz="1600" dirty="0"/>
          </a:p>
        </p:txBody>
      </p:sp>
      <p:sp>
        <p:nvSpPr>
          <p:cNvPr id="12" name="Shape 10"/>
          <p:cNvSpPr/>
          <p:nvPr/>
        </p:nvSpPr>
        <p:spPr>
          <a:xfrm>
            <a:off x="320842" y="3737811"/>
            <a:ext cx="5678905" cy="3657600"/>
          </a:xfrm>
          <a:custGeom>
            <a:avLst/>
            <a:gdLst/>
            <a:ahLst/>
            <a:cxnLst/>
            <a:rect l="l" t="t" r="r" b="b"/>
            <a:pathLst>
              <a:path w="5678905" h="3657600">
                <a:moveTo>
                  <a:pt x="96268" y="0"/>
                </a:moveTo>
                <a:lnTo>
                  <a:pt x="5582637" y="0"/>
                </a:lnTo>
                <a:cubicBezTo>
                  <a:pt x="5635805" y="0"/>
                  <a:pt x="5678905" y="43101"/>
                  <a:pt x="5678905" y="96268"/>
                </a:cubicBezTo>
                <a:lnTo>
                  <a:pt x="5678905" y="3561332"/>
                </a:lnTo>
                <a:cubicBezTo>
                  <a:pt x="5678905" y="3614499"/>
                  <a:pt x="5635805" y="3657600"/>
                  <a:pt x="5582637" y="3657600"/>
                </a:cubicBezTo>
                <a:lnTo>
                  <a:pt x="96268" y="3657600"/>
                </a:lnTo>
                <a:cubicBezTo>
                  <a:pt x="43101" y="3657600"/>
                  <a:pt x="0" y="3614499"/>
                  <a:pt x="0" y="3561332"/>
                </a:cubicBezTo>
                <a:lnTo>
                  <a:pt x="0" y="96268"/>
                </a:lnTo>
                <a:cubicBezTo>
                  <a:pt x="0" y="43101"/>
                  <a:pt x="43101" y="0"/>
                  <a:pt x="96268" y="0"/>
                </a:cubicBezTo>
                <a:close/>
              </a:path>
            </a:pathLst>
          </a:custGeom>
          <a:solidFill>
            <a:srgbClr val="FFFFFF"/>
          </a:solidFill>
          <a:ln/>
          <a:effectLst>
            <a:outerShdw sx="100000" sy="100000" kx="0" ky="0" algn="bl" rotWithShape="0" blurRad="24063" dist="8021" dir="5400000">
              <a:srgbClr val="000000">
                <a:alpha val="10196"/>
              </a:srgbClr>
            </a:outerShdw>
          </a:effectLst>
        </p:spPr>
      </p:sp>
      <p:sp>
        <p:nvSpPr>
          <p:cNvPr id="13" name="Text 11"/>
          <p:cNvSpPr/>
          <p:nvPr/>
        </p:nvSpPr>
        <p:spPr>
          <a:xfrm>
            <a:off x="481263" y="3898232"/>
            <a:ext cx="5438274" cy="224589"/>
          </a:xfrm>
          <a:prstGeom prst="rect">
            <a:avLst/>
          </a:prstGeom>
          <a:noFill/>
          <a:ln/>
        </p:spPr>
        <p:txBody>
          <a:bodyPr wrap="square" lIns="0" tIns="0" rIns="0" bIns="0" rtlCol="0" anchor="ctr"/>
          <a:lstStyle/>
          <a:p>
            <a:pPr>
              <a:lnSpc>
                <a:spcPct val="120000"/>
              </a:lnSpc>
            </a:pPr>
            <a:r>
              <a:rPr lang="en-US" sz="1263" b="1" dirty="0">
                <a:solidFill>
                  <a:srgbClr val="2F3E3B"/>
                </a:solidFill>
                <a:latin typeface="Sorts Mill Goudy" pitchFamily="34" charset="0"/>
                <a:ea typeface="Sorts Mill Goudy" pitchFamily="34" charset="-122"/>
                <a:cs typeface="Sorts Mill Goudy" pitchFamily="34" charset="-120"/>
              </a:rPr>
              <a:t>Disperser Groups</a:t>
            </a:r>
            <a:endParaRPr lang="en-US" sz="1600" dirty="0"/>
          </a:p>
        </p:txBody>
      </p:sp>
      <p:sp>
        <p:nvSpPr>
          <p:cNvPr id="14" name="Shape 12"/>
          <p:cNvSpPr/>
          <p:nvPr/>
        </p:nvSpPr>
        <p:spPr>
          <a:xfrm>
            <a:off x="481263" y="4219074"/>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4C8A7A">
              <a:alpha val="10196"/>
            </a:srgbClr>
          </a:solidFill>
          <a:ln/>
        </p:spPr>
      </p:sp>
      <p:sp>
        <p:nvSpPr>
          <p:cNvPr id="15" name="Shape 13"/>
          <p:cNvSpPr/>
          <p:nvPr/>
        </p:nvSpPr>
        <p:spPr>
          <a:xfrm>
            <a:off x="577516" y="4347411"/>
            <a:ext cx="200526" cy="160421"/>
          </a:xfrm>
          <a:custGeom>
            <a:avLst/>
            <a:gdLst/>
            <a:ahLst/>
            <a:cxnLst/>
            <a:rect l="l" t="t" r="r" b="b"/>
            <a:pathLst>
              <a:path w="200526" h="160421">
                <a:moveTo>
                  <a:pt x="143032" y="0"/>
                </a:moveTo>
                <a:cubicBezTo>
                  <a:pt x="127804" y="0"/>
                  <a:pt x="115459" y="12345"/>
                  <a:pt x="115459" y="27572"/>
                </a:cubicBezTo>
                <a:lnTo>
                  <a:pt x="115459" y="38852"/>
                </a:lnTo>
                <a:lnTo>
                  <a:pt x="4167" y="122321"/>
                </a:lnTo>
                <a:cubicBezTo>
                  <a:pt x="-251" y="125642"/>
                  <a:pt x="-1159" y="131909"/>
                  <a:pt x="2162" y="136358"/>
                </a:cubicBezTo>
                <a:cubicBezTo>
                  <a:pt x="5483" y="140807"/>
                  <a:pt x="11750" y="141684"/>
                  <a:pt x="16199" y="138363"/>
                </a:cubicBezTo>
                <a:lnTo>
                  <a:pt x="40262" y="120316"/>
                </a:lnTo>
                <a:lnTo>
                  <a:pt x="81401" y="120316"/>
                </a:lnTo>
                <a:lnTo>
                  <a:pt x="96002" y="155753"/>
                </a:lnTo>
                <a:lnTo>
                  <a:pt x="96315" y="156442"/>
                </a:lnTo>
                <a:cubicBezTo>
                  <a:pt x="98101" y="159794"/>
                  <a:pt x="102206" y="161298"/>
                  <a:pt x="105809" y="159826"/>
                </a:cubicBezTo>
                <a:cubicBezTo>
                  <a:pt x="109412" y="158353"/>
                  <a:pt x="111229" y="154405"/>
                  <a:pt x="110164" y="150739"/>
                </a:cubicBezTo>
                <a:lnTo>
                  <a:pt x="109913" y="150019"/>
                </a:lnTo>
                <a:lnTo>
                  <a:pt x="97663" y="120284"/>
                </a:lnTo>
                <a:lnTo>
                  <a:pt x="110477" y="120284"/>
                </a:lnTo>
                <a:cubicBezTo>
                  <a:pt x="110822" y="120284"/>
                  <a:pt x="111167" y="120284"/>
                  <a:pt x="111480" y="120284"/>
                </a:cubicBezTo>
                <a:lnTo>
                  <a:pt x="126081" y="155753"/>
                </a:lnTo>
                <a:lnTo>
                  <a:pt x="126394" y="156442"/>
                </a:lnTo>
                <a:cubicBezTo>
                  <a:pt x="128180" y="159794"/>
                  <a:pt x="132285" y="161298"/>
                  <a:pt x="135888" y="159826"/>
                </a:cubicBezTo>
                <a:cubicBezTo>
                  <a:pt x="139491" y="158353"/>
                  <a:pt x="141308" y="154405"/>
                  <a:pt x="140243" y="150739"/>
                </a:cubicBezTo>
                <a:lnTo>
                  <a:pt x="139992" y="150019"/>
                </a:lnTo>
                <a:lnTo>
                  <a:pt x="126833" y="118060"/>
                </a:lnTo>
                <a:cubicBezTo>
                  <a:pt x="152055" y="110947"/>
                  <a:pt x="170604" y="87730"/>
                  <a:pt x="170604" y="60158"/>
                </a:cubicBezTo>
                <a:lnTo>
                  <a:pt x="170604" y="37599"/>
                </a:lnTo>
                <a:lnTo>
                  <a:pt x="195826" y="31301"/>
                </a:lnTo>
                <a:cubicBezTo>
                  <a:pt x="198521" y="30643"/>
                  <a:pt x="200150" y="27917"/>
                  <a:pt x="199461" y="25222"/>
                </a:cubicBezTo>
                <a:cubicBezTo>
                  <a:pt x="197236" y="16293"/>
                  <a:pt x="189215" y="10026"/>
                  <a:pt x="180004" y="10026"/>
                </a:cubicBezTo>
                <a:lnTo>
                  <a:pt x="164306" y="10026"/>
                </a:lnTo>
                <a:cubicBezTo>
                  <a:pt x="159230" y="3917"/>
                  <a:pt x="151585" y="0"/>
                  <a:pt x="143032" y="0"/>
                </a:cubicBezTo>
                <a:close/>
                <a:moveTo>
                  <a:pt x="143032" y="20053"/>
                </a:moveTo>
                <a:cubicBezTo>
                  <a:pt x="147182" y="20053"/>
                  <a:pt x="150551" y="23422"/>
                  <a:pt x="150551" y="27572"/>
                </a:cubicBezTo>
                <a:cubicBezTo>
                  <a:pt x="150551" y="31723"/>
                  <a:pt x="147182" y="35092"/>
                  <a:pt x="143032" y="35092"/>
                </a:cubicBezTo>
                <a:cubicBezTo>
                  <a:pt x="138881" y="35092"/>
                  <a:pt x="135512" y="31723"/>
                  <a:pt x="135512" y="27572"/>
                </a:cubicBezTo>
                <a:cubicBezTo>
                  <a:pt x="135512" y="23422"/>
                  <a:pt x="138881" y="20053"/>
                  <a:pt x="143032" y="20053"/>
                </a:cubicBezTo>
                <a:close/>
              </a:path>
            </a:pathLst>
          </a:custGeom>
          <a:solidFill>
            <a:srgbClr val="4C8A7A"/>
          </a:solidFill>
          <a:ln/>
        </p:spPr>
      </p:sp>
      <p:sp>
        <p:nvSpPr>
          <p:cNvPr id="16" name="Text 14"/>
          <p:cNvSpPr/>
          <p:nvPr/>
        </p:nvSpPr>
        <p:spPr>
          <a:xfrm>
            <a:off x="873167" y="4315326"/>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Birds</a:t>
            </a:r>
            <a:endParaRPr lang="en-US" sz="1600" dirty="0"/>
          </a:p>
        </p:txBody>
      </p:sp>
      <p:sp>
        <p:nvSpPr>
          <p:cNvPr id="17" name="Text 15"/>
          <p:cNvSpPr/>
          <p:nvPr/>
        </p:nvSpPr>
        <p:spPr>
          <a:xfrm>
            <a:off x="873167" y="4507832"/>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Small birds colonize early; large birds increase in older forests. Generalist species play keystone roles.</a:t>
            </a:r>
            <a:endParaRPr lang="en-US" sz="1600" dirty="0"/>
          </a:p>
        </p:txBody>
      </p:sp>
      <p:sp>
        <p:nvSpPr>
          <p:cNvPr id="18" name="Shape 16"/>
          <p:cNvSpPr/>
          <p:nvPr/>
        </p:nvSpPr>
        <p:spPr>
          <a:xfrm>
            <a:off x="481263" y="5021179"/>
            <a:ext cx="5358063" cy="705853"/>
          </a:xfrm>
          <a:custGeom>
            <a:avLst/>
            <a:gdLst/>
            <a:ahLst/>
            <a:cxnLst/>
            <a:rect l="l" t="t" r="r" b="b"/>
            <a:pathLst>
              <a:path w="5358063" h="705853">
                <a:moveTo>
                  <a:pt x="64169" y="0"/>
                </a:moveTo>
                <a:lnTo>
                  <a:pt x="5293894" y="0"/>
                </a:lnTo>
                <a:cubicBezTo>
                  <a:pt x="5329310" y="0"/>
                  <a:pt x="5358063" y="28753"/>
                  <a:pt x="5358063" y="64169"/>
                </a:cubicBezTo>
                <a:lnTo>
                  <a:pt x="5358063" y="641684"/>
                </a:lnTo>
                <a:cubicBezTo>
                  <a:pt x="5358063" y="677123"/>
                  <a:pt x="5329334" y="705853"/>
                  <a:pt x="5293894" y="705853"/>
                </a:cubicBezTo>
                <a:lnTo>
                  <a:pt x="64169" y="705853"/>
                </a:lnTo>
                <a:cubicBezTo>
                  <a:pt x="28729" y="705853"/>
                  <a:pt x="0" y="677123"/>
                  <a:pt x="0" y="641684"/>
                </a:cubicBezTo>
                <a:lnTo>
                  <a:pt x="0" y="64169"/>
                </a:lnTo>
                <a:cubicBezTo>
                  <a:pt x="0" y="28753"/>
                  <a:pt x="28753" y="0"/>
                  <a:pt x="64169" y="0"/>
                </a:cubicBezTo>
                <a:close/>
              </a:path>
            </a:pathLst>
          </a:custGeom>
          <a:solidFill>
            <a:srgbClr val="8FB7AC">
              <a:alpha val="10196"/>
            </a:srgbClr>
          </a:solidFill>
          <a:ln/>
        </p:spPr>
      </p:sp>
      <p:sp>
        <p:nvSpPr>
          <p:cNvPr id="19" name="Shape 17"/>
          <p:cNvSpPr/>
          <p:nvPr/>
        </p:nvSpPr>
        <p:spPr>
          <a:xfrm>
            <a:off x="597568" y="5149516"/>
            <a:ext cx="160421" cy="160421"/>
          </a:xfrm>
          <a:custGeom>
            <a:avLst/>
            <a:gdLst/>
            <a:ahLst/>
            <a:cxnLst/>
            <a:rect l="l" t="t" r="r" b="b"/>
            <a:pathLst>
              <a:path w="160421" h="160421">
                <a:moveTo>
                  <a:pt x="73474" y="29108"/>
                </a:moveTo>
                <a:cubicBezTo>
                  <a:pt x="77955" y="42549"/>
                  <a:pt x="73380" y="56116"/>
                  <a:pt x="63260" y="59437"/>
                </a:cubicBezTo>
                <a:cubicBezTo>
                  <a:pt x="53139" y="62758"/>
                  <a:pt x="41296" y="54549"/>
                  <a:pt x="36815" y="41108"/>
                </a:cubicBezTo>
                <a:cubicBezTo>
                  <a:pt x="32335" y="27666"/>
                  <a:pt x="36909" y="14100"/>
                  <a:pt x="47030" y="10778"/>
                </a:cubicBezTo>
                <a:cubicBezTo>
                  <a:pt x="57150" y="7457"/>
                  <a:pt x="68994" y="15666"/>
                  <a:pt x="73474" y="29108"/>
                </a:cubicBezTo>
                <a:close/>
                <a:moveTo>
                  <a:pt x="31458" y="62226"/>
                </a:moveTo>
                <a:cubicBezTo>
                  <a:pt x="37379" y="72377"/>
                  <a:pt x="35938" y="84190"/>
                  <a:pt x="28262" y="88576"/>
                </a:cubicBezTo>
                <a:cubicBezTo>
                  <a:pt x="20585" y="92963"/>
                  <a:pt x="9556" y="88294"/>
                  <a:pt x="3666" y="78143"/>
                </a:cubicBezTo>
                <a:cubicBezTo>
                  <a:pt x="-2225" y="67991"/>
                  <a:pt x="-815" y="56179"/>
                  <a:pt x="6862" y="51792"/>
                </a:cubicBezTo>
                <a:cubicBezTo>
                  <a:pt x="14538" y="47406"/>
                  <a:pt x="25567" y="52074"/>
                  <a:pt x="31458" y="62226"/>
                </a:cubicBezTo>
                <a:close/>
                <a:moveTo>
                  <a:pt x="21682" y="125705"/>
                </a:moveTo>
                <a:cubicBezTo>
                  <a:pt x="38100" y="81432"/>
                  <a:pt x="67270" y="70184"/>
                  <a:pt x="80211" y="70184"/>
                </a:cubicBezTo>
                <a:cubicBezTo>
                  <a:pt x="93151" y="70184"/>
                  <a:pt x="122321" y="81432"/>
                  <a:pt x="138739" y="125705"/>
                </a:cubicBezTo>
                <a:cubicBezTo>
                  <a:pt x="139867" y="128744"/>
                  <a:pt x="140368" y="132003"/>
                  <a:pt x="140368" y="135261"/>
                </a:cubicBezTo>
                <a:lnTo>
                  <a:pt x="140368" y="135763"/>
                </a:lnTo>
                <a:cubicBezTo>
                  <a:pt x="140368" y="143846"/>
                  <a:pt x="133820" y="150395"/>
                  <a:pt x="125736" y="150395"/>
                </a:cubicBezTo>
                <a:cubicBezTo>
                  <a:pt x="122133" y="150395"/>
                  <a:pt x="118561" y="149956"/>
                  <a:pt x="115083" y="149079"/>
                </a:cubicBezTo>
                <a:lnTo>
                  <a:pt x="87511" y="142186"/>
                </a:lnTo>
                <a:cubicBezTo>
                  <a:pt x="82717" y="140995"/>
                  <a:pt x="77704" y="140995"/>
                  <a:pt x="72910" y="142186"/>
                </a:cubicBezTo>
                <a:lnTo>
                  <a:pt x="45338" y="149079"/>
                </a:lnTo>
                <a:cubicBezTo>
                  <a:pt x="41860" y="149956"/>
                  <a:pt x="38288" y="150395"/>
                  <a:pt x="34685" y="150395"/>
                </a:cubicBezTo>
                <a:cubicBezTo>
                  <a:pt x="26601" y="150395"/>
                  <a:pt x="20053" y="143846"/>
                  <a:pt x="20053" y="135763"/>
                </a:cubicBezTo>
                <a:lnTo>
                  <a:pt x="20053" y="135261"/>
                </a:lnTo>
                <a:cubicBezTo>
                  <a:pt x="20053" y="132003"/>
                  <a:pt x="20554" y="128744"/>
                  <a:pt x="21682" y="125705"/>
                </a:cubicBezTo>
                <a:close/>
                <a:moveTo>
                  <a:pt x="132159" y="88576"/>
                </a:moveTo>
                <a:cubicBezTo>
                  <a:pt x="124483" y="84190"/>
                  <a:pt x="123042" y="72377"/>
                  <a:pt x="128963" y="62226"/>
                </a:cubicBezTo>
                <a:cubicBezTo>
                  <a:pt x="134885" y="52074"/>
                  <a:pt x="145883" y="47406"/>
                  <a:pt x="153559" y="51792"/>
                </a:cubicBezTo>
                <a:cubicBezTo>
                  <a:pt x="161236" y="56179"/>
                  <a:pt x="162677" y="67991"/>
                  <a:pt x="156755" y="78143"/>
                </a:cubicBezTo>
                <a:cubicBezTo>
                  <a:pt x="150833" y="88294"/>
                  <a:pt x="139836" y="92963"/>
                  <a:pt x="132159" y="88576"/>
                </a:cubicBezTo>
                <a:close/>
                <a:moveTo>
                  <a:pt x="97161" y="59437"/>
                </a:moveTo>
                <a:cubicBezTo>
                  <a:pt x="87041" y="56116"/>
                  <a:pt x="82466" y="42549"/>
                  <a:pt x="86947" y="29108"/>
                </a:cubicBezTo>
                <a:cubicBezTo>
                  <a:pt x="91427" y="15666"/>
                  <a:pt x="103271" y="7457"/>
                  <a:pt x="113391" y="10778"/>
                </a:cubicBezTo>
                <a:cubicBezTo>
                  <a:pt x="123512" y="14100"/>
                  <a:pt x="128086" y="27666"/>
                  <a:pt x="123606" y="41108"/>
                </a:cubicBezTo>
                <a:cubicBezTo>
                  <a:pt x="119125" y="54549"/>
                  <a:pt x="107282" y="62758"/>
                  <a:pt x="97161" y="59437"/>
                </a:cubicBezTo>
                <a:close/>
              </a:path>
            </a:pathLst>
          </a:custGeom>
          <a:solidFill>
            <a:srgbClr val="8FB7AC"/>
          </a:solidFill>
          <a:ln/>
        </p:spPr>
      </p:sp>
      <p:sp>
        <p:nvSpPr>
          <p:cNvPr id="20" name="Text 18"/>
          <p:cNvSpPr/>
          <p:nvPr/>
        </p:nvSpPr>
        <p:spPr>
          <a:xfrm>
            <a:off x="870786" y="5117432"/>
            <a:ext cx="4932947"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Mammals</a:t>
            </a:r>
            <a:endParaRPr lang="en-US" sz="1600" dirty="0"/>
          </a:p>
        </p:txBody>
      </p:sp>
      <p:sp>
        <p:nvSpPr>
          <p:cNvPr id="21" name="Text 19"/>
          <p:cNvSpPr/>
          <p:nvPr/>
        </p:nvSpPr>
        <p:spPr>
          <a:xfrm>
            <a:off x="870786" y="5309937"/>
            <a:ext cx="4924926" cy="320842"/>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Flightless mammals dominate in well-preserved landscapes. Dispersal of large-seeded species critical.</a:t>
            </a:r>
            <a:endParaRPr lang="en-US" sz="1600" dirty="0"/>
          </a:p>
        </p:txBody>
      </p:sp>
      <p:sp>
        <p:nvSpPr>
          <p:cNvPr id="22" name="Shape 20"/>
          <p:cNvSpPr/>
          <p:nvPr/>
        </p:nvSpPr>
        <p:spPr>
          <a:xfrm>
            <a:off x="481263" y="5823284"/>
            <a:ext cx="5358063" cy="545432"/>
          </a:xfrm>
          <a:custGeom>
            <a:avLst/>
            <a:gdLst/>
            <a:ahLst/>
            <a:cxnLst/>
            <a:rect l="l" t="t" r="r" b="b"/>
            <a:pathLst>
              <a:path w="5358063" h="545432">
                <a:moveTo>
                  <a:pt x="64170" y="0"/>
                </a:moveTo>
                <a:lnTo>
                  <a:pt x="5293893" y="0"/>
                </a:lnTo>
                <a:cubicBezTo>
                  <a:pt x="5329333" y="0"/>
                  <a:pt x="5358063" y="28730"/>
                  <a:pt x="5358063" y="64170"/>
                </a:cubicBezTo>
                <a:lnTo>
                  <a:pt x="5358063" y="481262"/>
                </a:lnTo>
                <a:cubicBezTo>
                  <a:pt x="5358063" y="516702"/>
                  <a:pt x="5329333" y="545432"/>
                  <a:pt x="5293893" y="545432"/>
                </a:cubicBezTo>
                <a:lnTo>
                  <a:pt x="64170" y="545432"/>
                </a:lnTo>
                <a:cubicBezTo>
                  <a:pt x="28754" y="545432"/>
                  <a:pt x="0" y="516678"/>
                  <a:pt x="0" y="481262"/>
                </a:cubicBezTo>
                <a:lnTo>
                  <a:pt x="0" y="64170"/>
                </a:lnTo>
                <a:cubicBezTo>
                  <a:pt x="0" y="28754"/>
                  <a:pt x="28754" y="0"/>
                  <a:pt x="64170" y="0"/>
                </a:cubicBezTo>
                <a:close/>
              </a:path>
            </a:pathLst>
          </a:custGeom>
          <a:solidFill>
            <a:srgbClr val="5F6F6B">
              <a:alpha val="10196"/>
            </a:srgbClr>
          </a:solidFill>
          <a:ln/>
        </p:spPr>
      </p:sp>
      <p:sp>
        <p:nvSpPr>
          <p:cNvPr id="23" name="Shape 21"/>
          <p:cNvSpPr/>
          <p:nvPr/>
        </p:nvSpPr>
        <p:spPr>
          <a:xfrm>
            <a:off x="577516" y="5951621"/>
            <a:ext cx="200526" cy="160421"/>
          </a:xfrm>
          <a:custGeom>
            <a:avLst/>
            <a:gdLst/>
            <a:ahLst/>
            <a:cxnLst/>
            <a:rect l="l" t="t" r="r" b="b"/>
            <a:pathLst>
              <a:path w="200526" h="160421">
                <a:moveTo>
                  <a:pt x="110289" y="39009"/>
                </a:moveTo>
                <a:lnTo>
                  <a:pt x="94028" y="34935"/>
                </a:lnTo>
                <a:cubicBezTo>
                  <a:pt x="91991" y="34434"/>
                  <a:pt x="90488" y="32711"/>
                  <a:pt x="90268" y="30612"/>
                </a:cubicBezTo>
                <a:cubicBezTo>
                  <a:pt x="90049" y="28512"/>
                  <a:pt x="91145" y="26507"/>
                  <a:pt x="92994" y="25567"/>
                </a:cubicBezTo>
                <a:lnTo>
                  <a:pt x="105778" y="19175"/>
                </a:lnTo>
                <a:lnTo>
                  <a:pt x="92211" y="8992"/>
                </a:lnTo>
                <a:cubicBezTo>
                  <a:pt x="90488" y="7708"/>
                  <a:pt x="89767" y="5452"/>
                  <a:pt x="90456" y="3384"/>
                </a:cubicBezTo>
                <a:cubicBezTo>
                  <a:pt x="91145" y="1316"/>
                  <a:pt x="93088" y="0"/>
                  <a:pt x="95250" y="0"/>
                </a:cubicBezTo>
                <a:lnTo>
                  <a:pt x="145382" y="0"/>
                </a:lnTo>
                <a:cubicBezTo>
                  <a:pt x="154844" y="0"/>
                  <a:pt x="163774" y="4449"/>
                  <a:pt x="169445" y="12032"/>
                </a:cubicBezTo>
                <a:lnTo>
                  <a:pt x="187492" y="36095"/>
                </a:lnTo>
                <a:cubicBezTo>
                  <a:pt x="189435" y="38695"/>
                  <a:pt x="190500" y="41860"/>
                  <a:pt x="190500" y="45118"/>
                </a:cubicBezTo>
                <a:cubicBezTo>
                  <a:pt x="190500" y="53421"/>
                  <a:pt x="183764" y="60158"/>
                  <a:pt x="175461" y="60158"/>
                </a:cubicBezTo>
                <a:lnTo>
                  <a:pt x="168724" y="60158"/>
                </a:lnTo>
                <a:cubicBezTo>
                  <a:pt x="163398" y="60158"/>
                  <a:pt x="158290" y="58059"/>
                  <a:pt x="154531" y="54299"/>
                </a:cubicBezTo>
                <a:lnTo>
                  <a:pt x="150363" y="50132"/>
                </a:lnTo>
                <a:lnTo>
                  <a:pt x="140337" y="50132"/>
                </a:lnTo>
                <a:lnTo>
                  <a:pt x="140337" y="56868"/>
                </a:lnTo>
                <a:cubicBezTo>
                  <a:pt x="140337" y="64638"/>
                  <a:pt x="144348" y="71876"/>
                  <a:pt x="150927" y="76012"/>
                </a:cubicBezTo>
                <a:lnTo>
                  <a:pt x="184328" y="96879"/>
                </a:lnTo>
                <a:cubicBezTo>
                  <a:pt x="194385" y="103177"/>
                  <a:pt x="200495" y="114175"/>
                  <a:pt x="200495" y="126050"/>
                </a:cubicBezTo>
                <a:cubicBezTo>
                  <a:pt x="200495" y="145037"/>
                  <a:pt x="185111" y="160452"/>
                  <a:pt x="166092" y="160452"/>
                </a:cubicBezTo>
                <a:lnTo>
                  <a:pt x="10120" y="160421"/>
                </a:lnTo>
                <a:cubicBezTo>
                  <a:pt x="9086" y="160421"/>
                  <a:pt x="8052" y="160296"/>
                  <a:pt x="7112" y="159982"/>
                </a:cubicBezTo>
                <a:cubicBezTo>
                  <a:pt x="4230" y="159105"/>
                  <a:pt x="1880" y="156975"/>
                  <a:pt x="721" y="154155"/>
                </a:cubicBezTo>
                <a:cubicBezTo>
                  <a:pt x="313" y="153121"/>
                  <a:pt x="31" y="151993"/>
                  <a:pt x="0" y="150802"/>
                </a:cubicBezTo>
                <a:cubicBezTo>
                  <a:pt x="-63" y="149643"/>
                  <a:pt x="94" y="148515"/>
                  <a:pt x="407" y="147450"/>
                </a:cubicBezTo>
                <a:cubicBezTo>
                  <a:pt x="1285" y="144567"/>
                  <a:pt x="3415" y="142217"/>
                  <a:pt x="6235" y="141058"/>
                </a:cubicBezTo>
                <a:cubicBezTo>
                  <a:pt x="7175" y="140682"/>
                  <a:pt x="8178" y="140431"/>
                  <a:pt x="9212" y="140368"/>
                </a:cubicBezTo>
                <a:lnTo>
                  <a:pt x="135763" y="129089"/>
                </a:lnTo>
                <a:cubicBezTo>
                  <a:pt x="138363" y="128869"/>
                  <a:pt x="140368" y="126676"/>
                  <a:pt x="140368" y="124044"/>
                </a:cubicBezTo>
                <a:cubicBezTo>
                  <a:pt x="140368" y="122697"/>
                  <a:pt x="139836" y="121412"/>
                  <a:pt x="138896" y="120472"/>
                </a:cubicBezTo>
                <a:lnTo>
                  <a:pt x="124984" y="106561"/>
                </a:lnTo>
                <a:cubicBezTo>
                  <a:pt x="115585" y="97161"/>
                  <a:pt x="110289" y="84409"/>
                  <a:pt x="110289" y="71124"/>
                </a:cubicBezTo>
                <a:lnTo>
                  <a:pt x="110289" y="39009"/>
                </a:lnTo>
                <a:close/>
                <a:moveTo>
                  <a:pt x="160421" y="22653"/>
                </a:moveTo>
                <a:cubicBezTo>
                  <a:pt x="160421" y="22622"/>
                  <a:pt x="160421" y="22591"/>
                  <a:pt x="160421" y="22559"/>
                </a:cubicBezTo>
                <a:cubicBezTo>
                  <a:pt x="160421" y="22528"/>
                  <a:pt x="160421" y="22497"/>
                  <a:pt x="160421" y="22465"/>
                </a:cubicBezTo>
                <a:lnTo>
                  <a:pt x="160421" y="22653"/>
                </a:lnTo>
                <a:close/>
                <a:moveTo>
                  <a:pt x="160014" y="24972"/>
                </a:moveTo>
                <a:lnTo>
                  <a:pt x="145476" y="21337"/>
                </a:lnTo>
                <a:cubicBezTo>
                  <a:pt x="145413" y="21745"/>
                  <a:pt x="145382" y="22152"/>
                  <a:pt x="145382" y="22559"/>
                </a:cubicBezTo>
                <a:cubicBezTo>
                  <a:pt x="145382" y="26726"/>
                  <a:pt x="148734" y="30079"/>
                  <a:pt x="152901" y="30079"/>
                </a:cubicBezTo>
                <a:cubicBezTo>
                  <a:pt x="156223" y="30079"/>
                  <a:pt x="159011" y="27948"/>
                  <a:pt x="160014" y="24972"/>
                </a:cubicBezTo>
                <a:close/>
                <a:moveTo>
                  <a:pt x="41014" y="36502"/>
                </a:moveTo>
                <a:cubicBezTo>
                  <a:pt x="46121" y="31959"/>
                  <a:pt x="53672" y="31426"/>
                  <a:pt x="59343" y="35217"/>
                </a:cubicBezTo>
                <a:lnTo>
                  <a:pt x="100263" y="62476"/>
                </a:lnTo>
                <a:lnTo>
                  <a:pt x="100263" y="71093"/>
                </a:lnTo>
                <a:cubicBezTo>
                  <a:pt x="100263" y="81370"/>
                  <a:pt x="102895" y="91396"/>
                  <a:pt x="107783" y="100232"/>
                </a:cubicBezTo>
                <a:lnTo>
                  <a:pt x="35092" y="100232"/>
                </a:lnTo>
                <a:cubicBezTo>
                  <a:pt x="32993" y="100232"/>
                  <a:pt x="31113" y="98916"/>
                  <a:pt x="30392" y="96973"/>
                </a:cubicBezTo>
                <a:cubicBezTo>
                  <a:pt x="29672" y="95031"/>
                  <a:pt x="30236" y="92806"/>
                  <a:pt x="31834" y="91427"/>
                </a:cubicBezTo>
                <a:lnTo>
                  <a:pt x="53578" y="72785"/>
                </a:lnTo>
                <a:lnTo>
                  <a:pt x="5765" y="80148"/>
                </a:lnTo>
                <a:cubicBezTo>
                  <a:pt x="3572" y="80493"/>
                  <a:pt x="1410" y="79333"/>
                  <a:pt x="470" y="77328"/>
                </a:cubicBezTo>
                <a:cubicBezTo>
                  <a:pt x="-470" y="75323"/>
                  <a:pt x="31" y="72941"/>
                  <a:pt x="1692" y="71438"/>
                </a:cubicBezTo>
                <a:lnTo>
                  <a:pt x="41014" y="36502"/>
                </a:lnTo>
                <a:close/>
              </a:path>
            </a:pathLst>
          </a:custGeom>
          <a:solidFill>
            <a:srgbClr val="5F6F6B"/>
          </a:solidFill>
          <a:ln/>
        </p:spPr>
      </p:sp>
      <p:sp>
        <p:nvSpPr>
          <p:cNvPr id="24" name="Text 22"/>
          <p:cNvSpPr/>
          <p:nvPr/>
        </p:nvSpPr>
        <p:spPr>
          <a:xfrm>
            <a:off x="874295" y="5919537"/>
            <a:ext cx="3416968" cy="192505"/>
          </a:xfrm>
          <a:prstGeom prst="rect">
            <a:avLst/>
          </a:prstGeom>
          <a:noFill/>
          <a:ln/>
        </p:spPr>
        <p:txBody>
          <a:bodyPr wrap="square" lIns="0" tIns="0" rIns="0" bIns="0" rtlCol="0" anchor="ctr"/>
          <a:lstStyle/>
          <a:p>
            <a:pPr>
              <a:lnSpc>
                <a:spcPct val="130000"/>
              </a:lnSpc>
            </a:pPr>
            <a:r>
              <a:rPr lang="en-US" sz="1011" b="1" dirty="0">
                <a:solidFill>
                  <a:srgbClr val="2F3E3B"/>
                </a:solidFill>
                <a:latin typeface="Quattrocento Sans" pitchFamily="34" charset="0"/>
                <a:ea typeface="Quattrocento Sans" pitchFamily="34" charset="-122"/>
                <a:cs typeface="Quattrocento Sans" pitchFamily="34" charset="-120"/>
              </a:rPr>
              <a:t>Bats</a:t>
            </a:r>
            <a:endParaRPr lang="en-US" sz="1600" dirty="0"/>
          </a:p>
        </p:txBody>
      </p:sp>
      <p:sp>
        <p:nvSpPr>
          <p:cNvPr id="25" name="Text 23"/>
          <p:cNvSpPr/>
          <p:nvPr/>
        </p:nvSpPr>
        <p:spPr>
          <a:xfrm>
            <a:off x="874295" y="6112042"/>
            <a:ext cx="3408947" cy="160421"/>
          </a:xfrm>
          <a:prstGeom prst="rect">
            <a:avLst/>
          </a:prstGeom>
          <a:noFill/>
          <a:ln/>
        </p:spPr>
        <p:txBody>
          <a:bodyPr wrap="square" lIns="0" tIns="0" rIns="0" bIns="0" rtlCol="0" anchor="ctr"/>
          <a:lstStyle/>
          <a:p>
            <a:pPr>
              <a:lnSpc>
                <a:spcPct val="120000"/>
              </a:lnSpc>
            </a:pPr>
            <a:r>
              <a:rPr lang="en-US" sz="884" dirty="0">
                <a:solidFill>
                  <a:srgbClr val="5F6F6B"/>
                </a:solidFill>
                <a:latin typeface="Quattrocento Sans" pitchFamily="34" charset="0"/>
                <a:ea typeface="Quattrocento Sans" pitchFamily="34" charset="-122"/>
                <a:cs typeface="Quattrocento Sans" pitchFamily="34" charset="-120"/>
              </a:rPr>
              <a:t>Key during early succession. Decline in importance as forests mature.</a:t>
            </a:r>
            <a:endParaRPr lang="en-US" sz="1600" dirty="0"/>
          </a:p>
        </p:txBody>
      </p:sp>
      <p:sp>
        <p:nvSpPr>
          <p:cNvPr id="26" name="Shape 24"/>
          <p:cNvSpPr/>
          <p:nvPr/>
        </p:nvSpPr>
        <p:spPr>
          <a:xfrm>
            <a:off x="6192253" y="1315453"/>
            <a:ext cx="5678905" cy="3192379"/>
          </a:xfrm>
          <a:custGeom>
            <a:avLst/>
            <a:gdLst/>
            <a:ahLst/>
            <a:cxnLst/>
            <a:rect l="l" t="t" r="r" b="b"/>
            <a:pathLst>
              <a:path w="5678905" h="3192379">
                <a:moveTo>
                  <a:pt x="96250" y="0"/>
                </a:moveTo>
                <a:lnTo>
                  <a:pt x="5582655" y="0"/>
                </a:lnTo>
                <a:cubicBezTo>
                  <a:pt x="5635813" y="0"/>
                  <a:pt x="5678905" y="43093"/>
                  <a:pt x="5678905" y="96250"/>
                </a:cubicBezTo>
                <a:lnTo>
                  <a:pt x="5678905" y="3096129"/>
                </a:lnTo>
                <a:cubicBezTo>
                  <a:pt x="5678905" y="3149286"/>
                  <a:pt x="5635813" y="3192379"/>
                  <a:pt x="5582655" y="3192379"/>
                </a:cubicBezTo>
                <a:lnTo>
                  <a:pt x="96250" y="3192379"/>
                </a:lnTo>
                <a:cubicBezTo>
                  <a:pt x="43093" y="3192379"/>
                  <a:pt x="0" y="3149286"/>
                  <a:pt x="0" y="3096129"/>
                </a:cubicBezTo>
                <a:lnTo>
                  <a:pt x="0" y="96250"/>
                </a:lnTo>
                <a:cubicBezTo>
                  <a:pt x="0" y="43093"/>
                  <a:pt x="43093" y="0"/>
                  <a:pt x="96250" y="0"/>
                </a:cubicBezTo>
                <a:close/>
              </a:path>
            </a:pathLst>
          </a:custGeom>
          <a:solidFill>
            <a:srgbClr val="FFFFFF"/>
          </a:solidFill>
          <a:ln/>
          <a:effectLst>
            <a:outerShdw sx="100000" sy="100000" kx="0" ky="0" algn="bl" rotWithShape="0" blurRad="24063" dist="8021" dir="5400000">
              <a:srgbClr val="000000">
                <a:alpha val="10196"/>
              </a:srgbClr>
            </a:outerShdw>
          </a:effectLst>
        </p:spPr>
      </p:sp>
      <p:pic>
        <p:nvPicPr>
          <p:cNvPr id="27" name="Image 0" descr="https://kimi-web-img.moonshot.cn/img/www.popsci.com/c23254855320c1773528983ec4405ac6da3c7cfb.png">    </p:cNvPr>
          <p:cNvPicPr>
            <a:picLocks noChangeAspect="1"/>
          </p:cNvPicPr>
          <p:nvPr/>
        </p:nvPicPr>
        <p:blipFill>
          <a:blip r:embed="rId1"/>
          <a:srcRect l="0" r="0" t="31" b="31"/>
          <a:stretch/>
        </p:blipFill>
        <p:spPr>
          <a:xfrm>
            <a:off x="6192253" y="1315453"/>
            <a:ext cx="5678905" cy="3192379"/>
          </a:xfrm>
          <a:prstGeom prst="roundRect">
            <a:avLst>
              <a:gd name="adj" fmla="val 3015"/>
            </a:avLst>
          </a:prstGeom>
        </p:spPr>
      </p:pic>
      <p:sp>
        <p:nvSpPr>
          <p:cNvPr id="28" name="Shape 25"/>
          <p:cNvSpPr/>
          <p:nvPr/>
        </p:nvSpPr>
        <p:spPr>
          <a:xfrm>
            <a:off x="6192253" y="4638174"/>
            <a:ext cx="5678905" cy="1860884"/>
          </a:xfrm>
          <a:custGeom>
            <a:avLst/>
            <a:gdLst/>
            <a:ahLst/>
            <a:cxnLst/>
            <a:rect l="l" t="t" r="r" b="b"/>
            <a:pathLst>
              <a:path w="5678905" h="1860884">
                <a:moveTo>
                  <a:pt x="96245" y="0"/>
                </a:moveTo>
                <a:lnTo>
                  <a:pt x="5582660" y="0"/>
                </a:lnTo>
                <a:cubicBezTo>
                  <a:pt x="5635815" y="0"/>
                  <a:pt x="5678905" y="43090"/>
                  <a:pt x="5678905" y="96245"/>
                </a:cubicBezTo>
                <a:lnTo>
                  <a:pt x="5678905" y="1764639"/>
                </a:lnTo>
                <a:cubicBezTo>
                  <a:pt x="5678905" y="1817794"/>
                  <a:pt x="5635815" y="1860884"/>
                  <a:pt x="5582660" y="1860884"/>
                </a:cubicBezTo>
                <a:lnTo>
                  <a:pt x="96245" y="1860884"/>
                </a:lnTo>
                <a:cubicBezTo>
                  <a:pt x="43090" y="1860884"/>
                  <a:pt x="0" y="1817794"/>
                  <a:pt x="0" y="1764639"/>
                </a:cubicBezTo>
                <a:lnTo>
                  <a:pt x="0" y="96245"/>
                </a:lnTo>
                <a:cubicBezTo>
                  <a:pt x="0" y="43126"/>
                  <a:pt x="43126" y="0"/>
                  <a:pt x="96245" y="0"/>
                </a:cubicBezTo>
                <a:close/>
              </a:path>
            </a:pathLst>
          </a:custGeom>
          <a:solidFill>
            <a:srgbClr val="2F3E3B"/>
          </a:solidFill>
          <a:ln/>
        </p:spPr>
      </p:sp>
      <p:sp>
        <p:nvSpPr>
          <p:cNvPr id="29" name="Text 26"/>
          <p:cNvSpPr/>
          <p:nvPr/>
        </p:nvSpPr>
        <p:spPr>
          <a:xfrm>
            <a:off x="6352674" y="4798595"/>
            <a:ext cx="5430253" cy="224589"/>
          </a:xfrm>
          <a:prstGeom prst="rect">
            <a:avLst/>
          </a:prstGeom>
          <a:noFill/>
          <a:ln/>
        </p:spPr>
        <p:txBody>
          <a:bodyPr wrap="square" lIns="0" tIns="0" rIns="0" bIns="0" rtlCol="0" anchor="ctr"/>
          <a:lstStyle/>
          <a:p>
            <a:pPr>
              <a:lnSpc>
                <a:spcPct val="130000"/>
              </a:lnSpc>
            </a:pPr>
            <a:r>
              <a:rPr lang="en-US" sz="1137" b="1" dirty="0">
                <a:solidFill>
                  <a:srgbClr val="FFFFFF"/>
                </a:solidFill>
                <a:latin typeface="Sorts Mill Goudy" pitchFamily="34" charset="0"/>
                <a:ea typeface="Sorts Mill Goudy" pitchFamily="34" charset="-122"/>
                <a:cs typeface="Sorts Mill Goudy" pitchFamily="34" charset="-120"/>
              </a:rPr>
              <a:t>Rare-Biased Dispersal</a:t>
            </a:r>
            <a:endParaRPr lang="en-US" sz="1600" dirty="0"/>
          </a:p>
        </p:txBody>
      </p:sp>
      <p:sp>
        <p:nvSpPr>
          <p:cNvPr id="30" name="Text 27"/>
          <p:cNvSpPr/>
          <p:nvPr/>
        </p:nvSpPr>
        <p:spPr>
          <a:xfrm>
            <a:off x="6352674" y="5119437"/>
            <a:ext cx="5422232" cy="417095"/>
          </a:xfrm>
          <a:prstGeom prst="rect">
            <a:avLst/>
          </a:prstGeom>
          <a:noFill/>
          <a:ln/>
        </p:spPr>
        <p:txBody>
          <a:bodyPr wrap="square" lIns="0" tIns="0" rIns="0" bIns="0" rtlCol="0" anchor="ctr"/>
          <a:lstStyle/>
          <a:p>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Generalist birds increase plant diversity through </a:t>
            </a:r>
            <a:pPr>
              <a:lnSpc>
                <a:spcPct val="140000"/>
              </a:lnSpc>
            </a:pPr>
            <a:r>
              <a:rPr lang="en-US" sz="1011" b="1" dirty="0">
                <a:solidFill>
                  <a:srgbClr val="FFFFFF"/>
                </a:solidFill>
                <a:latin typeface="Quattrocento Sans" pitchFamily="34" charset="0"/>
                <a:ea typeface="Quattrocento Sans" pitchFamily="34" charset="-122"/>
                <a:cs typeface="Quattrocento Sans" pitchFamily="34" charset="-120"/>
              </a:rPr>
              <a:t>antiapostatic foraging</a:t>
            </a:r>
            <a:pPr>
              <a:lnSpc>
                <a:spcPct val="140000"/>
              </a:lnSpc>
            </a:pPr>
            <a:r>
              <a:rPr lang="en-US" sz="1011" dirty="0">
                <a:solidFill>
                  <a:srgbClr val="FFFFFF"/>
                </a:solidFill>
                <a:latin typeface="Quattrocento Sans" pitchFamily="34" charset="0"/>
                <a:ea typeface="Quattrocento Sans" pitchFamily="34" charset="-122"/>
                <a:cs typeface="Quattrocento Sans" pitchFamily="34" charset="-120"/>
              </a:rPr>
              <a:t>—preferentially consuming fruits of rare species:</a:t>
            </a:r>
            <a:endParaRPr lang="en-US" sz="1600" dirty="0"/>
          </a:p>
        </p:txBody>
      </p:sp>
      <p:sp>
        <p:nvSpPr>
          <p:cNvPr id="31" name="Shape 28"/>
          <p:cNvSpPr/>
          <p:nvPr/>
        </p:nvSpPr>
        <p:spPr>
          <a:xfrm>
            <a:off x="6384758" y="5664868"/>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2" name="Text 29"/>
          <p:cNvSpPr/>
          <p:nvPr/>
        </p:nvSpPr>
        <p:spPr>
          <a:xfrm>
            <a:off x="6577263" y="5632784"/>
            <a:ext cx="2590800"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Increases odds for rare species establishment</a:t>
            </a:r>
            <a:endParaRPr lang="en-US" sz="1600" dirty="0"/>
          </a:p>
        </p:txBody>
      </p:sp>
      <p:sp>
        <p:nvSpPr>
          <p:cNvPr id="33" name="Shape 30"/>
          <p:cNvSpPr/>
          <p:nvPr/>
        </p:nvSpPr>
        <p:spPr>
          <a:xfrm>
            <a:off x="6384758" y="5921542"/>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4" name="Text 31"/>
          <p:cNvSpPr/>
          <p:nvPr/>
        </p:nvSpPr>
        <p:spPr>
          <a:xfrm>
            <a:off x="6577263" y="5889458"/>
            <a:ext cx="293570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Prevents competitive exclusion by common species</a:t>
            </a:r>
            <a:endParaRPr lang="en-US" sz="1600" dirty="0"/>
          </a:p>
        </p:txBody>
      </p:sp>
      <p:sp>
        <p:nvSpPr>
          <p:cNvPr id="35" name="Shape 32"/>
          <p:cNvSpPr/>
          <p:nvPr/>
        </p:nvSpPr>
        <p:spPr>
          <a:xfrm>
            <a:off x="6384758" y="6178216"/>
            <a:ext cx="96253" cy="128337"/>
          </a:xfrm>
          <a:custGeom>
            <a:avLst/>
            <a:gdLst/>
            <a:ahLst/>
            <a:cxnLst/>
            <a:rect l="l" t="t" r="r" b="b"/>
            <a:pathLst>
              <a:path w="96253" h="128337">
                <a:moveTo>
                  <a:pt x="53791" y="4361"/>
                </a:moveTo>
                <a:cubicBezTo>
                  <a:pt x="50658" y="1228"/>
                  <a:pt x="45570" y="1228"/>
                  <a:pt x="42436" y="4361"/>
                </a:cubicBezTo>
                <a:lnTo>
                  <a:pt x="2331" y="44467"/>
                </a:lnTo>
                <a:cubicBezTo>
                  <a:pt x="-802" y="47600"/>
                  <a:pt x="-802" y="52688"/>
                  <a:pt x="2331" y="55822"/>
                </a:cubicBezTo>
                <a:cubicBezTo>
                  <a:pt x="5464" y="58955"/>
                  <a:pt x="10553" y="58955"/>
                  <a:pt x="13686" y="55822"/>
                </a:cubicBezTo>
                <a:lnTo>
                  <a:pt x="40105" y="29402"/>
                </a:lnTo>
                <a:lnTo>
                  <a:pt x="40105" y="122321"/>
                </a:lnTo>
                <a:cubicBezTo>
                  <a:pt x="40105" y="126758"/>
                  <a:pt x="43690" y="130342"/>
                  <a:pt x="48126" y="130342"/>
                </a:cubicBezTo>
                <a:cubicBezTo>
                  <a:pt x="52563" y="130342"/>
                  <a:pt x="56147" y="126758"/>
                  <a:pt x="56147" y="122321"/>
                </a:cubicBezTo>
                <a:lnTo>
                  <a:pt x="56147" y="29402"/>
                </a:lnTo>
                <a:lnTo>
                  <a:pt x="82567" y="55822"/>
                </a:lnTo>
                <a:cubicBezTo>
                  <a:pt x="85700" y="58955"/>
                  <a:pt x="90788" y="58955"/>
                  <a:pt x="93922" y="55822"/>
                </a:cubicBezTo>
                <a:cubicBezTo>
                  <a:pt x="97055" y="52688"/>
                  <a:pt x="97055" y="47600"/>
                  <a:pt x="93922" y="44467"/>
                </a:cubicBezTo>
                <a:lnTo>
                  <a:pt x="53816" y="4361"/>
                </a:lnTo>
                <a:close/>
              </a:path>
            </a:pathLst>
          </a:custGeom>
          <a:solidFill>
            <a:srgbClr val="8FB7AC"/>
          </a:solidFill>
          <a:ln/>
        </p:spPr>
      </p:sp>
      <p:sp>
        <p:nvSpPr>
          <p:cNvPr id="36" name="Text 33"/>
          <p:cNvSpPr/>
          <p:nvPr/>
        </p:nvSpPr>
        <p:spPr>
          <a:xfrm>
            <a:off x="6577263" y="6146132"/>
            <a:ext cx="2703095" cy="192505"/>
          </a:xfrm>
          <a:prstGeom prst="rect">
            <a:avLst/>
          </a:prstGeom>
          <a:noFill/>
          <a:ln/>
        </p:spPr>
        <p:txBody>
          <a:bodyPr wrap="square" lIns="0" tIns="0" rIns="0" bIns="0" rtlCol="0" anchor="ctr"/>
          <a:lstStyle/>
          <a:p>
            <a:pP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Maintains diversity in regenerating communities</a:t>
            </a:r>
            <a:endParaRPr lang="en-US" sz="1600" dirty="0"/>
          </a:p>
        </p:txBody>
      </p:sp>
      <p:sp>
        <p:nvSpPr>
          <p:cNvPr id="37" name="Shape 34"/>
          <p:cNvSpPr/>
          <p:nvPr/>
        </p:nvSpPr>
        <p:spPr>
          <a:xfrm>
            <a:off x="6192253" y="6627395"/>
            <a:ext cx="5678905" cy="770021"/>
          </a:xfrm>
          <a:custGeom>
            <a:avLst/>
            <a:gdLst/>
            <a:ahLst/>
            <a:cxnLst/>
            <a:rect l="l" t="t" r="r" b="b"/>
            <a:pathLst>
              <a:path w="5678905" h="770021">
                <a:moveTo>
                  <a:pt x="96253" y="0"/>
                </a:moveTo>
                <a:lnTo>
                  <a:pt x="5582653" y="0"/>
                </a:lnTo>
                <a:cubicBezTo>
                  <a:pt x="5635811" y="0"/>
                  <a:pt x="5678905" y="43094"/>
                  <a:pt x="5678905" y="96253"/>
                </a:cubicBezTo>
                <a:lnTo>
                  <a:pt x="5678905" y="673768"/>
                </a:lnTo>
                <a:cubicBezTo>
                  <a:pt x="5678905" y="726927"/>
                  <a:pt x="5635811" y="770021"/>
                  <a:pt x="5582653" y="770021"/>
                </a:cubicBezTo>
                <a:lnTo>
                  <a:pt x="96253" y="770021"/>
                </a:lnTo>
                <a:cubicBezTo>
                  <a:pt x="43094" y="770021"/>
                  <a:pt x="0" y="726927"/>
                  <a:pt x="0" y="673768"/>
                </a:cubicBezTo>
                <a:lnTo>
                  <a:pt x="0" y="96253"/>
                </a:lnTo>
                <a:cubicBezTo>
                  <a:pt x="0" y="43129"/>
                  <a:pt x="43129" y="0"/>
                  <a:pt x="96253" y="0"/>
                </a:cubicBezTo>
                <a:close/>
              </a:path>
            </a:pathLst>
          </a:custGeom>
          <a:solidFill>
            <a:srgbClr val="4C8A7A"/>
          </a:solidFill>
          <a:ln/>
        </p:spPr>
      </p:sp>
      <p:sp>
        <p:nvSpPr>
          <p:cNvPr id="38" name="Text 35"/>
          <p:cNvSpPr/>
          <p:nvPr/>
        </p:nvSpPr>
        <p:spPr>
          <a:xfrm>
            <a:off x="6260432" y="6755732"/>
            <a:ext cx="5542547" cy="288758"/>
          </a:xfrm>
          <a:prstGeom prst="rect">
            <a:avLst/>
          </a:prstGeom>
          <a:noFill/>
          <a:ln/>
        </p:spPr>
        <p:txBody>
          <a:bodyPr wrap="square" lIns="0" tIns="0" rIns="0" bIns="0" rtlCol="0" anchor="ctr"/>
          <a:lstStyle/>
          <a:p>
            <a:pPr algn="ctr">
              <a:lnSpc>
                <a:spcPct val="100000"/>
              </a:lnSpc>
            </a:pPr>
            <a:r>
              <a:rPr lang="en-US" sz="1895" b="1" dirty="0">
                <a:solidFill>
                  <a:srgbClr val="FFFFFF"/>
                </a:solidFill>
                <a:latin typeface="Sorts Mill Goudy" pitchFamily="34" charset="0"/>
                <a:ea typeface="Sorts Mill Goudy" pitchFamily="34" charset="-122"/>
                <a:cs typeface="Sorts Mill Goudy" pitchFamily="34" charset="-120"/>
              </a:rPr>
              <a:t>Carbon Connection</a:t>
            </a:r>
            <a:endParaRPr lang="en-US" sz="1600" dirty="0"/>
          </a:p>
        </p:txBody>
      </p:sp>
      <p:sp>
        <p:nvSpPr>
          <p:cNvPr id="39" name="Text 36"/>
          <p:cNvSpPr/>
          <p:nvPr/>
        </p:nvSpPr>
        <p:spPr>
          <a:xfrm>
            <a:off x="6288505" y="7076574"/>
            <a:ext cx="5486400" cy="192505"/>
          </a:xfrm>
          <a:prstGeom prst="rect">
            <a:avLst/>
          </a:prstGeom>
          <a:noFill/>
          <a:ln/>
        </p:spPr>
        <p:txBody>
          <a:bodyPr wrap="square" lIns="0" tIns="0" rIns="0" bIns="0" rtlCol="0" anchor="ctr"/>
          <a:lstStyle/>
          <a:p>
            <a:pPr algn="ctr">
              <a:lnSpc>
                <a:spcPct val="130000"/>
              </a:lnSpc>
            </a:pPr>
            <a:r>
              <a:rPr lang="en-US" sz="1011" dirty="0">
                <a:solidFill>
                  <a:srgbClr val="FFFFFF"/>
                </a:solidFill>
                <a:latin typeface="Quattrocento Sans" pitchFamily="34" charset="0"/>
                <a:ea typeface="Quattrocento Sans" pitchFamily="34" charset="-122"/>
                <a:cs typeface="Quattrocento Sans" pitchFamily="34" charset="-120"/>
              </a:rPr>
              <a:t>Seed dispersal affects forest carbon storage capacity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36099" y="336099"/>
            <a:ext cx="11578619" cy="168050"/>
          </a:xfrm>
          <a:prstGeom prst="rect">
            <a:avLst/>
          </a:prstGeom>
          <a:noFill/>
          <a:ln/>
        </p:spPr>
        <p:txBody>
          <a:bodyPr wrap="square" lIns="0" tIns="0" rIns="0" bIns="0" rtlCol="0" anchor="ctr"/>
          <a:lstStyle/>
          <a:p>
            <a:pPr>
              <a:lnSpc>
                <a:spcPct val="120000"/>
              </a:lnSpc>
            </a:pPr>
            <a:r>
              <a:rPr lang="en-US" sz="926" b="1" spc="93" kern="0" dirty="0">
                <a:solidFill>
                  <a:srgbClr val="5F6F6B"/>
                </a:solidFill>
                <a:latin typeface="Quattrocento Sans" pitchFamily="34" charset="0"/>
                <a:ea typeface="Quattrocento Sans" pitchFamily="34" charset="-122"/>
                <a:cs typeface="Quattrocento Sans" pitchFamily="34" charset="-120"/>
              </a:rPr>
              <a:t>06 • Animal-Mediated Processes</a:t>
            </a:r>
            <a:endParaRPr lang="en-US" sz="1600" dirty="0"/>
          </a:p>
        </p:txBody>
      </p:sp>
      <p:sp>
        <p:nvSpPr>
          <p:cNvPr id="3" name="Text 1"/>
          <p:cNvSpPr/>
          <p:nvPr/>
        </p:nvSpPr>
        <p:spPr>
          <a:xfrm>
            <a:off x="336099" y="571369"/>
            <a:ext cx="11671046" cy="336099"/>
          </a:xfrm>
          <a:prstGeom prst="rect">
            <a:avLst/>
          </a:prstGeom>
          <a:noFill/>
          <a:ln/>
        </p:spPr>
        <p:txBody>
          <a:bodyPr wrap="square" lIns="0" tIns="0" rIns="0" bIns="0" rtlCol="0" anchor="ctr"/>
          <a:lstStyle/>
          <a:p>
            <a:pPr>
              <a:lnSpc>
                <a:spcPct val="90000"/>
              </a:lnSpc>
            </a:pPr>
            <a:r>
              <a:rPr lang="en-US" sz="2382" b="1" dirty="0">
                <a:solidFill>
                  <a:srgbClr val="2F3E3B"/>
                </a:solidFill>
                <a:latin typeface="Sorts Mill Goudy" pitchFamily="34" charset="0"/>
                <a:ea typeface="Sorts Mill Goudy" pitchFamily="34" charset="-122"/>
                <a:cs typeface="Sorts Mill Goudy" pitchFamily="34" charset="-120"/>
              </a:rPr>
              <a:t>Keystone Species &amp; Ecosystem Engineers</a:t>
            </a:r>
            <a:endParaRPr lang="en-US" sz="1600" dirty="0"/>
          </a:p>
        </p:txBody>
      </p:sp>
      <p:sp>
        <p:nvSpPr>
          <p:cNvPr id="4" name="Text 2"/>
          <p:cNvSpPr/>
          <p:nvPr/>
        </p:nvSpPr>
        <p:spPr>
          <a:xfrm>
            <a:off x="336099" y="974688"/>
            <a:ext cx="11595424" cy="235269"/>
          </a:xfrm>
          <a:prstGeom prst="rect">
            <a:avLst/>
          </a:prstGeom>
          <a:noFill/>
          <a:ln/>
        </p:spPr>
        <p:txBody>
          <a:bodyPr wrap="square" lIns="0" tIns="0" rIns="0" bIns="0" rtlCol="0" anchor="ctr"/>
          <a:lstStyle/>
          <a:p>
            <a:pPr>
              <a:lnSpc>
                <a:spcPct val="130000"/>
              </a:lnSpc>
            </a:pPr>
            <a:r>
              <a:rPr lang="en-US" sz="1191" dirty="0">
                <a:solidFill>
                  <a:srgbClr val="5F6F6B"/>
                </a:solidFill>
                <a:latin typeface="Quattrocento Sans" pitchFamily="34" charset="0"/>
                <a:ea typeface="Quattrocento Sans" pitchFamily="34" charset="-122"/>
                <a:cs typeface="Quattrocento Sans" pitchFamily="34" charset="-120"/>
              </a:rPr>
              <a:t>Species with disproportionate impacts on forest biodiversity</a:t>
            </a:r>
            <a:endParaRPr lang="en-US" sz="1600" dirty="0"/>
          </a:p>
        </p:txBody>
      </p:sp>
      <p:sp>
        <p:nvSpPr>
          <p:cNvPr id="5" name="Shape 3"/>
          <p:cNvSpPr/>
          <p:nvPr/>
        </p:nvSpPr>
        <p:spPr>
          <a:xfrm>
            <a:off x="336099" y="1378007"/>
            <a:ext cx="7621050" cy="2167840"/>
          </a:xfrm>
          <a:custGeom>
            <a:avLst/>
            <a:gdLst/>
            <a:ahLst/>
            <a:cxnLst/>
            <a:rect l="l" t="t" r="r" b="b"/>
            <a:pathLst>
              <a:path w="7621050" h="2167840">
                <a:moveTo>
                  <a:pt x="100826" y="0"/>
                </a:moveTo>
                <a:lnTo>
                  <a:pt x="7520224" y="0"/>
                </a:lnTo>
                <a:cubicBezTo>
                  <a:pt x="7575909" y="0"/>
                  <a:pt x="7621050" y="45141"/>
                  <a:pt x="7621050" y="100826"/>
                </a:cubicBezTo>
                <a:lnTo>
                  <a:pt x="7621050" y="2067014"/>
                </a:lnTo>
                <a:cubicBezTo>
                  <a:pt x="7621050" y="2122699"/>
                  <a:pt x="7575909" y="2167840"/>
                  <a:pt x="7520224" y="2167840"/>
                </a:cubicBezTo>
                <a:lnTo>
                  <a:pt x="100826" y="2167840"/>
                </a:lnTo>
                <a:cubicBezTo>
                  <a:pt x="45141" y="2167840"/>
                  <a:pt x="0" y="2122699"/>
                  <a:pt x="0" y="2067014"/>
                </a:cubicBezTo>
                <a:lnTo>
                  <a:pt x="0" y="100826"/>
                </a:lnTo>
                <a:cubicBezTo>
                  <a:pt x="0" y="45179"/>
                  <a:pt x="45179" y="0"/>
                  <a:pt x="100826"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6" name="Text 4"/>
          <p:cNvSpPr/>
          <p:nvPr/>
        </p:nvSpPr>
        <p:spPr>
          <a:xfrm>
            <a:off x="504149" y="1546057"/>
            <a:ext cx="7368976" cy="235269"/>
          </a:xfrm>
          <a:prstGeom prst="rect">
            <a:avLst/>
          </a:prstGeom>
          <a:noFill/>
          <a:ln/>
        </p:spPr>
        <p:txBody>
          <a:bodyPr wrap="square" lIns="0" tIns="0" rIns="0" bIns="0" rtlCol="0" anchor="ctr"/>
          <a:lstStyle/>
          <a:p>
            <a:pPr>
              <a:lnSpc>
                <a:spcPct val="120000"/>
              </a:lnSpc>
            </a:pPr>
            <a:r>
              <a:rPr lang="en-US" sz="1323" b="1" dirty="0">
                <a:solidFill>
                  <a:srgbClr val="2F3E3B"/>
                </a:solidFill>
                <a:latin typeface="Sorts Mill Goudy" pitchFamily="34" charset="0"/>
                <a:ea typeface="Sorts Mill Goudy" pitchFamily="34" charset="-122"/>
                <a:cs typeface="Sorts Mill Goudy" pitchFamily="34" charset="-120"/>
              </a:rPr>
              <a:t>Defining Keystone Species</a:t>
            </a:r>
            <a:endParaRPr lang="en-US" sz="1600" dirty="0"/>
          </a:p>
        </p:txBody>
      </p:sp>
      <p:sp>
        <p:nvSpPr>
          <p:cNvPr id="7" name="Text 5"/>
          <p:cNvSpPr/>
          <p:nvPr/>
        </p:nvSpPr>
        <p:spPr>
          <a:xfrm>
            <a:off x="504149" y="1882156"/>
            <a:ext cx="7352171" cy="436929"/>
          </a:xfrm>
          <a:prstGeom prst="rect">
            <a:avLst/>
          </a:prstGeom>
          <a:noFill/>
          <a:ln/>
        </p:spPr>
        <p:txBody>
          <a:bodyPr wrap="square" lIns="0" tIns="0" rIns="0" bIns="0" rtlCol="0" anchor="ctr"/>
          <a:lstStyle/>
          <a:p>
            <a:pPr>
              <a:lnSpc>
                <a:spcPct val="140000"/>
              </a:lnSpc>
            </a:pPr>
            <a:r>
              <a:rPr lang="en-US" sz="1059" b="1" dirty="0">
                <a:solidFill>
                  <a:srgbClr val="1F2A28"/>
                </a:solidFill>
                <a:latin typeface="Quattrocento Sans" pitchFamily="34" charset="0"/>
                <a:ea typeface="Quattrocento Sans" pitchFamily="34" charset="-122"/>
                <a:cs typeface="Quattrocento Sans" pitchFamily="34" charset="-120"/>
              </a:rPr>
              <a:t>Keystone species</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 have a disproportionate impact on ecosystem structure and function relative to their abundance. Their presence or absence can cause </a:t>
            </a:r>
            <a:pPr>
              <a:lnSpc>
                <a:spcPct val="140000"/>
              </a:lnSpc>
            </a:pPr>
            <a:r>
              <a:rPr lang="en-US" sz="105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cascading effects on community composition and ecosystem processes </a:t>
            </a:r>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8" name="Shape 6"/>
          <p:cNvSpPr/>
          <p:nvPr/>
        </p:nvSpPr>
        <p:spPr>
          <a:xfrm>
            <a:off x="504149"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4C8A7A">
              <a:alpha val="10196"/>
            </a:srgbClr>
          </a:solidFill>
          <a:ln/>
        </p:spPr>
      </p:sp>
      <p:sp>
        <p:nvSpPr>
          <p:cNvPr id="9" name="Text 7"/>
          <p:cNvSpPr/>
          <p:nvPr/>
        </p:nvSpPr>
        <p:spPr>
          <a:xfrm>
            <a:off x="638589"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Keystone vs. Dominant</a:t>
            </a:r>
            <a:endParaRPr lang="en-US" sz="1600" dirty="0"/>
          </a:p>
        </p:txBody>
      </p:sp>
      <p:sp>
        <p:nvSpPr>
          <p:cNvPr id="10" name="Text 8"/>
          <p:cNvSpPr/>
          <p:nvPr/>
        </p:nvSpPr>
        <p:spPr>
          <a:xfrm>
            <a:off x="638589" y="2856844"/>
            <a:ext cx="3369395" cy="386514"/>
          </a:xfrm>
          <a:prstGeom prst="rect">
            <a:avLst/>
          </a:prstGeom>
          <a:noFill/>
          <a:ln/>
        </p:spPr>
        <p:txBody>
          <a:bodyPr wrap="square" lIns="0" tIns="0" rIns="0" bIns="0" rtlCol="0" anchor="ctr"/>
          <a:lstStyle/>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Keystone:</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Low abundance, high impact</a:t>
            </a:r>
            <a:endParaRPr lang="en-US" sz="1600" dirty="0"/>
          </a:p>
          <a:p>
            <a:pPr>
              <a:lnSpc>
                <a:spcPct val="140000"/>
              </a:lnSpc>
            </a:pPr>
            <a:r>
              <a:rPr lang="en-US" sz="926" b="1" dirty="0">
                <a:solidFill>
                  <a:srgbClr val="5F6F6B"/>
                </a:solidFill>
                <a:latin typeface="Quattrocento Sans" pitchFamily="34" charset="0"/>
                <a:ea typeface="Quattrocento Sans" pitchFamily="34" charset="-122"/>
                <a:cs typeface="Quattrocento Sans" pitchFamily="34" charset="-120"/>
              </a:rPr>
              <a:t>Dominant:</a:t>
            </a:r>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 High abundance, proportional impact</a:t>
            </a:r>
            <a:endParaRPr lang="en-US" sz="1600" dirty="0"/>
          </a:p>
        </p:txBody>
      </p:sp>
      <p:sp>
        <p:nvSpPr>
          <p:cNvPr id="11" name="Shape 9"/>
          <p:cNvSpPr/>
          <p:nvPr/>
        </p:nvSpPr>
        <p:spPr>
          <a:xfrm>
            <a:off x="4214304" y="2453524"/>
            <a:ext cx="3579457" cy="924273"/>
          </a:xfrm>
          <a:custGeom>
            <a:avLst/>
            <a:gdLst/>
            <a:ahLst/>
            <a:cxnLst/>
            <a:rect l="l" t="t" r="r" b="b"/>
            <a:pathLst>
              <a:path w="3579457" h="924273">
                <a:moveTo>
                  <a:pt x="67222" y="0"/>
                </a:moveTo>
                <a:lnTo>
                  <a:pt x="3512235" y="0"/>
                </a:lnTo>
                <a:cubicBezTo>
                  <a:pt x="3549360" y="0"/>
                  <a:pt x="3579457" y="30096"/>
                  <a:pt x="3579457" y="67222"/>
                </a:cubicBezTo>
                <a:lnTo>
                  <a:pt x="3579457" y="857051"/>
                </a:lnTo>
                <a:cubicBezTo>
                  <a:pt x="3579457" y="894176"/>
                  <a:pt x="3549360" y="924273"/>
                  <a:pt x="3512235" y="924273"/>
                </a:cubicBezTo>
                <a:lnTo>
                  <a:pt x="67222" y="924273"/>
                </a:lnTo>
                <a:cubicBezTo>
                  <a:pt x="30121" y="924273"/>
                  <a:pt x="0" y="894152"/>
                  <a:pt x="0" y="857051"/>
                </a:cubicBezTo>
                <a:lnTo>
                  <a:pt x="0" y="67222"/>
                </a:lnTo>
                <a:cubicBezTo>
                  <a:pt x="0" y="30096"/>
                  <a:pt x="30096" y="0"/>
                  <a:pt x="67222" y="0"/>
                </a:cubicBezTo>
                <a:close/>
              </a:path>
            </a:pathLst>
          </a:custGeom>
          <a:solidFill>
            <a:srgbClr val="8FB7AC">
              <a:alpha val="10196"/>
            </a:srgbClr>
          </a:solidFill>
          <a:ln/>
        </p:spPr>
      </p:sp>
      <p:sp>
        <p:nvSpPr>
          <p:cNvPr id="12" name="Text 10"/>
          <p:cNvSpPr/>
          <p:nvPr/>
        </p:nvSpPr>
        <p:spPr>
          <a:xfrm>
            <a:off x="4348743" y="2587964"/>
            <a:ext cx="3377797" cy="201660"/>
          </a:xfrm>
          <a:prstGeom prst="rect">
            <a:avLst/>
          </a:prstGeom>
          <a:noFill/>
          <a:ln/>
        </p:spPr>
        <p:txBody>
          <a:bodyPr wrap="square" lIns="0" tIns="0" rIns="0" bIns="0" rtlCol="0" anchor="ctr"/>
          <a:lstStyle/>
          <a:p>
            <a:pPr>
              <a:lnSpc>
                <a:spcPct val="130000"/>
              </a:lnSpc>
            </a:pPr>
            <a:r>
              <a:rPr lang="en-US" sz="1059" b="1" dirty="0">
                <a:solidFill>
                  <a:srgbClr val="2F3E3B"/>
                </a:solidFill>
                <a:latin typeface="Quattrocento Sans" pitchFamily="34" charset="0"/>
                <a:ea typeface="Quattrocento Sans" pitchFamily="34" charset="-122"/>
                <a:cs typeface="Quattrocento Sans" pitchFamily="34" charset="-120"/>
              </a:rPr>
              <a:t>Ecosystem Engineers</a:t>
            </a:r>
            <a:endParaRPr lang="en-US" sz="1600" dirty="0"/>
          </a:p>
        </p:txBody>
      </p:sp>
      <p:sp>
        <p:nvSpPr>
          <p:cNvPr id="13" name="Text 11"/>
          <p:cNvSpPr/>
          <p:nvPr/>
        </p:nvSpPr>
        <p:spPr>
          <a:xfrm>
            <a:off x="4348743" y="2856844"/>
            <a:ext cx="3369395" cy="386514"/>
          </a:xfrm>
          <a:prstGeom prst="rect">
            <a:avLst/>
          </a:prstGeom>
          <a:noFill/>
          <a:ln/>
        </p:spPr>
        <p:txBody>
          <a:bodyPr wrap="square" lIns="0" tIns="0" rIns="0" bIns="0" rtlCol="0" anchor="ctr"/>
          <a:lstStyle/>
          <a:p>
            <a:pPr>
              <a:lnSpc>
                <a:spcPct val="140000"/>
              </a:lnSpc>
            </a:pPr>
            <a:r>
              <a:rPr lang="en-US" sz="926" dirty="0">
                <a:solidFill>
                  <a:srgbClr val="5F6F6B"/>
                </a:solidFill>
                <a:latin typeface="Quattrocento Sans" pitchFamily="34" charset="0"/>
                <a:ea typeface="Quattrocento Sans" pitchFamily="34" charset="-122"/>
                <a:cs typeface="Quattrocento Sans" pitchFamily="34" charset="-120"/>
              </a:rPr>
              <a:t>Species that physically modify habitats, creating resources for other species</a:t>
            </a:r>
            <a:endParaRPr lang="en-US" sz="1600" dirty="0"/>
          </a:p>
        </p:txBody>
      </p:sp>
      <p:sp>
        <p:nvSpPr>
          <p:cNvPr id="14" name="Shape 12"/>
          <p:cNvSpPr/>
          <p:nvPr/>
        </p:nvSpPr>
        <p:spPr>
          <a:xfrm>
            <a:off x="336099"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15" name="Shape 13"/>
          <p:cNvSpPr/>
          <p:nvPr/>
        </p:nvSpPr>
        <p:spPr>
          <a:xfrm>
            <a:off x="336099"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4C8A7A"/>
          </a:solidFill>
          <a:ln/>
        </p:spPr>
      </p:sp>
      <p:sp>
        <p:nvSpPr>
          <p:cNvPr id="16" name="Shape 14"/>
          <p:cNvSpPr/>
          <p:nvPr/>
        </p:nvSpPr>
        <p:spPr>
          <a:xfrm>
            <a:off x="502048" y="3877745"/>
            <a:ext cx="147043" cy="168050"/>
          </a:xfrm>
          <a:custGeom>
            <a:avLst/>
            <a:gdLst/>
            <a:ahLst/>
            <a:cxnLst/>
            <a:rect l="l" t="t" r="r" b="b"/>
            <a:pathLst>
              <a:path w="147043" h="168050">
                <a:moveTo>
                  <a:pt x="73522" y="-10503"/>
                </a:moveTo>
                <a:cubicBezTo>
                  <a:pt x="75819" y="-10503"/>
                  <a:pt x="78018" y="-9486"/>
                  <a:pt x="79528" y="-7713"/>
                </a:cubicBezTo>
                <a:lnTo>
                  <a:pt x="124166" y="44802"/>
                </a:lnTo>
                <a:cubicBezTo>
                  <a:pt x="126169" y="47133"/>
                  <a:pt x="126595" y="50415"/>
                  <a:pt x="125315" y="53205"/>
                </a:cubicBezTo>
                <a:cubicBezTo>
                  <a:pt x="124035" y="55995"/>
                  <a:pt x="121245" y="57767"/>
                  <a:pt x="118160" y="57767"/>
                </a:cubicBezTo>
                <a:lnTo>
                  <a:pt x="109987" y="57767"/>
                </a:lnTo>
                <a:lnTo>
                  <a:pt x="134669" y="86815"/>
                </a:lnTo>
                <a:cubicBezTo>
                  <a:pt x="136672" y="89145"/>
                  <a:pt x="137098" y="92427"/>
                  <a:pt x="135818" y="95217"/>
                </a:cubicBezTo>
                <a:cubicBezTo>
                  <a:pt x="134538" y="98007"/>
                  <a:pt x="131748" y="99779"/>
                  <a:pt x="128663" y="99779"/>
                </a:cubicBezTo>
                <a:lnTo>
                  <a:pt x="116026" y="99779"/>
                </a:lnTo>
                <a:lnTo>
                  <a:pt x="145173" y="134079"/>
                </a:lnTo>
                <a:cubicBezTo>
                  <a:pt x="147175" y="136409"/>
                  <a:pt x="147601" y="139691"/>
                  <a:pt x="146321" y="142481"/>
                </a:cubicBezTo>
                <a:cubicBezTo>
                  <a:pt x="145041" y="145271"/>
                  <a:pt x="142251" y="147043"/>
                  <a:pt x="139166" y="147043"/>
                </a:cubicBezTo>
                <a:lnTo>
                  <a:pt x="84025" y="147043"/>
                </a:lnTo>
                <a:lnTo>
                  <a:pt x="84025" y="168050"/>
                </a:lnTo>
                <a:cubicBezTo>
                  <a:pt x="84025" y="173859"/>
                  <a:pt x="79331" y="178553"/>
                  <a:pt x="73522" y="178553"/>
                </a:cubicBezTo>
                <a:cubicBezTo>
                  <a:pt x="67712" y="178553"/>
                  <a:pt x="63019" y="173859"/>
                  <a:pt x="63019" y="168050"/>
                </a:cubicBezTo>
                <a:lnTo>
                  <a:pt x="63019" y="147043"/>
                </a:lnTo>
                <a:lnTo>
                  <a:pt x="7877" y="147043"/>
                </a:lnTo>
                <a:cubicBezTo>
                  <a:pt x="4792" y="147043"/>
                  <a:pt x="2002" y="145271"/>
                  <a:pt x="722" y="142481"/>
                </a:cubicBezTo>
                <a:cubicBezTo>
                  <a:pt x="-558" y="139691"/>
                  <a:pt x="-131" y="136409"/>
                  <a:pt x="1871" y="134079"/>
                </a:cubicBezTo>
                <a:lnTo>
                  <a:pt x="31017" y="99779"/>
                </a:lnTo>
                <a:lnTo>
                  <a:pt x="18380" y="99779"/>
                </a:lnTo>
                <a:cubicBezTo>
                  <a:pt x="15295" y="99779"/>
                  <a:pt x="12505" y="98007"/>
                  <a:pt x="11225" y="95217"/>
                </a:cubicBezTo>
                <a:cubicBezTo>
                  <a:pt x="9945" y="92427"/>
                  <a:pt x="10372" y="89145"/>
                  <a:pt x="12374" y="86815"/>
                </a:cubicBezTo>
                <a:lnTo>
                  <a:pt x="37056" y="57767"/>
                </a:lnTo>
                <a:lnTo>
                  <a:pt x="28884" y="57767"/>
                </a:lnTo>
                <a:cubicBezTo>
                  <a:pt x="25798" y="57767"/>
                  <a:pt x="23008" y="55995"/>
                  <a:pt x="21728" y="53205"/>
                </a:cubicBezTo>
                <a:cubicBezTo>
                  <a:pt x="20448" y="50415"/>
                  <a:pt x="20875" y="47133"/>
                  <a:pt x="22877" y="44802"/>
                </a:cubicBezTo>
                <a:lnTo>
                  <a:pt x="67515" y="-7713"/>
                </a:lnTo>
                <a:cubicBezTo>
                  <a:pt x="69025" y="-9486"/>
                  <a:pt x="71224" y="-10503"/>
                  <a:pt x="73522" y="-10503"/>
                </a:cubicBezTo>
                <a:close/>
              </a:path>
            </a:pathLst>
          </a:custGeom>
          <a:solidFill>
            <a:srgbClr val="4C8A7A"/>
          </a:solidFill>
          <a:ln/>
        </p:spPr>
      </p:sp>
      <p:sp>
        <p:nvSpPr>
          <p:cNvPr id="17" name="Text 15"/>
          <p:cNvSpPr/>
          <p:nvPr/>
        </p:nvSpPr>
        <p:spPr>
          <a:xfrm>
            <a:off x="781431" y="3844135"/>
            <a:ext cx="1142737"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Fig Trees (Ficus)</a:t>
            </a:r>
            <a:endParaRPr lang="en-US" sz="1600" dirty="0"/>
          </a:p>
        </p:txBody>
      </p:sp>
      <p:sp>
        <p:nvSpPr>
          <p:cNvPr id="18" name="Text 16"/>
          <p:cNvSpPr/>
          <p:nvPr/>
        </p:nvSpPr>
        <p:spPr>
          <a:xfrm>
            <a:off x="470539"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Keystone resource in tropical forests. Fruit available year-round when other foods are scarce.</a:t>
            </a:r>
            <a:endParaRPr lang="en-US" sz="1600" dirty="0"/>
          </a:p>
        </p:txBody>
      </p:sp>
      <p:sp>
        <p:nvSpPr>
          <p:cNvPr id="19" name="Text 17"/>
          <p:cNvSpPr/>
          <p:nvPr/>
        </p:nvSpPr>
        <p:spPr>
          <a:xfrm>
            <a:off x="470539"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Mutualists: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Fig wasps (pollinators), fruit bats, primates, birds</a:t>
            </a:r>
            <a:endParaRPr lang="en-US" sz="1600" dirty="0"/>
          </a:p>
        </p:txBody>
      </p:sp>
      <p:sp>
        <p:nvSpPr>
          <p:cNvPr id="20" name="Shape 18"/>
          <p:cNvSpPr/>
          <p:nvPr/>
        </p:nvSpPr>
        <p:spPr>
          <a:xfrm>
            <a:off x="4214304" y="3692890"/>
            <a:ext cx="3747507" cy="2966076"/>
          </a:xfrm>
          <a:custGeom>
            <a:avLst/>
            <a:gdLst/>
            <a:ahLst/>
            <a:cxnLst/>
            <a:rect l="l" t="t" r="r" b="b"/>
            <a:pathLst>
              <a:path w="3747507" h="2966076">
                <a:moveTo>
                  <a:pt x="33610" y="0"/>
                </a:moveTo>
                <a:lnTo>
                  <a:pt x="3713897" y="0"/>
                </a:lnTo>
                <a:cubicBezTo>
                  <a:pt x="3732459" y="0"/>
                  <a:pt x="3747507" y="15048"/>
                  <a:pt x="3747507" y="33610"/>
                </a:cubicBezTo>
                <a:lnTo>
                  <a:pt x="3747507" y="2865259"/>
                </a:lnTo>
                <a:cubicBezTo>
                  <a:pt x="3747507" y="2920939"/>
                  <a:pt x="3702369" y="2966076"/>
                  <a:pt x="3646690" y="2966076"/>
                </a:cubicBezTo>
                <a:lnTo>
                  <a:pt x="100817" y="2966076"/>
                </a:lnTo>
                <a:cubicBezTo>
                  <a:pt x="45137" y="2966076"/>
                  <a:pt x="0" y="2920939"/>
                  <a:pt x="0" y="2865259"/>
                </a:cubicBezTo>
                <a:lnTo>
                  <a:pt x="0" y="33610"/>
                </a:lnTo>
                <a:cubicBezTo>
                  <a:pt x="0" y="15048"/>
                  <a:pt x="15048" y="0"/>
                  <a:pt x="33610" y="0"/>
                </a:cubicBezTo>
                <a:close/>
              </a:path>
            </a:pathLst>
          </a:custGeom>
          <a:solidFill>
            <a:srgbClr val="FFFFFF"/>
          </a:solidFill>
          <a:ln/>
          <a:effectLst>
            <a:outerShdw sx="100000" sy="100000" kx="0" ky="0" algn="bl" rotWithShape="0" blurRad="25207" dist="8402" dir="5400000">
              <a:srgbClr val="000000">
                <a:alpha val="10196"/>
              </a:srgbClr>
            </a:outerShdw>
          </a:effectLst>
        </p:spPr>
      </p:sp>
      <p:sp>
        <p:nvSpPr>
          <p:cNvPr id="21" name="Shape 19"/>
          <p:cNvSpPr/>
          <p:nvPr/>
        </p:nvSpPr>
        <p:spPr>
          <a:xfrm>
            <a:off x="4214304" y="3692890"/>
            <a:ext cx="3747507" cy="33610"/>
          </a:xfrm>
          <a:custGeom>
            <a:avLst/>
            <a:gdLst/>
            <a:ahLst/>
            <a:cxnLst/>
            <a:rect l="l" t="t" r="r" b="b"/>
            <a:pathLst>
              <a:path w="3747507" h="33610">
                <a:moveTo>
                  <a:pt x="33610" y="0"/>
                </a:moveTo>
                <a:lnTo>
                  <a:pt x="3713897" y="0"/>
                </a:lnTo>
                <a:cubicBezTo>
                  <a:pt x="3732459" y="0"/>
                  <a:pt x="3747507" y="15048"/>
                  <a:pt x="3747507" y="33610"/>
                </a:cubicBezTo>
                <a:lnTo>
                  <a:pt x="3747507" y="33610"/>
                </a:lnTo>
                <a:lnTo>
                  <a:pt x="0" y="33610"/>
                </a:lnTo>
                <a:lnTo>
                  <a:pt x="0" y="33610"/>
                </a:lnTo>
                <a:cubicBezTo>
                  <a:pt x="0" y="15048"/>
                  <a:pt x="15048" y="0"/>
                  <a:pt x="33610" y="0"/>
                </a:cubicBezTo>
                <a:close/>
              </a:path>
            </a:pathLst>
          </a:custGeom>
          <a:solidFill>
            <a:srgbClr val="8FB7AC"/>
          </a:solidFill>
          <a:ln/>
        </p:spPr>
      </p:sp>
      <p:sp>
        <p:nvSpPr>
          <p:cNvPr id="22" name="Shape 20"/>
          <p:cNvSpPr/>
          <p:nvPr/>
        </p:nvSpPr>
        <p:spPr>
          <a:xfrm>
            <a:off x="4359247" y="3877745"/>
            <a:ext cx="189056" cy="168050"/>
          </a:xfrm>
          <a:custGeom>
            <a:avLst/>
            <a:gdLst/>
            <a:ahLst/>
            <a:cxnLst/>
            <a:rect l="l" t="t" r="r" b="b"/>
            <a:pathLst>
              <a:path w="189056" h="168050">
                <a:moveTo>
                  <a:pt x="73555" y="31870"/>
                </a:moveTo>
                <a:lnTo>
                  <a:pt x="73555" y="48150"/>
                </a:lnTo>
                <a:lnTo>
                  <a:pt x="73719" y="48314"/>
                </a:lnTo>
                <a:cubicBezTo>
                  <a:pt x="75852" y="21269"/>
                  <a:pt x="98467" y="0"/>
                  <a:pt x="126070" y="0"/>
                </a:cubicBezTo>
                <a:cubicBezTo>
                  <a:pt x="132667" y="0"/>
                  <a:pt x="139002" y="1214"/>
                  <a:pt x="144812" y="3446"/>
                </a:cubicBezTo>
                <a:cubicBezTo>
                  <a:pt x="148094" y="4694"/>
                  <a:pt x="148685" y="8862"/>
                  <a:pt x="146223" y="11356"/>
                </a:cubicBezTo>
                <a:lnTo>
                  <a:pt x="117110" y="40470"/>
                </a:lnTo>
                <a:cubicBezTo>
                  <a:pt x="116125" y="41454"/>
                  <a:pt x="115567" y="42800"/>
                  <a:pt x="115567" y="44179"/>
                </a:cubicBezTo>
                <a:lnTo>
                  <a:pt x="115567" y="57767"/>
                </a:lnTo>
                <a:cubicBezTo>
                  <a:pt x="115567" y="60655"/>
                  <a:pt x="117930" y="63019"/>
                  <a:pt x="120818" y="63019"/>
                </a:cubicBezTo>
                <a:lnTo>
                  <a:pt x="134407" y="63019"/>
                </a:lnTo>
                <a:cubicBezTo>
                  <a:pt x="135785" y="63019"/>
                  <a:pt x="137131" y="62461"/>
                  <a:pt x="138116" y="61476"/>
                </a:cubicBezTo>
                <a:lnTo>
                  <a:pt x="167229" y="32363"/>
                </a:lnTo>
                <a:cubicBezTo>
                  <a:pt x="169724" y="29868"/>
                  <a:pt x="173892" y="30492"/>
                  <a:pt x="175139" y="33774"/>
                </a:cubicBezTo>
                <a:cubicBezTo>
                  <a:pt x="177371" y="39584"/>
                  <a:pt x="178586" y="45918"/>
                  <a:pt x="178586" y="52516"/>
                </a:cubicBezTo>
                <a:cubicBezTo>
                  <a:pt x="178586" y="72406"/>
                  <a:pt x="167524" y="89736"/>
                  <a:pt x="151179" y="98631"/>
                </a:cubicBezTo>
                <a:lnTo>
                  <a:pt x="177929" y="125381"/>
                </a:lnTo>
                <a:cubicBezTo>
                  <a:pt x="184067" y="131519"/>
                  <a:pt x="184067" y="141496"/>
                  <a:pt x="177929" y="147667"/>
                </a:cubicBezTo>
                <a:lnTo>
                  <a:pt x="158203" y="167393"/>
                </a:lnTo>
                <a:cubicBezTo>
                  <a:pt x="152065" y="173531"/>
                  <a:pt x="142087" y="173531"/>
                  <a:pt x="135917" y="167393"/>
                </a:cubicBezTo>
                <a:lnTo>
                  <a:pt x="94561" y="126037"/>
                </a:lnTo>
                <a:cubicBezTo>
                  <a:pt x="85567" y="117044"/>
                  <a:pt x="83532" y="103751"/>
                  <a:pt x="88489" y="92788"/>
                </a:cubicBezTo>
                <a:lnTo>
                  <a:pt x="58719" y="63019"/>
                </a:lnTo>
                <a:lnTo>
                  <a:pt x="42439" y="63019"/>
                </a:lnTo>
                <a:cubicBezTo>
                  <a:pt x="38927" y="63019"/>
                  <a:pt x="35645" y="61279"/>
                  <a:pt x="33708" y="58358"/>
                </a:cubicBezTo>
                <a:lnTo>
                  <a:pt x="7680" y="19332"/>
                </a:lnTo>
                <a:cubicBezTo>
                  <a:pt x="6302" y="17264"/>
                  <a:pt x="6564" y="14475"/>
                  <a:pt x="8337" y="12702"/>
                </a:cubicBezTo>
                <a:lnTo>
                  <a:pt x="23238" y="-2199"/>
                </a:lnTo>
                <a:cubicBezTo>
                  <a:pt x="25011" y="-3971"/>
                  <a:pt x="27768" y="-4234"/>
                  <a:pt x="29868" y="-2856"/>
                </a:cubicBezTo>
                <a:lnTo>
                  <a:pt x="68894" y="23140"/>
                </a:lnTo>
                <a:cubicBezTo>
                  <a:pt x="71815" y="25076"/>
                  <a:pt x="73555" y="28358"/>
                  <a:pt x="73555" y="31870"/>
                </a:cubicBezTo>
                <a:close/>
                <a:moveTo>
                  <a:pt x="70765" y="97351"/>
                </a:moveTo>
                <a:cubicBezTo>
                  <a:pt x="68697" y="109495"/>
                  <a:pt x="71552" y="122328"/>
                  <a:pt x="79430" y="132602"/>
                </a:cubicBezTo>
                <a:lnTo>
                  <a:pt x="48249" y="163750"/>
                </a:lnTo>
                <a:cubicBezTo>
                  <a:pt x="39026" y="172973"/>
                  <a:pt x="24059" y="172973"/>
                  <a:pt x="14836" y="163750"/>
                </a:cubicBezTo>
                <a:cubicBezTo>
                  <a:pt x="5613" y="154527"/>
                  <a:pt x="5613" y="139560"/>
                  <a:pt x="14836" y="130337"/>
                </a:cubicBezTo>
                <a:lnTo>
                  <a:pt x="59277" y="85896"/>
                </a:lnTo>
                <a:lnTo>
                  <a:pt x="70765" y="97383"/>
                </a:lnTo>
                <a:close/>
              </a:path>
            </a:pathLst>
          </a:custGeom>
          <a:solidFill>
            <a:srgbClr val="8FB7AC"/>
          </a:solidFill>
          <a:ln/>
        </p:spPr>
      </p:sp>
      <p:sp>
        <p:nvSpPr>
          <p:cNvPr id="23" name="Text 21"/>
          <p:cNvSpPr/>
          <p:nvPr/>
        </p:nvSpPr>
        <p:spPr>
          <a:xfrm>
            <a:off x="4659635" y="3844135"/>
            <a:ext cx="983090" cy="235269"/>
          </a:xfrm>
          <a:prstGeom prst="rect">
            <a:avLst/>
          </a:prstGeom>
          <a:noFill/>
          <a:ln/>
        </p:spPr>
        <p:txBody>
          <a:bodyPr wrap="square" lIns="0" tIns="0" rIns="0" bIns="0" rtlCol="0" anchor="ctr"/>
          <a:lstStyle/>
          <a:p>
            <a:pPr>
              <a:lnSpc>
                <a:spcPct val="130000"/>
              </a:lnSpc>
            </a:pPr>
            <a:r>
              <a:rPr lang="en-US" sz="1191" b="1" dirty="0">
                <a:solidFill>
                  <a:srgbClr val="2F3E3B"/>
                </a:solidFill>
                <a:latin typeface="Sorts Mill Goudy" pitchFamily="34" charset="0"/>
                <a:ea typeface="Sorts Mill Goudy" pitchFamily="34" charset="-122"/>
                <a:cs typeface="Sorts Mill Goudy" pitchFamily="34" charset="-120"/>
              </a:rPr>
              <a:t>Woodpeckers</a:t>
            </a:r>
            <a:endParaRPr lang="en-US" sz="1600" dirty="0"/>
          </a:p>
        </p:txBody>
      </p:sp>
      <p:sp>
        <p:nvSpPr>
          <p:cNvPr id="24" name="Text 22"/>
          <p:cNvSpPr/>
          <p:nvPr/>
        </p:nvSpPr>
        <p:spPr>
          <a:xfrm>
            <a:off x="4348743" y="4180234"/>
            <a:ext cx="3545847" cy="436929"/>
          </a:xfrm>
          <a:prstGeom prst="rect">
            <a:avLst/>
          </a:prstGeom>
          <a:noFill/>
          <a:ln/>
        </p:spPr>
        <p:txBody>
          <a:bodyPr wrap="square" lIns="0" tIns="0" rIns="0" bIns="0" rtlCol="0" anchor="ctr"/>
          <a:lstStyle/>
          <a:p>
            <a:pPr>
              <a:lnSpc>
                <a:spcPct val="140000"/>
              </a:lnSpc>
            </a:pPr>
            <a:r>
              <a:rPr lang="en-US" sz="1059" dirty="0">
                <a:solidFill>
                  <a:srgbClr val="1F2A28"/>
                </a:solidFill>
                <a:latin typeface="Quattrocento Sans" pitchFamily="34" charset="0"/>
                <a:ea typeface="Quattrocento Sans" pitchFamily="34" charset="-122"/>
                <a:cs typeface="Quattrocento Sans" pitchFamily="34" charset="-120"/>
              </a:rPr>
              <a:t>Ecosystem engineers creating cavities used by birds, mammals, insects, and amphibians.</a:t>
            </a:r>
            <a:endParaRPr lang="en-US" sz="1600" dirty="0"/>
          </a:p>
        </p:txBody>
      </p:sp>
      <p:sp>
        <p:nvSpPr>
          <p:cNvPr id="25" name="Text 23"/>
          <p:cNvSpPr/>
          <p:nvPr/>
        </p:nvSpPr>
        <p:spPr>
          <a:xfrm>
            <a:off x="4348743" y="4684383"/>
            <a:ext cx="3537445" cy="168050"/>
          </a:xfrm>
          <a:prstGeom prst="rect">
            <a:avLst/>
          </a:prstGeom>
          <a:noFill/>
          <a:ln/>
        </p:spPr>
        <p:txBody>
          <a:bodyPr wrap="square" lIns="0" tIns="0" rIns="0" bIns="0" rtlCol="0" anchor="ctr"/>
          <a:lstStyle/>
          <a:p>
            <a:pPr>
              <a:lnSpc>
                <a:spcPct val="120000"/>
              </a:lnSpc>
            </a:pPr>
            <a:r>
              <a:rPr lang="en-US" sz="926" b="1" dirty="0">
                <a:solidFill>
                  <a:srgbClr val="5F6F6B"/>
                </a:solidFill>
                <a:latin typeface="Quattrocento Sans" pitchFamily="34" charset="0"/>
                <a:ea typeface="Quattrocento Sans" pitchFamily="34" charset="-122"/>
                <a:cs typeface="Quattrocento Sans" pitchFamily="34" charset="-120"/>
              </a:rPr>
              <a:t>Cavity users:</a:t>
            </a:r>
            <a:pPr>
              <a:lnSpc>
                <a:spcPct val="120000"/>
              </a:lnSpc>
            </a:pPr>
            <a:r>
              <a:rPr lang="en-US" sz="926" dirty="0">
                <a:solidFill>
                  <a:srgbClr val="5F6F6B"/>
                </a:solidFill>
                <a:latin typeface="Quattrocento Sans" pitchFamily="34" charset="0"/>
                <a:ea typeface="Quattrocento Sans" pitchFamily="34" charset="-122"/>
                <a:cs typeface="Quattrocento Sans" pitchFamily="34" charset="-120"/>
              </a:rPr>
              <a:t> Owls, squirrels, bats, bees</a:t>
            </a:r>
            <a:endParaRPr lang="en-US" sz="1600" dirty="0"/>
          </a:p>
        </p:txBody>
      </p:sp>
      <p:sp>
        <p:nvSpPr>
          <p:cNvPr id="26" name="Shape 24"/>
          <p:cNvSpPr/>
          <p:nvPr/>
        </p:nvSpPr>
        <p:spPr>
          <a:xfrm>
            <a:off x="8126118" y="1378007"/>
            <a:ext cx="3730702" cy="1613276"/>
          </a:xfrm>
          <a:custGeom>
            <a:avLst/>
            <a:gdLst/>
            <a:ahLst/>
            <a:cxnLst/>
            <a:rect l="l" t="t" r="r" b="b"/>
            <a:pathLst>
              <a:path w="3730702" h="1613276">
                <a:moveTo>
                  <a:pt x="100830" y="0"/>
                </a:moveTo>
                <a:lnTo>
                  <a:pt x="3629872" y="0"/>
                </a:lnTo>
                <a:cubicBezTo>
                  <a:pt x="3685559" y="0"/>
                  <a:pt x="3730702" y="45143"/>
                  <a:pt x="3730702" y="100830"/>
                </a:cubicBezTo>
                <a:lnTo>
                  <a:pt x="3730702" y="1512447"/>
                </a:lnTo>
                <a:cubicBezTo>
                  <a:pt x="3730702" y="1568133"/>
                  <a:pt x="3685559" y="1613276"/>
                  <a:pt x="3629872" y="1613276"/>
                </a:cubicBezTo>
                <a:lnTo>
                  <a:pt x="100830" y="1613276"/>
                </a:lnTo>
                <a:cubicBezTo>
                  <a:pt x="45143" y="1613276"/>
                  <a:pt x="0" y="1568133"/>
                  <a:pt x="0" y="1512447"/>
                </a:cubicBezTo>
                <a:lnTo>
                  <a:pt x="0" y="100830"/>
                </a:lnTo>
                <a:cubicBezTo>
                  <a:pt x="0" y="45180"/>
                  <a:pt x="45180" y="0"/>
                  <a:pt x="100830" y="0"/>
                </a:cubicBezTo>
                <a:close/>
              </a:path>
            </a:pathLst>
          </a:custGeom>
          <a:solidFill>
            <a:srgbClr val="FFFFFF"/>
          </a:solidFill>
          <a:ln/>
          <a:effectLst>
            <a:outerShdw sx="100000" sy="100000" kx="0" ky="0" algn="bl" rotWithShape="0" blurRad="25207" dist="8402" dir="5400000">
              <a:srgbClr val="000000">
                <a:alpha val="10196"/>
              </a:srgbClr>
            </a:outerShdw>
          </a:effectLst>
        </p:spPr>
      </p:sp>
      <p:pic>
        <p:nvPicPr>
          <p:cNvPr id="27" name="Image 0" descr="https://kimi-web-img.moonshot.cn/img/naturecanada.ca/e8eb031472a46e77b6cd0a185c6d4d3816ca3c46.png">    </p:cNvPr>
          <p:cNvPicPr>
            <a:picLocks noChangeAspect="1"/>
          </p:cNvPicPr>
          <p:nvPr/>
        </p:nvPicPr>
        <p:blipFill>
          <a:blip r:embed="rId1"/>
          <a:srcRect l="0" r="0" t="6757" b="6757"/>
          <a:stretch/>
        </p:blipFill>
        <p:spPr>
          <a:xfrm>
            <a:off x="8126118" y="1378007"/>
            <a:ext cx="3730702" cy="1613276"/>
          </a:xfrm>
          <a:prstGeom prst="roundRect">
            <a:avLst>
              <a:gd name="adj" fmla="val 6250"/>
            </a:avLst>
          </a:prstGeom>
        </p:spPr>
      </p:pic>
      <p:sp>
        <p:nvSpPr>
          <p:cNvPr id="28" name="Shape 25"/>
          <p:cNvSpPr/>
          <p:nvPr/>
        </p:nvSpPr>
        <p:spPr>
          <a:xfrm>
            <a:off x="8126118" y="3125723"/>
            <a:ext cx="3730702" cy="2587964"/>
          </a:xfrm>
          <a:custGeom>
            <a:avLst/>
            <a:gdLst/>
            <a:ahLst/>
            <a:cxnLst/>
            <a:rect l="l" t="t" r="r" b="b"/>
            <a:pathLst>
              <a:path w="3730702" h="2587964">
                <a:moveTo>
                  <a:pt x="100827" y="0"/>
                </a:moveTo>
                <a:lnTo>
                  <a:pt x="3629875" y="0"/>
                </a:lnTo>
                <a:cubicBezTo>
                  <a:pt x="3685560" y="0"/>
                  <a:pt x="3730702" y="45142"/>
                  <a:pt x="3730702" y="100827"/>
                </a:cubicBezTo>
                <a:lnTo>
                  <a:pt x="3730702" y="2487137"/>
                </a:lnTo>
                <a:cubicBezTo>
                  <a:pt x="3730702" y="2542822"/>
                  <a:pt x="3685560" y="2587964"/>
                  <a:pt x="3629875" y="2587964"/>
                </a:cubicBezTo>
                <a:lnTo>
                  <a:pt x="100827" y="2587964"/>
                </a:lnTo>
                <a:cubicBezTo>
                  <a:pt x="45142" y="2587964"/>
                  <a:pt x="0" y="2542822"/>
                  <a:pt x="0" y="2487137"/>
                </a:cubicBezTo>
                <a:lnTo>
                  <a:pt x="0" y="100827"/>
                </a:lnTo>
                <a:cubicBezTo>
                  <a:pt x="0" y="45142"/>
                  <a:pt x="45142" y="0"/>
                  <a:pt x="100827" y="0"/>
                </a:cubicBezTo>
                <a:close/>
              </a:path>
            </a:pathLst>
          </a:custGeom>
          <a:solidFill>
            <a:srgbClr val="2F3E3B"/>
          </a:solidFill>
          <a:ln/>
        </p:spPr>
      </p:sp>
      <p:sp>
        <p:nvSpPr>
          <p:cNvPr id="29" name="Text 26"/>
          <p:cNvSpPr/>
          <p:nvPr/>
        </p:nvSpPr>
        <p:spPr>
          <a:xfrm>
            <a:off x="8294168" y="3293773"/>
            <a:ext cx="3470225" cy="235269"/>
          </a:xfrm>
          <a:prstGeom prst="rect">
            <a:avLst/>
          </a:prstGeom>
          <a:noFill/>
          <a:ln/>
        </p:spPr>
        <p:txBody>
          <a:bodyPr wrap="square" lIns="0" tIns="0" rIns="0" bIns="0" rtlCol="0" anchor="ctr"/>
          <a:lstStyle/>
          <a:p>
            <a:pPr>
              <a:lnSpc>
                <a:spcPct val="130000"/>
              </a:lnSpc>
            </a:pPr>
            <a:r>
              <a:rPr lang="en-US" sz="1191" b="1" dirty="0">
                <a:solidFill>
                  <a:srgbClr val="FFFFFF"/>
                </a:solidFill>
                <a:latin typeface="Sorts Mill Goudy" pitchFamily="34" charset="0"/>
                <a:ea typeface="Sorts Mill Goudy" pitchFamily="34" charset="-122"/>
                <a:cs typeface="Sorts Mill Goudy" pitchFamily="34" charset="-120"/>
              </a:rPr>
              <a:t>Additional Examples</a:t>
            </a:r>
            <a:endParaRPr lang="en-US" sz="1600" dirty="0"/>
          </a:p>
        </p:txBody>
      </p:sp>
      <p:sp>
        <p:nvSpPr>
          <p:cNvPr id="30" name="Shape 27"/>
          <p:cNvSpPr/>
          <p:nvPr/>
        </p:nvSpPr>
        <p:spPr>
          <a:xfrm>
            <a:off x="8285765" y="3663482"/>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1" name="Text 28"/>
          <p:cNvSpPr/>
          <p:nvPr/>
        </p:nvSpPr>
        <p:spPr>
          <a:xfrm>
            <a:off x="8528846" y="3629872"/>
            <a:ext cx="3226553"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Old-Growth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Support epiphytes, lichens, saproxylic organisms</a:t>
            </a:r>
            <a:endParaRPr lang="en-US" sz="1600" dirty="0"/>
          </a:p>
        </p:txBody>
      </p:sp>
      <p:sp>
        <p:nvSpPr>
          <p:cNvPr id="32" name="Shape 29"/>
          <p:cNvSpPr/>
          <p:nvPr/>
        </p:nvSpPr>
        <p:spPr>
          <a:xfrm>
            <a:off x="8289967" y="4167631"/>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3" name="Text 30"/>
          <p:cNvSpPr/>
          <p:nvPr/>
        </p:nvSpPr>
        <p:spPr>
          <a:xfrm>
            <a:off x="8541056" y="4134021"/>
            <a:ext cx="3209748"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Large Mammals: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Dispersers of large-seeded trees, create trails</a:t>
            </a:r>
            <a:endParaRPr lang="en-US" sz="1600" dirty="0"/>
          </a:p>
        </p:txBody>
      </p:sp>
      <p:sp>
        <p:nvSpPr>
          <p:cNvPr id="34" name="Shape 31"/>
          <p:cNvSpPr/>
          <p:nvPr/>
        </p:nvSpPr>
        <p:spPr>
          <a:xfrm>
            <a:off x="8285765" y="4671779"/>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5" name="Text 32"/>
          <p:cNvSpPr/>
          <p:nvPr/>
        </p:nvSpPr>
        <p:spPr>
          <a:xfrm>
            <a:off x="8529962" y="4638170"/>
            <a:ext cx="3218150"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Beavers: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Create wetlands, alter hydrology, increase habitat diversity</a:t>
            </a:r>
            <a:endParaRPr lang="en-US" sz="1600" dirty="0"/>
          </a:p>
        </p:txBody>
      </p:sp>
      <p:sp>
        <p:nvSpPr>
          <p:cNvPr id="36" name="Shape 33"/>
          <p:cNvSpPr/>
          <p:nvPr/>
        </p:nvSpPr>
        <p:spPr>
          <a:xfrm>
            <a:off x="8298369" y="5175928"/>
            <a:ext cx="151245" cy="134440"/>
          </a:xfrm>
          <a:custGeom>
            <a:avLst/>
            <a:gdLst/>
            <a:ahLst/>
            <a:cxnLst/>
            <a:rect l="l" t="t" r="r" b="b"/>
            <a:pathLst>
              <a:path w="151245" h="134440">
                <a:moveTo>
                  <a:pt x="81268" y="-4963"/>
                </a:moveTo>
                <a:cubicBezTo>
                  <a:pt x="80191" y="-7063"/>
                  <a:pt x="78012" y="-8402"/>
                  <a:pt x="75649" y="-8402"/>
                </a:cubicBezTo>
                <a:cubicBezTo>
                  <a:pt x="73285" y="-8402"/>
                  <a:pt x="71106" y="-7063"/>
                  <a:pt x="70029" y="-4963"/>
                </a:cubicBezTo>
                <a:lnTo>
                  <a:pt x="50704" y="32901"/>
                </a:lnTo>
                <a:lnTo>
                  <a:pt x="8718" y="39570"/>
                </a:lnTo>
                <a:cubicBezTo>
                  <a:pt x="6381" y="39938"/>
                  <a:pt x="4438" y="41592"/>
                  <a:pt x="3702" y="43850"/>
                </a:cubicBezTo>
                <a:cubicBezTo>
                  <a:pt x="2967" y="46109"/>
                  <a:pt x="3571" y="48577"/>
                  <a:pt x="5225" y="50257"/>
                </a:cubicBezTo>
                <a:lnTo>
                  <a:pt x="35264" y="80322"/>
                </a:lnTo>
                <a:lnTo>
                  <a:pt x="28647" y="122309"/>
                </a:lnTo>
                <a:cubicBezTo>
                  <a:pt x="28280" y="124646"/>
                  <a:pt x="29251" y="127009"/>
                  <a:pt x="31168" y="128400"/>
                </a:cubicBezTo>
                <a:cubicBezTo>
                  <a:pt x="33085" y="129792"/>
                  <a:pt x="35606" y="130002"/>
                  <a:pt x="37732" y="128926"/>
                </a:cubicBezTo>
                <a:lnTo>
                  <a:pt x="75649" y="109652"/>
                </a:lnTo>
                <a:lnTo>
                  <a:pt x="113539" y="128926"/>
                </a:lnTo>
                <a:cubicBezTo>
                  <a:pt x="115639" y="130002"/>
                  <a:pt x="118186" y="129792"/>
                  <a:pt x="120103" y="128400"/>
                </a:cubicBezTo>
                <a:cubicBezTo>
                  <a:pt x="122020" y="127009"/>
                  <a:pt x="122991" y="124672"/>
                  <a:pt x="122624" y="122309"/>
                </a:cubicBezTo>
                <a:lnTo>
                  <a:pt x="115980" y="80322"/>
                </a:lnTo>
                <a:lnTo>
                  <a:pt x="146019" y="50257"/>
                </a:lnTo>
                <a:cubicBezTo>
                  <a:pt x="147700" y="48577"/>
                  <a:pt x="148278" y="46109"/>
                  <a:pt x="147542" y="43850"/>
                </a:cubicBezTo>
                <a:cubicBezTo>
                  <a:pt x="146807" y="41592"/>
                  <a:pt x="144890" y="39938"/>
                  <a:pt x="142527" y="39570"/>
                </a:cubicBezTo>
                <a:lnTo>
                  <a:pt x="100567" y="32901"/>
                </a:lnTo>
                <a:lnTo>
                  <a:pt x="81268" y="-4963"/>
                </a:lnTo>
                <a:close/>
              </a:path>
            </a:pathLst>
          </a:custGeom>
          <a:solidFill>
            <a:srgbClr val="8FB7AC"/>
          </a:solidFill>
          <a:ln/>
        </p:spPr>
      </p:sp>
      <p:sp>
        <p:nvSpPr>
          <p:cNvPr id="37" name="Text 34"/>
          <p:cNvSpPr/>
          <p:nvPr/>
        </p:nvSpPr>
        <p:spPr>
          <a:xfrm>
            <a:off x="8551888" y="5142318"/>
            <a:ext cx="3201345" cy="403319"/>
          </a:xfrm>
          <a:prstGeom prst="rect">
            <a:avLst/>
          </a:prstGeom>
          <a:noFill/>
          <a:ln/>
        </p:spPr>
        <p:txBody>
          <a:bodyPr wrap="square" lIns="0" tIns="0" rIns="0" bIns="0" rtlCol="0" anchor="ctr"/>
          <a:lstStyle/>
          <a:p>
            <a:pPr>
              <a:lnSpc>
                <a:spcPct val="130000"/>
              </a:lnSpc>
            </a:pPr>
            <a:r>
              <a:rPr lang="en-US" sz="1059" b="1" dirty="0">
                <a:solidFill>
                  <a:srgbClr val="FFFFFF"/>
                </a:solidFill>
                <a:latin typeface="Quattrocento Sans" pitchFamily="34" charset="0"/>
                <a:ea typeface="Quattrocento Sans" pitchFamily="34" charset="-122"/>
                <a:cs typeface="Quattrocento Sans" pitchFamily="34" charset="-120"/>
              </a:rPr>
              <a:t>Acacia Trees:</a:t>
            </a:r>
            <a:pP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 Provide specialized niches for ant mutualists</a:t>
            </a:r>
            <a:endParaRPr lang="en-US" sz="1600" dirty="0"/>
          </a:p>
        </p:txBody>
      </p:sp>
      <p:sp>
        <p:nvSpPr>
          <p:cNvPr id="38" name="Shape 35"/>
          <p:cNvSpPr/>
          <p:nvPr/>
        </p:nvSpPr>
        <p:spPr>
          <a:xfrm>
            <a:off x="8126118" y="5848127"/>
            <a:ext cx="3730702" cy="806638"/>
          </a:xfrm>
          <a:custGeom>
            <a:avLst/>
            <a:gdLst/>
            <a:ahLst/>
            <a:cxnLst/>
            <a:rect l="l" t="t" r="r" b="b"/>
            <a:pathLst>
              <a:path w="3730702" h="806638">
                <a:moveTo>
                  <a:pt x="100830" y="0"/>
                </a:moveTo>
                <a:lnTo>
                  <a:pt x="3629872" y="0"/>
                </a:lnTo>
                <a:cubicBezTo>
                  <a:pt x="3685559" y="0"/>
                  <a:pt x="3730702" y="45143"/>
                  <a:pt x="3730702" y="100830"/>
                </a:cubicBezTo>
                <a:lnTo>
                  <a:pt x="3730702" y="705808"/>
                </a:lnTo>
                <a:cubicBezTo>
                  <a:pt x="3730702" y="761495"/>
                  <a:pt x="3685559" y="806638"/>
                  <a:pt x="3629872" y="806638"/>
                </a:cubicBezTo>
                <a:lnTo>
                  <a:pt x="100830" y="806638"/>
                </a:lnTo>
                <a:cubicBezTo>
                  <a:pt x="45143" y="806638"/>
                  <a:pt x="0" y="761495"/>
                  <a:pt x="0" y="705808"/>
                </a:cubicBezTo>
                <a:lnTo>
                  <a:pt x="0" y="100830"/>
                </a:lnTo>
                <a:cubicBezTo>
                  <a:pt x="0" y="45180"/>
                  <a:pt x="45180" y="0"/>
                  <a:pt x="100830" y="0"/>
                </a:cubicBezTo>
                <a:close/>
              </a:path>
            </a:pathLst>
          </a:custGeom>
          <a:solidFill>
            <a:srgbClr val="4C8A7A"/>
          </a:solidFill>
          <a:ln/>
        </p:spPr>
      </p:sp>
      <p:sp>
        <p:nvSpPr>
          <p:cNvPr id="39" name="Text 36"/>
          <p:cNvSpPr/>
          <p:nvPr/>
        </p:nvSpPr>
        <p:spPr>
          <a:xfrm>
            <a:off x="8197539" y="5982567"/>
            <a:ext cx="3587859" cy="302489"/>
          </a:xfrm>
          <a:prstGeom prst="rect">
            <a:avLst/>
          </a:prstGeom>
          <a:noFill/>
          <a:ln/>
        </p:spPr>
        <p:txBody>
          <a:bodyPr wrap="square" lIns="0" tIns="0" rIns="0" bIns="0" rtlCol="0" anchor="ctr"/>
          <a:lstStyle/>
          <a:p>
            <a:pPr algn="ctr">
              <a:lnSpc>
                <a:spcPct val="100000"/>
              </a:lnSpc>
            </a:pPr>
            <a:r>
              <a:rPr lang="en-US" sz="1985" b="1" dirty="0">
                <a:solidFill>
                  <a:srgbClr val="FFFFFF"/>
                </a:solidFill>
                <a:latin typeface="Sorts Mill Goudy" pitchFamily="34" charset="0"/>
                <a:ea typeface="Sorts Mill Goudy" pitchFamily="34" charset="-122"/>
                <a:cs typeface="Sorts Mill Goudy" pitchFamily="34" charset="-120"/>
              </a:rPr>
              <a:t>Cascading Effects</a:t>
            </a:r>
            <a:endParaRPr lang="en-US" sz="1600" dirty="0"/>
          </a:p>
        </p:txBody>
      </p:sp>
      <p:sp>
        <p:nvSpPr>
          <p:cNvPr id="40" name="Text 37"/>
          <p:cNvSpPr/>
          <p:nvPr/>
        </p:nvSpPr>
        <p:spPr>
          <a:xfrm>
            <a:off x="8226948" y="6318666"/>
            <a:ext cx="3529042" cy="201660"/>
          </a:xfrm>
          <a:prstGeom prst="rect">
            <a:avLst/>
          </a:prstGeom>
          <a:noFill/>
          <a:ln/>
        </p:spPr>
        <p:txBody>
          <a:bodyPr wrap="square" lIns="0" tIns="0" rIns="0" bIns="0" rtlCol="0" anchor="ctr"/>
          <a:lstStyle/>
          <a:p>
            <a:pPr algn="ctr">
              <a:lnSpc>
                <a:spcPct val="130000"/>
              </a:lnSpc>
            </a:pPr>
            <a:r>
              <a:rPr lang="en-US" sz="1059" dirty="0">
                <a:solidFill>
                  <a:srgbClr val="FFFFFF"/>
                </a:solidFill>
                <a:latin typeface="Quattrocento Sans" pitchFamily="34" charset="0"/>
                <a:ea typeface="Quattrocento Sans" pitchFamily="34" charset="-122"/>
                <a:cs typeface="Quattrocento Sans" pitchFamily="34" charset="-120"/>
              </a:rPr>
              <a:t>Loss of keystone species triggers community-wide changes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spc="89" kern="0" dirty="0">
                <a:solidFill>
                  <a:srgbClr val="2F3E3B"/>
                </a:solidFill>
                <a:latin typeface="Quattrocento Sans" pitchFamily="34" charset="0"/>
                <a:ea typeface="Quattrocento Sans" pitchFamily="34" charset="-122"/>
                <a:cs typeface="Quattrocento Sans" pitchFamily="34" charset="-120"/>
              </a:rPr>
              <a:t>07 • Latitudinal Gradients</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2F3E3B"/>
                </a:solidFill>
                <a:latin typeface="Sorts Mill Goudy" pitchFamily="34" charset="0"/>
                <a:ea typeface="Sorts Mill Goudy" pitchFamily="34" charset="-122"/>
                <a:cs typeface="Sorts Mill Goudy" pitchFamily="34" charset="-120"/>
              </a:rPr>
              <a:t>Tropical to Boreal: Biome Variation</a:t>
            </a:r>
            <a:endParaRPr lang="en-US" sz="1600" dirty="0"/>
          </a:p>
        </p:txBody>
      </p:sp>
      <p:sp>
        <p:nvSpPr>
          <p:cNvPr id="4" name="Text 2"/>
          <p:cNvSpPr/>
          <p:nvPr/>
        </p:nvSpPr>
        <p:spPr>
          <a:xfrm>
            <a:off x="323395" y="937846"/>
            <a:ext cx="11617973" cy="226377"/>
          </a:xfrm>
          <a:prstGeom prst="rect">
            <a:avLst/>
          </a:prstGeom>
          <a:noFill/>
          <a:ln/>
        </p:spPr>
        <p:txBody>
          <a:bodyPr wrap="square" lIns="0" tIns="0" rIns="0" bIns="0" rtlCol="0" anchor="ctr"/>
          <a:lstStyle/>
          <a:p>
            <a:pPr>
              <a:lnSpc>
                <a:spcPct val="130000"/>
              </a:lnSpc>
            </a:pPr>
            <a:r>
              <a:rPr lang="en-US" sz="1146" dirty="0">
                <a:solidFill>
                  <a:srgbClr val="5F6F6B"/>
                </a:solidFill>
                <a:latin typeface="Quattrocento Sans" pitchFamily="34" charset="0"/>
                <a:ea typeface="Quattrocento Sans" pitchFamily="34" charset="-122"/>
                <a:cs typeface="Quattrocento Sans" pitchFamily="34" charset="-120"/>
              </a:rPr>
              <a:t>Different mechanisms dominate across forest biomes</a:t>
            </a:r>
            <a:endParaRPr lang="en-US" sz="1600" dirty="0"/>
          </a:p>
        </p:txBody>
      </p:sp>
      <p:sp>
        <p:nvSpPr>
          <p:cNvPr id="5" name="Shape 3"/>
          <p:cNvSpPr/>
          <p:nvPr/>
        </p:nvSpPr>
        <p:spPr>
          <a:xfrm>
            <a:off x="323395" y="1325920"/>
            <a:ext cx="5675586" cy="2522483"/>
          </a:xfrm>
          <a:custGeom>
            <a:avLst/>
            <a:gdLst/>
            <a:ahLst/>
            <a:cxnLst/>
            <a:rect l="l" t="t" r="r" b="b"/>
            <a:pathLst>
              <a:path w="5675586" h="2522483">
                <a:moveTo>
                  <a:pt x="97015" y="0"/>
                </a:moveTo>
                <a:lnTo>
                  <a:pt x="5578572" y="0"/>
                </a:lnTo>
                <a:cubicBezTo>
                  <a:pt x="5632151" y="0"/>
                  <a:pt x="5675586" y="43435"/>
                  <a:pt x="5675586" y="97015"/>
                </a:cubicBezTo>
                <a:lnTo>
                  <a:pt x="5675586" y="2425468"/>
                </a:lnTo>
                <a:cubicBezTo>
                  <a:pt x="5675586" y="2479048"/>
                  <a:pt x="5632151" y="2522483"/>
                  <a:pt x="5578572" y="2522483"/>
                </a:cubicBezTo>
                <a:lnTo>
                  <a:pt x="97015" y="2522483"/>
                </a:lnTo>
                <a:cubicBezTo>
                  <a:pt x="43435" y="2522483"/>
                  <a:pt x="0" y="2479048"/>
                  <a:pt x="0" y="2425468"/>
                </a:cubicBezTo>
                <a:lnTo>
                  <a:pt x="0" y="97015"/>
                </a:lnTo>
                <a:cubicBezTo>
                  <a:pt x="0" y="43435"/>
                  <a:pt x="43435" y="0"/>
                  <a:pt x="97015" y="0"/>
                </a:cubicBezTo>
                <a:close/>
              </a:path>
            </a:pathLst>
          </a:custGeom>
          <a:solidFill>
            <a:srgbClr val="FFFFFF"/>
          </a:solidFill>
          <a:ln/>
          <a:effectLst>
            <a:outerShdw sx="100000" sy="100000" kx="0" ky="0" algn="bl" rotWithShape="0" blurRad="24255" dist="8085" dir="5400000">
              <a:srgbClr val="000000">
                <a:alpha val="10196"/>
              </a:srgbClr>
            </a:outerShdw>
          </a:effectLst>
        </p:spPr>
      </p:sp>
      <p:sp>
        <p:nvSpPr>
          <p:cNvPr id="6" name="Text 4"/>
          <p:cNvSpPr/>
          <p:nvPr/>
        </p:nvSpPr>
        <p:spPr>
          <a:xfrm>
            <a:off x="485093" y="1487618"/>
            <a:ext cx="5433040" cy="226377"/>
          </a:xfrm>
          <a:prstGeom prst="rect">
            <a:avLst/>
          </a:prstGeom>
          <a:noFill/>
          <a:ln/>
        </p:spPr>
        <p:txBody>
          <a:bodyPr wrap="square" lIns="0" tIns="0" rIns="0" bIns="0" rtlCol="0" anchor="ctr"/>
          <a:lstStyle/>
          <a:p>
            <a:pPr>
              <a:lnSpc>
                <a:spcPct val="120000"/>
              </a:lnSpc>
            </a:pPr>
            <a:r>
              <a:rPr lang="en-US" sz="1273" b="1" dirty="0">
                <a:solidFill>
                  <a:srgbClr val="2F3E3B"/>
                </a:solidFill>
                <a:latin typeface="Sorts Mill Goudy" pitchFamily="34" charset="0"/>
                <a:ea typeface="Sorts Mill Goudy" pitchFamily="34" charset="-122"/>
                <a:cs typeface="Sorts Mill Goudy" pitchFamily="34" charset="-120"/>
              </a:rPr>
              <a:t>The Latitudinal Diversity Gradient</a:t>
            </a:r>
            <a:endParaRPr lang="en-US" sz="1600" dirty="0"/>
          </a:p>
        </p:txBody>
      </p:sp>
      <p:sp>
        <p:nvSpPr>
          <p:cNvPr id="7" name="Text 5"/>
          <p:cNvSpPr/>
          <p:nvPr/>
        </p:nvSpPr>
        <p:spPr>
          <a:xfrm>
            <a:off x="485093" y="1811013"/>
            <a:ext cx="5416870" cy="630621"/>
          </a:xfrm>
          <a:prstGeom prst="rect">
            <a:avLst/>
          </a:prstGeom>
          <a:noFill/>
          <a:ln/>
        </p:spPr>
        <p:txBody>
          <a:bodyPr wrap="square" lIns="0" tIns="0" rIns="0" bIns="0" rtlCol="0" anchor="ctr"/>
          <a:lstStyle/>
          <a:p>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One of ecology's most consistent patterns: </a:t>
            </a:r>
            <a:pPr>
              <a:lnSpc>
                <a:spcPct val="140000"/>
              </a:lnSpc>
            </a:pPr>
            <a:r>
              <a:rPr lang="en-US" sz="101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species diversity declines from tropics to poles </a:t>
            </a:r>
            <a:pPr>
              <a:lnSpc>
                <a:spcPct val="140000"/>
              </a:lnSpc>
            </a:pPr>
            <a:r>
              <a:rPr lang="en-US" sz="1019" dirty="0">
                <a:solidFill>
                  <a:srgbClr val="1F2A28"/>
                </a:solidFill>
                <a:latin typeface="Quattrocento Sans" pitchFamily="34" charset="0"/>
                <a:ea typeface="Quattrocento Sans" pitchFamily="34" charset="-122"/>
                <a:cs typeface="Quattrocento Sans" pitchFamily="34" charset="-120"/>
              </a:rPr>
              <a:t>. Recent research reveals that different mechanisms maintain biodiversity in tropical vs. temperate forests.</a:t>
            </a:r>
            <a:endParaRPr lang="en-US" sz="1600" dirty="0"/>
          </a:p>
        </p:txBody>
      </p:sp>
      <p:sp>
        <p:nvSpPr>
          <p:cNvPr id="8" name="Shape 6"/>
          <p:cNvSpPr/>
          <p:nvPr/>
        </p:nvSpPr>
        <p:spPr>
          <a:xfrm>
            <a:off x="485093" y="2570992"/>
            <a:ext cx="5352191" cy="1115714"/>
          </a:xfrm>
          <a:custGeom>
            <a:avLst/>
            <a:gdLst/>
            <a:ahLst/>
            <a:cxnLst/>
            <a:rect l="l" t="t" r="r" b="b"/>
            <a:pathLst>
              <a:path w="5352191" h="1115714">
                <a:moveTo>
                  <a:pt x="64678" y="0"/>
                </a:moveTo>
                <a:lnTo>
                  <a:pt x="5287513" y="0"/>
                </a:lnTo>
                <a:cubicBezTo>
                  <a:pt x="5323234" y="0"/>
                  <a:pt x="5352191" y="28957"/>
                  <a:pt x="5352191" y="64678"/>
                </a:cubicBezTo>
                <a:lnTo>
                  <a:pt x="5352191" y="1051036"/>
                </a:lnTo>
                <a:cubicBezTo>
                  <a:pt x="5352191" y="1086756"/>
                  <a:pt x="5323234" y="1115714"/>
                  <a:pt x="5287513" y="1115714"/>
                </a:cubicBezTo>
                <a:lnTo>
                  <a:pt x="64678" y="1115714"/>
                </a:lnTo>
                <a:cubicBezTo>
                  <a:pt x="28957" y="1115714"/>
                  <a:pt x="0" y="1086756"/>
                  <a:pt x="0" y="1051036"/>
                </a:cubicBezTo>
                <a:lnTo>
                  <a:pt x="0" y="64678"/>
                </a:lnTo>
                <a:cubicBezTo>
                  <a:pt x="0" y="28981"/>
                  <a:pt x="28981" y="0"/>
                  <a:pt x="64678" y="0"/>
                </a:cubicBezTo>
                <a:close/>
              </a:path>
            </a:pathLst>
          </a:custGeom>
          <a:solidFill>
            <a:srgbClr val="F5F7F6"/>
          </a:solidFill>
          <a:ln/>
        </p:spPr>
      </p:sp>
      <p:sp>
        <p:nvSpPr>
          <p:cNvPr id="9" name="Text 7"/>
          <p:cNvSpPr/>
          <p:nvPr/>
        </p:nvSpPr>
        <p:spPr>
          <a:xfrm>
            <a:off x="614451" y="2700350"/>
            <a:ext cx="5158154" cy="630621"/>
          </a:xfrm>
          <a:prstGeom prst="rect">
            <a:avLst/>
          </a:prstGeom>
          <a:noFill/>
          <a:ln/>
        </p:spPr>
        <p:txBody>
          <a:bodyPr wrap="square" lIns="0" tIns="0" rIns="0" bIns="0" rtlCol="0" anchor="ctr"/>
          <a:lstStyle/>
          <a:p>
            <a:pPr>
              <a:lnSpc>
                <a:spcPct val="140000"/>
              </a:lnSpc>
            </a:pPr>
            <a:r>
              <a:rPr lang="en-US" sz="1019" dirty="0">
                <a:solidFill>
                  <a:srgbClr val="5F6F6B"/>
                </a:solidFill>
                <a:latin typeface="Quattrocento Sans" pitchFamily="34" charset="0"/>
                <a:ea typeface="Quattrocento Sans" pitchFamily="34" charset="-122"/>
                <a:cs typeface="Quattrocento Sans" pitchFamily="34" charset="-120"/>
              </a:rPr>
              <a:t>"The combination of animal seed dispersal and mycorrhizal associations underpins the negative aggregation–abundance relationship and supports biodiversity maintenance across forest biomes."</a:t>
            </a:r>
            <a:endParaRPr lang="en-US" sz="1600" dirty="0"/>
          </a:p>
        </p:txBody>
      </p:sp>
      <p:sp>
        <p:nvSpPr>
          <p:cNvPr id="10" name="Text 8"/>
          <p:cNvSpPr/>
          <p:nvPr/>
        </p:nvSpPr>
        <p:spPr>
          <a:xfrm>
            <a:off x="614451" y="3395650"/>
            <a:ext cx="5150069"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 Wang et al. (2025), Nature</a:t>
            </a:r>
            <a:endParaRPr lang="en-US" sz="1600" dirty="0"/>
          </a:p>
        </p:txBody>
      </p:sp>
      <p:sp>
        <p:nvSpPr>
          <p:cNvPr id="11" name="Shape 9"/>
          <p:cNvSpPr/>
          <p:nvPr/>
        </p:nvSpPr>
        <p:spPr>
          <a:xfrm>
            <a:off x="32339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4C8A7A">
              <a:alpha val="10196"/>
            </a:srgbClr>
          </a:solidFill>
          <a:ln/>
        </p:spPr>
      </p:sp>
      <p:sp>
        <p:nvSpPr>
          <p:cNvPr id="12" name="Shape 10"/>
          <p:cNvSpPr/>
          <p:nvPr/>
        </p:nvSpPr>
        <p:spPr>
          <a:xfrm>
            <a:off x="32339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4C8A7A"/>
          </a:solidFill>
          <a:ln/>
        </p:spPr>
      </p:sp>
      <p:sp>
        <p:nvSpPr>
          <p:cNvPr id="13" name="Text 11"/>
          <p:cNvSpPr/>
          <p:nvPr/>
        </p:nvSpPr>
        <p:spPr>
          <a:xfrm>
            <a:off x="41637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Tropical</a:t>
            </a:r>
            <a:endParaRPr lang="en-US" sz="1600" dirty="0"/>
          </a:p>
        </p:txBody>
      </p:sp>
      <p:sp>
        <p:nvSpPr>
          <p:cNvPr id="14" name="Text 12"/>
          <p:cNvSpPr/>
          <p:nvPr/>
        </p:nvSpPr>
        <p:spPr>
          <a:xfrm>
            <a:off x="45275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15" name="Text 13"/>
          <p:cNvSpPr/>
          <p:nvPr/>
        </p:nvSpPr>
        <p:spPr>
          <a:xfrm>
            <a:off x="45275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Animal seed dispersal</a:t>
            </a:r>
            <a:endParaRPr lang="en-US" sz="1600" dirty="0"/>
          </a:p>
        </p:txBody>
      </p:sp>
      <p:sp>
        <p:nvSpPr>
          <p:cNvPr id="16" name="Text 14"/>
          <p:cNvSpPr/>
          <p:nvPr/>
        </p:nvSpPr>
        <p:spPr>
          <a:xfrm>
            <a:off x="45275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17" name="Text 15"/>
          <p:cNvSpPr/>
          <p:nvPr/>
        </p:nvSpPr>
        <p:spPr>
          <a:xfrm>
            <a:off x="45275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Arbuscular (AM)</a:t>
            </a:r>
            <a:endParaRPr lang="en-US" sz="1600" dirty="0"/>
          </a:p>
        </p:txBody>
      </p:sp>
      <p:sp>
        <p:nvSpPr>
          <p:cNvPr id="18" name="Text 16"/>
          <p:cNvSpPr/>
          <p:nvPr/>
        </p:nvSpPr>
        <p:spPr>
          <a:xfrm>
            <a:off x="45275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19" name="Text 17"/>
          <p:cNvSpPr/>
          <p:nvPr/>
        </p:nvSpPr>
        <p:spPr>
          <a:xfrm>
            <a:off x="45275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Highest (&gt;200 tree species/ha)</a:t>
            </a:r>
            <a:endParaRPr lang="en-US" sz="1600" dirty="0"/>
          </a:p>
        </p:txBody>
      </p:sp>
      <p:sp>
        <p:nvSpPr>
          <p:cNvPr id="20" name="Shape 18"/>
          <p:cNvSpPr/>
          <p:nvPr/>
        </p:nvSpPr>
        <p:spPr>
          <a:xfrm>
            <a:off x="224696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8FB7AC">
              <a:alpha val="10196"/>
            </a:srgbClr>
          </a:solidFill>
          <a:ln/>
        </p:spPr>
      </p:sp>
      <p:sp>
        <p:nvSpPr>
          <p:cNvPr id="21" name="Shape 19"/>
          <p:cNvSpPr/>
          <p:nvPr/>
        </p:nvSpPr>
        <p:spPr>
          <a:xfrm>
            <a:off x="224696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8FB7AC"/>
          </a:solidFill>
          <a:ln/>
        </p:spPr>
      </p:sp>
      <p:sp>
        <p:nvSpPr>
          <p:cNvPr id="22" name="Text 20"/>
          <p:cNvSpPr/>
          <p:nvPr/>
        </p:nvSpPr>
        <p:spPr>
          <a:xfrm>
            <a:off x="233994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Temperate</a:t>
            </a:r>
            <a:endParaRPr lang="en-US" sz="1600" dirty="0"/>
          </a:p>
        </p:txBody>
      </p:sp>
      <p:sp>
        <p:nvSpPr>
          <p:cNvPr id="23" name="Text 21"/>
          <p:cNvSpPr/>
          <p:nvPr/>
        </p:nvSpPr>
        <p:spPr>
          <a:xfrm>
            <a:off x="237632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24" name="Text 22"/>
          <p:cNvSpPr/>
          <p:nvPr/>
        </p:nvSpPr>
        <p:spPr>
          <a:xfrm>
            <a:off x="237632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Mycorrhizal associations</a:t>
            </a:r>
            <a:endParaRPr lang="en-US" sz="1600" dirty="0"/>
          </a:p>
        </p:txBody>
      </p:sp>
      <p:sp>
        <p:nvSpPr>
          <p:cNvPr id="25" name="Text 23"/>
          <p:cNvSpPr/>
          <p:nvPr/>
        </p:nvSpPr>
        <p:spPr>
          <a:xfrm>
            <a:off x="237632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26" name="Text 24"/>
          <p:cNvSpPr/>
          <p:nvPr/>
        </p:nvSpPr>
        <p:spPr>
          <a:xfrm>
            <a:off x="237632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27" name="Text 25"/>
          <p:cNvSpPr/>
          <p:nvPr/>
        </p:nvSpPr>
        <p:spPr>
          <a:xfrm>
            <a:off x="237632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28" name="Text 26"/>
          <p:cNvSpPr/>
          <p:nvPr/>
        </p:nvSpPr>
        <p:spPr>
          <a:xfrm>
            <a:off x="237632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Moderate (10-30 species/ha)</a:t>
            </a:r>
            <a:endParaRPr lang="en-US" sz="1600" dirty="0"/>
          </a:p>
        </p:txBody>
      </p:sp>
      <p:sp>
        <p:nvSpPr>
          <p:cNvPr id="29" name="Shape 27"/>
          <p:cNvSpPr/>
          <p:nvPr/>
        </p:nvSpPr>
        <p:spPr>
          <a:xfrm>
            <a:off x="4170535" y="3993931"/>
            <a:ext cx="1827183" cy="3460329"/>
          </a:xfrm>
          <a:custGeom>
            <a:avLst/>
            <a:gdLst/>
            <a:ahLst/>
            <a:cxnLst/>
            <a:rect l="l" t="t" r="r" b="b"/>
            <a:pathLst>
              <a:path w="1827183" h="3460329">
                <a:moveTo>
                  <a:pt x="32340" y="0"/>
                </a:moveTo>
                <a:lnTo>
                  <a:pt x="1794844" y="0"/>
                </a:lnTo>
                <a:cubicBezTo>
                  <a:pt x="1812704" y="0"/>
                  <a:pt x="1827183" y="14479"/>
                  <a:pt x="1827183" y="32340"/>
                </a:cubicBezTo>
                <a:lnTo>
                  <a:pt x="1827183" y="3395647"/>
                </a:lnTo>
                <a:cubicBezTo>
                  <a:pt x="1827183" y="3431370"/>
                  <a:pt x="1798224" y="3460329"/>
                  <a:pt x="1762501" y="3460329"/>
                </a:cubicBezTo>
                <a:lnTo>
                  <a:pt x="64682" y="3460329"/>
                </a:lnTo>
                <a:cubicBezTo>
                  <a:pt x="28959" y="3460329"/>
                  <a:pt x="0" y="3431370"/>
                  <a:pt x="0" y="3395647"/>
                </a:cubicBezTo>
                <a:lnTo>
                  <a:pt x="0" y="32340"/>
                </a:lnTo>
                <a:cubicBezTo>
                  <a:pt x="0" y="14491"/>
                  <a:pt x="14491" y="0"/>
                  <a:pt x="32340" y="0"/>
                </a:cubicBezTo>
                <a:close/>
              </a:path>
            </a:pathLst>
          </a:custGeom>
          <a:solidFill>
            <a:srgbClr val="5F6F6B">
              <a:alpha val="10196"/>
            </a:srgbClr>
          </a:solidFill>
          <a:ln/>
        </p:spPr>
      </p:sp>
      <p:sp>
        <p:nvSpPr>
          <p:cNvPr id="30" name="Shape 28"/>
          <p:cNvSpPr/>
          <p:nvPr/>
        </p:nvSpPr>
        <p:spPr>
          <a:xfrm>
            <a:off x="4170535" y="3993931"/>
            <a:ext cx="1827183" cy="32340"/>
          </a:xfrm>
          <a:custGeom>
            <a:avLst/>
            <a:gdLst/>
            <a:ahLst/>
            <a:cxnLst/>
            <a:rect l="l" t="t" r="r" b="b"/>
            <a:pathLst>
              <a:path w="1827183" h="32340">
                <a:moveTo>
                  <a:pt x="32340" y="0"/>
                </a:moveTo>
                <a:lnTo>
                  <a:pt x="1794844" y="0"/>
                </a:lnTo>
                <a:cubicBezTo>
                  <a:pt x="1812704" y="0"/>
                  <a:pt x="1827183" y="14479"/>
                  <a:pt x="1827183" y="32340"/>
                </a:cubicBezTo>
                <a:lnTo>
                  <a:pt x="1827183" y="32340"/>
                </a:lnTo>
                <a:lnTo>
                  <a:pt x="0" y="32340"/>
                </a:lnTo>
                <a:lnTo>
                  <a:pt x="0" y="32340"/>
                </a:lnTo>
                <a:cubicBezTo>
                  <a:pt x="0" y="14491"/>
                  <a:pt x="14491" y="0"/>
                  <a:pt x="32340" y="0"/>
                </a:cubicBezTo>
                <a:close/>
              </a:path>
            </a:pathLst>
          </a:custGeom>
          <a:solidFill>
            <a:srgbClr val="5F6F6B"/>
          </a:solidFill>
          <a:ln/>
        </p:spPr>
      </p:sp>
      <p:sp>
        <p:nvSpPr>
          <p:cNvPr id="31" name="Text 29"/>
          <p:cNvSpPr/>
          <p:nvPr/>
        </p:nvSpPr>
        <p:spPr>
          <a:xfrm>
            <a:off x="4263511" y="4139459"/>
            <a:ext cx="1641231" cy="226377"/>
          </a:xfrm>
          <a:prstGeom prst="rect">
            <a:avLst/>
          </a:prstGeom>
          <a:noFill/>
          <a:ln/>
        </p:spPr>
        <p:txBody>
          <a:bodyPr wrap="square" lIns="0" tIns="0" rIns="0" bIns="0" rtlCol="0" anchor="ctr"/>
          <a:lstStyle/>
          <a:p>
            <a:pPr algn="ctr">
              <a:lnSpc>
                <a:spcPct val="130000"/>
              </a:lnSpc>
            </a:pPr>
            <a:r>
              <a:rPr lang="en-US" sz="1146" b="1" dirty="0">
                <a:solidFill>
                  <a:srgbClr val="2F3E3B"/>
                </a:solidFill>
                <a:latin typeface="Sorts Mill Goudy" pitchFamily="34" charset="0"/>
                <a:ea typeface="Sorts Mill Goudy" pitchFamily="34" charset="-122"/>
                <a:cs typeface="Sorts Mill Goudy" pitchFamily="34" charset="-120"/>
              </a:rPr>
              <a:t>Boreal</a:t>
            </a:r>
            <a:endParaRPr lang="en-US" sz="1600" dirty="0"/>
          </a:p>
        </p:txBody>
      </p:sp>
      <p:sp>
        <p:nvSpPr>
          <p:cNvPr id="32" name="Text 30"/>
          <p:cNvSpPr/>
          <p:nvPr/>
        </p:nvSpPr>
        <p:spPr>
          <a:xfrm>
            <a:off x="4299893" y="4446684"/>
            <a:ext cx="1155885"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Dominant Mechanism:</a:t>
            </a:r>
            <a:endParaRPr lang="en-US" sz="1600" dirty="0"/>
          </a:p>
        </p:txBody>
      </p:sp>
      <p:sp>
        <p:nvSpPr>
          <p:cNvPr id="33" name="Text 31"/>
          <p:cNvSpPr/>
          <p:nvPr/>
        </p:nvSpPr>
        <p:spPr>
          <a:xfrm>
            <a:off x="4299893" y="4656891"/>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Disturbance regimes</a:t>
            </a:r>
            <a:endParaRPr lang="en-US" sz="1600" dirty="0"/>
          </a:p>
        </p:txBody>
      </p:sp>
      <p:sp>
        <p:nvSpPr>
          <p:cNvPr id="34" name="Text 32"/>
          <p:cNvSpPr/>
          <p:nvPr/>
        </p:nvSpPr>
        <p:spPr>
          <a:xfrm>
            <a:off x="4299893" y="4899438"/>
            <a:ext cx="656833"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Mycorrhizal:</a:t>
            </a:r>
            <a:endParaRPr lang="en-US" sz="1600" dirty="0"/>
          </a:p>
        </p:txBody>
      </p:sp>
      <p:sp>
        <p:nvSpPr>
          <p:cNvPr id="35" name="Text 33"/>
          <p:cNvSpPr/>
          <p:nvPr/>
        </p:nvSpPr>
        <p:spPr>
          <a:xfrm>
            <a:off x="4299893" y="5109645"/>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Ectomycorrhizal (ECM)</a:t>
            </a:r>
            <a:endParaRPr lang="en-US" sz="1600" dirty="0"/>
          </a:p>
        </p:txBody>
      </p:sp>
      <p:sp>
        <p:nvSpPr>
          <p:cNvPr id="36" name="Text 34"/>
          <p:cNvSpPr/>
          <p:nvPr/>
        </p:nvSpPr>
        <p:spPr>
          <a:xfrm>
            <a:off x="4299893" y="5352191"/>
            <a:ext cx="516864" cy="125316"/>
          </a:xfrm>
          <a:prstGeom prst="rect">
            <a:avLst/>
          </a:prstGeom>
          <a:noFill/>
          <a:ln/>
        </p:spPr>
        <p:txBody>
          <a:bodyPr wrap="square" lIns="0" tIns="0" rIns="0" bIns="0" rtlCol="0" anchor="ctr"/>
          <a:lstStyle/>
          <a:p>
            <a:pPr>
              <a:lnSpc>
                <a:spcPct val="120000"/>
              </a:lnSpc>
            </a:pPr>
            <a:r>
              <a:rPr lang="en-US" sz="891" b="1" dirty="0">
                <a:solidFill>
                  <a:srgbClr val="5F6F6B"/>
                </a:solidFill>
                <a:latin typeface="Quattrocento Sans" pitchFamily="34" charset="0"/>
                <a:ea typeface="Quattrocento Sans" pitchFamily="34" charset="-122"/>
                <a:cs typeface="Quattrocento Sans" pitchFamily="34" charset="-120"/>
              </a:rPr>
              <a:t>Diversity:</a:t>
            </a:r>
            <a:endParaRPr lang="en-US" sz="1600" dirty="0"/>
          </a:p>
        </p:txBody>
      </p:sp>
      <p:sp>
        <p:nvSpPr>
          <p:cNvPr id="37" name="Text 35"/>
          <p:cNvSpPr/>
          <p:nvPr/>
        </p:nvSpPr>
        <p:spPr>
          <a:xfrm>
            <a:off x="4299893" y="5562398"/>
            <a:ext cx="1625061" cy="161698"/>
          </a:xfrm>
          <a:prstGeom prst="rect">
            <a:avLst/>
          </a:prstGeom>
          <a:noFill/>
          <a:ln/>
        </p:spPr>
        <p:txBody>
          <a:bodyPr wrap="square" lIns="0" tIns="0" rIns="0" bIns="0" rtlCol="0" anchor="ctr"/>
          <a:lstStyle/>
          <a:p>
            <a:pPr>
              <a:lnSpc>
                <a:spcPct val="120000"/>
              </a:lnSpc>
            </a:pPr>
            <a:r>
              <a:rPr lang="en-US" sz="891" dirty="0">
                <a:solidFill>
                  <a:srgbClr val="5F6F6B"/>
                </a:solidFill>
                <a:latin typeface="Quattrocento Sans" pitchFamily="34" charset="0"/>
                <a:ea typeface="Quattrocento Sans" pitchFamily="34" charset="-122"/>
                <a:cs typeface="Quattrocento Sans" pitchFamily="34" charset="-120"/>
              </a:rPr>
              <a:t>Lowest (1-5 species/ha)</a:t>
            </a:r>
            <a:endParaRPr lang="en-US" sz="1600" dirty="0"/>
          </a:p>
        </p:txBody>
      </p:sp>
      <p:sp>
        <p:nvSpPr>
          <p:cNvPr id="38" name="Shape 36"/>
          <p:cNvSpPr/>
          <p:nvPr/>
        </p:nvSpPr>
        <p:spPr>
          <a:xfrm>
            <a:off x="6191187" y="1325920"/>
            <a:ext cx="5675586" cy="3686706"/>
          </a:xfrm>
          <a:custGeom>
            <a:avLst/>
            <a:gdLst/>
            <a:ahLst/>
            <a:cxnLst/>
            <a:rect l="l" t="t" r="r" b="b"/>
            <a:pathLst>
              <a:path w="5675586" h="3686706">
                <a:moveTo>
                  <a:pt x="97034" y="0"/>
                </a:moveTo>
                <a:lnTo>
                  <a:pt x="5578552" y="0"/>
                </a:lnTo>
                <a:cubicBezTo>
                  <a:pt x="5632143" y="0"/>
                  <a:pt x="5675586" y="43444"/>
                  <a:pt x="5675586" y="97034"/>
                </a:cubicBezTo>
                <a:lnTo>
                  <a:pt x="5675586" y="3589671"/>
                </a:lnTo>
                <a:cubicBezTo>
                  <a:pt x="5675586" y="3643262"/>
                  <a:pt x="5632143" y="3686706"/>
                  <a:pt x="5578552" y="3686706"/>
                </a:cubicBezTo>
                <a:lnTo>
                  <a:pt x="97034" y="3686706"/>
                </a:lnTo>
                <a:cubicBezTo>
                  <a:pt x="43444" y="3686706"/>
                  <a:pt x="0" y="3643262"/>
                  <a:pt x="0" y="3589671"/>
                </a:cubicBezTo>
                <a:lnTo>
                  <a:pt x="0" y="97034"/>
                </a:lnTo>
                <a:cubicBezTo>
                  <a:pt x="0" y="43444"/>
                  <a:pt x="43444" y="0"/>
                  <a:pt x="97034" y="0"/>
                </a:cubicBezTo>
                <a:close/>
              </a:path>
            </a:pathLst>
          </a:custGeom>
          <a:solidFill>
            <a:srgbClr val="FFFFFF"/>
          </a:solidFill>
          <a:ln/>
          <a:effectLst>
            <a:outerShdw sx="100000" sy="100000" kx="0" ky="0" algn="bl" rotWithShape="0" blurRad="24255" dist="8085" dir="5400000">
              <a:srgbClr val="000000">
                <a:alpha val="10196"/>
              </a:srgbClr>
            </a:outerShdw>
          </a:effectLst>
        </p:spPr>
      </p:sp>
      <p:pic>
        <p:nvPicPr>
          <p:cNvPr id="39" name="Image 0" descr="https://kimi-web-img.moonshot.cn/img/www.woodwellclimate.org/3e97d6419e1992f7da11e12a1e23162ba41b900b.jpg">    </p:cNvPr>
          <p:cNvPicPr>
            <a:picLocks noChangeAspect="1"/>
          </p:cNvPicPr>
          <p:nvPr/>
        </p:nvPicPr>
        <p:blipFill>
          <a:blip r:embed="rId1"/>
          <a:srcRect l="28" r="28" t="0" b="0"/>
          <a:stretch/>
        </p:blipFill>
        <p:spPr>
          <a:xfrm>
            <a:off x="6191187" y="1325920"/>
            <a:ext cx="5675586" cy="3686706"/>
          </a:xfrm>
          <a:prstGeom prst="roundRect">
            <a:avLst>
              <a:gd name="adj" fmla="val 2632"/>
            </a:avLst>
          </a:prstGeom>
        </p:spPr>
      </p:pic>
      <p:sp>
        <p:nvSpPr>
          <p:cNvPr id="40" name="Shape 37"/>
          <p:cNvSpPr/>
          <p:nvPr/>
        </p:nvSpPr>
        <p:spPr>
          <a:xfrm>
            <a:off x="6191187" y="5138763"/>
            <a:ext cx="5675586" cy="1406769"/>
          </a:xfrm>
          <a:custGeom>
            <a:avLst/>
            <a:gdLst/>
            <a:ahLst/>
            <a:cxnLst/>
            <a:rect l="l" t="t" r="r" b="b"/>
            <a:pathLst>
              <a:path w="5675586" h="1406769">
                <a:moveTo>
                  <a:pt x="97025" y="0"/>
                </a:moveTo>
                <a:lnTo>
                  <a:pt x="5578561" y="0"/>
                </a:lnTo>
                <a:cubicBezTo>
                  <a:pt x="5632147" y="0"/>
                  <a:pt x="5675586" y="43440"/>
                  <a:pt x="5675586" y="97025"/>
                </a:cubicBezTo>
                <a:lnTo>
                  <a:pt x="5675586" y="1309744"/>
                </a:lnTo>
                <a:cubicBezTo>
                  <a:pt x="5675586" y="1363330"/>
                  <a:pt x="5632147" y="1406769"/>
                  <a:pt x="5578561" y="1406769"/>
                </a:cubicBezTo>
                <a:lnTo>
                  <a:pt x="97025" y="1406769"/>
                </a:lnTo>
                <a:cubicBezTo>
                  <a:pt x="43440" y="1406769"/>
                  <a:pt x="0" y="1363330"/>
                  <a:pt x="0" y="1309744"/>
                </a:cubicBezTo>
                <a:lnTo>
                  <a:pt x="0" y="97025"/>
                </a:lnTo>
                <a:cubicBezTo>
                  <a:pt x="0" y="43475"/>
                  <a:pt x="43475" y="0"/>
                  <a:pt x="97025" y="0"/>
                </a:cubicBezTo>
                <a:close/>
              </a:path>
            </a:pathLst>
          </a:custGeom>
          <a:solidFill>
            <a:srgbClr val="2F3E3B"/>
          </a:solidFill>
          <a:ln/>
        </p:spPr>
      </p:sp>
      <p:sp>
        <p:nvSpPr>
          <p:cNvPr id="41" name="Text 38"/>
          <p:cNvSpPr/>
          <p:nvPr/>
        </p:nvSpPr>
        <p:spPr>
          <a:xfrm>
            <a:off x="6352884" y="5300460"/>
            <a:ext cx="5424955" cy="226377"/>
          </a:xfrm>
          <a:prstGeom prst="rect">
            <a:avLst/>
          </a:prstGeom>
          <a:noFill/>
          <a:ln/>
        </p:spPr>
        <p:txBody>
          <a:bodyPr wrap="square" lIns="0" tIns="0" rIns="0" bIns="0" rtlCol="0" anchor="ctr"/>
          <a:lstStyle/>
          <a:p>
            <a:pPr>
              <a:lnSpc>
                <a:spcPct val="130000"/>
              </a:lnSpc>
            </a:pPr>
            <a:r>
              <a:rPr lang="en-US" sz="1146" b="1" dirty="0">
                <a:solidFill>
                  <a:srgbClr val="FFFFFF"/>
                </a:solidFill>
                <a:latin typeface="Sorts Mill Goudy" pitchFamily="34" charset="0"/>
                <a:ea typeface="Sorts Mill Goudy" pitchFamily="34" charset="-122"/>
                <a:cs typeface="Sorts Mill Goudy" pitchFamily="34" charset="-120"/>
              </a:rPr>
              <a:t>Aggregation-Abundance Relationship</a:t>
            </a:r>
            <a:endParaRPr lang="en-US" sz="1600" dirty="0"/>
          </a:p>
        </p:txBody>
      </p:sp>
      <p:sp>
        <p:nvSpPr>
          <p:cNvPr id="42" name="Text 39"/>
          <p:cNvSpPr/>
          <p:nvPr/>
        </p:nvSpPr>
        <p:spPr>
          <a:xfrm>
            <a:off x="6352884" y="5623856"/>
            <a:ext cx="5416870" cy="210207"/>
          </a:xfrm>
          <a:prstGeom prst="rect">
            <a:avLst/>
          </a:prstGeom>
          <a:noFill/>
          <a:ln/>
        </p:spPr>
        <p:txBody>
          <a:bodyPr wrap="square" lIns="0" tIns="0" rIns="0" bIns="0" rtlCol="0" anchor="ctr"/>
          <a:lstStyle/>
          <a:p>
            <a:pPr>
              <a:lnSpc>
                <a:spcPct val="140000"/>
              </a:lnSpc>
            </a:pPr>
            <a:r>
              <a:rPr lang="en-US" sz="1019" dirty="0">
                <a:solidFill>
                  <a:srgbClr val="FFFFFF"/>
                </a:solidFill>
                <a:latin typeface="Quattrocento Sans" pitchFamily="34" charset="0"/>
                <a:ea typeface="Quattrocento Sans" pitchFamily="34" charset="-122"/>
                <a:cs typeface="Quattrocento Sans" pitchFamily="34" charset="-120"/>
              </a:rPr>
              <a:t>Abundant species tend to be less spatially aggregated than rare species:</a:t>
            </a:r>
            <a:endParaRPr lang="en-US" sz="1600" dirty="0"/>
          </a:p>
        </p:txBody>
      </p:sp>
      <p:sp>
        <p:nvSpPr>
          <p:cNvPr id="43" name="Shape 40"/>
          <p:cNvSpPr/>
          <p:nvPr/>
        </p:nvSpPr>
        <p:spPr>
          <a:xfrm>
            <a:off x="6369054" y="5963421"/>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4" name="Text 41"/>
          <p:cNvSpPr/>
          <p:nvPr/>
        </p:nvSpPr>
        <p:spPr>
          <a:xfrm>
            <a:off x="6579261" y="5931081"/>
            <a:ext cx="4155629"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Temperate:</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Stronger negative relationship—ECM fungi promote clustering</a:t>
            </a:r>
            <a:endParaRPr lang="en-US" sz="1600" dirty="0"/>
          </a:p>
        </p:txBody>
      </p:sp>
      <p:sp>
        <p:nvSpPr>
          <p:cNvPr id="45" name="Shape 42"/>
          <p:cNvSpPr/>
          <p:nvPr/>
        </p:nvSpPr>
        <p:spPr>
          <a:xfrm>
            <a:off x="6369054" y="6222137"/>
            <a:ext cx="129358" cy="129358"/>
          </a:xfrm>
          <a:custGeom>
            <a:avLst/>
            <a:gdLst/>
            <a:ahLst/>
            <a:cxnLst/>
            <a:rect l="l" t="t" r="r" b="b"/>
            <a:pathLst>
              <a:path w="129358" h="129358">
                <a:moveTo>
                  <a:pt x="126983" y="70389"/>
                </a:moveTo>
                <a:cubicBezTo>
                  <a:pt x="130141" y="67231"/>
                  <a:pt x="130141" y="62102"/>
                  <a:pt x="126983" y="58944"/>
                </a:cubicBezTo>
                <a:lnTo>
                  <a:pt x="86559" y="18519"/>
                </a:lnTo>
                <a:cubicBezTo>
                  <a:pt x="83401" y="15361"/>
                  <a:pt x="78272" y="15361"/>
                  <a:pt x="75114" y="18519"/>
                </a:cubicBezTo>
                <a:cubicBezTo>
                  <a:pt x="71955" y="21678"/>
                  <a:pt x="71955" y="26806"/>
                  <a:pt x="75114" y="29965"/>
                </a:cubicBezTo>
                <a:lnTo>
                  <a:pt x="101743" y="56594"/>
                </a:lnTo>
                <a:lnTo>
                  <a:pt x="8085" y="56594"/>
                </a:lnTo>
                <a:cubicBezTo>
                  <a:pt x="3613" y="56594"/>
                  <a:pt x="0" y="60207"/>
                  <a:pt x="0" y="64679"/>
                </a:cubicBezTo>
                <a:cubicBezTo>
                  <a:pt x="0" y="69151"/>
                  <a:pt x="3613" y="72764"/>
                  <a:pt x="8085" y="72764"/>
                </a:cubicBezTo>
                <a:lnTo>
                  <a:pt x="101743" y="72764"/>
                </a:lnTo>
                <a:lnTo>
                  <a:pt x="75114" y="99394"/>
                </a:lnTo>
                <a:cubicBezTo>
                  <a:pt x="71955" y="102552"/>
                  <a:pt x="71955" y="107681"/>
                  <a:pt x="75114" y="110839"/>
                </a:cubicBezTo>
                <a:cubicBezTo>
                  <a:pt x="78272" y="113997"/>
                  <a:pt x="83401" y="113997"/>
                  <a:pt x="86559" y="110839"/>
                </a:cubicBezTo>
                <a:lnTo>
                  <a:pt x="126983" y="70414"/>
                </a:lnTo>
                <a:close/>
              </a:path>
            </a:pathLst>
          </a:custGeom>
          <a:solidFill>
            <a:srgbClr val="8FB7AC"/>
          </a:solidFill>
          <a:ln/>
        </p:spPr>
      </p:sp>
      <p:sp>
        <p:nvSpPr>
          <p:cNvPr id="46" name="Text 43"/>
          <p:cNvSpPr/>
          <p:nvPr/>
        </p:nvSpPr>
        <p:spPr>
          <a:xfrm>
            <a:off x="6579261" y="6189797"/>
            <a:ext cx="3945422" cy="194037"/>
          </a:xfrm>
          <a:prstGeom prst="rect">
            <a:avLst/>
          </a:prstGeom>
          <a:noFill/>
          <a:ln/>
        </p:spPr>
        <p:txBody>
          <a:bodyPr wrap="square" lIns="0" tIns="0" rIns="0" bIns="0" rtlCol="0" anchor="ctr"/>
          <a:lstStyle/>
          <a:p>
            <a:pPr>
              <a:lnSpc>
                <a:spcPct val="130000"/>
              </a:lnSpc>
            </a:pPr>
            <a:r>
              <a:rPr lang="en-US" sz="1019" b="1" dirty="0">
                <a:solidFill>
                  <a:srgbClr val="FFFFFF"/>
                </a:solidFill>
                <a:latin typeface="Quattrocento Sans" pitchFamily="34" charset="0"/>
                <a:ea typeface="Quattrocento Sans" pitchFamily="34" charset="-122"/>
                <a:cs typeface="Quattrocento Sans" pitchFamily="34" charset="-120"/>
              </a:rPr>
              <a:t>Tropical:</a:t>
            </a:r>
            <a:pP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 Weaker relationship—animal dispersal stabilizes coexistence</a:t>
            </a:r>
            <a:endParaRPr lang="en-US" sz="1600" dirty="0"/>
          </a:p>
        </p:txBody>
      </p:sp>
      <p:sp>
        <p:nvSpPr>
          <p:cNvPr id="47" name="Shape 44"/>
          <p:cNvSpPr/>
          <p:nvPr/>
        </p:nvSpPr>
        <p:spPr>
          <a:xfrm>
            <a:off x="6191187" y="6674890"/>
            <a:ext cx="5675586" cy="776149"/>
          </a:xfrm>
          <a:custGeom>
            <a:avLst/>
            <a:gdLst/>
            <a:ahLst/>
            <a:cxnLst/>
            <a:rect l="l" t="t" r="r" b="b"/>
            <a:pathLst>
              <a:path w="5675586" h="776149">
                <a:moveTo>
                  <a:pt x="97019" y="0"/>
                </a:moveTo>
                <a:lnTo>
                  <a:pt x="5578568" y="0"/>
                </a:lnTo>
                <a:cubicBezTo>
                  <a:pt x="5632150" y="0"/>
                  <a:pt x="5675586" y="43437"/>
                  <a:pt x="5675586" y="97019"/>
                </a:cubicBezTo>
                <a:lnTo>
                  <a:pt x="5675586" y="679130"/>
                </a:lnTo>
                <a:cubicBezTo>
                  <a:pt x="5675586" y="732712"/>
                  <a:pt x="5632150" y="776149"/>
                  <a:pt x="5578568" y="776149"/>
                </a:cubicBezTo>
                <a:lnTo>
                  <a:pt x="97019" y="776149"/>
                </a:lnTo>
                <a:cubicBezTo>
                  <a:pt x="43437" y="776149"/>
                  <a:pt x="0" y="732712"/>
                  <a:pt x="0" y="679130"/>
                </a:cubicBezTo>
                <a:lnTo>
                  <a:pt x="0" y="97019"/>
                </a:lnTo>
                <a:cubicBezTo>
                  <a:pt x="0" y="43473"/>
                  <a:pt x="43473" y="0"/>
                  <a:pt x="97019" y="0"/>
                </a:cubicBezTo>
                <a:close/>
              </a:path>
            </a:pathLst>
          </a:custGeom>
          <a:solidFill>
            <a:srgbClr val="4C8A7A"/>
          </a:solidFill>
          <a:ln/>
        </p:spPr>
      </p:sp>
      <p:sp>
        <p:nvSpPr>
          <p:cNvPr id="48" name="Text 45"/>
          <p:cNvSpPr/>
          <p:nvPr/>
        </p:nvSpPr>
        <p:spPr>
          <a:xfrm>
            <a:off x="6259908" y="6804248"/>
            <a:ext cx="5538143" cy="291056"/>
          </a:xfrm>
          <a:prstGeom prst="rect">
            <a:avLst/>
          </a:prstGeom>
          <a:noFill/>
          <a:ln/>
        </p:spPr>
        <p:txBody>
          <a:bodyPr wrap="square" lIns="0" tIns="0" rIns="0" bIns="0" rtlCol="0" anchor="ctr"/>
          <a:lstStyle/>
          <a:p>
            <a:pPr algn="ctr">
              <a:lnSpc>
                <a:spcPct val="100000"/>
              </a:lnSpc>
            </a:pPr>
            <a:r>
              <a:rPr lang="en-US" sz="1910" b="1" dirty="0">
                <a:solidFill>
                  <a:srgbClr val="FFFFFF"/>
                </a:solidFill>
                <a:latin typeface="Sorts Mill Goudy" pitchFamily="34" charset="0"/>
                <a:ea typeface="Sorts Mill Goudy" pitchFamily="34" charset="-122"/>
                <a:cs typeface="Sorts Mill Goudy" pitchFamily="34" charset="-120"/>
              </a:rPr>
              <a:t>Biome-Specific</a:t>
            </a:r>
            <a:endParaRPr lang="en-US" sz="1600" dirty="0"/>
          </a:p>
        </p:txBody>
      </p:sp>
      <p:sp>
        <p:nvSpPr>
          <p:cNvPr id="49" name="Text 46"/>
          <p:cNvSpPr/>
          <p:nvPr/>
        </p:nvSpPr>
        <p:spPr>
          <a:xfrm>
            <a:off x="6288205" y="7127643"/>
            <a:ext cx="5481549" cy="194037"/>
          </a:xfrm>
          <a:prstGeom prst="rect">
            <a:avLst/>
          </a:prstGeom>
          <a:noFill/>
          <a:ln/>
        </p:spPr>
        <p:txBody>
          <a:bodyPr wrap="square" lIns="0" tIns="0" rIns="0" bIns="0" rtlCol="0" anchor="ctr"/>
          <a:lstStyle/>
          <a:p>
            <a:pPr algn="ctr">
              <a:lnSpc>
                <a:spcPct val="130000"/>
              </a:lnSpc>
            </a:pPr>
            <a:r>
              <a:rPr lang="en-US" sz="1019" dirty="0">
                <a:solidFill>
                  <a:srgbClr val="FFFFFF"/>
                </a:solidFill>
                <a:latin typeface="Quattrocento Sans" pitchFamily="34" charset="0"/>
                <a:ea typeface="Quattrocento Sans" pitchFamily="34" charset="-122"/>
                <a:cs typeface="Quattrocento Sans" pitchFamily="34" charset="-120"/>
              </a:rPr>
              <a:t>Conservation must account for regional mechanisms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29736" y="329736"/>
            <a:ext cx="11590231" cy="164868"/>
          </a:xfrm>
          <a:prstGeom prst="rect">
            <a:avLst/>
          </a:prstGeom>
          <a:noFill/>
          <a:ln/>
        </p:spPr>
        <p:txBody>
          <a:bodyPr wrap="square" lIns="0" tIns="0" rIns="0" bIns="0" rtlCol="0" anchor="ctr"/>
          <a:lstStyle/>
          <a:p>
            <a:pPr>
              <a:lnSpc>
                <a:spcPct val="120000"/>
              </a:lnSpc>
            </a:pPr>
            <a:r>
              <a:rPr lang="en-US" sz="909" b="1" spc="91"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29736" y="560552"/>
            <a:ext cx="11680909" cy="329736"/>
          </a:xfrm>
          <a:prstGeom prst="rect">
            <a:avLst/>
          </a:prstGeom>
          <a:noFill/>
          <a:ln/>
        </p:spPr>
        <p:txBody>
          <a:bodyPr wrap="square" lIns="0" tIns="0" rIns="0" bIns="0" rtlCol="0" anchor="ctr"/>
          <a:lstStyle/>
          <a:p>
            <a:pPr>
              <a:lnSpc>
                <a:spcPct val="90000"/>
              </a:lnSpc>
            </a:pPr>
            <a:r>
              <a:rPr lang="en-US" sz="2337" b="1" dirty="0">
                <a:solidFill>
                  <a:srgbClr val="2F3E3B"/>
                </a:solidFill>
                <a:latin typeface="Sorts Mill Goudy" pitchFamily="34" charset="0"/>
                <a:ea typeface="Sorts Mill Goudy" pitchFamily="34" charset="-122"/>
                <a:cs typeface="Sorts Mill Goudy" pitchFamily="34" charset="-120"/>
              </a:rPr>
              <a:t>Climate Change &amp; Biodiversity Trade-offs</a:t>
            </a:r>
            <a:endParaRPr lang="en-US" sz="1600" dirty="0"/>
          </a:p>
        </p:txBody>
      </p:sp>
      <p:sp>
        <p:nvSpPr>
          <p:cNvPr id="4" name="Text 2"/>
          <p:cNvSpPr/>
          <p:nvPr/>
        </p:nvSpPr>
        <p:spPr>
          <a:xfrm>
            <a:off x="329736" y="956235"/>
            <a:ext cx="11606718" cy="230815"/>
          </a:xfrm>
          <a:prstGeom prst="rect">
            <a:avLst/>
          </a:prstGeom>
          <a:noFill/>
          <a:ln/>
        </p:spPr>
        <p:txBody>
          <a:bodyPr wrap="square" lIns="0" tIns="0" rIns="0" bIns="0" rtlCol="0" anchor="ctr"/>
          <a:lstStyle/>
          <a:p>
            <a:pPr>
              <a:lnSpc>
                <a:spcPct val="130000"/>
              </a:lnSpc>
            </a:pPr>
            <a:r>
              <a:rPr lang="en-US" sz="1168" dirty="0">
                <a:solidFill>
                  <a:srgbClr val="5F6F6B"/>
                </a:solidFill>
                <a:latin typeface="Quattrocento Sans" pitchFamily="34" charset="0"/>
                <a:ea typeface="Quattrocento Sans" pitchFamily="34" charset="-122"/>
                <a:cs typeface="Quattrocento Sans" pitchFamily="34" charset="-120"/>
              </a:rPr>
              <a:t>Emerging challenges to forest biodiversity maintenance</a:t>
            </a:r>
            <a:endParaRPr lang="en-US" sz="1600" dirty="0"/>
          </a:p>
        </p:txBody>
      </p:sp>
      <p:sp>
        <p:nvSpPr>
          <p:cNvPr id="5" name="Shape 3"/>
          <p:cNvSpPr/>
          <p:nvPr/>
        </p:nvSpPr>
        <p:spPr>
          <a:xfrm>
            <a:off x="329736" y="1351919"/>
            <a:ext cx="5671465" cy="3313850"/>
          </a:xfrm>
          <a:custGeom>
            <a:avLst/>
            <a:gdLst/>
            <a:ahLst/>
            <a:cxnLst/>
            <a:rect l="l" t="t" r="r" b="b"/>
            <a:pathLst>
              <a:path w="5671465" h="3313850">
                <a:moveTo>
                  <a:pt x="98918" y="0"/>
                </a:moveTo>
                <a:lnTo>
                  <a:pt x="5572546" y="0"/>
                </a:lnTo>
                <a:cubicBezTo>
                  <a:pt x="5627177" y="0"/>
                  <a:pt x="5671465" y="44287"/>
                  <a:pt x="5671465" y="98918"/>
                </a:cubicBezTo>
                <a:lnTo>
                  <a:pt x="5671465" y="3214931"/>
                </a:lnTo>
                <a:cubicBezTo>
                  <a:pt x="5671465" y="3269563"/>
                  <a:pt x="5627177" y="3313850"/>
                  <a:pt x="5572546" y="3313850"/>
                </a:cubicBezTo>
                <a:lnTo>
                  <a:pt x="98918" y="3313850"/>
                </a:lnTo>
                <a:cubicBezTo>
                  <a:pt x="44287" y="3313850"/>
                  <a:pt x="0" y="3269563"/>
                  <a:pt x="0" y="321493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6" name="Text 4"/>
          <p:cNvSpPr/>
          <p:nvPr/>
        </p:nvSpPr>
        <p:spPr>
          <a:xfrm>
            <a:off x="494604" y="1516787"/>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Climate Change Impacts</a:t>
            </a:r>
            <a:endParaRPr lang="en-US" sz="1600" dirty="0"/>
          </a:p>
        </p:txBody>
      </p:sp>
      <p:sp>
        <p:nvSpPr>
          <p:cNvPr id="7" name="Text 5"/>
          <p:cNvSpPr/>
          <p:nvPr/>
        </p:nvSpPr>
        <p:spPr>
          <a:xfrm>
            <a:off x="494604" y="1846523"/>
            <a:ext cx="5407675" cy="642986"/>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Climate change threatens forest biodiversity through </a:t>
            </a:r>
            <a:pPr>
              <a:lnSpc>
                <a:spcPct val="140000"/>
              </a:lnSpc>
            </a:pPr>
            <a:r>
              <a:rPr lang="en-US" sz="1039"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altered disturbance regimes, shifting species distributions, and changing ecosystem stability </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 Understanding these impacts is critical for conservation planning.</a:t>
            </a:r>
            <a:endParaRPr lang="en-US" sz="1600" dirty="0"/>
          </a:p>
        </p:txBody>
      </p:sp>
      <p:sp>
        <p:nvSpPr>
          <p:cNvPr id="8" name="Shape 6"/>
          <p:cNvSpPr/>
          <p:nvPr/>
        </p:nvSpPr>
        <p:spPr>
          <a:xfrm>
            <a:off x="494604" y="2621404"/>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4C8A7A">
              <a:alpha val="10196"/>
            </a:srgbClr>
          </a:solidFill>
          <a:ln/>
        </p:spPr>
      </p:sp>
      <p:sp>
        <p:nvSpPr>
          <p:cNvPr id="9" name="Shape 7"/>
          <p:cNvSpPr/>
          <p:nvPr/>
        </p:nvSpPr>
        <p:spPr>
          <a:xfrm>
            <a:off x="623408" y="2753298"/>
            <a:ext cx="129834" cy="148381"/>
          </a:xfrm>
          <a:custGeom>
            <a:avLst/>
            <a:gdLst/>
            <a:ahLst/>
            <a:cxnLst/>
            <a:rect l="l" t="t" r="r" b="b"/>
            <a:pathLst>
              <a:path w="129834" h="148381">
                <a:moveTo>
                  <a:pt x="46514" y="-7651"/>
                </a:moveTo>
                <a:cubicBezTo>
                  <a:pt x="49209" y="-9911"/>
                  <a:pt x="53180" y="-9824"/>
                  <a:pt x="55759" y="-7390"/>
                </a:cubicBezTo>
                <a:cubicBezTo>
                  <a:pt x="59324" y="-4028"/>
                  <a:pt x="62511" y="-319"/>
                  <a:pt x="65583" y="3449"/>
                </a:cubicBezTo>
                <a:cubicBezTo>
                  <a:pt x="69496" y="8231"/>
                  <a:pt x="74191" y="14548"/>
                  <a:pt x="78712" y="22054"/>
                </a:cubicBezTo>
                <a:cubicBezTo>
                  <a:pt x="80219" y="20084"/>
                  <a:pt x="81610" y="18345"/>
                  <a:pt x="82827" y="16867"/>
                </a:cubicBezTo>
                <a:cubicBezTo>
                  <a:pt x="83146" y="16490"/>
                  <a:pt x="83465" y="16084"/>
                  <a:pt x="83783" y="15679"/>
                </a:cubicBezTo>
                <a:cubicBezTo>
                  <a:pt x="86073" y="12838"/>
                  <a:pt x="88913" y="9274"/>
                  <a:pt x="92709" y="9274"/>
                </a:cubicBezTo>
                <a:cubicBezTo>
                  <a:pt x="96593" y="9274"/>
                  <a:pt x="99317" y="12723"/>
                  <a:pt x="101635" y="15679"/>
                </a:cubicBezTo>
                <a:cubicBezTo>
                  <a:pt x="102012" y="16171"/>
                  <a:pt x="102389" y="16635"/>
                  <a:pt x="102766" y="17070"/>
                </a:cubicBezTo>
                <a:cubicBezTo>
                  <a:pt x="105751" y="20663"/>
                  <a:pt x="109721" y="25851"/>
                  <a:pt x="113691" y="32256"/>
                </a:cubicBezTo>
                <a:cubicBezTo>
                  <a:pt x="121574" y="44978"/>
                  <a:pt x="129805" y="63091"/>
                  <a:pt x="129805" y="83436"/>
                </a:cubicBezTo>
                <a:cubicBezTo>
                  <a:pt x="129805" y="119285"/>
                  <a:pt x="100737" y="148352"/>
                  <a:pt x="64888" y="148352"/>
                </a:cubicBezTo>
                <a:cubicBezTo>
                  <a:pt x="29039" y="148352"/>
                  <a:pt x="0" y="119314"/>
                  <a:pt x="0" y="83465"/>
                </a:cubicBezTo>
                <a:cubicBezTo>
                  <a:pt x="0" y="57063"/>
                  <a:pt x="11911" y="34197"/>
                  <a:pt x="23329" y="18258"/>
                </a:cubicBezTo>
                <a:cubicBezTo>
                  <a:pt x="29097" y="10230"/>
                  <a:pt x="34835" y="3796"/>
                  <a:pt x="39153" y="-609"/>
                </a:cubicBezTo>
                <a:cubicBezTo>
                  <a:pt x="41529" y="-3043"/>
                  <a:pt x="43935" y="-5448"/>
                  <a:pt x="46543" y="-7622"/>
                </a:cubicBezTo>
                <a:close/>
                <a:moveTo>
                  <a:pt x="65410" y="120560"/>
                </a:moveTo>
                <a:cubicBezTo>
                  <a:pt x="72742" y="120560"/>
                  <a:pt x="79233" y="118531"/>
                  <a:pt x="85348" y="114474"/>
                </a:cubicBezTo>
                <a:cubicBezTo>
                  <a:pt x="97549" y="105954"/>
                  <a:pt x="100824" y="88913"/>
                  <a:pt x="93492" y="75524"/>
                </a:cubicBezTo>
                <a:cubicBezTo>
                  <a:pt x="92188" y="72916"/>
                  <a:pt x="88855" y="72742"/>
                  <a:pt x="86971" y="74944"/>
                </a:cubicBezTo>
                <a:lnTo>
                  <a:pt x="79668" y="83436"/>
                </a:lnTo>
                <a:cubicBezTo>
                  <a:pt x="77755" y="85638"/>
                  <a:pt x="74307" y="85580"/>
                  <a:pt x="72510" y="83291"/>
                </a:cubicBezTo>
                <a:cubicBezTo>
                  <a:pt x="67496" y="76886"/>
                  <a:pt x="58280" y="65207"/>
                  <a:pt x="53585" y="59237"/>
                </a:cubicBezTo>
                <a:cubicBezTo>
                  <a:pt x="52020" y="57237"/>
                  <a:pt x="49180" y="56918"/>
                  <a:pt x="47355" y="58686"/>
                </a:cubicBezTo>
                <a:cubicBezTo>
                  <a:pt x="42051" y="63845"/>
                  <a:pt x="32429" y="75147"/>
                  <a:pt x="32429" y="88913"/>
                </a:cubicBezTo>
                <a:cubicBezTo>
                  <a:pt x="32429" y="108794"/>
                  <a:pt x="47094" y="120560"/>
                  <a:pt x="65381" y="120560"/>
                </a:cubicBezTo>
                <a:close/>
              </a:path>
            </a:pathLst>
          </a:custGeom>
          <a:solidFill>
            <a:srgbClr val="4C8A7A"/>
          </a:solidFill>
          <a:ln/>
        </p:spPr>
      </p:sp>
      <p:sp>
        <p:nvSpPr>
          <p:cNvPr id="10" name="Text 8"/>
          <p:cNvSpPr/>
          <p:nvPr/>
        </p:nvSpPr>
        <p:spPr>
          <a:xfrm>
            <a:off x="877923" y="2720325"/>
            <a:ext cx="333858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Altered Disturbance Regimes</a:t>
            </a:r>
            <a:endParaRPr lang="en-US" sz="1600" dirty="0"/>
          </a:p>
        </p:txBody>
      </p:sp>
      <p:sp>
        <p:nvSpPr>
          <p:cNvPr id="11" name="Text 9"/>
          <p:cNvSpPr/>
          <p:nvPr/>
        </p:nvSpPr>
        <p:spPr>
          <a:xfrm>
            <a:off x="877923" y="2918166"/>
            <a:ext cx="3330337"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Increased fire frequency, extreme weather events, pest outbreaks</a:t>
            </a:r>
            <a:endParaRPr lang="en-US" sz="1600" dirty="0"/>
          </a:p>
        </p:txBody>
      </p:sp>
      <p:sp>
        <p:nvSpPr>
          <p:cNvPr id="12" name="Shape 10"/>
          <p:cNvSpPr/>
          <p:nvPr/>
        </p:nvSpPr>
        <p:spPr>
          <a:xfrm>
            <a:off x="494604" y="3280876"/>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8FB7AC">
              <a:alpha val="10196"/>
            </a:srgbClr>
          </a:solidFill>
          <a:ln/>
        </p:spPr>
      </p:sp>
      <p:sp>
        <p:nvSpPr>
          <p:cNvPr id="13" name="Shape 11"/>
          <p:cNvSpPr/>
          <p:nvPr/>
        </p:nvSpPr>
        <p:spPr>
          <a:xfrm>
            <a:off x="614134" y="3412771"/>
            <a:ext cx="148381" cy="148381"/>
          </a:xfrm>
          <a:custGeom>
            <a:avLst/>
            <a:gdLst/>
            <a:ahLst/>
            <a:cxnLst/>
            <a:rect l="l" t="t" r="r" b="b"/>
            <a:pathLst>
              <a:path w="148381" h="148381">
                <a:moveTo>
                  <a:pt x="27822" y="27822"/>
                </a:moveTo>
                <a:cubicBezTo>
                  <a:pt x="27822" y="12462"/>
                  <a:pt x="40283" y="0"/>
                  <a:pt x="55643" y="0"/>
                </a:cubicBezTo>
                <a:cubicBezTo>
                  <a:pt x="71003" y="0"/>
                  <a:pt x="83465" y="12462"/>
                  <a:pt x="83465" y="27822"/>
                </a:cubicBezTo>
                <a:lnTo>
                  <a:pt x="83465" y="75553"/>
                </a:lnTo>
                <a:cubicBezTo>
                  <a:pt x="92014" y="83204"/>
                  <a:pt x="97375" y="94303"/>
                  <a:pt x="97375" y="106649"/>
                </a:cubicBezTo>
                <a:cubicBezTo>
                  <a:pt x="97375" y="129689"/>
                  <a:pt x="78683" y="148381"/>
                  <a:pt x="55643" y="148381"/>
                </a:cubicBezTo>
                <a:cubicBezTo>
                  <a:pt x="32603" y="148381"/>
                  <a:pt x="13911" y="129689"/>
                  <a:pt x="13911" y="106649"/>
                </a:cubicBezTo>
                <a:cubicBezTo>
                  <a:pt x="13911" y="94303"/>
                  <a:pt x="19272" y="83175"/>
                  <a:pt x="27822" y="75553"/>
                </a:cubicBezTo>
                <a:lnTo>
                  <a:pt x="27822" y="27822"/>
                </a:lnTo>
                <a:close/>
                <a:moveTo>
                  <a:pt x="55643" y="125197"/>
                </a:moveTo>
                <a:cubicBezTo>
                  <a:pt x="65873" y="125197"/>
                  <a:pt x="74191" y="116879"/>
                  <a:pt x="74191" y="106649"/>
                </a:cubicBezTo>
                <a:cubicBezTo>
                  <a:pt x="74191" y="98853"/>
                  <a:pt x="69409" y="92188"/>
                  <a:pt x="62598" y="89464"/>
                </a:cubicBezTo>
                <a:lnTo>
                  <a:pt x="62598" y="27822"/>
                </a:lnTo>
                <a:cubicBezTo>
                  <a:pt x="62598" y="23967"/>
                  <a:pt x="59497" y="20866"/>
                  <a:pt x="55643" y="20866"/>
                </a:cubicBezTo>
                <a:cubicBezTo>
                  <a:pt x="51789" y="20866"/>
                  <a:pt x="48688" y="23967"/>
                  <a:pt x="48688" y="27822"/>
                </a:cubicBezTo>
                <a:lnTo>
                  <a:pt x="48688" y="89464"/>
                </a:lnTo>
                <a:cubicBezTo>
                  <a:pt x="41877" y="92217"/>
                  <a:pt x="37095" y="98882"/>
                  <a:pt x="37095" y="106649"/>
                </a:cubicBezTo>
                <a:cubicBezTo>
                  <a:pt x="37095" y="116879"/>
                  <a:pt x="45413" y="125197"/>
                  <a:pt x="55643" y="125197"/>
                </a:cubicBezTo>
                <a:close/>
                <a:moveTo>
                  <a:pt x="134471" y="23185"/>
                </a:moveTo>
                <a:cubicBezTo>
                  <a:pt x="134471" y="18066"/>
                  <a:pt x="130315" y="13911"/>
                  <a:pt x="125197" y="13911"/>
                </a:cubicBezTo>
                <a:cubicBezTo>
                  <a:pt x="120078" y="13911"/>
                  <a:pt x="115923" y="18066"/>
                  <a:pt x="115923" y="23185"/>
                </a:cubicBezTo>
                <a:cubicBezTo>
                  <a:pt x="115923" y="28303"/>
                  <a:pt x="120078" y="32458"/>
                  <a:pt x="125197" y="32458"/>
                </a:cubicBezTo>
                <a:cubicBezTo>
                  <a:pt x="130315" y="32458"/>
                  <a:pt x="134471" y="28303"/>
                  <a:pt x="134471" y="23185"/>
                </a:cubicBezTo>
                <a:close/>
                <a:moveTo>
                  <a:pt x="102012" y="23185"/>
                </a:moveTo>
                <a:cubicBezTo>
                  <a:pt x="102012" y="10389"/>
                  <a:pt x="112401" y="0"/>
                  <a:pt x="125197" y="0"/>
                </a:cubicBezTo>
                <a:cubicBezTo>
                  <a:pt x="137993" y="0"/>
                  <a:pt x="148381" y="10389"/>
                  <a:pt x="148381" y="23185"/>
                </a:cubicBezTo>
                <a:cubicBezTo>
                  <a:pt x="148381" y="35981"/>
                  <a:pt x="137993" y="46369"/>
                  <a:pt x="125197" y="46369"/>
                </a:cubicBezTo>
                <a:cubicBezTo>
                  <a:pt x="112401" y="46369"/>
                  <a:pt x="102012" y="35981"/>
                  <a:pt x="102012" y="23185"/>
                </a:cubicBezTo>
                <a:close/>
              </a:path>
            </a:pathLst>
          </a:custGeom>
          <a:solidFill>
            <a:srgbClr val="8FB7AC"/>
          </a:solidFill>
          <a:ln/>
        </p:spPr>
      </p:sp>
      <p:sp>
        <p:nvSpPr>
          <p:cNvPr id="14" name="Text 12"/>
          <p:cNvSpPr/>
          <p:nvPr/>
        </p:nvSpPr>
        <p:spPr>
          <a:xfrm>
            <a:off x="877923" y="3379797"/>
            <a:ext cx="3676560"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Range Shifts</a:t>
            </a:r>
            <a:endParaRPr lang="en-US" sz="1600" dirty="0"/>
          </a:p>
        </p:txBody>
      </p:sp>
      <p:sp>
        <p:nvSpPr>
          <p:cNvPr id="15" name="Text 13"/>
          <p:cNvSpPr/>
          <p:nvPr/>
        </p:nvSpPr>
        <p:spPr>
          <a:xfrm>
            <a:off x="877923" y="3577639"/>
            <a:ext cx="3668316"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Species migrate poleward and upslope; trailing edge populations decline</a:t>
            </a:r>
            <a:endParaRPr lang="en-US" sz="1600" dirty="0"/>
          </a:p>
        </p:txBody>
      </p:sp>
      <p:sp>
        <p:nvSpPr>
          <p:cNvPr id="16" name="Shape 14"/>
          <p:cNvSpPr/>
          <p:nvPr/>
        </p:nvSpPr>
        <p:spPr>
          <a:xfrm>
            <a:off x="494604" y="3940349"/>
            <a:ext cx="5341728" cy="560552"/>
          </a:xfrm>
          <a:custGeom>
            <a:avLst/>
            <a:gdLst/>
            <a:ahLst/>
            <a:cxnLst/>
            <a:rect l="l" t="t" r="r" b="b"/>
            <a:pathLst>
              <a:path w="5341728" h="560552">
                <a:moveTo>
                  <a:pt x="65949" y="0"/>
                </a:moveTo>
                <a:lnTo>
                  <a:pt x="5275779" y="0"/>
                </a:lnTo>
                <a:cubicBezTo>
                  <a:pt x="5312202" y="0"/>
                  <a:pt x="5341728" y="29526"/>
                  <a:pt x="5341728" y="65949"/>
                </a:cubicBezTo>
                <a:lnTo>
                  <a:pt x="5341728" y="494603"/>
                </a:lnTo>
                <a:cubicBezTo>
                  <a:pt x="5341728" y="531025"/>
                  <a:pt x="5312202" y="560552"/>
                  <a:pt x="5275779" y="560552"/>
                </a:cubicBezTo>
                <a:lnTo>
                  <a:pt x="65949" y="560552"/>
                </a:lnTo>
                <a:cubicBezTo>
                  <a:pt x="29551" y="560552"/>
                  <a:pt x="0" y="531001"/>
                  <a:pt x="0" y="494603"/>
                </a:cubicBezTo>
                <a:lnTo>
                  <a:pt x="0" y="65949"/>
                </a:lnTo>
                <a:cubicBezTo>
                  <a:pt x="0" y="29526"/>
                  <a:pt x="29526" y="0"/>
                  <a:pt x="65949" y="0"/>
                </a:cubicBezTo>
                <a:close/>
              </a:path>
            </a:pathLst>
          </a:custGeom>
          <a:solidFill>
            <a:srgbClr val="5F6F6B">
              <a:alpha val="10196"/>
            </a:srgbClr>
          </a:solidFill>
          <a:ln/>
        </p:spPr>
      </p:sp>
      <p:sp>
        <p:nvSpPr>
          <p:cNvPr id="17" name="Shape 15"/>
          <p:cNvSpPr/>
          <p:nvPr/>
        </p:nvSpPr>
        <p:spPr>
          <a:xfrm>
            <a:off x="614134" y="4072243"/>
            <a:ext cx="148381" cy="148381"/>
          </a:xfrm>
          <a:custGeom>
            <a:avLst/>
            <a:gdLst/>
            <a:ahLst/>
            <a:cxnLst/>
            <a:rect l="l" t="t" r="r" b="b"/>
            <a:pathLst>
              <a:path w="148381" h="148381">
                <a:moveTo>
                  <a:pt x="18548" y="18548"/>
                </a:moveTo>
                <a:cubicBezTo>
                  <a:pt x="18548" y="13418"/>
                  <a:pt x="14403" y="9274"/>
                  <a:pt x="9274" y="9274"/>
                </a:cubicBezTo>
                <a:cubicBezTo>
                  <a:pt x="4144" y="9274"/>
                  <a:pt x="0" y="13418"/>
                  <a:pt x="0" y="18548"/>
                </a:cubicBezTo>
                <a:lnTo>
                  <a:pt x="0" y="115923"/>
                </a:lnTo>
                <a:cubicBezTo>
                  <a:pt x="0" y="128732"/>
                  <a:pt x="10375" y="139108"/>
                  <a:pt x="23185" y="139108"/>
                </a:cubicBezTo>
                <a:lnTo>
                  <a:pt x="139108" y="139108"/>
                </a:lnTo>
                <a:cubicBezTo>
                  <a:pt x="144237" y="139108"/>
                  <a:pt x="148381" y="134963"/>
                  <a:pt x="148381" y="129834"/>
                </a:cubicBezTo>
                <a:cubicBezTo>
                  <a:pt x="148381" y="124704"/>
                  <a:pt x="144237" y="120560"/>
                  <a:pt x="139108" y="120560"/>
                </a:cubicBezTo>
                <a:lnTo>
                  <a:pt x="23185" y="120560"/>
                </a:lnTo>
                <a:cubicBezTo>
                  <a:pt x="20634" y="120560"/>
                  <a:pt x="18548" y="118473"/>
                  <a:pt x="18548" y="115923"/>
                </a:cubicBezTo>
                <a:lnTo>
                  <a:pt x="18548" y="18548"/>
                </a:lnTo>
                <a:close/>
                <a:moveTo>
                  <a:pt x="136383" y="43645"/>
                </a:moveTo>
                <a:cubicBezTo>
                  <a:pt x="140006" y="40022"/>
                  <a:pt x="140006" y="34139"/>
                  <a:pt x="136383" y="30517"/>
                </a:cubicBezTo>
                <a:cubicBezTo>
                  <a:pt x="132761" y="26894"/>
                  <a:pt x="126878" y="26894"/>
                  <a:pt x="123255" y="30517"/>
                </a:cubicBezTo>
                <a:lnTo>
                  <a:pt x="92738" y="61062"/>
                </a:lnTo>
                <a:lnTo>
                  <a:pt x="76103" y="44456"/>
                </a:lnTo>
                <a:cubicBezTo>
                  <a:pt x="72481" y="40834"/>
                  <a:pt x="66598" y="40834"/>
                  <a:pt x="62975" y="44456"/>
                </a:cubicBezTo>
                <a:lnTo>
                  <a:pt x="35154" y="72278"/>
                </a:lnTo>
                <a:cubicBezTo>
                  <a:pt x="31531" y="75901"/>
                  <a:pt x="31531" y="81784"/>
                  <a:pt x="35154" y="85406"/>
                </a:cubicBezTo>
                <a:cubicBezTo>
                  <a:pt x="38776" y="89029"/>
                  <a:pt x="44659" y="89029"/>
                  <a:pt x="48282" y="85406"/>
                </a:cubicBezTo>
                <a:lnTo>
                  <a:pt x="69554" y="64134"/>
                </a:lnTo>
                <a:lnTo>
                  <a:pt x="86189" y="80769"/>
                </a:lnTo>
                <a:cubicBezTo>
                  <a:pt x="89811" y="84392"/>
                  <a:pt x="95694" y="84392"/>
                  <a:pt x="99317" y="80769"/>
                </a:cubicBezTo>
                <a:lnTo>
                  <a:pt x="136412" y="43674"/>
                </a:lnTo>
                <a:close/>
              </a:path>
            </a:pathLst>
          </a:custGeom>
          <a:solidFill>
            <a:srgbClr val="5F6F6B"/>
          </a:solidFill>
          <a:ln/>
        </p:spPr>
      </p:sp>
      <p:sp>
        <p:nvSpPr>
          <p:cNvPr id="18" name="Text 16"/>
          <p:cNvSpPr/>
          <p:nvPr/>
        </p:nvSpPr>
        <p:spPr>
          <a:xfrm>
            <a:off x="877923" y="4039270"/>
            <a:ext cx="4772933"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Ecosystem Stability</a:t>
            </a:r>
            <a:endParaRPr lang="en-US" sz="1600" dirty="0"/>
          </a:p>
        </p:txBody>
      </p:sp>
      <p:sp>
        <p:nvSpPr>
          <p:cNvPr id="19" name="Text 17"/>
          <p:cNvSpPr/>
          <p:nvPr/>
        </p:nvSpPr>
        <p:spPr>
          <a:xfrm>
            <a:off x="877923" y="4237112"/>
            <a:ext cx="47646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Forest stability increases with climate predictability; low stability areas need protection priority</a:t>
            </a:r>
            <a:endParaRPr lang="en-US" sz="1600" dirty="0"/>
          </a:p>
        </p:txBody>
      </p:sp>
      <p:sp>
        <p:nvSpPr>
          <p:cNvPr id="20" name="Shape 18"/>
          <p:cNvSpPr/>
          <p:nvPr/>
        </p:nvSpPr>
        <p:spPr>
          <a:xfrm>
            <a:off x="329736" y="4797663"/>
            <a:ext cx="5671465" cy="2060852"/>
          </a:xfrm>
          <a:custGeom>
            <a:avLst/>
            <a:gdLst/>
            <a:ahLst/>
            <a:cxnLst/>
            <a:rect l="l" t="t" r="r" b="b"/>
            <a:pathLst>
              <a:path w="5671465" h="2060852">
                <a:moveTo>
                  <a:pt x="98921" y="0"/>
                </a:moveTo>
                <a:lnTo>
                  <a:pt x="5572544" y="0"/>
                </a:lnTo>
                <a:cubicBezTo>
                  <a:pt x="5627176" y="0"/>
                  <a:pt x="5671465" y="44288"/>
                  <a:pt x="5671465" y="98921"/>
                </a:cubicBezTo>
                <a:lnTo>
                  <a:pt x="5671465" y="1961931"/>
                </a:lnTo>
                <a:cubicBezTo>
                  <a:pt x="5671465" y="2016564"/>
                  <a:pt x="5627176" y="2060852"/>
                  <a:pt x="5572544" y="2060852"/>
                </a:cubicBezTo>
                <a:lnTo>
                  <a:pt x="98921" y="2060852"/>
                </a:lnTo>
                <a:cubicBezTo>
                  <a:pt x="44288" y="2060852"/>
                  <a:pt x="0" y="2016564"/>
                  <a:pt x="0" y="1961931"/>
                </a:cubicBezTo>
                <a:lnTo>
                  <a:pt x="0" y="98921"/>
                </a:lnTo>
                <a:cubicBezTo>
                  <a:pt x="0" y="44325"/>
                  <a:pt x="44325" y="0"/>
                  <a:pt x="98921"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21" name="Text 19"/>
          <p:cNvSpPr/>
          <p:nvPr/>
        </p:nvSpPr>
        <p:spPr>
          <a:xfrm>
            <a:off x="494604" y="4962531"/>
            <a:ext cx="5424162" cy="230815"/>
          </a:xfrm>
          <a:prstGeom prst="rect">
            <a:avLst/>
          </a:prstGeom>
          <a:noFill/>
          <a:ln/>
        </p:spPr>
        <p:txBody>
          <a:bodyPr wrap="square" lIns="0" tIns="0" rIns="0" bIns="0" rtlCol="0" anchor="ctr"/>
          <a:lstStyle/>
          <a:p>
            <a:pPr>
              <a:lnSpc>
                <a:spcPct val="120000"/>
              </a:lnSpc>
            </a:pPr>
            <a:r>
              <a:rPr lang="en-US" sz="1298" b="1" dirty="0">
                <a:solidFill>
                  <a:srgbClr val="2F3E3B"/>
                </a:solidFill>
                <a:latin typeface="Sorts Mill Goudy" pitchFamily="34" charset="0"/>
                <a:ea typeface="Sorts Mill Goudy" pitchFamily="34" charset="-122"/>
                <a:cs typeface="Sorts Mill Goudy" pitchFamily="34" charset="-120"/>
              </a:rPr>
              <a:t>The Vicious Cycle</a:t>
            </a:r>
            <a:endParaRPr lang="en-US" sz="1600" dirty="0"/>
          </a:p>
        </p:txBody>
      </p:sp>
      <p:sp>
        <p:nvSpPr>
          <p:cNvPr id="22" name="Text 20"/>
          <p:cNvSpPr/>
          <p:nvPr/>
        </p:nvSpPr>
        <p:spPr>
          <a:xfrm>
            <a:off x="494604" y="5292268"/>
            <a:ext cx="5407675" cy="214329"/>
          </a:xfrm>
          <a:prstGeom prst="rect">
            <a:avLst/>
          </a:prstGeom>
          <a:noFill/>
          <a:ln/>
        </p:spPr>
        <p:txBody>
          <a:bodyPr wrap="square" lIns="0" tIns="0" rIns="0" bIns="0" rtlCol="0" anchor="ctr"/>
          <a:lstStyle/>
          <a:p>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Biodiversity loss and climate change form a </a:t>
            </a:r>
            <a:pPr>
              <a:lnSpc>
                <a:spcPct val="140000"/>
              </a:lnSpc>
            </a:pPr>
            <a:r>
              <a:rPr lang="en-US" sz="1039" b="1" dirty="0">
                <a:solidFill>
                  <a:srgbClr val="1F2A28"/>
                </a:solidFill>
                <a:latin typeface="Quattrocento Sans" pitchFamily="34" charset="0"/>
                <a:ea typeface="Quattrocento Sans" pitchFamily="34" charset="-122"/>
                <a:cs typeface="Quattrocento Sans" pitchFamily="34" charset="-120"/>
              </a:rPr>
              <a:t>positive feedback loop</a:t>
            </a:r>
            <a:pPr>
              <a:lnSpc>
                <a:spcPct val="140000"/>
              </a:lnSpc>
            </a:pPr>
            <a:r>
              <a:rPr lang="en-US" sz="1039" dirty="0">
                <a:solidFill>
                  <a:srgbClr val="1F2A28"/>
                </a:solidFill>
                <a:latin typeface="Quattrocento Sans" pitchFamily="34" charset="0"/>
                <a:ea typeface="Quattrocento Sans" pitchFamily="34" charset="-122"/>
                <a:cs typeface="Quattrocento Sans" pitchFamily="34" charset="-120"/>
              </a:rPr>
              <a:t>:</a:t>
            </a:r>
            <a:endParaRPr lang="en-US" sz="1600" dirty="0"/>
          </a:p>
        </p:txBody>
      </p:sp>
      <p:sp>
        <p:nvSpPr>
          <p:cNvPr id="23" name="Shape 21"/>
          <p:cNvSpPr/>
          <p:nvPr/>
        </p:nvSpPr>
        <p:spPr>
          <a:xfrm>
            <a:off x="1051743"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24" name="Shape 22"/>
          <p:cNvSpPr/>
          <p:nvPr/>
        </p:nvSpPr>
        <p:spPr>
          <a:xfrm>
            <a:off x="1216611" y="5770385"/>
            <a:ext cx="197842" cy="197842"/>
          </a:xfrm>
          <a:custGeom>
            <a:avLst/>
            <a:gdLst/>
            <a:ahLst/>
            <a:cxnLst/>
            <a:rect l="l" t="t" r="r" b="b"/>
            <a:pathLst>
              <a:path w="197842" h="197842">
                <a:moveTo>
                  <a:pt x="90613" y="35897"/>
                </a:moveTo>
                <a:cubicBezTo>
                  <a:pt x="96139" y="52474"/>
                  <a:pt x="90497" y="69206"/>
                  <a:pt x="78016" y="73302"/>
                </a:cubicBezTo>
                <a:cubicBezTo>
                  <a:pt x="65535" y="77398"/>
                  <a:pt x="50929" y="67274"/>
                  <a:pt x="45403" y="50697"/>
                </a:cubicBezTo>
                <a:cubicBezTo>
                  <a:pt x="39877" y="34120"/>
                  <a:pt x="45519" y="17388"/>
                  <a:pt x="58000" y="13292"/>
                </a:cubicBezTo>
                <a:cubicBezTo>
                  <a:pt x="70481" y="9197"/>
                  <a:pt x="85087" y="19320"/>
                  <a:pt x="90613" y="35897"/>
                </a:cubicBezTo>
                <a:close/>
                <a:moveTo>
                  <a:pt x="38796" y="76741"/>
                </a:moveTo>
                <a:cubicBezTo>
                  <a:pt x="46099" y="89261"/>
                  <a:pt x="44321" y="103828"/>
                  <a:pt x="34854" y="109238"/>
                </a:cubicBezTo>
                <a:cubicBezTo>
                  <a:pt x="25387" y="114648"/>
                  <a:pt x="11785" y="108890"/>
                  <a:pt x="4521" y="96371"/>
                </a:cubicBezTo>
                <a:cubicBezTo>
                  <a:pt x="-2744" y="83851"/>
                  <a:pt x="-1005" y="69283"/>
                  <a:pt x="8462" y="63874"/>
                </a:cubicBezTo>
                <a:cubicBezTo>
                  <a:pt x="17929" y="58464"/>
                  <a:pt x="31531" y="64221"/>
                  <a:pt x="38796" y="76741"/>
                </a:cubicBezTo>
                <a:close/>
                <a:moveTo>
                  <a:pt x="26740" y="155028"/>
                </a:moveTo>
                <a:cubicBezTo>
                  <a:pt x="46987" y="100428"/>
                  <a:pt x="82962" y="86556"/>
                  <a:pt x="98921" y="86556"/>
                </a:cubicBezTo>
                <a:cubicBezTo>
                  <a:pt x="114880" y="86556"/>
                  <a:pt x="150854" y="100428"/>
                  <a:pt x="171102" y="155028"/>
                </a:cubicBezTo>
                <a:cubicBezTo>
                  <a:pt x="172493" y="158776"/>
                  <a:pt x="173112" y="162794"/>
                  <a:pt x="173112" y="166813"/>
                </a:cubicBezTo>
                <a:lnTo>
                  <a:pt x="173112" y="167431"/>
                </a:lnTo>
                <a:cubicBezTo>
                  <a:pt x="173112" y="177401"/>
                  <a:pt x="165036" y="185477"/>
                  <a:pt x="155066" y="185477"/>
                </a:cubicBezTo>
                <a:cubicBezTo>
                  <a:pt x="150623" y="185477"/>
                  <a:pt x="146217" y="184936"/>
                  <a:pt x="141928" y="183854"/>
                </a:cubicBezTo>
                <a:lnTo>
                  <a:pt x="107924" y="175353"/>
                </a:lnTo>
                <a:cubicBezTo>
                  <a:pt x="102012" y="173884"/>
                  <a:pt x="95830" y="173884"/>
                  <a:pt x="89918" y="175353"/>
                </a:cubicBezTo>
                <a:lnTo>
                  <a:pt x="55913" y="183854"/>
                </a:lnTo>
                <a:cubicBezTo>
                  <a:pt x="51624" y="184936"/>
                  <a:pt x="47219" y="185477"/>
                  <a:pt x="42776" y="185477"/>
                </a:cubicBezTo>
                <a:cubicBezTo>
                  <a:pt x="32806" y="185477"/>
                  <a:pt x="24730" y="177401"/>
                  <a:pt x="24730" y="167431"/>
                </a:cubicBezTo>
                <a:lnTo>
                  <a:pt x="24730" y="166813"/>
                </a:lnTo>
                <a:cubicBezTo>
                  <a:pt x="24730" y="162794"/>
                  <a:pt x="25348" y="158776"/>
                  <a:pt x="26740" y="155028"/>
                </a:cubicBezTo>
                <a:close/>
                <a:moveTo>
                  <a:pt x="162988" y="109238"/>
                </a:moveTo>
                <a:cubicBezTo>
                  <a:pt x="153521" y="103828"/>
                  <a:pt x="151743" y="89261"/>
                  <a:pt x="159046" y="76741"/>
                </a:cubicBezTo>
                <a:cubicBezTo>
                  <a:pt x="166349" y="64221"/>
                  <a:pt x="179912" y="58464"/>
                  <a:pt x="189379" y="63874"/>
                </a:cubicBezTo>
                <a:cubicBezTo>
                  <a:pt x="198846" y="69283"/>
                  <a:pt x="200624" y="83851"/>
                  <a:pt x="193321" y="96371"/>
                </a:cubicBezTo>
                <a:cubicBezTo>
                  <a:pt x="186018" y="108890"/>
                  <a:pt x="172455" y="114648"/>
                  <a:pt x="162988" y="109238"/>
                </a:cubicBezTo>
                <a:close/>
                <a:moveTo>
                  <a:pt x="119826" y="73302"/>
                </a:moveTo>
                <a:cubicBezTo>
                  <a:pt x="107345" y="69206"/>
                  <a:pt x="101703" y="52474"/>
                  <a:pt x="107229" y="35897"/>
                </a:cubicBezTo>
                <a:cubicBezTo>
                  <a:pt x="112754" y="19320"/>
                  <a:pt x="127361" y="9197"/>
                  <a:pt x="139842" y="13292"/>
                </a:cubicBezTo>
                <a:cubicBezTo>
                  <a:pt x="152323" y="17388"/>
                  <a:pt x="157964" y="34120"/>
                  <a:pt x="152439" y="50697"/>
                </a:cubicBezTo>
                <a:cubicBezTo>
                  <a:pt x="146913" y="67274"/>
                  <a:pt x="132307" y="77398"/>
                  <a:pt x="119826" y="73302"/>
                </a:cubicBezTo>
                <a:close/>
              </a:path>
            </a:pathLst>
          </a:custGeom>
          <a:solidFill>
            <a:srgbClr val="E7000B"/>
          </a:solidFill>
          <a:ln/>
        </p:spPr>
      </p:sp>
      <p:sp>
        <p:nvSpPr>
          <p:cNvPr id="25" name="Text 23"/>
          <p:cNvSpPr/>
          <p:nvPr/>
        </p:nvSpPr>
        <p:spPr>
          <a:xfrm>
            <a:off x="465753"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Biodiversity Loss</a:t>
            </a:r>
            <a:endParaRPr lang="en-US" sz="1600" dirty="0"/>
          </a:p>
        </p:txBody>
      </p:sp>
      <p:sp>
        <p:nvSpPr>
          <p:cNvPr id="26" name="Shape 24"/>
          <p:cNvSpPr/>
          <p:nvPr/>
        </p:nvSpPr>
        <p:spPr>
          <a:xfrm>
            <a:off x="2157132"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27" name="Shape 25"/>
          <p:cNvSpPr/>
          <p:nvPr/>
        </p:nvSpPr>
        <p:spPr>
          <a:xfrm>
            <a:off x="2899812"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DD4"/>
          </a:solidFill>
          <a:ln/>
        </p:spPr>
      </p:sp>
      <p:sp>
        <p:nvSpPr>
          <p:cNvPr id="28" name="Shape 26"/>
          <p:cNvSpPr/>
          <p:nvPr/>
        </p:nvSpPr>
        <p:spPr>
          <a:xfrm>
            <a:off x="3052315" y="5770385"/>
            <a:ext cx="222572" cy="197842"/>
          </a:xfrm>
          <a:custGeom>
            <a:avLst/>
            <a:gdLst/>
            <a:ahLst/>
            <a:cxnLst/>
            <a:rect l="l" t="t" r="r" b="b"/>
            <a:pathLst>
              <a:path w="222572" h="197842">
                <a:moveTo>
                  <a:pt x="0" y="129834"/>
                </a:moveTo>
                <a:cubicBezTo>
                  <a:pt x="0" y="160553"/>
                  <a:pt x="24923" y="185477"/>
                  <a:pt x="55643" y="185477"/>
                </a:cubicBezTo>
                <a:lnTo>
                  <a:pt x="173112" y="185477"/>
                </a:lnTo>
                <a:cubicBezTo>
                  <a:pt x="200431" y="185477"/>
                  <a:pt x="222572" y="163335"/>
                  <a:pt x="222572" y="136016"/>
                </a:cubicBezTo>
                <a:cubicBezTo>
                  <a:pt x="222572" y="116077"/>
                  <a:pt x="210787" y="98882"/>
                  <a:pt x="193784" y="91077"/>
                </a:cubicBezTo>
                <a:cubicBezTo>
                  <a:pt x="196373" y="86015"/>
                  <a:pt x="197842" y="80257"/>
                  <a:pt x="197842" y="74191"/>
                </a:cubicBezTo>
                <a:cubicBezTo>
                  <a:pt x="197842" y="53711"/>
                  <a:pt x="181226" y="37095"/>
                  <a:pt x="160746" y="37095"/>
                </a:cubicBezTo>
                <a:cubicBezTo>
                  <a:pt x="153907" y="37095"/>
                  <a:pt x="147531" y="38950"/>
                  <a:pt x="142044" y="42157"/>
                </a:cubicBezTo>
                <a:cubicBezTo>
                  <a:pt x="132732" y="24460"/>
                  <a:pt x="114145" y="12365"/>
                  <a:pt x="92738" y="12365"/>
                </a:cubicBezTo>
                <a:cubicBezTo>
                  <a:pt x="62019" y="12365"/>
                  <a:pt x="37095" y="37289"/>
                  <a:pt x="37095" y="68008"/>
                </a:cubicBezTo>
                <a:cubicBezTo>
                  <a:pt x="37095" y="71099"/>
                  <a:pt x="37366" y="74152"/>
                  <a:pt x="37830" y="77089"/>
                </a:cubicBezTo>
                <a:cubicBezTo>
                  <a:pt x="15843" y="84508"/>
                  <a:pt x="0" y="105335"/>
                  <a:pt x="0" y="129834"/>
                </a:cubicBezTo>
                <a:close/>
              </a:path>
            </a:pathLst>
          </a:custGeom>
          <a:solidFill>
            <a:srgbClr val="F54900"/>
          </a:solidFill>
          <a:ln/>
        </p:spPr>
      </p:sp>
      <p:sp>
        <p:nvSpPr>
          <p:cNvPr id="29" name="Text 27"/>
          <p:cNvSpPr/>
          <p:nvPr/>
        </p:nvSpPr>
        <p:spPr>
          <a:xfrm>
            <a:off x="2313757"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Reduced Carbon Storage</a:t>
            </a:r>
            <a:endParaRPr lang="en-US" sz="1600" dirty="0"/>
          </a:p>
        </p:txBody>
      </p:sp>
      <p:sp>
        <p:nvSpPr>
          <p:cNvPr id="30" name="Shape 28"/>
          <p:cNvSpPr/>
          <p:nvPr/>
        </p:nvSpPr>
        <p:spPr>
          <a:xfrm>
            <a:off x="4005201" y="5902280"/>
            <a:ext cx="164868" cy="164868"/>
          </a:xfrm>
          <a:custGeom>
            <a:avLst/>
            <a:gdLst/>
            <a:ahLst/>
            <a:cxnLst/>
            <a:rect l="l" t="t" r="r" b="b"/>
            <a:pathLst>
              <a:path w="164868" h="164868">
                <a:moveTo>
                  <a:pt x="161841" y="89711"/>
                </a:moveTo>
                <a:cubicBezTo>
                  <a:pt x="165866" y="85686"/>
                  <a:pt x="165866" y="79150"/>
                  <a:pt x="161841" y="75124"/>
                </a:cubicBezTo>
                <a:lnTo>
                  <a:pt x="110320" y="23603"/>
                </a:lnTo>
                <a:cubicBezTo>
                  <a:pt x="106295" y="19578"/>
                  <a:pt x="99758" y="19578"/>
                  <a:pt x="95733" y="23603"/>
                </a:cubicBezTo>
                <a:cubicBezTo>
                  <a:pt x="91708" y="27628"/>
                  <a:pt x="91708" y="34165"/>
                  <a:pt x="95733" y="38190"/>
                </a:cubicBezTo>
                <a:lnTo>
                  <a:pt x="129673" y="72130"/>
                </a:lnTo>
                <a:lnTo>
                  <a:pt x="10304" y="72130"/>
                </a:lnTo>
                <a:cubicBezTo>
                  <a:pt x="4605" y="72130"/>
                  <a:pt x="0" y="76735"/>
                  <a:pt x="0" y="82434"/>
                </a:cubicBezTo>
                <a:cubicBezTo>
                  <a:pt x="0" y="88134"/>
                  <a:pt x="4605" y="92738"/>
                  <a:pt x="10304" y="92738"/>
                </a:cubicBezTo>
                <a:lnTo>
                  <a:pt x="129673" y="92738"/>
                </a:lnTo>
                <a:lnTo>
                  <a:pt x="95733" y="126678"/>
                </a:lnTo>
                <a:cubicBezTo>
                  <a:pt x="91708" y="130703"/>
                  <a:pt x="91708" y="137240"/>
                  <a:pt x="95733" y="141265"/>
                </a:cubicBezTo>
                <a:cubicBezTo>
                  <a:pt x="99758" y="145290"/>
                  <a:pt x="106295" y="145290"/>
                  <a:pt x="110320" y="141265"/>
                </a:cubicBezTo>
                <a:lnTo>
                  <a:pt x="161841" y="89744"/>
                </a:lnTo>
                <a:close/>
              </a:path>
            </a:pathLst>
          </a:custGeom>
          <a:solidFill>
            <a:srgbClr val="5F6F6B"/>
          </a:solidFill>
          <a:ln/>
        </p:spPr>
      </p:sp>
      <p:sp>
        <p:nvSpPr>
          <p:cNvPr id="31" name="Shape 29"/>
          <p:cNvSpPr/>
          <p:nvPr/>
        </p:nvSpPr>
        <p:spPr>
          <a:xfrm>
            <a:off x="4747881" y="5605517"/>
            <a:ext cx="527578" cy="527578"/>
          </a:xfrm>
          <a:custGeom>
            <a:avLst/>
            <a:gdLst/>
            <a:ahLst/>
            <a:cxnLst/>
            <a:rect l="l" t="t" r="r" b="b"/>
            <a:pathLst>
              <a:path w="527578" h="527578">
                <a:moveTo>
                  <a:pt x="263789" y="0"/>
                </a:moveTo>
                <a:lnTo>
                  <a:pt x="263789" y="0"/>
                </a:lnTo>
                <a:cubicBezTo>
                  <a:pt x="409378" y="0"/>
                  <a:pt x="527578" y="118200"/>
                  <a:pt x="527578" y="263789"/>
                </a:cubicBezTo>
                <a:lnTo>
                  <a:pt x="527578" y="263789"/>
                </a:lnTo>
                <a:cubicBezTo>
                  <a:pt x="527578" y="409378"/>
                  <a:pt x="409378" y="527578"/>
                  <a:pt x="263789" y="527578"/>
                </a:cubicBezTo>
                <a:lnTo>
                  <a:pt x="263789" y="527578"/>
                </a:lnTo>
                <a:cubicBezTo>
                  <a:pt x="118200" y="527578"/>
                  <a:pt x="0" y="409378"/>
                  <a:pt x="0" y="263789"/>
                </a:cubicBezTo>
                <a:lnTo>
                  <a:pt x="0" y="263789"/>
                </a:lnTo>
                <a:cubicBezTo>
                  <a:pt x="0" y="118200"/>
                  <a:pt x="118200" y="0"/>
                  <a:pt x="263789" y="0"/>
                </a:cubicBezTo>
                <a:close/>
              </a:path>
            </a:pathLst>
          </a:custGeom>
          <a:solidFill>
            <a:srgbClr val="FFE2E2"/>
          </a:solidFill>
          <a:ln/>
        </p:spPr>
      </p:sp>
      <p:sp>
        <p:nvSpPr>
          <p:cNvPr id="32" name="Shape 30"/>
          <p:cNvSpPr/>
          <p:nvPr/>
        </p:nvSpPr>
        <p:spPr>
          <a:xfrm>
            <a:off x="4912749" y="5770385"/>
            <a:ext cx="197842" cy="197842"/>
          </a:xfrm>
          <a:custGeom>
            <a:avLst/>
            <a:gdLst/>
            <a:ahLst/>
            <a:cxnLst/>
            <a:rect l="l" t="t" r="r" b="b"/>
            <a:pathLst>
              <a:path w="197842" h="197842">
                <a:moveTo>
                  <a:pt x="37095" y="37095"/>
                </a:moveTo>
                <a:cubicBezTo>
                  <a:pt x="37095" y="16616"/>
                  <a:pt x="53711" y="0"/>
                  <a:pt x="74191" y="0"/>
                </a:cubicBezTo>
                <a:cubicBezTo>
                  <a:pt x="94670" y="0"/>
                  <a:pt x="111286" y="16616"/>
                  <a:pt x="111286" y="37095"/>
                </a:cubicBezTo>
                <a:lnTo>
                  <a:pt x="111286" y="100737"/>
                </a:lnTo>
                <a:cubicBezTo>
                  <a:pt x="122685" y="110938"/>
                  <a:pt x="129834" y="125738"/>
                  <a:pt x="129834" y="142199"/>
                </a:cubicBezTo>
                <a:cubicBezTo>
                  <a:pt x="129834" y="172918"/>
                  <a:pt x="104910" y="197842"/>
                  <a:pt x="74191" y="197842"/>
                </a:cubicBezTo>
                <a:cubicBezTo>
                  <a:pt x="43471" y="197842"/>
                  <a:pt x="18548" y="172918"/>
                  <a:pt x="18548" y="142199"/>
                </a:cubicBezTo>
                <a:cubicBezTo>
                  <a:pt x="18548" y="125738"/>
                  <a:pt x="25696" y="110900"/>
                  <a:pt x="37095" y="100737"/>
                </a:cubicBezTo>
                <a:lnTo>
                  <a:pt x="37095" y="37095"/>
                </a:lnTo>
                <a:close/>
                <a:moveTo>
                  <a:pt x="74191" y="166929"/>
                </a:moveTo>
                <a:cubicBezTo>
                  <a:pt x="87831" y="166929"/>
                  <a:pt x="98921" y="155839"/>
                  <a:pt x="98921" y="142199"/>
                </a:cubicBezTo>
                <a:cubicBezTo>
                  <a:pt x="98921" y="131804"/>
                  <a:pt x="92545" y="122917"/>
                  <a:pt x="83465" y="119285"/>
                </a:cubicBezTo>
                <a:lnTo>
                  <a:pt x="83465" y="37095"/>
                </a:lnTo>
                <a:cubicBezTo>
                  <a:pt x="83465" y="31956"/>
                  <a:pt x="79330" y="27822"/>
                  <a:pt x="74191" y="27822"/>
                </a:cubicBezTo>
                <a:cubicBezTo>
                  <a:pt x="69051" y="27822"/>
                  <a:pt x="64917" y="31956"/>
                  <a:pt x="64917" y="37095"/>
                </a:cubicBezTo>
                <a:lnTo>
                  <a:pt x="64917" y="119285"/>
                </a:lnTo>
                <a:cubicBezTo>
                  <a:pt x="55836" y="122956"/>
                  <a:pt x="49460" y="131843"/>
                  <a:pt x="49460" y="142199"/>
                </a:cubicBezTo>
                <a:cubicBezTo>
                  <a:pt x="49460" y="155839"/>
                  <a:pt x="60550" y="166929"/>
                  <a:pt x="74191" y="166929"/>
                </a:cubicBezTo>
                <a:close/>
                <a:moveTo>
                  <a:pt x="179294" y="30913"/>
                </a:moveTo>
                <a:cubicBezTo>
                  <a:pt x="179294" y="24088"/>
                  <a:pt x="173753" y="18548"/>
                  <a:pt x="166929" y="18548"/>
                </a:cubicBezTo>
                <a:cubicBezTo>
                  <a:pt x="160105" y="18548"/>
                  <a:pt x="154564" y="24088"/>
                  <a:pt x="154564" y="30913"/>
                </a:cubicBezTo>
                <a:cubicBezTo>
                  <a:pt x="154564" y="37737"/>
                  <a:pt x="160105" y="43278"/>
                  <a:pt x="166929" y="43278"/>
                </a:cubicBezTo>
                <a:cubicBezTo>
                  <a:pt x="173753" y="43278"/>
                  <a:pt x="179294" y="37737"/>
                  <a:pt x="179294" y="30913"/>
                </a:cubicBezTo>
                <a:close/>
                <a:moveTo>
                  <a:pt x="136016" y="30913"/>
                </a:moveTo>
                <a:cubicBezTo>
                  <a:pt x="136016" y="13852"/>
                  <a:pt x="149868" y="0"/>
                  <a:pt x="166929" y="0"/>
                </a:cubicBezTo>
                <a:cubicBezTo>
                  <a:pt x="183990" y="0"/>
                  <a:pt x="197842" y="13852"/>
                  <a:pt x="197842" y="30913"/>
                </a:cubicBezTo>
                <a:cubicBezTo>
                  <a:pt x="197842" y="47974"/>
                  <a:pt x="183990" y="61826"/>
                  <a:pt x="166929" y="61826"/>
                </a:cubicBezTo>
                <a:cubicBezTo>
                  <a:pt x="149868" y="61826"/>
                  <a:pt x="136016" y="47974"/>
                  <a:pt x="136016" y="30913"/>
                </a:cubicBezTo>
                <a:close/>
              </a:path>
            </a:pathLst>
          </a:custGeom>
          <a:solidFill>
            <a:srgbClr val="E7000B"/>
          </a:solidFill>
          <a:ln/>
        </p:spPr>
      </p:sp>
      <p:sp>
        <p:nvSpPr>
          <p:cNvPr id="33" name="Text 31"/>
          <p:cNvSpPr/>
          <p:nvPr/>
        </p:nvSpPr>
        <p:spPr>
          <a:xfrm>
            <a:off x="4161826" y="6199043"/>
            <a:ext cx="1698142" cy="164868"/>
          </a:xfrm>
          <a:prstGeom prst="rect">
            <a:avLst/>
          </a:prstGeom>
          <a:noFill/>
          <a:ln/>
        </p:spPr>
        <p:txBody>
          <a:bodyPr wrap="square" lIns="0" tIns="0" rIns="0" bIns="0" rtlCol="0" anchor="ctr"/>
          <a:lstStyle/>
          <a:p>
            <a:pPr algn="ctr">
              <a:lnSpc>
                <a:spcPct val="120000"/>
              </a:lnSpc>
            </a:pPr>
            <a:r>
              <a:rPr lang="en-US" sz="909" b="1" dirty="0">
                <a:solidFill>
                  <a:srgbClr val="2F3E3B"/>
                </a:solidFill>
                <a:latin typeface="Quattrocento Sans" pitchFamily="34" charset="0"/>
                <a:ea typeface="Quattrocento Sans" pitchFamily="34" charset="-122"/>
                <a:cs typeface="Quattrocento Sans" pitchFamily="34" charset="-120"/>
              </a:rPr>
              <a:t>Climate Change</a:t>
            </a:r>
            <a:endParaRPr lang="en-US" sz="1600" dirty="0"/>
          </a:p>
        </p:txBody>
      </p:sp>
      <p:sp>
        <p:nvSpPr>
          <p:cNvPr id="34" name="Shape 32"/>
          <p:cNvSpPr/>
          <p:nvPr/>
        </p:nvSpPr>
        <p:spPr>
          <a:xfrm>
            <a:off x="6195372" y="1351919"/>
            <a:ext cx="5671465" cy="1912471"/>
          </a:xfrm>
          <a:custGeom>
            <a:avLst/>
            <a:gdLst/>
            <a:ahLst/>
            <a:cxnLst/>
            <a:rect l="l" t="t" r="r" b="b"/>
            <a:pathLst>
              <a:path w="5671465" h="1912471">
                <a:moveTo>
                  <a:pt x="98913" y="0"/>
                </a:moveTo>
                <a:lnTo>
                  <a:pt x="5572552" y="0"/>
                </a:lnTo>
                <a:cubicBezTo>
                  <a:pt x="5627180" y="0"/>
                  <a:pt x="5671465" y="44285"/>
                  <a:pt x="5671465" y="98913"/>
                </a:cubicBezTo>
                <a:lnTo>
                  <a:pt x="5671465" y="1813558"/>
                </a:lnTo>
                <a:cubicBezTo>
                  <a:pt x="5671465" y="1868186"/>
                  <a:pt x="5627180" y="1912471"/>
                  <a:pt x="5572552" y="1912471"/>
                </a:cubicBezTo>
                <a:lnTo>
                  <a:pt x="98913" y="1912471"/>
                </a:lnTo>
                <a:cubicBezTo>
                  <a:pt x="44285" y="1912471"/>
                  <a:pt x="0" y="1868186"/>
                  <a:pt x="0" y="1813558"/>
                </a:cubicBezTo>
                <a:lnTo>
                  <a:pt x="0" y="98913"/>
                </a:lnTo>
                <a:cubicBezTo>
                  <a:pt x="0" y="44285"/>
                  <a:pt x="44285" y="0"/>
                  <a:pt x="98913" y="0"/>
                </a:cubicBezTo>
                <a:close/>
              </a:path>
            </a:pathLst>
          </a:custGeom>
          <a:solidFill>
            <a:srgbClr val="2F3E3B"/>
          </a:solidFill>
          <a:ln/>
        </p:spPr>
      </p:sp>
      <p:sp>
        <p:nvSpPr>
          <p:cNvPr id="35" name="Text 33"/>
          <p:cNvSpPr/>
          <p:nvPr/>
        </p:nvSpPr>
        <p:spPr>
          <a:xfrm>
            <a:off x="6360240" y="1516787"/>
            <a:ext cx="5415919" cy="230815"/>
          </a:xfrm>
          <a:prstGeom prst="rect">
            <a:avLst/>
          </a:prstGeom>
          <a:noFill/>
          <a:ln/>
        </p:spPr>
        <p:txBody>
          <a:bodyPr wrap="square" lIns="0" tIns="0" rIns="0" bIns="0" rtlCol="0" anchor="ctr"/>
          <a:lstStyle/>
          <a:p>
            <a:pPr>
              <a:lnSpc>
                <a:spcPct val="130000"/>
              </a:lnSpc>
            </a:pPr>
            <a:r>
              <a:rPr lang="en-US" sz="1168" b="1" dirty="0">
                <a:solidFill>
                  <a:srgbClr val="FFFFFF"/>
                </a:solidFill>
                <a:latin typeface="Sorts Mill Goudy" pitchFamily="34" charset="0"/>
                <a:ea typeface="Sorts Mill Goudy" pitchFamily="34" charset="-122"/>
                <a:cs typeface="Sorts Mill Goudy" pitchFamily="34" charset="-120"/>
              </a:rPr>
              <a:t>The Mitigation-Conservation Trade-off</a:t>
            </a:r>
            <a:endParaRPr lang="en-US" sz="1600" dirty="0"/>
          </a:p>
        </p:txBody>
      </p:sp>
      <p:sp>
        <p:nvSpPr>
          <p:cNvPr id="36" name="Text 34"/>
          <p:cNvSpPr/>
          <p:nvPr/>
        </p:nvSpPr>
        <p:spPr>
          <a:xfrm>
            <a:off x="6360240" y="1846523"/>
            <a:ext cx="5407675" cy="428657"/>
          </a:xfrm>
          <a:prstGeom prst="rect">
            <a:avLst/>
          </a:prstGeom>
          <a:noFill/>
          <a:ln/>
        </p:spPr>
        <p:txBody>
          <a:bodyPr wrap="square" lIns="0" tIns="0" rIns="0" bIns="0" rtlCol="0" anchor="ctr"/>
          <a:lstStyle/>
          <a:p>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Higher climate change mitigation scenarios (RCP1.9) show </a:t>
            </a:r>
            <a:pPr>
              <a:lnSpc>
                <a:spcPct val="140000"/>
              </a:lnSpc>
            </a:pPr>
            <a:r>
              <a:rPr lang="en-US" sz="1039" b="1" dirty="0">
                <a:solidFill>
                  <a:srgbClr val="FFFFFF"/>
                </a:solidFill>
                <a:latin typeface="Quattrocento Sans" pitchFamily="34" charset="0"/>
                <a:ea typeface="Quattrocento Sans" pitchFamily="34" charset="-122"/>
                <a:cs typeface="Quattrocento Sans" pitchFamily="34" charset="-120"/>
              </a:rPr>
              <a:t>more biodiversity loss</a:t>
            </a:r>
            <a:pPr>
              <a:lnSpc>
                <a:spcPct val="140000"/>
              </a:lnSpc>
            </a:pPr>
            <a:r>
              <a:rPr lang="en-US" sz="1039" dirty="0">
                <a:solidFill>
                  <a:srgbClr val="FFFFFF"/>
                </a:solidFill>
                <a:latin typeface="Quattrocento Sans" pitchFamily="34" charset="0"/>
                <a:ea typeface="Quattrocento Sans" pitchFamily="34" charset="-122"/>
                <a:cs typeface="Quattrocento Sans" pitchFamily="34" charset="-120"/>
              </a:rPr>
              <a:t> than reference scenarios (RCP7.0) due to:</a:t>
            </a:r>
            <a:endParaRPr lang="en-US" sz="1600" dirty="0"/>
          </a:p>
        </p:txBody>
      </p:sp>
      <p:sp>
        <p:nvSpPr>
          <p:cNvPr id="37" name="Shape 35"/>
          <p:cNvSpPr/>
          <p:nvPr/>
        </p:nvSpPr>
        <p:spPr>
          <a:xfrm>
            <a:off x="6376727" y="2407075"/>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38" name="Text 36"/>
          <p:cNvSpPr/>
          <p:nvPr/>
        </p:nvSpPr>
        <p:spPr>
          <a:xfrm>
            <a:off x="6591055" y="2374101"/>
            <a:ext cx="1731116"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Increased bioenergy demand</a:t>
            </a:r>
            <a:endParaRPr lang="en-US" sz="1600" dirty="0"/>
          </a:p>
        </p:txBody>
      </p:sp>
      <p:sp>
        <p:nvSpPr>
          <p:cNvPr id="39" name="Shape 37"/>
          <p:cNvSpPr/>
          <p:nvPr/>
        </p:nvSpPr>
        <p:spPr>
          <a:xfrm>
            <a:off x="6376727" y="2670864"/>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0" name="Text 38"/>
          <p:cNvSpPr/>
          <p:nvPr/>
        </p:nvSpPr>
        <p:spPr>
          <a:xfrm>
            <a:off x="6591055" y="2637890"/>
            <a:ext cx="1797063"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Intensified forest management</a:t>
            </a:r>
            <a:endParaRPr lang="en-US" sz="1600" dirty="0"/>
          </a:p>
        </p:txBody>
      </p:sp>
      <p:sp>
        <p:nvSpPr>
          <p:cNvPr id="41" name="Shape 39"/>
          <p:cNvSpPr/>
          <p:nvPr/>
        </p:nvSpPr>
        <p:spPr>
          <a:xfrm>
            <a:off x="6376727" y="2934653"/>
            <a:ext cx="131895" cy="131895"/>
          </a:xfrm>
          <a:custGeom>
            <a:avLst/>
            <a:gdLst/>
            <a:ahLst/>
            <a:cxnLst/>
            <a:rect l="l" t="t" r="r" b="b"/>
            <a:pathLst>
              <a:path w="131895" h="131895">
                <a:moveTo>
                  <a:pt x="65947" y="0"/>
                </a:moveTo>
                <a:cubicBezTo>
                  <a:pt x="69734" y="0"/>
                  <a:pt x="73212" y="2087"/>
                  <a:pt x="75015" y="5410"/>
                </a:cubicBezTo>
                <a:lnTo>
                  <a:pt x="130658" y="108452"/>
                </a:lnTo>
                <a:cubicBezTo>
                  <a:pt x="132384" y="111647"/>
                  <a:pt x="132307" y="115511"/>
                  <a:pt x="130452" y="118628"/>
                </a:cubicBezTo>
                <a:cubicBezTo>
                  <a:pt x="128597" y="121745"/>
                  <a:pt x="125223" y="123651"/>
                  <a:pt x="121590" y="123651"/>
                </a:cubicBezTo>
                <a:lnTo>
                  <a:pt x="10304" y="123651"/>
                </a:lnTo>
                <a:cubicBezTo>
                  <a:pt x="6672" y="123651"/>
                  <a:pt x="3323" y="121745"/>
                  <a:pt x="1443" y="118628"/>
                </a:cubicBezTo>
                <a:cubicBezTo>
                  <a:pt x="-438" y="115511"/>
                  <a:pt x="-489" y="111647"/>
                  <a:pt x="1237" y="108452"/>
                </a:cubicBezTo>
                <a:lnTo>
                  <a:pt x="56880" y="5410"/>
                </a:lnTo>
                <a:cubicBezTo>
                  <a:pt x="58683" y="2087"/>
                  <a:pt x="62160" y="0"/>
                  <a:pt x="65947" y="0"/>
                </a:cubicBezTo>
                <a:close/>
                <a:moveTo>
                  <a:pt x="65947" y="43278"/>
                </a:moveTo>
                <a:cubicBezTo>
                  <a:pt x="62521" y="43278"/>
                  <a:pt x="59765" y="46034"/>
                  <a:pt x="59765" y="49460"/>
                </a:cubicBezTo>
                <a:lnTo>
                  <a:pt x="59765" y="78312"/>
                </a:lnTo>
                <a:cubicBezTo>
                  <a:pt x="59765" y="81739"/>
                  <a:pt x="62521" y="84495"/>
                  <a:pt x="65947" y="84495"/>
                </a:cubicBezTo>
                <a:cubicBezTo>
                  <a:pt x="69373" y="84495"/>
                  <a:pt x="72130" y="81739"/>
                  <a:pt x="72130" y="78312"/>
                </a:cubicBezTo>
                <a:lnTo>
                  <a:pt x="72130" y="49460"/>
                </a:lnTo>
                <a:cubicBezTo>
                  <a:pt x="72130" y="46034"/>
                  <a:pt x="69373" y="43278"/>
                  <a:pt x="65947" y="43278"/>
                </a:cubicBezTo>
                <a:close/>
                <a:moveTo>
                  <a:pt x="72825" y="98921"/>
                </a:moveTo>
                <a:cubicBezTo>
                  <a:pt x="72982" y="96368"/>
                  <a:pt x="71709" y="93939"/>
                  <a:pt x="69520" y="92615"/>
                </a:cubicBezTo>
                <a:cubicBezTo>
                  <a:pt x="67331" y="91291"/>
                  <a:pt x="64589" y="91291"/>
                  <a:pt x="62400" y="92615"/>
                </a:cubicBezTo>
                <a:cubicBezTo>
                  <a:pt x="60212" y="93939"/>
                  <a:pt x="58938" y="96368"/>
                  <a:pt x="59095" y="98921"/>
                </a:cubicBezTo>
                <a:cubicBezTo>
                  <a:pt x="58938" y="101474"/>
                  <a:pt x="60212" y="103903"/>
                  <a:pt x="62400" y="105227"/>
                </a:cubicBezTo>
                <a:cubicBezTo>
                  <a:pt x="64589" y="106551"/>
                  <a:pt x="67331" y="106551"/>
                  <a:pt x="69520" y="105227"/>
                </a:cubicBezTo>
                <a:cubicBezTo>
                  <a:pt x="71709" y="103903"/>
                  <a:pt x="72982" y="101474"/>
                  <a:pt x="72825" y="98921"/>
                </a:cubicBezTo>
                <a:close/>
              </a:path>
            </a:pathLst>
          </a:custGeom>
          <a:solidFill>
            <a:srgbClr val="8FB7AC"/>
          </a:solidFill>
          <a:ln/>
        </p:spPr>
      </p:sp>
      <p:sp>
        <p:nvSpPr>
          <p:cNvPr id="42" name="Text 40"/>
          <p:cNvSpPr/>
          <p:nvPr/>
        </p:nvSpPr>
        <p:spPr>
          <a:xfrm>
            <a:off x="6591055" y="2901680"/>
            <a:ext cx="1945444" cy="197842"/>
          </a:xfrm>
          <a:prstGeom prst="rect">
            <a:avLst/>
          </a:prstGeom>
          <a:noFill/>
          <a:ln/>
        </p:spPr>
        <p:txBody>
          <a:bodyPr wrap="square" lIns="0" tIns="0" rIns="0" bIns="0" rtlCol="0" anchor="ctr"/>
          <a:lstStyle/>
          <a:p>
            <a:pP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Habitat conversion to plantations</a:t>
            </a:r>
            <a:endParaRPr lang="en-US" sz="1600" dirty="0"/>
          </a:p>
        </p:txBody>
      </p:sp>
      <p:sp>
        <p:nvSpPr>
          <p:cNvPr id="43" name="Shape 41"/>
          <p:cNvSpPr/>
          <p:nvPr/>
        </p:nvSpPr>
        <p:spPr>
          <a:xfrm>
            <a:off x="6195372" y="3396284"/>
            <a:ext cx="5671465" cy="2538970"/>
          </a:xfrm>
          <a:custGeom>
            <a:avLst/>
            <a:gdLst/>
            <a:ahLst/>
            <a:cxnLst/>
            <a:rect l="l" t="t" r="r" b="b"/>
            <a:pathLst>
              <a:path w="5671465" h="2538970">
                <a:moveTo>
                  <a:pt x="98918" y="0"/>
                </a:moveTo>
                <a:lnTo>
                  <a:pt x="5572546" y="0"/>
                </a:lnTo>
                <a:cubicBezTo>
                  <a:pt x="5627177" y="0"/>
                  <a:pt x="5671465" y="44287"/>
                  <a:pt x="5671465" y="98918"/>
                </a:cubicBezTo>
                <a:lnTo>
                  <a:pt x="5671465" y="2440051"/>
                </a:lnTo>
                <a:cubicBezTo>
                  <a:pt x="5671465" y="2494682"/>
                  <a:pt x="5627177" y="2538970"/>
                  <a:pt x="5572546" y="2538970"/>
                </a:cubicBezTo>
                <a:lnTo>
                  <a:pt x="98918" y="2538970"/>
                </a:lnTo>
                <a:cubicBezTo>
                  <a:pt x="44287" y="2538970"/>
                  <a:pt x="0" y="2494682"/>
                  <a:pt x="0" y="2440051"/>
                </a:cubicBezTo>
                <a:lnTo>
                  <a:pt x="0" y="98918"/>
                </a:lnTo>
                <a:cubicBezTo>
                  <a:pt x="0" y="44287"/>
                  <a:pt x="44287" y="0"/>
                  <a:pt x="98918" y="0"/>
                </a:cubicBezTo>
                <a:close/>
              </a:path>
            </a:pathLst>
          </a:custGeom>
          <a:solidFill>
            <a:srgbClr val="FFFFFF"/>
          </a:solidFill>
          <a:ln/>
          <a:effectLst>
            <a:outerShdw sx="100000" sy="100000" kx="0" ky="0" algn="bl" rotWithShape="0" blurRad="24730" dist="8243" dir="5400000">
              <a:srgbClr val="000000">
                <a:alpha val="10196"/>
              </a:srgbClr>
            </a:outerShdw>
          </a:effectLst>
        </p:spPr>
      </p:sp>
      <p:sp>
        <p:nvSpPr>
          <p:cNvPr id="44" name="Text 42"/>
          <p:cNvSpPr/>
          <p:nvPr/>
        </p:nvSpPr>
        <p:spPr>
          <a:xfrm>
            <a:off x="6360240" y="3561152"/>
            <a:ext cx="5415919" cy="230815"/>
          </a:xfrm>
          <a:prstGeom prst="rect">
            <a:avLst/>
          </a:prstGeom>
          <a:noFill/>
          <a:ln/>
        </p:spPr>
        <p:txBody>
          <a:bodyPr wrap="square" lIns="0" tIns="0" rIns="0" bIns="0" rtlCol="0" anchor="ctr"/>
          <a:lstStyle/>
          <a:p>
            <a:pPr>
              <a:lnSpc>
                <a:spcPct val="130000"/>
              </a:lnSpc>
            </a:pPr>
            <a:r>
              <a:rPr lang="en-US" sz="1168" b="1" dirty="0">
                <a:solidFill>
                  <a:srgbClr val="2F3E3B"/>
                </a:solidFill>
                <a:latin typeface="Sorts Mill Goudy" pitchFamily="34" charset="0"/>
                <a:ea typeface="Sorts Mill Goudy" pitchFamily="34" charset="-122"/>
                <a:cs typeface="Sorts Mill Goudy" pitchFamily="34" charset="-120"/>
              </a:rPr>
              <a:t>Solutions</a:t>
            </a:r>
            <a:endParaRPr lang="en-US" sz="1600" dirty="0"/>
          </a:p>
        </p:txBody>
      </p:sp>
      <p:sp>
        <p:nvSpPr>
          <p:cNvPr id="45" name="Shape 43"/>
          <p:cNvSpPr/>
          <p:nvPr/>
        </p:nvSpPr>
        <p:spPr>
          <a:xfrm>
            <a:off x="6360240" y="3890888"/>
            <a:ext cx="5341728" cy="593525"/>
          </a:xfrm>
          <a:custGeom>
            <a:avLst/>
            <a:gdLst/>
            <a:ahLst/>
            <a:cxnLst/>
            <a:rect l="l" t="t" r="r" b="b"/>
            <a:pathLst>
              <a:path w="5341728" h="593525">
                <a:moveTo>
                  <a:pt x="65947" y="0"/>
                </a:moveTo>
                <a:lnTo>
                  <a:pt x="5275782" y="0"/>
                </a:lnTo>
                <a:cubicBezTo>
                  <a:pt x="5312203" y="0"/>
                  <a:pt x="5341728" y="29525"/>
                  <a:pt x="5341728" y="65947"/>
                </a:cubicBezTo>
                <a:lnTo>
                  <a:pt x="5341728" y="527579"/>
                </a:lnTo>
                <a:cubicBezTo>
                  <a:pt x="5341728" y="564000"/>
                  <a:pt x="5312203" y="593525"/>
                  <a:pt x="5275782" y="593525"/>
                </a:cubicBezTo>
                <a:lnTo>
                  <a:pt x="65947" y="593525"/>
                </a:lnTo>
                <a:cubicBezTo>
                  <a:pt x="29525" y="593525"/>
                  <a:pt x="0" y="564000"/>
                  <a:pt x="0" y="527579"/>
                </a:cubicBezTo>
                <a:lnTo>
                  <a:pt x="0" y="65947"/>
                </a:lnTo>
                <a:cubicBezTo>
                  <a:pt x="0" y="29550"/>
                  <a:pt x="29550" y="0"/>
                  <a:pt x="65947" y="0"/>
                </a:cubicBezTo>
                <a:close/>
              </a:path>
            </a:pathLst>
          </a:custGeom>
          <a:solidFill>
            <a:srgbClr val="4C8A7A">
              <a:alpha val="10196"/>
            </a:srgbClr>
          </a:solidFill>
          <a:ln/>
        </p:spPr>
      </p:sp>
      <p:sp>
        <p:nvSpPr>
          <p:cNvPr id="46" name="Text 44"/>
          <p:cNvSpPr/>
          <p:nvPr/>
        </p:nvSpPr>
        <p:spPr>
          <a:xfrm>
            <a:off x="6459161" y="3989809"/>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Biodiversity-Conscious Management</a:t>
            </a:r>
            <a:endParaRPr lang="en-US" sz="1600" dirty="0"/>
          </a:p>
        </p:txBody>
      </p:sp>
      <p:sp>
        <p:nvSpPr>
          <p:cNvPr id="47" name="Text 45"/>
          <p:cNvSpPr/>
          <p:nvPr/>
        </p:nvSpPr>
        <p:spPr>
          <a:xfrm>
            <a:off x="6459161" y="422062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Can reduce global biodiversity loss by 10% with minor economic changes</a:t>
            </a:r>
            <a:endParaRPr lang="en-US" sz="1600" dirty="0"/>
          </a:p>
        </p:txBody>
      </p:sp>
      <p:sp>
        <p:nvSpPr>
          <p:cNvPr id="48" name="Shape 46"/>
          <p:cNvSpPr/>
          <p:nvPr/>
        </p:nvSpPr>
        <p:spPr>
          <a:xfrm>
            <a:off x="6360240" y="4583335"/>
            <a:ext cx="5341728" cy="1187051"/>
          </a:xfrm>
          <a:custGeom>
            <a:avLst/>
            <a:gdLst/>
            <a:ahLst/>
            <a:cxnLst/>
            <a:rect l="l" t="t" r="r" b="b"/>
            <a:pathLst>
              <a:path w="5341728" h="1187051">
                <a:moveTo>
                  <a:pt x="65953" y="0"/>
                </a:moveTo>
                <a:lnTo>
                  <a:pt x="5275776" y="0"/>
                </a:lnTo>
                <a:cubicBezTo>
                  <a:pt x="5312200" y="0"/>
                  <a:pt x="5341728" y="29528"/>
                  <a:pt x="5341728" y="65953"/>
                </a:cubicBezTo>
                <a:lnTo>
                  <a:pt x="5341728" y="1121098"/>
                </a:lnTo>
                <a:cubicBezTo>
                  <a:pt x="5341728" y="1157523"/>
                  <a:pt x="5312200" y="1187051"/>
                  <a:pt x="5275776" y="1187051"/>
                </a:cubicBezTo>
                <a:lnTo>
                  <a:pt x="65953" y="1187051"/>
                </a:lnTo>
                <a:cubicBezTo>
                  <a:pt x="29552" y="1187051"/>
                  <a:pt x="0" y="1157498"/>
                  <a:pt x="0" y="1121098"/>
                </a:cubicBezTo>
                <a:lnTo>
                  <a:pt x="0" y="65953"/>
                </a:lnTo>
                <a:cubicBezTo>
                  <a:pt x="0" y="29528"/>
                  <a:pt x="29528" y="0"/>
                  <a:pt x="65953" y="0"/>
                </a:cubicBezTo>
                <a:close/>
              </a:path>
            </a:pathLst>
          </a:custGeom>
          <a:solidFill>
            <a:srgbClr val="8FB7AC">
              <a:alpha val="10196"/>
            </a:srgbClr>
          </a:solidFill>
          <a:ln/>
        </p:spPr>
      </p:sp>
      <p:sp>
        <p:nvSpPr>
          <p:cNvPr id="49" name="Text 47"/>
          <p:cNvSpPr/>
          <p:nvPr/>
        </p:nvSpPr>
        <p:spPr>
          <a:xfrm>
            <a:off x="6459161" y="4682256"/>
            <a:ext cx="5209834" cy="197842"/>
          </a:xfrm>
          <a:prstGeom prst="rect">
            <a:avLst/>
          </a:prstGeom>
          <a:noFill/>
          <a:ln/>
        </p:spPr>
        <p:txBody>
          <a:bodyPr wrap="square" lIns="0" tIns="0" rIns="0" bIns="0" rtlCol="0" anchor="ctr"/>
          <a:lstStyle/>
          <a:p>
            <a:pPr>
              <a:lnSpc>
                <a:spcPct val="130000"/>
              </a:lnSpc>
            </a:pPr>
            <a:r>
              <a:rPr lang="en-US" sz="1039" b="1" dirty="0">
                <a:solidFill>
                  <a:srgbClr val="2F3E3B"/>
                </a:solidFill>
                <a:latin typeface="Quattrocento Sans" pitchFamily="34" charset="0"/>
                <a:ea typeface="Quattrocento Sans" pitchFamily="34" charset="-122"/>
                <a:cs typeface="Quattrocento Sans" pitchFamily="34" charset="-120"/>
              </a:rPr>
              <a:t>Strategic Approaches</a:t>
            </a:r>
            <a:endParaRPr lang="en-US" sz="1600" dirty="0"/>
          </a:p>
        </p:txBody>
      </p:sp>
      <p:sp>
        <p:nvSpPr>
          <p:cNvPr id="50" name="Text 48"/>
          <p:cNvSpPr/>
          <p:nvPr/>
        </p:nvSpPr>
        <p:spPr>
          <a:xfrm>
            <a:off x="6459161" y="4913071"/>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Shift bioenergy production to energy crops</a:t>
            </a:r>
            <a:endParaRPr lang="en-US" sz="1600" dirty="0"/>
          </a:p>
        </p:txBody>
      </p:sp>
      <p:sp>
        <p:nvSpPr>
          <p:cNvPr id="51" name="Text 49"/>
          <p:cNvSpPr/>
          <p:nvPr/>
        </p:nvSpPr>
        <p:spPr>
          <a:xfrm>
            <a:off x="6459161" y="5110913"/>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Increase unmanaged secondary forest areas</a:t>
            </a:r>
            <a:endParaRPr lang="en-US" sz="1600" dirty="0"/>
          </a:p>
        </p:txBody>
      </p:sp>
      <p:sp>
        <p:nvSpPr>
          <p:cNvPr id="52" name="Text 50"/>
          <p:cNvSpPr/>
          <p:nvPr/>
        </p:nvSpPr>
        <p:spPr>
          <a:xfrm>
            <a:off x="6459161" y="5308755"/>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Reduce management intensity</a:t>
            </a:r>
            <a:endParaRPr lang="en-US" sz="1600" dirty="0"/>
          </a:p>
        </p:txBody>
      </p:sp>
      <p:sp>
        <p:nvSpPr>
          <p:cNvPr id="53" name="Text 51"/>
          <p:cNvSpPr/>
          <p:nvPr/>
        </p:nvSpPr>
        <p:spPr>
          <a:xfrm>
            <a:off x="6459161" y="5506596"/>
            <a:ext cx="5201590" cy="164868"/>
          </a:xfrm>
          <a:prstGeom prst="rect">
            <a:avLst/>
          </a:prstGeom>
          <a:noFill/>
          <a:ln/>
        </p:spPr>
        <p:txBody>
          <a:bodyPr wrap="square" lIns="0" tIns="0" rIns="0" bIns="0" rtlCol="0" anchor="ctr"/>
          <a:lstStyle/>
          <a:p>
            <a:pPr>
              <a:lnSpc>
                <a:spcPct val="120000"/>
              </a:lnSpc>
            </a:pPr>
            <a:r>
              <a:rPr lang="en-US" sz="909" dirty="0">
                <a:solidFill>
                  <a:srgbClr val="5F6F6B"/>
                </a:solidFill>
                <a:latin typeface="Quattrocento Sans" pitchFamily="34" charset="0"/>
                <a:ea typeface="Quattrocento Sans" pitchFamily="34" charset="-122"/>
                <a:cs typeface="Quattrocento Sans" pitchFamily="34" charset="-120"/>
              </a:rPr>
              <a:t>• Reallocate biomass production regionally</a:t>
            </a:r>
            <a:endParaRPr lang="en-US" sz="1600" dirty="0"/>
          </a:p>
        </p:txBody>
      </p:sp>
      <p:sp>
        <p:nvSpPr>
          <p:cNvPr id="54" name="Shape 52"/>
          <p:cNvSpPr/>
          <p:nvPr/>
        </p:nvSpPr>
        <p:spPr>
          <a:xfrm>
            <a:off x="6195372" y="6067148"/>
            <a:ext cx="5671465" cy="791367"/>
          </a:xfrm>
          <a:custGeom>
            <a:avLst/>
            <a:gdLst/>
            <a:ahLst/>
            <a:cxnLst/>
            <a:rect l="l" t="t" r="r" b="b"/>
            <a:pathLst>
              <a:path w="5671465" h="791367">
                <a:moveTo>
                  <a:pt x="98921" y="0"/>
                </a:moveTo>
                <a:lnTo>
                  <a:pt x="5572544" y="0"/>
                </a:lnTo>
                <a:cubicBezTo>
                  <a:pt x="5627176" y="0"/>
                  <a:pt x="5671465" y="44288"/>
                  <a:pt x="5671465" y="98921"/>
                </a:cubicBezTo>
                <a:lnTo>
                  <a:pt x="5671465" y="692446"/>
                </a:lnTo>
                <a:cubicBezTo>
                  <a:pt x="5671465" y="747079"/>
                  <a:pt x="5627176" y="791367"/>
                  <a:pt x="5572544" y="791367"/>
                </a:cubicBezTo>
                <a:lnTo>
                  <a:pt x="98921" y="791367"/>
                </a:lnTo>
                <a:cubicBezTo>
                  <a:pt x="44288" y="791367"/>
                  <a:pt x="0" y="747079"/>
                  <a:pt x="0" y="692446"/>
                </a:cubicBezTo>
                <a:lnTo>
                  <a:pt x="0" y="98921"/>
                </a:lnTo>
                <a:cubicBezTo>
                  <a:pt x="0" y="44325"/>
                  <a:pt x="44325" y="0"/>
                  <a:pt x="98921" y="0"/>
                </a:cubicBezTo>
                <a:close/>
              </a:path>
            </a:pathLst>
          </a:custGeom>
          <a:solidFill>
            <a:srgbClr val="4C8A7A"/>
          </a:solidFill>
          <a:ln/>
        </p:spPr>
      </p:sp>
      <p:sp>
        <p:nvSpPr>
          <p:cNvPr id="55" name="Text 53"/>
          <p:cNvSpPr/>
          <p:nvPr/>
        </p:nvSpPr>
        <p:spPr>
          <a:xfrm>
            <a:off x="6265441" y="6199043"/>
            <a:ext cx="5531327" cy="296763"/>
          </a:xfrm>
          <a:prstGeom prst="rect">
            <a:avLst/>
          </a:prstGeom>
          <a:noFill/>
          <a:ln/>
        </p:spPr>
        <p:txBody>
          <a:bodyPr wrap="square" lIns="0" tIns="0" rIns="0" bIns="0" rtlCol="0" anchor="ctr"/>
          <a:lstStyle/>
          <a:p>
            <a:pPr algn="ctr">
              <a:lnSpc>
                <a:spcPct val="100000"/>
              </a:lnSpc>
            </a:pPr>
            <a:r>
              <a:rPr lang="en-US" sz="1947" b="1" dirty="0">
                <a:solidFill>
                  <a:srgbClr val="FFFFFF"/>
                </a:solidFill>
                <a:latin typeface="Sorts Mill Goudy" pitchFamily="34" charset="0"/>
                <a:ea typeface="Sorts Mill Goudy" pitchFamily="34" charset="-122"/>
                <a:cs typeface="Sorts Mill Goudy" pitchFamily="34" charset="-120"/>
              </a:rPr>
              <a:t>Integrated Solutions</a:t>
            </a:r>
            <a:endParaRPr lang="en-US" sz="1600" dirty="0"/>
          </a:p>
        </p:txBody>
      </p:sp>
      <p:sp>
        <p:nvSpPr>
          <p:cNvPr id="56" name="Text 54"/>
          <p:cNvSpPr/>
          <p:nvPr/>
        </p:nvSpPr>
        <p:spPr>
          <a:xfrm>
            <a:off x="6294293" y="6528779"/>
            <a:ext cx="5473623" cy="197842"/>
          </a:xfrm>
          <a:prstGeom prst="rect">
            <a:avLst/>
          </a:prstGeom>
          <a:noFill/>
          <a:ln/>
        </p:spPr>
        <p:txBody>
          <a:bodyPr wrap="square" lIns="0" tIns="0" rIns="0" bIns="0" rtlCol="0" anchor="ctr"/>
          <a:lstStyle/>
          <a:p>
            <a:pPr algn="ctr">
              <a:lnSpc>
                <a:spcPct val="130000"/>
              </a:lnSpc>
            </a:pPr>
            <a:r>
              <a:rPr lang="en-US" sz="1039" dirty="0">
                <a:solidFill>
                  <a:srgbClr val="FFFFFF"/>
                </a:solidFill>
                <a:latin typeface="Quattrocento Sans" pitchFamily="34" charset="0"/>
                <a:ea typeface="Quattrocento Sans" pitchFamily="34" charset="-122"/>
                <a:cs typeface="Quattrocento Sans" pitchFamily="34" charset="-120"/>
              </a:rPr>
              <a:t>Address biodiversity and climate together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6"/>
        </a:solidFill>
      </p:bgPr>
    </p:bg>
    <p:spTree>
      <p:nvGrpSpPr>
        <p:cNvPr id="1" name=""/>
        <p:cNvGrpSpPr/>
        <p:nvPr/>
      </p:nvGrpSpPr>
      <p:grpSpPr>
        <a:xfrm>
          <a:off x="0" y="0"/>
          <a:ext cx="0" cy="0"/>
          <a:chOff x="0" y="0"/>
          <a:chExt cx="0" cy="0"/>
        </a:xfrm>
      </p:grpSpPr>
      <p:sp>
        <p:nvSpPr>
          <p:cNvPr id="2" name="Text 0"/>
          <p:cNvSpPr/>
          <p:nvPr/>
        </p:nvSpPr>
        <p:spPr>
          <a:xfrm>
            <a:off x="318954" y="318954"/>
            <a:ext cx="11609910" cy="159477"/>
          </a:xfrm>
          <a:prstGeom prst="rect">
            <a:avLst/>
          </a:prstGeom>
          <a:noFill/>
          <a:ln/>
        </p:spPr>
        <p:txBody>
          <a:bodyPr wrap="square" lIns="0" tIns="0" rIns="0" bIns="0" rtlCol="0" anchor="ctr"/>
          <a:lstStyle/>
          <a:p>
            <a:pPr>
              <a:lnSpc>
                <a:spcPct val="120000"/>
              </a:lnSpc>
            </a:pPr>
            <a:r>
              <a:rPr lang="en-US" sz="879" b="1" spc="88" kern="0" dirty="0">
                <a:solidFill>
                  <a:srgbClr val="2F3E3B"/>
                </a:solidFill>
                <a:latin typeface="Quattrocento Sans" pitchFamily="34" charset="0"/>
                <a:ea typeface="Quattrocento Sans" pitchFamily="34" charset="-122"/>
                <a:cs typeface="Quattrocento Sans" pitchFamily="34" charset="-120"/>
              </a:rPr>
              <a:t>08 • Conservation Implications</a:t>
            </a:r>
            <a:endParaRPr lang="en-US" sz="1600" dirty="0"/>
          </a:p>
        </p:txBody>
      </p:sp>
      <p:sp>
        <p:nvSpPr>
          <p:cNvPr id="3" name="Text 1"/>
          <p:cNvSpPr/>
          <p:nvPr/>
        </p:nvSpPr>
        <p:spPr>
          <a:xfrm>
            <a:off x="318954" y="542221"/>
            <a:ext cx="11697622" cy="318954"/>
          </a:xfrm>
          <a:prstGeom prst="rect">
            <a:avLst/>
          </a:prstGeom>
          <a:noFill/>
          <a:ln/>
        </p:spPr>
        <p:txBody>
          <a:bodyPr wrap="square" lIns="0" tIns="0" rIns="0" bIns="0" rtlCol="0" anchor="ctr"/>
          <a:lstStyle/>
          <a:p>
            <a:pPr>
              <a:lnSpc>
                <a:spcPct val="90000"/>
              </a:lnSpc>
            </a:pPr>
            <a:r>
              <a:rPr lang="en-US" sz="2260" b="1" dirty="0">
                <a:solidFill>
                  <a:srgbClr val="2F3E3B"/>
                </a:solidFill>
                <a:latin typeface="Sorts Mill Goudy" pitchFamily="34" charset="0"/>
                <a:ea typeface="Sorts Mill Goudy" pitchFamily="34" charset="-122"/>
                <a:cs typeface="Sorts Mill Goudy" pitchFamily="34" charset="-120"/>
              </a:rPr>
              <a:t>Conservation Strategies &amp; Management</a:t>
            </a:r>
            <a:endParaRPr lang="en-US" sz="1600" dirty="0"/>
          </a:p>
        </p:txBody>
      </p:sp>
      <p:sp>
        <p:nvSpPr>
          <p:cNvPr id="4" name="Text 2"/>
          <p:cNvSpPr/>
          <p:nvPr/>
        </p:nvSpPr>
        <p:spPr>
          <a:xfrm>
            <a:off x="318954" y="924965"/>
            <a:ext cx="11625857" cy="223267"/>
          </a:xfrm>
          <a:prstGeom prst="rect">
            <a:avLst/>
          </a:prstGeom>
          <a:noFill/>
          <a:ln/>
        </p:spPr>
        <p:txBody>
          <a:bodyPr wrap="square" lIns="0" tIns="0" rIns="0" bIns="0" rtlCol="0" anchor="ctr"/>
          <a:lstStyle/>
          <a:p>
            <a:pPr>
              <a:lnSpc>
                <a:spcPct val="130000"/>
              </a:lnSpc>
            </a:pPr>
            <a:r>
              <a:rPr lang="en-US" sz="1130" dirty="0">
                <a:solidFill>
                  <a:srgbClr val="5F6F6B"/>
                </a:solidFill>
                <a:latin typeface="Quattrocento Sans" pitchFamily="34" charset="0"/>
                <a:ea typeface="Quattrocento Sans" pitchFamily="34" charset="-122"/>
                <a:cs typeface="Quattrocento Sans" pitchFamily="34" charset="-120"/>
              </a:rPr>
              <a:t>Translating ecological mechanisms into practical approaches</a:t>
            </a:r>
            <a:endParaRPr lang="en-US" sz="1600" dirty="0"/>
          </a:p>
        </p:txBody>
      </p:sp>
      <p:sp>
        <p:nvSpPr>
          <p:cNvPr id="5" name="Shape 3"/>
          <p:cNvSpPr/>
          <p:nvPr/>
        </p:nvSpPr>
        <p:spPr>
          <a:xfrm>
            <a:off x="318954" y="1307710"/>
            <a:ext cx="7646912" cy="2424047"/>
          </a:xfrm>
          <a:custGeom>
            <a:avLst/>
            <a:gdLst/>
            <a:ahLst/>
            <a:cxnLst/>
            <a:rect l="l" t="t" r="r" b="b"/>
            <a:pathLst>
              <a:path w="7646912" h="2424047">
                <a:moveTo>
                  <a:pt x="95677" y="0"/>
                </a:moveTo>
                <a:lnTo>
                  <a:pt x="7551235" y="0"/>
                </a:lnTo>
                <a:cubicBezTo>
                  <a:pt x="7604040" y="0"/>
                  <a:pt x="7646912" y="42871"/>
                  <a:pt x="7646912" y="95677"/>
                </a:cubicBezTo>
                <a:lnTo>
                  <a:pt x="7646912" y="2328370"/>
                </a:lnTo>
                <a:cubicBezTo>
                  <a:pt x="7646912" y="2381176"/>
                  <a:pt x="7604040" y="2424047"/>
                  <a:pt x="7551235" y="2424047"/>
                </a:cubicBezTo>
                <a:lnTo>
                  <a:pt x="95677" y="2424047"/>
                </a:lnTo>
                <a:cubicBezTo>
                  <a:pt x="42871" y="2424047"/>
                  <a:pt x="0" y="2381176"/>
                  <a:pt x="0" y="2328370"/>
                </a:cubicBezTo>
                <a:lnTo>
                  <a:pt x="0" y="95677"/>
                </a:lnTo>
                <a:cubicBezTo>
                  <a:pt x="0" y="42871"/>
                  <a:pt x="42871" y="0"/>
                  <a:pt x="95677"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6" name="Text 4"/>
          <p:cNvSpPr/>
          <p:nvPr/>
        </p:nvSpPr>
        <p:spPr>
          <a:xfrm>
            <a:off x="478430" y="1467186"/>
            <a:ext cx="7407697" cy="223267"/>
          </a:xfrm>
          <a:prstGeom prst="rect">
            <a:avLst/>
          </a:prstGeom>
          <a:noFill/>
          <a:ln/>
        </p:spPr>
        <p:txBody>
          <a:bodyPr wrap="square" lIns="0" tIns="0" rIns="0" bIns="0" rtlCol="0" anchor="ctr"/>
          <a:lstStyle/>
          <a:p>
            <a:pPr>
              <a:lnSpc>
                <a:spcPct val="120000"/>
              </a:lnSpc>
            </a:pPr>
            <a:r>
              <a:rPr lang="en-US" sz="1256" b="1" dirty="0">
                <a:solidFill>
                  <a:srgbClr val="2F3E3B"/>
                </a:solidFill>
                <a:latin typeface="Sorts Mill Goudy" pitchFamily="34" charset="0"/>
                <a:ea typeface="Sorts Mill Goudy" pitchFamily="34" charset="-122"/>
                <a:cs typeface="Sorts Mill Goudy" pitchFamily="34" charset="-120"/>
              </a:rPr>
              <a:t>Ecosystem-Based Management Strategies</a:t>
            </a:r>
            <a:endParaRPr lang="en-US" sz="1600" dirty="0"/>
          </a:p>
        </p:txBody>
      </p:sp>
      <p:sp>
        <p:nvSpPr>
          <p:cNvPr id="7" name="Text 5"/>
          <p:cNvSpPr/>
          <p:nvPr/>
        </p:nvSpPr>
        <p:spPr>
          <a:xfrm>
            <a:off x="478430" y="1786140"/>
            <a:ext cx="7391749" cy="414640"/>
          </a:xfrm>
          <a:prstGeom prst="rect">
            <a:avLst/>
          </a:prstGeom>
          <a:noFill/>
          <a:ln/>
        </p:spPr>
        <p:txBody>
          <a:bodyPr wrap="square" lIns="0" tIns="0" rIns="0" bIns="0" rtlCol="0" anchor="ctr"/>
          <a:lstStyle/>
          <a:p>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Effective forest conservation requires </a:t>
            </a:r>
            <a:pPr>
              <a:lnSpc>
                <a:spcPct val="140000"/>
              </a:lnSpc>
            </a:pPr>
            <a:r>
              <a:rPr lang="en-US" sz="1005" dirty="0">
                <a:solidFill>
                  <a:srgbClr val="2F3E3B"/>
                </a:solidFill>
                <a:highlight>
                  <a:srgbClr val="8FB7AC">
                    <a:alpha val="20000"/>
                  </a:srgbClr>
                </a:highlight>
                <a:latin typeface="Quattrocento Sans" pitchFamily="34" charset="0"/>
                <a:ea typeface="Quattrocento Sans" pitchFamily="34" charset="-122"/>
                <a:cs typeface="Quattrocento Sans" pitchFamily="34" charset="-120"/>
              </a:rPr>
              <a:t>management approaches that maintain the ecological mechanisms sustaining biodiversity </a:t>
            </a:r>
            <a:pPr>
              <a:lnSpc>
                <a:spcPct val="140000"/>
              </a:lnSpc>
            </a:pPr>
            <a:r>
              <a:rPr lang="en-US" sz="1005" dirty="0">
                <a:solidFill>
                  <a:srgbClr val="1F2A28"/>
                </a:solidFill>
                <a:latin typeface="Quattrocento Sans" pitchFamily="34" charset="0"/>
                <a:ea typeface="Quattrocento Sans" pitchFamily="34" charset="-122"/>
                <a:cs typeface="Quattrocento Sans" pitchFamily="34" charset="-120"/>
              </a:rPr>
              <a:t>. Close-to-nature forestry and retention forestry aim to preserve structural complexity and natural processes.</a:t>
            </a:r>
            <a:endParaRPr lang="en-US" sz="1600" dirty="0"/>
          </a:p>
        </p:txBody>
      </p:sp>
      <p:sp>
        <p:nvSpPr>
          <p:cNvPr id="8" name="Shape 6"/>
          <p:cNvSpPr/>
          <p:nvPr/>
        </p:nvSpPr>
        <p:spPr>
          <a:xfrm>
            <a:off x="478430"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4C8A7A">
              <a:alpha val="10196"/>
            </a:srgbClr>
          </a:solidFill>
          <a:ln/>
        </p:spPr>
      </p:sp>
      <p:sp>
        <p:nvSpPr>
          <p:cNvPr id="9" name="Shape 7"/>
          <p:cNvSpPr/>
          <p:nvPr/>
        </p:nvSpPr>
        <p:spPr>
          <a:xfrm>
            <a:off x="629933" y="2487838"/>
            <a:ext cx="111634" cy="127581"/>
          </a:xfrm>
          <a:custGeom>
            <a:avLst/>
            <a:gdLst/>
            <a:ahLst/>
            <a:cxnLst/>
            <a:rect l="l" t="t" r="r" b="b"/>
            <a:pathLst>
              <a:path w="111634" h="127581">
                <a:moveTo>
                  <a:pt x="55817" y="-7974"/>
                </a:moveTo>
                <a:cubicBezTo>
                  <a:pt x="57561" y="-7974"/>
                  <a:pt x="59231" y="-7201"/>
                  <a:pt x="60377" y="-5856"/>
                </a:cubicBezTo>
                <a:lnTo>
                  <a:pt x="94266" y="34013"/>
                </a:lnTo>
                <a:cubicBezTo>
                  <a:pt x="95786" y="35783"/>
                  <a:pt x="96110" y="38274"/>
                  <a:pt x="95138" y="40392"/>
                </a:cubicBezTo>
                <a:cubicBezTo>
                  <a:pt x="94166" y="42511"/>
                  <a:pt x="92048" y="43856"/>
                  <a:pt x="89706" y="43856"/>
                </a:cubicBezTo>
                <a:lnTo>
                  <a:pt x="83501" y="43856"/>
                </a:lnTo>
                <a:lnTo>
                  <a:pt x="102240" y="65909"/>
                </a:lnTo>
                <a:cubicBezTo>
                  <a:pt x="103760" y="67678"/>
                  <a:pt x="104084" y="70170"/>
                  <a:pt x="103112" y="72288"/>
                </a:cubicBezTo>
                <a:cubicBezTo>
                  <a:pt x="102140" y="74406"/>
                  <a:pt x="100022" y="75751"/>
                  <a:pt x="97680" y="75751"/>
                </a:cubicBezTo>
                <a:lnTo>
                  <a:pt x="88086" y="75751"/>
                </a:lnTo>
                <a:lnTo>
                  <a:pt x="110213" y="101791"/>
                </a:lnTo>
                <a:cubicBezTo>
                  <a:pt x="111733" y="103560"/>
                  <a:pt x="112057" y="106052"/>
                  <a:pt x="111086" y="108170"/>
                </a:cubicBezTo>
                <a:cubicBezTo>
                  <a:pt x="110114" y="110288"/>
                  <a:pt x="107996" y="111634"/>
                  <a:pt x="105653" y="111634"/>
                </a:cubicBezTo>
                <a:lnTo>
                  <a:pt x="63791" y="111634"/>
                </a:lnTo>
                <a:lnTo>
                  <a:pt x="63791" y="127581"/>
                </a:lnTo>
                <a:cubicBezTo>
                  <a:pt x="63791" y="131992"/>
                  <a:pt x="60227" y="135555"/>
                  <a:pt x="55817" y="135555"/>
                </a:cubicBezTo>
                <a:cubicBezTo>
                  <a:pt x="51406" y="135555"/>
                  <a:pt x="47843" y="131992"/>
                  <a:pt x="47843" y="127581"/>
                </a:cubicBezTo>
                <a:lnTo>
                  <a:pt x="47843" y="111634"/>
                </a:lnTo>
                <a:lnTo>
                  <a:pt x="5980" y="111634"/>
                </a:lnTo>
                <a:cubicBezTo>
                  <a:pt x="3638" y="111634"/>
                  <a:pt x="1520" y="110288"/>
                  <a:pt x="548" y="108170"/>
                </a:cubicBezTo>
                <a:cubicBezTo>
                  <a:pt x="-424" y="106052"/>
                  <a:pt x="-100" y="103560"/>
                  <a:pt x="1420" y="101791"/>
                </a:cubicBezTo>
                <a:lnTo>
                  <a:pt x="23548" y="75751"/>
                </a:lnTo>
                <a:lnTo>
                  <a:pt x="13954" y="75751"/>
                </a:lnTo>
                <a:cubicBezTo>
                  <a:pt x="11612" y="75751"/>
                  <a:pt x="9494" y="74406"/>
                  <a:pt x="8522" y="72288"/>
                </a:cubicBezTo>
                <a:cubicBezTo>
                  <a:pt x="7550" y="70170"/>
                  <a:pt x="7874" y="67678"/>
                  <a:pt x="9394" y="65909"/>
                </a:cubicBezTo>
                <a:lnTo>
                  <a:pt x="28133" y="43856"/>
                </a:lnTo>
                <a:lnTo>
                  <a:pt x="21928" y="43856"/>
                </a:lnTo>
                <a:cubicBezTo>
                  <a:pt x="19586" y="43856"/>
                  <a:pt x="17468" y="42511"/>
                  <a:pt x="16496" y="40392"/>
                </a:cubicBezTo>
                <a:cubicBezTo>
                  <a:pt x="15524" y="38274"/>
                  <a:pt x="15848" y="35783"/>
                  <a:pt x="17368" y="34013"/>
                </a:cubicBezTo>
                <a:lnTo>
                  <a:pt x="51257" y="-5856"/>
                </a:lnTo>
                <a:cubicBezTo>
                  <a:pt x="52403" y="-7201"/>
                  <a:pt x="54073" y="-7974"/>
                  <a:pt x="55817" y="-7974"/>
                </a:cubicBezTo>
                <a:close/>
              </a:path>
            </a:pathLst>
          </a:custGeom>
          <a:solidFill>
            <a:srgbClr val="4C8A7A"/>
          </a:solidFill>
          <a:ln/>
        </p:spPr>
      </p:sp>
      <p:sp>
        <p:nvSpPr>
          <p:cNvPr id="10" name="Text 8"/>
          <p:cNvSpPr/>
          <p:nvPr/>
        </p:nvSpPr>
        <p:spPr>
          <a:xfrm>
            <a:off x="765489"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Structural Complexity</a:t>
            </a:r>
            <a:endParaRPr lang="en-US" sz="1600" dirty="0"/>
          </a:p>
        </p:txBody>
      </p:sp>
      <p:sp>
        <p:nvSpPr>
          <p:cNvPr id="11" name="Text 9"/>
          <p:cNvSpPr/>
          <p:nvPr/>
        </p:nvSpPr>
        <p:spPr>
          <a:xfrm>
            <a:off x="606012"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vertical layering</a:t>
            </a:r>
            <a:endParaRPr lang="en-US" sz="1600" dirty="0"/>
          </a:p>
        </p:txBody>
      </p:sp>
      <p:sp>
        <p:nvSpPr>
          <p:cNvPr id="12" name="Text 10"/>
          <p:cNvSpPr/>
          <p:nvPr/>
        </p:nvSpPr>
        <p:spPr>
          <a:xfrm>
            <a:off x="606012"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Retain dead wood and snags</a:t>
            </a:r>
            <a:endParaRPr lang="en-US" sz="1600" dirty="0"/>
          </a:p>
        </p:txBody>
      </p:sp>
      <p:sp>
        <p:nvSpPr>
          <p:cNvPr id="13" name="Text 11"/>
          <p:cNvSpPr/>
          <p:nvPr/>
        </p:nvSpPr>
        <p:spPr>
          <a:xfrm>
            <a:off x="606012"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Preserve veteran trees</a:t>
            </a:r>
            <a:endParaRPr lang="en-US" sz="1600" dirty="0"/>
          </a:p>
        </p:txBody>
      </p:sp>
      <p:sp>
        <p:nvSpPr>
          <p:cNvPr id="14" name="Text 12"/>
          <p:cNvSpPr/>
          <p:nvPr/>
        </p:nvSpPr>
        <p:spPr>
          <a:xfrm>
            <a:off x="606012"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Create canopy gaps</a:t>
            </a:r>
            <a:endParaRPr lang="en-US" sz="1600" dirty="0"/>
          </a:p>
        </p:txBody>
      </p:sp>
      <p:sp>
        <p:nvSpPr>
          <p:cNvPr id="15" name="Shape 13"/>
          <p:cNvSpPr/>
          <p:nvPr/>
        </p:nvSpPr>
        <p:spPr>
          <a:xfrm>
            <a:off x="4207197" y="2328361"/>
            <a:ext cx="3604175" cy="1243919"/>
          </a:xfrm>
          <a:custGeom>
            <a:avLst/>
            <a:gdLst/>
            <a:ahLst/>
            <a:cxnLst/>
            <a:rect l="l" t="t" r="r" b="b"/>
            <a:pathLst>
              <a:path w="3604175" h="1243919">
                <a:moveTo>
                  <a:pt x="63788" y="0"/>
                </a:moveTo>
                <a:lnTo>
                  <a:pt x="3540387" y="0"/>
                </a:lnTo>
                <a:cubicBezTo>
                  <a:pt x="3575616" y="0"/>
                  <a:pt x="3604175" y="28559"/>
                  <a:pt x="3604175" y="63788"/>
                </a:cubicBezTo>
                <a:lnTo>
                  <a:pt x="3604175" y="1180131"/>
                </a:lnTo>
                <a:cubicBezTo>
                  <a:pt x="3604175" y="1215360"/>
                  <a:pt x="3575616" y="1243919"/>
                  <a:pt x="3540387" y="1243919"/>
                </a:cubicBezTo>
                <a:lnTo>
                  <a:pt x="63788" y="1243919"/>
                </a:lnTo>
                <a:cubicBezTo>
                  <a:pt x="28559" y="1243919"/>
                  <a:pt x="0" y="1215360"/>
                  <a:pt x="0" y="1180131"/>
                </a:cubicBezTo>
                <a:lnTo>
                  <a:pt x="0" y="63788"/>
                </a:lnTo>
                <a:cubicBezTo>
                  <a:pt x="0" y="28583"/>
                  <a:pt x="28583" y="0"/>
                  <a:pt x="63788" y="0"/>
                </a:cubicBezTo>
                <a:close/>
              </a:path>
            </a:pathLst>
          </a:custGeom>
          <a:solidFill>
            <a:srgbClr val="8FB7AC">
              <a:alpha val="10196"/>
            </a:srgbClr>
          </a:solidFill>
          <a:ln/>
        </p:spPr>
      </p:sp>
      <p:sp>
        <p:nvSpPr>
          <p:cNvPr id="16" name="Shape 14"/>
          <p:cNvSpPr/>
          <p:nvPr/>
        </p:nvSpPr>
        <p:spPr>
          <a:xfrm>
            <a:off x="4350726" y="2487838"/>
            <a:ext cx="127581" cy="127581"/>
          </a:xfrm>
          <a:custGeom>
            <a:avLst/>
            <a:gdLst/>
            <a:ahLst/>
            <a:cxnLst/>
            <a:rect l="l" t="t" r="r" b="b"/>
            <a:pathLst>
              <a:path w="127581" h="127581">
                <a:moveTo>
                  <a:pt x="127581" y="7974"/>
                </a:moveTo>
                <a:cubicBezTo>
                  <a:pt x="127581" y="34910"/>
                  <a:pt x="108494" y="57387"/>
                  <a:pt x="83127" y="62644"/>
                </a:cubicBezTo>
                <a:cubicBezTo>
                  <a:pt x="81159" y="48167"/>
                  <a:pt x="74655" y="35135"/>
                  <a:pt x="65062" y="25043"/>
                </a:cubicBezTo>
                <a:cubicBezTo>
                  <a:pt x="75054" y="9967"/>
                  <a:pt x="92173" y="0"/>
                  <a:pt x="111634" y="0"/>
                </a:cubicBezTo>
                <a:lnTo>
                  <a:pt x="119608" y="0"/>
                </a:lnTo>
                <a:cubicBezTo>
                  <a:pt x="124018" y="0"/>
                  <a:pt x="127581" y="3563"/>
                  <a:pt x="127581" y="7974"/>
                </a:cubicBezTo>
                <a:close/>
                <a:moveTo>
                  <a:pt x="0" y="23922"/>
                </a:moveTo>
                <a:cubicBezTo>
                  <a:pt x="0" y="19511"/>
                  <a:pt x="3563" y="15948"/>
                  <a:pt x="7974" y="15948"/>
                </a:cubicBezTo>
                <a:lnTo>
                  <a:pt x="15948" y="15948"/>
                </a:lnTo>
                <a:cubicBezTo>
                  <a:pt x="46772" y="15948"/>
                  <a:pt x="71765" y="40941"/>
                  <a:pt x="71765" y="71765"/>
                </a:cubicBezTo>
                <a:lnTo>
                  <a:pt x="71765" y="119608"/>
                </a:lnTo>
                <a:cubicBezTo>
                  <a:pt x="71765" y="124018"/>
                  <a:pt x="68201" y="127581"/>
                  <a:pt x="63791" y="127581"/>
                </a:cubicBezTo>
                <a:cubicBezTo>
                  <a:pt x="59380" y="127581"/>
                  <a:pt x="55817" y="124018"/>
                  <a:pt x="55817" y="119608"/>
                </a:cubicBezTo>
                <a:lnTo>
                  <a:pt x="55817" y="79738"/>
                </a:lnTo>
                <a:cubicBezTo>
                  <a:pt x="24993" y="79738"/>
                  <a:pt x="0" y="54745"/>
                  <a:pt x="0" y="23922"/>
                </a:cubicBezTo>
                <a:close/>
              </a:path>
            </a:pathLst>
          </a:custGeom>
          <a:solidFill>
            <a:srgbClr val="8FB7AC"/>
          </a:solidFill>
          <a:ln/>
        </p:spPr>
      </p:sp>
      <p:sp>
        <p:nvSpPr>
          <p:cNvPr id="17" name="Text 15"/>
          <p:cNvSpPr/>
          <p:nvPr/>
        </p:nvSpPr>
        <p:spPr>
          <a:xfrm>
            <a:off x="4494255" y="2455942"/>
            <a:ext cx="3253326"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Natural Regeneration</a:t>
            </a:r>
            <a:endParaRPr lang="en-US" sz="1600" dirty="0"/>
          </a:p>
        </p:txBody>
      </p:sp>
      <p:sp>
        <p:nvSpPr>
          <p:cNvPr id="18" name="Text 16"/>
          <p:cNvSpPr/>
          <p:nvPr/>
        </p:nvSpPr>
        <p:spPr>
          <a:xfrm>
            <a:off x="4334778" y="2711105"/>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Promote native species</a:t>
            </a:r>
            <a:endParaRPr lang="en-US" sz="1600" dirty="0"/>
          </a:p>
        </p:txBody>
      </p:sp>
      <p:sp>
        <p:nvSpPr>
          <p:cNvPr id="19" name="Text 17"/>
          <p:cNvSpPr/>
          <p:nvPr/>
        </p:nvSpPr>
        <p:spPr>
          <a:xfrm>
            <a:off x="4334778" y="2902477"/>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Maintain seed sources</a:t>
            </a:r>
            <a:endParaRPr lang="en-US" sz="1600" dirty="0"/>
          </a:p>
        </p:txBody>
      </p:sp>
      <p:sp>
        <p:nvSpPr>
          <p:cNvPr id="20" name="Text 18"/>
          <p:cNvSpPr/>
          <p:nvPr/>
        </p:nvSpPr>
        <p:spPr>
          <a:xfrm>
            <a:off x="4334778" y="3093850"/>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Protect dispersers</a:t>
            </a:r>
            <a:endParaRPr lang="en-US" sz="1600" dirty="0"/>
          </a:p>
        </p:txBody>
      </p:sp>
      <p:sp>
        <p:nvSpPr>
          <p:cNvPr id="21" name="Text 19"/>
          <p:cNvSpPr/>
          <p:nvPr/>
        </p:nvSpPr>
        <p:spPr>
          <a:xfrm>
            <a:off x="4334778" y="3285222"/>
            <a:ext cx="3404829"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 Minimize soil disturbance</a:t>
            </a:r>
            <a:endParaRPr lang="en-US" sz="1600" dirty="0"/>
          </a:p>
        </p:txBody>
      </p:sp>
      <p:sp>
        <p:nvSpPr>
          <p:cNvPr id="22" name="Shape 20"/>
          <p:cNvSpPr/>
          <p:nvPr/>
        </p:nvSpPr>
        <p:spPr>
          <a:xfrm>
            <a:off x="318954"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23" name="Text 21"/>
          <p:cNvSpPr/>
          <p:nvPr/>
        </p:nvSpPr>
        <p:spPr>
          <a:xfrm>
            <a:off x="446535"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Certification Schemes</a:t>
            </a:r>
            <a:endParaRPr lang="en-US" sz="1600" dirty="0"/>
          </a:p>
        </p:txBody>
      </p:sp>
      <p:sp>
        <p:nvSpPr>
          <p:cNvPr id="24" name="Shape 22"/>
          <p:cNvSpPr/>
          <p:nvPr/>
        </p:nvSpPr>
        <p:spPr>
          <a:xfrm>
            <a:off x="446535" y="4305873"/>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5" name="Text 23"/>
          <p:cNvSpPr/>
          <p:nvPr/>
        </p:nvSpPr>
        <p:spPr>
          <a:xfrm>
            <a:off x="542221" y="4401559"/>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FSC (Forest Stewardship Council)</a:t>
            </a:r>
            <a:endParaRPr lang="en-US" sz="1600" dirty="0"/>
          </a:p>
        </p:txBody>
      </p:sp>
      <p:sp>
        <p:nvSpPr>
          <p:cNvPr id="26" name="Text 24"/>
          <p:cNvSpPr/>
          <p:nvPr/>
        </p:nvSpPr>
        <p:spPr>
          <a:xfrm>
            <a:off x="542221" y="4592931"/>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Environmental, social, economic standards for responsible management</a:t>
            </a:r>
            <a:endParaRPr lang="en-US" sz="1600" dirty="0"/>
          </a:p>
        </p:txBody>
      </p:sp>
      <p:sp>
        <p:nvSpPr>
          <p:cNvPr id="27" name="Shape 25"/>
          <p:cNvSpPr/>
          <p:nvPr/>
        </p:nvSpPr>
        <p:spPr>
          <a:xfrm>
            <a:off x="446535" y="5071362"/>
            <a:ext cx="3508489" cy="701698"/>
          </a:xfrm>
          <a:custGeom>
            <a:avLst/>
            <a:gdLst/>
            <a:ahLst/>
            <a:cxnLst/>
            <a:rect l="l" t="t" r="r" b="b"/>
            <a:pathLst>
              <a:path w="3508489" h="701698">
                <a:moveTo>
                  <a:pt x="63791" y="0"/>
                </a:moveTo>
                <a:lnTo>
                  <a:pt x="3444698" y="0"/>
                </a:lnTo>
                <a:cubicBezTo>
                  <a:pt x="3479929" y="0"/>
                  <a:pt x="3508489" y="28560"/>
                  <a:pt x="3508489" y="63791"/>
                </a:cubicBezTo>
                <a:lnTo>
                  <a:pt x="3508489" y="637906"/>
                </a:lnTo>
                <a:cubicBezTo>
                  <a:pt x="3508489" y="673137"/>
                  <a:pt x="3479929" y="701698"/>
                  <a:pt x="3444698" y="701698"/>
                </a:cubicBezTo>
                <a:lnTo>
                  <a:pt x="63791" y="701698"/>
                </a:lnTo>
                <a:cubicBezTo>
                  <a:pt x="28560" y="701698"/>
                  <a:pt x="0" y="673137"/>
                  <a:pt x="0" y="637906"/>
                </a:cubicBezTo>
                <a:lnTo>
                  <a:pt x="0" y="63791"/>
                </a:lnTo>
                <a:cubicBezTo>
                  <a:pt x="0" y="28560"/>
                  <a:pt x="28560" y="0"/>
                  <a:pt x="63791" y="0"/>
                </a:cubicBezTo>
                <a:close/>
              </a:path>
            </a:pathLst>
          </a:custGeom>
          <a:solidFill>
            <a:srgbClr val="F5F7F6"/>
          </a:solidFill>
          <a:ln/>
        </p:spPr>
      </p:sp>
      <p:sp>
        <p:nvSpPr>
          <p:cNvPr id="28" name="Text 26"/>
          <p:cNvSpPr/>
          <p:nvPr/>
        </p:nvSpPr>
        <p:spPr>
          <a:xfrm>
            <a:off x="542221" y="5167048"/>
            <a:ext cx="3380908"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PEFC (Programme for Endorsement of Forest Certification)</a:t>
            </a:r>
            <a:endParaRPr lang="en-US" sz="1600" dirty="0"/>
          </a:p>
        </p:txBody>
      </p:sp>
      <p:sp>
        <p:nvSpPr>
          <p:cNvPr id="29" name="Text 27"/>
          <p:cNvSpPr/>
          <p:nvPr/>
        </p:nvSpPr>
        <p:spPr>
          <a:xfrm>
            <a:off x="542221" y="5358420"/>
            <a:ext cx="3372934" cy="318954"/>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Promotes sustainable forest management through independent certification</a:t>
            </a:r>
            <a:endParaRPr lang="en-US" sz="1600" dirty="0"/>
          </a:p>
        </p:txBody>
      </p:sp>
      <p:sp>
        <p:nvSpPr>
          <p:cNvPr id="30" name="Shape 28"/>
          <p:cNvSpPr/>
          <p:nvPr/>
        </p:nvSpPr>
        <p:spPr>
          <a:xfrm>
            <a:off x="4207197" y="3859338"/>
            <a:ext cx="3763652" cy="2998164"/>
          </a:xfrm>
          <a:custGeom>
            <a:avLst/>
            <a:gdLst/>
            <a:ahLst/>
            <a:cxnLst/>
            <a:rect l="l" t="t" r="r" b="b"/>
            <a:pathLst>
              <a:path w="3763652" h="2998164">
                <a:moveTo>
                  <a:pt x="95671" y="0"/>
                </a:moveTo>
                <a:lnTo>
                  <a:pt x="3667981" y="0"/>
                </a:lnTo>
                <a:cubicBezTo>
                  <a:pt x="3720819" y="0"/>
                  <a:pt x="3763652" y="42834"/>
                  <a:pt x="3763652" y="95671"/>
                </a:cubicBezTo>
                <a:lnTo>
                  <a:pt x="3763652" y="2902492"/>
                </a:lnTo>
                <a:cubicBezTo>
                  <a:pt x="3763652" y="2955330"/>
                  <a:pt x="3720819" y="2998164"/>
                  <a:pt x="3667981" y="2998164"/>
                </a:cubicBezTo>
                <a:lnTo>
                  <a:pt x="95671" y="2998164"/>
                </a:lnTo>
                <a:cubicBezTo>
                  <a:pt x="42834" y="2998164"/>
                  <a:pt x="0" y="2955330"/>
                  <a:pt x="0" y="2902492"/>
                </a:cubicBezTo>
                <a:lnTo>
                  <a:pt x="0" y="95671"/>
                </a:lnTo>
                <a:cubicBezTo>
                  <a:pt x="0" y="42869"/>
                  <a:pt x="42869" y="0"/>
                  <a:pt x="95671"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31" name="Text 29"/>
          <p:cNvSpPr/>
          <p:nvPr/>
        </p:nvSpPr>
        <p:spPr>
          <a:xfrm>
            <a:off x="4334778" y="3986920"/>
            <a:ext cx="3580254"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Key Interventions</a:t>
            </a:r>
            <a:endParaRPr lang="en-US" sz="1600" dirty="0"/>
          </a:p>
        </p:txBody>
      </p:sp>
      <p:sp>
        <p:nvSpPr>
          <p:cNvPr id="32" name="Shape 30"/>
          <p:cNvSpPr/>
          <p:nvPr/>
        </p:nvSpPr>
        <p:spPr>
          <a:xfrm>
            <a:off x="4350726" y="4337768"/>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3" name="Text 31"/>
          <p:cNvSpPr/>
          <p:nvPr/>
        </p:nvSpPr>
        <p:spPr>
          <a:xfrm>
            <a:off x="4558046" y="4305873"/>
            <a:ext cx="283868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Extended rotations: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Promote structural complexity</a:t>
            </a:r>
            <a:endParaRPr lang="en-US" sz="1600" dirty="0"/>
          </a:p>
        </p:txBody>
      </p:sp>
      <p:sp>
        <p:nvSpPr>
          <p:cNvPr id="34" name="Shape 32"/>
          <p:cNvSpPr/>
          <p:nvPr/>
        </p:nvSpPr>
        <p:spPr>
          <a:xfrm>
            <a:off x="4350726" y="4592931"/>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5" name="Text 33"/>
          <p:cNvSpPr/>
          <p:nvPr/>
        </p:nvSpPr>
        <p:spPr>
          <a:xfrm>
            <a:off x="4558046" y="4561036"/>
            <a:ext cx="230444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Mixed-species stands: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Enhance diversity</a:t>
            </a:r>
            <a:endParaRPr lang="en-US" sz="1600" dirty="0"/>
          </a:p>
        </p:txBody>
      </p:sp>
      <p:sp>
        <p:nvSpPr>
          <p:cNvPr id="36" name="Shape 34"/>
          <p:cNvSpPr/>
          <p:nvPr/>
        </p:nvSpPr>
        <p:spPr>
          <a:xfrm>
            <a:off x="4350726" y="4848094"/>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7" name="Text 35"/>
          <p:cNvSpPr/>
          <p:nvPr/>
        </p:nvSpPr>
        <p:spPr>
          <a:xfrm>
            <a:off x="4558046" y="4816199"/>
            <a:ext cx="2152937"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Retention forestry:</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Leave habitat trees</a:t>
            </a:r>
            <a:endParaRPr lang="en-US" sz="1600" dirty="0"/>
          </a:p>
        </p:txBody>
      </p:sp>
      <p:sp>
        <p:nvSpPr>
          <p:cNvPr id="38" name="Shape 36"/>
          <p:cNvSpPr/>
          <p:nvPr/>
        </p:nvSpPr>
        <p:spPr>
          <a:xfrm>
            <a:off x="4350726" y="5103257"/>
            <a:ext cx="127581" cy="127581"/>
          </a:xfrm>
          <a:custGeom>
            <a:avLst/>
            <a:gdLst/>
            <a:ahLst/>
            <a:cxnLst/>
            <a:rect l="l" t="t" r="r" b="b"/>
            <a:pathLst>
              <a:path w="127581" h="127581">
                <a:moveTo>
                  <a:pt x="63791" y="127581"/>
                </a:moveTo>
                <a:cubicBezTo>
                  <a:pt x="98998" y="127581"/>
                  <a:pt x="127581" y="98998"/>
                  <a:pt x="127581" y="63791"/>
                </a:cubicBezTo>
                <a:cubicBezTo>
                  <a:pt x="127581" y="28584"/>
                  <a:pt x="98998" y="0"/>
                  <a:pt x="63791" y="0"/>
                </a:cubicBezTo>
                <a:cubicBezTo>
                  <a:pt x="28584" y="0"/>
                  <a:pt x="0" y="28584"/>
                  <a:pt x="0" y="63791"/>
                </a:cubicBezTo>
                <a:cubicBezTo>
                  <a:pt x="0" y="98998"/>
                  <a:pt x="28584" y="127581"/>
                  <a:pt x="63791" y="127581"/>
                </a:cubicBezTo>
                <a:close/>
                <a:moveTo>
                  <a:pt x="84822" y="53001"/>
                </a:moveTo>
                <a:lnTo>
                  <a:pt x="64887" y="84896"/>
                </a:lnTo>
                <a:cubicBezTo>
                  <a:pt x="63841" y="86566"/>
                  <a:pt x="62046" y="87613"/>
                  <a:pt x="60078" y="87712"/>
                </a:cubicBezTo>
                <a:cubicBezTo>
                  <a:pt x="58109" y="87812"/>
                  <a:pt x="56216" y="86915"/>
                  <a:pt x="55044" y="85320"/>
                </a:cubicBezTo>
                <a:lnTo>
                  <a:pt x="43084" y="69372"/>
                </a:lnTo>
                <a:cubicBezTo>
                  <a:pt x="41090" y="66731"/>
                  <a:pt x="41638" y="62993"/>
                  <a:pt x="44280" y="61000"/>
                </a:cubicBezTo>
                <a:cubicBezTo>
                  <a:pt x="46921" y="59006"/>
                  <a:pt x="50659" y="59555"/>
                  <a:pt x="52652" y="62196"/>
                </a:cubicBezTo>
                <a:lnTo>
                  <a:pt x="59380" y="71167"/>
                </a:lnTo>
                <a:lnTo>
                  <a:pt x="74680" y="46672"/>
                </a:lnTo>
                <a:cubicBezTo>
                  <a:pt x="76424" y="43881"/>
                  <a:pt x="80112" y="43009"/>
                  <a:pt x="82928" y="44778"/>
                </a:cubicBezTo>
                <a:cubicBezTo>
                  <a:pt x="85744" y="46547"/>
                  <a:pt x="86591" y="50210"/>
                  <a:pt x="84822" y="53026"/>
                </a:cubicBezTo>
                <a:close/>
              </a:path>
            </a:pathLst>
          </a:custGeom>
          <a:solidFill>
            <a:srgbClr val="4C8A7A"/>
          </a:solidFill>
          <a:ln/>
        </p:spPr>
      </p:sp>
      <p:sp>
        <p:nvSpPr>
          <p:cNvPr id="39" name="Text 37"/>
          <p:cNvSpPr/>
          <p:nvPr/>
        </p:nvSpPr>
        <p:spPr>
          <a:xfrm>
            <a:off x="4558046" y="5071362"/>
            <a:ext cx="2264570" cy="191372"/>
          </a:xfrm>
          <a:prstGeom prst="rect">
            <a:avLst/>
          </a:prstGeom>
          <a:noFill/>
          <a:ln/>
        </p:spPr>
        <p:txBody>
          <a:bodyPr wrap="square" lIns="0" tIns="0" rIns="0" bIns="0" rtlCol="0" anchor="ctr"/>
          <a:lstStyle/>
          <a:p>
            <a:pPr>
              <a:lnSpc>
                <a:spcPct val="130000"/>
              </a:lnSpc>
            </a:pPr>
            <a:r>
              <a:rPr lang="en-US" sz="1005" b="1" dirty="0">
                <a:solidFill>
                  <a:srgbClr val="5F6F6B"/>
                </a:solidFill>
                <a:latin typeface="Quattrocento Sans" pitchFamily="34" charset="0"/>
                <a:ea typeface="Quattrocento Sans" pitchFamily="34" charset="-122"/>
                <a:cs typeface="Quattrocento Sans" pitchFamily="34" charset="-120"/>
              </a:rPr>
              <a:t>Ecological corridors:</a:t>
            </a:r>
            <a:pPr>
              <a:lnSpc>
                <a:spcPct val="130000"/>
              </a:lnSpc>
            </a:pPr>
            <a:r>
              <a:rPr lang="en-US" sz="1005" dirty="0">
                <a:solidFill>
                  <a:srgbClr val="5F6F6B"/>
                </a:solidFill>
                <a:latin typeface="Quattrocento Sans" pitchFamily="34" charset="0"/>
                <a:ea typeface="Quattrocento Sans" pitchFamily="34" charset="-122"/>
                <a:cs typeface="Quattrocento Sans" pitchFamily="34" charset="-120"/>
              </a:rPr>
              <a:t> Connect fragments</a:t>
            </a:r>
            <a:endParaRPr lang="en-US" sz="1600" dirty="0"/>
          </a:p>
        </p:txBody>
      </p:sp>
      <p:sp>
        <p:nvSpPr>
          <p:cNvPr id="40" name="Shape 38"/>
          <p:cNvSpPr/>
          <p:nvPr/>
        </p:nvSpPr>
        <p:spPr>
          <a:xfrm>
            <a:off x="8127336" y="1307710"/>
            <a:ext cx="3747704" cy="1977512"/>
          </a:xfrm>
          <a:custGeom>
            <a:avLst/>
            <a:gdLst/>
            <a:ahLst/>
            <a:cxnLst/>
            <a:rect l="l" t="t" r="r" b="b"/>
            <a:pathLst>
              <a:path w="3747704" h="1977512">
                <a:moveTo>
                  <a:pt x="95692" y="0"/>
                </a:moveTo>
                <a:lnTo>
                  <a:pt x="3652013" y="0"/>
                </a:lnTo>
                <a:cubicBezTo>
                  <a:pt x="3704862" y="0"/>
                  <a:pt x="3747704" y="42843"/>
                  <a:pt x="3747704" y="95692"/>
                </a:cubicBezTo>
                <a:lnTo>
                  <a:pt x="3747704" y="1881820"/>
                </a:lnTo>
                <a:cubicBezTo>
                  <a:pt x="3747704" y="1934669"/>
                  <a:pt x="3704862" y="1977512"/>
                  <a:pt x="3652013" y="1977512"/>
                </a:cubicBezTo>
                <a:lnTo>
                  <a:pt x="95692" y="1977512"/>
                </a:lnTo>
                <a:cubicBezTo>
                  <a:pt x="42843" y="1977512"/>
                  <a:pt x="0" y="1934669"/>
                  <a:pt x="0" y="1881820"/>
                </a:cubicBezTo>
                <a:lnTo>
                  <a:pt x="0" y="95692"/>
                </a:lnTo>
                <a:cubicBezTo>
                  <a:pt x="0" y="42843"/>
                  <a:pt x="42843" y="0"/>
                  <a:pt x="95692" y="0"/>
                </a:cubicBezTo>
                <a:close/>
              </a:path>
            </a:pathLst>
          </a:custGeom>
          <a:solidFill>
            <a:srgbClr val="4C8A7A"/>
          </a:solidFill>
          <a:ln/>
        </p:spPr>
      </p:sp>
      <p:sp>
        <p:nvSpPr>
          <p:cNvPr id="41" name="Text 39"/>
          <p:cNvSpPr/>
          <p:nvPr/>
        </p:nvSpPr>
        <p:spPr>
          <a:xfrm>
            <a:off x="8286812" y="1467186"/>
            <a:ext cx="3500515" cy="223267"/>
          </a:xfrm>
          <a:prstGeom prst="rect">
            <a:avLst/>
          </a:prstGeom>
          <a:noFill/>
          <a:ln/>
        </p:spPr>
        <p:txBody>
          <a:bodyPr wrap="square" lIns="0" tIns="0" rIns="0" bIns="0" rtlCol="0" anchor="ctr"/>
          <a:lstStyle/>
          <a:p>
            <a:pPr>
              <a:lnSpc>
                <a:spcPct val="130000"/>
              </a:lnSpc>
            </a:pPr>
            <a:r>
              <a:rPr lang="en-US" sz="1130" b="1" dirty="0">
                <a:solidFill>
                  <a:srgbClr val="FFFFFF"/>
                </a:solidFill>
                <a:latin typeface="Sorts Mill Goudy" pitchFamily="34" charset="0"/>
                <a:ea typeface="Sorts Mill Goudy" pitchFamily="34" charset="-122"/>
                <a:cs typeface="Sorts Mill Goudy" pitchFamily="34" charset="-120"/>
              </a:rPr>
              <a:t>Protected Area Strategies</a:t>
            </a:r>
            <a:endParaRPr lang="en-US" sz="1600" dirty="0"/>
          </a:p>
        </p:txBody>
      </p:sp>
      <p:sp>
        <p:nvSpPr>
          <p:cNvPr id="42" name="Shape 40"/>
          <p:cNvSpPr/>
          <p:nvPr/>
        </p:nvSpPr>
        <p:spPr>
          <a:xfrm>
            <a:off x="8294786" y="1818035"/>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3" name="Text 41"/>
          <p:cNvSpPr/>
          <p:nvPr/>
        </p:nvSpPr>
        <p:spPr>
          <a:xfrm>
            <a:off x="8496063" y="1786140"/>
            <a:ext cx="3277248"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Prioritize unprotected hotspots: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High biodiversity + carbon areas</a:t>
            </a:r>
            <a:endParaRPr lang="en-US" sz="1600" dirty="0"/>
          </a:p>
        </p:txBody>
      </p:sp>
      <p:sp>
        <p:nvSpPr>
          <p:cNvPr id="44" name="Shape 42"/>
          <p:cNvSpPr/>
          <p:nvPr/>
        </p:nvSpPr>
        <p:spPr>
          <a:xfrm>
            <a:off x="8290799" y="229646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5" name="Text 43"/>
          <p:cNvSpPr/>
          <p:nvPr/>
        </p:nvSpPr>
        <p:spPr>
          <a:xfrm>
            <a:off x="8485971" y="2264570"/>
            <a:ext cx="3293196"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Manage low-stability areas:</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Active intervention in protected hotspots</a:t>
            </a:r>
            <a:endParaRPr lang="en-US" sz="1600" dirty="0"/>
          </a:p>
        </p:txBody>
      </p:sp>
      <p:sp>
        <p:nvSpPr>
          <p:cNvPr id="46" name="Shape 44"/>
          <p:cNvSpPr/>
          <p:nvPr/>
        </p:nvSpPr>
        <p:spPr>
          <a:xfrm>
            <a:off x="8294786" y="2774896"/>
            <a:ext cx="127581" cy="127581"/>
          </a:xfrm>
          <a:custGeom>
            <a:avLst/>
            <a:gdLst/>
            <a:ahLst/>
            <a:cxnLst/>
            <a:rect l="l" t="t" r="r" b="b"/>
            <a:pathLst>
              <a:path w="127581" h="127581">
                <a:moveTo>
                  <a:pt x="63791" y="0"/>
                </a:moveTo>
                <a:cubicBezTo>
                  <a:pt x="64937" y="0"/>
                  <a:pt x="66083" y="249"/>
                  <a:pt x="67130" y="723"/>
                </a:cubicBezTo>
                <a:lnTo>
                  <a:pt x="114076" y="20632"/>
                </a:lnTo>
                <a:cubicBezTo>
                  <a:pt x="119558" y="22950"/>
                  <a:pt x="123644" y="28357"/>
                  <a:pt x="123619" y="34886"/>
                </a:cubicBezTo>
                <a:cubicBezTo>
                  <a:pt x="123495" y="59604"/>
                  <a:pt x="113328" y="104831"/>
                  <a:pt x="70394" y="125389"/>
                </a:cubicBezTo>
                <a:cubicBezTo>
                  <a:pt x="66233" y="127382"/>
                  <a:pt x="61399" y="127382"/>
                  <a:pt x="57237" y="125389"/>
                </a:cubicBezTo>
                <a:cubicBezTo>
                  <a:pt x="14278" y="104831"/>
                  <a:pt x="4136" y="59604"/>
                  <a:pt x="4012" y="34886"/>
                </a:cubicBezTo>
                <a:cubicBezTo>
                  <a:pt x="3987" y="28357"/>
                  <a:pt x="8074" y="22950"/>
                  <a:pt x="13556" y="20632"/>
                </a:cubicBezTo>
                <a:lnTo>
                  <a:pt x="60477" y="723"/>
                </a:lnTo>
                <a:cubicBezTo>
                  <a:pt x="61523" y="249"/>
                  <a:pt x="62644" y="0"/>
                  <a:pt x="63791" y="0"/>
                </a:cubicBezTo>
                <a:close/>
                <a:moveTo>
                  <a:pt x="63791" y="16645"/>
                </a:moveTo>
                <a:lnTo>
                  <a:pt x="63791" y="110861"/>
                </a:lnTo>
                <a:cubicBezTo>
                  <a:pt x="98178" y="94216"/>
                  <a:pt x="107423" y="57337"/>
                  <a:pt x="107647" y="35259"/>
                </a:cubicBezTo>
                <a:lnTo>
                  <a:pt x="63791" y="16670"/>
                </a:lnTo>
                <a:lnTo>
                  <a:pt x="63791" y="16670"/>
                </a:lnTo>
                <a:close/>
              </a:path>
            </a:pathLst>
          </a:custGeom>
          <a:solidFill>
            <a:srgbClr val="FFFFFF"/>
          </a:solidFill>
          <a:ln/>
        </p:spPr>
      </p:sp>
      <p:sp>
        <p:nvSpPr>
          <p:cNvPr id="47" name="Text 45"/>
          <p:cNvSpPr/>
          <p:nvPr/>
        </p:nvSpPr>
        <p:spPr>
          <a:xfrm>
            <a:off x="8491952" y="2743001"/>
            <a:ext cx="3285222" cy="382744"/>
          </a:xfrm>
          <a:prstGeom prst="rect">
            <a:avLst/>
          </a:prstGeom>
          <a:noFill/>
          <a:ln/>
        </p:spPr>
        <p:txBody>
          <a:bodyPr wrap="square" lIns="0" tIns="0" rIns="0" bIns="0" rtlCol="0" anchor="ctr"/>
          <a:lstStyle/>
          <a:p>
            <a:pPr>
              <a:lnSpc>
                <a:spcPct val="130000"/>
              </a:lnSpc>
            </a:pPr>
            <a:r>
              <a:rPr lang="en-US" sz="1005" b="1" dirty="0">
                <a:solidFill>
                  <a:srgbClr val="FFFFFF"/>
                </a:solidFill>
                <a:latin typeface="Quattrocento Sans" pitchFamily="34" charset="0"/>
                <a:ea typeface="Quattrocento Sans" pitchFamily="34" charset="-122"/>
                <a:cs typeface="Quattrocento Sans" pitchFamily="34" charset="-120"/>
              </a:rPr>
              <a:t>Comprehensive protection:</a:t>
            </a:r>
            <a:pP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 Integrated regime for vulnerable areas</a:t>
            </a:r>
            <a:endParaRPr lang="en-US" sz="1600" dirty="0"/>
          </a:p>
        </p:txBody>
      </p:sp>
      <p:sp>
        <p:nvSpPr>
          <p:cNvPr id="48" name="Shape 46"/>
          <p:cNvSpPr/>
          <p:nvPr/>
        </p:nvSpPr>
        <p:spPr>
          <a:xfrm>
            <a:off x="8127336" y="3412803"/>
            <a:ext cx="3747704" cy="2551629"/>
          </a:xfrm>
          <a:custGeom>
            <a:avLst/>
            <a:gdLst/>
            <a:ahLst/>
            <a:cxnLst/>
            <a:rect l="l" t="t" r="r" b="b"/>
            <a:pathLst>
              <a:path w="3747704" h="2551629">
                <a:moveTo>
                  <a:pt x="95686" y="0"/>
                </a:moveTo>
                <a:lnTo>
                  <a:pt x="3652018" y="0"/>
                </a:lnTo>
                <a:cubicBezTo>
                  <a:pt x="3704864" y="0"/>
                  <a:pt x="3747704" y="42840"/>
                  <a:pt x="3747704" y="95686"/>
                </a:cubicBezTo>
                <a:lnTo>
                  <a:pt x="3747704" y="2455942"/>
                </a:lnTo>
                <a:cubicBezTo>
                  <a:pt x="3747704" y="2508788"/>
                  <a:pt x="3704864" y="2551629"/>
                  <a:pt x="3652018" y="2551629"/>
                </a:cubicBezTo>
                <a:lnTo>
                  <a:pt x="95686" y="2551629"/>
                </a:lnTo>
                <a:cubicBezTo>
                  <a:pt x="42840" y="2551629"/>
                  <a:pt x="0" y="2508788"/>
                  <a:pt x="0" y="2455942"/>
                </a:cubicBezTo>
                <a:lnTo>
                  <a:pt x="0" y="95686"/>
                </a:lnTo>
                <a:cubicBezTo>
                  <a:pt x="0" y="42875"/>
                  <a:pt x="42875" y="0"/>
                  <a:pt x="95686" y="0"/>
                </a:cubicBezTo>
                <a:close/>
              </a:path>
            </a:pathLst>
          </a:custGeom>
          <a:solidFill>
            <a:srgbClr val="FFFFFF"/>
          </a:solidFill>
          <a:ln/>
          <a:effectLst>
            <a:outerShdw sx="100000" sy="100000" kx="0" ky="0" algn="bl" rotWithShape="0" blurRad="23922" dist="7974" dir="5400000">
              <a:srgbClr val="000000">
                <a:alpha val="10196"/>
              </a:srgbClr>
            </a:outerShdw>
          </a:effectLst>
        </p:spPr>
      </p:sp>
      <p:sp>
        <p:nvSpPr>
          <p:cNvPr id="49" name="Text 47"/>
          <p:cNvSpPr/>
          <p:nvPr/>
        </p:nvSpPr>
        <p:spPr>
          <a:xfrm>
            <a:off x="8286812" y="3572280"/>
            <a:ext cx="3500515" cy="223267"/>
          </a:xfrm>
          <a:prstGeom prst="rect">
            <a:avLst/>
          </a:prstGeom>
          <a:noFill/>
          <a:ln/>
        </p:spPr>
        <p:txBody>
          <a:bodyPr wrap="square" lIns="0" tIns="0" rIns="0" bIns="0" rtlCol="0" anchor="ctr"/>
          <a:lstStyle/>
          <a:p>
            <a:pPr>
              <a:lnSpc>
                <a:spcPct val="130000"/>
              </a:lnSpc>
            </a:pPr>
            <a:r>
              <a:rPr lang="en-US" sz="1130" b="1" dirty="0">
                <a:solidFill>
                  <a:srgbClr val="2F3E3B"/>
                </a:solidFill>
                <a:latin typeface="Sorts Mill Goudy" pitchFamily="34" charset="0"/>
                <a:ea typeface="Sorts Mill Goudy" pitchFamily="34" charset="-122"/>
                <a:cs typeface="Sorts Mill Goudy" pitchFamily="34" charset="-120"/>
              </a:rPr>
              <a:t>Community Engagement</a:t>
            </a:r>
            <a:endParaRPr lang="en-US" sz="1600" dirty="0"/>
          </a:p>
        </p:txBody>
      </p:sp>
      <p:sp>
        <p:nvSpPr>
          <p:cNvPr id="50" name="Shape 48"/>
          <p:cNvSpPr/>
          <p:nvPr/>
        </p:nvSpPr>
        <p:spPr>
          <a:xfrm>
            <a:off x="8286812" y="3891233"/>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1" name="Text 49"/>
          <p:cNvSpPr/>
          <p:nvPr/>
        </p:nvSpPr>
        <p:spPr>
          <a:xfrm>
            <a:off x="8382498" y="3986920"/>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Community Forestry</a:t>
            </a:r>
            <a:endParaRPr lang="en-US" sz="1600" dirty="0"/>
          </a:p>
        </p:txBody>
      </p:sp>
      <p:sp>
        <p:nvSpPr>
          <p:cNvPr id="52" name="Text 50"/>
          <p:cNvSpPr/>
          <p:nvPr/>
        </p:nvSpPr>
        <p:spPr>
          <a:xfrm>
            <a:off x="8382498" y="4210187"/>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Local stewardship and sustainable livelihoods</a:t>
            </a:r>
            <a:endParaRPr lang="en-US" sz="1600" dirty="0"/>
          </a:p>
        </p:txBody>
      </p:sp>
      <p:sp>
        <p:nvSpPr>
          <p:cNvPr id="53" name="Shape 51"/>
          <p:cNvSpPr/>
          <p:nvPr/>
        </p:nvSpPr>
        <p:spPr>
          <a:xfrm>
            <a:off x="8286812" y="4561036"/>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4" name="Text 52"/>
          <p:cNvSpPr/>
          <p:nvPr/>
        </p:nvSpPr>
        <p:spPr>
          <a:xfrm>
            <a:off x="8382498" y="4656722"/>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Indigenous Rights</a:t>
            </a:r>
            <a:endParaRPr lang="en-US" sz="1600" dirty="0"/>
          </a:p>
        </p:txBody>
      </p:sp>
      <p:sp>
        <p:nvSpPr>
          <p:cNvPr id="55" name="Text 53"/>
          <p:cNvSpPr/>
          <p:nvPr/>
        </p:nvSpPr>
        <p:spPr>
          <a:xfrm>
            <a:off x="8382498" y="4879990"/>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Recognize traditional knowledge and land tenure</a:t>
            </a:r>
            <a:endParaRPr lang="en-US" sz="1600" dirty="0"/>
          </a:p>
        </p:txBody>
      </p:sp>
      <p:sp>
        <p:nvSpPr>
          <p:cNvPr id="56" name="Shape 54"/>
          <p:cNvSpPr/>
          <p:nvPr/>
        </p:nvSpPr>
        <p:spPr>
          <a:xfrm>
            <a:off x="8286812" y="5230838"/>
            <a:ext cx="3428751" cy="574116"/>
          </a:xfrm>
          <a:custGeom>
            <a:avLst/>
            <a:gdLst/>
            <a:ahLst/>
            <a:cxnLst/>
            <a:rect l="l" t="t" r="r" b="b"/>
            <a:pathLst>
              <a:path w="3428751" h="574116">
                <a:moveTo>
                  <a:pt x="63790" y="0"/>
                </a:moveTo>
                <a:lnTo>
                  <a:pt x="3364961" y="0"/>
                </a:lnTo>
                <a:cubicBezTo>
                  <a:pt x="3400191" y="0"/>
                  <a:pt x="3428751" y="28560"/>
                  <a:pt x="3428751" y="63790"/>
                </a:cubicBezTo>
                <a:lnTo>
                  <a:pt x="3428751" y="510326"/>
                </a:lnTo>
                <a:cubicBezTo>
                  <a:pt x="3428751" y="545557"/>
                  <a:pt x="3400191" y="574116"/>
                  <a:pt x="3364961" y="574116"/>
                </a:cubicBezTo>
                <a:lnTo>
                  <a:pt x="63790" y="574116"/>
                </a:lnTo>
                <a:cubicBezTo>
                  <a:pt x="28560" y="574116"/>
                  <a:pt x="0" y="545557"/>
                  <a:pt x="0" y="510326"/>
                </a:cubicBezTo>
                <a:lnTo>
                  <a:pt x="0" y="63790"/>
                </a:lnTo>
                <a:cubicBezTo>
                  <a:pt x="0" y="28560"/>
                  <a:pt x="28560" y="0"/>
                  <a:pt x="63790" y="0"/>
                </a:cubicBezTo>
                <a:close/>
              </a:path>
            </a:pathLst>
          </a:custGeom>
          <a:solidFill>
            <a:srgbClr val="F5F7F6"/>
          </a:solidFill>
          <a:ln/>
        </p:spPr>
      </p:sp>
      <p:sp>
        <p:nvSpPr>
          <p:cNvPr id="57" name="Text 55"/>
          <p:cNvSpPr/>
          <p:nvPr/>
        </p:nvSpPr>
        <p:spPr>
          <a:xfrm>
            <a:off x="8382498" y="5326525"/>
            <a:ext cx="3301169" cy="191372"/>
          </a:xfrm>
          <a:prstGeom prst="rect">
            <a:avLst/>
          </a:prstGeom>
          <a:noFill/>
          <a:ln/>
        </p:spPr>
        <p:txBody>
          <a:bodyPr wrap="square" lIns="0" tIns="0" rIns="0" bIns="0" rtlCol="0" anchor="ctr"/>
          <a:lstStyle/>
          <a:p>
            <a:pPr>
              <a:lnSpc>
                <a:spcPct val="130000"/>
              </a:lnSpc>
            </a:pPr>
            <a:r>
              <a:rPr lang="en-US" sz="1005" b="1" dirty="0">
                <a:solidFill>
                  <a:srgbClr val="2F3E3B"/>
                </a:solidFill>
                <a:latin typeface="Quattrocento Sans" pitchFamily="34" charset="0"/>
                <a:ea typeface="Quattrocento Sans" pitchFamily="34" charset="-122"/>
                <a:cs typeface="Quattrocento Sans" pitchFamily="34" charset="-120"/>
              </a:rPr>
              <a:t>Payment for Ecosystem Services</a:t>
            </a:r>
            <a:endParaRPr lang="en-US" sz="1600" dirty="0"/>
          </a:p>
        </p:txBody>
      </p:sp>
      <p:sp>
        <p:nvSpPr>
          <p:cNvPr id="58" name="Text 56"/>
          <p:cNvSpPr/>
          <p:nvPr/>
        </p:nvSpPr>
        <p:spPr>
          <a:xfrm>
            <a:off x="8382498" y="5549792"/>
            <a:ext cx="3293196" cy="159477"/>
          </a:xfrm>
          <a:prstGeom prst="rect">
            <a:avLst/>
          </a:prstGeom>
          <a:noFill/>
          <a:ln/>
        </p:spPr>
        <p:txBody>
          <a:bodyPr wrap="square" lIns="0" tIns="0" rIns="0" bIns="0" rtlCol="0" anchor="ctr"/>
          <a:lstStyle/>
          <a:p>
            <a:pPr>
              <a:lnSpc>
                <a:spcPct val="120000"/>
              </a:lnSpc>
            </a:pPr>
            <a:r>
              <a:rPr lang="en-US" sz="879" dirty="0">
                <a:solidFill>
                  <a:srgbClr val="5F6F6B"/>
                </a:solidFill>
                <a:latin typeface="Quattrocento Sans" pitchFamily="34" charset="0"/>
                <a:ea typeface="Quattrocento Sans" pitchFamily="34" charset="-122"/>
                <a:cs typeface="Quattrocento Sans" pitchFamily="34" charset="-120"/>
              </a:rPr>
              <a:t>Compensate landowners for conservation</a:t>
            </a:r>
            <a:endParaRPr lang="en-US" sz="1600" dirty="0"/>
          </a:p>
        </p:txBody>
      </p:sp>
      <p:sp>
        <p:nvSpPr>
          <p:cNvPr id="59" name="Shape 57"/>
          <p:cNvSpPr/>
          <p:nvPr/>
        </p:nvSpPr>
        <p:spPr>
          <a:xfrm>
            <a:off x="8127336" y="6092013"/>
            <a:ext cx="3747704" cy="765489"/>
          </a:xfrm>
          <a:custGeom>
            <a:avLst/>
            <a:gdLst/>
            <a:ahLst/>
            <a:cxnLst/>
            <a:rect l="l" t="t" r="r" b="b"/>
            <a:pathLst>
              <a:path w="3747704" h="765489">
                <a:moveTo>
                  <a:pt x="95686" y="0"/>
                </a:moveTo>
                <a:lnTo>
                  <a:pt x="3652018" y="0"/>
                </a:lnTo>
                <a:cubicBezTo>
                  <a:pt x="3704864" y="0"/>
                  <a:pt x="3747704" y="42840"/>
                  <a:pt x="3747704" y="95686"/>
                </a:cubicBezTo>
                <a:lnTo>
                  <a:pt x="3747704" y="669802"/>
                </a:lnTo>
                <a:cubicBezTo>
                  <a:pt x="3747704" y="722648"/>
                  <a:pt x="3704864" y="765489"/>
                  <a:pt x="3652018" y="765489"/>
                </a:cubicBezTo>
                <a:lnTo>
                  <a:pt x="95686" y="765489"/>
                </a:lnTo>
                <a:cubicBezTo>
                  <a:pt x="42875" y="765489"/>
                  <a:pt x="0" y="722613"/>
                  <a:pt x="0" y="669802"/>
                </a:cubicBezTo>
                <a:lnTo>
                  <a:pt x="0" y="95686"/>
                </a:lnTo>
                <a:cubicBezTo>
                  <a:pt x="0" y="42875"/>
                  <a:pt x="42875" y="0"/>
                  <a:pt x="95686" y="0"/>
                </a:cubicBezTo>
                <a:close/>
              </a:path>
            </a:pathLst>
          </a:custGeom>
          <a:solidFill>
            <a:srgbClr val="2F3E3B"/>
          </a:solidFill>
          <a:ln/>
        </p:spPr>
      </p:sp>
      <p:sp>
        <p:nvSpPr>
          <p:cNvPr id="60" name="Text 58"/>
          <p:cNvSpPr/>
          <p:nvPr/>
        </p:nvSpPr>
        <p:spPr>
          <a:xfrm>
            <a:off x="8195113" y="6219595"/>
            <a:ext cx="3612149" cy="287058"/>
          </a:xfrm>
          <a:prstGeom prst="rect">
            <a:avLst/>
          </a:prstGeom>
          <a:noFill/>
          <a:ln/>
        </p:spPr>
        <p:txBody>
          <a:bodyPr wrap="square" lIns="0" tIns="0" rIns="0" bIns="0" rtlCol="0" anchor="ctr"/>
          <a:lstStyle/>
          <a:p>
            <a:pPr algn="ctr">
              <a:lnSpc>
                <a:spcPct val="100000"/>
              </a:lnSpc>
            </a:pPr>
            <a:r>
              <a:rPr lang="en-US" sz="1884" b="1" dirty="0">
                <a:solidFill>
                  <a:srgbClr val="FFFFFF"/>
                </a:solidFill>
                <a:latin typeface="Sorts Mill Goudy" pitchFamily="34" charset="0"/>
                <a:ea typeface="Sorts Mill Goudy" pitchFamily="34" charset="-122"/>
                <a:cs typeface="Sorts Mill Goudy" pitchFamily="34" charset="-120"/>
              </a:rPr>
              <a:t>Nature Restoration</a:t>
            </a:r>
            <a:endParaRPr lang="en-US" sz="1600" dirty="0"/>
          </a:p>
        </p:txBody>
      </p:sp>
      <p:sp>
        <p:nvSpPr>
          <p:cNvPr id="61" name="Text 59"/>
          <p:cNvSpPr/>
          <p:nvPr/>
        </p:nvSpPr>
        <p:spPr>
          <a:xfrm>
            <a:off x="8223022" y="6538548"/>
            <a:ext cx="3556332" cy="191372"/>
          </a:xfrm>
          <a:prstGeom prst="rect">
            <a:avLst/>
          </a:prstGeom>
          <a:noFill/>
          <a:ln/>
        </p:spPr>
        <p:txBody>
          <a:bodyPr wrap="square" lIns="0" tIns="0" rIns="0" bIns="0" rtlCol="0" anchor="ctr"/>
          <a:lstStyle/>
          <a:p>
            <a:pPr algn="ctr">
              <a:lnSpc>
                <a:spcPct val="130000"/>
              </a:lnSpc>
            </a:pPr>
            <a:r>
              <a:rPr lang="en-US" sz="1005" dirty="0">
                <a:solidFill>
                  <a:srgbClr val="FFFFFF"/>
                </a:solidFill>
                <a:latin typeface="Quattrocento Sans" pitchFamily="34" charset="0"/>
                <a:ea typeface="Quattrocento Sans" pitchFamily="34" charset="-122"/>
                <a:cs typeface="Quattrocento Sans" pitchFamily="34" charset="-120"/>
              </a:rPr>
              <a:t>EU targets: 30% by 2030, 90% by 2050</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6"/>
        </a:solidFill>
      </p:bgPr>
    </p:bg>
    <p:spTree>
      <p:nvGrpSpPr>
        <p:cNvPr id="1" name=""/>
        <p:cNvGrpSpPr/>
        <p:nvPr/>
      </p:nvGrpSpPr>
      <p:grpSpPr>
        <a:xfrm>
          <a:off x="0" y="0"/>
          <a:ext cx="0" cy="0"/>
          <a:chOff x="0" y="0"/>
          <a:chExt cx="0" cy="0"/>
        </a:xfrm>
      </p:grpSpPr>
      <p:pic>
        <p:nvPicPr>
          <p:cNvPr id="2" name="Image 0" descr="https://kimi-web-img.moonshot.cn/img/thumbs.dreamstime.com/39a07207588e6a8397c0f5cbe2e90e5a1e927b81.jpg">    </p:cNvPr>
          <p:cNvPicPr>
            <a:picLocks noChangeAspect="1"/>
          </p:cNvPicPr>
          <p:nvPr/>
        </p:nvPicPr>
        <p:blipFill>
          <a:blip r:embed="rId1"/>
          <a:srcRect l="0" r="0" t="21875" b="21875"/>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2F3E3B">
                  <a:alpha val="95000"/>
                </a:srgbClr>
              </a:gs>
              <a:gs pos="50000">
                <a:srgbClr val="2F3E3B">
                  <a:alpha val="70000"/>
                </a:srgbClr>
              </a:gs>
              <a:gs pos="100000">
                <a:srgbClr val="000000">
                  <a:alpha val="0"/>
                </a:srgbClr>
              </a:gs>
            </a:gsLst>
            <a:lin ang="16200000" scaled="1"/>
          </a:gradFill>
          <a:ln/>
        </p:spPr>
      </p:sp>
      <p:sp>
        <p:nvSpPr>
          <p:cNvPr id="4" name="Shape 1"/>
          <p:cNvSpPr/>
          <p:nvPr/>
        </p:nvSpPr>
        <p:spPr>
          <a:xfrm>
            <a:off x="381000" y="182166"/>
            <a:ext cx="1276350" cy="381000"/>
          </a:xfrm>
          <a:custGeom>
            <a:avLst/>
            <a:gdLst/>
            <a:ahLst/>
            <a:cxnLst/>
            <a:rect l="l" t="t" r="r" b="b"/>
            <a:pathLst>
              <a:path w="1276350" h="381000">
                <a:moveTo>
                  <a:pt x="190500" y="0"/>
                </a:moveTo>
                <a:lnTo>
                  <a:pt x="1085850" y="0"/>
                </a:lnTo>
                <a:cubicBezTo>
                  <a:pt x="1190990" y="0"/>
                  <a:pt x="1276350" y="85360"/>
                  <a:pt x="1276350" y="190500"/>
                </a:cubicBezTo>
                <a:lnTo>
                  <a:pt x="1276350" y="190500"/>
                </a:lnTo>
                <a:cubicBezTo>
                  <a:pt x="1276350" y="295640"/>
                  <a:pt x="1190990" y="381000"/>
                  <a:pt x="1085850" y="381000"/>
                </a:cubicBezTo>
                <a:lnTo>
                  <a:pt x="190500" y="381000"/>
                </a:lnTo>
                <a:cubicBezTo>
                  <a:pt x="85360" y="381000"/>
                  <a:pt x="0" y="295640"/>
                  <a:pt x="0" y="190500"/>
                </a:cubicBezTo>
                <a:lnTo>
                  <a:pt x="0" y="190500"/>
                </a:lnTo>
                <a:cubicBezTo>
                  <a:pt x="0" y="85360"/>
                  <a:pt x="85360" y="0"/>
                  <a:pt x="190500" y="0"/>
                </a:cubicBezTo>
                <a:close/>
              </a:path>
            </a:pathLst>
          </a:custGeom>
          <a:solidFill>
            <a:srgbClr val="4C8A7A">
              <a:alpha val="30196"/>
            </a:srgbClr>
          </a:solidFill>
          <a:ln/>
        </p:spPr>
      </p:sp>
      <p:sp>
        <p:nvSpPr>
          <p:cNvPr id="5" name="Text 2"/>
          <p:cNvSpPr/>
          <p:nvPr/>
        </p:nvSpPr>
        <p:spPr>
          <a:xfrm>
            <a:off x="571500" y="258366"/>
            <a:ext cx="971550" cy="228600"/>
          </a:xfrm>
          <a:prstGeom prst="rect">
            <a:avLst/>
          </a:prstGeom>
          <a:noFill/>
          <a:ln/>
        </p:spPr>
        <p:txBody>
          <a:bodyPr wrap="square" lIns="0" tIns="0" rIns="0" bIns="0" rtlCol="0" anchor="ctr"/>
          <a:lstStyle/>
          <a:p>
            <a:pPr>
              <a:lnSpc>
                <a:spcPct val="130000"/>
              </a:lnSpc>
            </a:pPr>
            <a:r>
              <a:rPr lang="en-US" sz="1200" b="1" spc="120" kern="0" dirty="0">
                <a:solidFill>
                  <a:srgbClr val="8FB7AC"/>
                </a:solidFill>
                <a:latin typeface="Quattrocento Sans" pitchFamily="34" charset="0"/>
                <a:ea typeface="Quattrocento Sans" pitchFamily="34" charset="-122"/>
                <a:cs typeface="Quattrocento Sans" pitchFamily="34" charset="-120"/>
              </a:rPr>
              <a:t>Synthesis</a:t>
            </a:r>
            <a:endParaRPr lang="en-US" sz="1600" dirty="0"/>
          </a:p>
        </p:txBody>
      </p:sp>
      <p:sp>
        <p:nvSpPr>
          <p:cNvPr id="6" name="Text 3"/>
          <p:cNvSpPr/>
          <p:nvPr/>
        </p:nvSpPr>
        <p:spPr>
          <a:xfrm>
            <a:off x="381000" y="791766"/>
            <a:ext cx="8801100" cy="1143000"/>
          </a:xfrm>
          <a:prstGeom prst="rect">
            <a:avLst/>
          </a:prstGeom>
          <a:noFill/>
          <a:ln/>
        </p:spPr>
        <p:txBody>
          <a:bodyPr wrap="square" lIns="0" tIns="0" rIns="0" bIns="0" rtlCol="0" anchor="ctr"/>
          <a:lstStyle/>
          <a:p>
            <a:pPr>
              <a:lnSpc>
                <a:spcPct val="100000"/>
              </a:lnSpc>
            </a:pPr>
            <a:r>
              <a:rPr lang="en-US" sz="3600" b="1" dirty="0">
                <a:solidFill>
                  <a:srgbClr val="FFFFFF"/>
                </a:solidFill>
                <a:latin typeface="Sorts Mill Goudy" pitchFamily="34" charset="0"/>
                <a:ea typeface="Sorts Mill Goudy" pitchFamily="34" charset="-122"/>
                <a:cs typeface="Sorts Mill Goudy" pitchFamily="34" charset="-120"/>
              </a:rPr>
              <a:t>Integrated Mechanisms for Forest Biodiversity</a:t>
            </a:r>
            <a:endParaRPr lang="en-US" sz="1600" dirty="0"/>
          </a:p>
        </p:txBody>
      </p:sp>
      <p:sp>
        <p:nvSpPr>
          <p:cNvPr id="7" name="Shape 4"/>
          <p:cNvSpPr/>
          <p:nvPr/>
        </p:nvSpPr>
        <p:spPr>
          <a:xfrm>
            <a:off x="381000" y="2163366"/>
            <a:ext cx="8572500" cy="1695450"/>
          </a:xfrm>
          <a:custGeom>
            <a:avLst/>
            <a:gdLst/>
            <a:ahLst/>
            <a:cxnLst/>
            <a:rect l="l" t="t" r="r" b="b"/>
            <a:pathLst>
              <a:path w="8572500" h="1695450">
                <a:moveTo>
                  <a:pt x="114307" y="0"/>
                </a:moveTo>
                <a:lnTo>
                  <a:pt x="8458193" y="0"/>
                </a:lnTo>
                <a:cubicBezTo>
                  <a:pt x="8521323" y="0"/>
                  <a:pt x="8572500" y="51177"/>
                  <a:pt x="8572500" y="114307"/>
                </a:cubicBezTo>
                <a:lnTo>
                  <a:pt x="8572500" y="1581143"/>
                </a:lnTo>
                <a:cubicBezTo>
                  <a:pt x="8572500" y="1644273"/>
                  <a:pt x="8521323" y="1695450"/>
                  <a:pt x="8458193" y="1695450"/>
                </a:cubicBezTo>
                <a:lnTo>
                  <a:pt x="114307" y="1695450"/>
                </a:lnTo>
                <a:cubicBezTo>
                  <a:pt x="51177" y="1695450"/>
                  <a:pt x="0" y="1644273"/>
                  <a:pt x="0" y="1581143"/>
                </a:cubicBezTo>
                <a:lnTo>
                  <a:pt x="0" y="114307"/>
                </a:lnTo>
                <a:cubicBezTo>
                  <a:pt x="0" y="51219"/>
                  <a:pt x="51219" y="0"/>
                  <a:pt x="114307" y="0"/>
                </a:cubicBezTo>
                <a:close/>
              </a:path>
            </a:pathLst>
          </a:custGeom>
          <a:solidFill>
            <a:srgbClr val="FFFFFF">
              <a:alpha val="10196"/>
            </a:srgbClr>
          </a:solidFill>
          <a:ln/>
        </p:spPr>
      </p:sp>
      <p:sp>
        <p:nvSpPr>
          <p:cNvPr id="8" name="Text 5"/>
          <p:cNvSpPr/>
          <p:nvPr/>
        </p:nvSpPr>
        <p:spPr>
          <a:xfrm>
            <a:off x="609600" y="2391966"/>
            <a:ext cx="8210550" cy="1238250"/>
          </a:xfrm>
          <a:prstGeom prst="rect">
            <a:avLst/>
          </a:prstGeom>
          <a:noFill/>
          <a:ln/>
        </p:spPr>
        <p:txBody>
          <a:bodyPr wrap="square" lIns="0" tIns="0" rIns="0" bIns="0" rtlCol="0" anchor="ctr"/>
          <a:lstStyle/>
          <a:p>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Forest biodiversity emerges from the </a:t>
            </a:r>
            <a:pPr>
              <a:lnSpc>
                <a:spcPct val="140000"/>
              </a:lnSpc>
            </a:pPr>
            <a:r>
              <a:rPr lang="en-US" sz="1500" b="1" dirty="0">
                <a:solidFill>
                  <a:srgbClr val="FFFFFF"/>
                </a:solidFill>
                <a:latin typeface="Quattrocento Sans" pitchFamily="34" charset="0"/>
                <a:ea typeface="Quattrocento Sans" pitchFamily="34" charset="-122"/>
                <a:cs typeface="Quattrocento Sans" pitchFamily="34" charset="-120"/>
              </a:rPr>
              <a:t>interplay of multiple mechanisms</a:t>
            </a:r>
            <a:pPr>
              <a:lnSpc>
                <a:spcPct val="140000"/>
              </a:lnSpc>
            </a:pPr>
            <a:r>
              <a:rPr lang="en-US" sz="1500" dirty="0">
                <a:solidFill>
                  <a:srgbClr val="FFFFFF"/>
                </a:solidFill>
                <a:latin typeface="Quattrocento Sans" pitchFamily="34" charset="0"/>
                <a:ea typeface="Quattrocento Sans" pitchFamily="34" charset="-122"/>
                <a:cs typeface="Quattrocento Sans" pitchFamily="34" charset="-120"/>
              </a:rPr>
              <a:t>—structural complexity creates habitat diversity, species interactions enable coexistence, disturbances reset competitive hierarchies, belowground networks facilitate resource sharing, and animal-mediated processes drive regeneration.</a:t>
            </a:r>
            <a:endParaRPr lang="en-US" sz="1600" dirty="0"/>
          </a:p>
        </p:txBody>
      </p:sp>
      <p:sp>
        <p:nvSpPr>
          <p:cNvPr id="9" name="Shape 6"/>
          <p:cNvSpPr/>
          <p:nvPr/>
        </p:nvSpPr>
        <p:spPr>
          <a:xfrm>
            <a:off x="38100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0" name="Shape 7"/>
          <p:cNvSpPr/>
          <p:nvPr/>
        </p:nvSpPr>
        <p:spPr>
          <a:xfrm>
            <a:off x="561975" y="4239816"/>
            <a:ext cx="228600" cy="228600"/>
          </a:xfrm>
          <a:custGeom>
            <a:avLst/>
            <a:gdLst/>
            <a:ahLst/>
            <a:cxnLst/>
            <a:rect l="l" t="t" r="r" b="b"/>
            <a:pathLst>
              <a:path w="228600" h="228600">
                <a:moveTo>
                  <a:pt x="103808" y="2322"/>
                </a:moveTo>
                <a:cubicBezTo>
                  <a:pt x="110460" y="-759"/>
                  <a:pt x="118140" y="-759"/>
                  <a:pt x="124792" y="2322"/>
                </a:cubicBezTo>
                <a:lnTo>
                  <a:pt x="222394" y="47417"/>
                </a:lnTo>
                <a:cubicBezTo>
                  <a:pt x="226189" y="49158"/>
                  <a:pt x="228600" y="52953"/>
                  <a:pt x="228600" y="57150"/>
                </a:cubicBezTo>
                <a:cubicBezTo>
                  <a:pt x="228600" y="61347"/>
                  <a:pt x="226189" y="65142"/>
                  <a:pt x="222394" y="66883"/>
                </a:cubicBezTo>
                <a:lnTo>
                  <a:pt x="124792" y="111978"/>
                </a:lnTo>
                <a:cubicBezTo>
                  <a:pt x="118140" y="115059"/>
                  <a:pt x="110460" y="115059"/>
                  <a:pt x="103808" y="111978"/>
                </a:cubicBezTo>
                <a:lnTo>
                  <a:pt x="6206" y="66883"/>
                </a:lnTo>
                <a:cubicBezTo>
                  <a:pt x="2411" y="65097"/>
                  <a:pt x="0" y="61302"/>
                  <a:pt x="0" y="57150"/>
                </a:cubicBezTo>
                <a:cubicBezTo>
                  <a:pt x="0" y="52998"/>
                  <a:pt x="2411" y="49158"/>
                  <a:pt x="6206" y="47417"/>
                </a:cubicBezTo>
                <a:lnTo>
                  <a:pt x="103808" y="2322"/>
                </a:lnTo>
                <a:close/>
                <a:moveTo>
                  <a:pt x="21476" y="97512"/>
                </a:moveTo>
                <a:lnTo>
                  <a:pt x="94833" y="131400"/>
                </a:lnTo>
                <a:cubicBezTo>
                  <a:pt x="107201" y="137115"/>
                  <a:pt x="121444" y="137115"/>
                  <a:pt x="133811" y="131400"/>
                </a:cubicBezTo>
                <a:lnTo>
                  <a:pt x="207169" y="97512"/>
                </a:lnTo>
                <a:lnTo>
                  <a:pt x="222394" y="104567"/>
                </a:lnTo>
                <a:cubicBezTo>
                  <a:pt x="226189" y="106308"/>
                  <a:pt x="228600" y="110103"/>
                  <a:pt x="228600" y="114300"/>
                </a:cubicBezTo>
                <a:cubicBezTo>
                  <a:pt x="228600" y="118497"/>
                  <a:pt x="226189" y="122292"/>
                  <a:pt x="222394" y="124033"/>
                </a:cubicBezTo>
                <a:lnTo>
                  <a:pt x="124792" y="169128"/>
                </a:lnTo>
                <a:cubicBezTo>
                  <a:pt x="118140" y="172209"/>
                  <a:pt x="110460" y="172209"/>
                  <a:pt x="103808" y="169128"/>
                </a:cubicBezTo>
                <a:lnTo>
                  <a:pt x="6206" y="124033"/>
                </a:lnTo>
                <a:cubicBezTo>
                  <a:pt x="2411" y="122247"/>
                  <a:pt x="0" y="118452"/>
                  <a:pt x="0" y="114300"/>
                </a:cubicBezTo>
                <a:cubicBezTo>
                  <a:pt x="0" y="110148"/>
                  <a:pt x="2411" y="106308"/>
                  <a:pt x="6206" y="104567"/>
                </a:cubicBezTo>
                <a:lnTo>
                  <a:pt x="21431" y="97512"/>
                </a:lnTo>
                <a:close/>
                <a:moveTo>
                  <a:pt x="6206" y="161717"/>
                </a:moveTo>
                <a:lnTo>
                  <a:pt x="21431" y="154662"/>
                </a:lnTo>
                <a:lnTo>
                  <a:pt x="94789" y="188550"/>
                </a:lnTo>
                <a:cubicBezTo>
                  <a:pt x="107156" y="194265"/>
                  <a:pt x="121399" y="194265"/>
                  <a:pt x="133767" y="188550"/>
                </a:cubicBezTo>
                <a:lnTo>
                  <a:pt x="207124" y="154662"/>
                </a:lnTo>
                <a:lnTo>
                  <a:pt x="222349" y="161717"/>
                </a:lnTo>
                <a:cubicBezTo>
                  <a:pt x="226144" y="163458"/>
                  <a:pt x="228555" y="167253"/>
                  <a:pt x="228555" y="171450"/>
                </a:cubicBezTo>
                <a:cubicBezTo>
                  <a:pt x="228555" y="175647"/>
                  <a:pt x="226144" y="179442"/>
                  <a:pt x="222349" y="181183"/>
                </a:cubicBezTo>
                <a:lnTo>
                  <a:pt x="124748" y="226278"/>
                </a:lnTo>
                <a:cubicBezTo>
                  <a:pt x="118095" y="229359"/>
                  <a:pt x="110416" y="229359"/>
                  <a:pt x="103763" y="226278"/>
                </a:cubicBezTo>
                <a:lnTo>
                  <a:pt x="6206" y="181183"/>
                </a:lnTo>
                <a:cubicBezTo>
                  <a:pt x="2411" y="179397"/>
                  <a:pt x="0" y="175602"/>
                  <a:pt x="0" y="171450"/>
                </a:cubicBezTo>
                <a:cubicBezTo>
                  <a:pt x="0" y="167298"/>
                  <a:pt x="2411" y="163458"/>
                  <a:pt x="6206" y="161717"/>
                </a:cubicBezTo>
                <a:close/>
              </a:path>
            </a:pathLst>
          </a:custGeom>
          <a:solidFill>
            <a:srgbClr val="8FB7AC"/>
          </a:solidFill>
          <a:ln/>
        </p:spPr>
      </p:sp>
      <p:sp>
        <p:nvSpPr>
          <p:cNvPr id="11" name="Text 8"/>
          <p:cNvSpPr/>
          <p:nvPr/>
        </p:nvSpPr>
        <p:spPr>
          <a:xfrm>
            <a:off x="53340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Structure</a:t>
            </a:r>
            <a:endParaRPr lang="en-US" sz="1600" dirty="0"/>
          </a:p>
        </p:txBody>
      </p:sp>
      <p:sp>
        <p:nvSpPr>
          <p:cNvPr id="12" name="Text 9"/>
          <p:cNvSpPr/>
          <p:nvPr/>
        </p:nvSpPr>
        <p:spPr>
          <a:xfrm>
            <a:off x="53340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Vertical &amp; horizontal heterogeneity</a:t>
            </a:r>
            <a:endParaRPr lang="en-US" sz="1600" dirty="0"/>
          </a:p>
        </p:txBody>
      </p:sp>
      <p:sp>
        <p:nvSpPr>
          <p:cNvPr id="13" name="Shape 10"/>
          <p:cNvSpPr/>
          <p:nvPr/>
        </p:nvSpPr>
        <p:spPr>
          <a:xfrm>
            <a:off x="3289250"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4" name="Shape 11"/>
          <p:cNvSpPr/>
          <p:nvPr/>
        </p:nvSpPr>
        <p:spPr>
          <a:xfrm>
            <a:off x="3470225" y="4239816"/>
            <a:ext cx="228600" cy="228600"/>
          </a:xfrm>
          <a:custGeom>
            <a:avLst/>
            <a:gdLst/>
            <a:ahLst/>
            <a:cxnLst/>
            <a:rect l="l" t="t" r="r" b="b"/>
            <a:pathLst>
              <a:path w="228600" h="228600">
                <a:moveTo>
                  <a:pt x="0" y="35719"/>
                </a:moveTo>
                <a:cubicBezTo>
                  <a:pt x="0" y="23887"/>
                  <a:pt x="9599" y="14288"/>
                  <a:pt x="21431" y="14288"/>
                </a:cubicBezTo>
                <a:lnTo>
                  <a:pt x="64294" y="14288"/>
                </a:lnTo>
                <a:cubicBezTo>
                  <a:pt x="76126" y="14288"/>
                  <a:pt x="85725" y="23887"/>
                  <a:pt x="85725" y="35719"/>
                </a:cubicBezTo>
                <a:lnTo>
                  <a:pt x="85725" y="42863"/>
                </a:lnTo>
                <a:lnTo>
                  <a:pt x="142875" y="42863"/>
                </a:lnTo>
                <a:lnTo>
                  <a:pt x="142875" y="35719"/>
                </a:lnTo>
                <a:cubicBezTo>
                  <a:pt x="142875" y="23887"/>
                  <a:pt x="152474" y="14288"/>
                  <a:pt x="164306" y="14288"/>
                </a:cubicBezTo>
                <a:lnTo>
                  <a:pt x="207169" y="14288"/>
                </a:lnTo>
                <a:cubicBezTo>
                  <a:pt x="219001" y="14288"/>
                  <a:pt x="228600" y="23887"/>
                  <a:pt x="228600" y="35719"/>
                </a:cubicBezTo>
                <a:lnTo>
                  <a:pt x="228600" y="78581"/>
                </a:lnTo>
                <a:cubicBezTo>
                  <a:pt x="228600" y="90413"/>
                  <a:pt x="219001" y="100013"/>
                  <a:pt x="207169" y="100013"/>
                </a:cubicBezTo>
                <a:lnTo>
                  <a:pt x="164306" y="100013"/>
                </a:lnTo>
                <a:cubicBezTo>
                  <a:pt x="152474" y="100013"/>
                  <a:pt x="142875" y="90413"/>
                  <a:pt x="142875" y="78581"/>
                </a:cubicBezTo>
                <a:lnTo>
                  <a:pt x="142875" y="71438"/>
                </a:lnTo>
                <a:lnTo>
                  <a:pt x="85725" y="71438"/>
                </a:lnTo>
                <a:lnTo>
                  <a:pt x="85725" y="78581"/>
                </a:lnTo>
                <a:cubicBezTo>
                  <a:pt x="85725" y="81841"/>
                  <a:pt x="84966" y="84966"/>
                  <a:pt x="83671" y="87734"/>
                </a:cubicBezTo>
                <a:lnTo>
                  <a:pt x="114300" y="128588"/>
                </a:lnTo>
                <a:lnTo>
                  <a:pt x="150019" y="128588"/>
                </a:lnTo>
                <a:cubicBezTo>
                  <a:pt x="161851" y="128588"/>
                  <a:pt x="171450" y="138187"/>
                  <a:pt x="171450" y="150019"/>
                </a:cubicBezTo>
                <a:lnTo>
                  <a:pt x="171450" y="192881"/>
                </a:lnTo>
                <a:cubicBezTo>
                  <a:pt x="171450" y="204713"/>
                  <a:pt x="161851" y="214313"/>
                  <a:pt x="150019" y="214313"/>
                </a:cubicBezTo>
                <a:lnTo>
                  <a:pt x="107156" y="214313"/>
                </a:lnTo>
                <a:cubicBezTo>
                  <a:pt x="95324" y="214313"/>
                  <a:pt x="85725" y="204713"/>
                  <a:pt x="85725" y="192881"/>
                </a:cubicBezTo>
                <a:lnTo>
                  <a:pt x="85725" y="150019"/>
                </a:lnTo>
                <a:cubicBezTo>
                  <a:pt x="85725" y="146759"/>
                  <a:pt x="86484" y="143634"/>
                  <a:pt x="87779" y="140866"/>
                </a:cubicBezTo>
                <a:lnTo>
                  <a:pt x="57150" y="100013"/>
                </a:lnTo>
                <a:lnTo>
                  <a:pt x="21431" y="100013"/>
                </a:lnTo>
                <a:cubicBezTo>
                  <a:pt x="9599" y="100013"/>
                  <a:pt x="0" y="90413"/>
                  <a:pt x="0" y="78581"/>
                </a:cubicBezTo>
                <a:lnTo>
                  <a:pt x="0" y="35719"/>
                </a:lnTo>
                <a:close/>
              </a:path>
            </a:pathLst>
          </a:custGeom>
          <a:solidFill>
            <a:srgbClr val="8FB7AC"/>
          </a:solidFill>
          <a:ln/>
        </p:spPr>
      </p:sp>
      <p:sp>
        <p:nvSpPr>
          <p:cNvPr id="15" name="Text 12"/>
          <p:cNvSpPr/>
          <p:nvPr/>
        </p:nvSpPr>
        <p:spPr>
          <a:xfrm>
            <a:off x="3441650"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Interactions</a:t>
            </a:r>
            <a:endParaRPr lang="en-US" sz="1600" dirty="0"/>
          </a:p>
        </p:txBody>
      </p:sp>
      <p:sp>
        <p:nvSpPr>
          <p:cNvPr id="16" name="Text 13"/>
          <p:cNvSpPr/>
          <p:nvPr/>
        </p:nvSpPr>
        <p:spPr>
          <a:xfrm>
            <a:off x="3441650"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Competition, facilitation, networks</a:t>
            </a:r>
            <a:endParaRPr lang="en-US" sz="1600" dirty="0"/>
          </a:p>
        </p:txBody>
      </p:sp>
      <p:sp>
        <p:nvSpPr>
          <p:cNvPr id="17" name="Shape 14"/>
          <p:cNvSpPr/>
          <p:nvPr/>
        </p:nvSpPr>
        <p:spPr>
          <a:xfrm>
            <a:off x="6197575" y="4087416"/>
            <a:ext cx="2752725" cy="1143000"/>
          </a:xfrm>
          <a:custGeom>
            <a:avLst/>
            <a:gdLst/>
            <a:ahLst/>
            <a:cxnLst/>
            <a:rect l="l" t="t" r="r" b="b"/>
            <a:pathLst>
              <a:path w="2752725" h="1143000">
                <a:moveTo>
                  <a:pt x="76204" y="0"/>
                </a:moveTo>
                <a:lnTo>
                  <a:pt x="2676521" y="0"/>
                </a:lnTo>
                <a:cubicBezTo>
                  <a:pt x="2718607" y="0"/>
                  <a:pt x="2752725" y="34118"/>
                  <a:pt x="2752725" y="76204"/>
                </a:cubicBezTo>
                <a:lnTo>
                  <a:pt x="2752725" y="1066796"/>
                </a:lnTo>
                <a:cubicBezTo>
                  <a:pt x="2752725" y="1108882"/>
                  <a:pt x="2718607" y="1143000"/>
                  <a:pt x="2676521" y="1143000"/>
                </a:cubicBezTo>
                <a:lnTo>
                  <a:pt x="76204" y="1143000"/>
                </a:lnTo>
                <a:cubicBezTo>
                  <a:pt x="34118" y="1143000"/>
                  <a:pt x="0" y="1108882"/>
                  <a:pt x="0" y="1066796"/>
                </a:cubicBezTo>
                <a:lnTo>
                  <a:pt x="0" y="76204"/>
                </a:lnTo>
                <a:cubicBezTo>
                  <a:pt x="0" y="34146"/>
                  <a:pt x="34146" y="0"/>
                  <a:pt x="76204" y="0"/>
                </a:cubicBezTo>
                <a:close/>
              </a:path>
            </a:pathLst>
          </a:custGeom>
          <a:solidFill>
            <a:srgbClr val="FFFFFF">
              <a:alpha val="14902"/>
            </a:srgbClr>
          </a:solidFill>
          <a:ln/>
        </p:spPr>
      </p:sp>
      <p:sp>
        <p:nvSpPr>
          <p:cNvPr id="18" name="Shape 15"/>
          <p:cNvSpPr/>
          <p:nvPr/>
        </p:nvSpPr>
        <p:spPr>
          <a:xfrm>
            <a:off x="6378550" y="4239816"/>
            <a:ext cx="228600" cy="228600"/>
          </a:xfrm>
          <a:custGeom>
            <a:avLst/>
            <a:gdLst/>
            <a:ahLst/>
            <a:cxnLst/>
            <a:rect l="l" t="t" r="r" b="b"/>
            <a:pathLst>
              <a:path w="228600" h="228600">
                <a:moveTo>
                  <a:pt x="214357" y="85725"/>
                </a:moveTo>
                <a:lnTo>
                  <a:pt x="217884" y="85725"/>
                </a:lnTo>
                <a:cubicBezTo>
                  <a:pt x="223823" y="85725"/>
                  <a:pt x="228600" y="80948"/>
                  <a:pt x="228600" y="75009"/>
                </a:cubicBezTo>
                <a:lnTo>
                  <a:pt x="228600" y="10716"/>
                </a:lnTo>
                <a:cubicBezTo>
                  <a:pt x="228600" y="6385"/>
                  <a:pt x="226010" y="2456"/>
                  <a:pt x="221992" y="804"/>
                </a:cubicBezTo>
                <a:cubicBezTo>
                  <a:pt x="217974" y="-848"/>
                  <a:pt x="213375" y="89"/>
                  <a:pt x="210294" y="3125"/>
                </a:cubicBezTo>
                <a:lnTo>
                  <a:pt x="187211" y="26253"/>
                </a:lnTo>
                <a:cubicBezTo>
                  <a:pt x="167432" y="9867"/>
                  <a:pt x="141982" y="0"/>
                  <a:pt x="114300" y="0"/>
                </a:cubicBezTo>
                <a:cubicBezTo>
                  <a:pt x="56704" y="0"/>
                  <a:pt x="9064" y="42595"/>
                  <a:pt x="1161" y="98003"/>
                </a:cubicBezTo>
                <a:cubicBezTo>
                  <a:pt x="45" y="105817"/>
                  <a:pt x="5447" y="113050"/>
                  <a:pt x="13261" y="114166"/>
                </a:cubicBezTo>
                <a:cubicBezTo>
                  <a:pt x="21074" y="115282"/>
                  <a:pt x="28307" y="109835"/>
                  <a:pt x="29423" y="102066"/>
                </a:cubicBezTo>
                <a:cubicBezTo>
                  <a:pt x="35362" y="60499"/>
                  <a:pt x="71125" y="28575"/>
                  <a:pt x="114300" y="28575"/>
                </a:cubicBezTo>
                <a:cubicBezTo>
                  <a:pt x="134124" y="28575"/>
                  <a:pt x="152340" y="35272"/>
                  <a:pt x="166851" y="46568"/>
                </a:cubicBezTo>
                <a:lnTo>
                  <a:pt x="146000" y="67419"/>
                </a:lnTo>
                <a:cubicBezTo>
                  <a:pt x="142920" y="70500"/>
                  <a:pt x="142027" y="75099"/>
                  <a:pt x="143679" y="79117"/>
                </a:cubicBezTo>
                <a:cubicBezTo>
                  <a:pt x="145331" y="83135"/>
                  <a:pt x="149260" y="85725"/>
                  <a:pt x="153591" y="85725"/>
                </a:cubicBezTo>
                <a:lnTo>
                  <a:pt x="214357" y="85725"/>
                </a:lnTo>
                <a:close/>
                <a:moveTo>
                  <a:pt x="227484" y="130597"/>
                </a:moveTo>
                <a:cubicBezTo>
                  <a:pt x="228600" y="122783"/>
                  <a:pt x="223153" y="115550"/>
                  <a:pt x="215384" y="114434"/>
                </a:cubicBezTo>
                <a:cubicBezTo>
                  <a:pt x="207615" y="113318"/>
                  <a:pt x="200338" y="118765"/>
                  <a:pt x="199221" y="126534"/>
                </a:cubicBezTo>
                <a:cubicBezTo>
                  <a:pt x="193283" y="168057"/>
                  <a:pt x="157520" y="199980"/>
                  <a:pt x="114345" y="199980"/>
                </a:cubicBezTo>
                <a:cubicBezTo>
                  <a:pt x="94521" y="199980"/>
                  <a:pt x="76304" y="193283"/>
                  <a:pt x="61793" y="181987"/>
                </a:cubicBezTo>
                <a:lnTo>
                  <a:pt x="82600" y="161181"/>
                </a:lnTo>
                <a:cubicBezTo>
                  <a:pt x="85680" y="158100"/>
                  <a:pt x="86573" y="153501"/>
                  <a:pt x="84921" y="149483"/>
                </a:cubicBezTo>
                <a:cubicBezTo>
                  <a:pt x="83269" y="145465"/>
                  <a:pt x="79340" y="142875"/>
                  <a:pt x="75009" y="142875"/>
                </a:cubicBezTo>
                <a:lnTo>
                  <a:pt x="10716" y="142875"/>
                </a:lnTo>
                <a:cubicBezTo>
                  <a:pt x="4777" y="142875"/>
                  <a:pt x="0" y="147652"/>
                  <a:pt x="0" y="153591"/>
                </a:cubicBezTo>
                <a:lnTo>
                  <a:pt x="0" y="217884"/>
                </a:lnTo>
                <a:cubicBezTo>
                  <a:pt x="0" y="222215"/>
                  <a:pt x="2590" y="226144"/>
                  <a:pt x="6608" y="227796"/>
                </a:cubicBezTo>
                <a:cubicBezTo>
                  <a:pt x="10626" y="229448"/>
                  <a:pt x="15225" y="228511"/>
                  <a:pt x="18306" y="225475"/>
                </a:cubicBezTo>
                <a:lnTo>
                  <a:pt x="41434" y="202347"/>
                </a:lnTo>
                <a:cubicBezTo>
                  <a:pt x="61168" y="218733"/>
                  <a:pt x="86618" y="228600"/>
                  <a:pt x="114300" y="228600"/>
                </a:cubicBezTo>
                <a:cubicBezTo>
                  <a:pt x="171896" y="228600"/>
                  <a:pt x="219536" y="186005"/>
                  <a:pt x="227439" y="130597"/>
                </a:cubicBezTo>
                <a:close/>
              </a:path>
            </a:pathLst>
          </a:custGeom>
          <a:solidFill>
            <a:srgbClr val="8FB7AC"/>
          </a:solidFill>
          <a:ln/>
        </p:spPr>
      </p:sp>
      <p:sp>
        <p:nvSpPr>
          <p:cNvPr id="19" name="Text 16"/>
          <p:cNvSpPr/>
          <p:nvPr/>
        </p:nvSpPr>
        <p:spPr>
          <a:xfrm>
            <a:off x="6349975" y="4544616"/>
            <a:ext cx="2533650" cy="266700"/>
          </a:xfrm>
          <a:prstGeom prst="rect">
            <a:avLst/>
          </a:prstGeom>
          <a:noFill/>
          <a:ln/>
        </p:spPr>
        <p:txBody>
          <a:bodyPr wrap="square" lIns="0" tIns="0" rIns="0" bIns="0" rtlCol="0" anchor="ctr"/>
          <a:lstStyle/>
          <a:p>
            <a:pPr>
              <a:lnSpc>
                <a:spcPct val="130000"/>
              </a:lnSpc>
            </a:pPr>
            <a:r>
              <a:rPr lang="en-US" sz="1350" b="1" dirty="0">
                <a:solidFill>
                  <a:srgbClr val="FFFFFF"/>
                </a:solidFill>
                <a:latin typeface="Sorts Mill Goudy" pitchFamily="34" charset="0"/>
                <a:ea typeface="Sorts Mill Goudy" pitchFamily="34" charset="-122"/>
                <a:cs typeface="Sorts Mill Goudy" pitchFamily="34" charset="-120"/>
              </a:rPr>
              <a:t>Dynamics</a:t>
            </a:r>
            <a:endParaRPr lang="en-US" sz="1600" dirty="0"/>
          </a:p>
        </p:txBody>
      </p:sp>
      <p:sp>
        <p:nvSpPr>
          <p:cNvPr id="20" name="Text 17"/>
          <p:cNvSpPr/>
          <p:nvPr/>
        </p:nvSpPr>
        <p:spPr>
          <a:xfrm>
            <a:off x="6349975" y="4849416"/>
            <a:ext cx="2524125" cy="228600"/>
          </a:xfrm>
          <a:prstGeom prst="rect">
            <a:avLst/>
          </a:prstGeom>
          <a:noFill/>
          <a:ln/>
        </p:spPr>
        <p:txBody>
          <a:bodyPr wrap="square" lIns="0" tIns="0" rIns="0" bIns="0" rtlCol="0" anchor="ctr"/>
          <a:lstStyle/>
          <a:p>
            <a:pPr>
              <a:lnSpc>
                <a:spcPct val="130000"/>
              </a:lnSpc>
            </a:pPr>
            <a:r>
              <a:rPr lang="en-US" sz="1200" dirty="0">
                <a:solidFill>
                  <a:srgbClr val="FFFFFF">
                    <a:alpha val="80000"/>
                  </a:srgbClr>
                </a:solidFill>
                <a:latin typeface="Quattrocento Sans" pitchFamily="34" charset="0"/>
                <a:ea typeface="Quattrocento Sans" pitchFamily="34" charset="-122"/>
                <a:cs typeface="Quattrocento Sans" pitchFamily="34" charset="-120"/>
              </a:rPr>
              <a:t>Disturbance, succession, dispersal</a:t>
            </a:r>
            <a:endParaRPr lang="en-US" sz="1600" dirty="0"/>
          </a:p>
        </p:txBody>
      </p:sp>
      <p:sp>
        <p:nvSpPr>
          <p:cNvPr id="21" name="Shape 18"/>
          <p:cNvSpPr/>
          <p:nvPr/>
        </p:nvSpPr>
        <p:spPr>
          <a:xfrm>
            <a:off x="381000" y="5459016"/>
            <a:ext cx="8572500" cy="1219200"/>
          </a:xfrm>
          <a:custGeom>
            <a:avLst/>
            <a:gdLst/>
            <a:ahLst/>
            <a:cxnLst/>
            <a:rect l="l" t="t" r="r" b="b"/>
            <a:pathLst>
              <a:path w="8572500" h="1219200">
                <a:moveTo>
                  <a:pt x="114300" y="0"/>
                </a:moveTo>
                <a:lnTo>
                  <a:pt x="8458200" y="0"/>
                </a:lnTo>
                <a:cubicBezTo>
                  <a:pt x="8521284" y="0"/>
                  <a:pt x="8572500" y="51216"/>
                  <a:pt x="8572500" y="114300"/>
                </a:cubicBezTo>
                <a:lnTo>
                  <a:pt x="8572500" y="1104900"/>
                </a:lnTo>
                <a:cubicBezTo>
                  <a:pt x="8572500" y="1167984"/>
                  <a:pt x="8521284" y="1219200"/>
                  <a:pt x="8458200" y="1219200"/>
                </a:cubicBezTo>
                <a:lnTo>
                  <a:pt x="114300" y="1219200"/>
                </a:lnTo>
                <a:cubicBezTo>
                  <a:pt x="51216" y="1219200"/>
                  <a:pt x="0" y="1167984"/>
                  <a:pt x="0" y="1104900"/>
                </a:cubicBezTo>
                <a:lnTo>
                  <a:pt x="0" y="114300"/>
                </a:lnTo>
                <a:cubicBezTo>
                  <a:pt x="0" y="51216"/>
                  <a:pt x="51216" y="0"/>
                  <a:pt x="114300" y="0"/>
                </a:cubicBezTo>
                <a:close/>
              </a:path>
            </a:pathLst>
          </a:custGeom>
          <a:solidFill>
            <a:srgbClr val="4C8A7A">
              <a:alpha val="80000"/>
            </a:srgbClr>
          </a:solidFill>
          <a:ln/>
        </p:spPr>
      </p:sp>
      <p:sp>
        <p:nvSpPr>
          <p:cNvPr id="22" name="Shape 19"/>
          <p:cNvSpPr/>
          <p:nvPr/>
        </p:nvSpPr>
        <p:spPr>
          <a:xfrm>
            <a:off x="606028" y="5701903"/>
            <a:ext cx="150019" cy="171450"/>
          </a:xfrm>
          <a:custGeom>
            <a:avLst/>
            <a:gdLst/>
            <a:ahLst/>
            <a:cxnLst/>
            <a:rect l="l" t="t" r="r" b="b"/>
            <a:pathLst>
              <a:path w="150019" h="171450">
                <a:moveTo>
                  <a:pt x="0" y="72330"/>
                </a:moveTo>
                <a:cubicBezTo>
                  <a:pt x="0" y="50129"/>
                  <a:pt x="17982" y="32147"/>
                  <a:pt x="40184" y="32147"/>
                </a:cubicBezTo>
                <a:lnTo>
                  <a:pt x="42863" y="32147"/>
                </a:lnTo>
                <a:cubicBezTo>
                  <a:pt x="48790" y="32147"/>
                  <a:pt x="53578" y="36935"/>
                  <a:pt x="53578" y="42863"/>
                </a:cubicBezTo>
                <a:cubicBezTo>
                  <a:pt x="53578" y="48790"/>
                  <a:pt x="48790" y="53578"/>
                  <a:pt x="42863" y="53578"/>
                </a:cubicBezTo>
                <a:lnTo>
                  <a:pt x="40184" y="53578"/>
                </a:lnTo>
                <a:cubicBezTo>
                  <a:pt x="29836" y="53578"/>
                  <a:pt x="21431" y="61983"/>
                  <a:pt x="21431" y="72330"/>
                </a:cubicBezTo>
                <a:lnTo>
                  <a:pt x="21431" y="75009"/>
                </a:lnTo>
                <a:lnTo>
                  <a:pt x="42863" y="75009"/>
                </a:lnTo>
                <a:cubicBezTo>
                  <a:pt x="54683" y="75009"/>
                  <a:pt x="64294" y="84620"/>
                  <a:pt x="64294" y="96441"/>
                </a:cubicBezTo>
                <a:lnTo>
                  <a:pt x="64294" y="117872"/>
                </a:lnTo>
                <a:cubicBezTo>
                  <a:pt x="64294" y="129693"/>
                  <a:pt x="54683" y="139303"/>
                  <a:pt x="42863" y="139303"/>
                </a:cubicBezTo>
                <a:lnTo>
                  <a:pt x="21431" y="139303"/>
                </a:lnTo>
                <a:cubicBezTo>
                  <a:pt x="9611" y="139303"/>
                  <a:pt x="0" y="129693"/>
                  <a:pt x="0" y="117872"/>
                </a:cubicBezTo>
                <a:lnTo>
                  <a:pt x="0" y="72330"/>
                </a:lnTo>
                <a:close/>
                <a:moveTo>
                  <a:pt x="85725" y="72330"/>
                </a:moveTo>
                <a:cubicBezTo>
                  <a:pt x="85725" y="50129"/>
                  <a:pt x="103707" y="32147"/>
                  <a:pt x="125909" y="32147"/>
                </a:cubicBezTo>
                <a:lnTo>
                  <a:pt x="128588" y="32147"/>
                </a:lnTo>
                <a:cubicBezTo>
                  <a:pt x="134515" y="32147"/>
                  <a:pt x="139303" y="36935"/>
                  <a:pt x="139303" y="42863"/>
                </a:cubicBezTo>
                <a:cubicBezTo>
                  <a:pt x="139303" y="48790"/>
                  <a:pt x="134515" y="53578"/>
                  <a:pt x="128588" y="53578"/>
                </a:cubicBezTo>
                <a:lnTo>
                  <a:pt x="125909" y="53578"/>
                </a:lnTo>
                <a:cubicBezTo>
                  <a:pt x="115561" y="53578"/>
                  <a:pt x="107156" y="61983"/>
                  <a:pt x="107156" y="72330"/>
                </a:cubicBezTo>
                <a:lnTo>
                  <a:pt x="107156" y="75009"/>
                </a:lnTo>
                <a:lnTo>
                  <a:pt x="128588" y="75009"/>
                </a:lnTo>
                <a:cubicBezTo>
                  <a:pt x="140408" y="75009"/>
                  <a:pt x="150019" y="84620"/>
                  <a:pt x="150019" y="96441"/>
                </a:cubicBezTo>
                <a:lnTo>
                  <a:pt x="150019" y="117872"/>
                </a:lnTo>
                <a:cubicBezTo>
                  <a:pt x="150019" y="129693"/>
                  <a:pt x="140408" y="139303"/>
                  <a:pt x="128588" y="139303"/>
                </a:cubicBezTo>
                <a:lnTo>
                  <a:pt x="107156" y="139303"/>
                </a:lnTo>
                <a:cubicBezTo>
                  <a:pt x="95336" y="139303"/>
                  <a:pt x="85725" y="129693"/>
                  <a:pt x="85725" y="117872"/>
                </a:cubicBezTo>
                <a:lnTo>
                  <a:pt x="85725" y="72330"/>
                </a:lnTo>
                <a:close/>
              </a:path>
            </a:pathLst>
          </a:custGeom>
          <a:solidFill>
            <a:srgbClr val="8FB7AC"/>
          </a:solidFill>
          <a:ln/>
        </p:spPr>
      </p:sp>
      <p:sp>
        <p:nvSpPr>
          <p:cNvPr id="23" name="Text 20"/>
          <p:cNvSpPr/>
          <p:nvPr/>
        </p:nvSpPr>
        <p:spPr>
          <a:xfrm>
            <a:off x="847725" y="5649516"/>
            <a:ext cx="8001000" cy="838200"/>
          </a:xfrm>
          <a:prstGeom prst="rect">
            <a:avLst/>
          </a:prstGeom>
          <a:noFill/>
          <a:ln/>
        </p:spPr>
        <p:txBody>
          <a:bodyPr wrap="square" lIns="0" tIns="0" rIns="0" bIns="0" rtlCol="0" anchor="ctr"/>
          <a:lstStyle/>
          <a:p>
            <a:pPr>
              <a:lnSpc>
                <a:spcPct val="140000"/>
              </a:lnSpc>
            </a:pPr>
            <a:r>
              <a:rPr lang="en-US" sz="1350" dirty="0">
                <a:solidFill>
                  <a:srgbClr val="FFFFFF"/>
                </a:solidFill>
                <a:latin typeface="Quattrocento Sans" pitchFamily="34" charset="0"/>
                <a:ea typeface="Quattrocento Sans" pitchFamily="34" charset="-122"/>
                <a:cs typeface="Quattrocento Sans" pitchFamily="34" charset="-120"/>
              </a:rPr>
              <a:t>Understanding these integrated mechanisms is essential for effective conservation in an era of rapid environmental change. The future of forest biodiversity depends on our ability to manage ecosystems while preserving the natural processes that sustain them.</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Ecosystem Mechanisms for Maintaining Biodiversity in Natural Forests</dc:title>
  <dc:subject>Ecosystem Mechanisms for Maintaining Biodiversity in Natural Forests</dc:subject>
  <dc:creator>Kimi</dc:creator>
  <cp:lastModifiedBy>Kimi</cp:lastModifiedBy>
  <cp:revision>1</cp:revision>
  <dcterms:created xsi:type="dcterms:W3CDTF">2026-03-18T10:33:32Z</dcterms:created>
  <dcterms:modified xsi:type="dcterms:W3CDTF">2026-03-18T10:33:32Z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{"Label":"Ecosystem Mechanisms for Maintaining Biodiversity in Natural Forests","ContentProducer":"001191110108MACG2KBH8F10000","ProduceID":"19d004a1-7742-8810-8000-00000e23d1fb","ReservedCode1":"","ContentPropagator":"001191110108MACG2KBH8F20000","PropagateID":"19d004a1-7742-8810-8000-00000e23d1fb","ReservedCode2":""}</vt:lpwstr>
  </property>
</Properties>
</file>