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21.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3.xml.rels" ContentType="application/vnd.openxmlformats-package.relationships+xml"/>
  <Override PartName="/ppt/notesSlides/_rels/notesSlide1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5.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94B36BBD-3D9E-4270-AA0A-A1CEFE0F42F4}"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685800" y="1143000"/>
            <a:ext cx="5485320" cy="3085200"/>
          </a:xfrm>
          <a:prstGeom prst="rect">
            <a:avLst/>
          </a:prstGeom>
          <a:ln w="0">
            <a:noFill/>
          </a:ln>
        </p:spPr>
      </p:sp>
      <p:sp>
        <p:nvSpPr>
          <p:cNvPr id="40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06"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89F1729-7E23-4D15-9DC2-E0204A52268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685800" y="1143000"/>
            <a:ext cx="5485320" cy="3085200"/>
          </a:xfrm>
          <a:prstGeom prst="rect">
            <a:avLst/>
          </a:prstGeom>
          <a:ln w="0">
            <a:noFill/>
          </a:ln>
        </p:spPr>
      </p:sp>
      <p:sp>
        <p:nvSpPr>
          <p:cNvPr id="40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09" name="PlaceHolder 3"/>
          <p:cNvSpPr>
            <a:spLocks noGrp="1"/>
          </p:cNvSpPr>
          <p:nvPr>
            <p:ph type="sldNum" idx="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0E089FC-6135-42AD-84A6-3D5A894AF52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685800" y="1143000"/>
            <a:ext cx="5485320" cy="3085200"/>
          </a:xfrm>
          <a:prstGeom prst="rect">
            <a:avLst/>
          </a:prstGeom>
          <a:ln w="0">
            <a:noFill/>
          </a:ln>
        </p:spPr>
      </p:sp>
      <p:sp>
        <p:nvSpPr>
          <p:cNvPr id="41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2" name="PlaceHolder 3"/>
          <p:cNvSpPr>
            <a:spLocks noGrp="1"/>
          </p:cNvSpPr>
          <p:nvPr>
            <p:ph type="sldNum" idx="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20C2021-1030-4988-87F8-77A8B31B48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685800" y="1143000"/>
            <a:ext cx="5485320" cy="3085200"/>
          </a:xfrm>
          <a:prstGeom prst="rect">
            <a:avLst/>
          </a:prstGeom>
          <a:ln w="0">
            <a:noFill/>
          </a:ln>
        </p:spPr>
      </p:sp>
      <p:sp>
        <p:nvSpPr>
          <p:cNvPr id="41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5" name="PlaceHolder 3"/>
          <p:cNvSpPr>
            <a:spLocks noGrp="1"/>
          </p:cNvSpPr>
          <p:nvPr>
            <p:ph type="sldNum" idx="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63A79E-C749-4AE8-8B5B-A8FCD6C5728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685800" y="1143000"/>
            <a:ext cx="5485320" cy="3085200"/>
          </a:xfrm>
          <a:prstGeom prst="rect">
            <a:avLst/>
          </a:prstGeom>
          <a:ln w="0">
            <a:noFill/>
          </a:ln>
        </p:spPr>
      </p:sp>
      <p:sp>
        <p:nvSpPr>
          <p:cNvPr id="41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18" name="PlaceHolder 3"/>
          <p:cNvSpPr>
            <a:spLocks noGrp="1"/>
          </p:cNvSpPr>
          <p:nvPr>
            <p:ph type="sldNum" idx="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93D1799-1BD7-49BE-90CF-23B0F600DA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685800" y="1143000"/>
            <a:ext cx="5485320" cy="3085200"/>
          </a:xfrm>
          <a:prstGeom prst="rect">
            <a:avLst/>
          </a:prstGeom>
          <a:ln w="0">
            <a:noFill/>
          </a:ln>
        </p:spPr>
      </p:sp>
      <p:sp>
        <p:nvSpPr>
          <p:cNvPr id="42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1" name="PlaceHolder 3"/>
          <p:cNvSpPr>
            <a:spLocks noGrp="1"/>
          </p:cNvSpPr>
          <p:nvPr>
            <p:ph type="sldNum" idx="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EF6FD3-C1B7-4026-B3AC-E43584CB090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685800" y="1143000"/>
            <a:ext cx="5485320" cy="3085200"/>
          </a:xfrm>
          <a:prstGeom prst="rect">
            <a:avLst/>
          </a:prstGeom>
          <a:ln w="0">
            <a:noFill/>
          </a:ln>
        </p:spPr>
      </p:sp>
      <p:sp>
        <p:nvSpPr>
          <p:cNvPr id="42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4" name="PlaceHolder 3"/>
          <p:cNvSpPr>
            <a:spLocks noGrp="1"/>
          </p:cNvSpPr>
          <p:nvPr>
            <p:ph type="sldNum" idx="1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F652E16-76D9-4576-9F05-09F007C673F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685800" y="1143000"/>
            <a:ext cx="5485320" cy="3085200"/>
          </a:xfrm>
          <a:prstGeom prst="rect">
            <a:avLst/>
          </a:prstGeom>
          <a:ln w="0">
            <a:noFill/>
          </a:ln>
        </p:spPr>
      </p:sp>
      <p:sp>
        <p:nvSpPr>
          <p:cNvPr id="42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27" name="PlaceHolder 3"/>
          <p:cNvSpPr>
            <a:spLocks noGrp="1"/>
          </p:cNvSpPr>
          <p:nvPr>
            <p:ph type="sldNum" idx="1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682E927-06A7-4421-B2F3-7EBAC31AE1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685800" y="1143000"/>
            <a:ext cx="5485320" cy="3085200"/>
          </a:xfrm>
          <a:prstGeom prst="rect">
            <a:avLst/>
          </a:prstGeom>
          <a:ln w="0">
            <a:noFill/>
          </a:ln>
        </p:spPr>
      </p:sp>
      <p:sp>
        <p:nvSpPr>
          <p:cNvPr id="42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0" name="PlaceHolder 3"/>
          <p:cNvSpPr>
            <a:spLocks noGrp="1"/>
          </p:cNvSpPr>
          <p:nvPr>
            <p:ph type="sldNum" idx="1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B87F8C4-7A33-4D32-B933-FB6388F0CA0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685800" y="1143000"/>
            <a:ext cx="5485320" cy="3085200"/>
          </a:xfrm>
          <a:prstGeom prst="rect">
            <a:avLst/>
          </a:prstGeom>
          <a:ln w="0">
            <a:noFill/>
          </a:ln>
        </p:spPr>
      </p:sp>
      <p:sp>
        <p:nvSpPr>
          <p:cNvPr id="43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3" name="PlaceHolder 3"/>
          <p:cNvSpPr>
            <a:spLocks noGrp="1"/>
          </p:cNvSpPr>
          <p:nvPr>
            <p:ph type="sldNum" idx="1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D74A47C-6719-4EDF-AA33-6E3FD0314E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685800" y="1143000"/>
            <a:ext cx="5485320" cy="3085200"/>
          </a:xfrm>
          <a:prstGeom prst="rect">
            <a:avLst/>
          </a:prstGeom>
          <a:ln w="0">
            <a:noFill/>
          </a:ln>
        </p:spPr>
      </p:sp>
      <p:sp>
        <p:nvSpPr>
          <p:cNvPr id="43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6" name="PlaceHolder 3"/>
          <p:cNvSpPr>
            <a:spLocks noGrp="1"/>
          </p:cNvSpPr>
          <p:nvPr>
            <p:ph type="sldNum" idx="1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24F59DD-F28E-40A5-8582-379CC6DC186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685800" y="1143000"/>
            <a:ext cx="5485320" cy="3085200"/>
          </a:xfrm>
          <a:prstGeom prst="rect">
            <a:avLst/>
          </a:prstGeom>
          <a:ln w="0">
            <a:noFill/>
          </a:ln>
        </p:spPr>
      </p:sp>
      <p:sp>
        <p:nvSpPr>
          <p:cNvPr id="438"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39" name="PlaceHolder 3"/>
          <p:cNvSpPr>
            <a:spLocks noGrp="1"/>
          </p:cNvSpPr>
          <p:nvPr>
            <p:ph type="sldNum" idx="15"/>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9B80F13-6234-4540-98E2-3A20B67DACB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685800" y="1143000"/>
            <a:ext cx="5485320" cy="3085200"/>
          </a:xfrm>
          <a:prstGeom prst="rect">
            <a:avLst/>
          </a:prstGeom>
          <a:ln w="0">
            <a:noFill/>
          </a:ln>
        </p:spPr>
      </p:sp>
      <p:sp>
        <p:nvSpPr>
          <p:cNvPr id="441"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2" name="PlaceHolder 3"/>
          <p:cNvSpPr>
            <a:spLocks noGrp="1"/>
          </p:cNvSpPr>
          <p:nvPr>
            <p:ph type="sldNum" idx="16"/>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09D4077-68AE-4B2D-B9EE-EDD54F0AB00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685800" y="1143000"/>
            <a:ext cx="5485320" cy="3085200"/>
          </a:xfrm>
          <a:prstGeom prst="rect">
            <a:avLst/>
          </a:prstGeom>
          <a:ln w="0">
            <a:noFill/>
          </a:ln>
        </p:spPr>
      </p:sp>
      <p:sp>
        <p:nvSpPr>
          <p:cNvPr id="444"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5" name="PlaceHolder 3"/>
          <p:cNvSpPr>
            <a:spLocks noGrp="1"/>
          </p:cNvSpPr>
          <p:nvPr>
            <p:ph type="sldNum" idx="17"/>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7A7911D-0114-4BB3-94FA-9E565CD302C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685800" y="1143000"/>
            <a:ext cx="5485320" cy="3085200"/>
          </a:xfrm>
          <a:prstGeom prst="rect">
            <a:avLst/>
          </a:prstGeom>
          <a:ln w="0">
            <a:noFill/>
          </a:ln>
        </p:spPr>
      </p:sp>
      <p:sp>
        <p:nvSpPr>
          <p:cNvPr id="447"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48" name="PlaceHolder 3"/>
          <p:cNvSpPr>
            <a:spLocks noGrp="1"/>
          </p:cNvSpPr>
          <p:nvPr>
            <p:ph type="sldNum" idx="18"/>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FC1DE17-0338-4339-8E63-D1BC1763AE3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685800" y="1143000"/>
            <a:ext cx="5485320" cy="3085200"/>
          </a:xfrm>
          <a:prstGeom prst="rect">
            <a:avLst/>
          </a:prstGeom>
          <a:ln w="0">
            <a:noFill/>
          </a:ln>
        </p:spPr>
      </p:sp>
      <p:sp>
        <p:nvSpPr>
          <p:cNvPr id="450"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1" name="PlaceHolder 3"/>
          <p:cNvSpPr>
            <a:spLocks noGrp="1"/>
          </p:cNvSpPr>
          <p:nvPr>
            <p:ph type="sldNum" idx="19"/>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1C49605-3FED-4D9C-ACA7-B35A1044E6E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685800" y="1143000"/>
            <a:ext cx="5485320" cy="3085200"/>
          </a:xfrm>
          <a:prstGeom prst="rect">
            <a:avLst/>
          </a:prstGeom>
          <a:ln w="0">
            <a:noFill/>
          </a:ln>
        </p:spPr>
      </p:sp>
      <p:sp>
        <p:nvSpPr>
          <p:cNvPr id="453"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4" name="PlaceHolder 3"/>
          <p:cNvSpPr>
            <a:spLocks noGrp="1"/>
          </p:cNvSpPr>
          <p:nvPr>
            <p:ph type="sldNum" idx="20"/>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2948815-F6CC-4E8D-9C3C-741BA64D6F9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5320" cy="3085200"/>
          </a:xfrm>
          <a:prstGeom prst="rect">
            <a:avLst/>
          </a:prstGeom>
          <a:ln w="0">
            <a:noFill/>
          </a:ln>
        </p:spPr>
      </p:sp>
      <p:sp>
        <p:nvSpPr>
          <p:cNvPr id="456"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21"/>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E4A07FD-2326-4302-9A75-9E41E06C6C9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5320" cy="3085200"/>
          </a:xfrm>
          <a:prstGeom prst="rect">
            <a:avLst/>
          </a:prstGeom>
          <a:ln w="0">
            <a:noFill/>
          </a:ln>
        </p:spPr>
      </p:sp>
      <p:sp>
        <p:nvSpPr>
          <p:cNvPr id="459"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22"/>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0D42350-FE0E-43C4-BE4A-45FAE3D850E2}"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5320" cy="3085200"/>
          </a:xfrm>
          <a:prstGeom prst="rect">
            <a:avLst/>
          </a:prstGeom>
          <a:ln w="0">
            <a:noFill/>
          </a:ln>
        </p:spPr>
      </p:sp>
      <p:sp>
        <p:nvSpPr>
          <p:cNvPr id="462"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23"/>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9636E88-0D1D-487D-99FD-549889DDE36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5320" cy="3085200"/>
          </a:xfrm>
          <a:prstGeom prst="rect">
            <a:avLst/>
          </a:prstGeom>
          <a:ln w="0">
            <a:noFill/>
          </a:ln>
        </p:spPr>
      </p:sp>
      <p:sp>
        <p:nvSpPr>
          <p:cNvPr id="465" name="PlaceHolder 2"/>
          <p:cNvSpPr>
            <a:spLocks noGrp="1"/>
          </p:cNvSpPr>
          <p:nvPr>
            <p:ph type="body"/>
          </p:nvPr>
        </p:nvSpPr>
        <p:spPr>
          <a:xfrm>
            <a:off x="685800" y="4400640"/>
            <a:ext cx="5485320" cy="3599280"/>
          </a:xfrm>
          <a:prstGeom prst="rect">
            <a:avLst/>
          </a:prstGeom>
          <a:noFill/>
          <a:ln w="0">
            <a:noFill/>
          </a:ln>
        </p:spPr>
        <p:txBody>
          <a:bodyPr lIns="0" rIns="0" tIns="0" bIns="0" anchor="t">
            <a:noAutofit/>
          </a:bodyPr>
          <a:p>
            <a:endParaRPr b="0" lang="en-HK" sz="2000" spc="-1" strike="noStrike">
              <a:latin typeface="Arial"/>
            </a:endParaRPr>
          </a:p>
        </p:txBody>
      </p:sp>
      <p:sp>
        <p:nvSpPr>
          <p:cNvPr id="466" name="PlaceHolder 3"/>
          <p:cNvSpPr>
            <a:spLocks noGrp="1"/>
          </p:cNvSpPr>
          <p:nvPr>
            <p:ph type="sldNum" idx="24"/>
          </p:nvPr>
        </p:nvSpPr>
        <p:spPr>
          <a:xfrm>
            <a:off x="3884760" y="8685360"/>
            <a:ext cx="2970720" cy="45756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7B5D7A-D472-48D0-BCE0-AC4B5D3F4264}"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Shape 0"/>
          <p:cNvSpPr/>
          <p:nvPr/>
        </p:nvSpPr>
        <p:spPr>
          <a:xfrm>
            <a:off x="5638680" y="226692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5" name="Text 1"/>
          <p:cNvSpPr/>
          <p:nvPr/>
        </p:nvSpPr>
        <p:spPr>
          <a:xfrm>
            <a:off x="3633840" y="2514600"/>
            <a:ext cx="4923360" cy="913320"/>
          </a:xfrm>
          <a:prstGeom prst="rect">
            <a:avLst/>
          </a:prstGeom>
          <a:noFill/>
          <a:ln w="0">
            <a:noFill/>
          </a:ln>
        </p:spPr>
        <p:style>
          <a:lnRef idx="0"/>
          <a:fillRef idx="0"/>
          <a:effectRef idx="0"/>
          <a:fontRef idx="minor"/>
        </p:style>
        <p:txBody>
          <a:bodyPr lIns="0" rIns="0" tIns="0" bIns="0" anchor="ctr">
            <a:noAutofit/>
          </a:bodyPr>
          <a:p>
            <a:pPr algn="ctr">
              <a:lnSpc>
                <a:spcPct val="80000"/>
              </a:lnSpc>
              <a:buNone/>
            </a:pPr>
            <a:r>
              <a:rPr b="1" lang="en-US" sz="7200" spc="-182" strike="noStrike">
                <a:solidFill>
                  <a:srgbClr val="2d3436"/>
                </a:solidFill>
                <a:latin typeface="Oranienbaum"/>
                <a:ea typeface="Oranienbaum"/>
              </a:rPr>
              <a:t>Game Theory</a:t>
            </a:r>
            <a:endParaRPr b="0" lang="en-HK" sz="7200" spc="-1" strike="noStrike">
              <a:latin typeface="Arial"/>
            </a:endParaRPr>
          </a:p>
        </p:txBody>
      </p:sp>
      <p:sp>
        <p:nvSpPr>
          <p:cNvPr id="46" name="Shape 2"/>
          <p:cNvSpPr/>
          <p:nvPr/>
        </p:nvSpPr>
        <p:spPr>
          <a:xfrm>
            <a:off x="5638680" y="3657600"/>
            <a:ext cx="913320" cy="18000"/>
          </a:xfrm>
          <a:custGeom>
            <a:avLst/>
            <a:gdLst/>
            <a:ahLst/>
            <a:rect l="l" t="t" r="r" b="b"/>
            <a:pathLst>
              <a:path w="914400" h="19050">
                <a:moveTo>
                  <a:pt x="0" y="0"/>
                </a:moveTo>
                <a:lnTo>
                  <a:pt x="914400" y="0"/>
                </a:lnTo>
                <a:lnTo>
                  <a:pt x="914400" y="19050"/>
                </a:lnTo>
                <a:lnTo>
                  <a:pt x="0" y="19050"/>
                </a:lnTo>
                <a:lnTo>
                  <a:pt x="0" y="0"/>
                </a:lnTo>
                <a:close/>
              </a:path>
            </a:pathLst>
          </a:custGeom>
          <a:solidFill>
            <a:srgbClr val="0984e3"/>
          </a:solidFill>
          <a:ln w="0">
            <a:noFill/>
          </a:ln>
        </p:spPr>
        <p:style>
          <a:lnRef idx="0"/>
          <a:fillRef idx="0"/>
          <a:effectRef idx="0"/>
          <a:fontRef idx="minor"/>
        </p:style>
      </p:sp>
      <p:sp>
        <p:nvSpPr>
          <p:cNvPr id="47" name="Text 3"/>
          <p:cNvSpPr/>
          <p:nvPr/>
        </p:nvSpPr>
        <p:spPr>
          <a:xfrm>
            <a:off x="3545640" y="4286160"/>
            <a:ext cx="5094720" cy="303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lang="en-US" sz="1800" spc="38" strike="noStrike">
                <a:solidFill>
                  <a:srgbClr val="636e72"/>
                </a:solidFill>
                <a:latin typeface="Liter"/>
                <a:ea typeface="Liter"/>
              </a:rPr>
              <a:t>The Mathematics of Strategic Decision-Making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Text 0"/>
          <p:cNvSpPr/>
          <p:nvPr/>
        </p:nvSpPr>
        <p:spPr>
          <a:xfrm>
            <a:off x="380880" y="38088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Contents</a:t>
            </a:r>
            <a:endParaRPr b="0" lang="en-HK" sz="3600" spc="-1" strike="noStrike">
              <a:latin typeface="Arial"/>
            </a:endParaRPr>
          </a:p>
        </p:txBody>
      </p:sp>
      <p:sp>
        <p:nvSpPr>
          <p:cNvPr id="49" name="Shape 1"/>
          <p:cNvSpPr/>
          <p:nvPr/>
        </p:nvSpPr>
        <p:spPr>
          <a:xfrm>
            <a:off x="380880" y="952560"/>
            <a:ext cx="761040" cy="18000"/>
          </a:xfrm>
          <a:custGeom>
            <a:avLst/>
            <a:gdLst/>
            <a:ahLst/>
            <a:rect l="l" t="t" r="r" b="b"/>
            <a:pathLst>
              <a:path w="762000" h="19050">
                <a:moveTo>
                  <a:pt x="0" y="0"/>
                </a:moveTo>
                <a:lnTo>
                  <a:pt x="762000" y="0"/>
                </a:lnTo>
                <a:lnTo>
                  <a:pt x="762000" y="19050"/>
                </a:lnTo>
                <a:lnTo>
                  <a:pt x="0" y="19050"/>
                </a:lnTo>
                <a:lnTo>
                  <a:pt x="0" y="0"/>
                </a:lnTo>
                <a:close/>
              </a:path>
            </a:pathLst>
          </a:custGeom>
          <a:solidFill>
            <a:srgbClr val="0984e3"/>
          </a:solidFill>
          <a:ln w="0">
            <a:noFill/>
          </a:ln>
        </p:spPr>
        <p:style>
          <a:lnRef idx="0"/>
          <a:fillRef idx="0"/>
          <a:effectRef idx="0"/>
          <a:fontRef idx="minor"/>
        </p:style>
      </p:sp>
      <p:sp>
        <p:nvSpPr>
          <p:cNvPr id="50" name="Text 2"/>
          <p:cNvSpPr/>
          <p:nvPr/>
        </p:nvSpPr>
        <p:spPr>
          <a:xfrm>
            <a:off x="380880" y="1428840"/>
            <a:ext cx="7513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01</a:t>
            </a:r>
            <a:endParaRPr b="0" lang="en-HK" sz="4500" spc="-1" strike="noStrike">
              <a:latin typeface="Arial"/>
            </a:endParaRPr>
          </a:p>
        </p:txBody>
      </p:sp>
      <p:sp>
        <p:nvSpPr>
          <p:cNvPr id="51" name="Text 3"/>
          <p:cNvSpPr/>
          <p:nvPr/>
        </p:nvSpPr>
        <p:spPr>
          <a:xfrm>
            <a:off x="1034280" y="1504800"/>
            <a:ext cx="419004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Introduction to Game Theory</a:t>
            </a:r>
            <a:endParaRPr b="0" lang="en-HK" sz="1800" spc="-1" strike="noStrike">
              <a:latin typeface="Arial"/>
            </a:endParaRPr>
          </a:p>
        </p:txBody>
      </p:sp>
      <p:sp>
        <p:nvSpPr>
          <p:cNvPr id="52" name="Text 4"/>
          <p:cNvSpPr/>
          <p:nvPr/>
        </p:nvSpPr>
        <p:spPr>
          <a:xfrm>
            <a:off x="1034280" y="1886040"/>
            <a:ext cx="41612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Defining the mathematical study of strategic interaction</a:t>
            </a:r>
            <a:endParaRPr b="0" lang="en-HK" sz="1350" spc="-1" strike="noStrike">
              <a:latin typeface="Arial"/>
            </a:endParaRPr>
          </a:p>
        </p:txBody>
      </p:sp>
      <p:sp>
        <p:nvSpPr>
          <p:cNvPr id="53" name="Text 5"/>
          <p:cNvSpPr/>
          <p:nvPr/>
        </p:nvSpPr>
        <p:spPr>
          <a:xfrm>
            <a:off x="6400800" y="142884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02</a:t>
            </a:r>
            <a:endParaRPr b="0" lang="en-HK" sz="4500" spc="-1" strike="noStrike">
              <a:latin typeface="Arial"/>
            </a:endParaRPr>
          </a:p>
        </p:txBody>
      </p:sp>
      <p:sp>
        <p:nvSpPr>
          <p:cNvPr id="54" name="Text 6"/>
          <p:cNvSpPr/>
          <p:nvPr/>
        </p:nvSpPr>
        <p:spPr>
          <a:xfrm>
            <a:off x="7160040" y="1504800"/>
            <a:ext cx="4761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Historical Foundations</a:t>
            </a:r>
            <a:endParaRPr b="0" lang="en-HK" sz="1800" spc="-1" strike="noStrike">
              <a:latin typeface="Arial"/>
            </a:endParaRPr>
          </a:p>
        </p:txBody>
      </p:sp>
      <p:sp>
        <p:nvSpPr>
          <p:cNvPr id="55" name="Text 7"/>
          <p:cNvSpPr/>
          <p:nvPr/>
        </p:nvSpPr>
        <p:spPr>
          <a:xfrm>
            <a:off x="7160040" y="1886040"/>
            <a:ext cx="473292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From von Neumann to Nash: The evolution of strategic thinking</a:t>
            </a:r>
            <a:endParaRPr b="0" lang="en-HK" sz="1350" spc="-1" strike="noStrike">
              <a:latin typeface="Arial"/>
            </a:endParaRPr>
          </a:p>
        </p:txBody>
      </p:sp>
      <p:sp>
        <p:nvSpPr>
          <p:cNvPr id="56" name="Text 8"/>
          <p:cNvSpPr/>
          <p:nvPr/>
        </p:nvSpPr>
        <p:spPr>
          <a:xfrm>
            <a:off x="380880" y="2824200"/>
            <a:ext cx="8560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03</a:t>
            </a:r>
            <a:endParaRPr b="0" lang="en-HK" sz="4500" spc="-1" strike="noStrike">
              <a:latin typeface="Arial"/>
            </a:endParaRPr>
          </a:p>
        </p:txBody>
      </p:sp>
      <p:sp>
        <p:nvSpPr>
          <p:cNvPr id="57" name="Text 9"/>
          <p:cNvSpPr/>
          <p:nvPr/>
        </p:nvSpPr>
        <p:spPr>
          <a:xfrm>
            <a:off x="1143000" y="2900520"/>
            <a:ext cx="397080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Core Concepts &amp; Mathematical Framework</a:t>
            </a:r>
            <a:endParaRPr b="0" lang="en-HK" sz="1800" spc="-1" strike="noStrike">
              <a:latin typeface="Arial"/>
            </a:endParaRPr>
          </a:p>
        </p:txBody>
      </p:sp>
      <p:sp>
        <p:nvSpPr>
          <p:cNvPr id="58" name="Text 10"/>
          <p:cNvSpPr/>
          <p:nvPr/>
        </p:nvSpPr>
        <p:spPr>
          <a:xfrm>
            <a:off x="1143000" y="3281400"/>
            <a:ext cx="394236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The essential building blocks of strategic analysis</a:t>
            </a:r>
            <a:endParaRPr b="0" lang="en-HK" sz="1350" spc="-1" strike="noStrike">
              <a:latin typeface="Arial"/>
            </a:endParaRPr>
          </a:p>
        </p:txBody>
      </p:sp>
      <p:sp>
        <p:nvSpPr>
          <p:cNvPr id="59" name="Text 11"/>
          <p:cNvSpPr/>
          <p:nvPr/>
        </p:nvSpPr>
        <p:spPr>
          <a:xfrm>
            <a:off x="6400800" y="2824200"/>
            <a:ext cx="88488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04</a:t>
            </a:r>
            <a:endParaRPr b="0" lang="en-HK" sz="4500" spc="-1" strike="noStrike">
              <a:latin typeface="Arial"/>
            </a:endParaRPr>
          </a:p>
        </p:txBody>
      </p:sp>
      <p:sp>
        <p:nvSpPr>
          <p:cNvPr id="60" name="Text 12"/>
          <p:cNvSpPr/>
          <p:nvPr/>
        </p:nvSpPr>
        <p:spPr>
          <a:xfrm>
            <a:off x="7188480" y="2900520"/>
            <a:ext cx="24753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Types of Games</a:t>
            </a:r>
            <a:endParaRPr b="0" lang="en-HK" sz="1800" spc="-1" strike="noStrike">
              <a:latin typeface="Arial"/>
            </a:endParaRPr>
          </a:p>
        </p:txBody>
      </p:sp>
      <p:sp>
        <p:nvSpPr>
          <p:cNvPr id="61" name="Text 13"/>
          <p:cNvSpPr/>
          <p:nvPr/>
        </p:nvSpPr>
        <p:spPr>
          <a:xfrm>
            <a:off x="7188480" y="3281400"/>
            <a:ext cx="24469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Classifying strategic interactions</a:t>
            </a:r>
            <a:endParaRPr b="0" lang="en-HK" sz="1350" spc="-1" strike="noStrike">
              <a:latin typeface="Arial"/>
            </a:endParaRPr>
          </a:p>
        </p:txBody>
      </p:sp>
      <p:sp>
        <p:nvSpPr>
          <p:cNvPr id="62" name="Text 14"/>
          <p:cNvSpPr/>
          <p:nvPr/>
        </p:nvSpPr>
        <p:spPr>
          <a:xfrm>
            <a:off x="380880" y="3940920"/>
            <a:ext cx="84672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05</a:t>
            </a:r>
            <a:endParaRPr b="0" lang="en-HK" sz="4500" spc="-1" strike="noStrike">
              <a:latin typeface="Arial"/>
            </a:endParaRPr>
          </a:p>
        </p:txBody>
      </p:sp>
      <p:sp>
        <p:nvSpPr>
          <p:cNvPr id="63" name="Text 15"/>
          <p:cNvSpPr/>
          <p:nvPr/>
        </p:nvSpPr>
        <p:spPr>
          <a:xfrm>
            <a:off x="1137240" y="4017240"/>
            <a:ext cx="28659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Classic Game Models</a:t>
            </a:r>
            <a:endParaRPr b="0" lang="en-HK" sz="1800" spc="-1" strike="noStrike">
              <a:latin typeface="Arial"/>
            </a:endParaRPr>
          </a:p>
        </p:txBody>
      </p:sp>
      <p:sp>
        <p:nvSpPr>
          <p:cNvPr id="64" name="Text 16"/>
          <p:cNvSpPr/>
          <p:nvPr/>
        </p:nvSpPr>
        <p:spPr>
          <a:xfrm>
            <a:off x="1137240" y="4398120"/>
            <a:ext cx="283752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Iconic examples that shaped the field</a:t>
            </a:r>
            <a:endParaRPr b="0" lang="en-HK" sz="1350" spc="-1" strike="noStrike">
              <a:latin typeface="Arial"/>
            </a:endParaRPr>
          </a:p>
        </p:txBody>
      </p:sp>
      <p:sp>
        <p:nvSpPr>
          <p:cNvPr id="65" name="Text 17"/>
          <p:cNvSpPr/>
          <p:nvPr/>
        </p:nvSpPr>
        <p:spPr>
          <a:xfrm>
            <a:off x="6400800" y="3940920"/>
            <a:ext cx="86580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0984e3">
                    <a:alpha val="20000"/>
                  </a:srgbClr>
                </a:solidFill>
                <a:latin typeface="Oranienbaum"/>
                <a:ea typeface="Oranienbaum"/>
              </a:rPr>
              <a:t>06</a:t>
            </a:r>
            <a:endParaRPr b="0" lang="en-HK" sz="4500" spc="-1" strike="noStrike">
              <a:latin typeface="Arial"/>
            </a:endParaRPr>
          </a:p>
        </p:txBody>
      </p:sp>
      <p:sp>
        <p:nvSpPr>
          <p:cNvPr id="66" name="Text 18"/>
          <p:cNvSpPr/>
          <p:nvPr/>
        </p:nvSpPr>
        <p:spPr>
          <a:xfrm>
            <a:off x="7171560" y="4017240"/>
            <a:ext cx="30754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Real-World Applications</a:t>
            </a:r>
            <a:endParaRPr b="0" lang="en-HK" sz="1800" spc="-1" strike="noStrike">
              <a:latin typeface="Arial"/>
            </a:endParaRPr>
          </a:p>
        </p:txBody>
      </p:sp>
      <p:sp>
        <p:nvSpPr>
          <p:cNvPr id="67" name="Text 19"/>
          <p:cNvSpPr/>
          <p:nvPr/>
        </p:nvSpPr>
        <p:spPr>
          <a:xfrm>
            <a:off x="7171560" y="4398120"/>
            <a:ext cx="3047040" cy="27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Game theory in action across disciplines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01</a:t>
            </a:r>
            <a:endParaRPr b="0" lang="en-HK" sz="9600" spc="-1" strike="noStrike">
              <a:latin typeface="Arial"/>
            </a:endParaRPr>
          </a:p>
        </p:txBody>
      </p:sp>
      <p:sp>
        <p:nvSpPr>
          <p:cNvPr id="69"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Introduction to</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Game Theory</a:t>
            </a:r>
            <a:endParaRPr b="0" lang="en-HK" sz="4500" spc="-1" strike="noStrike">
              <a:latin typeface="Arial"/>
            </a:endParaRPr>
          </a:p>
        </p:txBody>
      </p:sp>
      <p:sp>
        <p:nvSpPr>
          <p:cNvPr id="70"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71"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Defining the mathematical study of strategic interaction</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2"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INTRODUCTION</a:t>
            </a:r>
            <a:endParaRPr b="0" lang="en-HK" sz="1200" spc="-1" strike="noStrike">
              <a:latin typeface="Arial"/>
            </a:endParaRPr>
          </a:p>
        </p:txBody>
      </p:sp>
      <p:sp>
        <p:nvSpPr>
          <p:cNvPr id="73"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What is Game Theory?</a:t>
            </a:r>
            <a:endParaRPr b="0" lang="en-HK" sz="3600" spc="-1" strike="noStrike">
              <a:latin typeface="Arial"/>
            </a:endParaRPr>
          </a:p>
        </p:txBody>
      </p:sp>
      <p:sp>
        <p:nvSpPr>
          <p:cNvPr id="74" name="Text 2"/>
          <p:cNvSpPr/>
          <p:nvPr/>
        </p:nvSpPr>
        <p:spPr>
          <a:xfrm>
            <a:off x="380880" y="1371600"/>
            <a:ext cx="68284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00008b"/>
                </a:solidFill>
                <a:latin typeface="Quattrocento Sans"/>
                <a:ea typeface="Quattrocento Sans"/>
              </a:rPr>
              <a:t>Game theory is a mathematical framework for analyzing strategic interactions among rational decision-makers.</a:t>
            </a:r>
            <a:r>
              <a:rPr b="0" lang="en-US" sz="1500" spc="-1" strike="noStrike">
                <a:solidFill>
                  <a:srgbClr val="00008b"/>
                </a:solidFill>
                <a:latin typeface="Quattrocento Sans"/>
                <a:ea typeface="Quattrocento Sans"/>
              </a:rPr>
              <a:t> It provides a structured approach to understanding how individuals or groups make decisions in situations where the outcome depends on the choices of multiple participants.</a:t>
            </a:r>
            <a:endParaRPr b="0" lang="en-HK" sz="1500" spc="-1" strike="noStrike">
              <a:solidFill>
                <a:srgbClr val="00008b"/>
              </a:solidFill>
              <a:latin typeface="Arial"/>
            </a:endParaRPr>
          </a:p>
        </p:txBody>
      </p:sp>
      <p:sp>
        <p:nvSpPr>
          <p:cNvPr id="75" name="Text 3"/>
          <p:cNvSpPr/>
          <p:nvPr/>
        </p:nvSpPr>
        <p:spPr>
          <a:xfrm>
            <a:off x="380880" y="2838600"/>
            <a:ext cx="6818760" cy="111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00008b"/>
                </a:solidFill>
                <a:latin typeface="Quattrocento Sans"/>
                <a:ea typeface="Quattrocento Sans"/>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b="0" lang="en-HK" sz="1350" spc="-1" strike="noStrike">
              <a:latin typeface="Arial"/>
            </a:endParaRPr>
          </a:p>
        </p:txBody>
      </p:sp>
      <p:sp>
        <p:nvSpPr>
          <p:cNvPr id="76" name="Shape 4"/>
          <p:cNvSpPr/>
          <p:nvPr/>
        </p:nvSpPr>
        <p:spPr>
          <a:xfrm>
            <a:off x="399960" y="4986360"/>
            <a:ext cx="6714000" cy="1361160"/>
          </a:xfrm>
          <a:custGeom>
            <a:avLst/>
            <a:gdLst/>
            <a:ahLst/>
            <a:rect l="l" t="t" r="r" b="b"/>
            <a:pathLst>
              <a:path w="6715125" h="1362075">
                <a:moveTo>
                  <a:pt x="0" y="0"/>
                </a:moveTo>
                <a:lnTo>
                  <a:pt x="6715125" y="0"/>
                </a:lnTo>
                <a:lnTo>
                  <a:pt x="6715125" y="1362075"/>
                </a:lnTo>
                <a:lnTo>
                  <a:pt x="0" y="1362075"/>
                </a:lnTo>
                <a:lnTo>
                  <a:pt x="0" y="0"/>
                </a:lnTo>
                <a:close/>
              </a:path>
            </a:pathLst>
          </a:custGeom>
          <a:solidFill>
            <a:srgbClr val="f8f9fa"/>
          </a:solidFill>
          <a:ln w="0">
            <a:noFill/>
          </a:ln>
        </p:spPr>
        <p:style>
          <a:lnRef idx="0"/>
          <a:fillRef idx="0"/>
          <a:effectRef idx="0"/>
          <a:fontRef idx="minor"/>
        </p:style>
      </p:sp>
      <p:sp>
        <p:nvSpPr>
          <p:cNvPr id="77" name="Shape 5"/>
          <p:cNvSpPr/>
          <p:nvPr/>
        </p:nvSpPr>
        <p:spPr>
          <a:xfrm>
            <a:off x="399960" y="4986360"/>
            <a:ext cx="37080" cy="1361160"/>
          </a:xfrm>
          <a:custGeom>
            <a:avLst/>
            <a:gdLst/>
            <a:ahLst/>
            <a:rect l="l" t="t" r="r" b="b"/>
            <a:pathLst>
              <a:path w="38100" h="1362075">
                <a:moveTo>
                  <a:pt x="0" y="0"/>
                </a:moveTo>
                <a:lnTo>
                  <a:pt x="38100" y="0"/>
                </a:lnTo>
                <a:lnTo>
                  <a:pt x="38100" y="1362075"/>
                </a:lnTo>
                <a:lnTo>
                  <a:pt x="0" y="1362075"/>
                </a:lnTo>
                <a:lnTo>
                  <a:pt x="0" y="0"/>
                </a:lnTo>
                <a:close/>
              </a:path>
            </a:pathLst>
          </a:custGeom>
          <a:solidFill>
            <a:srgbClr val="0984e3"/>
          </a:solidFill>
          <a:ln w="0">
            <a:noFill/>
          </a:ln>
        </p:spPr>
        <p:style>
          <a:lnRef idx="0"/>
          <a:fillRef idx="0"/>
          <a:effectRef idx="0"/>
          <a:fontRef idx="minor"/>
        </p:style>
      </p:sp>
      <p:sp>
        <p:nvSpPr>
          <p:cNvPr id="78" name="Text 6"/>
          <p:cNvSpPr/>
          <p:nvPr/>
        </p:nvSpPr>
        <p:spPr>
          <a:xfrm>
            <a:off x="647640" y="5214960"/>
            <a:ext cx="6323400" cy="56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350" spc="-1" strike="noStrike">
                <a:solidFill>
                  <a:srgbClr val="00008b"/>
                </a:solidFill>
                <a:latin typeface="Quattrocento Sans"/>
                <a:ea typeface="Quattrocento Sans"/>
              </a:rPr>
              <a:t>"Game theory is the study of mathematical models of strategic interaction among rational decision-makers."</a:t>
            </a:r>
            <a:endParaRPr b="0" lang="en-HK" sz="1350" spc="-1" strike="noStrike">
              <a:latin typeface="Arial"/>
            </a:endParaRPr>
          </a:p>
        </p:txBody>
      </p:sp>
      <p:sp>
        <p:nvSpPr>
          <p:cNvPr id="79" name="Text 7"/>
          <p:cNvSpPr/>
          <p:nvPr/>
        </p:nvSpPr>
        <p:spPr>
          <a:xfrm>
            <a:off x="647640" y="5886360"/>
            <a:ext cx="63140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 </a:t>
            </a:r>
            <a:r>
              <a:rPr b="0" lang="en-US" sz="1200" spc="-1" strike="noStrike">
                <a:solidFill>
                  <a:srgbClr val="636e72"/>
                </a:solidFill>
                <a:latin typeface="Quattrocento Sans"/>
                <a:ea typeface="Quattrocento Sans"/>
              </a:rPr>
              <a:t>Roger Myerson, Nobel Laureate 2007</a:t>
            </a:r>
            <a:endParaRPr b="0" lang="en-HK" sz="1200" spc="-1" strike="noStrike">
              <a:latin typeface="Arial"/>
            </a:endParaRPr>
          </a:p>
        </p:txBody>
      </p:sp>
      <p:sp>
        <p:nvSpPr>
          <p:cNvPr id="80" name="Shape 8"/>
          <p:cNvSpPr/>
          <p:nvPr/>
        </p:nvSpPr>
        <p:spPr>
          <a:xfrm>
            <a:off x="7426440" y="137628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1" name="Shape 9"/>
          <p:cNvSpPr/>
          <p:nvPr/>
        </p:nvSpPr>
        <p:spPr>
          <a:xfrm>
            <a:off x="7660080" y="160956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2" name="Shape 10"/>
          <p:cNvSpPr/>
          <p:nvPr/>
        </p:nvSpPr>
        <p:spPr>
          <a:xfrm>
            <a:off x="7745760" y="1714680"/>
            <a:ext cx="213120" cy="170280"/>
          </a:xfrm>
          <a:custGeom>
            <a:avLst/>
            <a:gdLst/>
            <a:ah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w="0">
            <a:noFill/>
          </a:ln>
        </p:spPr>
        <p:style>
          <a:lnRef idx="0"/>
          <a:fillRef idx="0"/>
          <a:effectRef idx="0"/>
          <a:fontRef idx="minor"/>
        </p:style>
      </p:sp>
      <p:sp>
        <p:nvSpPr>
          <p:cNvPr id="83" name="Text 11"/>
          <p:cNvSpPr/>
          <p:nvPr/>
        </p:nvSpPr>
        <p:spPr>
          <a:xfrm>
            <a:off x="8155440" y="1666800"/>
            <a:ext cx="6372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Players</a:t>
            </a:r>
            <a:endParaRPr b="0" lang="en-HK" sz="1500" spc="-1" strike="noStrike">
              <a:latin typeface="Arial"/>
            </a:endParaRPr>
          </a:p>
        </p:txBody>
      </p:sp>
      <p:sp>
        <p:nvSpPr>
          <p:cNvPr id="84" name="Text 12"/>
          <p:cNvSpPr/>
          <p:nvPr/>
        </p:nvSpPr>
        <p:spPr>
          <a:xfrm>
            <a:off x="7660080" y="214308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Decision-makers whose choices influence outcomes. Games may involve two players or many.</a:t>
            </a:r>
            <a:endParaRPr b="0" lang="en-HK" sz="1200" spc="-1" strike="noStrike">
              <a:latin typeface="Arial"/>
            </a:endParaRPr>
          </a:p>
        </p:txBody>
      </p:sp>
      <p:sp>
        <p:nvSpPr>
          <p:cNvPr id="85" name="Shape 13"/>
          <p:cNvSpPr/>
          <p:nvPr/>
        </p:nvSpPr>
        <p:spPr>
          <a:xfrm>
            <a:off x="7426440" y="31100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86" name="Shape 14"/>
          <p:cNvSpPr/>
          <p:nvPr/>
        </p:nvSpPr>
        <p:spPr>
          <a:xfrm>
            <a:off x="7660080" y="33433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87" name="Shape 15"/>
          <p:cNvSpPr/>
          <p:nvPr/>
        </p:nvSpPr>
        <p:spPr>
          <a:xfrm>
            <a:off x="7767000" y="3448080"/>
            <a:ext cx="170280" cy="170280"/>
          </a:xfrm>
          <a:custGeom>
            <a:avLst/>
            <a:gdLst/>
            <a:ah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w="0">
            <a:noFill/>
          </a:ln>
        </p:spPr>
        <p:style>
          <a:lnRef idx="0"/>
          <a:fillRef idx="0"/>
          <a:effectRef idx="0"/>
          <a:fontRef idx="minor"/>
        </p:style>
      </p:sp>
      <p:sp>
        <p:nvSpPr>
          <p:cNvPr id="88" name="Text 16"/>
          <p:cNvSpPr/>
          <p:nvPr/>
        </p:nvSpPr>
        <p:spPr>
          <a:xfrm>
            <a:off x="8155440" y="3400560"/>
            <a:ext cx="8658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Strategies</a:t>
            </a:r>
            <a:endParaRPr b="0" lang="en-HK" sz="1500" spc="-1" strike="noStrike">
              <a:latin typeface="Arial"/>
            </a:endParaRPr>
          </a:p>
        </p:txBody>
      </p:sp>
      <p:sp>
        <p:nvSpPr>
          <p:cNvPr id="89" name="Text 17"/>
          <p:cNvSpPr/>
          <p:nvPr/>
        </p:nvSpPr>
        <p:spPr>
          <a:xfrm>
            <a:off x="7660080" y="38768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Complete plans of action available to each player, specifying choices at every decision point.</a:t>
            </a:r>
            <a:endParaRPr b="0" lang="en-HK" sz="1200" spc="-1" strike="noStrike">
              <a:latin typeface="Arial"/>
            </a:endParaRPr>
          </a:p>
        </p:txBody>
      </p:sp>
      <p:sp>
        <p:nvSpPr>
          <p:cNvPr id="90" name="Shape 18"/>
          <p:cNvSpPr/>
          <p:nvPr/>
        </p:nvSpPr>
        <p:spPr>
          <a:xfrm>
            <a:off x="7426440" y="4843440"/>
            <a:ext cx="4380480" cy="1494360"/>
          </a:xfrm>
          <a:custGeom>
            <a:avLst/>
            <a:gdLst/>
            <a:ah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round/>
          </a:ln>
        </p:spPr>
        <p:style>
          <a:lnRef idx="0"/>
          <a:fillRef idx="0"/>
          <a:effectRef idx="0"/>
          <a:fontRef idx="minor"/>
        </p:style>
      </p:sp>
      <p:sp>
        <p:nvSpPr>
          <p:cNvPr id="91" name="Shape 19"/>
          <p:cNvSpPr/>
          <p:nvPr/>
        </p:nvSpPr>
        <p:spPr>
          <a:xfrm>
            <a:off x="7660080" y="5076720"/>
            <a:ext cx="379800" cy="379800"/>
          </a:xfrm>
          <a:custGeom>
            <a:avLst/>
            <a:gdLst/>
            <a:ahLst/>
            <a:rect l="l" t="t" r="r" b="b"/>
            <a:pathLst>
              <a:path w="381000" h="381000">
                <a:moveTo>
                  <a:pt x="0" y="0"/>
                </a:moveTo>
                <a:lnTo>
                  <a:pt x="381000" y="0"/>
                </a:lnTo>
                <a:lnTo>
                  <a:pt x="381000" y="381000"/>
                </a:lnTo>
                <a:lnTo>
                  <a:pt x="0" y="381000"/>
                </a:lnTo>
                <a:lnTo>
                  <a:pt x="0" y="0"/>
                </a:lnTo>
                <a:close/>
              </a:path>
            </a:pathLst>
          </a:custGeom>
          <a:solidFill>
            <a:srgbClr val="0984e3"/>
          </a:solidFill>
          <a:ln w="0">
            <a:noFill/>
          </a:ln>
        </p:spPr>
        <p:style>
          <a:lnRef idx="0"/>
          <a:fillRef idx="0"/>
          <a:effectRef idx="0"/>
          <a:fontRef idx="minor"/>
        </p:style>
      </p:sp>
      <p:sp>
        <p:nvSpPr>
          <p:cNvPr id="92" name="Shape 20"/>
          <p:cNvSpPr/>
          <p:nvPr/>
        </p:nvSpPr>
        <p:spPr>
          <a:xfrm>
            <a:off x="7767000" y="5181480"/>
            <a:ext cx="170280" cy="170280"/>
          </a:xfrm>
          <a:custGeom>
            <a:avLst/>
            <a:gdLst/>
            <a:ah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w="0">
            <a:noFill/>
          </a:ln>
        </p:spPr>
        <p:style>
          <a:lnRef idx="0"/>
          <a:fillRef idx="0"/>
          <a:effectRef idx="0"/>
          <a:fontRef idx="minor"/>
        </p:style>
      </p:sp>
      <p:sp>
        <p:nvSpPr>
          <p:cNvPr id="93" name="Text 21"/>
          <p:cNvSpPr/>
          <p:nvPr/>
        </p:nvSpPr>
        <p:spPr>
          <a:xfrm>
            <a:off x="8155440" y="5133960"/>
            <a:ext cx="6562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Payoffs</a:t>
            </a:r>
            <a:endParaRPr b="0" lang="en-HK" sz="1500" spc="-1" strike="noStrike">
              <a:latin typeface="Arial"/>
            </a:endParaRPr>
          </a:p>
        </p:txBody>
      </p:sp>
      <p:sp>
        <p:nvSpPr>
          <p:cNvPr id="94" name="Text 22"/>
          <p:cNvSpPr/>
          <p:nvPr/>
        </p:nvSpPr>
        <p:spPr>
          <a:xfrm>
            <a:off x="7660080" y="5610240"/>
            <a:ext cx="398988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200" spc="-1" strike="noStrike">
                <a:solidFill>
                  <a:srgbClr val="00008b"/>
                </a:solidFill>
                <a:latin typeface="Quattrocento Sans"/>
                <a:ea typeface="Quattrocento Sans"/>
              </a:rPr>
              <a:t>Numerical values representing utility or benefit received by players for each outcome.</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5"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02</a:t>
            </a:r>
            <a:endParaRPr b="0" lang="en-HK" sz="9600" spc="-1" strike="noStrike">
              <a:latin typeface="Arial"/>
            </a:endParaRPr>
          </a:p>
        </p:txBody>
      </p:sp>
      <p:sp>
        <p:nvSpPr>
          <p:cNvPr id="96"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Historical</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Foundations</a:t>
            </a:r>
            <a:endParaRPr b="0" lang="en-HK" sz="4500" spc="-1" strike="noStrike">
              <a:latin typeface="Arial"/>
            </a:endParaRPr>
          </a:p>
        </p:txBody>
      </p:sp>
      <p:sp>
        <p:nvSpPr>
          <p:cNvPr id="97"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98"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From von Neumann to Nash: The evolution of strategic thinking</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324360" y="324360"/>
            <a:ext cx="116071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43" strike="noStrike">
                <a:solidFill>
                  <a:srgbClr val="0984e3"/>
                </a:solidFill>
                <a:latin typeface="Quattrocento Sans"/>
                <a:ea typeface="Quattrocento Sans"/>
              </a:rPr>
              <a:t>HISTORICAL DEVELOPMENT</a:t>
            </a:r>
            <a:endParaRPr b="0" lang="en-HK" sz="1020" spc="-1" strike="noStrike">
              <a:latin typeface="Arial"/>
            </a:endParaRPr>
          </a:p>
        </p:txBody>
      </p:sp>
      <p:sp>
        <p:nvSpPr>
          <p:cNvPr id="100" name="Text 1"/>
          <p:cNvSpPr/>
          <p:nvPr/>
        </p:nvSpPr>
        <p:spPr>
          <a:xfrm>
            <a:off x="324360" y="583560"/>
            <a:ext cx="11737080" cy="3880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060" spc="-1" strike="noStrike">
                <a:solidFill>
                  <a:srgbClr val="2d3436"/>
                </a:solidFill>
                <a:latin typeface="Oranienbaum"/>
                <a:ea typeface="Oranienbaum"/>
              </a:rPr>
              <a:t>The Pioneers of Game Theory</a:t>
            </a:r>
            <a:endParaRPr b="0" lang="en-HK" sz="3060" spc="-1" strike="noStrike">
              <a:latin typeface="Arial"/>
            </a:endParaRPr>
          </a:p>
        </p:txBody>
      </p:sp>
      <p:sp>
        <p:nvSpPr>
          <p:cNvPr id="101" name="Shape 2"/>
          <p:cNvSpPr/>
          <p:nvPr/>
        </p:nvSpPr>
        <p:spPr>
          <a:xfrm>
            <a:off x="6095880" y="1167480"/>
            <a:ext cx="15120" cy="4976280"/>
          </a:xfrm>
          <a:custGeom>
            <a:avLst/>
            <a:gdLst/>
            <a:ahLst/>
            <a:rect l="l" t="t" r="r" b="b"/>
            <a:pathLst>
              <a:path w="16213" h="4977319">
                <a:moveTo>
                  <a:pt x="0" y="0"/>
                </a:moveTo>
                <a:lnTo>
                  <a:pt x="16213" y="0"/>
                </a:lnTo>
                <a:lnTo>
                  <a:pt x="16213" y="4977319"/>
                </a:lnTo>
                <a:lnTo>
                  <a:pt x="0" y="4977319"/>
                </a:lnTo>
                <a:lnTo>
                  <a:pt x="0" y="0"/>
                </a:lnTo>
                <a:close/>
              </a:path>
            </a:pathLst>
          </a:custGeom>
          <a:solidFill>
            <a:srgbClr val="e0e0e0"/>
          </a:solidFill>
          <a:ln w="0">
            <a:noFill/>
          </a:ln>
        </p:spPr>
        <p:style>
          <a:lnRef idx="0"/>
          <a:fillRef idx="0"/>
          <a:effectRef idx="0"/>
          <a:fontRef idx="minor"/>
        </p:style>
      </p:sp>
      <p:sp>
        <p:nvSpPr>
          <p:cNvPr id="102" name="Shape 3"/>
          <p:cNvSpPr/>
          <p:nvPr/>
        </p:nvSpPr>
        <p:spPr>
          <a:xfrm>
            <a:off x="1638000" y="1171440"/>
            <a:ext cx="3865680" cy="720360"/>
          </a:xfrm>
          <a:custGeom>
            <a:avLst/>
            <a:gdLst/>
            <a:ah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3" name="Text 4"/>
          <p:cNvSpPr/>
          <p:nvPr/>
        </p:nvSpPr>
        <p:spPr>
          <a:xfrm>
            <a:off x="1698840" y="1305000"/>
            <a:ext cx="36712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1912 — Ernst Zermelo</a:t>
            </a:r>
            <a:endParaRPr b="0" lang="en-HK" sz="1150" spc="-1" strike="noStrike">
              <a:latin typeface="Arial"/>
            </a:endParaRPr>
          </a:p>
        </p:txBody>
      </p:sp>
      <p:sp>
        <p:nvSpPr>
          <p:cNvPr id="104" name="Text 5"/>
          <p:cNvSpPr/>
          <p:nvPr/>
        </p:nvSpPr>
        <p:spPr>
          <a:xfrm>
            <a:off x="1706760" y="1564560"/>
            <a:ext cx="36630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0" lang="en-US" sz="1020" spc="-1" strike="noStrike">
                <a:solidFill>
                  <a:srgbClr val="636e72"/>
                </a:solidFill>
                <a:latin typeface="Quattrocento Sans"/>
                <a:ea typeface="Quattrocento Sans"/>
              </a:rPr>
              <a:t>Proved chess is determined; laid early mathematical foundations</a:t>
            </a:r>
            <a:endParaRPr b="0" lang="en-HK" sz="1020" spc="-1" strike="noStrike">
              <a:latin typeface="Arial"/>
            </a:endParaRPr>
          </a:p>
        </p:txBody>
      </p:sp>
      <p:sp>
        <p:nvSpPr>
          <p:cNvPr id="105" name="Shape 6"/>
          <p:cNvSpPr/>
          <p:nvPr/>
        </p:nvSpPr>
        <p:spPr>
          <a:xfrm>
            <a:off x="6683760" y="2030760"/>
            <a:ext cx="3290040" cy="720360"/>
          </a:xfrm>
          <a:custGeom>
            <a:avLst/>
            <a:gdLst/>
            <a:ah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06" name="Text 7"/>
          <p:cNvSpPr/>
          <p:nvPr/>
        </p:nvSpPr>
        <p:spPr>
          <a:xfrm>
            <a:off x="6817320" y="2164320"/>
            <a:ext cx="309564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1921 — Émile Borel</a:t>
            </a:r>
            <a:endParaRPr b="0" lang="en-HK" sz="1150" spc="-1" strike="noStrike">
              <a:latin typeface="Arial"/>
            </a:endParaRPr>
          </a:p>
        </p:txBody>
      </p:sp>
      <p:sp>
        <p:nvSpPr>
          <p:cNvPr id="107" name="Text 8"/>
          <p:cNvSpPr/>
          <p:nvPr/>
        </p:nvSpPr>
        <p:spPr>
          <a:xfrm>
            <a:off x="6817320" y="2423880"/>
            <a:ext cx="30873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Posed fundamental questions about optimal strategies</a:t>
            </a:r>
            <a:endParaRPr b="0" lang="en-HK" sz="1020" spc="-1" strike="noStrike">
              <a:latin typeface="Arial"/>
            </a:endParaRPr>
          </a:p>
        </p:txBody>
      </p:sp>
      <p:sp>
        <p:nvSpPr>
          <p:cNvPr id="108" name="Shape 9"/>
          <p:cNvSpPr/>
          <p:nvPr/>
        </p:nvSpPr>
        <p:spPr>
          <a:xfrm>
            <a:off x="633600" y="2885760"/>
            <a:ext cx="4879080" cy="712440"/>
          </a:xfrm>
          <a:custGeom>
            <a:avLst/>
            <a:gdLst/>
            <a:ahLst/>
            <a:rect l="l" t="t" r="r" b="b"/>
            <a:pathLst>
              <a:path w="4880043" h="713362">
                <a:moveTo>
                  <a:pt x="0" y="0"/>
                </a:moveTo>
                <a:lnTo>
                  <a:pt x="4880043" y="0"/>
                </a:lnTo>
                <a:lnTo>
                  <a:pt x="4880043" y="713362"/>
                </a:lnTo>
                <a:lnTo>
                  <a:pt x="0" y="713362"/>
                </a:lnTo>
                <a:lnTo>
                  <a:pt x="0" y="0"/>
                </a:lnTo>
                <a:close/>
              </a:path>
            </a:pathLst>
          </a:custGeom>
          <a:solidFill>
            <a:srgbClr val="f8f9fa"/>
          </a:solidFill>
          <a:ln w="0">
            <a:noFill/>
          </a:ln>
        </p:spPr>
        <p:style>
          <a:lnRef idx="0"/>
          <a:fillRef idx="0"/>
          <a:effectRef idx="0"/>
          <a:fontRef idx="minor"/>
        </p:style>
      </p:sp>
      <p:sp>
        <p:nvSpPr>
          <p:cNvPr id="109" name="Shape 10"/>
          <p:cNvSpPr/>
          <p:nvPr/>
        </p:nvSpPr>
        <p:spPr>
          <a:xfrm>
            <a:off x="633600" y="288576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0" name="Text 11"/>
          <p:cNvSpPr/>
          <p:nvPr/>
        </p:nvSpPr>
        <p:spPr>
          <a:xfrm>
            <a:off x="706680" y="3015720"/>
            <a:ext cx="467640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2d3436"/>
                </a:solidFill>
                <a:latin typeface="Oranienbaum"/>
                <a:ea typeface="Oranienbaum"/>
              </a:rPr>
              <a:t>1928 — John von Neumann</a:t>
            </a:r>
            <a:endParaRPr b="0" lang="en-HK" sz="1150" spc="-1" strike="noStrike">
              <a:latin typeface="Arial"/>
            </a:endParaRPr>
          </a:p>
        </p:txBody>
      </p:sp>
      <p:sp>
        <p:nvSpPr>
          <p:cNvPr id="111" name="Text 12"/>
          <p:cNvSpPr/>
          <p:nvPr/>
        </p:nvSpPr>
        <p:spPr>
          <a:xfrm>
            <a:off x="714960" y="3274920"/>
            <a:ext cx="466812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636e72"/>
                </a:solidFill>
                <a:latin typeface="Quattrocento Sans"/>
                <a:ea typeface="Quattrocento Sans"/>
              </a:rPr>
              <a:t>Minimax Theorem:</a:t>
            </a:r>
            <a:r>
              <a:rPr b="0" lang="en-US" sz="1020" spc="-1" strike="noStrike">
                <a:solidFill>
                  <a:srgbClr val="636e72"/>
                </a:solidFill>
                <a:latin typeface="Quattrocento Sans"/>
                <a:ea typeface="Quattrocento Sans"/>
              </a:rPr>
              <a:t> Proved all two-person zero-sum games have optimal solutions</a:t>
            </a:r>
            <a:endParaRPr b="0" lang="en-HK" sz="1020" spc="-1" strike="noStrike">
              <a:latin typeface="Arial"/>
            </a:endParaRPr>
          </a:p>
        </p:txBody>
      </p:sp>
      <p:sp>
        <p:nvSpPr>
          <p:cNvPr id="112" name="Shape 13"/>
          <p:cNvSpPr/>
          <p:nvPr/>
        </p:nvSpPr>
        <p:spPr>
          <a:xfrm>
            <a:off x="6696000" y="3728880"/>
            <a:ext cx="5016600" cy="712440"/>
          </a:xfrm>
          <a:custGeom>
            <a:avLst/>
            <a:gdLst/>
            <a:ahLst/>
            <a:rect l="l" t="t" r="r" b="b"/>
            <a:pathLst>
              <a:path w="5017851" h="713362">
                <a:moveTo>
                  <a:pt x="0" y="0"/>
                </a:moveTo>
                <a:lnTo>
                  <a:pt x="5017851" y="0"/>
                </a:lnTo>
                <a:lnTo>
                  <a:pt x="5017851" y="713362"/>
                </a:lnTo>
                <a:lnTo>
                  <a:pt x="0" y="713362"/>
                </a:lnTo>
                <a:lnTo>
                  <a:pt x="0" y="0"/>
                </a:lnTo>
                <a:close/>
              </a:path>
            </a:pathLst>
          </a:custGeom>
          <a:solidFill>
            <a:srgbClr val="f8f9fa"/>
          </a:solidFill>
          <a:ln w="0">
            <a:noFill/>
          </a:ln>
        </p:spPr>
        <p:style>
          <a:lnRef idx="0"/>
          <a:fillRef idx="0"/>
          <a:effectRef idx="0"/>
          <a:fontRef idx="minor"/>
        </p:style>
      </p:sp>
      <p:sp>
        <p:nvSpPr>
          <p:cNvPr id="113" name="Shape 14"/>
          <p:cNvSpPr/>
          <p:nvPr/>
        </p:nvSpPr>
        <p:spPr>
          <a:xfrm>
            <a:off x="6696000" y="3728880"/>
            <a:ext cx="31320" cy="712440"/>
          </a:xfrm>
          <a:custGeom>
            <a:avLst/>
            <a:gdLst/>
            <a:ahLst/>
            <a:rect l="l" t="t" r="r" b="b"/>
            <a:pathLst>
              <a:path w="32426" h="713362">
                <a:moveTo>
                  <a:pt x="0" y="0"/>
                </a:moveTo>
                <a:lnTo>
                  <a:pt x="32426" y="0"/>
                </a:lnTo>
                <a:lnTo>
                  <a:pt x="32426" y="713362"/>
                </a:lnTo>
                <a:lnTo>
                  <a:pt x="0" y="713362"/>
                </a:lnTo>
                <a:lnTo>
                  <a:pt x="0" y="0"/>
                </a:lnTo>
                <a:close/>
              </a:path>
            </a:pathLst>
          </a:custGeom>
          <a:solidFill>
            <a:srgbClr val="0984e3"/>
          </a:solidFill>
          <a:ln w="0">
            <a:noFill/>
          </a:ln>
        </p:spPr>
        <p:style>
          <a:lnRef idx="0"/>
          <a:fillRef idx="0"/>
          <a:effectRef idx="0"/>
          <a:fontRef idx="minor"/>
        </p:style>
      </p:sp>
      <p:sp>
        <p:nvSpPr>
          <p:cNvPr id="114" name="Text 15"/>
          <p:cNvSpPr/>
          <p:nvPr/>
        </p:nvSpPr>
        <p:spPr>
          <a:xfrm>
            <a:off x="6841800" y="3858480"/>
            <a:ext cx="48142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1944 — von Neumann &amp; Morgenstern</a:t>
            </a:r>
            <a:endParaRPr b="0" lang="en-HK" sz="1150" spc="-1" strike="noStrike">
              <a:latin typeface="Arial"/>
            </a:endParaRPr>
          </a:p>
        </p:txBody>
      </p:sp>
      <p:sp>
        <p:nvSpPr>
          <p:cNvPr id="115" name="Text 16"/>
          <p:cNvSpPr/>
          <p:nvPr/>
        </p:nvSpPr>
        <p:spPr>
          <a:xfrm>
            <a:off x="6841800" y="4118040"/>
            <a:ext cx="480600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636e72"/>
                </a:solidFill>
                <a:latin typeface="Quattrocento Sans"/>
                <a:ea typeface="Quattrocento Sans"/>
              </a:rPr>
              <a:t>"Theory of Games and Economic Behavior"</a:t>
            </a:r>
            <a:r>
              <a:rPr b="0" lang="en-US" sz="1020" spc="-1" strike="noStrike">
                <a:solidFill>
                  <a:srgbClr val="636e72"/>
                </a:solidFill>
                <a:latin typeface="Quattrocento Sans"/>
                <a:ea typeface="Quattrocento Sans"/>
              </a:rPr>
              <a:t> — established game theory as a discipline</a:t>
            </a:r>
            <a:endParaRPr b="0" lang="en-HK" sz="1020" spc="-1" strike="noStrike">
              <a:latin typeface="Arial"/>
            </a:endParaRPr>
          </a:p>
        </p:txBody>
      </p:sp>
      <p:sp>
        <p:nvSpPr>
          <p:cNvPr id="116" name="Shape 17"/>
          <p:cNvSpPr/>
          <p:nvPr/>
        </p:nvSpPr>
        <p:spPr>
          <a:xfrm>
            <a:off x="1476360" y="4572000"/>
            <a:ext cx="4035960" cy="712440"/>
          </a:xfrm>
          <a:custGeom>
            <a:avLst/>
            <a:gdLst/>
            <a:ahLst/>
            <a:rect l="l" t="t" r="r" b="b"/>
            <a:pathLst>
              <a:path w="4036979" h="713362">
                <a:moveTo>
                  <a:pt x="0" y="0"/>
                </a:moveTo>
                <a:lnTo>
                  <a:pt x="4036979" y="0"/>
                </a:lnTo>
                <a:lnTo>
                  <a:pt x="4036979" y="713362"/>
                </a:lnTo>
                <a:lnTo>
                  <a:pt x="0" y="713362"/>
                </a:lnTo>
                <a:lnTo>
                  <a:pt x="0" y="0"/>
                </a:lnTo>
                <a:close/>
              </a:path>
            </a:pathLst>
          </a:custGeom>
          <a:solidFill>
            <a:srgbClr val="2d3436"/>
          </a:solidFill>
          <a:ln w="0">
            <a:noFill/>
          </a:ln>
        </p:spPr>
        <p:style>
          <a:lnRef idx="0"/>
          <a:fillRef idx="0"/>
          <a:effectRef idx="0"/>
          <a:fontRef idx="minor"/>
        </p:style>
      </p:sp>
      <p:sp>
        <p:nvSpPr>
          <p:cNvPr id="117" name="Text 18"/>
          <p:cNvSpPr/>
          <p:nvPr/>
        </p:nvSpPr>
        <p:spPr>
          <a:xfrm>
            <a:off x="1532880" y="4701600"/>
            <a:ext cx="3849480" cy="2257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150" spc="-1" strike="noStrike">
                <a:solidFill>
                  <a:srgbClr val="ffffff"/>
                </a:solidFill>
                <a:latin typeface="Oranienbaum"/>
                <a:ea typeface="Oranienbaum"/>
              </a:rPr>
              <a:t>1950 — John Nash</a:t>
            </a:r>
            <a:endParaRPr b="0" lang="en-HK" sz="1150" spc="-1" strike="noStrike">
              <a:latin typeface="Arial"/>
            </a:endParaRPr>
          </a:p>
        </p:txBody>
      </p:sp>
      <p:sp>
        <p:nvSpPr>
          <p:cNvPr id="118" name="Text 19"/>
          <p:cNvSpPr/>
          <p:nvPr/>
        </p:nvSpPr>
        <p:spPr>
          <a:xfrm>
            <a:off x="1541160" y="4961160"/>
            <a:ext cx="3841200" cy="193320"/>
          </a:xfrm>
          <a:prstGeom prst="rect">
            <a:avLst/>
          </a:prstGeom>
          <a:noFill/>
          <a:ln w="0">
            <a:noFill/>
          </a:ln>
        </p:spPr>
        <p:style>
          <a:lnRef idx="0"/>
          <a:fillRef idx="0"/>
          <a:effectRef idx="0"/>
          <a:fontRef idx="minor"/>
        </p:style>
        <p:txBody>
          <a:bodyPr lIns="0" rIns="0" tIns="0" bIns="0" anchor="ctr">
            <a:noAutofit/>
          </a:bodyPr>
          <a:p>
            <a:pPr algn="r">
              <a:lnSpc>
                <a:spcPct val="130000"/>
              </a:lnSpc>
              <a:buNone/>
            </a:pPr>
            <a:r>
              <a:rPr b="1" lang="en-US" sz="1020" spc="-1" strike="noStrike">
                <a:solidFill>
                  <a:srgbClr val="e0e0e0"/>
                </a:solidFill>
                <a:latin typeface="Quattrocento Sans"/>
                <a:ea typeface="Quattrocento Sans"/>
              </a:rPr>
              <a:t>Nash Equilibrium:</a:t>
            </a:r>
            <a:r>
              <a:rPr b="0" lang="en-US" sz="1020" spc="-1" strike="noStrike">
                <a:solidFill>
                  <a:srgbClr val="e0e0e0"/>
                </a:solidFill>
                <a:latin typeface="Quattrocento Sans"/>
                <a:ea typeface="Quattrocento Sans"/>
              </a:rPr>
              <a:t> Proved existence of equilibrium in all finite games</a:t>
            </a:r>
            <a:endParaRPr b="0" lang="en-HK" sz="1020" spc="-1" strike="noStrike">
              <a:latin typeface="Arial"/>
            </a:endParaRPr>
          </a:p>
        </p:txBody>
      </p:sp>
      <p:sp>
        <p:nvSpPr>
          <p:cNvPr id="119" name="Shape 20"/>
          <p:cNvSpPr/>
          <p:nvPr/>
        </p:nvSpPr>
        <p:spPr>
          <a:xfrm>
            <a:off x="6683760" y="5419080"/>
            <a:ext cx="3987360" cy="720360"/>
          </a:xfrm>
          <a:custGeom>
            <a:avLst/>
            <a:gdLst/>
            <a:ah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round/>
          </a:ln>
        </p:spPr>
        <p:style>
          <a:lnRef idx="0"/>
          <a:fillRef idx="0"/>
          <a:effectRef idx="0"/>
          <a:fontRef idx="minor"/>
        </p:style>
      </p:sp>
      <p:sp>
        <p:nvSpPr>
          <p:cNvPr id="120" name="Text 21"/>
          <p:cNvSpPr/>
          <p:nvPr/>
        </p:nvSpPr>
        <p:spPr>
          <a:xfrm>
            <a:off x="6817320" y="5553000"/>
            <a:ext cx="379260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2d3436"/>
                </a:solidFill>
                <a:latin typeface="Oranienbaum"/>
                <a:ea typeface="Oranienbaum"/>
              </a:rPr>
              <a:t>1994 — Nobel Prize</a:t>
            </a:r>
            <a:endParaRPr b="0" lang="en-HK" sz="1150" spc="-1" strike="noStrike">
              <a:latin typeface="Arial"/>
            </a:endParaRPr>
          </a:p>
        </p:txBody>
      </p:sp>
      <p:sp>
        <p:nvSpPr>
          <p:cNvPr id="121" name="Text 22"/>
          <p:cNvSpPr/>
          <p:nvPr/>
        </p:nvSpPr>
        <p:spPr>
          <a:xfrm>
            <a:off x="6817320" y="5812200"/>
            <a:ext cx="37846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20" spc="-1" strike="noStrike">
                <a:solidFill>
                  <a:srgbClr val="636e72"/>
                </a:solidFill>
                <a:latin typeface="Quattrocento Sans"/>
                <a:ea typeface="Quattrocento Sans"/>
              </a:rPr>
              <a:t>Nash, Harsanyi, and Selten awarded for game theory contributions</a:t>
            </a:r>
            <a:endParaRPr b="0" lang="en-HK" sz="1020" spc="-1" strike="noStrike">
              <a:latin typeface="Arial"/>
            </a:endParaRPr>
          </a:p>
        </p:txBody>
      </p:sp>
      <p:sp>
        <p:nvSpPr>
          <p:cNvPr id="122" name="Shape 23"/>
          <p:cNvSpPr/>
          <p:nvPr/>
        </p:nvSpPr>
        <p:spPr>
          <a:xfrm>
            <a:off x="6031080" y="14673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3" name="Shape 24"/>
          <p:cNvSpPr/>
          <p:nvPr/>
        </p:nvSpPr>
        <p:spPr>
          <a:xfrm>
            <a:off x="6031080" y="232668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4" name="Shape 25"/>
          <p:cNvSpPr/>
          <p:nvPr/>
        </p:nvSpPr>
        <p:spPr>
          <a:xfrm>
            <a:off x="6031080" y="317772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5" name="Shape 26"/>
          <p:cNvSpPr/>
          <p:nvPr/>
        </p:nvSpPr>
        <p:spPr>
          <a:xfrm>
            <a:off x="6031080" y="402084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
        <p:nvSpPr>
          <p:cNvPr id="126" name="Shape 27"/>
          <p:cNvSpPr/>
          <p:nvPr/>
        </p:nvSpPr>
        <p:spPr>
          <a:xfrm>
            <a:off x="6031080" y="486396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w="0">
            <a:noFill/>
          </a:ln>
        </p:spPr>
        <p:style>
          <a:lnRef idx="0"/>
          <a:fillRef idx="0"/>
          <a:effectRef idx="0"/>
          <a:fontRef idx="minor"/>
        </p:style>
      </p:sp>
      <p:sp>
        <p:nvSpPr>
          <p:cNvPr id="127" name="Shape 28"/>
          <p:cNvSpPr/>
          <p:nvPr/>
        </p:nvSpPr>
        <p:spPr>
          <a:xfrm>
            <a:off x="6031080" y="5715000"/>
            <a:ext cx="128520" cy="128520"/>
          </a:xfrm>
          <a:custGeom>
            <a:avLst/>
            <a:gdLst/>
            <a:ah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KEY FIGURE</a:t>
            </a:r>
            <a:endParaRPr b="0" lang="en-HK" sz="1200" spc="-1" strike="noStrike">
              <a:latin typeface="Arial"/>
            </a:endParaRPr>
          </a:p>
        </p:txBody>
      </p:sp>
      <p:sp>
        <p:nvSpPr>
          <p:cNvPr id="129"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John Nash: A Beautiful Mind</a:t>
            </a:r>
            <a:endParaRPr b="0" lang="en-HK" sz="3600" spc="-1" strike="noStrike">
              <a:latin typeface="Arial"/>
            </a:endParaRPr>
          </a:p>
        </p:txBody>
      </p:sp>
      <p:sp>
        <p:nvSpPr>
          <p:cNvPr id="130" name="Image 0"/>
          <p:cNvSpPr/>
          <p:nvPr/>
        </p:nvSpPr>
        <p:spPr>
          <a:xfrm>
            <a:off x="380880" y="1371600"/>
            <a:ext cx="4389840" cy="3047040"/>
          </a:xfrm>
          <a:prstGeom prst="roundRect">
            <a:avLst>
              <a:gd name="adj" fmla="val 0"/>
            </a:avLst>
          </a:prstGeom>
          <a:blipFill rotWithShape="0">
            <a:blip r:embed="rId1"/>
            <a:srcRect/>
            <a:stretch/>
          </a:blipFill>
          <a:ln w="0">
            <a:noFill/>
          </a:ln>
        </p:spPr>
        <p:style>
          <a:lnRef idx="0"/>
          <a:fillRef idx="0"/>
          <a:effectRef idx="0"/>
          <a:fontRef idx="minor"/>
        </p:style>
      </p:sp>
      <p:sp>
        <p:nvSpPr>
          <p:cNvPr id="131" name="Shape 2"/>
          <p:cNvSpPr/>
          <p:nvPr/>
        </p:nvSpPr>
        <p:spPr>
          <a:xfrm>
            <a:off x="399960" y="4648320"/>
            <a:ext cx="4370760" cy="1141920"/>
          </a:xfrm>
          <a:custGeom>
            <a:avLst/>
            <a:gdLst/>
            <a:ahLst/>
            <a:rect l="l" t="t" r="r" b="b"/>
            <a:pathLst>
              <a:path w="4371975" h="1143000">
                <a:moveTo>
                  <a:pt x="0" y="0"/>
                </a:moveTo>
                <a:lnTo>
                  <a:pt x="4371975" y="0"/>
                </a:lnTo>
                <a:lnTo>
                  <a:pt x="4371975" y="1143000"/>
                </a:lnTo>
                <a:lnTo>
                  <a:pt x="0" y="1143000"/>
                </a:lnTo>
                <a:lnTo>
                  <a:pt x="0" y="0"/>
                </a:lnTo>
                <a:close/>
              </a:path>
            </a:pathLst>
          </a:custGeom>
          <a:solidFill>
            <a:srgbClr val="f8f9fa"/>
          </a:solidFill>
          <a:ln w="0">
            <a:noFill/>
          </a:ln>
        </p:spPr>
        <p:style>
          <a:lnRef idx="0"/>
          <a:fillRef idx="0"/>
          <a:effectRef idx="0"/>
          <a:fontRef idx="minor"/>
        </p:style>
      </p:sp>
      <p:sp>
        <p:nvSpPr>
          <p:cNvPr id="132" name="Shape 3"/>
          <p:cNvSpPr/>
          <p:nvPr/>
        </p:nvSpPr>
        <p:spPr>
          <a:xfrm>
            <a:off x="399960" y="464832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33" name="Text 4"/>
          <p:cNvSpPr/>
          <p:nvPr/>
        </p:nvSpPr>
        <p:spPr>
          <a:xfrm>
            <a:off x="609480" y="4838760"/>
            <a:ext cx="40471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 was on the right track. I was doing good work. And then I became mentally disturbed."</a:t>
            </a:r>
            <a:endParaRPr b="0" lang="en-HK" sz="1200" spc="-1" strike="noStrike">
              <a:latin typeface="Arial"/>
            </a:endParaRPr>
          </a:p>
        </p:txBody>
      </p:sp>
      <p:sp>
        <p:nvSpPr>
          <p:cNvPr id="134" name="Text 5"/>
          <p:cNvSpPr/>
          <p:nvPr/>
        </p:nvSpPr>
        <p:spPr>
          <a:xfrm>
            <a:off x="609480" y="5410080"/>
            <a:ext cx="40374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his recovery</a:t>
            </a:r>
            <a:endParaRPr b="0" lang="en-HK" sz="1050" spc="-1" strike="noStrike">
              <a:latin typeface="Arial"/>
            </a:endParaRPr>
          </a:p>
        </p:txBody>
      </p:sp>
      <p:sp>
        <p:nvSpPr>
          <p:cNvPr id="135" name="Text 6"/>
          <p:cNvSpPr/>
          <p:nvPr/>
        </p:nvSpPr>
        <p:spPr>
          <a:xfrm>
            <a:off x="5074920" y="137160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Early Brilliance</a:t>
            </a:r>
            <a:endParaRPr b="0" lang="en-HK" sz="1800" spc="-1" strike="noStrike">
              <a:latin typeface="Arial"/>
            </a:endParaRPr>
          </a:p>
        </p:txBody>
      </p:sp>
      <p:sp>
        <p:nvSpPr>
          <p:cNvPr id="136" name="Text 7"/>
          <p:cNvSpPr/>
          <p:nvPr/>
        </p:nvSpPr>
        <p:spPr>
          <a:xfrm>
            <a:off x="5074920" y="175248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b="0" lang="en-HK" sz="1200" spc="-1" strike="noStrike">
              <a:latin typeface="Arial"/>
            </a:endParaRPr>
          </a:p>
        </p:txBody>
      </p:sp>
      <p:sp>
        <p:nvSpPr>
          <p:cNvPr id="137" name="Text 8"/>
          <p:cNvSpPr/>
          <p:nvPr/>
        </p:nvSpPr>
        <p:spPr>
          <a:xfrm>
            <a:off x="5074920" y="289548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The Nash Equilibrium</a:t>
            </a:r>
            <a:endParaRPr b="0" lang="en-HK" sz="1800" spc="-1" strike="noStrike">
              <a:latin typeface="Arial"/>
            </a:endParaRPr>
          </a:p>
        </p:txBody>
      </p:sp>
      <p:sp>
        <p:nvSpPr>
          <p:cNvPr id="138" name="Text 9"/>
          <p:cNvSpPr/>
          <p:nvPr/>
        </p:nvSpPr>
        <p:spPr>
          <a:xfrm>
            <a:off x="5074920" y="327672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Nash's doctoral thesis introduced the concept that would revolutionize economics: the </a:t>
            </a:r>
            <a:r>
              <a:rPr b="1" lang="en-US" sz="1200" spc="-1" strike="noStrike">
                <a:solidFill>
                  <a:srgbClr val="1e272e"/>
                </a:solidFill>
                <a:latin typeface="Quattrocento Sans"/>
                <a:ea typeface="Quattrocento Sans"/>
              </a:rPr>
              <a:t>Nash Equilibrium</a:t>
            </a:r>
            <a:r>
              <a:rPr b="0" lang="en-US" sz="1200" spc="-1" strike="noStrike">
                <a:solidFill>
                  <a:srgbClr val="1e272e"/>
                </a:solidFill>
                <a:latin typeface="Quattrocento Sans"/>
                <a:ea typeface="Quattrocento Sans"/>
              </a:rPr>
              <a:t>. He proved that in any finite game, there exists at least one set of strategies where no player can benefit by unilaterally changing their strategy. This elegant solution concept became the cornerstone of non-cooperative game theory.</a:t>
            </a:r>
            <a:endParaRPr b="0" lang="en-HK" sz="1200" spc="-1" strike="noStrike">
              <a:latin typeface="Arial"/>
            </a:endParaRPr>
          </a:p>
        </p:txBody>
      </p:sp>
      <p:sp>
        <p:nvSpPr>
          <p:cNvPr id="139" name="Text 10"/>
          <p:cNvSpPr/>
          <p:nvPr/>
        </p:nvSpPr>
        <p:spPr>
          <a:xfrm>
            <a:off x="5074920" y="4419720"/>
            <a:ext cx="684756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2d3436"/>
                </a:solidFill>
                <a:latin typeface="Oranienbaum"/>
                <a:ea typeface="Oranienbaum"/>
              </a:rPr>
              <a:t>Struggle and Triumph</a:t>
            </a:r>
            <a:endParaRPr b="0" lang="en-HK" sz="1800" spc="-1" strike="noStrike">
              <a:latin typeface="Arial"/>
            </a:endParaRPr>
          </a:p>
        </p:txBody>
      </p:sp>
      <p:sp>
        <p:nvSpPr>
          <p:cNvPr id="140" name="Text 11"/>
          <p:cNvSpPr/>
          <p:nvPr/>
        </p:nvSpPr>
        <p:spPr>
          <a:xfrm>
            <a:off x="5074920" y="4800600"/>
            <a:ext cx="680940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r>
              <a:rPr b="1" lang="en-US" sz="1200" spc="-1" strike="noStrike">
                <a:solidFill>
                  <a:srgbClr val="1e272e"/>
                </a:solidFill>
                <a:latin typeface="Quattrocento Sans"/>
                <a:ea typeface="Quattrocento Sans"/>
              </a:rPr>
              <a:t>Nobel Prize in Economic Sciences</a:t>
            </a:r>
            <a:r>
              <a:rPr b="0" lang="en-US" sz="1200" spc="-1" strike="noStrike">
                <a:solidFill>
                  <a:srgbClr val="1e272e"/>
                </a:solidFill>
                <a:latin typeface="Quattrocento Sans"/>
                <a:ea typeface="Quattrocento Sans"/>
              </a:rPr>
              <a:t> for his work on game theory.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03</a:t>
            </a:r>
            <a:endParaRPr b="0" lang="en-HK" sz="9600" spc="-1" strike="noStrike">
              <a:latin typeface="Arial"/>
            </a:endParaRPr>
          </a:p>
        </p:txBody>
      </p:sp>
      <p:sp>
        <p:nvSpPr>
          <p:cNvPr id="142"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Core Concepts &amp;</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Mathematical Framework</a:t>
            </a:r>
            <a:endParaRPr b="0" lang="en-HK" sz="4500" spc="-1" strike="noStrike">
              <a:latin typeface="Arial"/>
            </a:endParaRPr>
          </a:p>
        </p:txBody>
      </p:sp>
      <p:sp>
        <p:nvSpPr>
          <p:cNvPr id="143"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144"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The essential building blocks of strategic analysis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5"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MATHEMATICAL REPRESENTATION</a:t>
            </a:r>
            <a:endParaRPr b="0" lang="en-HK" sz="1200" spc="-1" strike="noStrike">
              <a:latin typeface="Arial"/>
            </a:endParaRPr>
          </a:p>
        </p:txBody>
      </p:sp>
      <p:sp>
        <p:nvSpPr>
          <p:cNvPr id="146"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Payoff Matrices &amp; Strategic Representation</a:t>
            </a:r>
            <a:endParaRPr b="0" lang="en-HK" sz="3600" spc="-1" strike="noStrike">
              <a:latin typeface="Arial"/>
            </a:endParaRPr>
          </a:p>
        </p:txBody>
      </p:sp>
      <p:sp>
        <p:nvSpPr>
          <p:cNvPr id="147" name="Text 2"/>
          <p:cNvSpPr/>
          <p:nvPr/>
        </p:nvSpPr>
        <p:spPr>
          <a:xfrm>
            <a:off x="380880" y="137160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payoff matrix is the fundamental tool for representing strategic interactions in game theory.</a:t>
            </a:r>
            <a:r>
              <a:rPr b="0" lang="en-US" sz="1500" spc="-1" strike="noStrike">
                <a:solidFill>
                  <a:srgbClr val="1e272e"/>
                </a:solidFill>
                <a:latin typeface="Quattrocento Sans"/>
                <a:ea typeface="Quattrocento Sans"/>
              </a:rPr>
              <a:t> It organizes all possible outcomes based on the strategies chosen by each player, enabling systematic analysis of decision-making scenarios.</a:t>
            </a:r>
            <a:endParaRPr b="0" lang="en-HK" sz="1500" spc="-1" strike="noStrike">
              <a:latin typeface="Arial"/>
            </a:endParaRPr>
          </a:p>
        </p:txBody>
      </p:sp>
      <p:sp>
        <p:nvSpPr>
          <p:cNvPr id="148" name="Text 3"/>
          <p:cNvSpPr/>
          <p:nvPr/>
        </p:nvSpPr>
        <p:spPr>
          <a:xfrm>
            <a:off x="380880" y="27622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Each cell in the matrix shows the payoff for every player given a specific combination of strategies. By examining the matrix, we can identify dominant strategies, Nash equilibria, and predict rational behavior.</a:t>
            </a:r>
            <a:endParaRPr b="0" lang="en-HK" sz="1350" spc="-1" strike="noStrike">
              <a:latin typeface="Arial"/>
            </a:endParaRPr>
          </a:p>
        </p:txBody>
      </p:sp>
      <p:sp>
        <p:nvSpPr>
          <p:cNvPr id="149" name="Shape 4"/>
          <p:cNvSpPr/>
          <p:nvPr/>
        </p:nvSpPr>
        <p:spPr>
          <a:xfrm>
            <a:off x="399960" y="3750480"/>
            <a:ext cx="5542560" cy="1599120"/>
          </a:xfrm>
          <a:custGeom>
            <a:avLst/>
            <a:gdLst/>
            <a:ahLst/>
            <a:rect l="l" t="t" r="r" b="b"/>
            <a:pathLst>
              <a:path w="5543550" h="1600200">
                <a:moveTo>
                  <a:pt x="0" y="0"/>
                </a:moveTo>
                <a:lnTo>
                  <a:pt x="5543550" y="0"/>
                </a:lnTo>
                <a:lnTo>
                  <a:pt x="5543550" y="1600200"/>
                </a:lnTo>
                <a:lnTo>
                  <a:pt x="0" y="1600200"/>
                </a:lnTo>
                <a:lnTo>
                  <a:pt x="0" y="0"/>
                </a:lnTo>
                <a:close/>
              </a:path>
            </a:pathLst>
          </a:custGeom>
          <a:solidFill>
            <a:srgbClr val="f8f9fa"/>
          </a:solidFill>
          <a:ln w="0">
            <a:noFill/>
          </a:ln>
        </p:spPr>
        <p:style>
          <a:lnRef idx="0"/>
          <a:fillRef idx="0"/>
          <a:effectRef idx="0"/>
          <a:fontRef idx="minor"/>
        </p:style>
      </p:sp>
      <p:sp>
        <p:nvSpPr>
          <p:cNvPr id="150" name="Shape 5"/>
          <p:cNvSpPr/>
          <p:nvPr/>
        </p:nvSpPr>
        <p:spPr>
          <a:xfrm>
            <a:off x="399960" y="3750480"/>
            <a:ext cx="37080" cy="1599120"/>
          </a:xfrm>
          <a:custGeom>
            <a:avLst/>
            <a:gdLst/>
            <a:ahLst/>
            <a:rect l="l" t="t" r="r" b="b"/>
            <a:pathLst>
              <a:path w="38100" h="1600200">
                <a:moveTo>
                  <a:pt x="0" y="0"/>
                </a:moveTo>
                <a:lnTo>
                  <a:pt x="38100" y="0"/>
                </a:lnTo>
                <a:lnTo>
                  <a:pt x="38100" y="1600200"/>
                </a:lnTo>
                <a:lnTo>
                  <a:pt x="0" y="1600200"/>
                </a:lnTo>
                <a:lnTo>
                  <a:pt x="0" y="0"/>
                </a:lnTo>
                <a:close/>
              </a:path>
            </a:pathLst>
          </a:custGeom>
          <a:solidFill>
            <a:srgbClr val="0984e3"/>
          </a:solidFill>
          <a:ln w="0">
            <a:noFill/>
          </a:ln>
        </p:spPr>
        <p:style>
          <a:lnRef idx="0"/>
          <a:fillRef idx="0"/>
          <a:effectRef idx="0"/>
          <a:fontRef idx="minor"/>
        </p:style>
      </p:sp>
      <p:sp>
        <p:nvSpPr>
          <p:cNvPr id="151" name="Text 6"/>
          <p:cNvSpPr/>
          <p:nvPr/>
        </p:nvSpPr>
        <p:spPr>
          <a:xfrm>
            <a:off x="609480" y="394092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Matrix Components</a:t>
            </a:r>
            <a:endParaRPr b="0" lang="en-HK" sz="1500" spc="-1" strike="noStrike">
              <a:latin typeface="Arial"/>
            </a:endParaRPr>
          </a:p>
        </p:txBody>
      </p:sp>
      <p:sp>
        <p:nvSpPr>
          <p:cNvPr id="152" name="Text 7"/>
          <p:cNvSpPr/>
          <p:nvPr/>
        </p:nvSpPr>
        <p:spPr>
          <a:xfrm>
            <a:off x="609480" y="432180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Rows:</a:t>
            </a:r>
            <a:r>
              <a:rPr b="0" lang="en-US" sz="1200" spc="-1" strike="noStrike">
                <a:solidFill>
                  <a:srgbClr val="636e72"/>
                </a:solidFill>
                <a:latin typeface="Quattrocento Sans"/>
                <a:ea typeface="Quattrocento Sans"/>
              </a:rPr>
              <a:t> Strategies available to Player 1</a:t>
            </a:r>
            <a:endParaRPr b="0" lang="en-HK" sz="1200" spc="-1" strike="noStrike">
              <a:latin typeface="Arial"/>
            </a:endParaRPr>
          </a:p>
        </p:txBody>
      </p:sp>
      <p:sp>
        <p:nvSpPr>
          <p:cNvPr id="153" name="Text 8"/>
          <p:cNvSpPr/>
          <p:nvPr/>
        </p:nvSpPr>
        <p:spPr>
          <a:xfrm>
            <a:off x="609480" y="462672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Columns:</a:t>
            </a:r>
            <a:r>
              <a:rPr b="0" lang="en-US" sz="1200" spc="-1" strike="noStrike">
                <a:solidFill>
                  <a:srgbClr val="636e72"/>
                </a:solidFill>
                <a:latin typeface="Quattrocento Sans"/>
                <a:ea typeface="Quattrocento Sans"/>
              </a:rPr>
              <a:t> Strategies available to Player 2</a:t>
            </a:r>
            <a:endParaRPr b="0" lang="en-HK" sz="1200" spc="-1" strike="noStrike">
              <a:latin typeface="Arial"/>
            </a:endParaRPr>
          </a:p>
        </p:txBody>
      </p:sp>
      <p:sp>
        <p:nvSpPr>
          <p:cNvPr id="154" name="Text 9"/>
          <p:cNvSpPr/>
          <p:nvPr/>
        </p:nvSpPr>
        <p:spPr>
          <a:xfrm>
            <a:off x="609480" y="4931640"/>
            <a:ext cx="521856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Cells:</a:t>
            </a:r>
            <a:r>
              <a:rPr b="0" lang="en-US" sz="1200" spc="-1" strike="noStrike">
                <a:solidFill>
                  <a:srgbClr val="636e72"/>
                </a:solidFill>
                <a:latin typeface="Quattrocento Sans"/>
                <a:ea typeface="Quattrocento Sans"/>
              </a:rPr>
              <a:t> Payoffs (Player 1, Player 2)</a:t>
            </a:r>
            <a:endParaRPr b="0" lang="en-HK" sz="1200" spc="-1" strike="noStrike">
              <a:latin typeface="Arial"/>
            </a:endParaRPr>
          </a:p>
        </p:txBody>
      </p:sp>
      <p:sp>
        <p:nvSpPr>
          <p:cNvPr id="155" name="Shape 10"/>
          <p:cNvSpPr/>
          <p:nvPr/>
        </p:nvSpPr>
        <p:spPr>
          <a:xfrm>
            <a:off x="6253200" y="1618200"/>
            <a:ext cx="5551920" cy="3485160"/>
          </a:xfrm>
          <a:custGeom>
            <a:avLst/>
            <a:gdLst/>
            <a:ah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round/>
          </a:ln>
        </p:spPr>
        <p:style>
          <a:lnRef idx="0"/>
          <a:fillRef idx="0"/>
          <a:effectRef idx="0"/>
          <a:fontRef idx="minor"/>
        </p:style>
      </p:sp>
      <p:sp>
        <p:nvSpPr>
          <p:cNvPr id="156" name="Text 11"/>
          <p:cNvSpPr/>
          <p:nvPr/>
        </p:nvSpPr>
        <p:spPr>
          <a:xfrm>
            <a:off x="6438960" y="1851480"/>
            <a:ext cx="518040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Example: Pricing Game</a:t>
            </a:r>
            <a:endParaRPr b="0" lang="en-HK" sz="1500" spc="-1" strike="noStrike">
              <a:latin typeface="Arial"/>
            </a:endParaRPr>
          </a:p>
        </p:txBody>
      </p:sp>
      <p:sp>
        <p:nvSpPr>
          <p:cNvPr id="157" name="Text 12"/>
          <p:cNvSpPr/>
          <p:nvPr/>
        </p:nvSpPr>
        <p:spPr>
          <a:xfrm>
            <a:off x="6448320" y="2270520"/>
            <a:ext cx="5161320" cy="227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200" spc="-1" strike="noStrike">
                <a:solidFill>
                  <a:srgbClr val="636e72"/>
                </a:solidFill>
                <a:latin typeface="Quattrocento Sans"/>
                <a:ea typeface="Quattrocento Sans"/>
              </a:rPr>
              <a:t>Two firms deciding whether to lower prices</a:t>
            </a:r>
            <a:endParaRPr b="0" lang="en-HK" sz="1200" spc="-1" strike="noStrike">
              <a:latin typeface="Arial"/>
            </a:endParaRPr>
          </a:p>
        </p:txBody>
      </p:sp>
      <p:graphicFrame>
        <p:nvGraphicFramePr>
          <p:cNvPr id="158" name="Table 0"/>
          <p:cNvGraphicFramePr/>
          <p:nvPr/>
        </p:nvGraphicFramePr>
        <p:xfrm>
          <a:off x="6486480" y="2651400"/>
          <a:ext cx="5085720" cy="1409040"/>
        </p:xfrm>
        <a:graphic>
          <a:graphicData uri="http://schemas.openxmlformats.org/drawingml/2006/table">
            <a:tbl>
              <a:tblPr/>
              <a:tblGrid>
                <a:gridCol w="1749600"/>
                <a:gridCol w="1730160"/>
                <a:gridCol w="1606320"/>
              </a:tblGrid>
              <a:tr h="469800">
                <a:tc>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Lower</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1" lang="en-US" sz="1200" spc="-1" strike="noStrike">
                          <a:solidFill>
                            <a:srgbClr val="2d3436"/>
                          </a:solidFill>
                          <a:latin typeface="微软雅黑"/>
                          <a:ea typeface="微软雅黑"/>
                        </a:rPr>
                        <a:t>Firm B: Keep</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r h="469800">
                <a:tc>
                  <a:txBody>
                    <a:bodyPr lIns="114120" rIns="114120" anchor="ctr">
                      <a:noAutofit/>
                    </a:bodyPr>
                    <a:p>
                      <a:pPr>
                        <a:lnSpc>
                          <a:spcPct val="100000"/>
                        </a:lnSpc>
                        <a:buNone/>
                      </a:pPr>
                      <a:r>
                        <a:rPr b="1" lang="en-US" sz="1200" spc="-1" strike="noStrike">
                          <a:solidFill>
                            <a:srgbClr val="2d3436"/>
                          </a:solidFill>
                          <a:latin typeface="微软雅黑"/>
                          <a:ea typeface="微软雅黑"/>
                        </a:rPr>
                        <a:t>Firm A: Lower Prices</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(4, 4)</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c>
                  <a:txBody>
                    <a:bodyPr lIns="114120" rIns="114120" anchor="ctr">
                      <a:noAutofit/>
                    </a:bodyPr>
                    <a:p>
                      <a:pPr algn="ctr">
                        <a:lnSpc>
                          <a:spcPct val="100000"/>
                        </a:lnSpc>
                        <a:buNone/>
                      </a:pPr>
                      <a:r>
                        <a:rPr b="0" lang="en-US" sz="1200" spc="-1" strike="noStrike">
                          <a:solidFill>
                            <a:srgbClr val="1e272e"/>
                          </a:solidFill>
                          <a:latin typeface="微软雅黑"/>
                          <a:ea typeface="微软雅黑"/>
                        </a:rPr>
                        <a:t>(9, 2)</a:t>
                      </a:r>
                      <a:endParaRPr b="0" lang="en-HK" sz="1200" spc="-1" strike="noStrike">
                        <a:latin typeface="Arial"/>
                      </a:endParaRPr>
                    </a:p>
                  </a:txBody>
                  <a:tcPr anchor="ctr" marL="114120" marR="114120">
                    <a:lnL w="12240">
                      <a:solidFill>
                        <a:srgbClr val="e0e0e0"/>
                      </a:solidFill>
                    </a:lnL>
                    <a:lnR w="12240">
                      <a:solidFill>
                        <a:srgbClr val="e0e0e0"/>
                      </a:solidFill>
                    </a:lnR>
                    <a:lnT w="12240">
                      <a:solidFill>
                        <a:srgbClr val="e0e0e0"/>
                      </a:solidFill>
                    </a:lnT>
                    <a:lnB w="12240">
                      <a:solidFill>
                        <a:srgbClr val="e0e0e0"/>
                      </a:solidFill>
                    </a:lnB>
                    <a:noFill/>
                  </a:tcPr>
                </a:tc>
              </a:tr>
            </a:tbl>
          </a:graphicData>
        </a:graphic>
      </p:graphicFrame>
      <p:sp>
        <p:nvSpPr>
          <p:cNvPr id="159" name="Shape 13"/>
          <p:cNvSpPr/>
          <p:nvPr/>
        </p:nvSpPr>
        <p:spPr>
          <a:xfrm>
            <a:off x="6486480" y="4218480"/>
            <a:ext cx="5085360" cy="8280"/>
          </a:xfrm>
          <a:custGeom>
            <a:avLst/>
            <a:gdLst/>
            <a:ahLst/>
            <a:rect l="l" t="t" r="r" b="b"/>
            <a:pathLst>
              <a:path w="5086350" h="9525">
                <a:moveTo>
                  <a:pt x="0" y="0"/>
                </a:moveTo>
                <a:lnTo>
                  <a:pt x="5086350" y="0"/>
                </a:lnTo>
                <a:lnTo>
                  <a:pt x="5086350" y="9525"/>
                </a:lnTo>
                <a:lnTo>
                  <a:pt x="0" y="9525"/>
                </a:lnTo>
                <a:lnTo>
                  <a:pt x="0" y="0"/>
                </a:lnTo>
                <a:close/>
              </a:path>
            </a:pathLst>
          </a:custGeom>
          <a:solidFill>
            <a:srgbClr val="e0e0e0"/>
          </a:solidFill>
          <a:ln w="0">
            <a:noFill/>
          </a:ln>
        </p:spPr>
        <p:style>
          <a:lnRef idx="0"/>
          <a:fillRef idx="0"/>
          <a:effectRef idx="0"/>
          <a:fontRef idx="minor"/>
        </p:style>
      </p:sp>
      <p:sp>
        <p:nvSpPr>
          <p:cNvPr id="160" name="Text 14"/>
          <p:cNvSpPr/>
          <p:nvPr/>
        </p:nvSpPr>
        <p:spPr>
          <a:xfrm>
            <a:off x="6486480" y="4375440"/>
            <a:ext cx="516132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Interpretation:</a:t>
            </a:r>
            <a:r>
              <a:rPr b="0" lang="en-US" sz="1200" spc="-1" strike="noStrike">
                <a:solidFill>
                  <a:srgbClr val="636e72"/>
                </a:solidFill>
                <a:latin typeface="Quattrocento Sans"/>
                <a:ea typeface="Quattrocento Sans"/>
              </a:rPr>
              <a:t> If both firms lower prices, each earns 5. If Firm A lowers while B keeps, A captures market share and earns 10 while B earns only 2.</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CORE CONCEPT</a:t>
            </a:r>
            <a:endParaRPr b="0" lang="en-HK" sz="1200" spc="-1" strike="noStrike">
              <a:latin typeface="Arial"/>
            </a:endParaRPr>
          </a:p>
        </p:txBody>
      </p:sp>
      <p:sp>
        <p:nvSpPr>
          <p:cNvPr id="162"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Nash Equilibrium: The Cornerstone Concept</a:t>
            </a:r>
            <a:endParaRPr b="0" lang="en-HK" sz="3600" spc="-1" strike="noStrike">
              <a:latin typeface="Arial"/>
            </a:endParaRPr>
          </a:p>
        </p:txBody>
      </p:sp>
      <p:sp>
        <p:nvSpPr>
          <p:cNvPr id="163" name="Text 2"/>
          <p:cNvSpPr/>
          <p:nvPr/>
        </p:nvSpPr>
        <p:spPr>
          <a:xfrm>
            <a:off x="380880" y="1419120"/>
            <a:ext cx="5496120" cy="827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A Nash Equilibrium is a set of strategies, one for each player, such that no player can improve their outcome by unilaterally changing their own strategy.</a:t>
            </a:r>
            <a:endParaRPr b="0" lang="en-HK" sz="1500" spc="-1" strike="noStrike">
              <a:latin typeface="Arial"/>
            </a:endParaRPr>
          </a:p>
        </p:txBody>
      </p:sp>
      <p:sp>
        <p:nvSpPr>
          <p:cNvPr id="164" name="Text 3"/>
          <p:cNvSpPr/>
          <p:nvPr/>
        </p:nvSpPr>
        <p:spPr>
          <a:xfrm>
            <a:off x="380880" y="2452680"/>
            <a:ext cx="5647320" cy="837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636e72"/>
                </a:solidFill>
                <a:latin typeface="Quattrocento Sans"/>
                <a:ea typeface="Quattrocento Sans"/>
              </a:rPr>
              <a:t>In equilibrium, each player's strategy is optimal given the strategies of all other players. This creates a stable state where everyone is doing the best they can, given what others are doing.</a:t>
            </a:r>
            <a:endParaRPr b="0" lang="en-HK" sz="1350" spc="-1" strike="noStrike">
              <a:latin typeface="Arial"/>
            </a:endParaRPr>
          </a:p>
        </p:txBody>
      </p:sp>
      <p:sp>
        <p:nvSpPr>
          <p:cNvPr id="165" name="Shape 4"/>
          <p:cNvSpPr/>
          <p:nvPr/>
        </p:nvSpPr>
        <p:spPr>
          <a:xfrm>
            <a:off x="380880" y="3867120"/>
            <a:ext cx="5561640" cy="2018160"/>
          </a:xfrm>
          <a:custGeom>
            <a:avLst/>
            <a:gdLst/>
            <a:ahLst/>
            <a:rect l="l" t="t" r="r" b="b"/>
            <a:pathLst>
              <a:path w="5562600" h="2019300">
                <a:moveTo>
                  <a:pt x="0" y="0"/>
                </a:moveTo>
                <a:lnTo>
                  <a:pt x="5562600" y="0"/>
                </a:lnTo>
                <a:lnTo>
                  <a:pt x="5562600" y="2019300"/>
                </a:lnTo>
                <a:lnTo>
                  <a:pt x="0" y="2019300"/>
                </a:lnTo>
                <a:lnTo>
                  <a:pt x="0" y="0"/>
                </a:lnTo>
                <a:close/>
              </a:path>
            </a:pathLst>
          </a:custGeom>
          <a:solidFill>
            <a:srgbClr val="2d3436"/>
          </a:solidFill>
          <a:ln w="0">
            <a:noFill/>
          </a:ln>
        </p:spPr>
        <p:style>
          <a:lnRef idx="0"/>
          <a:fillRef idx="0"/>
          <a:effectRef idx="0"/>
          <a:fontRef idx="minor"/>
        </p:style>
      </p:sp>
      <p:sp>
        <p:nvSpPr>
          <p:cNvPr id="166" name="Text 5"/>
          <p:cNvSpPr/>
          <p:nvPr/>
        </p:nvSpPr>
        <p:spPr>
          <a:xfrm>
            <a:off x="609480" y="4095720"/>
            <a:ext cx="519948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Oranienbaum"/>
                <a:ea typeface="Oranienbaum"/>
              </a:rPr>
              <a:t>Mathematical Definition</a:t>
            </a:r>
            <a:endParaRPr b="0" lang="en-HK" sz="1500" spc="-1" strike="noStrike">
              <a:latin typeface="Arial"/>
            </a:endParaRPr>
          </a:p>
        </p:txBody>
      </p:sp>
      <p:sp>
        <p:nvSpPr>
          <p:cNvPr id="167" name="Text 6"/>
          <p:cNvSpPr/>
          <p:nvPr/>
        </p:nvSpPr>
        <p:spPr>
          <a:xfrm>
            <a:off x="609480" y="447660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 strategy profile s * = ( s</a:t>
            </a:r>
            <a:r>
              <a:rPr b="0" lang="en-US" sz="900" spc="-1" strike="noStrike">
                <a:solidFill>
                  <a:srgbClr val="e0e0e0"/>
                </a:solidFill>
                <a:latin typeface="Quattrocento Sans"/>
                <a:ea typeface="Quattrocento Sans"/>
              </a:rPr>
              <a:t>1</a:t>
            </a:r>
            <a:r>
              <a:rPr b="0" lang="en-US" sz="1200" spc="-1" strike="noStrike">
                <a:solidFill>
                  <a:srgbClr val="e0e0e0"/>
                </a:solidFill>
                <a:latin typeface="Quattrocento Sans"/>
                <a:ea typeface="Quattrocento Sans"/>
              </a:rPr>
              <a:t> *, ..., s</a:t>
            </a:r>
            <a:r>
              <a:rPr b="0" lang="en-US" sz="900" spc="-1" strike="noStrike">
                <a:solidFill>
                  <a:srgbClr val="e0e0e0"/>
                </a:solidFill>
                <a:latin typeface="Quattrocento Sans"/>
                <a:ea typeface="Quattrocento Sans"/>
              </a:rPr>
              <a:t>n</a:t>
            </a:r>
            <a:r>
              <a:rPr b="0" lang="en-US" sz="1200" spc="-1" strike="noStrike">
                <a:solidFill>
                  <a:srgbClr val="e0e0e0"/>
                </a:solidFill>
                <a:latin typeface="Quattrocento Sans"/>
                <a:ea typeface="Quattrocento Sans"/>
              </a:rPr>
              <a:t> *) to be a Nash Equilibrium:</a:t>
            </a:r>
            <a:endParaRPr b="0" lang="en-HK" sz="1200" spc="-1" strike="noStrike">
              <a:latin typeface="Arial"/>
            </a:endParaRPr>
          </a:p>
        </p:txBody>
      </p:sp>
      <p:sp>
        <p:nvSpPr>
          <p:cNvPr id="168" name="Shape 7"/>
          <p:cNvSpPr/>
          <p:nvPr/>
        </p:nvSpPr>
        <p:spPr>
          <a:xfrm>
            <a:off x="609480" y="4838760"/>
            <a:ext cx="5104440" cy="456120"/>
          </a:xfrm>
          <a:custGeom>
            <a:avLst/>
            <a:gdLst/>
            <a:ahLst/>
            <a:rect l="l" t="t" r="r" b="b"/>
            <a:pathLst>
              <a:path w="5105400" h="457200">
                <a:moveTo>
                  <a:pt x="0" y="0"/>
                </a:moveTo>
                <a:lnTo>
                  <a:pt x="5105400" y="0"/>
                </a:lnTo>
                <a:lnTo>
                  <a:pt x="5105400" y="457200"/>
                </a:lnTo>
                <a:lnTo>
                  <a:pt x="0" y="457200"/>
                </a:lnTo>
                <a:lnTo>
                  <a:pt x="0" y="0"/>
                </a:lnTo>
                <a:close/>
              </a:path>
            </a:pathLst>
          </a:custGeom>
          <a:solidFill>
            <a:srgbClr val="1e272e"/>
          </a:solidFill>
          <a:ln w="0">
            <a:noFill/>
          </a:ln>
        </p:spPr>
        <p:style>
          <a:lnRef idx="0"/>
          <a:fillRef idx="0"/>
          <a:effectRef idx="0"/>
          <a:fontRef idx="minor"/>
        </p:style>
      </p:sp>
      <p:sp>
        <p:nvSpPr>
          <p:cNvPr id="169" name="Text 8"/>
          <p:cNvSpPr/>
          <p:nvPr/>
        </p:nvSpPr>
        <p:spPr>
          <a:xfrm>
            <a:off x="609480" y="4838760"/>
            <a:ext cx="5180400" cy="456120"/>
          </a:xfrm>
          <a:prstGeom prst="rect">
            <a:avLst/>
          </a:prstGeom>
          <a:noFill/>
          <a:ln w="0">
            <a:noFill/>
          </a:ln>
        </p:spPr>
        <p:style>
          <a:lnRef idx="0"/>
          <a:fillRef idx="0"/>
          <a:effectRef idx="0"/>
          <a:fontRef idx="minor"/>
        </p:style>
        <p:txBody>
          <a:bodyPr lIns="114480" rIns="114480" tIns="456480" bIns="456480" anchor="ctr">
            <a:noAutofit/>
          </a:bodyPr>
          <a:p>
            <a:pPr>
              <a:lnSpc>
                <a:spcPct val="130000"/>
              </a:lnSpc>
              <a:buNone/>
            </a:pPr>
            <a:r>
              <a:rPr b="0" lang="en-US" sz="1200" spc="-1" strike="noStrike">
                <a:solidFill>
                  <a:srgbClr val="ffffff"/>
                </a:solidFill>
                <a:latin typeface="MiSans"/>
                <a:ea typeface="MiSans"/>
              </a:rPr>
              <a:t>uᵢ(sᵢ*, s₋ᵢ*) ≥ uᵢ(sᵢ, s₋ᵢ*)</a:t>
            </a:r>
            <a:endParaRPr b="0" lang="en-HK" sz="1200" spc="-1" strike="noStrike">
              <a:latin typeface="Arial"/>
            </a:endParaRPr>
          </a:p>
        </p:txBody>
      </p:sp>
      <p:sp>
        <p:nvSpPr>
          <p:cNvPr id="170" name="Text 9"/>
          <p:cNvSpPr/>
          <p:nvPr/>
        </p:nvSpPr>
        <p:spPr>
          <a:xfrm>
            <a:off x="609480" y="5410080"/>
            <a:ext cx="5180400" cy="246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for all players i and all alternative strategies s</a:t>
            </a:r>
            <a:r>
              <a:rPr b="0" lang="en-US" sz="900" spc="-1" strike="noStrike">
                <a:solidFill>
                  <a:srgbClr val="e0e0e0"/>
                </a:solidFill>
                <a:latin typeface="Quattrocento Sans"/>
                <a:ea typeface="Quattrocento Sans"/>
              </a:rPr>
              <a:t>i</a:t>
            </a:r>
            <a:r>
              <a:rPr b="0" lang="en-US" sz="1200" spc="-1" strike="noStrike">
                <a:solidFill>
                  <a:srgbClr val="e0e0e0"/>
                </a:solidFill>
                <a:latin typeface="Quattrocento Sans"/>
                <a:ea typeface="Quattrocento Sans"/>
              </a:rPr>
              <a:t> .</a:t>
            </a:r>
            <a:endParaRPr b="0" lang="en-HK" sz="1200" spc="-1" strike="noStrike">
              <a:latin typeface="Arial"/>
            </a:endParaRPr>
          </a:p>
        </p:txBody>
      </p:sp>
      <p:sp>
        <p:nvSpPr>
          <p:cNvPr id="171" name="Shape 10"/>
          <p:cNvSpPr/>
          <p:nvPr/>
        </p:nvSpPr>
        <p:spPr>
          <a:xfrm>
            <a:off x="6253200" y="1376280"/>
            <a:ext cx="5551920" cy="3208680"/>
          </a:xfrm>
          <a:custGeom>
            <a:avLst/>
            <a:gdLst/>
            <a:ah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round/>
          </a:ln>
        </p:spPr>
        <p:style>
          <a:lnRef idx="0"/>
          <a:fillRef idx="0"/>
          <a:effectRef idx="0"/>
          <a:fontRef idx="minor"/>
        </p:style>
      </p:sp>
      <p:sp>
        <p:nvSpPr>
          <p:cNvPr id="172" name="Text 11"/>
          <p:cNvSpPr/>
          <p:nvPr/>
        </p:nvSpPr>
        <p:spPr>
          <a:xfrm>
            <a:off x="6486480" y="1609560"/>
            <a:ext cx="518040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Key Properties</a:t>
            </a:r>
            <a:endParaRPr b="0" lang="en-HK" sz="1500" spc="-1" strike="noStrike">
              <a:latin typeface="Arial"/>
            </a:endParaRPr>
          </a:p>
        </p:txBody>
      </p:sp>
      <p:sp>
        <p:nvSpPr>
          <p:cNvPr id="173" name="Shape 12"/>
          <p:cNvSpPr/>
          <p:nvPr/>
        </p:nvSpPr>
        <p:spPr>
          <a:xfrm>
            <a:off x="6486480" y="20289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4" name="Text 13"/>
          <p:cNvSpPr/>
          <p:nvPr/>
        </p:nvSpPr>
        <p:spPr>
          <a:xfrm>
            <a:off x="6453360" y="20289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1</a:t>
            </a:r>
            <a:endParaRPr b="0" lang="en-HK" sz="1050" spc="-1" strike="noStrike">
              <a:latin typeface="Arial"/>
            </a:endParaRPr>
          </a:p>
        </p:txBody>
      </p:sp>
      <p:sp>
        <p:nvSpPr>
          <p:cNvPr id="175" name="Text 14"/>
          <p:cNvSpPr/>
          <p:nvPr/>
        </p:nvSpPr>
        <p:spPr>
          <a:xfrm>
            <a:off x="6905520" y="20289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Stability</a:t>
            </a:r>
            <a:endParaRPr b="0" lang="en-HK" sz="1200" spc="-1" strike="noStrike">
              <a:latin typeface="Arial"/>
            </a:endParaRPr>
          </a:p>
        </p:txBody>
      </p:sp>
      <p:sp>
        <p:nvSpPr>
          <p:cNvPr id="176" name="Text 15"/>
          <p:cNvSpPr/>
          <p:nvPr/>
        </p:nvSpPr>
        <p:spPr>
          <a:xfrm>
            <a:off x="6905520" y="2295360"/>
            <a:ext cx="306612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No player has incentive to deviate unilaterally</a:t>
            </a:r>
            <a:endParaRPr b="0" lang="en-HK" sz="1200" spc="-1" strike="noStrike">
              <a:latin typeface="Arial"/>
            </a:endParaRPr>
          </a:p>
        </p:txBody>
      </p:sp>
      <p:sp>
        <p:nvSpPr>
          <p:cNvPr id="177" name="Shape 16"/>
          <p:cNvSpPr/>
          <p:nvPr/>
        </p:nvSpPr>
        <p:spPr>
          <a:xfrm>
            <a:off x="6486480" y="263844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78" name="Text 17"/>
          <p:cNvSpPr/>
          <p:nvPr/>
        </p:nvSpPr>
        <p:spPr>
          <a:xfrm>
            <a:off x="6453360" y="263844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2</a:t>
            </a:r>
            <a:endParaRPr b="0" lang="en-HK" sz="1050" spc="-1" strike="noStrike">
              <a:latin typeface="Arial"/>
            </a:endParaRPr>
          </a:p>
        </p:txBody>
      </p:sp>
      <p:sp>
        <p:nvSpPr>
          <p:cNvPr id="179" name="Text 18"/>
          <p:cNvSpPr/>
          <p:nvPr/>
        </p:nvSpPr>
        <p:spPr>
          <a:xfrm>
            <a:off x="6905520" y="263844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Self-Enforcing</a:t>
            </a:r>
            <a:endParaRPr b="0" lang="en-HK" sz="1200" spc="-1" strike="noStrike">
              <a:latin typeface="Arial"/>
            </a:endParaRPr>
          </a:p>
        </p:txBody>
      </p:sp>
      <p:sp>
        <p:nvSpPr>
          <p:cNvPr id="180" name="Text 19"/>
          <p:cNvSpPr/>
          <p:nvPr/>
        </p:nvSpPr>
        <p:spPr>
          <a:xfrm>
            <a:off x="6905520" y="2905200"/>
            <a:ext cx="3665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Equilibrium strategies are best responses to each other</a:t>
            </a:r>
            <a:endParaRPr b="0" lang="en-HK" sz="1200" spc="-1" strike="noStrike">
              <a:latin typeface="Arial"/>
            </a:endParaRPr>
          </a:p>
        </p:txBody>
      </p:sp>
      <p:sp>
        <p:nvSpPr>
          <p:cNvPr id="181" name="Shape 20"/>
          <p:cNvSpPr/>
          <p:nvPr/>
        </p:nvSpPr>
        <p:spPr>
          <a:xfrm>
            <a:off x="6486480" y="324792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2" name="Text 21"/>
          <p:cNvSpPr/>
          <p:nvPr/>
        </p:nvSpPr>
        <p:spPr>
          <a:xfrm>
            <a:off x="6453360" y="324792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3</a:t>
            </a:r>
            <a:endParaRPr b="0" lang="en-HK" sz="1050" spc="-1" strike="noStrike">
              <a:latin typeface="Arial"/>
            </a:endParaRPr>
          </a:p>
        </p:txBody>
      </p:sp>
      <p:sp>
        <p:nvSpPr>
          <p:cNvPr id="183" name="Text 22"/>
          <p:cNvSpPr/>
          <p:nvPr/>
        </p:nvSpPr>
        <p:spPr>
          <a:xfrm>
            <a:off x="6905520" y="324792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Existence</a:t>
            </a:r>
            <a:endParaRPr b="0" lang="en-HK" sz="1200" spc="-1" strike="noStrike">
              <a:latin typeface="Arial"/>
            </a:endParaRPr>
          </a:p>
        </p:txBody>
      </p:sp>
      <p:sp>
        <p:nvSpPr>
          <p:cNvPr id="184" name="Text 23"/>
          <p:cNvSpPr/>
          <p:nvPr/>
        </p:nvSpPr>
        <p:spPr>
          <a:xfrm>
            <a:off x="6905520" y="3514680"/>
            <a:ext cx="32850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Nash proved equilibrium exists in all finite games</a:t>
            </a:r>
            <a:endParaRPr b="0" lang="en-HK" sz="1200" spc="-1" strike="noStrike">
              <a:latin typeface="Arial"/>
            </a:endParaRPr>
          </a:p>
        </p:txBody>
      </p:sp>
      <p:sp>
        <p:nvSpPr>
          <p:cNvPr id="185" name="Shape 24"/>
          <p:cNvSpPr/>
          <p:nvPr/>
        </p:nvSpPr>
        <p:spPr>
          <a:xfrm>
            <a:off x="6486480" y="3857760"/>
            <a:ext cx="303840" cy="303840"/>
          </a:xfrm>
          <a:custGeom>
            <a:avLst/>
            <a:gdLst/>
            <a:ahLst/>
            <a:rect l="l" t="t" r="r" b="b"/>
            <a:pathLst>
              <a:path w="304800" h="304800">
                <a:moveTo>
                  <a:pt x="0" y="0"/>
                </a:moveTo>
                <a:lnTo>
                  <a:pt x="304800" y="0"/>
                </a:lnTo>
                <a:lnTo>
                  <a:pt x="304800" y="304800"/>
                </a:lnTo>
                <a:lnTo>
                  <a:pt x="0" y="304800"/>
                </a:lnTo>
                <a:lnTo>
                  <a:pt x="0" y="0"/>
                </a:lnTo>
                <a:close/>
              </a:path>
            </a:pathLst>
          </a:custGeom>
          <a:solidFill>
            <a:srgbClr val="0984e3"/>
          </a:solidFill>
          <a:ln w="0">
            <a:noFill/>
          </a:ln>
        </p:spPr>
        <p:style>
          <a:lnRef idx="0"/>
          <a:fillRef idx="0"/>
          <a:effectRef idx="0"/>
          <a:fontRef idx="minor"/>
        </p:style>
      </p:sp>
      <p:sp>
        <p:nvSpPr>
          <p:cNvPr id="186" name="Text 25"/>
          <p:cNvSpPr/>
          <p:nvPr/>
        </p:nvSpPr>
        <p:spPr>
          <a:xfrm>
            <a:off x="6453360" y="3857760"/>
            <a:ext cx="370440" cy="303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050" spc="-1" strike="noStrike">
                <a:solidFill>
                  <a:srgbClr val="ffffff"/>
                </a:solidFill>
                <a:latin typeface="Quattrocento Sans"/>
                <a:ea typeface="Quattrocento Sans"/>
              </a:rPr>
              <a:t>4</a:t>
            </a:r>
            <a:endParaRPr b="0" lang="en-HK" sz="1050" spc="-1" strike="noStrike">
              <a:latin typeface="Arial"/>
            </a:endParaRPr>
          </a:p>
        </p:txBody>
      </p:sp>
      <p:sp>
        <p:nvSpPr>
          <p:cNvPr id="187" name="Text 26"/>
          <p:cNvSpPr/>
          <p:nvPr/>
        </p:nvSpPr>
        <p:spPr>
          <a:xfrm>
            <a:off x="6905520" y="38577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Non-Uniqueness</a:t>
            </a:r>
            <a:endParaRPr b="0" lang="en-HK" sz="1200" spc="-1" strike="noStrike">
              <a:latin typeface="Arial"/>
            </a:endParaRPr>
          </a:p>
        </p:txBody>
      </p:sp>
      <p:sp>
        <p:nvSpPr>
          <p:cNvPr id="188" name="Text 27"/>
          <p:cNvSpPr/>
          <p:nvPr/>
        </p:nvSpPr>
        <p:spPr>
          <a:xfrm>
            <a:off x="6905520" y="4124160"/>
            <a:ext cx="413280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636e72"/>
                </a:solidFill>
                <a:latin typeface="Quattrocento Sans"/>
                <a:ea typeface="Quattrocento Sans"/>
              </a:rPr>
              <a:t>Games may have multiple equilibria or none in pure strategies</a:t>
            </a:r>
            <a:endParaRPr b="0" lang="en-HK" sz="1200" spc="-1" strike="noStrike">
              <a:latin typeface="Arial"/>
            </a:endParaRPr>
          </a:p>
        </p:txBody>
      </p:sp>
      <p:sp>
        <p:nvSpPr>
          <p:cNvPr id="189" name="Shape 28"/>
          <p:cNvSpPr/>
          <p:nvPr/>
        </p:nvSpPr>
        <p:spPr>
          <a:xfrm>
            <a:off x="6267600" y="4743360"/>
            <a:ext cx="5542560" cy="1141920"/>
          </a:xfrm>
          <a:custGeom>
            <a:avLst/>
            <a:gdLst/>
            <a:ahLst/>
            <a:rect l="l" t="t" r="r" b="b"/>
            <a:pathLst>
              <a:path w="5543550" h="1143000">
                <a:moveTo>
                  <a:pt x="0" y="0"/>
                </a:moveTo>
                <a:lnTo>
                  <a:pt x="5543550" y="0"/>
                </a:lnTo>
                <a:lnTo>
                  <a:pt x="5543550" y="1143000"/>
                </a:lnTo>
                <a:lnTo>
                  <a:pt x="0" y="1143000"/>
                </a:lnTo>
                <a:lnTo>
                  <a:pt x="0" y="0"/>
                </a:lnTo>
                <a:close/>
              </a:path>
            </a:pathLst>
          </a:custGeom>
          <a:solidFill>
            <a:srgbClr val="f8f9fa"/>
          </a:solidFill>
          <a:ln w="0">
            <a:noFill/>
          </a:ln>
        </p:spPr>
        <p:style>
          <a:lnRef idx="0"/>
          <a:fillRef idx="0"/>
          <a:effectRef idx="0"/>
          <a:fontRef idx="minor"/>
        </p:style>
      </p:sp>
      <p:sp>
        <p:nvSpPr>
          <p:cNvPr id="190" name="Shape 29"/>
          <p:cNvSpPr/>
          <p:nvPr/>
        </p:nvSpPr>
        <p:spPr>
          <a:xfrm>
            <a:off x="6267600" y="4743360"/>
            <a:ext cx="37080" cy="1141920"/>
          </a:xfrm>
          <a:custGeom>
            <a:avLst/>
            <a:gdLst/>
            <a:ahLst/>
            <a:rect l="l" t="t" r="r" b="b"/>
            <a:pathLst>
              <a:path w="38100" h="1143000">
                <a:moveTo>
                  <a:pt x="0" y="0"/>
                </a:moveTo>
                <a:lnTo>
                  <a:pt x="38100" y="0"/>
                </a:lnTo>
                <a:lnTo>
                  <a:pt x="38100" y="1143000"/>
                </a:lnTo>
                <a:lnTo>
                  <a:pt x="0" y="1143000"/>
                </a:lnTo>
                <a:lnTo>
                  <a:pt x="0" y="0"/>
                </a:lnTo>
                <a:close/>
              </a:path>
            </a:pathLst>
          </a:custGeom>
          <a:solidFill>
            <a:srgbClr val="0984e3"/>
          </a:solidFill>
          <a:ln w="0">
            <a:noFill/>
          </a:ln>
        </p:spPr>
        <p:style>
          <a:lnRef idx="0"/>
          <a:fillRef idx="0"/>
          <a:effectRef idx="0"/>
          <a:fontRef idx="minor"/>
        </p:style>
      </p:sp>
      <p:sp>
        <p:nvSpPr>
          <p:cNvPr id="191" name="Text 30"/>
          <p:cNvSpPr/>
          <p:nvPr/>
        </p:nvSpPr>
        <p:spPr>
          <a:xfrm>
            <a:off x="6477120" y="4933800"/>
            <a:ext cx="52185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e272e"/>
                </a:solidFill>
                <a:latin typeface="Quattrocento Sans"/>
                <a:ea typeface="Quattrocento Sans"/>
              </a:rPr>
              <a:t>"In some ways it's a very rational thing to do, and in some ways it's almost crazy."</a:t>
            </a:r>
            <a:endParaRPr b="0" lang="en-HK" sz="1200" spc="-1" strike="noStrike">
              <a:latin typeface="Arial"/>
            </a:endParaRPr>
          </a:p>
        </p:txBody>
      </p:sp>
      <p:sp>
        <p:nvSpPr>
          <p:cNvPr id="192" name="Text 31"/>
          <p:cNvSpPr/>
          <p:nvPr/>
        </p:nvSpPr>
        <p:spPr>
          <a:xfrm>
            <a:off x="6477120" y="5505480"/>
            <a:ext cx="5209200" cy="189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636e72"/>
                </a:solidFill>
                <a:latin typeface="Quattrocento Sans"/>
                <a:ea typeface="Quattrocento Sans"/>
              </a:rPr>
              <a:t>— </a:t>
            </a:r>
            <a:r>
              <a:rPr b="0" lang="en-US" sz="1050" spc="-1" strike="noStrike">
                <a:solidFill>
                  <a:srgbClr val="636e72"/>
                </a:solidFill>
                <a:latin typeface="Quattrocento Sans"/>
                <a:ea typeface="Quattrocento Sans"/>
              </a:rPr>
              <a:t>John Nash, on game theory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3" name="Text 0"/>
          <p:cNvSpPr/>
          <p:nvPr/>
        </p:nvSpPr>
        <p:spPr>
          <a:xfrm>
            <a:off x="379440" y="379440"/>
            <a:ext cx="1150776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STRATEGIC CONCEPTS</a:t>
            </a:r>
            <a:endParaRPr b="0" lang="en-HK" sz="1200" spc="-1" strike="noStrike">
              <a:latin typeface="Arial"/>
            </a:endParaRPr>
          </a:p>
        </p:txBody>
      </p:sp>
      <p:sp>
        <p:nvSpPr>
          <p:cNvPr id="194" name="Text 1"/>
          <p:cNvSpPr/>
          <p:nvPr/>
        </p:nvSpPr>
        <p:spPr>
          <a:xfrm>
            <a:off x="379440" y="683280"/>
            <a:ext cx="11659680" cy="4543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90" spc="-1" strike="noStrike">
                <a:solidFill>
                  <a:srgbClr val="2d3436"/>
                </a:solidFill>
                <a:latin typeface="Oranienbaum"/>
                <a:ea typeface="Oranienbaum"/>
              </a:rPr>
              <a:t>Dominant Strategies &amp; Mixed Strategies</a:t>
            </a:r>
            <a:endParaRPr b="0" lang="en-HK" sz="3590" spc="-1" strike="noStrike">
              <a:latin typeface="Arial"/>
            </a:endParaRPr>
          </a:p>
        </p:txBody>
      </p:sp>
      <p:sp>
        <p:nvSpPr>
          <p:cNvPr id="195" name="Text 2"/>
          <p:cNvSpPr/>
          <p:nvPr/>
        </p:nvSpPr>
        <p:spPr>
          <a:xfrm>
            <a:off x="3794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Dominant Strategies</a:t>
            </a:r>
            <a:endParaRPr b="0" lang="en-HK" sz="1790" spc="-1" strike="noStrike">
              <a:latin typeface="Arial"/>
            </a:endParaRPr>
          </a:p>
        </p:txBody>
      </p:sp>
      <p:sp>
        <p:nvSpPr>
          <p:cNvPr id="196" name="Text 3"/>
          <p:cNvSpPr/>
          <p:nvPr/>
        </p:nvSpPr>
        <p:spPr>
          <a:xfrm>
            <a:off x="379440" y="1826280"/>
            <a:ext cx="509616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A dominant strategy is one that yields a higher payoff than any other strategy, regardless of what opponents choose.</a:t>
            </a:r>
            <a:endParaRPr b="0" lang="en-HK" sz="1340" spc="-1" strike="noStrike">
              <a:latin typeface="Arial"/>
            </a:endParaRPr>
          </a:p>
        </p:txBody>
      </p:sp>
      <p:sp>
        <p:nvSpPr>
          <p:cNvPr id="197" name="Text 4"/>
          <p:cNvSpPr/>
          <p:nvPr/>
        </p:nvSpPr>
        <p:spPr>
          <a:xfrm>
            <a:off x="3794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When a player has a dominant strategy, rationality dictates they should play it. If both players have dominant strategies, their combination forms a dominant strategy equilibrium—a particularly strong solution concept.</a:t>
            </a:r>
            <a:endParaRPr b="0" lang="en-HK" sz="1200" spc="-1" strike="noStrike">
              <a:latin typeface="Arial"/>
            </a:endParaRPr>
          </a:p>
        </p:txBody>
      </p:sp>
      <p:sp>
        <p:nvSpPr>
          <p:cNvPr id="198" name="Shape 5"/>
          <p:cNvSpPr/>
          <p:nvPr/>
        </p:nvSpPr>
        <p:spPr>
          <a:xfrm>
            <a:off x="398520" y="3306600"/>
            <a:ext cx="5549400" cy="757800"/>
          </a:xfrm>
          <a:custGeom>
            <a:avLst/>
            <a:gdLst/>
            <a:ahLst/>
            <a:rect l="l" t="t" r="r" b="b"/>
            <a:pathLst>
              <a:path w="5550444" h="759035">
                <a:moveTo>
                  <a:pt x="0" y="0"/>
                </a:moveTo>
                <a:lnTo>
                  <a:pt x="5550444" y="0"/>
                </a:lnTo>
                <a:lnTo>
                  <a:pt x="5550444" y="759035"/>
                </a:lnTo>
                <a:lnTo>
                  <a:pt x="0" y="759035"/>
                </a:lnTo>
                <a:lnTo>
                  <a:pt x="0" y="0"/>
                </a:lnTo>
                <a:close/>
              </a:path>
            </a:pathLst>
          </a:custGeom>
          <a:solidFill>
            <a:srgbClr val="f8f9fa"/>
          </a:solidFill>
          <a:ln w="0">
            <a:noFill/>
          </a:ln>
        </p:spPr>
        <p:style>
          <a:lnRef idx="0"/>
          <a:fillRef idx="0"/>
          <a:effectRef idx="0"/>
          <a:fontRef idx="minor"/>
        </p:style>
      </p:sp>
      <p:sp>
        <p:nvSpPr>
          <p:cNvPr id="199" name="Shape 6"/>
          <p:cNvSpPr/>
          <p:nvPr/>
        </p:nvSpPr>
        <p:spPr>
          <a:xfrm>
            <a:off x="398520" y="3306600"/>
            <a:ext cx="36720" cy="757800"/>
          </a:xfrm>
          <a:custGeom>
            <a:avLst/>
            <a:gdLst/>
            <a:ahLst/>
            <a:rect l="l" t="t" r="r" b="b"/>
            <a:pathLst>
              <a:path w="37952" h="759035">
                <a:moveTo>
                  <a:pt x="0" y="0"/>
                </a:moveTo>
                <a:lnTo>
                  <a:pt x="37952" y="0"/>
                </a:lnTo>
                <a:lnTo>
                  <a:pt x="37952" y="759035"/>
                </a:lnTo>
                <a:lnTo>
                  <a:pt x="0" y="759035"/>
                </a:lnTo>
                <a:lnTo>
                  <a:pt x="0" y="0"/>
                </a:lnTo>
                <a:close/>
              </a:path>
            </a:pathLst>
          </a:custGeom>
          <a:solidFill>
            <a:srgbClr val="0984e3"/>
          </a:solidFill>
          <a:ln w="0">
            <a:noFill/>
          </a:ln>
        </p:spPr>
        <p:style>
          <a:lnRef idx="0"/>
          <a:fillRef idx="0"/>
          <a:effectRef idx="0"/>
          <a:fontRef idx="minor"/>
        </p:style>
      </p:sp>
      <p:sp>
        <p:nvSpPr>
          <p:cNvPr id="200" name="Text 7"/>
          <p:cNvSpPr/>
          <p:nvPr/>
        </p:nvSpPr>
        <p:spPr>
          <a:xfrm>
            <a:off x="569160" y="3458520"/>
            <a:ext cx="5302800" cy="454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1e272e"/>
                </a:solidFill>
                <a:latin typeface="Quattrocento Sans"/>
                <a:ea typeface="Quattrocento Sans"/>
              </a:rPr>
              <a:t>Strictly Dominant:</a:t>
            </a:r>
            <a:r>
              <a:rPr b="0" lang="en-US" sz="1200" spc="-1" strike="noStrike">
                <a:solidFill>
                  <a:srgbClr val="1e272e"/>
                </a:solidFill>
                <a:latin typeface="Quattrocento Sans"/>
                <a:ea typeface="Quattrocento Sans"/>
              </a:rPr>
              <a:t> Always better than all other strategies</a:t>
            </a:r>
            <a:endParaRPr b="0" lang="en-HK" sz="1200" spc="-1" strike="noStrike">
              <a:latin typeface="Arial"/>
            </a:endParaRPr>
          </a:p>
          <a:p>
            <a:pPr>
              <a:lnSpc>
                <a:spcPct val="130000"/>
              </a:lnSpc>
              <a:buNone/>
            </a:pPr>
            <a:r>
              <a:rPr b="1" lang="en-US" sz="1200" spc="-1" strike="noStrike">
                <a:solidFill>
                  <a:srgbClr val="1e272e"/>
                </a:solidFill>
                <a:latin typeface="Quattrocento Sans"/>
                <a:ea typeface="Quattrocento Sans"/>
              </a:rPr>
              <a:t>Weakly Dominant:</a:t>
            </a:r>
            <a:r>
              <a:rPr b="0" lang="en-US" sz="1200" spc="-1" strike="noStrike">
                <a:solidFill>
                  <a:srgbClr val="1e272e"/>
                </a:solidFill>
                <a:latin typeface="Quattrocento Sans"/>
                <a:ea typeface="Quattrocento Sans"/>
              </a:rPr>
              <a:t> At least as good, and sometimes better</a:t>
            </a:r>
            <a:endParaRPr b="0" lang="en-HK" sz="1200" spc="-1" strike="noStrike">
              <a:latin typeface="Arial"/>
            </a:endParaRPr>
          </a:p>
        </p:txBody>
      </p:sp>
      <p:sp>
        <p:nvSpPr>
          <p:cNvPr id="201" name="Text 8"/>
          <p:cNvSpPr/>
          <p:nvPr/>
        </p:nvSpPr>
        <p:spPr>
          <a:xfrm>
            <a:off x="379440" y="42174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Iterated Elimination</a:t>
            </a:r>
            <a:endParaRPr b="0" lang="en-HK" sz="1790" spc="-1" strike="noStrike">
              <a:latin typeface="Arial"/>
            </a:endParaRPr>
          </a:p>
        </p:txBody>
      </p:sp>
      <p:sp>
        <p:nvSpPr>
          <p:cNvPr id="202" name="Text 9"/>
          <p:cNvSpPr/>
          <p:nvPr/>
        </p:nvSpPr>
        <p:spPr>
          <a:xfrm>
            <a:off x="379440" y="463500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Players can eliminate dominated strategies (those always worse than alternatives), simplifying the game. This process, repeated iteratively, can sometimes lead to a unique equilibrium.</a:t>
            </a:r>
            <a:endParaRPr b="0" lang="en-HK" sz="1200" spc="-1" strike="noStrike">
              <a:latin typeface="Arial"/>
            </a:endParaRPr>
          </a:p>
        </p:txBody>
      </p:sp>
      <p:sp>
        <p:nvSpPr>
          <p:cNvPr id="203" name="Text 10"/>
          <p:cNvSpPr/>
          <p:nvPr/>
        </p:nvSpPr>
        <p:spPr>
          <a:xfrm>
            <a:off x="6249240" y="1366200"/>
            <a:ext cx="5682240" cy="302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90" spc="-1" strike="noStrike">
                <a:solidFill>
                  <a:srgbClr val="2d3436"/>
                </a:solidFill>
                <a:latin typeface="Oranienbaum"/>
                <a:ea typeface="Oranienbaum"/>
              </a:rPr>
              <a:t>Mixed Strategies</a:t>
            </a:r>
            <a:endParaRPr b="0" lang="en-HK" sz="1790" spc="-1" strike="noStrike">
              <a:latin typeface="Arial"/>
            </a:endParaRPr>
          </a:p>
        </p:txBody>
      </p:sp>
      <p:sp>
        <p:nvSpPr>
          <p:cNvPr id="204" name="Text 11"/>
          <p:cNvSpPr/>
          <p:nvPr/>
        </p:nvSpPr>
        <p:spPr>
          <a:xfrm>
            <a:off x="6249240" y="1826280"/>
            <a:ext cx="5249520" cy="466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40" spc="-1" strike="noStrike">
                <a:solidFill>
                  <a:srgbClr val="1e272e"/>
                </a:solidFill>
                <a:latin typeface="Quattrocento Sans"/>
                <a:ea typeface="Quattrocento Sans"/>
              </a:rPr>
              <a:t>When no pure strategy equilibrium exists, players can randomize their choices according to specific probabilities.</a:t>
            </a:r>
            <a:endParaRPr b="0" lang="en-HK" sz="1340" spc="-1" strike="noStrike">
              <a:latin typeface="Arial"/>
            </a:endParaRPr>
          </a:p>
        </p:txBody>
      </p:sp>
      <p:sp>
        <p:nvSpPr>
          <p:cNvPr id="205" name="Text 12"/>
          <p:cNvSpPr/>
          <p:nvPr/>
        </p:nvSpPr>
        <p:spPr>
          <a:xfrm>
            <a:off x="6249240" y="2452680"/>
            <a:ext cx="5644080" cy="739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A mixed strategy specifies the probability distribution over pure strategies. By randomizing unpredictably, players prevent opponents from exploiting predictable behavior.</a:t>
            </a:r>
            <a:endParaRPr b="0" lang="en-HK" sz="1200" spc="-1" strike="noStrike">
              <a:latin typeface="Arial"/>
            </a:endParaRPr>
          </a:p>
        </p:txBody>
      </p:sp>
      <p:sp>
        <p:nvSpPr>
          <p:cNvPr id="206" name="Shape 13"/>
          <p:cNvSpPr/>
          <p:nvPr/>
        </p:nvSpPr>
        <p:spPr>
          <a:xfrm>
            <a:off x="6249240" y="3344400"/>
            <a:ext cx="5568480" cy="2181240"/>
          </a:xfrm>
          <a:custGeom>
            <a:avLst/>
            <a:gdLst/>
            <a:ahLst/>
            <a:rect l="l" t="t" r="r" b="b"/>
            <a:pathLst>
              <a:path w="5569419" h="2182226">
                <a:moveTo>
                  <a:pt x="0" y="0"/>
                </a:moveTo>
                <a:lnTo>
                  <a:pt x="5569419" y="0"/>
                </a:lnTo>
                <a:lnTo>
                  <a:pt x="5569419" y="2182226"/>
                </a:lnTo>
                <a:lnTo>
                  <a:pt x="0" y="2182226"/>
                </a:lnTo>
                <a:lnTo>
                  <a:pt x="0" y="0"/>
                </a:lnTo>
                <a:close/>
              </a:path>
            </a:pathLst>
          </a:custGeom>
          <a:solidFill>
            <a:srgbClr val="2d3436"/>
          </a:solidFill>
          <a:ln w="0">
            <a:noFill/>
          </a:ln>
        </p:spPr>
        <p:style>
          <a:lnRef idx="0"/>
          <a:fillRef idx="0"/>
          <a:effectRef idx="0"/>
          <a:fontRef idx="minor"/>
        </p:style>
      </p:sp>
      <p:sp>
        <p:nvSpPr>
          <p:cNvPr id="207" name="Text 14"/>
          <p:cNvSpPr/>
          <p:nvPr/>
        </p:nvSpPr>
        <p:spPr>
          <a:xfrm>
            <a:off x="6438960" y="3534120"/>
            <a:ext cx="52837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90" spc="-1" strike="noStrike">
                <a:solidFill>
                  <a:srgbClr val="ffffff"/>
                </a:solidFill>
                <a:latin typeface="Oranienbaum"/>
                <a:ea typeface="Oranienbaum"/>
              </a:rPr>
              <a:t>The Minimax Theorem</a:t>
            </a:r>
            <a:endParaRPr b="0" lang="en-HK" sz="1490" spc="-1" strike="noStrike">
              <a:latin typeface="Arial"/>
            </a:endParaRPr>
          </a:p>
        </p:txBody>
      </p:sp>
      <p:sp>
        <p:nvSpPr>
          <p:cNvPr id="208" name="Text 15"/>
          <p:cNvSpPr/>
          <p:nvPr/>
        </p:nvSpPr>
        <p:spPr>
          <a:xfrm>
            <a:off x="6438960" y="3913920"/>
            <a:ext cx="5264640" cy="245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In two-person zero-sum games, von Neumann proved that:</a:t>
            </a:r>
            <a:endParaRPr b="0" lang="en-HK" sz="1200" spc="-1" strike="noStrike">
              <a:latin typeface="Arial"/>
            </a:endParaRPr>
          </a:p>
        </p:txBody>
      </p:sp>
      <p:sp>
        <p:nvSpPr>
          <p:cNvPr id="209" name="Shape 16"/>
          <p:cNvSpPr/>
          <p:nvPr/>
        </p:nvSpPr>
        <p:spPr>
          <a:xfrm>
            <a:off x="6438960" y="4274280"/>
            <a:ext cx="5188680" cy="454320"/>
          </a:xfrm>
          <a:custGeom>
            <a:avLst/>
            <a:gdLst/>
            <a:ahLst/>
            <a:rect l="l" t="t" r="r" b="b"/>
            <a:pathLst>
              <a:path w="5189902" h="455421">
                <a:moveTo>
                  <a:pt x="0" y="0"/>
                </a:moveTo>
                <a:lnTo>
                  <a:pt x="5189902" y="0"/>
                </a:lnTo>
                <a:lnTo>
                  <a:pt x="5189902" y="455421"/>
                </a:lnTo>
                <a:lnTo>
                  <a:pt x="0" y="455421"/>
                </a:lnTo>
                <a:lnTo>
                  <a:pt x="0" y="0"/>
                </a:lnTo>
                <a:close/>
              </a:path>
            </a:pathLst>
          </a:custGeom>
          <a:solidFill>
            <a:srgbClr val="1e272e"/>
          </a:solidFill>
          <a:ln w="0">
            <a:noFill/>
          </a:ln>
        </p:spPr>
        <p:style>
          <a:lnRef idx="0"/>
          <a:fillRef idx="0"/>
          <a:effectRef idx="0"/>
          <a:fontRef idx="minor"/>
        </p:style>
      </p:sp>
      <p:sp>
        <p:nvSpPr>
          <p:cNvPr id="210" name="Text 17"/>
          <p:cNvSpPr/>
          <p:nvPr/>
        </p:nvSpPr>
        <p:spPr>
          <a:xfrm>
            <a:off x="6438960" y="4274280"/>
            <a:ext cx="5264640" cy="454320"/>
          </a:xfrm>
          <a:prstGeom prst="rect">
            <a:avLst/>
          </a:prstGeom>
          <a:noFill/>
          <a:ln w="0">
            <a:noFill/>
          </a:ln>
        </p:spPr>
        <p:style>
          <a:lnRef idx="0"/>
          <a:fillRef idx="0"/>
          <a:effectRef idx="0"/>
          <a:fontRef idx="minor"/>
        </p:style>
        <p:txBody>
          <a:bodyPr lIns="113760" rIns="113760" tIns="227520" bIns="227520" anchor="ctr">
            <a:noAutofit/>
          </a:bodyPr>
          <a:p>
            <a:pPr>
              <a:lnSpc>
                <a:spcPct val="130000"/>
              </a:lnSpc>
              <a:buNone/>
            </a:pPr>
            <a:r>
              <a:rPr b="0" lang="en-US" sz="1200" spc="-1" strike="noStrike">
                <a:solidFill>
                  <a:srgbClr val="ffffff"/>
                </a:solidFill>
                <a:latin typeface="MiSans"/>
                <a:ea typeface="MiSans"/>
              </a:rPr>
              <a:t>maxₓ minᵧ xAyᵀ = minᵧ maxₓ xAyᵀ</a:t>
            </a:r>
            <a:endParaRPr b="0" lang="en-HK" sz="1200" spc="-1" strike="noStrike">
              <a:latin typeface="Arial"/>
            </a:endParaRPr>
          </a:p>
        </p:txBody>
      </p:sp>
      <p:sp>
        <p:nvSpPr>
          <p:cNvPr id="211" name="Text 18"/>
          <p:cNvSpPr/>
          <p:nvPr/>
        </p:nvSpPr>
        <p:spPr>
          <a:xfrm>
            <a:off x="6438960" y="4843440"/>
            <a:ext cx="526464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Both players have optimal mixed strategies, and the game's value is uniquely determined.</a:t>
            </a:r>
            <a:endParaRPr b="0" lang="en-HK" sz="1200" spc="-1" strike="noStrike">
              <a:latin typeface="Arial"/>
            </a:endParaRPr>
          </a:p>
        </p:txBody>
      </p:sp>
      <p:sp>
        <p:nvSpPr>
          <p:cNvPr id="212" name="Shape 19"/>
          <p:cNvSpPr/>
          <p:nvPr/>
        </p:nvSpPr>
        <p:spPr>
          <a:xfrm>
            <a:off x="6268320" y="5678640"/>
            <a:ext cx="5549400" cy="795960"/>
          </a:xfrm>
          <a:custGeom>
            <a:avLst/>
            <a:gdLst/>
            <a:ahLst/>
            <a:rect l="l" t="t" r="r" b="b"/>
            <a:pathLst>
              <a:path w="5550444" h="796987">
                <a:moveTo>
                  <a:pt x="0" y="0"/>
                </a:moveTo>
                <a:lnTo>
                  <a:pt x="5550444" y="0"/>
                </a:lnTo>
                <a:lnTo>
                  <a:pt x="5550444" y="796987"/>
                </a:lnTo>
                <a:lnTo>
                  <a:pt x="0" y="796987"/>
                </a:lnTo>
                <a:lnTo>
                  <a:pt x="0" y="0"/>
                </a:lnTo>
                <a:close/>
              </a:path>
            </a:pathLst>
          </a:custGeom>
          <a:solidFill>
            <a:srgbClr val="f8f9fa"/>
          </a:solidFill>
          <a:ln w="0">
            <a:noFill/>
          </a:ln>
        </p:spPr>
        <p:style>
          <a:lnRef idx="0"/>
          <a:fillRef idx="0"/>
          <a:effectRef idx="0"/>
          <a:fontRef idx="minor"/>
        </p:style>
      </p:sp>
      <p:sp>
        <p:nvSpPr>
          <p:cNvPr id="213" name="Shape 20"/>
          <p:cNvSpPr/>
          <p:nvPr/>
        </p:nvSpPr>
        <p:spPr>
          <a:xfrm>
            <a:off x="6268320" y="5678640"/>
            <a:ext cx="36720" cy="795960"/>
          </a:xfrm>
          <a:custGeom>
            <a:avLst/>
            <a:gdLst/>
            <a:ahLst/>
            <a:rect l="l" t="t" r="r" b="b"/>
            <a:pathLst>
              <a:path w="37952" h="796987">
                <a:moveTo>
                  <a:pt x="0" y="0"/>
                </a:moveTo>
                <a:lnTo>
                  <a:pt x="37952" y="0"/>
                </a:lnTo>
                <a:lnTo>
                  <a:pt x="37952" y="796987"/>
                </a:lnTo>
                <a:lnTo>
                  <a:pt x="0" y="796987"/>
                </a:lnTo>
                <a:lnTo>
                  <a:pt x="0" y="0"/>
                </a:lnTo>
                <a:close/>
              </a:path>
            </a:pathLst>
          </a:custGeom>
          <a:solidFill>
            <a:srgbClr val="0984e3"/>
          </a:solidFill>
          <a:ln w="0">
            <a:noFill/>
          </a:ln>
        </p:spPr>
        <p:style>
          <a:lnRef idx="0"/>
          <a:fillRef idx="0"/>
          <a:effectRef idx="0"/>
          <a:fontRef idx="minor"/>
        </p:style>
      </p:sp>
      <p:sp>
        <p:nvSpPr>
          <p:cNvPr id="214" name="Text 21"/>
          <p:cNvSpPr/>
          <p:nvPr/>
        </p:nvSpPr>
        <p:spPr>
          <a:xfrm>
            <a:off x="6438960" y="5830200"/>
            <a:ext cx="5302800" cy="492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1e272e"/>
                </a:solidFill>
                <a:latin typeface="Quattrocento Sans"/>
                <a:ea typeface="Quattrocento Sans"/>
              </a:rPr>
              <a:t>Key Insight:</a:t>
            </a:r>
            <a:r>
              <a:rPr b="0" lang="en-US" sz="1200" spc="-1" strike="noStrike">
                <a:solidFill>
                  <a:srgbClr val="1e272e"/>
                </a:solidFill>
                <a:latin typeface="Quattrocento Sans"/>
                <a:ea typeface="Quattrocento Sans"/>
              </a:rPr>
              <a:t> Mixed strategies make players indifferent to opponent's choices, creating equilibrium through unpredictability.</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5"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04</a:t>
            </a:r>
            <a:endParaRPr b="0" lang="en-HK" sz="9600" spc="-1" strike="noStrike">
              <a:latin typeface="Arial"/>
            </a:endParaRPr>
          </a:p>
        </p:txBody>
      </p:sp>
      <p:sp>
        <p:nvSpPr>
          <p:cNvPr id="216"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Types of Games</a:t>
            </a:r>
            <a:endParaRPr b="0" lang="en-HK" sz="4500" spc="-1" strike="noStrike">
              <a:latin typeface="Arial"/>
            </a:endParaRPr>
          </a:p>
        </p:txBody>
      </p:sp>
      <p:sp>
        <p:nvSpPr>
          <p:cNvPr id="217"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18"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Classifying strategic interactions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9" name="Text 0"/>
          <p:cNvSpPr/>
          <p:nvPr/>
        </p:nvSpPr>
        <p:spPr>
          <a:xfrm>
            <a:off x="356400" y="356400"/>
            <a:ext cx="11549880" cy="212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20" spc="49" strike="noStrike">
                <a:solidFill>
                  <a:srgbClr val="0984e3"/>
                </a:solidFill>
                <a:latin typeface="Quattrocento Sans"/>
                <a:ea typeface="Quattrocento Sans"/>
              </a:rPr>
              <a:t>CLASSIFICATION FRAMEWORK</a:t>
            </a:r>
            <a:endParaRPr b="0" lang="en-HK" sz="1120" spc="-1" strike="noStrike">
              <a:latin typeface="Arial"/>
            </a:endParaRPr>
          </a:p>
        </p:txBody>
      </p:sp>
      <p:sp>
        <p:nvSpPr>
          <p:cNvPr id="220" name="Text 1"/>
          <p:cNvSpPr/>
          <p:nvPr/>
        </p:nvSpPr>
        <p:spPr>
          <a:xfrm>
            <a:off x="356400" y="641160"/>
            <a:ext cx="11692080" cy="426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59" spc="-1" strike="noStrike">
                <a:solidFill>
                  <a:srgbClr val="2d3436"/>
                </a:solidFill>
                <a:latin typeface="Oranienbaum"/>
                <a:ea typeface="Oranienbaum"/>
              </a:rPr>
              <a:t>Game Classification Framework</a:t>
            </a:r>
            <a:endParaRPr b="0" lang="en-HK" sz="3359" spc="-1" strike="noStrike">
              <a:latin typeface="Arial"/>
            </a:endParaRPr>
          </a:p>
        </p:txBody>
      </p:sp>
      <p:sp>
        <p:nvSpPr>
          <p:cNvPr id="221" name="Shape 2"/>
          <p:cNvSpPr/>
          <p:nvPr/>
        </p:nvSpPr>
        <p:spPr>
          <a:xfrm>
            <a:off x="36072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2" name="Shape 3"/>
          <p:cNvSpPr/>
          <p:nvPr/>
        </p:nvSpPr>
        <p:spPr>
          <a:xfrm>
            <a:off x="54324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3" name="Shape 4"/>
          <p:cNvSpPr/>
          <p:nvPr/>
        </p:nvSpPr>
        <p:spPr>
          <a:xfrm>
            <a:off x="656640" y="1594080"/>
            <a:ext cx="199440" cy="177120"/>
          </a:xfrm>
          <a:custGeom>
            <a:avLst/>
            <a:gdLst/>
            <a:ah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w="0">
            <a:noFill/>
          </a:ln>
        </p:spPr>
        <p:style>
          <a:lnRef idx="0"/>
          <a:fillRef idx="0"/>
          <a:effectRef idx="0"/>
          <a:fontRef idx="minor"/>
        </p:style>
      </p:sp>
      <p:sp>
        <p:nvSpPr>
          <p:cNvPr id="224" name="Text 5"/>
          <p:cNvSpPr/>
          <p:nvPr/>
        </p:nvSpPr>
        <p:spPr>
          <a:xfrm>
            <a:off x="1077480" y="1558440"/>
            <a:ext cx="234108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Cooperative vs Non-Cooperative</a:t>
            </a:r>
            <a:endParaRPr b="0" lang="en-HK" sz="1400" spc="-1" strike="noStrike">
              <a:latin typeface="Arial"/>
            </a:endParaRPr>
          </a:p>
        </p:txBody>
      </p:sp>
      <p:sp>
        <p:nvSpPr>
          <p:cNvPr id="225" name="Text 6"/>
          <p:cNvSpPr/>
          <p:nvPr/>
        </p:nvSpPr>
        <p:spPr>
          <a:xfrm>
            <a:off x="54324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Cooperative games</a:t>
            </a:r>
            <a:r>
              <a:rPr b="0" lang="en-US" sz="1120" spc="-1" strike="noStrike">
                <a:solidFill>
                  <a:srgbClr val="1e272e"/>
                </a:solidFill>
                <a:latin typeface="Quattrocento Sans"/>
                <a:ea typeface="Quattrocento Sans"/>
              </a:rPr>
              <a:t> allow binding agreements and coalition formation. Players work together to maximize collective payoff, then divide the gains.</a:t>
            </a:r>
            <a:endParaRPr b="0" lang="en-HK" sz="1120" spc="-1" strike="noStrike">
              <a:latin typeface="Arial"/>
            </a:endParaRPr>
          </a:p>
        </p:txBody>
      </p:sp>
      <p:sp>
        <p:nvSpPr>
          <p:cNvPr id="226" name="Text 7"/>
          <p:cNvSpPr/>
          <p:nvPr/>
        </p:nvSpPr>
        <p:spPr>
          <a:xfrm>
            <a:off x="543240" y="2805480"/>
            <a:ext cx="3400920" cy="925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Non-cooperative games</a:t>
            </a:r>
            <a:r>
              <a:rPr b="0" lang="en-US" sz="1120" spc="-1" strike="noStrike">
                <a:solidFill>
                  <a:srgbClr val="636e72"/>
                </a:solidFill>
                <a:latin typeface="Quattrocento Sans"/>
                <a:ea typeface="Quattrocento Sans"/>
              </a:rPr>
              <a:t> assume independent decision-making without enforceable agreements. Each player pursues self-interest through strategic interaction.</a:t>
            </a:r>
            <a:endParaRPr b="0" lang="en-HK" sz="1120" spc="-1" strike="noStrike">
              <a:latin typeface="Arial"/>
            </a:endParaRPr>
          </a:p>
        </p:txBody>
      </p:sp>
      <p:sp>
        <p:nvSpPr>
          <p:cNvPr id="227" name="Shape 8"/>
          <p:cNvSpPr/>
          <p:nvPr/>
        </p:nvSpPr>
        <p:spPr>
          <a:xfrm>
            <a:off x="424620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28" name="Shape 9"/>
          <p:cNvSpPr/>
          <p:nvPr/>
        </p:nvSpPr>
        <p:spPr>
          <a:xfrm>
            <a:off x="442872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29" name="Shape 10"/>
          <p:cNvSpPr/>
          <p:nvPr/>
        </p:nvSpPr>
        <p:spPr>
          <a:xfrm>
            <a:off x="4542120" y="1594080"/>
            <a:ext cx="199440" cy="177120"/>
          </a:xfrm>
          <a:custGeom>
            <a:avLst/>
            <a:gdLst/>
            <a:ah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w="0">
            <a:noFill/>
          </a:ln>
        </p:spPr>
        <p:style>
          <a:lnRef idx="0"/>
          <a:fillRef idx="0"/>
          <a:effectRef idx="0"/>
          <a:fontRef idx="minor"/>
        </p:style>
      </p:sp>
      <p:sp>
        <p:nvSpPr>
          <p:cNvPr id="230" name="Text 11"/>
          <p:cNvSpPr/>
          <p:nvPr/>
        </p:nvSpPr>
        <p:spPr>
          <a:xfrm>
            <a:off x="4962960" y="1558440"/>
            <a:ext cx="243036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Perfect vs Imperfect Information</a:t>
            </a:r>
            <a:endParaRPr b="0" lang="en-HK" sz="1400" spc="-1" strike="noStrike">
              <a:latin typeface="Arial"/>
            </a:endParaRPr>
          </a:p>
        </p:txBody>
      </p:sp>
      <p:sp>
        <p:nvSpPr>
          <p:cNvPr id="231" name="Text 12"/>
          <p:cNvSpPr/>
          <p:nvPr/>
        </p:nvSpPr>
        <p:spPr>
          <a:xfrm>
            <a:off x="442872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Perfect information games</a:t>
            </a:r>
            <a:r>
              <a:rPr b="0" lang="en-US" sz="1120" spc="-1" strike="noStrike">
                <a:solidFill>
                  <a:srgbClr val="1e272e"/>
                </a:solidFill>
                <a:latin typeface="Quattrocento Sans"/>
                <a:ea typeface="Quattrocento Sans"/>
              </a:rPr>
              <a:t> (e.g., chess) allow players to observe all previous moves. Each decision is made with complete knowledge of the game's history.</a:t>
            </a:r>
            <a:endParaRPr b="0" lang="en-HK" sz="1120" spc="-1" strike="noStrike">
              <a:latin typeface="Arial"/>
            </a:endParaRPr>
          </a:p>
        </p:txBody>
      </p:sp>
      <p:sp>
        <p:nvSpPr>
          <p:cNvPr id="232" name="Text 13"/>
          <p:cNvSpPr/>
          <p:nvPr/>
        </p:nvSpPr>
        <p:spPr>
          <a:xfrm>
            <a:off x="442872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Imperfect information games</a:t>
            </a:r>
            <a:r>
              <a:rPr b="0" lang="en-US" sz="1120" spc="-1" strike="noStrike">
                <a:solidFill>
                  <a:srgbClr val="636e72"/>
                </a:solidFill>
                <a:latin typeface="Quattrocento Sans"/>
                <a:ea typeface="Quattrocento Sans"/>
              </a:rPr>
              <a:t> (e.g., poker) involve hidden information. Players must make decisions without knowing opponents' cards or actions.</a:t>
            </a:r>
            <a:endParaRPr b="0" lang="en-HK" sz="1120" spc="-1" strike="noStrike">
              <a:latin typeface="Arial"/>
            </a:endParaRPr>
          </a:p>
        </p:txBody>
      </p:sp>
      <p:sp>
        <p:nvSpPr>
          <p:cNvPr id="233" name="Shape 14"/>
          <p:cNvSpPr/>
          <p:nvPr/>
        </p:nvSpPr>
        <p:spPr>
          <a:xfrm>
            <a:off x="8131680" y="1287000"/>
            <a:ext cx="3694680" cy="2626200"/>
          </a:xfrm>
          <a:custGeom>
            <a:avLst/>
            <a:gdLst/>
            <a:ah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round/>
          </a:ln>
        </p:spPr>
        <p:style>
          <a:lnRef idx="0"/>
          <a:fillRef idx="0"/>
          <a:effectRef idx="0"/>
          <a:fontRef idx="minor"/>
        </p:style>
      </p:sp>
      <p:sp>
        <p:nvSpPr>
          <p:cNvPr id="234" name="Shape 15"/>
          <p:cNvSpPr/>
          <p:nvPr/>
        </p:nvSpPr>
        <p:spPr>
          <a:xfrm>
            <a:off x="8314200" y="146952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35" name="Shape 16"/>
          <p:cNvSpPr/>
          <p:nvPr/>
        </p:nvSpPr>
        <p:spPr>
          <a:xfrm>
            <a:off x="8439120" y="1594080"/>
            <a:ext cx="177120" cy="177120"/>
          </a:xfrm>
          <a:custGeom>
            <a:avLst/>
            <a:gdLst/>
            <a:ah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w="0">
            <a:noFill/>
          </a:ln>
        </p:spPr>
        <p:style>
          <a:lnRef idx="0"/>
          <a:fillRef idx="0"/>
          <a:effectRef idx="0"/>
          <a:fontRef idx="minor"/>
        </p:style>
      </p:sp>
      <p:sp>
        <p:nvSpPr>
          <p:cNvPr id="236" name="Text 17"/>
          <p:cNvSpPr/>
          <p:nvPr/>
        </p:nvSpPr>
        <p:spPr>
          <a:xfrm>
            <a:off x="8848800" y="1558440"/>
            <a:ext cx="2038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Simultaneous vs Sequential</a:t>
            </a:r>
            <a:endParaRPr b="0" lang="en-HK" sz="1400" spc="-1" strike="noStrike">
              <a:latin typeface="Arial"/>
            </a:endParaRPr>
          </a:p>
        </p:txBody>
      </p:sp>
      <p:sp>
        <p:nvSpPr>
          <p:cNvPr id="237" name="Text 18"/>
          <p:cNvSpPr/>
          <p:nvPr/>
        </p:nvSpPr>
        <p:spPr>
          <a:xfrm>
            <a:off x="8314200" y="200376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Simultaneous games</a:t>
            </a:r>
            <a:r>
              <a:rPr b="0" lang="en-US" sz="1120" spc="-1" strike="noStrike">
                <a:solidFill>
                  <a:srgbClr val="1e272e"/>
                </a:solidFill>
                <a:latin typeface="Quattrocento Sans"/>
                <a:ea typeface="Quattrocento Sans"/>
              </a:rPr>
              <a:t> require players to choose strategies without knowing others' choices. Represented by payoff matrices.</a:t>
            </a:r>
            <a:endParaRPr b="0" lang="en-HK" sz="1120" spc="-1" strike="noStrike">
              <a:latin typeface="Arial"/>
            </a:endParaRPr>
          </a:p>
        </p:txBody>
      </p:sp>
      <p:sp>
        <p:nvSpPr>
          <p:cNvPr id="238" name="Text 19"/>
          <p:cNvSpPr/>
          <p:nvPr/>
        </p:nvSpPr>
        <p:spPr>
          <a:xfrm>
            <a:off x="8314200" y="28054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Sequential games</a:t>
            </a:r>
            <a:r>
              <a:rPr b="0" lang="en-US" sz="1120" spc="-1" strike="noStrike">
                <a:solidFill>
                  <a:srgbClr val="636e72"/>
                </a:solidFill>
                <a:latin typeface="Quattrocento Sans"/>
                <a:ea typeface="Quattrocento Sans"/>
              </a:rPr>
              <a:t> involve turn-taking, with later players observing earlier moves. Analyzed using game trees and backward induction.</a:t>
            </a:r>
            <a:endParaRPr b="0" lang="en-HK" sz="1120" spc="-1" strike="noStrike">
              <a:latin typeface="Arial"/>
            </a:endParaRPr>
          </a:p>
        </p:txBody>
      </p:sp>
      <p:sp>
        <p:nvSpPr>
          <p:cNvPr id="239" name="Shape 20"/>
          <p:cNvSpPr/>
          <p:nvPr/>
        </p:nvSpPr>
        <p:spPr>
          <a:xfrm>
            <a:off x="360720" y="4101120"/>
            <a:ext cx="3694680" cy="2394720"/>
          </a:xfrm>
          <a:custGeom>
            <a:avLst/>
            <a:gdLst/>
            <a:ah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0" name="Shape 21"/>
          <p:cNvSpPr/>
          <p:nvPr/>
        </p:nvSpPr>
        <p:spPr>
          <a:xfrm>
            <a:off x="54324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0984e3"/>
          </a:solidFill>
          <a:ln w="0">
            <a:noFill/>
          </a:ln>
        </p:spPr>
        <p:style>
          <a:lnRef idx="0"/>
          <a:fillRef idx="0"/>
          <a:effectRef idx="0"/>
          <a:fontRef idx="minor"/>
        </p:style>
      </p:sp>
      <p:sp>
        <p:nvSpPr>
          <p:cNvPr id="241" name="Shape 22"/>
          <p:cNvSpPr/>
          <p:nvPr/>
        </p:nvSpPr>
        <p:spPr>
          <a:xfrm>
            <a:off x="645840" y="4408200"/>
            <a:ext cx="221400" cy="177120"/>
          </a:xfrm>
          <a:custGeom>
            <a:avLst/>
            <a:gdLst/>
            <a:ah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w="0">
            <a:noFill/>
          </a:ln>
        </p:spPr>
        <p:style>
          <a:lnRef idx="0"/>
          <a:fillRef idx="0"/>
          <a:effectRef idx="0"/>
          <a:fontRef idx="minor"/>
        </p:style>
      </p:sp>
      <p:sp>
        <p:nvSpPr>
          <p:cNvPr id="242" name="Text 23"/>
          <p:cNvSpPr/>
          <p:nvPr/>
        </p:nvSpPr>
        <p:spPr>
          <a:xfrm>
            <a:off x="1077480" y="4372560"/>
            <a:ext cx="193140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Symmetric vs Asymmetric</a:t>
            </a:r>
            <a:endParaRPr b="0" lang="en-HK" sz="1400" spc="-1" strike="noStrike">
              <a:latin typeface="Arial"/>
            </a:endParaRPr>
          </a:p>
        </p:txBody>
      </p:sp>
      <p:sp>
        <p:nvSpPr>
          <p:cNvPr id="243" name="Text 24"/>
          <p:cNvSpPr/>
          <p:nvPr/>
        </p:nvSpPr>
        <p:spPr>
          <a:xfrm>
            <a:off x="543240" y="481788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Symmetric games</a:t>
            </a:r>
            <a:r>
              <a:rPr b="0" lang="en-US" sz="1120" spc="-1" strike="noStrike">
                <a:solidFill>
                  <a:srgbClr val="1e272e"/>
                </a:solidFill>
                <a:latin typeface="Quattrocento Sans"/>
                <a:ea typeface="Quattrocento Sans"/>
              </a:rPr>
              <a:t> have identical strategy sets and payoff structures for all players. Players are interchangeable.</a:t>
            </a:r>
            <a:endParaRPr b="0" lang="en-HK" sz="1120" spc="-1" strike="noStrike">
              <a:latin typeface="Arial"/>
            </a:endParaRPr>
          </a:p>
        </p:txBody>
      </p:sp>
      <p:sp>
        <p:nvSpPr>
          <p:cNvPr id="244" name="Text 25"/>
          <p:cNvSpPr/>
          <p:nvPr/>
        </p:nvSpPr>
        <p:spPr>
          <a:xfrm>
            <a:off x="543240" y="5619600"/>
            <a:ext cx="340092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636e72"/>
                </a:solidFill>
                <a:latin typeface="Quattrocento Sans"/>
                <a:ea typeface="Quattrocento Sans"/>
              </a:rPr>
              <a:t>Asymmetric games</a:t>
            </a:r>
            <a:r>
              <a:rPr b="0" lang="en-US" sz="1120" spc="-1" strike="noStrike">
                <a:solidFill>
                  <a:srgbClr val="636e72"/>
                </a:solidFill>
                <a:latin typeface="Quattrocento Sans"/>
                <a:ea typeface="Quattrocento Sans"/>
              </a:rPr>
              <a:t> feature different roles, strategies, or payoff functions. Players have distinct positions and objectives.</a:t>
            </a:r>
            <a:endParaRPr b="0" lang="en-HK" sz="1120" spc="-1" strike="noStrike">
              <a:latin typeface="Arial"/>
            </a:endParaRPr>
          </a:p>
        </p:txBody>
      </p:sp>
      <p:sp>
        <p:nvSpPr>
          <p:cNvPr id="245" name="Shape 26"/>
          <p:cNvSpPr/>
          <p:nvPr/>
        </p:nvSpPr>
        <p:spPr>
          <a:xfrm>
            <a:off x="4246200" y="4101120"/>
            <a:ext cx="7586640" cy="2394720"/>
          </a:xfrm>
          <a:custGeom>
            <a:avLst/>
            <a:gdLst/>
            <a:ah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round/>
          </a:ln>
        </p:spPr>
        <p:style>
          <a:lnRef idx="0"/>
          <a:fillRef idx="0"/>
          <a:effectRef idx="0"/>
          <a:fontRef idx="minor"/>
        </p:style>
      </p:sp>
      <p:sp>
        <p:nvSpPr>
          <p:cNvPr id="246" name="Shape 27"/>
          <p:cNvSpPr/>
          <p:nvPr/>
        </p:nvSpPr>
        <p:spPr>
          <a:xfrm>
            <a:off x="4428720" y="4283640"/>
            <a:ext cx="426240" cy="426240"/>
          </a:xfrm>
          <a:custGeom>
            <a:avLst/>
            <a:gdLst/>
            <a:ahLst/>
            <a:rect l="l" t="t" r="r" b="b"/>
            <a:pathLst>
              <a:path w="427477" h="427477">
                <a:moveTo>
                  <a:pt x="0" y="0"/>
                </a:moveTo>
                <a:lnTo>
                  <a:pt x="427477" y="0"/>
                </a:lnTo>
                <a:lnTo>
                  <a:pt x="427477" y="427477"/>
                </a:lnTo>
                <a:lnTo>
                  <a:pt x="0" y="427477"/>
                </a:lnTo>
                <a:lnTo>
                  <a:pt x="0" y="0"/>
                </a:lnTo>
                <a:close/>
              </a:path>
            </a:pathLst>
          </a:custGeom>
          <a:solidFill>
            <a:srgbClr val="2d3436"/>
          </a:solidFill>
          <a:ln w="0">
            <a:noFill/>
          </a:ln>
        </p:spPr>
        <p:style>
          <a:lnRef idx="0"/>
          <a:fillRef idx="0"/>
          <a:effectRef idx="0"/>
          <a:fontRef idx="minor"/>
        </p:style>
      </p:sp>
      <p:sp>
        <p:nvSpPr>
          <p:cNvPr id="247" name="Shape 28"/>
          <p:cNvSpPr/>
          <p:nvPr/>
        </p:nvSpPr>
        <p:spPr>
          <a:xfrm>
            <a:off x="4553280" y="4408200"/>
            <a:ext cx="177120" cy="177120"/>
          </a:xfrm>
          <a:custGeom>
            <a:avLst/>
            <a:gdLst/>
            <a:ah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w="0">
            <a:noFill/>
          </a:ln>
        </p:spPr>
        <p:style>
          <a:lnRef idx="0"/>
          <a:fillRef idx="0"/>
          <a:effectRef idx="0"/>
          <a:fontRef idx="minor"/>
        </p:style>
      </p:sp>
      <p:sp>
        <p:nvSpPr>
          <p:cNvPr id="248" name="Text 29"/>
          <p:cNvSpPr/>
          <p:nvPr/>
        </p:nvSpPr>
        <p:spPr>
          <a:xfrm>
            <a:off x="4962960" y="4372560"/>
            <a:ext cx="2047320" cy="24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00" spc="-1" strike="noStrike">
                <a:solidFill>
                  <a:srgbClr val="2d3436"/>
                </a:solidFill>
                <a:latin typeface="Oranienbaum"/>
                <a:ea typeface="Oranienbaum"/>
              </a:rPr>
              <a:t>Zero-Sum vs Non-Zero-Sum</a:t>
            </a:r>
            <a:endParaRPr b="0" lang="en-HK" sz="1400" spc="-1" strike="noStrike">
              <a:latin typeface="Arial"/>
            </a:endParaRPr>
          </a:p>
        </p:txBody>
      </p:sp>
      <p:sp>
        <p:nvSpPr>
          <p:cNvPr id="249" name="Text 30"/>
          <p:cNvSpPr/>
          <p:nvPr/>
        </p:nvSpPr>
        <p:spPr>
          <a:xfrm>
            <a:off x="442872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Zero-sum games</a:t>
            </a:r>
            <a:r>
              <a:rPr b="0" lang="en-US" sz="1120" spc="-1" strike="noStrike">
                <a:solidFill>
                  <a:srgbClr val="1e272e"/>
                </a:solidFill>
                <a:latin typeface="Quattrocento Sans"/>
                <a:ea typeface="Quattrocento Sans"/>
              </a:rPr>
              <a:t> represent pure competition: one player's gain equals another's loss. Total payoff is constant.</a:t>
            </a:r>
            <a:endParaRPr b="0" lang="en-HK" sz="1120" spc="-1" strike="noStrike">
              <a:latin typeface="Arial"/>
            </a:endParaRPr>
          </a:p>
        </p:txBody>
      </p:sp>
      <p:sp>
        <p:nvSpPr>
          <p:cNvPr id="250" name="Text 31"/>
          <p:cNvSpPr/>
          <p:nvPr/>
        </p:nvSpPr>
        <p:spPr>
          <a:xfrm>
            <a:off x="442872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Poker, chess, competitive sports. Mathematically: Σpayoffs = constant</a:t>
            </a:r>
            <a:endParaRPr b="0" lang="en-HK" sz="1120" spc="-1" strike="noStrike">
              <a:latin typeface="Arial"/>
            </a:endParaRPr>
          </a:p>
        </p:txBody>
      </p:sp>
      <p:sp>
        <p:nvSpPr>
          <p:cNvPr id="251" name="Text 32"/>
          <p:cNvSpPr/>
          <p:nvPr/>
        </p:nvSpPr>
        <p:spPr>
          <a:xfrm>
            <a:off x="8109360" y="4817880"/>
            <a:ext cx="3605760" cy="693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20" spc="-1" strike="noStrike">
                <a:solidFill>
                  <a:srgbClr val="1e272e"/>
                </a:solidFill>
                <a:latin typeface="Quattrocento Sans"/>
                <a:ea typeface="Quattrocento Sans"/>
              </a:rPr>
              <a:t>Non-zero-sum games</a:t>
            </a:r>
            <a:r>
              <a:rPr b="0" lang="en-US" sz="1120" spc="-1" strike="noStrike">
                <a:solidFill>
                  <a:srgbClr val="1e272e"/>
                </a:solidFill>
                <a:latin typeface="Quattrocento Sans"/>
                <a:ea typeface="Quattrocento Sans"/>
              </a:rPr>
              <a:t> allow mutual gain or loss. Cooperation can benefit all players; conflict can harm everyone.</a:t>
            </a:r>
            <a:endParaRPr b="0" lang="en-HK" sz="1120" spc="-1" strike="noStrike">
              <a:latin typeface="Arial"/>
            </a:endParaRPr>
          </a:p>
        </p:txBody>
      </p:sp>
      <p:sp>
        <p:nvSpPr>
          <p:cNvPr id="252" name="Text 33"/>
          <p:cNvSpPr/>
          <p:nvPr/>
        </p:nvSpPr>
        <p:spPr>
          <a:xfrm>
            <a:off x="8109360" y="5583960"/>
            <a:ext cx="3605760" cy="46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20" spc="-1" strike="noStrike">
                <a:solidFill>
                  <a:srgbClr val="636e72"/>
                </a:solidFill>
                <a:latin typeface="Quattrocento Sans"/>
                <a:ea typeface="Quattrocento Sans"/>
              </a:rPr>
              <a:t>Examples: Prisoner's Dilemma, trade negotiations, environmental agreements.</a:t>
            </a:r>
            <a:endParaRPr b="0" lang="en-HK" sz="112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3" name="Text 0"/>
          <p:cNvSpPr/>
          <p:nvPr/>
        </p:nvSpPr>
        <p:spPr>
          <a:xfrm>
            <a:off x="609480" y="206676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05</a:t>
            </a:r>
            <a:endParaRPr b="0" lang="en-HK" sz="9600" spc="-1" strike="noStrike">
              <a:latin typeface="Arial"/>
            </a:endParaRPr>
          </a:p>
        </p:txBody>
      </p:sp>
      <p:sp>
        <p:nvSpPr>
          <p:cNvPr id="254" name="Text 1"/>
          <p:cNvSpPr/>
          <p:nvPr/>
        </p:nvSpPr>
        <p:spPr>
          <a:xfrm>
            <a:off x="609480" y="3438360"/>
            <a:ext cx="11867040" cy="57060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Classic Game Models</a:t>
            </a:r>
            <a:endParaRPr b="0" lang="en-HK" sz="4500" spc="-1" strike="noStrike">
              <a:latin typeface="Arial"/>
            </a:endParaRPr>
          </a:p>
        </p:txBody>
      </p:sp>
      <p:sp>
        <p:nvSpPr>
          <p:cNvPr id="255" name="Shape 2"/>
          <p:cNvSpPr/>
          <p:nvPr/>
        </p:nvSpPr>
        <p:spPr>
          <a:xfrm>
            <a:off x="609480" y="423864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256" name="Text 3"/>
          <p:cNvSpPr/>
          <p:nvPr/>
        </p:nvSpPr>
        <p:spPr>
          <a:xfrm>
            <a:off x="609480" y="448632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Iconic examples that shaped the field</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CLASSIC EXAMPLE</a:t>
            </a:r>
            <a:endParaRPr b="0" lang="en-HK" sz="1200" spc="-1" strike="noStrike">
              <a:latin typeface="Arial"/>
            </a:endParaRPr>
          </a:p>
        </p:txBody>
      </p:sp>
      <p:sp>
        <p:nvSpPr>
          <p:cNvPr id="258"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The Prisoner's Dilemma</a:t>
            </a:r>
            <a:endParaRPr b="0" lang="en-HK" sz="3600" spc="-1" strike="noStrike">
              <a:latin typeface="Arial"/>
            </a:endParaRPr>
          </a:p>
        </p:txBody>
      </p:sp>
      <p:sp>
        <p:nvSpPr>
          <p:cNvPr id="259" name="Text 2"/>
          <p:cNvSpPr/>
          <p:nvPr/>
        </p:nvSpPr>
        <p:spPr>
          <a:xfrm>
            <a:off x="380880" y="1295280"/>
            <a:ext cx="5656680" cy="1237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Two suspects are arrested and interrogated separately.</a:t>
            </a:r>
            <a:r>
              <a:rPr b="0" lang="en-US" sz="1500" spc="-1" strike="noStrike">
                <a:solidFill>
                  <a:srgbClr val="1e272e"/>
                </a:solidFill>
                <a:latin typeface="Quattrocento Sans"/>
                <a:ea typeface="Quattrocento Sans"/>
              </a:rPr>
              <a:t> Each must choose: confess (defect) or remain silent (cooperate). The dilemma reveals the tension between individual rationality and collective optimality.</a:t>
            </a:r>
            <a:endParaRPr b="0" lang="en-HK" sz="1500" spc="-1" strike="noStrike">
              <a:latin typeface="Arial"/>
            </a:endParaRPr>
          </a:p>
        </p:txBody>
      </p:sp>
      <p:sp>
        <p:nvSpPr>
          <p:cNvPr id="260" name="Text 3"/>
          <p:cNvSpPr/>
          <p:nvPr/>
        </p:nvSpPr>
        <p:spPr>
          <a:xfrm>
            <a:off x="380880" y="2647800"/>
            <a:ext cx="5637600" cy="741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636e72"/>
                </a:solidFill>
                <a:latin typeface="Quattrocento Sans"/>
                <a:ea typeface="Quattrocento Sans"/>
              </a:rPr>
              <a:t>The paradox: rational self-interest leads both to confess, resulting in worse outcomes for both than if they had cooperated. This illustrates how individual incentives can undermine collective welfare.</a:t>
            </a:r>
            <a:endParaRPr b="0" lang="en-HK" sz="1200" spc="-1" strike="noStrike">
              <a:latin typeface="Arial"/>
            </a:endParaRPr>
          </a:p>
        </p:txBody>
      </p:sp>
      <p:sp>
        <p:nvSpPr>
          <p:cNvPr id="261" name="Shape 4"/>
          <p:cNvSpPr/>
          <p:nvPr/>
        </p:nvSpPr>
        <p:spPr>
          <a:xfrm>
            <a:off x="385920" y="3548160"/>
            <a:ext cx="5551920" cy="2027880"/>
          </a:xfrm>
          <a:custGeom>
            <a:avLst/>
            <a:gdLst/>
            <a:ah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round/>
          </a:ln>
        </p:spPr>
        <p:style>
          <a:lnRef idx="0"/>
          <a:fillRef idx="0"/>
          <a:effectRef idx="0"/>
          <a:fontRef idx="minor"/>
        </p:style>
      </p:sp>
      <p:sp>
        <p:nvSpPr>
          <p:cNvPr id="262" name="Text 5"/>
          <p:cNvSpPr/>
          <p:nvPr/>
        </p:nvSpPr>
        <p:spPr>
          <a:xfrm>
            <a:off x="495360" y="3705120"/>
            <a:ext cx="533304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Payoff Matrix (Years in Prison)</a:t>
            </a:r>
            <a:endParaRPr b="0" lang="en-HK" sz="1500" spc="-1" strike="noStrike">
              <a:latin typeface="Arial"/>
            </a:endParaRPr>
          </a:p>
        </p:txBody>
      </p:sp>
      <p:graphicFrame>
        <p:nvGraphicFramePr>
          <p:cNvPr id="263" name="Table 0"/>
          <p:cNvGraphicFramePr/>
          <p:nvPr/>
        </p:nvGraphicFramePr>
        <p:xfrm>
          <a:off x="542880" y="4086360"/>
          <a:ext cx="5238000" cy="1065960"/>
        </p:xfrm>
        <a:graphic>
          <a:graphicData uri="http://schemas.openxmlformats.org/drawingml/2006/table">
            <a:tbl>
              <a:tblPr/>
              <a:tblGrid>
                <a:gridCol w="1879560"/>
                <a:gridCol w="1507680"/>
                <a:gridCol w="1851120"/>
              </a:tblGrid>
              <a:tr h="355320">
                <a:tc>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1" lang="en-US" sz="1000" spc="-1" strike="noStrike">
                          <a:solidFill>
                            <a:srgbClr val="2d3436"/>
                          </a:solidFill>
                          <a:latin typeface="微软雅黑"/>
                          <a:ea typeface="微软雅黑"/>
                        </a:rPr>
                        <a:t>B: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55320">
                <a:tc>
                  <a:txBody>
                    <a:bodyPr lIns="75960" rIns="75960" anchor="ctr">
                      <a:noAutofit/>
                    </a:bodyPr>
                    <a:p>
                      <a:pPr>
                        <a:lnSpc>
                          <a:spcPct val="100000"/>
                        </a:lnSpc>
                        <a:buNone/>
                      </a:pPr>
                      <a:r>
                        <a:rPr b="1" lang="en-US" sz="1000" spc="-1" strike="noStrike">
                          <a:solidFill>
                            <a:srgbClr val="2d3436"/>
                          </a:solidFill>
                          <a:latin typeface="微软雅黑"/>
                          <a:ea typeface="微软雅黑"/>
                        </a:rPr>
                        <a:t>A: Silent</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 -1)</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(-10, 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r>
              <a:tr h="355680">
                <a:tc>
                  <a:txBody>
                    <a:bodyPr lIns="75960" rIns="75960" anchor="ctr">
                      <a:noAutofit/>
                    </a:bodyPr>
                    <a:p>
                      <a:pPr>
                        <a:lnSpc>
                          <a:spcPct val="100000"/>
                        </a:lnSpc>
                        <a:buNone/>
                      </a:pPr>
                      <a:r>
                        <a:rPr b="1" lang="en-US" sz="1000" spc="-1" strike="noStrike">
                          <a:solidFill>
                            <a:srgbClr val="2d3436"/>
                          </a:solidFill>
                          <a:latin typeface="微软雅黑"/>
                          <a:ea typeface="微软雅黑"/>
                        </a:rPr>
                        <a:t>A: Confess</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(0, -10)</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noFill/>
                  </a:tcPr>
                </a:tc>
                <a:tc>
                  <a:txBody>
                    <a:bodyPr lIns="75960" rIns="75960" anchor="ctr">
                      <a:noAutofit/>
                    </a:bodyPr>
                    <a:p>
                      <a:pPr algn="ctr">
                        <a:lnSpc>
                          <a:spcPct val="100000"/>
                        </a:lnSpc>
                        <a:buNone/>
                      </a:pPr>
                      <a:r>
                        <a:rPr b="0" lang="en-US" sz="1000" spc="-1" strike="noStrike">
                          <a:solidFill>
                            <a:srgbClr val="1e272e"/>
                          </a:solidFill>
                          <a:latin typeface="微软雅黑"/>
                          <a:ea typeface="微软雅黑"/>
                        </a:rPr>
                        <a:t>(-5, -5)</a:t>
                      </a:r>
                      <a:endParaRPr b="0" lang="en-HK" sz="1000" spc="-1" strike="noStrike">
                        <a:latin typeface="Arial"/>
                      </a:endParaRPr>
                    </a:p>
                  </a:txBody>
                  <a:tcPr anchor="ctr" marL="75960" marR="7596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64" name="Text 6"/>
          <p:cNvSpPr/>
          <p:nvPr/>
        </p:nvSpPr>
        <p:spPr>
          <a:xfrm>
            <a:off x="509760" y="5229360"/>
            <a:ext cx="5304240" cy="189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1050" spc="-1" strike="noStrike">
                <a:solidFill>
                  <a:srgbClr val="636e72"/>
                </a:solidFill>
                <a:latin typeface="Quattrocento Sans"/>
                <a:ea typeface="Quattrocento Sans"/>
              </a:rPr>
              <a:t>Nash Equilibrium highlighted in blue</a:t>
            </a:r>
            <a:endParaRPr b="0" lang="en-HK" sz="1050" spc="-1" strike="noStrike">
              <a:latin typeface="Arial"/>
            </a:endParaRPr>
          </a:p>
        </p:txBody>
      </p:sp>
      <p:sp>
        <p:nvSpPr>
          <p:cNvPr id="265" name="Shape 7"/>
          <p:cNvSpPr/>
          <p:nvPr/>
        </p:nvSpPr>
        <p:spPr>
          <a:xfrm>
            <a:off x="6253200" y="1300320"/>
            <a:ext cx="5551920" cy="1608480"/>
          </a:xfrm>
          <a:custGeom>
            <a:avLst/>
            <a:gdLst/>
            <a:ah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round/>
          </a:ln>
        </p:spPr>
        <p:style>
          <a:lnRef idx="0"/>
          <a:fillRef idx="0"/>
          <a:effectRef idx="0"/>
          <a:fontRef idx="minor"/>
        </p:style>
      </p:sp>
      <p:sp>
        <p:nvSpPr>
          <p:cNvPr id="266" name="Text 8"/>
          <p:cNvSpPr/>
          <p:nvPr/>
        </p:nvSpPr>
        <p:spPr>
          <a:xfrm>
            <a:off x="6448320" y="1495440"/>
            <a:ext cx="525672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Why Confession is Dominant</a:t>
            </a:r>
            <a:endParaRPr b="0" lang="en-HK" sz="1500" spc="-1" strike="noStrike">
              <a:latin typeface="Arial"/>
            </a:endParaRPr>
          </a:p>
        </p:txBody>
      </p:sp>
      <p:sp>
        <p:nvSpPr>
          <p:cNvPr id="267" name="Text 9"/>
          <p:cNvSpPr/>
          <p:nvPr/>
        </p:nvSpPr>
        <p:spPr>
          <a:xfrm>
            <a:off x="6448320" y="187632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is silent:</a:t>
            </a:r>
            <a:r>
              <a:rPr b="0" lang="en-US" sz="1200" spc="-1" strike="noStrike">
                <a:solidFill>
                  <a:srgbClr val="636e72"/>
                </a:solidFill>
                <a:latin typeface="Quattrocento Sans"/>
                <a:ea typeface="Quattrocento Sans"/>
              </a:rPr>
              <a:t> A gets 0 years (confess) vs. -1 year (silent) → Confess better</a:t>
            </a:r>
            <a:endParaRPr b="0" lang="en-HK" sz="1200" spc="-1" strike="noStrike">
              <a:latin typeface="Arial"/>
            </a:endParaRPr>
          </a:p>
        </p:txBody>
      </p:sp>
      <p:sp>
        <p:nvSpPr>
          <p:cNvPr id="268" name="Text 10"/>
          <p:cNvSpPr/>
          <p:nvPr/>
        </p:nvSpPr>
        <p:spPr>
          <a:xfrm>
            <a:off x="6448320" y="218124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2d3436"/>
                </a:solidFill>
                <a:latin typeface="Quattrocento Sans"/>
                <a:ea typeface="Quattrocento Sans"/>
              </a:rPr>
              <a:t>If B confesses:</a:t>
            </a:r>
            <a:r>
              <a:rPr b="0" lang="en-US" sz="1200" spc="-1" strike="noStrike">
                <a:solidFill>
                  <a:srgbClr val="636e72"/>
                </a:solidFill>
                <a:latin typeface="Quattrocento Sans"/>
                <a:ea typeface="Quattrocento Sans"/>
              </a:rPr>
              <a:t> A gets -5 years (confess) vs. -10 years (silent) → Confess better</a:t>
            </a:r>
            <a:endParaRPr b="0" lang="en-HK" sz="1200" spc="-1" strike="noStrike">
              <a:latin typeface="Arial"/>
            </a:endParaRPr>
          </a:p>
        </p:txBody>
      </p:sp>
      <p:sp>
        <p:nvSpPr>
          <p:cNvPr id="269" name="Text 11"/>
          <p:cNvSpPr/>
          <p:nvPr/>
        </p:nvSpPr>
        <p:spPr>
          <a:xfrm>
            <a:off x="6448320" y="2486160"/>
            <a:ext cx="52376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0984e3"/>
                </a:solidFill>
                <a:latin typeface="Quattrocento Sans"/>
                <a:ea typeface="Quattrocento Sans"/>
              </a:rPr>
              <a:t>Confessing is always better, regardless of B's choice</a:t>
            </a:r>
            <a:endParaRPr b="0" lang="en-HK" sz="1200" spc="-1" strike="noStrike">
              <a:latin typeface="Arial"/>
            </a:endParaRPr>
          </a:p>
        </p:txBody>
      </p:sp>
      <p:sp>
        <p:nvSpPr>
          <p:cNvPr id="270" name="Shape 12"/>
          <p:cNvSpPr/>
          <p:nvPr/>
        </p:nvSpPr>
        <p:spPr>
          <a:xfrm>
            <a:off x="6267600" y="3067200"/>
            <a:ext cx="5542560" cy="2132640"/>
          </a:xfrm>
          <a:custGeom>
            <a:avLst/>
            <a:gdLst/>
            <a:ahLst/>
            <a:rect l="l" t="t" r="r" b="b"/>
            <a:pathLst>
              <a:path w="5543550" h="2133600">
                <a:moveTo>
                  <a:pt x="0" y="0"/>
                </a:moveTo>
                <a:lnTo>
                  <a:pt x="5543550" y="0"/>
                </a:lnTo>
                <a:lnTo>
                  <a:pt x="5543550" y="2133600"/>
                </a:lnTo>
                <a:lnTo>
                  <a:pt x="0" y="2133600"/>
                </a:lnTo>
                <a:lnTo>
                  <a:pt x="0" y="0"/>
                </a:lnTo>
                <a:close/>
              </a:path>
            </a:pathLst>
          </a:custGeom>
          <a:solidFill>
            <a:srgbClr val="f8f9fa"/>
          </a:solidFill>
          <a:ln w="0">
            <a:noFill/>
          </a:ln>
        </p:spPr>
        <p:style>
          <a:lnRef idx="0"/>
          <a:fillRef idx="0"/>
          <a:effectRef idx="0"/>
          <a:fontRef idx="minor"/>
        </p:style>
      </p:sp>
      <p:sp>
        <p:nvSpPr>
          <p:cNvPr id="271" name="Shape 13"/>
          <p:cNvSpPr/>
          <p:nvPr/>
        </p:nvSpPr>
        <p:spPr>
          <a:xfrm>
            <a:off x="6267600" y="3067200"/>
            <a:ext cx="37080" cy="2132640"/>
          </a:xfrm>
          <a:custGeom>
            <a:avLst/>
            <a:gdLst/>
            <a:ahLst/>
            <a:rect l="l" t="t" r="r" b="b"/>
            <a:pathLst>
              <a:path w="38100" h="2133600">
                <a:moveTo>
                  <a:pt x="0" y="0"/>
                </a:moveTo>
                <a:lnTo>
                  <a:pt x="38100" y="0"/>
                </a:lnTo>
                <a:lnTo>
                  <a:pt x="38100" y="2133600"/>
                </a:lnTo>
                <a:lnTo>
                  <a:pt x="0" y="2133600"/>
                </a:lnTo>
                <a:lnTo>
                  <a:pt x="0" y="0"/>
                </a:lnTo>
                <a:close/>
              </a:path>
            </a:pathLst>
          </a:custGeom>
          <a:solidFill>
            <a:srgbClr val="0984e3"/>
          </a:solidFill>
          <a:ln w="0">
            <a:noFill/>
          </a:ln>
        </p:spPr>
        <p:style>
          <a:lnRef idx="0"/>
          <a:fillRef idx="0"/>
          <a:effectRef idx="0"/>
          <a:fontRef idx="minor"/>
        </p:style>
      </p:sp>
      <p:sp>
        <p:nvSpPr>
          <p:cNvPr id="272" name="Text 14"/>
          <p:cNvSpPr/>
          <p:nvPr/>
        </p:nvSpPr>
        <p:spPr>
          <a:xfrm>
            <a:off x="6477120" y="3257640"/>
            <a:ext cx="52376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Real-World Applications</a:t>
            </a:r>
            <a:endParaRPr b="0" lang="en-HK" sz="1500" spc="-1" strike="noStrike">
              <a:latin typeface="Arial"/>
            </a:endParaRPr>
          </a:p>
        </p:txBody>
      </p:sp>
      <p:sp>
        <p:nvSpPr>
          <p:cNvPr id="273" name="Shape 15"/>
          <p:cNvSpPr/>
          <p:nvPr/>
        </p:nvSpPr>
        <p:spPr>
          <a:xfrm>
            <a:off x="6496200" y="3672000"/>
            <a:ext cx="151200" cy="151200"/>
          </a:xfrm>
          <a:custGeom>
            <a:avLst/>
            <a:gdLst/>
            <a:ah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w="0">
            <a:noFill/>
          </a:ln>
        </p:spPr>
        <p:style>
          <a:lnRef idx="0"/>
          <a:fillRef idx="0"/>
          <a:effectRef idx="0"/>
          <a:fontRef idx="minor"/>
        </p:style>
      </p:sp>
      <p:sp>
        <p:nvSpPr>
          <p:cNvPr id="274" name="Text 16"/>
          <p:cNvSpPr/>
          <p:nvPr/>
        </p:nvSpPr>
        <p:spPr>
          <a:xfrm>
            <a:off x="6724800" y="3638520"/>
            <a:ext cx="497088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Arms Races:</a:t>
            </a:r>
            <a:r>
              <a:rPr b="0" lang="en-US" sz="1200" spc="-1" strike="noStrike">
                <a:solidFill>
                  <a:srgbClr val="636e72"/>
                </a:solidFill>
                <a:latin typeface="Quattrocento Sans"/>
                <a:ea typeface="Quattrocento Sans"/>
              </a:rPr>
              <a:t> Nations build weapons despite mutual disarmament being preferable</a:t>
            </a:r>
            <a:endParaRPr b="0" lang="en-HK" sz="1200" spc="-1" strike="noStrike">
              <a:latin typeface="Arial"/>
            </a:endParaRPr>
          </a:p>
        </p:txBody>
      </p:sp>
      <p:sp>
        <p:nvSpPr>
          <p:cNvPr id="275" name="Shape 17"/>
          <p:cNvSpPr/>
          <p:nvPr/>
        </p:nvSpPr>
        <p:spPr>
          <a:xfrm>
            <a:off x="6496200" y="4205160"/>
            <a:ext cx="151200" cy="151200"/>
          </a:xfrm>
          <a:custGeom>
            <a:avLst/>
            <a:gdLst/>
            <a:ah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w="0">
            <a:noFill/>
          </a:ln>
        </p:spPr>
        <p:style>
          <a:lnRef idx="0"/>
          <a:fillRef idx="0"/>
          <a:effectRef idx="0"/>
          <a:fontRef idx="minor"/>
        </p:style>
      </p:sp>
      <p:sp>
        <p:nvSpPr>
          <p:cNvPr id="276" name="Text 18"/>
          <p:cNvSpPr/>
          <p:nvPr/>
        </p:nvSpPr>
        <p:spPr>
          <a:xfrm>
            <a:off x="6724800" y="417204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Environment:</a:t>
            </a:r>
            <a:r>
              <a:rPr b="0" lang="en-US" sz="1200" spc="-1" strike="noStrike">
                <a:solidFill>
                  <a:srgbClr val="636e72"/>
                </a:solidFill>
                <a:latin typeface="Quattrocento Sans"/>
                <a:ea typeface="Quattrocento Sans"/>
              </a:rPr>
              <a:t> Overfishing and pollution despite collective harm</a:t>
            </a:r>
            <a:endParaRPr b="0" lang="en-HK" sz="1200" spc="-1" strike="noStrike">
              <a:latin typeface="Arial"/>
            </a:endParaRPr>
          </a:p>
        </p:txBody>
      </p:sp>
      <p:sp>
        <p:nvSpPr>
          <p:cNvPr id="277" name="Shape 19"/>
          <p:cNvSpPr/>
          <p:nvPr/>
        </p:nvSpPr>
        <p:spPr>
          <a:xfrm>
            <a:off x="6515280" y="4510080"/>
            <a:ext cx="113400" cy="151200"/>
          </a:xfrm>
          <a:custGeom>
            <a:avLst/>
            <a:gdLst/>
            <a:ah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w="0">
            <a:noFill/>
          </a:ln>
        </p:spPr>
        <p:style>
          <a:lnRef idx="0"/>
          <a:fillRef idx="0"/>
          <a:effectRef idx="0"/>
          <a:fontRef idx="minor"/>
        </p:style>
      </p:sp>
      <p:sp>
        <p:nvSpPr>
          <p:cNvPr id="278" name="Text 20"/>
          <p:cNvSpPr/>
          <p:nvPr/>
        </p:nvSpPr>
        <p:spPr>
          <a:xfrm>
            <a:off x="6724800" y="447660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Business:</a:t>
            </a:r>
            <a:r>
              <a:rPr b="0" lang="en-US" sz="1200" spc="-1" strike="noStrike">
                <a:solidFill>
                  <a:srgbClr val="636e72"/>
                </a:solidFill>
                <a:latin typeface="Quattrocento Sans"/>
                <a:ea typeface="Quattrocento Sans"/>
              </a:rPr>
              <a:t> Price wars that reduce profits for all competitors</a:t>
            </a:r>
            <a:endParaRPr b="0" lang="en-HK" sz="1200" spc="-1" strike="noStrike">
              <a:latin typeface="Arial"/>
            </a:endParaRPr>
          </a:p>
        </p:txBody>
      </p:sp>
      <p:sp>
        <p:nvSpPr>
          <p:cNvPr id="279" name="Shape 21"/>
          <p:cNvSpPr/>
          <p:nvPr/>
        </p:nvSpPr>
        <p:spPr>
          <a:xfrm>
            <a:off x="6486480" y="4815000"/>
            <a:ext cx="170280" cy="151200"/>
          </a:xfrm>
          <a:custGeom>
            <a:avLst/>
            <a:gdLst/>
            <a:ah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w="0">
            <a:noFill/>
          </a:ln>
        </p:spPr>
        <p:style>
          <a:lnRef idx="0"/>
          <a:fillRef idx="0"/>
          <a:effectRef idx="0"/>
          <a:fontRef idx="minor"/>
        </p:style>
      </p:sp>
      <p:sp>
        <p:nvSpPr>
          <p:cNvPr id="280" name="Text 22"/>
          <p:cNvSpPr/>
          <p:nvPr/>
        </p:nvSpPr>
        <p:spPr>
          <a:xfrm>
            <a:off x="6724800" y="4781520"/>
            <a:ext cx="497088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Public Goods:</a:t>
            </a:r>
            <a:r>
              <a:rPr b="0" lang="en-US" sz="1200" spc="-1" strike="noStrike">
                <a:solidFill>
                  <a:srgbClr val="636e72"/>
                </a:solidFill>
                <a:latin typeface="Quattrocento Sans"/>
                <a:ea typeface="Quattrocento Sans"/>
              </a:rPr>
              <a:t> Free-riding on contributions to shared resources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1" name="Text 0"/>
          <p:cNvSpPr/>
          <p:nvPr/>
        </p:nvSpPr>
        <p:spPr>
          <a:xfrm>
            <a:off x="358560" y="358560"/>
            <a:ext cx="11545560" cy="214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130" spc="49" strike="noStrike">
                <a:solidFill>
                  <a:srgbClr val="0984e3"/>
                </a:solidFill>
                <a:latin typeface="Quattrocento Sans"/>
                <a:ea typeface="Quattrocento Sans"/>
              </a:rPr>
              <a:t>COORDINATION &amp; CONFRONTATION</a:t>
            </a:r>
            <a:endParaRPr b="0" lang="en-HK" sz="1130" spc="-1" strike="noStrike">
              <a:latin typeface="Arial"/>
            </a:endParaRPr>
          </a:p>
        </p:txBody>
      </p:sp>
      <p:sp>
        <p:nvSpPr>
          <p:cNvPr id="282" name="Text 1"/>
          <p:cNvSpPr/>
          <p:nvPr/>
        </p:nvSpPr>
        <p:spPr>
          <a:xfrm>
            <a:off x="358560" y="645480"/>
            <a:ext cx="11688840" cy="429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390" spc="-1" strike="noStrike">
                <a:solidFill>
                  <a:srgbClr val="2d3436"/>
                </a:solidFill>
                <a:latin typeface="Oranienbaum"/>
                <a:ea typeface="Oranienbaum"/>
              </a:rPr>
              <a:t>Battle of the Sexes &amp; Chicken Game</a:t>
            </a:r>
            <a:endParaRPr b="0" lang="en-HK" sz="3390" spc="-1" strike="noStrike">
              <a:latin typeface="Arial"/>
            </a:endParaRPr>
          </a:p>
        </p:txBody>
      </p:sp>
      <p:sp>
        <p:nvSpPr>
          <p:cNvPr id="283" name="Text 2"/>
          <p:cNvSpPr/>
          <p:nvPr/>
        </p:nvSpPr>
        <p:spPr>
          <a:xfrm>
            <a:off x="35856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Battle of the Sexes</a:t>
            </a:r>
            <a:endParaRPr b="0" lang="en-HK" sz="1700" spc="-1" strike="noStrike">
              <a:latin typeface="Arial"/>
            </a:endParaRPr>
          </a:p>
        </p:txBody>
      </p:sp>
      <p:sp>
        <p:nvSpPr>
          <p:cNvPr id="284" name="Text 3"/>
          <p:cNvSpPr/>
          <p:nvPr/>
        </p:nvSpPr>
        <p:spPr>
          <a:xfrm>
            <a:off x="358560" y="1725840"/>
            <a:ext cx="5473440" cy="440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A coordination game where two players prefer to be together but disagree on the preferred activity.</a:t>
            </a:r>
            <a:endParaRPr b="0" lang="en-HK" sz="1270" spc="-1" strike="noStrike">
              <a:latin typeface="Arial"/>
            </a:endParaRPr>
          </a:p>
        </p:txBody>
      </p:sp>
      <p:sp>
        <p:nvSpPr>
          <p:cNvPr id="285" name="Text 4"/>
          <p:cNvSpPr/>
          <p:nvPr/>
        </p:nvSpPr>
        <p:spPr>
          <a:xfrm>
            <a:off x="358560" y="2317320"/>
            <a:ext cx="566460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Classic scenario: Alice prefers ballet, Bob prefers boxing, but both prefer being together over being apart. The challenge is achieving coordination when preferences diverge.</a:t>
            </a:r>
            <a:endParaRPr b="0" lang="en-HK" sz="1130" spc="-1" strike="noStrike">
              <a:latin typeface="Arial"/>
            </a:endParaRPr>
          </a:p>
        </p:txBody>
      </p:sp>
      <p:sp>
        <p:nvSpPr>
          <p:cNvPr id="286" name="Shape 5"/>
          <p:cNvSpPr/>
          <p:nvPr/>
        </p:nvSpPr>
        <p:spPr>
          <a:xfrm>
            <a:off x="363240" y="293148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87" name="Text 6"/>
          <p:cNvSpPr/>
          <p:nvPr/>
        </p:nvSpPr>
        <p:spPr>
          <a:xfrm>
            <a:off x="470520" y="307944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88" name="Table 0"/>
          <p:cNvGraphicFramePr/>
          <p:nvPr/>
        </p:nvGraphicFramePr>
        <p:xfrm>
          <a:off x="510840" y="3402000"/>
          <a:ext cx="5288400" cy="1003320"/>
        </p:xfrm>
        <a:graphic>
          <a:graphicData uri="http://schemas.openxmlformats.org/drawingml/2006/table">
            <a:tbl>
              <a:tblPr/>
              <a:tblGrid>
                <a:gridCol w="1894680"/>
                <a:gridCol w="1616040"/>
                <a:gridCol w="1778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Bob: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Alice: Ballet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(3, 2)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Alice: Boxing</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(2, 3)</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0984e3"/>
                    </a:solidFill>
                  </a:tcPr>
                </a:tc>
              </a:tr>
            </a:tbl>
          </a:graphicData>
        </a:graphic>
      </p:graphicFrame>
      <p:sp>
        <p:nvSpPr>
          <p:cNvPr id="289" name="Text 7"/>
          <p:cNvSpPr/>
          <p:nvPr/>
        </p:nvSpPr>
        <p:spPr>
          <a:xfrm>
            <a:off x="479520" y="447804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Two pure-strategy Nash equilibria (highlighted)</a:t>
            </a:r>
            <a:endParaRPr b="0" lang="en-HK" sz="989" spc="-1" strike="noStrike">
              <a:latin typeface="Arial"/>
            </a:endParaRPr>
          </a:p>
        </p:txBody>
      </p:sp>
      <p:sp>
        <p:nvSpPr>
          <p:cNvPr id="290" name="Shape 8"/>
          <p:cNvSpPr/>
          <p:nvPr/>
        </p:nvSpPr>
        <p:spPr>
          <a:xfrm>
            <a:off x="376560" y="4952880"/>
            <a:ext cx="5574960" cy="752040"/>
          </a:xfrm>
          <a:custGeom>
            <a:avLst/>
            <a:gdLst/>
            <a:ahLst/>
            <a:rect l="l" t="t" r="r" b="b"/>
            <a:pathLst>
              <a:path w="5576047" h="753035">
                <a:moveTo>
                  <a:pt x="0" y="0"/>
                </a:moveTo>
                <a:lnTo>
                  <a:pt x="5576047" y="0"/>
                </a:lnTo>
                <a:lnTo>
                  <a:pt x="5576047" y="753035"/>
                </a:lnTo>
                <a:lnTo>
                  <a:pt x="0" y="753035"/>
                </a:lnTo>
                <a:lnTo>
                  <a:pt x="0" y="0"/>
                </a:lnTo>
                <a:close/>
              </a:path>
            </a:pathLst>
          </a:custGeom>
          <a:solidFill>
            <a:srgbClr val="f8f9fa"/>
          </a:solidFill>
          <a:ln w="0">
            <a:noFill/>
          </a:ln>
        </p:spPr>
        <p:style>
          <a:lnRef idx="0"/>
          <a:fillRef idx="0"/>
          <a:effectRef idx="0"/>
          <a:fontRef idx="minor"/>
        </p:style>
      </p:sp>
      <p:sp>
        <p:nvSpPr>
          <p:cNvPr id="291" name="Shape 9"/>
          <p:cNvSpPr/>
          <p:nvPr/>
        </p:nvSpPr>
        <p:spPr>
          <a:xfrm>
            <a:off x="376560" y="4952880"/>
            <a:ext cx="34920" cy="752040"/>
          </a:xfrm>
          <a:custGeom>
            <a:avLst/>
            <a:gdLst/>
            <a:ahLst/>
            <a:rect l="l" t="t" r="r" b="b"/>
            <a:pathLst>
              <a:path w="35859" h="753035">
                <a:moveTo>
                  <a:pt x="0" y="0"/>
                </a:moveTo>
                <a:lnTo>
                  <a:pt x="35859" y="0"/>
                </a:lnTo>
                <a:lnTo>
                  <a:pt x="35859" y="753035"/>
                </a:lnTo>
                <a:lnTo>
                  <a:pt x="0" y="753035"/>
                </a:lnTo>
                <a:lnTo>
                  <a:pt x="0" y="0"/>
                </a:lnTo>
                <a:close/>
              </a:path>
            </a:pathLst>
          </a:custGeom>
          <a:solidFill>
            <a:srgbClr val="0984e3"/>
          </a:solidFill>
          <a:ln w="0">
            <a:noFill/>
          </a:ln>
        </p:spPr>
        <p:style>
          <a:lnRef idx="0"/>
          <a:fillRef idx="0"/>
          <a:effectRef idx="0"/>
          <a:fontRef idx="minor"/>
        </p:style>
      </p:sp>
      <p:sp>
        <p:nvSpPr>
          <p:cNvPr id="292" name="Text 10"/>
          <p:cNvSpPr/>
          <p:nvPr/>
        </p:nvSpPr>
        <p:spPr>
          <a:xfrm>
            <a:off x="537840" y="5096520"/>
            <a:ext cx="5342040" cy="46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130" spc="-1" strike="noStrike">
                <a:solidFill>
                  <a:srgbClr val="1e272e"/>
                </a:solidFill>
                <a:latin typeface="Quattrocento Sans"/>
                <a:ea typeface="Quattrocento Sans"/>
              </a:rPr>
              <a:t>Key Challenge:</a:t>
            </a:r>
            <a:r>
              <a:rPr b="0" lang="en-US" sz="1130" spc="-1" strike="noStrike">
                <a:solidFill>
                  <a:srgbClr val="1e272e"/>
                </a:solidFill>
                <a:latin typeface="Quattrocento Sans"/>
                <a:ea typeface="Quattrocento Sans"/>
              </a:rPr>
              <a:t> Multiple equilibria create coordination problems. Players need mechanisms (communication, conventions, focal points) to select among equilibria.</a:t>
            </a:r>
            <a:endParaRPr b="0" lang="en-HK" sz="1130" spc="-1" strike="noStrike">
              <a:latin typeface="Arial"/>
            </a:endParaRPr>
          </a:p>
        </p:txBody>
      </p:sp>
      <p:sp>
        <p:nvSpPr>
          <p:cNvPr id="293" name="Text 11"/>
          <p:cNvSpPr/>
          <p:nvPr/>
        </p:nvSpPr>
        <p:spPr>
          <a:xfrm>
            <a:off x="6239520" y="1290960"/>
            <a:ext cx="5700600" cy="285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00" spc="-1" strike="noStrike">
                <a:solidFill>
                  <a:srgbClr val="2d3436"/>
                </a:solidFill>
                <a:latin typeface="Oranienbaum"/>
                <a:ea typeface="Oranienbaum"/>
              </a:rPr>
              <a:t>Chicken Game</a:t>
            </a:r>
            <a:endParaRPr b="0" lang="en-HK" sz="1700" spc="-1" strike="noStrike">
              <a:latin typeface="Arial"/>
            </a:endParaRPr>
          </a:p>
        </p:txBody>
      </p:sp>
      <p:sp>
        <p:nvSpPr>
          <p:cNvPr id="294" name="Text 12"/>
          <p:cNvSpPr/>
          <p:nvPr/>
        </p:nvSpPr>
        <p:spPr>
          <a:xfrm>
            <a:off x="6239520" y="1685520"/>
            <a:ext cx="5673600" cy="527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70" spc="-1" strike="noStrike">
                <a:solidFill>
                  <a:srgbClr val="1e272e"/>
                </a:solidFill>
                <a:latin typeface="Quattrocento Sans"/>
                <a:ea typeface="Quattrocento Sans"/>
              </a:rPr>
              <a:t>Two drivers head toward each other; the first to swerve is "chicken."</a:t>
            </a:r>
            <a:r>
              <a:rPr b="0" lang="en-US" sz="1270" spc="-1" strike="noStrike">
                <a:solidFill>
                  <a:srgbClr val="1e272e"/>
                </a:solidFill>
                <a:latin typeface="Quattrocento Sans"/>
                <a:ea typeface="Quattrocento Sans"/>
              </a:rPr>
              <a:t> Mutual destruction occurs if neither swerves.</a:t>
            </a:r>
            <a:endParaRPr b="0" lang="en-HK" sz="1270" spc="-1" strike="noStrike">
              <a:latin typeface="Arial"/>
            </a:endParaRPr>
          </a:p>
        </p:txBody>
      </p:sp>
      <p:sp>
        <p:nvSpPr>
          <p:cNvPr id="295" name="Text 13"/>
          <p:cNvSpPr/>
          <p:nvPr/>
        </p:nvSpPr>
        <p:spPr>
          <a:xfrm>
            <a:off x="6239520" y="2317320"/>
            <a:ext cx="566460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636e72"/>
                </a:solidFill>
                <a:latin typeface="Quattrocento Sans"/>
                <a:ea typeface="Quattrocento Sans"/>
              </a:rPr>
              <a:t>This game models brinkmanship—pushing situations to the edge of disaster to force opponent concession. It has profound implications for nuclear strategy and conflict resolution.</a:t>
            </a:r>
            <a:endParaRPr b="0" lang="en-HK" sz="1130" spc="-1" strike="noStrike">
              <a:latin typeface="Arial"/>
            </a:endParaRPr>
          </a:p>
        </p:txBody>
      </p:sp>
      <p:sp>
        <p:nvSpPr>
          <p:cNvPr id="296" name="Shape 14"/>
          <p:cNvSpPr/>
          <p:nvPr/>
        </p:nvSpPr>
        <p:spPr>
          <a:xfrm>
            <a:off x="6243840" y="3164400"/>
            <a:ext cx="5583960" cy="1872720"/>
          </a:xfrm>
          <a:custGeom>
            <a:avLst/>
            <a:gdLst/>
            <a:ah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round/>
          </a:ln>
        </p:spPr>
        <p:style>
          <a:lnRef idx="0"/>
          <a:fillRef idx="0"/>
          <a:effectRef idx="0"/>
          <a:fontRef idx="minor"/>
        </p:style>
      </p:sp>
      <p:sp>
        <p:nvSpPr>
          <p:cNvPr id="297" name="Text 15"/>
          <p:cNvSpPr/>
          <p:nvPr/>
        </p:nvSpPr>
        <p:spPr>
          <a:xfrm>
            <a:off x="6351480" y="3312360"/>
            <a:ext cx="5368680" cy="2498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270" spc="-1" strike="noStrike">
                <a:solidFill>
                  <a:srgbClr val="2d3436"/>
                </a:solidFill>
                <a:latin typeface="Oranienbaum"/>
                <a:ea typeface="Oranienbaum"/>
              </a:rPr>
              <a:t>Payoff Matrix</a:t>
            </a:r>
            <a:endParaRPr b="0" lang="en-HK" sz="1270" spc="-1" strike="noStrike">
              <a:latin typeface="Arial"/>
            </a:endParaRPr>
          </a:p>
        </p:txBody>
      </p:sp>
      <p:graphicFrame>
        <p:nvGraphicFramePr>
          <p:cNvPr id="298" name="Table 1"/>
          <p:cNvGraphicFramePr/>
          <p:nvPr/>
        </p:nvGraphicFramePr>
        <p:xfrm>
          <a:off x="6391800" y="3635280"/>
          <a:ext cx="5288400" cy="1003320"/>
        </p:xfrm>
        <a:graphic>
          <a:graphicData uri="http://schemas.openxmlformats.org/drawingml/2006/table">
            <a:tbl>
              <a:tblPr/>
              <a:tblGrid>
                <a:gridCol w="1777680"/>
                <a:gridCol w="1751040"/>
                <a:gridCol w="1760040"/>
              </a:tblGrid>
              <a:tr h="334440">
                <a:tc>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1" lang="en-US" sz="900" spc="-1" strike="noStrike">
                          <a:solidFill>
                            <a:srgbClr val="2d3436"/>
                          </a:solidFill>
                          <a:latin typeface="微软雅黑"/>
                          <a:ea typeface="微软雅黑"/>
                        </a:rPr>
                        <a:t>Driver B: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r>
              <a:tr h="33444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Swerve</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(0, 0)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 2)</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r>
              <a:tr h="334800">
                <a:tc>
                  <a:txBody>
                    <a:bodyPr lIns="71640" rIns="71640" anchor="ctr">
                      <a:noAutofit/>
                    </a:bodyPr>
                    <a:p>
                      <a:pPr>
                        <a:lnSpc>
                          <a:spcPct val="100000"/>
                        </a:lnSpc>
                        <a:buNone/>
                      </a:pPr>
                      <a:r>
                        <a:rPr b="1" lang="en-US" sz="900" spc="-1" strike="noStrike">
                          <a:solidFill>
                            <a:srgbClr val="2d3436"/>
                          </a:solidFill>
                          <a:latin typeface="微软雅黑"/>
                          <a:ea typeface="微软雅黑"/>
                        </a:rPr>
                        <a:t>Driver A: Straight</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8f9fa"/>
                    </a:solid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(2, -1)</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noFill/>
                  </a:tcPr>
                </a:tc>
                <a:tc>
                  <a:txBody>
                    <a:bodyPr lIns="71640" rIns="71640" anchor="ctr">
                      <a:noAutofit/>
                    </a:bodyPr>
                    <a:p>
                      <a:pPr algn="ctr">
                        <a:lnSpc>
                          <a:spcPct val="100000"/>
                        </a:lnSpc>
                        <a:buNone/>
                      </a:pPr>
                      <a:r>
                        <a:rPr b="0" lang="en-US" sz="900" spc="-1" strike="noStrike">
                          <a:solidFill>
                            <a:srgbClr val="1e272e"/>
                          </a:solidFill>
                          <a:latin typeface="微软雅黑"/>
                          <a:ea typeface="微软雅黑"/>
                        </a:rPr>
                        <a:t>(-10, -10)</a:t>
                      </a:r>
                      <a:endParaRPr b="0" lang="en-HK" sz="900" spc="-1" strike="noStrike">
                        <a:latin typeface="Arial"/>
                      </a:endParaRPr>
                    </a:p>
                  </a:txBody>
                  <a:tcPr anchor="ctr" marL="71640" marR="71640">
                    <a:lnL w="12240">
                      <a:solidFill>
                        <a:srgbClr val="e0e0e0"/>
                      </a:solidFill>
                    </a:lnL>
                    <a:lnR w="12240">
                      <a:solidFill>
                        <a:srgbClr val="e0e0e0"/>
                      </a:solidFill>
                    </a:lnR>
                    <a:lnT w="12240">
                      <a:solidFill>
                        <a:srgbClr val="e0e0e0"/>
                      </a:solidFill>
                    </a:lnT>
                    <a:lnB w="12240">
                      <a:solidFill>
                        <a:srgbClr val="e0e0e0"/>
                      </a:solidFill>
                    </a:lnB>
                    <a:solidFill>
                      <a:srgbClr val="fb2c36"/>
                    </a:solidFill>
                  </a:tcPr>
                </a:tc>
              </a:tr>
            </a:tbl>
          </a:graphicData>
        </a:graphic>
      </p:graphicFrame>
      <p:sp>
        <p:nvSpPr>
          <p:cNvPr id="299" name="Text 16"/>
          <p:cNvSpPr/>
          <p:nvPr/>
        </p:nvSpPr>
        <p:spPr>
          <a:xfrm>
            <a:off x="6360480" y="4710960"/>
            <a:ext cx="5350680" cy="1782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9" spc="-1" strike="noStrike">
                <a:solidFill>
                  <a:srgbClr val="636e72"/>
                </a:solidFill>
                <a:latin typeface="Quattrocento Sans"/>
                <a:ea typeface="Quattrocento Sans"/>
              </a:rPr>
              <a:t>Mutual destruction (highlighted in red) is the worst outcome</a:t>
            </a:r>
            <a:endParaRPr b="0" lang="en-HK" sz="989" spc="-1" strike="noStrike">
              <a:latin typeface="Arial"/>
            </a:endParaRPr>
          </a:p>
        </p:txBody>
      </p:sp>
      <p:sp>
        <p:nvSpPr>
          <p:cNvPr id="300" name="Shape 17"/>
          <p:cNvSpPr/>
          <p:nvPr/>
        </p:nvSpPr>
        <p:spPr>
          <a:xfrm>
            <a:off x="6239520" y="5186160"/>
            <a:ext cx="5592960" cy="1307880"/>
          </a:xfrm>
          <a:custGeom>
            <a:avLst/>
            <a:gdLst/>
            <a:ahLst/>
            <a:rect l="l" t="t" r="r" b="b"/>
            <a:pathLst>
              <a:path w="5593976" h="1308847">
                <a:moveTo>
                  <a:pt x="0" y="0"/>
                </a:moveTo>
                <a:lnTo>
                  <a:pt x="5593976" y="0"/>
                </a:lnTo>
                <a:lnTo>
                  <a:pt x="5593976" y="1308847"/>
                </a:lnTo>
                <a:lnTo>
                  <a:pt x="0" y="1308847"/>
                </a:lnTo>
                <a:lnTo>
                  <a:pt x="0" y="0"/>
                </a:lnTo>
                <a:close/>
              </a:path>
            </a:pathLst>
          </a:custGeom>
          <a:solidFill>
            <a:srgbClr val="2d3436"/>
          </a:solidFill>
          <a:ln w="0">
            <a:noFill/>
          </a:ln>
        </p:spPr>
        <p:style>
          <a:lnRef idx="0"/>
          <a:fillRef idx="0"/>
          <a:effectRef idx="0"/>
          <a:fontRef idx="minor"/>
        </p:style>
      </p:sp>
      <p:sp>
        <p:nvSpPr>
          <p:cNvPr id="301" name="Text 18"/>
          <p:cNvSpPr/>
          <p:nvPr/>
        </p:nvSpPr>
        <p:spPr>
          <a:xfrm>
            <a:off x="6382800" y="5329440"/>
            <a:ext cx="5386680" cy="249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70" spc="-1" strike="noStrike">
                <a:solidFill>
                  <a:srgbClr val="ffffff"/>
                </a:solidFill>
                <a:latin typeface="Oranienbaum"/>
                <a:ea typeface="Oranienbaum"/>
              </a:rPr>
              <a:t>Nuclear Deterrence Application</a:t>
            </a:r>
            <a:endParaRPr b="0" lang="en-HK" sz="1270" spc="-1" strike="noStrike">
              <a:latin typeface="Arial"/>
            </a:endParaRPr>
          </a:p>
        </p:txBody>
      </p:sp>
      <p:sp>
        <p:nvSpPr>
          <p:cNvPr id="302" name="Text 19"/>
          <p:cNvSpPr/>
          <p:nvPr/>
        </p:nvSpPr>
        <p:spPr>
          <a:xfrm>
            <a:off x="6382800" y="5652360"/>
            <a:ext cx="5377680" cy="69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30" spc="-1" strike="noStrike">
                <a:solidFill>
                  <a:srgbClr val="e0e0e0"/>
                </a:solidFill>
                <a:latin typeface="Quattrocento Sans"/>
                <a:ea typeface="Quattrocento Sans"/>
              </a:rPr>
              <a:t>During the Cold War, the Chicken Game modeled nuclear brinkmanship. Both superpowers threatened mutual assured destruction (MAD) to deter first strikes. The key was making threats credible while avoiding actual catastrophe.</a:t>
            </a:r>
            <a:endParaRPr b="0" lang="en-HK" sz="113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Text 0"/>
          <p:cNvSpPr/>
          <p:nvPr/>
        </p:nvSpPr>
        <p:spPr>
          <a:xfrm>
            <a:off x="609480" y="1781280"/>
            <a:ext cx="12191040" cy="1218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9600" spc="-1" strike="noStrike">
                <a:solidFill>
                  <a:srgbClr val="0984e3">
                    <a:alpha val="10000"/>
                  </a:srgbClr>
                </a:solidFill>
                <a:latin typeface="Oranienbaum"/>
                <a:ea typeface="Oranienbaum"/>
              </a:rPr>
              <a:t>06</a:t>
            </a:r>
            <a:endParaRPr b="0" lang="en-HK" sz="9600" spc="-1" strike="noStrike">
              <a:latin typeface="Arial"/>
            </a:endParaRPr>
          </a:p>
        </p:txBody>
      </p:sp>
      <p:sp>
        <p:nvSpPr>
          <p:cNvPr id="304" name="Text 1"/>
          <p:cNvSpPr/>
          <p:nvPr/>
        </p:nvSpPr>
        <p:spPr>
          <a:xfrm>
            <a:off x="609480" y="3152880"/>
            <a:ext cx="11867040" cy="11419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2d3436"/>
                </a:solidFill>
                <a:latin typeface="Oranienbaum"/>
                <a:ea typeface="Oranienbaum"/>
              </a:rPr>
              <a:t>Real-World</a:t>
            </a:r>
            <a:endParaRPr b="0" lang="en-HK" sz="4500" spc="-1" strike="noStrike">
              <a:latin typeface="Arial"/>
            </a:endParaRPr>
          </a:p>
          <a:p>
            <a:pPr>
              <a:lnSpc>
                <a:spcPct val="80000"/>
              </a:lnSpc>
              <a:buNone/>
            </a:pPr>
            <a:r>
              <a:rPr b="1" lang="en-US" sz="4500" spc="-1" strike="noStrike">
                <a:solidFill>
                  <a:srgbClr val="2d3436"/>
                </a:solidFill>
                <a:latin typeface="Oranienbaum"/>
                <a:ea typeface="Oranienbaum"/>
              </a:rPr>
              <a:t>Applications</a:t>
            </a:r>
            <a:endParaRPr b="0" lang="en-HK" sz="4500" spc="-1" strike="noStrike">
              <a:latin typeface="Arial"/>
            </a:endParaRPr>
          </a:p>
        </p:txBody>
      </p:sp>
      <p:sp>
        <p:nvSpPr>
          <p:cNvPr id="305" name="Shape 2"/>
          <p:cNvSpPr/>
          <p:nvPr/>
        </p:nvSpPr>
        <p:spPr>
          <a:xfrm>
            <a:off x="609480" y="452448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06" name="Text 3"/>
          <p:cNvSpPr/>
          <p:nvPr/>
        </p:nvSpPr>
        <p:spPr>
          <a:xfrm>
            <a:off x="609480" y="4772160"/>
            <a:ext cx="11695680" cy="303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636e72"/>
                </a:solidFill>
                <a:latin typeface="Liter"/>
                <a:ea typeface="Liter"/>
              </a:rPr>
              <a:t>Game theory in action across disciplines</a:t>
            </a:r>
            <a:endParaRPr b="0" lang="en-HK" sz="18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7" name="Text 0"/>
          <p:cNvSpPr/>
          <p:nvPr/>
        </p:nvSpPr>
        <p:spPr>
          <a:xfrm>
            <a:off x="380880" y="380880"/>
            <a:ext cx="11505240" cy="227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52" strike="noStrike">
                <a:solidFill>
                  <a:srgbClr val="0984e3"/>
                </a:solidFill>
                <a:latin typeface="Quattrocento Sans"/>
                <a:ea typeface="Quattrocento Sans"/>
              </a:rPr>
              <a:t>APPLICATION DOMAIN</a:t>
            </a:r>
            <a:endParaRPr b="0" lang="en-HK" sz="1200" spc="-1" strike="noStrike">
              <a:latin typeface="Arial"/>
            </a:endParaRPr>
          </a:p>
        </p:txBody>
      </p:sp>
      <p:sp>
        <p:nvSpPr>
          <p:cNvPr id="308" name="Text 1"/>
          <p:cNvSpPr/>
          <p:nvPr/>
        </p:nvSpPr>
        <p:spPr>
          <a:xfrm>
            <a:off x="380880" y="685800"/>
            <a:ext cx="11657520" cy="456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d3436"/>
                </a:solidFill>
                <a:latin typeface="Oranienbaum"/>
                <a:ea typeface="Oranienbaum"/>
              </a:rPr>
              <a:t>Economics &amp; Business Strategy</a:t>
            </a:r>
            <a:endParaRPr b="0" lang="en-HK" sz="3600" spc="-1" strike="noStrike">
              <a:latin typeface="Arial"/>
            </a:endParaRPr>
          </a:p>
        </p:txBody>
      </p:sp>
      <p:sp>
        <p:nvSpPr>
          <p:cNvPr id="309" name="Text 2"/>
          <p:cNvSpPr/>
          <p:nvPr/>
        </p:nvSpPr>
        <p:spPr>
          <a:xfrm>
            <a:off x="380880" y="1295280"/>
            <a:ext cx="7647480" cy="932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500" spc="-1" strike="noStrike">
                <a:solidFill>
                  <a:srgbClr val="1e272e"/>
                </a:solidFill>
                <a:latin typeface="Quattrocento Sans"/>
                <a:ea typeface="Quattrocento Sans"/>
              </a:rPr>
              <a:t>Game theory revolutionized economics by providing rigorous tools to model strategic interactions among firms, consumers, and market participants.</a:t>
            </a:r>
            <a:r>
              <a:rPr b="0" lang="en-US" sz="1500" spc="-1" strike="noStrike">
                <a:solidFill>
                  <a:srgbClr val="1e272e"/>
                </a:solidFill>
                <a:latin typeface="Quattrocento Sans"/>
                <a:ea typeface="Quattrocento Sans"/>
              </a:rPr>
              <a:t> It enables prediction of competitor behavior and optimization of strategic decisions.</a:t>
            </a:r>
            <a:endParaRPr b="0" lang="en-HK" sz="1500" spc="-1" strike="noStrike">
              <a:latin typeface="Arial"/>
            </a:endParaRPr>
          </a:p>
        </p:txBody>
      </p:sp>
      <p:sp>
        <p:nvSpPr>
          <p:cNvPr id="310" name="Shape 3"/>
          <p:cNvSpPr/>
          <p:nvPr/>
        </p:nvSpPr>
        <p:spPr>
          <a:xfrm>
            <a:off x="385920" y="2381400"/>
            <a:ext cx="3694680" cy="172296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1" name="Text 4"/>
          <p:cNvSpPr/>
          <p:nvPr/>
        </p:nvSpPr>
        <p:spPr>
          <a:xfrm>
            <a:off x="542880" y="2538360"/>
            <a:ext cx="34754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Oligopoly Competition</a:t>
            </a:r>
            <a:endParaRPr b="0" lang="en-HK" sz="1500" spc="-1" strike="noStrike">
              <a:latin typeface="Arial"/>
            </a:endParaRPr>
          </a:p>
        </p:txBody>
      </p:sp>
      <p:sp>
        <p:nvSpPr>
          <p:cNvPr id="312" name="Text 5"/>
          <p:cNvSpPr/>
          <p:nvPr/>
        </p:nvSpPr>
        <p:spPr>
          <a:xfrm>
            <a:off x="542880" y="288144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Cournot Model:</a:t>
            </a:r>
            <a:r>
              <a:rPr b="0" lang="en-US" sz="1200" spc="-1" strike="noStrike">
                <a:solidFill>
                  <a:srgbClr val="636e72"/>
                </a:solidFill>
                <a:latin typeface="Quattrocento Sans"/>
                <a:ea typeface="Quattrocento Sans"/>
              </a:rPr>
              <a:t> Firms compete by choosing quantities simultaneously.</a:t>
            </a:r>
            <a:endParaRPr b="0" lang="en-HK" sz="1200" spc="-1" strike="noStrike">
              <a:latin typeface="Arial"/>
            </a:endParaRPr>
          </a:p>
        </p:txBody>
      </p:sp>
      <p:sp>
        <p:nvSpPr>
          <p:cNvPr id="313" name="Text 6"/>
          <p:cNvSpPr/>
          <p:nvPr/>
        </p:nvSpPr>
        <p:spPr>
          <a:xfrm>
            <a:off x="542880" y="345276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Bertrand Model:</a:t>
            </a:r>
            <a:r>
              <a:rPr b="0" lang="en-US" sz="1200" spc="-1" strike="noStrike">
                <a:solidFill>
                  <a:srgbClr val="636e72"/>
                </a:solidFill>
                <a:latin typeface="Quattrocento Sans"/>
                <a:ea typeface="Quattrocento Sans"/>
              </a:rPr>
              <a:t> Firms compete by setting prices, undercutting rivals.</a:t>
            </a:r>
            <a:endParaRPr b="0" lang="en-HK" sz="1200" spc="-1" strike="noStrike">
              <a:latin typeface="Arial"/>
            </a:endParaRPr>
          </a:p>
        </p:txBody>
      </p:sp>
      <p:sp>
        <p:nvSpPr>
          <p:cNvPr id="314" name="Shape 7"/>
          <p:cNvSpPr/>
          <p:nvPr/>
        </p:nvSpPr>
        <p:spPr>
          <a:xfrm>
            <a:off x="4240080" y="2381400"/>
            <a:ext cx="3694680" cy="1722960"/>
          </a:xfrm>
          <a:custGeom>
            <a:avLst/>
            <a:gdLst/>
            <a:ah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round/>
          </a:ln>
        </p:spPr>
        <p:style>
          <a:lnRef idx="0"/>
          <a:fillRef idx="0"/>
          <a:effectRef idx="0"/>
          <a:fontRef idx="minor"/>
        </p:style>
      </p:sp>
      <p:sp>
        <p:nvSpPr>
          <p:cNvPr id="315" name="Text 8"/>
          <p:cNvSpPr/>
          <p:nvPr/>
        </p:nvSpPr>
        <p:spPr>
          <a:xfrm>
            <a:off x="4397400" y="2538360"/>
            <a:ext cx="347544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Auction Design</a:t>
            </a:r>
            <a:endParaRPr b="0" lang="en-HK" sz="1500" spc="-1" strike="noStrike">
              <a:latin typeface="Arial"/>
            </a:endParaRPr>
          </a:p>
        </p:txBody>
      </p:sp>
      <p:sp>
        <p:nvSpPr>
          <p:cNvPr id="316" name="Text 9"/>
          <p:cNvSpPr/>
          <p:nvPr/>
        </p:nvSpPr>
        <p:spPr>
          <a:xfrm>
            <a:off x="4397400" y="288144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Mechanism Design:</a:t>
            </a:r>
            <a:r>
              <a:rPr b="0" lang="en-US" sz="1200" spc="-1" strike="noStrike">
                <a:solidFill>
                  <a:srgbClr val="636e72"/>
                </a:solidFill>
                <a:latin typeface="Quattrocento Sans"/>
                <a:ea typeface="Quattrocento Sans"/>
              </a:rPr>
              <a:t> Creating rules to achieve efficient outcomes.</a:t>
            </a:r>
            <a:endParaRPr b="0" lang="en-HK" sz="1200" spc="-1" strike="noStrike">
              <a:latin typeface="Arial"/>
            </a:endParaRPr>
          </a:p>
        </p:txBody>
      </p:sp>
      <p:sp>
        <p:nvSpPr>
          <p:cNvPr id="317" name="Text 10"/>
          <p:cNvSpPr/>
          <p:nvPr/>
        </p:nvSpPr>
        <p:spPr>
          <a:xfrm>
            <a:off x="4397400" y="3452760"/>
            <a:ext cx="3456360" cy="494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636e72"/>
                </a:solidFill>
                <a:latin typeface="Quattrocento Sans"/>
                <a:ea typeface="Quattrocento Sans"/>
              </a:rPr>
              <a:t>Bidding Strategies:</a:t>
            </a:r>
            <a:r>
              <a:rPr b="0" lang="en-US" sz="1200" spc="-1" strike="noStrike">
                <a:solidFill>
                  <a:srgbClr val="636e72"/>
                </a:solidFill>
                <a:latin typeface="Quattrocento Sans"/>
                <a:ea typeface="Quattrocento Sans"/>
              </a:rPr>
              <a:t> Analyzing optimal behavior in different auction formats.</a:t>
            </a:r>
            <a:endParaRPr b="0" lang="en-HK" sz="1200" spc="-1" strike="noStrike">
              <a:latin typeface="Arial"/>
            </a:endParaRPr>
          </a:p>
        </p:txBody>
      </p:sp>
      <p:sp>
        <p:nvSpPr>
          <p:cNvPr id="318" name="Shape 11"/>
          <p:cNvSpPr/>
          <p:nvPr/>
        </p:nvSpPr>
        <p:spPr>
          <a:xfrm>
            <a:off x="399960" y="4262400"/>
            <a:ext cx="7533360" cy="1637280"/>
          </a:xfrm>
          <a:custGeom>
            <a:avLst/>
            <a:gdLst/>
            <a:ahLst/>
            <a:rect l="l" t="t" r="r" b="b"/>
            <a:pathLst>
              <a:path w="7534275" h="1638300">
                <a:moveTo>
                  <a:pt x="0" y="0"/>
                </a:moveTo>
                <a:lnTo>
                  <a:pt x="7534275" y="0"/>
                </a:lnTo>
                <a:lnTo>
                  <a:pt x="7534275" y="1638300"/>
                </a:lnTo>
                <a:lnTo>
                  <a:pt x="0" y="1638300"/>
                </a:lnTo>
                <a:lnTo>
                  <a:pt x="0" y="0"/>
                </a:lnTo>
                <a:close/>
              </a:path>
            </a:pathLst>
          </a:custGeom>
          <a:solidFill>
            <a:srgbClr val="f8f9fa"/>
          </a:solidFill>
          <a:ln w="0">
            <a:noFill/>
          </a:ln>
        </p:spPr>
        <p:style>
          <a:lnRef idx="0"/>
          <a:fillRef idx="0"/>
          <a:effectRef idx="0"/>
          <a:fontRef idx="minor"/>
        </p:style>
      </p:sp>
      <p:sp>
        <p:nvSpPr>
          <p:cNvPr id="319" name="Shape 12"/>
          <p:cNvSpPr/>
          <p:nvPr/>
        </p:nvSpPr>
        <p:spPr>
          <a:xfrm>
            <a:off x="399960" y="4262400"/>
            <a:ext cx="37080" cy="1637280"/>
          </a:xfrm>
          <a:custGeom>
            <a:avLst/>
            <a:gdLst/>
            <a:ahLst/>
            <a:rect l="l" t="t" r="r" b="b"/>
            <a:pathLst>
              <a:path w="38100" h="1638300">
                <a:moveTo>
                  <a:pt x="0" y="0"/>
                </a:moveTo>
                <a:lnTo>
                  <a:pt x="38100" y="0"/>
                </a:lnTo>
                <a:lnTo>
                  <a:pt x="38100" y="1638300"/>
                </a:lnTo>
                <a:lnTo>
                  <a:pt x="0" y="1638300"/>
                </a:lnTo>
                <a:lnTo>
                  <a:pt x="0" y="0"/>
                </a:lnTo>
                <a:close/>
              </a:path>
            </a:pathLst>
          </a:custGeom>
          <a:solidFill>
            <a:srgbClr val="0984e3"/>
          </a:solidFill>
          <a:ln w="0">
            <a:noFill/>
          </a:ln>
        </p:spPr>
        <p:style>
          <a:lnRef idx="0"/>
          <a:fillRef idx="0"/>
          <a:effectRef idx="0"/>
          <a:fontRef idx="minor"/>
        </p:style>
      </p:sp>
      <p:sp>
        <p:nvSpPr>
          <p:cNvPr id="320" name="Text 13"/>
          <p:cNvSpPr/>
          <p:nvPr/>
        </p:nvSpPr>
        <p:spPr>
          <a:xfrm>
            <a:off x="571680" y="4414680"/>
            <a:ext cx="7304760" cy="26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d3436"/>
                </a:solidFill>
                <a:latin typeface="Oranienbaum"/>
                <a:ea typeface="Oranienbaum"/>
              </a:rPr>
              <a:t>Strategic Business Decisions</a:t>
            </a:r>
            <a:endParaRPr b="0" lang="en-HK" sz="1500" spc="-1" strike="noStrike">
              <a:latin typeface="Arial"/>
            </a:endParaRPr>
          </a:p>
        </p:txBody>
      </p:sp>
      <p:sp>
        <p:nvSpPr>
          <p:cNvPr id="321" name="Shape 14"/>
          <p:cNvSpPr/>
          <p:nvPr/>
        </p:nvSpPr>
        <p:spPr>
          <a:xfrm>
            <a:off x="619200" y="4791240"/>
            <a:ext cx="94320" cy="151200"/>
          </a:xfrm>
          <a:custGeom>
            <a:avLst/>
            <a:gdLst/>
            <a:ah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w="0">
            <a:noFill/>
          </a:ln>
        </p:spPr>
        <p:style>
          <a:lnRef idx="0"/>
          <a:fillRef idx="0"/>
          <a:effectRef idx="0"/>
          <a:fontRef idx="minor"/>
        </p:style>
      </p:sp>
      <p:sp>
        <p:nvSpPr>
          <p:cNvPr id="322" name="Text 15"/>
          <p:cNvSpPr/>
          <p:nvPr/>
        </p:nvSpPr>
        <p:spPr>
          <a:xfrm>
            <a:off x="819000" y="475776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Pricing:</a:t>
            </a:r>
            <a:r>
              <a:rPr b="0" lang="en-US" sz="1200" spc="-1" strike="noStrike">
                <a:solidFill>
                  <a:srgbClr val="636e72"/>
                </a:solidFill>
                <a:latin typeface="Quattrocento Sans"/>
                <a:ea typeface="Quattrocento Sans"/>
              </a:rPr>
              <a:t> Optimal pricing under competitive pressure</a:t>
            </a:r>
            <a:endParaRPr b="0" lang="en-HK" sz="1200" spc="-1" strike="noStrike">
              <a:latin typeface="Arial"/>
            </a:endParaRPr>
          </a:p>
        </p:txBody>
      </p:sp>
      <p:sp>
        <p:nvSpPr>
          <p:cNvPr id="323" name="Shape 16"/>
          <p:cNvSpPr/>
          <p:nvPr/>
        </p:nvSpPr>
        <p:spPr>
          <a:xfrm>
            <a:off x="4282920" y="4791240"/>
            <a:ext cx="132120" cy="151200"/>
          </a:xfrm>
          <a:custGeom>
            <a:avLst/>
            <a:gdLst/>
            <a:ah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w="0">
            <a:noFill/>
          </a:ln>
        </p:spPr>
        <p:style>
          <a:lnRef idx="0"/>
          <a:fillRef idx="0"/>
          <a:effectRef idx="0"/>
          <a:fontRef idx="minor"/>
        </p:style>
      </p:sp>
      <p:sp>
        <p:nvSpPr>
          <p:cNvPr id="324" name="Text 17"/>
          <p:cNvSpPr/>
          <p:nvPr/>
        </p:nvSpPr>
        <p:spPr>
          <a:xfrm>
            <a:off x="4502160" y="475776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R&amp;D:</a:t>
            </a:r>
            <a:r>
              <a:rPr b="0" lang="en-US" sz="1200" spc="-1" strike="noStrike">
                <a:solidFill>
                  <a:srgbClr val="636e72"/>
                </a:solidFill>
                <a:latin typeface="Quattrocento Sans"/>
                <a:ea typeface="Quattrocento Sans"/>
              </a:rPr>
              <a:t> Innovation races and patent strategies</a:t>
            </a:r>
            <a:endParaRPr b="0" lang="en-HK" sz="1200" spc="-1" strike="noStrike">
              <a:latin typeface="Arial"/>
            </a:endParaRPr>
          </a:p>
        </p:txBody>
      </p:sp>
      <p:sp>
        <p:nvSpPr>
          <p:cNvPr id="325" name="Shape 18"/>
          <p:cNvSpPr/>
          <p:nvPr/>
        </p:nvSpPr>
        <p:spPr>
          <a:xfrm>
            <a:off x="590400" y="5324400"/>
            <a:ext cx="151200" cy="151200"/>
          </a:xfrm>
          <a:custGeom>
            <a:avLst/>
            <a:gdLst/>
            <a:ah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w="0">
            <a:noFill/>
          </a:ln>
        </p:spPr>
        <p:style>
          <a:lnRef idx="0"/>
          <a:fillRef idx="0"/>
          <a:effectRef idx="0"/>
          <a:fontRef idx="minor"/>
        </p:style>
      </p:sp>
      <p:sp>
        <p:nvSpPr>
          <p:cNvPr id="326" name="Text 19"/>
          <p:cNvSpPr/>
          <p:nvPr/>
        </p:nvSpPr>
        <p:spPr>
          <a:xfrm>
            <a:off x="819000" y="529128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Marketing:</a:t>
            </a:r>
            <a:r>
              <a:rPr b="0" lang="en-US" sz="1200" spc="-1" strike="noStrike">
                <a:solidFill>
                  <a:srgbClr val="636e72"/>
                </a:solidFill>
                <a:latin typeface="Quattrocento Sans"/>
                <a:ea typeface="Quattrocento Sans"/>
              </a:rPr>
              <a:t> Advertising campaigns and market positioning</a:t>
            </a:r>
            <a:endParaRPr b="0" lang="en-HK" sz="1200" spc="-1" strike="noStrike">
              <a:latin typeface="Arial"/>
            </a:endParaRPr>
          </a:p>
        </p:txBody>
      </p:sp>
      <p:sp>
        <p:nvSpPr>
          <p:cNvPr id="327" name="Shape 20"/>
          <p:cNvSpPr/>
          <p:nvPr/>
        </p:nvSpPr>
        <p:spPr>
          <a:xfrm>
            <a:off x="4263840" y="5324400"/>
            <a:ext cx="170280" cy="151200"/>
          </a:xfrm>
          <a:custGeom>
            <a:avLst/>
            <a:gdLst/>
            <a:ah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w="0">
            <a:noFill/>
          </a:ln>
        </p:spPr>
        <p:style>
          <a:lnRef idx="0"/>
          <a:fillRef idx="0"/>
          <a:effectRef idx="0"/>
          <a:fontRef idx="minor"/>
        </p:style>
      </p:sp>
      <p:sp>
        <p:nvSpPr>
          <p:cNvPr id="328" name="Text 21"/>
          <p:cNvSpPr/>
          <p:nvPr/>
        </p:nvSpPr>
        <p:spPr>
          <a:xfrm>
            <a:off x="4502160" y="5291280"/>
            <a:ext cx="3361320" cy="45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636e72"/>
                </a:solidFill>
                <a:latin typeface="Quattrocento Sans"/>
                <a:ea typeface="Quattrocento Sans"/>
              </a:rPr>
              <a:t>Mergers:</a:t>
            </a:r>
            <a:r>
              <a:rPr b="0" lang="en-US" sz="1200" spc="-1" strike="noStrike">
                <a:solidFill>
                  <a:srgbClr val="636e72"/>
                </a:solidFill>
                <a:latin typeface="Quattrocento Sans"/>
                <a:ea typeface="Quattrocento Sans"/>
              </a:rPr>
              <a:t> Strategic acquisitions and antitrust analysis</a:t>
            </a:r>
            <a:endParaRPr b="0" lang="en-HK" sz="1200" spc="-1" strike="noStrike">
              <a:latin typeface="Arial"/>
            </a:endParaRPr>
          </a:p>
        </p:txBody>
      </p:sp>
      <p:sp>
        <p:nvSpPr>
          <p:cNvPr id="329" name="Shape 22"/>
          <p:cNvSpPr/>
          <p:nvPr/>
        </p:nvSpPr>
        <p:spPr>
          <a:xfrm>
            <a:off x="8132760" y="1300320"/>
            <a:ext cx="3675600" cy="2637360"/>
          </a:xfrm>
          <a:custGeom>
            <a:avLst/>
            <a:gdLst/>
            <a:ah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round/>
          </a:ln>
        </p:spPr>
        <p:style>
          <a:lnRef idx="0"/>
          <a:fillRef idx="0"/>
          <a:effectRef idx="0"/>
          <a:fontRef idx="minor"/>
        </p:style>
      </p:sp>
      <p:sp>
        <p:nvSpPr>
          <p:cNvPr id="330" name="Text 23"/>
          <p:cNvSpPr/>
          <p:nvPr/>
        </p:nvSpPr>
        <p:spPr>
          <a:xfrm>
            <a:off x="8242200" y="1457280"/>
            <a:ext cx="3456360" cy="26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2d3436"/>
                </a:solidFill>
                <a:latin typeface="Oranienbaum"/>
                <a:ea typeface="Oranienbaum"/>
              </a:rPr>
              <a:t>Competitive Dynamics</a:t>
            </a:r>
            <a:endParaRPr b="0" lang="en-HK" sz="1500" spc="-1" strike="noStrike">
              <a:latin typeface="Arial"/>
            </a:endParaRPr>
          </a:p>
        </p:txBody>
      </p:sp>
      <p:sp>
        <p:nvSpPr>
          <p:cNvPr id="331" name="Image 0"/>
          <p:cNvSpPr/>
          <p:nvPr/>
        </p:nvSpPr>
        <p:spPr>
          <a:xfrm>
            <a:off x="8289720" y="1838160"/>
            <a:ext cx="3361320" cy="1332360"/>
          </a:xfrm>
          <a:prstGeom prst="roundRect">
            <a:avLst>
              <a:gd name="adj" fmla="val 0"/>
            </a:avLst>
          </a:prstGeom>
          <a:blipFill rotWithShape="0">
            <a:blip r:embed="rId1"/>
            <a:srcRect/>
            <a:stretch/>
          </a:blipFill>
          <a:ln w="0">
            <a:noFill/>
          </a:ln>
        </p:spPr>
        <p:style>
          <a:lnRef idx="0"/>
          <a:fillRef idx="0"/>
          <a:effectRef idx="0"/>
          <a:fontRef idx="minor"/>
        </p:style>
      </p:sp>
      <p:sp>
        <p:nvSpPr>
          <p:cNvPr id="332" name="Text 24"/>
          <p:cNvSpPr/>
          <p:nvPr/>
        </p:nvSpPr>
        <p:spPr>
          <a:xfrm>
            <a:off x="8251920" y="3286080"/>
            <a:ext cx="3437280" cy="4942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200" spc="-1" strike="noStrike">
                <a:solidFill>
                  <a:srgbClr val="636e72"/>
                </a:solidFill>
                <a:latin typeface="Quattrocento Sans"/>
                <a:ea typeface="Quattrocento Sans"/>
              </a:rPr>
              <a:t>Firms form strategic networks, competing and cooperating in complex ecosystems.</a:t>
            </a:r>
            <a:endParaRPr b="0" lang="en-HK" sz="1200" spc="-1" strike="noStrike">
              <a:latin typeface="Arial"/>
            </a:endParaRPr>
          </a:p>
        </p:txBody>
      </p:sp>
      <p:sp>
        <p:nvSpPr>
          <p:cNvPr id="333" name="Shape 25"/>
          <p:cNvSpPr/>
          <p:nvPr/>
        </p:nvSpPr>
        <p:spPr>
          <a:xfrm>
            <a:off x="8128080" y="4095720"/>
            <a:ext cx="3684960" cy="1637280"/>
          </a:xfrm>
          <a:custGeom>
            <a:avLst/>
            <a:gdLst/>
            <a:ahLst/>
            <a:rect l="l" t="t" r="r" b="b"/>
            <a:pathLst>
              <a:path w="3686175" h="1638300">
                <a:moveTo>
                  <a:pt x="0" y="0"/>
                </a:moveTo>
                <a:lnTo>
                  <a:pt x="3686175" y="0"/>
                </a:lnTo>
                <a:lnTo>
                  <a:pt x="3686175" y="1638300"/>
                </a:lnTo>
                <a:lnTo>
                  <a:pt x="0" y="1638300"/>
                </a:lnTo>
                <a:lnTo>
                  <a:pt x="0" y="0"/>
                </a:lnTo>
                <a:close/>
              </a:path>
            </a:pathLst>
          </a:custGeom>
          <a:solidFill>
            <a:srgbClr val="2d3436"/>
          </a:solidFill>
          <a:ln w="0">
            <a:noFill/>
          </a:ln>
        </p:spPr>
        <p:style>
          <a:lnRef idx="0"/>
          <a:fillRef idx="0"/>
          <a:effectRef idx="0"/>
          <a:fontRef idx="minor"/>
        </p:style>
      </p:sp>
      <p:sp>
        <p:nvSpPr>
          <p:cNvPr id="334" name="Text 26"/>
          <p:cNvSpPr/>
          <p:nvPr/>
        </p:nvSpPr>
        <p:spPr>
          <a:xfrm>
            <a:off x="8280360" y="4248000"/>
            <a:ext cx="3466080" cy="265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Oranienbaum"/>
                <a:ea typeface="Oranienbaum"/>
              </a:rPr>
              <a:t>Case Study: Airline Pricing</a:t>
            </a:r>
            <a:endParaRPr b="0" lang="en-HK" sz="1350" spc="-1" strike="noStrike">
              <a:latin typeface="Arial"/>
            </a:endParaRPr>
          </a:p>
        </p:txBody>
      </p:sp>
      <p:sp>
        <p:nvSpPr>
          <p:cNvPr id="335" name="Text 27"/>
          <p:cNvSpPr/>
          <p:nvPr/>
        </p:nvSpPr>
        <p:spPr>
          <a:xfrm>
            <a:off x="8280360" y="4591080"/>
            <a:ext cx="3456360" cy="989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e0e0e0"/>
                </a:solidFill>
                <a:latin typeface="Quattrocento Sans"/>
                <a:ea typeface="Quattrocento Sans"/>
              </a:rPr>
              <a:t>Airlines use game theory to set fares, anticipating competitor responses to price changes. This explains why fares often move in lockstep and why price wars erupt.</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6" name="Text 0"/>
          <p:cNvSpPr/>
          <p:nvPr/>
        </p:nvSpPr>
        <p:spPr>
          <a:xfrm>
            <a:off x="370440" y="370440"/>
            <a:ext cx="115239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49" strike="noStrike">
                <a:solidFill>
                  <a:srgbClr val="0984e3"/>
                </a:solidFill>
                <a:latin typeface="Quattrocento Sans"/>
                <a:ea typeface="Quattrocento Sans"/>
              </a:rPr>
              <a:t>APPLICATION DOMAIN</a:t>
            </a:r>
            <a:endParaRPr b="0" lang="en-HK" sz="1170" spc="-1" strike="noStrike">
              <a:latin typeface="Arial"/>
            </a:endParaRPr>
          </a:p>
        </p:txBody>
      </p:sp>
      <p:sp>
        <p:nvSpPr>
          <p:cNvPr id="337" name="Text 1"/>
          <p:cNvSpPr/>
          <p:nvPr/>
        </p:nvSpPr>
        <p:spPr>
          <a:xfrm>
            <a:off x="370440" y="667080"/>
            <a:ext cx="11672280" cy="4435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500" spc="-1" strike="noStrike">
                <a:solidFill>
                  <a:srgbClr val="2d3436"/>
                </a:solidFill>
                <a:latin typeface="Oranienbaum"/>
                <a:ea typeface="Oranienbaum"/>
              </a:rPr>
              <a:t>Political Science &amp; International Relations</a:t>
            </a:r>
            <a:endParaRPr b="0" lang="en-HK" sz="3500" spc="-1" strike="noStrike">
              <a:latin typeface="Arial"/>
            </a:endParaRPr>
          </a:p>
        </p:txBody>
      </p:sp>
      <p:sp>
        <p:nvSpPr>
          <p:cNvPr id="338" name="Text 2"/>
          <p:cNvSpPr/>
          <p:nvPr/>
        </p:nvSpPr>
        <p:spPr>
          <a:xfrm>
            <a:off x="370440" y="1334160"/>
            <a:ext cx="5668920" cy="1203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460" spc="-1" strike="noStrike">
                <a:solidFill>
                  <a:srgbClr val="1e272e"/>
                </a:solidFill>
                <a:latin typeface="Quattrocento Sans"/>
                <a:ea typeface="Quattrocento Sans"/>
              </a:rPr>
              <a:t>Game theory provides essential frameworks for understanding political behavior, from voting systems to international conflicts.</a:t>
            </a:r>
            <a:r>
              <a:rPr b="0" lang="en-US" sz="1460" spc="-1" strike="noStrike">
                <a:solidFill>
                  <a:srgbClr val="1e272e"/>
                </a:solidFill>
                <a:latin typeface="Quattrocento Sans"/>
                <a:ea typeface="Quattrocento Sans"/>
              </a:rPr>
              <a:t> It illuminates why nations cooperate or compete and how institutions shape strategic interactions.</a:t>
            </a:r>
            <a:endParaRPr b="0" lang="en-HK" sz="1460" spc="-1" strike="noStrike">
              <a:latin typeface="Arial"/>
            </a:endParaRPr>
          </a:p>
        </p:txBody>
      </p:sp>
      <p:sp>
        <p:nvSpPr>
          <p:cNvPr id="339" name="Shape 3"/>
          <p:cNvSpPr/>
          <p:nvPr/>
        </p:nvSpPr>
        <p:spPr>
          <a:xfrm>
            <a:off x="375120" y="2691360"/>
            <a:ext cx="5566680" cy="2157480"/>
          </a:xfrm>
          <a:custGeom>
            <a:avLst/>
            <a:gdLst/>
            <a:ah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round/>
          </a:ln>
        </p:spPr>
        <p:style>
          <a:lnRef idx="0"/>
          <a:fillRef idx="0"/>
          <a:effectRef idx="0"/>
          <a:fontRef idx="minor"/>
        </p:style>
      </p:sp>
      <p:sp>
        <p:nvSpPr>
          <p:cNvPr id="340" name="Text 4"/>
          <p:cNvSpPr/>
          <p:nvPr/>
        </p:nvSpPr>
        <p:spPr>
          <a:xfrm>
            <a:off x="565200" y="2881080"/>
            <a:ext cx="5279760" cy="25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Voting Systems &amp; Elections</a:t>
            </a:r>
            <a:endParaRPr b="0" lang="en-HK" sz="1460" spc="-1" strike="noStrike">
              <a:latin typeface="Arial"/>
            </a:endParaRPr>
          </a:p>
        </p:txBody>
      </p:sp>
      <p:sp>
        <p:nvSpPr>
          <p:cNvPr id="341" name="Text 5"/>
          <p:cNvSpPr/>
          <p:nvPr/>
        </p:nvSpPr>
        <p:spPr>
          <a:xfrm>
            <a:off x="565200" y="3251880"/>
            <a:ext cx="5261040" cy="480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Game theory analyzes strategic voting, where voters may not choose their true preference to avoid "wasting" votes. It explains:</a:t>
            </a:r>
            <a:endParaRPr b="0" lang="en-HK" sz="1170" spc="-1" strike="noStrike">
              <a:latin typeface="Arial"/>
            </a:endParaRPr>
          </a:p>
        </p:txBody>
      </p:sp>
      <p:sp>
        <p:nvSpPr>
          <p:cNvPr id="342" name="Shape 6"/>
          <p:cNvSpPr/>
          <p:nvPr/>
        </p:nvSpPr>
        <p:spPr>
          <a:xfrm>
            <a:off x="592920" y="387720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3" name="Text 7"/>
          <p:cNvSpPr/>
          <p:nvPr/>
        </p:nvSpPr>
        <p:spPr>
          <a:xfrm>
            <a:off x="804600" y="384480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Why two-party systems dominate under plurality voting</a:t>
            </a:r>
            <a:endParaRPr b="0" lang="en-HK" sz="1170" spc="-1" strike="noStrike">
              <a:latin typeface="Arial"/>
            </a:endParaRPr>
          </a:p>
        </p:txBody>
      </p:sp>
      <p:sp>
        <p:nvSpPr>
          <p:cNvPr id="344" name="Shape 8"/>
          <p:cNvSpPr/>
          <p:nvPr/>
        </p:nvSpPr>
        <p:spPr>
          <a:xfrm>
            <a:off x="592920" y="417348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5" name="Text 9"/>
          <p:cNvSpPr/>
          <p:nvPr/>
        </p:nvSpPr>
        <p:spPr>
          <a:xfrm>
            <a:off x="804600" y="414108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Strategic candidate positioning (median voter theorem)</a:t>
            </a:r>
            <a:endParaRPr b="0" lang="en-HK" sz="1170" spc="-1" strike="noStrike">
              <a:latin typeface="Arial"/>
            </a:endParaRPr>
          </a:p>
        </p:txBody>
      </p:sp>
      <p:sp>
        <p:nvSpPr>
          <p:cNvPr id="346" name="Shape 10"/>
          <p:cNvSpPr/>
          <p:nvPr/>
        </p:nvSpPr>
        <p:spPr>
          <a:xfrm>
            <a:off x="592920" y="4470120"/>
            <a:ext cx="128520" cy="147240"/>
          </a:xfrm>
          <a:custGeom>
            <a:avLst/>
            <a:gdLst/>
            <a:ah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w="0">
            <a:noFill/>
          </a:ln>
        </p:spPr>
        <p:style>
          <a:lnRef idx="0"/>
          <a:fillRef idx="0"/>
          <a:effectRef idx="0"/>
          <a:fontRef idx="minor"/>
        </p:style>
      </p:sp>
      <p:sp>
        <p:nvSpPr>
          <p:cNvPr id="347" name="Text 11"/>
          <p:cNvSpPr/>
          <p:nvPr/>
        </p:nvSpPr>
        <p:spPr>
          <a:xfrm>
            <a:off x="804600" y="4437720"/>
            <a:ext cx="502164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636e72"/>
                </a:solidFill>
                <a:latin typeface="Quattrocento Sans"/>
                <a:ea typeface="Quattrocento Sans"/>
              </a:rPr>
              <a:t>Coalition formation in parliamentary systems</a:t>
            </a:r>
            <a:endParaRPr b="0" lang="en-HK" sz="1170" spc="-1" strike="noStrike">
              <a:latin typeface="Arial"/>
            </a:endParaRPr>
          </a:p>
        </p:txBody>
      </p:sp>
      <p:sp>
        <p:nvSpPr>
          <p:cNvPr id="348" name="Shape 12"/>
          <p:cNvSpPr/>
          <p:nvPr/>
        </p:nvSpPr>
        <p:spPr>
          <a:xfrm>
            <a:off x="375120" y="5007600"/>
            <a:ext cx="5566680" cy="1472040"/>
          </a:xfrm>
          <a:custGeom>
            <a:avLst/>
            <a:gdLst/>
            <a:ah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round/>
          </a:ln>
        </p:spPr>
        <p:style>
          <a:lnRef idx="0"/>
          <a:fillRef idx="0"/>
          <a:effectRef idx="0"/>
          <a:fontRef idx="minor"/>
        </p:style>
      </p:sp>
      <p:sp>
        <p:nvSpPr>
          <p:cNvPr id="349" name="Text 13"/>
          <p:cNvSpPr/>
          <p:nvPr/>
        </p:nvSpPr>
        <p:spPr>
          <a:xfrm>
            <a:off x="565200" y="5197320"/>
            <a:ext cx="5279760" cy="25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460" spc="-1" strike="noStrike">
                <a:solidFill>
                  <a:srgbClr val="2d3436"/>
                </a:solidFill>
                <a:latin typeface="Oranienbaum"/>
                <a:ea typeface="Oranienbaum"/>
              </a:rPr>
              <a:t>International Negotiations</a:t>
            </a:r>
            <a:endParaRPr b="0" lang="en-HK" sz="1460" spc="-1" strike="noStrike">
              <a:latin typeface="Arial"/>
            </a:endParaRPr>
          </a:p>
        </p:txBody>
      </p:sp>
      <p:sp>
        <p:nvSpPr>
          <p:cNvPr id="350" name="Text 14"/>
          <p:cNvSpPr/>
          <p:nvPr/>
        </p:nvSpPr>
        <p:spPr>
          <a:xfrm>
            <a:off x="565200" y="5567760"/>
            <a:ext cx="5261040" cy="721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636e72"/>
                </a:solidFill>
                <a:latin typeface="Quattrocento Sans"/>
                <a:ea typeface="Quattrocento Sans"/>
              </a:rPr>
              <a:t>Trade agreements, climate treaties, and arms control all involve strategic bargaining. Game theory reveals why enforceable commitments and repeated interactions foster cooperation.</a:t>
            </a:r>
            <a:endParaRPr b="0" lang="en-HK" sz="1170" spc="-1" strike="noStrike">
              <a:latin typeface="Arial"/>
            </a:endParaRPr>
          </a:p>
        </p:txBody>
      </p:sp>
      <p:sp>
        <p:nvSpPr>
          <p:cNvPr id="351" name="Shape 15"/>
          <p:cNvSpPr/>
          <p:nvPr/>
        </p:nvSpPr>
        <p:spPr>
          <a:xfrm>
            <a:off x="6242040" y="1334160"/>
            <a:ext cx="5576040" cy="2843280"/>
          </a:xfrm>
          <a:custGeom>
            <a:avLst/>
            <a:gdLst/>
            <a:ahLst/>
            <a:rect l="l" t="t" r="r" b="b"/>
            <a:pathLst>
              <a:path w="5577191" h="2844182">
                <a:moveTo>
                  <a:pt x="0" y="0"/>
                </a:moveTo>
                <a:lnTo>
                  <a:pt x="5577191" y="0"/>
                </a:lnTo>
                <a:lnTo>
                  <a:pt x="5577191" y="2844182"/>
                </a:lnTo>
                <a:lnTo>
                  <a:pt x="0" y="2844182"/>
                </a:lnTo>
                <a:lnTo>
                  <a:pt x="0" y="0"/>
                </a:lnTo>
                <a:close/>
              </a:path>
            </a:pathLst>
          </a:custGeom>
          <a:solidFill>
            <a:srgbClr val="2d3436"/>
          </a:solidFill>
          <a:ln w="0">
            <a:noFill/>
          </a:ln>
        </p:spPr>
        <p:style>
          <a:lnRef idx="0"/>
          <a:fillRef idx="0"/>
          <a:effectRef idx="0"/>
          <a:fontRef idx="minor"/>
        </p:style>
      </p:sp>
      <p:sp>
        <p:nvSpPr>
          <p:cNvPr id="352" name="Text 16"/>
          <p:cNvSpPr/>
          <p:nvPr/>
        </p:nvSpPr>
        <p:spPr>
          <a:xfrm>
            <a:off x="6427440" y="1519200"/>
            <a:ext cx="5316840" cy="295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750" spc="-1" strike="noStrike">
                <a:solidFill>
                  <a:srgbClr val="ffffff"/>
                </a:solidFill>
                <a:latin typeface="Oranienbaum"/>
                <a:ea typeface="Oranienbaum"/>
              </a:rPr>
              <a:t>Nuclear Deterrence Theory</a:t>
            </a:r>
            <a:endParaRPr b="0" lang="en-HK" sz="1750" spc="-1" strike="noStrike">
              <a:latin typeface="Arial"/>
            </a:endParaRPr>
          </a:p>
        </p:txBody>
      </p:sp>
      <p:sp>
        <p:nvSpPr>
          <p:cNvPr id="353" name="Text 17"/>
          <p:cNvSpPr/>
          <p:nvPr/>
        </p:nvSpPr>
        <p:spPr>
          <a:xfrm>
            <a:off x="6427440" y="1968840"/>
            <a:ext cx="5145480" cy="455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e0e0e0"/>
                </a:solidFill>
                <a:latin typeface="Quattrocento Sans"/>
                <a:ea typeface="Quattrocento Sans"/>
              </a:rPr>
              <a:t>The Cold War's most critical strategic problem was preventing nuclear war while maintaining credible deterrence.</a:t>
            </a:r>
            <a:endParaRPr b="0" lang="en-HK" sz="1320" spc="-1" strike="noStrike">
              <a:latin typeface="Arial"/>
            </a:endParaRPr>
          </a:p>
        </p:txBody>
      </p:sp>
      <p:sp>
        <p:nvSpPr>
          <p:cNvPr id="354" name="Text 18"/>
          <p:cNvSpPr/>
          <p:nvPr/>
        </p:nvSpPr>
        <p:spPr>
          <a:xfrm>
            <a:off x="6427440" y="2580120"/>
            <a:ext cx="5279760" cy="480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e0e0e0"/>
                </a:solidFill>
                <a:latin typeface="Quattrocento Sans"/>
                <a:ea typeface="Quattrocento Sans"/>
              </a:rPr>
              <a:t>Game theorists like Thomas Schelling applied the Chicken Game to model nuclear brinkmanship. Key insights:</a:t>
            </a:r>
            <a:endParaRPr b="0" lang="en-HK" sz="1170" spc="-1" strike="noStrike">
              <a:latin typeface="Arial"/>
            </a:endParaRPr>
          </a:p>
        </p:txBody>
      </p:sp>
      <p:sp>
        <p:nvSpPr>
          <p:cNvPr id="355" name="Shape 19"/>
          <p:cNvSpPr/>
          <p:nvPr/>
        </p:nvSpPr>
        <p:spPr>
          <a:xfrm>
            <a:off x="6436800" y="3205440"/>
            <a:ext cx="165600" cy="147240"/>
          </a:xfrm>
          <a:custGeom>
            <a:avLst/>
            <a:gdLst/>
            <a:ah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w="0">
            <a:noFill/>
          </a:ln>
        </p:spPr>
        <p:style>
          <a:lnRef idx="0"/>
          <a:fillRef idx="0"/>
          <a:effectRef idx="0"/>
          <a:fontRef idx="minor"/>
        </p:style>
      </p:sp>
      <p:sp>
        <p:nvSpPr>
          <p:cNvPr id="356" name="Text 20"/>
          <p:cNvSpPr/>
          <p:nvPr/>
        </p:nvSpPr>
        <p:spPr>
          <a:xfrm>
            <a:off x="6666840" y="317304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Credible Threats:</a:t>
            </a:r>
            <a:r>
              <a:rPr b="0" lang="en-US" sz="1170" spc="-1" strike="noStrike">
                <a:solidFill>
                  <a:srgbClr val="e0e0e0"/>
                </a:solidFill>
                <a:latin typeface="Quattrocento Sans"/>
                <a:ea typeface="Quattrocento Sans"/>
              </a:rPr>
              <a:t> Making retaliation automatic (doomsday devices)</a:t>
            </a:r>
            <a:endParaRPr b="0" lang="en-HK" sz="1170" spc="-1" strike="noStrike">
              <a:latin typeface="Arial"/>
            </a:endParaRPr>
          </a:p>
        </p:txBody>
      </p:sp>
      <p:sp>
        <p:nvSpPr>
          <p:cNvPr id="357" name="Shape 21"/>
          <p:cNvSpPr/>
          <p:nvPr/>
        </p:nvSpPr>
        <p:spPr>
          <a:xfrm>
            <a:off x="6445800" y="3502080"/>
            <a:ext cx="147240" cy="147240"/>
          </a:xfrm>
          <a:custGeom>
            <a:avLst/>
            <a:gdLst/>
            <a:ah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w="0">
            <a:noFill/>
          </a:ln>
        </p:spPr>
        <p:style>
          <a:lnRef idx="0"/>
          <a:fillRef idx="0"/>
          <a:effectRef idx="0"/>
          <a:fontRef idx="minor"/>
        </p:style>
      </p:sp>
      <p:sp>
        <p:nvSpPr>
          <p:cNvPr id="358" name="Text 22"/>
          <p:cNvSpPr/>
          <p:nvPr/>
        </p:nvSpPr>
        <p:spPr>
          <a:xfrm>
            <a:off x="6666840" y="346968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Brinkmanship:</a:t>
            </a:r>
            <a:r>
              <a:rPr b="0" lang="en-US" sz="1170" spc="-1" strike="noStrike">
                <a:solidFill>
                  <a:srgbClr val="e0e0e0"/>
                </a:solidFill>
                <a:latin typeface="Quattrocento Sans"/>
                <a:ea typeface="Quattrocento Sans"/>
              </a:rPr>
              <a:t> Deliberately creating risk to force concessions</a:t>
            </a:r>
            <a:endParaRPr b="0" lang="en-HK" sz="1170" spc="-1" strike="noStrike">
              <a:latin typeface="Arial"/>
            </a:endParaRPr>
          </a:p>
        </p:txBody>
      </p:sp>
      <p:sp>
        <p:nvSpPr>
          <p:cNvPr id="359" name="Shape 23"/>
          <p:cNvSpPr/>
          <p:nvPr/>
        </p:nvSpPr>
        <p:spPr>
          <a:xfrm>
            <a:off x="6427440" y="3798360"/>
            <a:ext cx="184320" cy="147240"/>
          </a:xfrm>
          <a:custGeom>
            <a:avLst/>
            <a:gdLst/>
            <a:ah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w="0">
            <a:noFill/>
          </a:ln>
        </p:spPr>
        <p:style>
          <a:lnRef idx="0"/>
          <a:fillRef idx="0"/>
          <a:effectRef idx="0"/>
          <a:fontRef idx="minor"/>
        </p:style>
      </p:sp>
      <p:sp>
        <p:nvSpPr>
          <p:cNvPr id="360" name="Text 24"/>
          <p:cNvSpPr/>
          <p:nvPr/>
        </p:nvSpPr>
        <p:spPr>
          <a:xfrm>
            <a:off x="6666840" y="3765960"/>
            <a:ext cx="504036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e0e0e0"/>
                </a:solidFill>
                <a:latin typeface="Quattrocento Sans"/>
                <a:ea typeface="Quattrocento Sans"/>
              </a:rPr>
              <a:t>MAD Doctrine:</a:t>
            </a:r>
            <a:r>
              <a:rPr b="0" lang="en-US" sz="1170" spc="-1" strike="noStrike">
                <a:solidFill>
                  <a:srgbClr val="e0e0e0"/>
                </a:solidFill>
                <a:latin typeface="Quattrocento Sans"/>
                <a:ea typeface="Quattrocento Sans"/>
              </a:rPr>
              <a:t> Mutual Assured Destruction as deterrent</a:t>
            </a:r>
            <a:endParaRPr b="0" lang="en-HK" sz="1170" spc="-1" strike="noStrike">
              <a:latin typeface="Arial"/>
            </a:endParaRPr>
          </a:p>
        </p:txBody>
      </p:sp>
      <p:sp>
        <p:nvSpPr>
          <p:cNvPr id="361" name="Shape 25"/>
          <p:cNvSpPr/>
          <p:nvPr/>
        </p:nvSpPr>
        <p:spPr>
          <a:xfrm>
            <a:off x="6260760" y="4321800"/>
            <a:ext cx="5557680" cy="869760"/>
          </a:xfrm>
          <a:custGeom>
            <a:avLst/>
            <a:gdLst/>
            <a:ahLst/>
            <a:rect l="l" t="t" r="r" b="b"/>
            <a:pathLst>
              <a:path w="5558663" h="870857">
                <a:moveTo>
                  <a:pt x="0" y="0"/>
                </a:moveTo>
                <a:lnTo>
                  <a:pt x="5558663" y="0"/>
                </a:lnTo>
                <a:lnTo>
                  <a:pt x="5558663" y="870857"/>
                </a:lnTo>
                <a:lnTo>
                  <a:pt x="0" y="870857"/>
                </a:lnTo>
                <a:lnTo>
                  <a:pt x="0" y="0"/>
                </a:lnTo>
                <a:close/>
              </a:path>
            </a:pathLst>
          </a:custGeom>
          <a:solidFill>
            <a:srgbClr val="f8f9fa"/>
          </a:solidFill>
          <a:ln w="0">
            <a:noFill/>
          </a:ln>
        </p:spPr>
        <p:style>
          <a:lnRef idx="0"/>
          <a:fillRef idx="0"/>
          <a:effectRef idx="0"/>
          <a:fontRef idx="minor"/>
        </p:style>
      </p:sp>
      <p:sp>
        <p:nvSpPr>
          <p:cNvPr id="362" name="Shape 26"/>
          <p:cNvSpPr/>
          <p:nvPr/>
        </p:nvSpPr>
        <p:spPr>
          <a:xfrm>
            <a:off x="6260760" y="4321800"/>
            <a:ext cx="36000" cy="869760"/>
          </a:xfrm>
          <a:custGeom>
            <a:avLst/>
            <a:gdLst/>
            <a:ahLst/>
            <a:rect l="l" t="t" r="r" b="b"/>
            <a:pathLst>
              <a:path w="37058" h="870857">
                <a:moveTo>
                  <a:pt x="0" y="0"/>
                </a:moveTo>
                <a:lnTo>
                  <a:pt x="37058" y="0"/>
                </a:lnTo>
                <a:lnTo>
                  <a:pt x="37058" y="870857"/>
                </a:lnTo>
                <a:lnTo>
                  <a:pt x="0" y="870857"/>
                </a:lnTo>
                <a:lnTo>
                  <a:pt x="0" y="0"/>
                </a:lnTo>
                <a:close/>
              </a:path>
            </a:pathLst>
          </a:custGeom>
          <a:solidFill>
            <a:srgbClr val="0984e3"/>
          </a:solidFill>
          <a:ln w="0">
            <a:noFill/>
          </a:ln>
        </p:spPr>
        <p:style>
          <a:lnRef idx="0"/>
          <a:fillRef idx="0"/>
          <a:effectRef idx="0"/>
          <a:fontRef idx="minor"/>
        </p:style>
      </p:sp>
      <p:sp>
        <p:nvSpPr>
          <p:cNvPr id="363" name="Text 27"/>
          <p:cNvSpPr/>
          <p:nvPr/>
        </p:nvSpPr>
        <p:spPr>
          <a:xfrm>
            <a:off x="6464520" y="4507200"/>
            <a:ext cx="5242680" cy="239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70" spc="-1" strike="noStrike">
                <a:solidFill>
                  <a:srgbClr val="1e272e"/>
                </a:solidFill>
                <a:latin typeface="Quattrocento Sans"/>
                <a:ea typeface="Quattrocento Sans"/>
              </a:rPr>
              <a:t>"The power to constrain an adversary depends upon the power to bind oneself."</a:t>
            </a:r>
            <a:endParaRPr b="0" lang="en-HK" sz="1170" spc="-1" strike="noStrike">
              <a:latin typeface="Arial"/>
            </a:endParaRPr>
          </a:p>
        </p:txBody>
      </p:sp>
      <p:sp>
        <p:nvSpPr>
          <p:cNvPr id="364" name="Text 28"/>
          <p:cNvSpPr/>
          <p:nvPr/>
        </p:nvSpPr>
        <p:spPr>
          <a:xfrm>
            <a:off x="6464520" y="4822200"/>
            <a:ext cx="5233320" cy="1843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20" spc="-1" strike="noStrike">
                <a:solidFill>
                  <a:srgbClr val="636e72"/>
                </a:solidFill>
                <a:latin typeface="Quattrocento Sans"/>
                <a:ea typeface="Quattrocento Sans"/>
              </a:rPr>
              <a:t>— </a:t>
            </a:r>
            <a:r>
              <a:rPr b="0" lang="en-US" sz="1020" spc="-1" strike="noStrike">
                <a:solidFill>
                  <a:srgbClr val="636e72"/>
                </a:solidFill>
                <a:latin typeface="Quattrocento Sans"/>
                <a:ea typeface="Quattrocento Sans"/>
              </a:rPr>
              <a:t>Thomas Schelling, Nobel Laureate 2005</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5" name="Text 0"/>
          <p:cNvSpPr/>
          <p:nvPr/>
        </p:nvSpPr>
        <p:spPr>
          <a:xfrm>
            <a:off x="335880" y="335880"/>
            <a:ext cx="1158624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46" strike="noStrike">
                <a:solidFill>
                  <a:srgbClr val="0984e3"/>
                </a:solidFill>
                <a:latin typeface="Quattrocento Sans"/>
                <a:ea typeface="Quattrocento Sans"/>
              </a:rPr>
              <a:t>APPLICATION DOMAIN</a:t>
            </a:r>
            <a:endParaRPr b="0" lang="en-HK" sz="1060" spc="-1" strike="noStrike">
              <a:latin typeface="Arial"/>
            </a:endParaRPr>
          </a:p>
        </p:txBody>
      </p:sp>
      <p:sp>
        <p:nvSpPr>
          <p:cNvPr id="366" name="Text 1"/>
          <p:cNvSpPr/>
          <p:nvPr/>
        </p:nvSpPr>
        <p:spPr>
          <a:xfrm>
            <a:off x="335880" y="604440"/>
            <a:ext cx="11720880" cy="40212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170" spc="-1" strike="noStrike">
                <a:solidFill>
                  <a:srgbClr val="2d3436"/>
                </a:solidFill>
                <a:latin typeface="Oranienbaum"/>
                <a:ea typeface="Oranienbaum"/>
              </a:rPr>
              <a:t>Biology &amp; Evolutionary Game Theory</a:t>
            </a:r>
            <a:endParaRPr b="0" lang="en-HK" sz="3170" spc="-1" strike="noStrike">
              <a:latin typeface="Arial"/>
            </a:endParaRPr>
          </a:p>
        </p:txBody>
      </p:sp>
      <p:sp>
        <p:nvSpPr>
          <p:cNvPr id="367" name="Text 2"/>
          <p:cNvSpPr/>
          <p:nvPr/>
        </p:nvSpPr>
        <p:spPr>
          <a:xfrm>
            <a:off x="335880" y="1251000"/>
            <a:ext cx="5995080" cy="456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320" spc="-1" strike="noStrike">
                <a:solidFill>
                  <a:srgbClr val="1e272e"/>
                </a:solidFill>
                <a:latin typeface="Quattrocento Sans"/>
                <a:ea typeface="Quattrocento Sans"/>
              </a:rPr>
              <a:t>In 1973, John Maynard Smith and George Price introduced game theory to biology, revolutionizing our understanding of animal behavior and evolution.</a:t>
            </a:r>
            <a:endParaRPr b="0" lang="en-HK" sz="1320" spc="-1" strike="noStrike">
              <a:latin typeface="Arial"/>
            </a:endParaRPr>
          </a:p>
        </p:txBody>
      </p:sp>
      <p:sp>
        <p:nvSpPr>
          <p:cNvPr id="368" name="Text 3"/>
          <p:cNvSpPr/>
          <p:nvPr/>
        </p:nvSpPr>
        <p:spPr>
          <a:xfrm>
            <a:off x="335880" y="1889280"/>
            <a:ext cx="6875640" cy="65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Evolutionary game theory applies strategic concepts to populations where successful strategies spread through natural selection. Unlike classical game theory, it doesn't assume rationality—only that successful strategies reproduce.</a:t>
            </a:r>
            <a:endParaRPr b="0" lang="en-HK" sz="1060" spc="-1" strike="noStrike">
              <a:latin typeface="Arial"/>
            </a:endParaRPr>
          </a:p>
        </p:txBody>
      </p:sp>
      <p:sp>
        <p:nvSpPr>
          <p:cNvPr id="369" name="Shape 4"/>
          <p:cNvSpPr/>
          <p:nvPr/>
        </p:nvSpPr>
        <p:spPr>
          <a:xfrm>
            <a:off x="340200" y="2682720"/>
            <a:ext cx="6800400" cy="1955520"/>
          </a:xfrm>
          <a:custGeom>
            <a:avLst/>
            <a:gdLst/>
            <a:ah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round/>
          </a:ln>
        </p:spPr>
        <p:style>
          <a:lnRef idx="0"/>
          <a:fillRef idx="0"/>
          <a:effectRef idx="0"/>
          <a:fontRef idx="minor"/>
        </p:style>
      </p:sp>
      <p:sp>
        <p:nvSpPr>
          <p:cNvPr id="370" name="Text 5"/>
          <p:cNvSpPr/>
          <p:nvPr/>
        </p:nvSpPr>
        <p:spPr>
          <a:xfrm>
            <a:off x="512280" y="2854800"/>
            <a:ext cx="654012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Evolutionarily Stable Strategy (ESS)</a:t>
            </a:r>
            <a:endParaRPr b="0" lang="en-HK" sz="1320" spc="-1" strike="noStrike">
              <a:latin typeface="Arial"/>
            </a:endParaRPr>
          </a:p>
        </p:txBody>
      </p:sp>
      <p:sp>
        <p:nvSpPr>
          <p:cNvPr id="371" name="Text 6"/>
          <p:cNvSpPr/>
          <p:nvPr/>
        </p:nvSpPr>
        <p:spPr>
          <a:xfrm>
            <a:off x="512280" y="3190680"/>
            <a:ext cx="652320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e272e"/>
                </a:solidFill>
                <a:latin typeface="Quattrocento Sans"/>
                <a:ea typeface="Quattrocento Sans"/>
              </a:rPr>
              <a:t>An ESS is a strategy that, if adopted by a population, cannot be invaded by any alternative strategy. It satisfies:</a:t>
            </a:r>
            <a:endParaRPr b="0" lang="en-HK" sz="1060" spc="-1" strike="noStrike">
              <a:latin typeface="Arial"/>
            </a:endParaRPr>
          </a:p>
        </p:txBody>
      </p:sp>
      <p:sp>
        <p:nvSpPr>
          <p:cNvPr id="372" name="Shape 7"/>
          <p:cNvSpPr/>
          <p:nvPr/>
        </p:nvSpPr>
        <p:spPr>
          <a:xfrm>
            <a:off x="512280" y="3509640"/>
            <a:ext cx="6455880" cy="637200"/>
          </a:xfrm>
          <a:custGeom>
            <a:avLst/>
            <a:gdLst/>
            <a:ahLst/>
            <a:rect l="l" t="t" r="r" b="b"/>
            <a:pathLst>
              <a:path w="6457058" h="638149">
                <a:moveTo>
                  <a:pt x="0" y="0"/>
                </a:moveTo>
                <a:lnTo>
                  <a:pt x="6457058" y="0"/>
                </a:lnTo>
                <a:lnTo>
                  <a:pt x="6457058" y="638149"/>
                </a:lnTo>
                <a:lnTo>
                  <a:pt x="0" y="638149"/>
                </a:lnTo>
                <a:lnTo>
                  <a:pt x="0" y="0"/>
                </a:lnTo>
                <a:close/>
              </a:path>
            </a:pathLst>
          </a:custGeom>
          <a:solidFill>
            <a:srgbClr val="f8f9fa"/>
          </a:solidFill>
          <a:ln w="0">
            <a:noFill/>
          </a:ln>
        </p:spPr>
        <p:style>
          <a:lnRef idx="0"/>
          <a:fillRef idx="0"/>
          <a:effectRef idx="0"/>
          <a:fontRef idx="minor"/>
        </p:style>
      </p:sp>
      <p:sp>
        <p:nvSpPr>
          <p:cNvPr id="373" name="Text 8"/>
          <p:cNvSpPr/>
          <p:nvPr/>
        </p:nvSpPr>
        <p:spPr>
          <a:xfrm>
            <a:off x="613080" y="3610440"/>
            <a:ext cx="63216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u(ESS, ESS) ≥ u(Mutant, ESS)</a:t>
            </a:r>
            <a:endParaRPr b="0" lang="en-HK" sz="1060" spc="-1" strike="noStrike">
              <a:latin typeface="Arial"/>
            </a:endParaRPr>
          </a:p>
        </p:txBody>
      </p:sp>
      <p:sp>
        <p:nvSpPr>
          <p:cNvPr id="374" name="Text 9"/>
          <p:cNvSpPr/>
          <p:nvPr/>
        </p:nvSpPr>
        <p:spPr>
          <a:xfrm>
            <a:off x="613080" y="3845520"/>
            <a:ext cx="63216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636e72"/>
                </a:solidFill>
                <a:latin typeface="MiSans"/>
                <a:ea typeface="MiSans"/>
              </a:rPr>
              <a:t>If equal: u(ESS, Mutant) &gt; u(Mutant, Mutant)</a:t>
            </a:r>
            <a:endParaRPr b="0" lang="en-HK" sz="1060" spc="-1" strike="noStrike">
              <a:latin typeface="Arial"/>
            </a:endParaRPr>
          </a:p>
        </p:txBody>
      </p:sp>
      <p:sp>
        <p:nvSpPr>
          <p:cNvPr id="375" name="Text 10"/>
          <p:cNvSpPr/>
          <p:nvPr/>
        </p:nvSpPr>
        <p:spPr>
          <a:xfrm>
            <a:off x="512280" y="4248720"/>
            <a:ext cx="652320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An ESS is a refined Nash Equilibrium that is robust to evolutionary pressures.</a:t>
            </a:r>
            <a:endParaRPr b="0" lang="en-HK" sz="1060" spc="-1" strike="noStrike">
              <a:latin typeface="Arial"/>
            </a:endParaRPr>
          </a:p>
        </p:txBody>
      </p:sp>
      <p:sp>
        <p:nvSpPr>
          <p:cNvPr id="376" name="Shape 11"/>
          <p:cNvSpPr/>
          <p:nvPr/>
        </p:nvSpPr>
        <p:spPr>
          <a:xfrm>
            <a:off x="352800" y="4777560"/>
            <a:ext cx="6791760" cy="1527120"/>
          </a:xfrm>
          <a:custGeom>
            <a:avLst/>
            <a:gdLst/>
            <a:ahLst/>
            <a:rect l="l" t="t" r="r" b="b"/>
            <a:pathLst>
              <a:path w="6792926" h="1528198">
                <a:moveTo>
                  <a:pt x="0" y="0"/>
                </a:moveTo>
                <a:lnTo>
                  <a:pt x="6792926" y="0"/>
                </a:lnTo>
                <a:lnTo>
                  <a:pt x="6792926" y="1528198"/>
                </a:lnTo>
                <a:lnTo>
                  <a:pt x="0" y="1528198"/>
                </a:lnTo>
                <a:lnTo>
                  <a:pt x="0" y="0"/>
                </a:lnTo>
                <a:close/>
              </a:path>
            </a:pathLst>
          </a:custGeom>
          <a:solidFill>
            <a:srgbClr val="f8f9fa"/>
          </a:solidFill>
          <a:ln w="0">
            <a:noFill/>
          </a:ln>
        </p:spPr>
        <p:style>
          <a:lnRef idx="0"/>
          <a:fillRef idx="0"/>
          <a:effectRef idx="0"/>
          <a:fontRef idx="minor"/>
        </p:style>
      </p:sp>
      <p:sp>
        <p:nvSpPr>
          <p:cNvPr id="377" name="Shape 12"/>
          <p:cNvSpPr/>
          <p:nvPr/>
        </p:nvSpPr>
        <p:spPr>
          <a:xfrm>
            <a:off x="352800" y="4777560"/>
            <a:ext cx="32400" cy="1527120"/>
          </a:xfrm>
          <a:custGeom>
            <a:avLst/>
            <a:gdLst/>
            <a:ahLst/>
            <a:rect l="l" t="t" r="r" b="b"/>
            <a:pathLst>
              <a:path w="33587" h="1528198">
                <a:moveTo>
                  <a:pt x="0" y="0"/>
                </a:moveTo>
                <a:lnTo>
                  <a:pt x="33587" y="0"/>
                </a:lnTo>
                <a:lnTo>
                  <a:pt x="33587" y="1528198"/>
                </a:lnTo>
                <a:lnTo>
                  <a:pt x="0" y="1528198"/>
                </a:lnTo>
                <a:lnTo>
                  <a:pt x="0" y="0"/>
                </a:lnTo>
                <a:close/>
              </a:path>
            </a:pathLst>
          </a:custGeom>
          <a:solidFill>
            <a:srgbClr val="0984e3"/>
          </a:solidFill>
          <a:ln w="0">
            <a:noFill/>
          </a:ln>
        </p:spPr>
        <p:style>
          <a:lnRef idx="0"/>
          <a:fillRef idx="0"/>
          <a:effectRef idx="0"/>
          <a:fontRef idx="minor"/>
        </p:style>
      </p:sp>
      <p:sp>
        <p:nvSpPr>
          <p:cNvPr id="378" name="Text 13"/>
          <p:cNvSpPr/>
          <p:nvPr/>
        </p:nvSpPr>
        <p:spPr>
          <a:xfrm>
            <a:off x="537480" y="4945680"/>
            <a:ext cx="6523200" cy="2340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d3436"/>
                </a:solidFill>
                <a:latin typeface="Oranienbaum"/>
                <a:ea typeface="Oranienbaum"/>
              </a:rPr>
              <a:t>The Hawk-Dove Game</a:t>
            </a:r>
            <a:endParaRPr b="0" lang="en-HK" sz="1320" spc="-1" strike="noStrike">
              <a:latin typeface="Arial"/>
            </a:endParaRPr>
          </a:p>
        </p:txBody>
      </p:sp>
      <p:sp>
        <p:nvSpPr>
          <p:cNvPr id="379" name="Text 14"/>
          <p:cNvSpPr/>
          <p:nvPr/>
        </p:nvSpPr>
        <p:spPr>
          <a:xfrm>
            <a:off x="537480" y="5281560"/>
            <a:ext cx="650628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636e72"/>
                </a:solidFill>
                <a:latin typeface="Quattrocento Sans"/>
                <a:ea typeface="Quattrocento Sans"/>
              </a:rPr>
              <a:t>Models conflict over resources between aggressive (Hawk) and peaceful (Dove) strategies:</a:t>
            </a:r>
            <a:endParaRPr b="0" lang="en-HK" sz="1060" spc="-1" strike="noStrike">
              <a:latin typeface="Arial"/>
            </a:endParaRPr>
          </a:p>
        </p:txBody>
      </p:sp>
      <p:sp>
        <p:nvSpPr>
          <p:cNvPr id="380" name="Text 15"/>
          <p:cNvSpPr/>
          <p:nvPr/>
        </p:nvSpPr>
        <p:spPr>
          <a:xfrm>
            <a:off x="537480" y="560052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Hawk:</a:t>
            </a:r>
            <a:r>
              <a:rPr b="0" lang="en-US" sz="1060" spc="-1" strike="noStrike">
                <a:solidFill>
                  <a:srgbClr val="636e72"/>
                </a:solidFill>
                <a:latin typeface="Quattrocento Sans"/>
                <a:ea typeface="Quattrocento Sans"/>
              </a:rPr>
              <a:t> Fight, high cost</a:t>
            </a:r>
            <a:endParaRPr b="0" lang="en-HK" sz="1060" spc="-1" strike="noStrike">
              <a:latin typeface="Arial"/>
            </a:endParaRPr>
          </a:p>
        </p:txBody>
      </p:sp>
      <p:sp>
        <p:nvSpPr>
          <p:cNvPr id="381" name="Text 16"/>
          <p:cNvSpPr/>
          <p:nvPr/>
        </p:nvSpPr>
        <p:spPr>
          <a:xfrm>
            <a:off x="3823200" y="560052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Hawk vs. Dove:</a:t>
            </a:r>
            <a:r>
              <a:rPr b="0" lang="en-US" sz="1060" spc="-1" strike="noStrike">
                <a:solidFill>
                  <a:srgbClr val="636e72"/>
                </a:solidFill>
                <a:latin typeface="Quattrocento Sans"/>
                <a:ea typeface="Quattrocento Sans"/>
              </a:rPr>
              <a:t> Hawk takes all</a:t>
            </a:r>
            <a:endParaRPr b="0" lang="en-HK" sz="1060" spc="-1" strike="noStrike">
              <a:latin typeface="Arial"/>
            </a:endParaRPr>
          </a:p>
        </p:txBody>
      </p:sp>
      <p:sp>
        <p:nvSpPr>
          <p:cNvPr id="382" name="Text 17"/>
          <p:cNvSpPr/>
          <p:nvPr/>
        </p:nvSpPr>
        <p:spPr>
          <a:xfrm>
            <a:off x="537480" y="593640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d3436"/>
                </a:solidFill>
                <a:latin typeface="Quattrocento Sans"/>
                <a:ea typeface="Quattrocento Sans"/>
              </a:rPr>
              <a:t>Dove vs. Dove:</a:t>
            </a:r>
            <a:r>
              <a:rPr b="0" lang="en-US" sz="1060" spc="-1" strike="noStrike">
                <a:solidFill>
                  <a:srgbClr val="636e72"/>
                </a:solidFill>
                <a:latin typeface="Quattrocento Sans"/>
                <a:ea typeface="Quattrocento Sans"/>
              </a:rPr>
              <a:t> Share peacefully</a:t>
            </a:r>
            <a:endParaRPr b="0" lang="en-HK" sz="1060" spc="-1" strike="noStrike">
              <a:latin typeface="Arial"/>
            </a:endParaRPr>
          </a:p>
        </p:txBody>
      </p:sp>
      <p:sp>
        <p:nvSpPr>
          <p:cNvPr id="383" name="Text 18"/>
          <p:cNvSpPr/>
          <p:nvPr/>
        </p:nvSpPr>
        <p:spPr>
          <a:xfrm>
            <a:off x="3823200" y="5936400"/>
            <a:ext cx="321480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0984e3"/>
                </a:solidFill>
                <a:latin typeface="Quattrocento Sans"/>
                <a:ea typeface="Quattrocento Sans"/>
              </a:rPr>
              <a:t>ESS:</a:t>
            </a:r>
            <a:r>
              <a:rPr b="0" lang="en-US" sz="1060" spc="-1" strike="noStrike">
                <a:solidFill>
                  <a:srgbClr val="636e72"/>
                </a:solidFill>
                <a:latin typeface="Quattrocento Sans"/>
                <a:ea typeface="Quattrocento Sans"/>
              </a:rPr>
              <a:t> Mixed population</a:t>
            </a:r>
            <a:endParaRPr b="0" lang="en-HK" sz="1060" spc="-1" strike="noStrike">
              <a:latin typeface="Arial"/>
            </a:endParaRPr>
          </a:p>
        </p:txBody>
      </p:sp>
      <p:sp>
        <p:nvSpPr>
          <p:cNvPr id="384" name="Shape 19"/>
          <p:cNvSpPr/>
          <p:nvPr/>
        </p:nvSpPr>
        <p:spPr>
          <a:xfrm>
            <a:off x="7415640" y="1213200"/>
            <a:ext cx="4440600" cy="3500280"/>
          </a:xfrm>
          <a:custGeom>
            <a:avLst/>
            <a:gdLst/>
            <a:ah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round/>
          </a:ln>
        </p:spPr>
        <p:style>
          <a:lnRef idx="0"/>
          <a:fillRef idx="0"/>
          <a:effectRef idx="0"/>
          <a:fontRef idx="minor"/>
        </p:style>
      </p:sp>
      <p:sp>
        <p:nvSpPr>
          <p:cNvPr id="385" name="Image 0"/>
          <p:cNvSpPr/>
          <p:nvPr/>
        </p:nvSpPr>
        <p:spPr>
          <a:xfrm>
            <a:off x="7587720" y="1385280"/>
            <a:ext cx="4096440" cy="1678320"/>
          </a:xfrm>
          <a:prstGeom prst="roundRect">
            <a:avLst>
              <a:gd name="adj" fmla="val 0"/>
            </a:avLst>
          </a:prstGeom>
          <a:blipFill rotWithShape="0">
            <a:blip r:embed="rId1"/>
            <a:srcRect/>
            <a:stretch/>
          </a:blipFill>
          <a:ln w="0">
            <a:noFill/>
          </a:ln>
        </p:spPr>
        <p:style>
          <a:lnRef idx="0"/>
          <a:fillRef idx="0"/>
          <a:effectRef idx="0"/>
          <a:fontRef idx="minor"/>
        </p:style>
      </p:sp>
      <p:sp>
        <p:nvSpPr>
          <p:cNvPr id="386" name="Text 20"/>
          <p:cNvSpPr/>
          <p:nvPr/>
        </p:nvSpPr>
        <p:spPr>
          <a:xfrm>
            <a:off x="7545600" y="3199320"/>
            <a:ext cx="4180320" cy="2340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320" spc="-1" strike="noStrike">
                <a:solidFill>
                  <a:srgbClr val="2d3436"/>
                </a:solidFill>
                <a:latin typeface="Oranienbaum"/>
                <a:ea typeface="Oranienbaum"/>
              </a:rPr>
              <a:t>Applications in Biology</a:t>
            </a:r>
            <a:endParaRPr b="0" lang="en-HK" sz="1320" spc="-1" strike="noStrike">
              <a:latin typeface="Arial"/>
            </a:endParaRPr>
          </a:p>
        </p:txBody>
      </p:sp>
      <p:sp>
        <p:nvSpPr>
          <p:cNvPr id="387" name="Shape 21"/>
          <p:cNvSpPr/>
          <p:nvPr/>
        </p:nvSpPr>
        <p:spPr>
          <a:xfrm>
            <a:off x="7621200" y="3564360"/>
            <a:ext cx="99720" cy="133200"/>
          </a:xfrm>
          <a:custGeom>
            <a:avLst/>
            <a:gdLst/>
            <a:ah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w="0">
            <a:noFill/>
          </a:ln>
        </p:spPr>
        <p:style>
          <a:lnRef idx="0"/>
          <a:fillRef idx="0"/>
          <a:effectRef idx="0"/>
          <a:fontRef idx="minor"/>
        </p:style>
      </p:sp>
      <p:sp>
        <p:nvSpPr>
          <p:cNvPr id="388" name="Text 22"/>
          <p:cNvSpPr/>
          <p:nvPr/>
        </p:nvSpPr>
        <p:spPr>
          <a:xfrm>
            <a:off x="7800120" y="353484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Animal Behavior:</a:t>
            </a:r>
            <a:r>
              <a:rPr b="0" lang="en-US" sz="1060" spc="-1" strike="noStrike">
                <a:solidFill>
                  <a:srgbClr val="636e72"/>
                </a:solidFill>
                <a:latin typeface="Quattrocento Sans"/>
                <a:ea typeface="Quattrocento Sans"/>
              </a:rPr>
              <a:t> Mating rituals, territorial disputes</a:t>
            </a:r>
            <a:endParaRPr b="0" lang="en-HK" sz="1060" spc="-1" strike="noStrike">
              <a:latin typeface="Arial"/>
            </a:endParaRPr>
          </a:p>
        </p:txBody>
      </p:sp>
      <p:sp>
        <p:nvSpPr>
          <p:cNvPr id="389" name="Shape 23"/>
          <p:cNvSpPr/>
          <p:nvPr/>
        </p:nvSpPr>
        <p:spPr>
          <a:xfrm>
            <a:off x="7604640" y="3832920"/>
            <a:ext cx="133200" cy="133200"/>
          </a:xfrm>
          <a:custGeom>
            <a:avLst/>
            <a:gdLst/>
            <a:ah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w="0">
            <a:noFill/>
          </a:ln>
        </p:spPr>
        <p:style>
          <a:lnRef idx="0"/>
          <a:fillRef idx="0"/>
          <a:effectRef idx="0"/>
          <a:fontRef idx="minor"/>
        </p:style>
      </p:sp>
      <p:sp>
        <p:nvSpPr>
          <p:cNvPr id="390" name="Text 24"/>
          <p:cNvSpPr/>
          <p:nvPr/>
        </p:nvSpPr>
        <p:spPr>
          <a:xfrm>
            <a:off x="7800120" y="380376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Pathogen Evolution:</a:t>
            </a:r>
            <a:r>
              <a:rPr b="0" lang="en-US" sz="1060" spc="-1" strike="noStrike">
                <a:solidFill>
                  <a:srgbClr val="636e72"/>
                </a:solidFill>
                <a:latin typeface="Quattrocento Sans"/>
                <a:ea typeface="Quattrocento Sans"/>
              </a:rPr>
              <a:t> Virulence and transmission strategies</a:t>
            </a:r>
            <a:endParaRPr b="0" lang="en-HK" sz="1060" spc="-1" strike="noStrike">
              <a:latin typeface="Arial"/>
            </a:endParaRPr>
          </a:p>
        </p:txBody>
      </p:sp>
      <p:sp>
        <p:nvSpPr>
          <p:cNvPr id="391" name="Shape 25"/>
          <p:cNvSpPr/>
          <p:nvPr/>
        </p:nvSpPr>
        <p:spPr>
          <a:xfrm>
            <a:off x="7604640" y="4101840"/>
            <a:ext cx="133200" cy="133200"/>
          </a:xfrm>
          <a:custGeom>
            <a:avLst/>
            <a:gdLst/>
            <a:ah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w="0">
            <a:noFill/>
          </a:ln>
        </p:spPr>
        <p:style>
          <a:lnRef idx="0"/>
          <a:fillRef idx="0"/>
          <a:effectRef idx="0"/>
          <a:fontRef idx="minor"/>
        </p:style>
      </p:sp>
      <p:sp>
        <p:nvSpPr>
          <p:cNvPr id="392" name="Text 26"/>
          <p:cNvSpPr/>
          <p:nvPr/>
        </p:nvSpPr>
        <p:spPr>
          <a:xfrm>
            <a:off x="7800120" y="407232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Cancer Therapy:</a:t>
            </a:r>
            <a:r>
              <a:rPr b="0" lang="en-US" sz="1060" spc="-1" strike="noStrike">
                <a:solidFill>
                  <a:srgbClr val="636e72"/>
                </a:solidFill>
                <a:latin typeface="Quattrocento Sans"/>
                <a:ea typeface="Quattrocento Sans"/>
              </a:rPr>
              <a:t> Treatment resistance evolution</a:t>
            </a:r>
            <a:endParaRPr b="0" lang="en-HK" sz="1060" spc="-1" strike="noStrike">
              <a:latin typeface="Arial"/>
            </a:endParaRPr>
          </a:p>
        </p:txBody>
      </p:sp>
      <p:sp>
        <p:nvSpPr>
          <p:cNvPr id="393" name="Shape 27"/>
          <p:cNvSpPr/>
          <p:nvPr/>
        </p:nvSpPr>
        <p:spPr>
          <a:xfrm>
            <a:off x="7587720" y="4370400"/>
            <a:ext cx="166680" cy="133200"/>
          </a:xfrm>
          <a:custGeom>
            <a:avLst/>
            <a:gdLst/>
            <a:ah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w="0">
            <a:noFill/>
          </a:ln>
        </p:spPr>
        <p:style>
          <a:lnRef idx="0"/>
          <a:fillRef idx="0"/>
          <a:effectRef idx="0"/>
          <a:fontRef idx="minor"/>
        </p:style>
      </p:sp>
      <p:sp>
        <p:nvSpPr>
          <p:cNvPr id="394" name="Text 28"/>
          <p:cNvSpPr/>
          <p:nvPr/>
        </p:nvSpPr>
        <p:spPr>
          <a:xfrm>
            <a:off x="7800120" y="4341240"/>
            <a:ext cx="3951360" cy="200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636e72"/>
                </a:solidFill>
                <a:latin typeface="Quattrocento Sans"/>
                <a:ea typeface="Quattrocento Sans"/>
              </a:rPr>
              <a:t>Social Behavior:</a:t>
            </a:r>
            <a:r>
              <a:rPr b="0" lang="en-US" sz="1060" spc="-1" strike="noStrike">
                <a:solidFill>
                  <a:srgbClr val="636e72"/>
                </a:solidFill>
                <a:latin typeface="Quattrocento Sans"/>
                <a:ea typeface="Quattrocento Sans"/>
              </a:rPr>
              <a:t> Altruism and cooperation evolution</a:t>
            </a:r>
            <a:endParaRPr b="0" lang="en-HK" sz="1060" spc="-1" strike="noStrike">
              <a:latin typeface="Arial"/>
            </a:endParaRPr>
          </a:p>
        </p:txBody>
      </p:sp>
      <p:sp>
        <p:nvSpPr>
          <p:cNvPr id="395" name="Shape 29"/>
          <p:cNvSpPr/>
          <p:nvPr/>
        </p:nvSpPr>
        <p:spPr>
          <a:xfrm>
            <a:off x="7411320" y="4853160"/>
            <a:ext cx="4449240" cy="1292040"/>
          </a:xfrm>
          <a:custGeom>
            <a:avLst/>
            <a:gdLst/>
            <a:ahLst/>
            <a:rect l="l" t="t" r="r" b="b"/>
            <a:pathLst>
              <a:path w="4450248" h="1293091">
                <a:moveTo>
                  <a:pt x="0" y="0"/>
                </a:moveTo>
                <a:lnTo>
                  <a:pt x="4450248" y="0"/>
                </a:lnTo>
                <a:lnTo>
                  <a:pt x="4450248" y="1293091"/>
                </a:lnTo>
                <a:lnTo>
                  <a:pt x="0" y="1293091"/>
                </a:lnTo>
                <a:lnTo>
                  <a:pt x="0" y="0"/>
                </a:lnTo>
                <a:close/>
              </a:path>
            </a:pathLst>
          </a:custGeom>
          <a:solidFill>
            <a:srgbClr val="2d3436"/>
          </a:solidFill>
          <a:ln w="0">
            <a:noFill/>
          </a:ln>
        </p:spPr>
        <p:style>
          <a:lnRef idx="0"/>
          <a:fillRef idx="0"/>
          <a:effectRef idx="0"/>
          <a:fontRef idx="minor"/>
        </p:style>
      </p:sp>
      <p:sp>
        <p:nvSpPr>
          <p:cNvPr id="396" name="Text 30"/>
          <p:cNvSpPr/>
          <p:nvPr/>
        </p:nvSpPr>
        <p:spPr>
          <a:xfrm>
            <a:off x="7579440" y="5021280"/>
            <a:ext cx="4188960" cy="234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Oranienbaum"/>
                <a:ea typeface="Oranienbaum"/>
              </a:rPr>
              <a:t>Evolution of Cooperation</a:t>
            </a:r>
            <a:endParaRPr b="0" lang="en-HK" sz="1190" spc="-1" strike="noStrike">
              <a:latin typeface="Arial"/>
            </a:endParaRPr>
          </a:p>
        </p:txBody>
      </p:sp>
      <p:sp>
        <p:nvSpPr>
          <p:cNvPr id="397" name="Text 31"/>
          <p:cNvSpPr/>
          <p:nvPr/>
        </p:nvSpPr>
        <p:spPr>
          <a:xfrm>
            <a:off x="7579440" y="5323680"/>
            <a:ext cx="4180320" cy="65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e0e0e0"/>
                </a:solidFill>
                <a:latin typeface="Quattrocento Sans"/>
                <a:ea typeface="Quattrocento Sans"/>
              </a:rPr>
              <a:t>Despite individual incentives to defect, cooperation evolves through mechanisms like reciprocity, kin selection, and group selection—explaining altruism across species.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8" name="Shape 0"/>
          <p:cNvSpPr/>
          <p:nvPr/>
        </p:nvSpPr>
        <p:spPr>
          <a:xfrm>
            <a:off x="5486400" y="58572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399" name="Text 1"/>
          <p:cNvSpPr/>
          <p:nvPr/>
        </p:nvSpPr>
        <p:spPr>
          <a:xfrm>
            <a:off x="3664080" y="909720"/>
            <a:ext cx="4866120" cy="14277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4500" spc="-1" strike="noStrike">
                <a:solidFill>
                  <a:srgbClr val="2d3436"/>
                </a:solidFill>
                <a:latin typeface="Oranienbaum"/>
                <a:ea typeface="Oranienbaum"/>
              </a:rPr>
              <a:t>The Enduring Power</a:t>
            </a:r>
            <a:endParaRPr b="0" lang="en-HK" sz="4500" spc="-1" strike="noStrike">
              <a:latin typeface="Arial"/>
            </a:endParaRPr>
          </a:p>
          <a:p>
            <a:pPr algn="ctr">
              <a:lnSpc>
                <a:spcPct val="100000"/>
              </a:lnSpc>
              <a:buNone/>
            </a:pPr>
            <a:r>
              <a:rPr b="1" lang="en-US" sz="4500" spc="-1" strike="noStrike">
                <a:solidFill>
                  <a:srgbClr val="2d3436"/>
                </a:solidFill>
                <a:latin typeface="Oranienbaum"/>
                <a:ea typeface="Oranienbaum"/>
              </a:rPr>
              <a:t>of Game Theory</a:t>
            </a:r>
            <a:endParaRPr b="0" lang="en-HK" sz="4500" spc="-1" strike="noStrike">
              <a:latin typeface="Arial"/>
            </a:endParaRPr>
          </a:p>
        </p:txBody>
      </p:sp>
      <p:sp>
        <p:nvSpPr>
          <p:cNvPr id="400" name="Shape 2"/>
          <p:cNvSpPr/>
          <p:nvPr/>
        </p:nvSpPr>
        <p:spPr>
          <a:xfrm>
            <a:off x="5486400" y="2643120"/>
            <a:ext cx="1218240" cy="18000"/>
          </a:xfrm>
          <a:custGeom>
            <a:avLst/>
            <a:gdLst/>
            <a:ahLst/>
            <a:rect l="l" t="t" r="r" b="b"/>
            <a:pathLst>
              <a:path w="1219200" h="19050">
                <a:moveTo>
                  <a:pt x="0" y="0"/>
                </a:moveTo>
                <a:lnTo>
                  <a:pt x="1219200" y="0"/>
                </a:lnTo>
                <a:lnTo>
                  <a:pt x="1219200" y="19050"/>
                </a:lnTo>
                <a:lnTo>
                  <a:pt x="0" y="19050"/>
                </a:lnTo>
                <a:lnTo>
                  <a:pt x="0" y="0"/>
                </a:lnTo>
                <a:close/>
              </a:path>
            </a:pathLst>
          </a:custGeom>
          <a:solidFill>
            <a:srgbClr val="0984e3"/>
          </a:solidFill>
          <a:ln w="0">
            <a:noFill/>
          </a:ln>
        </p:spPr>
        <p:style>
          <a:lnRef idx="0"/>
          <a:fillRef idx="0"/>
          <a:effectRef idx="0"/>
          <a:fontRef idx="minor"/>
        </p:style>
      </p:sp>
      <p:sp>
        <p:nvSpPr>
          <p:cNvPr id="401" name="Text 3"/>
          <p:cNvSpPr/>
          <p:nvPr/>
        </p:nvSpPr>
        <p:spPr>
          <a:xfrm>
            <a:off x="1771560" y="2967120"/>
            <a:ext cx="8647560" cy="1113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800" spc="-1" strike="noStrike">
                <a:solidFill>
                  <a:srgbClr val="1e272e"/>
                </a:solidFill>
                <a:latin typeface="Quattrocento Sans"/>
                <a:ea typeface="Quattrocento Sans"/>
              </a:rPr>
              <a:t>Game theory transforms our understanding of strategic interaction across all domains of life. From economics to biology, from politics to everyday decisions, its mathematical precision reveals the hidden logic of competition and cooperation.</a:t>
            </a:r>
            <a:endParaRPr b="0" lang="en-HK" sz="1800" spc="-1" strike="noStrike">
              <a:latin typeface="Arial"/>
            </a:endParaRPr>
          </a:p>
        </p:txBody>
      </p:sp>
      <p:sp>
        <p:nvSpPr>
          <p:cNvPr id="402" name="Text 4"/>
          <p:cNvSpPr/>
          <p:nvPr/>
        </p:nvSpPr>
        <p:spPr>
          <a:xfrm>
            <a:off x="1781280" y="4309920"/>
            <a:ext cx="8628480" cy="12373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500" spc="-1" strike="noStrike">
                <a:solidFill>
                  <a:srgbClr val="636e72"/>
                </a:solidFill>
                <a:latin typeface="Quattrocento Sans"/>
                <a:ea typeface="Quattrocento Sans"/>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b="0" lang="en-HK" sz="1500" spc="-1" strike="noStrike">
              <a:latin typeface="Arial"/>
            </a:endParaRPr>
          </a:p>
        </p:txBody>
      </p:sp>
      <p:sp>
        <p:nvSpPr>
          <p:cNvPr id="403" name="Text 5"/>
          <p:cNvSpPr/>
          <p:nvPr/>
        </p:nvSpPr>
        <p:spPr>
          <a:xfrm>
            <a:off x="2615400" y="6005520"/>
            <a:ext cx="6961680" cy="2656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350" spc="-1" strike="noStrike">
                <a:solidFill>
                  <a:srgbClr val="636e72"/>
                </a:solidFill>
                <a:latin typeface="Liter"/>
                <a:ea typeface="Liter"/>
              </a:rPr>
              <a:t>"In the long run, we're all dead. But game theory helps us navigate the short run more wisely."</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24</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2026-03-18T11:54:39Z</dcterms:created>
  <dc:creator>Kimi</dc:creator>
  <dc:description/>
  <dc:language>en-HK</dc:language>
  <cp:lastModifiedBy/>
  <dcterms:modified xsi:type="dcterms:W3CDTF">2026-04-18T14:45:27Z</dcterms:modified>
  <cp:revision>4</cp:revision>
  <dc:subject>Game Theory</dc:subject>
  <dc:title>Game Theory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{"Label":"Game Theory","ContentProducer":"001191110108MACG2KBH8F10000","ProduceID":"19d00906-6002-88af-8000-00001a6b51f9","ReservedCode1":"","ContentPropagator":"001191110108MACG2KBH8F20000","PropagateID":"19d00906-6002-88af-8000-00001a6b51f9","ReservedCode2":""}</vt:lpwstr>
  </property>
  <property fmtid="{D5CDD505-2E9C-101B-9397-08002B2CF9AE}" pid="3" name="Notes">
    <vt:i4>21</vt:i4>
  </property>
  <property fmtid="{D5CDD505-2E9C-101B-9397-08002B2CF9AE}" pid="4" name="PresentationFormat">
    <vt:lpwstr>On-screen Show (16:9)</vt:lpwstr>
  </property>
  <property fmtid="{D5CDD505-2E9C-101B-9397-08002B2CF9AE}" pid="5" name="Slides">
    <vt:i4>21</vt:i4>
  </property>
</Properties>
</file>