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move the slide</a:t>
            </a:r>
            <a:endParaRPr b="0" lang="en-HK" sz="4400" spc="-1" strike="noStrike">
              <a:solidFill>
                <a:srgbClr val="000000"/>
              </a:solidFill>
              <a:latin typeface="Calibri Light"/>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EFE10CB4-C406-4DB1-B000-0D0BE6C83AFD}"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6040" cy="3085920"/>
          </a:xfrm>
          <a:prstGeom prst="rect">
            <a:avLst/>
          </a:prstGeom>
          <a:ln w="0">
            <a:noFill/>
          </a:ln>
        </p:spPr>
      </p:sp>
      <p:sp>
        <p:nvSpPr>
          <p:cNvPr id="40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7BDE18F0-A0A3-4B5E-B7F4-7B759128B10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6040" cy="3085920"/>
          </a:xfrm>
          <a:prstGeom prst="rect">
            <a:avLst/>
          </a:prstGeom>
          <a:ln w="0">
            <a:noFill/>
          </a:ln>
        </p:spPr>
      </p:sp>
      <p:sp>
        <p:nvSpPr>
          <p:cNvPr id="40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66C9843-0662-4A1B-B41D-7A22BB0E2C0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6040" cy="3085920"/>
          </a:xfrm>
          <a:prstGeom prst="rect">
            <a:avLst/>
          </a:prstGeom>
          <a:ln w="0">
            <a:noFill/>
          </a:ln>
        </p:spPr>
      </p:sp>
      <p:sp>
        <p:nvSpPr>
          <p:cNvPr id="41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29B3373D-5A4C-4DC7-BC9E-28494D184FC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6040" cy="3085920"/>
          </a:xfrm>
          <a:prstGeom prst="rect">
            <a:avLst/>
          </a:prstGeom>
          <a:ln w="0">
            <a:noFill/>
          </a:ln>
        </p:spPr>
      </p:sp>
      <p:sp>
        <p:nvSpPr>
          <p:cNvPr id="41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E2B5E01-E901-45A1-8A1B-626FA54890B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6040" cy="3085920"/>
          </a:xfrm>
          <a:prstGeom prst="rect">
            <a:avLst/>
          </a:prstGeom>
          <a:ln w="0">
            <a:noFill/>
          </a:ln>
        </p:spPr>
      </p:sp>
      <p:sp>
        <p:nvSpPr>
          <p:cNvPr id="41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5677CB9-DB03-43C6-9521-54242F8BA77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6040" cy="3085920"/>
          </a:xfrm>
          <a:prstGeom prst="rect">
            <a:avLst/>
          </a:prstGeom>
          <a:ln w="0">
            <a:noFill/>
          </a:ln>
        </p:spPr>
      </p:sp>
      <p:sp>
        <p:nvSpPr>
          <p:cNvPr id="42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7676A28E-716D-4564-9E6E-E971DFDBE73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6040" cy="3085920"/>
          </a:xfrm>
          <a:prstGeom prst="rect">
            <a:avLst/>
          </a:prstGeom>
          <a:ln w="0">
            <a:noFill/>
          </a:ln>
        </p:spPr>
      </p:sp>
      <p:sp>
        <p:nvSpPr>
          <p:cNvPr id="42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03CED03-C677-4F94-BDE8-00CF6B4BBEC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6040" cy="3085920"/>
          </a:xfrm>
          <a:prstGeom prst="rect">
            <a:avLst/>
          </a:prstGeom>
          <a:ln w="0">
            <a:noFill/>
          </a:ln>
        </p:spPr>
      </p:sp>
      <p:sp>
        <p:nvSpPr>
          <p:cNvPr id="42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459E7629-9ABD-4193-BFF8-37A87476543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6040" cy="3085920"/>
          </a:xfrm>
          <a:prstGeom prst="rect">
            <a:avLst/>
          </a:prstGeom>
          <a:ln w="0">
            <a:noFill/>
          </a:ln>
        </p:spPr>
      </p:sp>
      <p:sp>
        <p:nvSpPr>
          <p:cNvPr id="42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4B2524E5-C7EC-4950-89DD-9C32F6435CD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6040" cy="3085920"/>
          </a:xfrm>
          <a:prstGeom prst="rect">
            <a:avLst/>
          </a:prstGeom>
          <a:ln w="0">
            <a:noFill/>
          </a:ln>
        </p:spPr>
      </p:sp>
      <p:sp>
        <p:nvSpPr>
          <p:cNvPr id="43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E7DE09C-6311-4C30-AB55-AE77E5E7FDC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6040" cy="3085920"/>
          </a:xfrm>
          <a:prstGeom prst="rect">
            <a:avLst/>
          </a:prstGeom>
          <a:ln w="0">
            <a:noFill/>
          </a:ln>
        </p:spPr>
      </p:sp>
      <p:sp>
        <p:nvSpPr>
          <p:cNvPr id="43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A020111-304B-4400-AE08-B199DB34CCD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6040" cy="3085920"/>
          </a:xfrm>
          <a:prstGeom prst="rect">
            <a:avLst/>
          </a:prstGeom>
          <a:ln w="0">
            <a:noFill/>
          </a:ln>
        </p:spPr>
      </p:sp>
      <p:sp>
        <p:nvSpPr>
          <p:cNvPr id="43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4BC1FE2A-4E0B-471A-B478-8E1BD4D80BD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6040" cy="3085920"/>
          </a:xfrm>
          <a:prstGeom prst="rect">
            <a:avLst/>
          </a:prstGeom>
          <a:ln w="0">
            <a:noFill/>
          </a:ln>
        </p:spPr>
      </p:sp>
      <p:sp>
        <p:nvSpPr>
          <p:cNvPr id="44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FC24308-E294-4CFB-82A8-A758B40272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6040" cy="3085920"/>
          </a:xfrm>
          <a:prstGeom prst="rect">
            <a:avLst/>
          </a:prstGeom>
          <a:ln w="0">
            <a:noFill/>
          </a:ln>
        </p:spPr>
      </p:sp>
      <p:sp>
        <p:nvSpPr>
          <p:cNvPr id="44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EC85454E-8313-4AEE-A94A-9EFE79D2791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6040" cy="3085920"/>
          </a:xfrm>
          <a:prstGeom prst="rect">
            <a:avLst/>
          </a:prstGeom>
          <a:ln w="0">
            <a:noFill/>
          </a:ln>
        </p:spPr>
      </p:sp>
      <p:sp>
        <p:nvSpPr>
          <p:cNvPr id="44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6F675DF2-515A-412B-944E-7EAD0B09EAA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6040" cy="3085920"/>
          </a:xfrm>
          <a:prstGeom prst="rect">
            <a:avLst/>
          </a:prstGeom>
          <a:ln w="0">
            <a:noFill/>
          </a:ln>
        </p:spPr>
      </p:sp>
      <p:sp>
        <p:nvSpPr>
          <p:cNvPr id="45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EBF0DBB9-29B3-4294-A3B2-C4BC3FDF8B3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6040" cy="3085920"/>
          </a:xfrm>
          <a:prstGeom prst="rect">
            <a:avLst/>
          </a:prstGeom>
          <a:ln w="0">
            <a:noFill/>
          </a:ln>
        </p:spPr>
      </p:sp>
      <p:sp>
        <p:nvSpPr>
          <p:cNvPr id="45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D8FB62E8-C6C0-4B3D-BFEE-035B7191AC3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6040" cy="3085920"/>
          </a:xfrm>
          <a:prstGeom prst="rect">
            <a:avLst/>
          </a:prstGeom>
          <a:ln w="0">
            <a:noFill/>
          </a:ln>
        </p:spPr>
      </p:sp>
      <p:sp>
        <p:nvSpPr>
          <p:cNvPr id="45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6F89620-D20B-4DE7-801E-4C53FED209E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6040" cy="3085920"/>
          </a:xfrm>
          <a:prstGeom prst="rect">
            <a:avLst/>
          </a:prstGeom>
          <a:ln w="0">
            <a:noFill/>
          </a:ln>
        </p:spPr>
      </p:sp>
      <p:sp>
        <p:nvSpPr>
          <p:cNvPr id="45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4189978A-FB00-4944-B71E-8E063A5C351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6040" cy="3085920"/>
          </a:xfrm>
          <a:prstGeom prst="rect">
            <a:avLst/>
          </a:prstGeom>
          <a:ln w="0">
            <a:noFill/>
          </a:ln>
        </p:spPr>
      </p:sp>
      <p:sp>
        <p:nvSpPr>
          <p:cNvPr id="46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F918614-CA1C-4466-ACC1-FD4F439C5FC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6040" cy="3085920"/>
          </a:xfrm>
          <a:prstGeom prst="rect">
            <a:avLst/>
          </a:prstGeom>
          <a:ln w="0">
            <a:noFill/>
          </a:ln>
        </p:spPr>
      </p:sp>
      <p:sp>
        <p:nvSpPr>
          <p:cNvPr id="46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FEF2E026-F9E2-47FB-BE0B-41D443385D40}"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edit the title text format</a:t>
            </a:r>
            <a:endParaRPr b="0" lang="en-HK" sz="4400" spc="-1" strike="noStrike">
              <a:solidFill>
                <a:srgbClr val="000000"/>
              </a:solidFill>
              <a:latin typeface="Calibri Light"/>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solidFill>
                  <a:srgbClr val="000000"/>
                </a:solidFill>
                <a:latin typeface="Calibri"/>
              </a:rPr>
              <a:t>Click to edit the outline text format</a:t>
            </a:r>
            <a:endParaRPr b="0" lang="en-HK"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HK" sz="2400" spc="-1" strike="noStrike">
                <a:solidFill>
                  <a:srgbClr val="000000"/>
                </a:solidFill>
                <a:latin typeface="Calibri"/>
              </a:rPr>
              <a:t>Second Outline Level</a:t>
            </a:r>
            <a:endParaRPr b="0" lang="en-HK"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HK" sz="2000" spc="-1" strike="noStrike">
                <a:solidFill>
                  <a:srgbClr val="000000"/>
                </a:solidFill>
                <a:latin typeface="Calibri"/>
              </a:rPr>
              <a:t>Third Outline Level</a:t>
            </a:r>
            <a:endParaRPr b="0" lang="en-HK"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HK" sz="2000" spc="-1" strike="noStrike">
                <a:solidFill>
                  <a:srgbClr val="000000"/>
                </a:solidFill>
                <a:latin typeface="Calibri"/>
              </a:rPr>
              <a:t>Fourth Outline Level</a:t>
            </a:r>
            <a:endParaRPr b="0" lang="en-HK"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HK" sz="2000" spc="-1" strike="noStrike">
                <a:solidFill>
                  <a:srgbClr val="000000"/>
                </a:solidFill>
                <a:latin typeface="Calibri"/>
              </a:rPr>
              <a:t>Fifth Outline Level</a:t>
            </a:r>
            <a:endParaRPr b="0" lang="en-HK"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HK" sz="2000" spc="-1" strike="noStrike">
                <a:solidFill>
                  <a:srgbClr val="000000"/>
                </a:solidFill>
                <a:latin typeface="Calibri"/>
              </a:rPr>
              <a:t>Sixth Outline Level</a:t>
            </a:r>
            <a:endParaRPr b="0" lang="en-HK"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HK" sz="2000" spc="-1" strike="noStrike">
                <a:solidFill>
                  <a:srgbClr val="000000"/>
                </a:solidFill>
                <a:latin typeface="Calibri"/>
              </a:rPr>
              <a:t>Seventh Outline Level</a:t>
            </a:r>
            <a:endParaRPr b="0" lang="en-HK"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Shape 0"/>
          <p:cNvSpPr/>
          <p:nvPr/>
        </p:nvSpPr>
        <p:spPr>
          <a:xfrm>
            <a:off x="5638680" y="2266920"/>
            <a:ext cx="914040" cy="1872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4080" cy="91404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2d3436"/>
                </a:solidFill>
                <a:latin typeface="Oranienbaum"/>
                <a:ea typeface="Oranienbaum"/>
              </a:rPr>
              <a:t>Game Theory</a:t>
            </a:r>
            <a:endParaRPr b="0" lang="en-HK" sz="7200" spc="-1" strike="noStrike">
              <a:latin typeface="Arial"/>
            </a:endParaRPr>
          </a:p>
        </p:txBody>
      </p:sp>
      <p:sp>
        <p:nvSpPr>
          <p:cNvPr id="46" name="Shape 2"/>
          <p:cNvSpPr/>
          <p:nvPr/>
        </p:nvSpPr>
        <p:spPr>
          <a:xfrm>
            <a:off x="5638680" y="3657600"/>
            <a:ext cx="914040" cy="1872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5440" cy="3045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43" strike="noStrike">
                <a:solidFill>
                  <a:srgbClr val="636e72"/>
                </a:solidFill>
                <a:latin typeface="Liter"/>
                <a:ea typeface="Liter"/>
              </a:rPr>
              <a:t>The Mathematics of Strategic Decision-Making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760" cy="1872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204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76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96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80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20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3640" cy="561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80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1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308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560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60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764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744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66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824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652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62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76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920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500" spc="-1" strike="noStrike">
                <a:solidFill>
                  <a:srgbClr val="55308d"/>
                </a:solidFill>
                <a:latin typeface="Quattrocento Sans"/>
                <a:ea typeface="Quattrocento Sans"/>
              </a:rPr>
              <a:t>Game theory is a mathematical framework for analyzing strategic interactions among rational decision-makers.</a:t>
            </a:r>
            <a:r>
              <a:rPr b="0" i="1" lang="en-US" sz="1500" spc="-1" strike="noStrike">
                <a:solidFill>
                  <a:srgbClr val="55308d"/>
                </a:solidFill>
                <a:latin typeface="Quattrocento Sans"/>
                <a:ea typeface="Quattrocento Sans"/>
              </a:rPr>
              <a:t> It provides a structured approach to understanding how individuals or groups make decisions in situations where the outcome depends on the choices of multiple participants.</a:t>
            </a:r>
            <a:endParaRPr b="0" i="1" lang="en-HK" sz="1500" spc="-1" strike="noStrike">
              <a:solidFill>
                <a:srgbClr val="55308d"/>
              </a:solidFill>
              <a:latin typeface="Arial"/>
            </a:endParaRPr>
          </a:p>
        </p:txBody>
      </p:sp>
      <p:sp>
        <p:nvSpPr>
          <p:cNvPr id="75" name="Text 3"/>
          <p:cNvSpPr/>
          <p:nvPr/>
        </p:nvSpPr>
        <p:spPr>
          <a:xfrm>
            <a:off x="380880" y="2838600"/>
            <a:ext cx="6819480" cy="1114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720" cy="136188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800" cy="136188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4120" cy="561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7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1200" cy="149508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840" cy="17100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9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9060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1200" cy="149508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1000" cy="17100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65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9060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1200" cy="149508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1000" cy="17100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700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9060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84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9"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800" cy="3888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5840" cy="497700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6400" cy="72108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2000" cy="2264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720" cy="1940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90760" cy="72108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63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808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800" cy="71316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2040" cy="71316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7120" cy="2264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840" cy="1940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7320" cy="71316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32040" cy="71316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50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672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6680" cy="71316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50200" cy="2264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920" cy="1940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8080" cy="72108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332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540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90560" cy="304776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1480" cy="114264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7800" cy="114264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8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812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82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101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82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101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82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101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740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8040" cy="83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3280" cy="159984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7800" cy="159984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83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9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9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9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52640" cy="348588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81120" cy="26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62040" cy="228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6080" cy="140940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tIns="114120" b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tIns="114120" bIns="114120" anchor="ctr">
                      <a:noAutofit/>
                    </a:bodyPr>
                    <a:p>
                      <a:pPr>
                        <a:lnSpc>
                          <a:spcPct val="100000"/>
                        </a:lnSpc>
                        <a:buNone/>
                      </a:pPr>
                      <a:r>
                        <a:rPr b="1" lang="en-US" sz="1200" spc="-1" strike="noStrike">
                          <a:solidFill>
                            <a:srgbClr val="2d3436"/>
                          </a:solidFill>
                          <a:latin typeface="微软雅黑"/>
                          <a:ea typeface="微软雅黑"/>
                        </a:rPr>
                        <a:t>Firm A: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(2, 10)</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6080" cy="900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620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840" cy="82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8040" cy="83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2360" cy="201888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20020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112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5160" cy="45684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1120" cy="456840"/>
          </a:xfrm>
          <a:prstGeom prst="rect">
            <a:avLst/>
          </a:prstGeom>
          <a:noFill/>
          <a:ln w="0">
            <a:noFill/>
          </a:ln>
        </p:spPr>
        <p:style>
          <a:lnRef idx="0"/>
          <a:fillRef idx="0"/>
          <a:effectRef idx="0"/>
          <a:fontRef idx="minor"/>
        </p:style>
        <p:txBody>
          <a:bodyPr lIns="114480" rIns="114480" tIns="228960" bIns="22896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112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52640" cy="320940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811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68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68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6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6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57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57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3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3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3280" cy="114264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7800" cy="114264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92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992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84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60400" cy="4550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960" cy="303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880" cy="466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50120" cy="75852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7440" cy="75852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3520" cy="455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960" cy="303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82960" cy="303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50240" cy="466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4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9200" cy="218196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44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5360" cy="24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9400" cy="45504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5360" cy="455040"/>
          </a:xfrm>
          <a:prstGeom prst="rect">
            <a:avLst/>
          </a:prstGeom>
          <a:noFill/>
          <a:ln w="0">
            <a:noFill/>
          </a:ln>
        </p:spPr>
        <p:style>
          <a:lnRef idx="0"/>
          <a:fillRef idx="0"/>
          <a:effectRef idx="0"/>
          <a:fontRef idx="minor"/>
        </p:style>
        <p:txBody>
          <a:bodyPr lIns="113760" rIns="113760" tIns="113760" bIns="11376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536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50120" cy="79668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7440" cy="79668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352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76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50600" cy="213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55"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800" cy="426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5400" cy="262692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200160" cy="17784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80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1640" cy="92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5400" cy="262692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200160" cy="17784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3108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5400" cy="262692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7840" cy="17784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904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5400" cy="239544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2120" cy="17784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212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7360" cy="239544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7840" cy="17784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804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648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6480" cy="46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648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6480" cy="46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76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740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832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2640" cy="202860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760" cy="26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360" cy="106632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tIns="75960" b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tIns="75960" b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960" cy="190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52640" cy="160920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744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83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83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83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3280" cy="213336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7800" cy="213336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83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51920" cy="15192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7160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51920" cy="15192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7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4120" cy="15192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7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71000" cy="15192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7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6280" cy="21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55"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9560" cy="429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1320" cy="286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4160" cy="441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532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4680" cy="187344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9400" cy="2505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760" cy="100368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1400" cy="178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5680" cy="75276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5640" cy="75276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76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701320" cy="286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4320" cy="52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5320" cy="698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4680" cy="187344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9400" cy="2505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760" cy="100368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51400" cy="178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3680" cy="130860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7400" cy="250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8400" cy="698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8200" cy="93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5400" cy="172368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61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5400" cy="172368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61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4080" cy="163800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7800" cy="163800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54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5040" cy="15192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32840" cy="15192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1920" cy="15192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71000" cy="15192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6320" cy="263808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7080" cy="26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62040" cy="133308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8000" cy="4950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5680" cy="163800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680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708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468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55"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73000" cy="444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9640" cy="1203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7400" cy="215820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80480" cy="259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61760" cy="481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9240" cy="14796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223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9240" cy="14796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223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9240" cy="14796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223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7400" cy="147276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80480" cy="259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61760" cy="722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040" y="1334160"/>
            <a:ext cx="5576760" cy="284400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440" y="1519200"/>
            <a:ext cx="5317560" cy="2962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440" y="1968840"/>
            <a:ext cx="5146200" cy="45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440" y="2580120"/>
            <a:ext cx="5280480" cy="481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6800" y="3205440"/>
            <a:ext cx="166320" cy="14796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6840" y="3173040"/>
            <a:ext cx="504108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5800" y="3502080"/>
            <a:ext cx="147960" cy="14796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6840" y="3469680"/>
            <a:ext cx="504108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440" y="3798360"/>
            <a:ext cx="185040" cy="14796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6840" y="3765960"/>
            <a:ext cx="504108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0760" y="4321800"/>
            <a:ext cx="5558400" cy="87048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0760" y="4321800"/>
            <a:ext cx="36720" cy="87048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520" y="4507200"/>
            <a:ext cx="5243400" cy="240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520" y="4822200"/>
            <a:ext cx="5234040" cy="185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696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52"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21600" cy="402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5800" cy="457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6360" cy="654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801120" cy="195624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4084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3920" cy="217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6600" cy="63792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223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223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3920" cy="217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92480" cy="152784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33120" cy="152784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392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7000" cy="217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5640" y="1213200"/>
            <a:ext cx="4441320" cy="350100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7720" y="1385280"/>
            <a:ext cx="4097160" cy="167904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600" y="3199320"/>
            <a:ext cx="4181040" cy="234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200" y="3564360"/>
            <a:ext cx="100440" cy="13392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120" y="353484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4640" y="3832920"/>
            <a:ext cx="133920" cy="13392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120" y="380376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4640" y="4101840"/>
            <a:ext cx="133920" cy="13392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120" y="407232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7720" y="4370400"/>
            <a:ext cx="167400" cy="13392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120" y="434124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320" y="4853160"/>
            <a:ext cx="4449960" cy="129276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440" y="5021280"/>
            <a:ext cx="41896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440" y="5323680"/>
            <a:ext cx="4181040" cy="654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400" y="58572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6840" cy="1428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400" y="264312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8280" cy="11142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9200" cy="12380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62400" cy="2664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9</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2026-04-04T03:36:43Z</dcterms:modified>
  <cp:revision>2</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