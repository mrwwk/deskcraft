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EE353743-CC35-4A8F-8E6C-2AFC1E49CE30}"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685800" y="1143000"/>
            <a:ext cx="5485680" cy="3085560"/>
          </a:xfrm>
          <a:prstGeom prst="rect">
            <a:avLst/>
          </a:prstGeom>
          <a:ln w="0">
            <a:noFill/>
          </a:ln>
        </p:spPr>
      </p:sp>
      <p:sp>
        <p:nvSpPr>
          <p:cNvPr id="40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06"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A430E89-643C-4D17-AA29-200EBF80212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685800" y="1143000"/>
            <a:ext cx="5485680" cy="3085560"/>
          </a:xfrm>
          <a:prstGeom prst="rect">
            <a:avLst/>
          </a:prstGeom>
          <a:ln w="0">
            <a:noFill/>
          </a:ln>
        </p:spPr>
      </p:sp>
      <p:sp>
        <p:nvSpPr>
          <p:cNvPr id="40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09"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2EA3664-82B7-4C7F-8A7A-5684340A424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685800" y="1143000"/>
            <a:ext cx="5485680" cy="3085560"/>
          </a:xfrm>
          <a:prstGeom prst="rect">
            <a:avLst/>
          </a:prstGeom>
          <a:ln w="0">
            <a:noFill/>
          </a:ln>
        </p:spPr>
      </p:sp>
      <p:sp>
        <p:nvSpPr>
          <p:cNvPr id="41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12"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FF0DFF0-4919-47F2-9765-40820A45A29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685800" y="1143000"/>
            <a:ext cx="5485680" cy="3085560"/>
          </a:xfrm>
          <a:prstGeom prst="rect">
            <a:avLst/>
          </a:prstGeom>
          <a:ln w="0">
            <a:noFill/>
          </a:ln>
        </p:spPr>
      </p:sp>
      <p:sp>
        <p:nvSpPr>
          <p:cNvPr id="41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15"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7FDDC73-3650-4C0D-8666-0D37E5F617C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685800" y="1143000"/>
            <a:ext cx="5485680" cy="3085560"/>
          </a:xfrm>
          <a:prstGeom prst="rect">
            <a:avLst/>
          </a:prstGeom>
          <a:ln w="0">
            <a:noFill/>
          </a:ln>
        </p:spPr>
      </p:sp>
      <p:sp>
        <p:nvSpPr>
          <p:cNvPr id="41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18"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84C36DC-86F2-44AD-A4B3-C5843C861B4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685800" y="1143000"/>
            <a:ext cx="5485680" cy="3085560"/>
          </a:xfrm>
          <a:prstGeom prst="rect">
            <a:avLst/>
          </a:prstGeom>
          <a:ln w="0">
            <a:noFill/>
          </a:ln>
        </p:spPr>
      </p:sp>
      <p:sp>
        <p:nvSpPr>
          <p:cNvPr id="42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21"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C22E38A-11C8-4D6E-8FAB-4CE7A7871A1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685800" y="1143000"/>
            <a:ext cx="5485680" cy="3085560"/>
          </a:xfrm>
          <a:prstGeom prst="rect">
            <a:avLst/>
          </a:prstGeom>
          <a:ln w="0">
            <a:noFill/>
          </a:ln>
        </p:spPr>
      </p:sp>
      <p:sp>
        <p:nvSpPr>
          <p:cNvPr id="42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24"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4FED2E1-4599-46C8-9A25-5209E41910C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685800" y="1143000"/>
            <a:ext cx="5485680" cy="3085560"/>
          </a:xfrm>
          <a:prstGeom prst="rect">
            <a:avLst/>
          </a:prstGeom>
          <a:ln w="0">
            <a:noFill/>
          </a:ln>
        </p:spPr>
      </p:sp>
      <p:sp>
        <p:nvSpPr>
          <p:cNvPr id="42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27"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40A806A-1855-451E-9364-603AD7932EF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5680" cy="3085560"/>
          </a:xfrm>
          <a:prstGeom prst="rect">
            <a:avLst/>
          </a:prstGeom>
          <a:ln w="0">
            <a:noFill/>
          </a:ln>
        </p:spPr>
      </p:sp>
      <p:sp>
        <p:nvSpPr>
          <p:cNvPr id="42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30"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6AB4465-3FC7-45D4-A04A-61D723BF393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685800" y="1143000"/>
            <a:ext cx="5485680" cy="3085560"/>
          </a:xfrm>
          <a:prstGeom prst="rect">
            <a:avLst/>
          </a:prstGeom>
          <a:ln w="0">
            <a:noFill/>
          </a:ln>
        </p:spPr>
      </p:sp>
      <p:sp>
        <p:nvSpPr>
          <p:cNvPr id="43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33"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285E54F-260F-4038-86AD-22D36052779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685800" y="1143000"/>
            <a:ext cx="5485680" cy="3085560"/>
          </a:xfrm>
          <a:prstGeom prst="rect">
            <a:avLst/>
          </a:prstGeom>
          <a:ln w="0">
            <a:noFill/>
          </a:ln>
        </p:spPr>
      </p:sp>
      <p:sp>
        <p:nvSpPr>
          <p:cNvPr id="43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36"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3BFEB29-AFCE-4512-8835-015A322B281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685800" y="1143000"/>
            <a:ext cx="5485680" cy="3085560"/>
          </a:xfrm>
          <a:prstGeom prst="rect">
            <a:avLst/>
          </a:prstGeom>
          <a:ln w="0">
            <a:noFill/>
          </a:ln>
        </p:spPr>
      </p:sp>
      <p:sp>
        <p:nvSpPr>
          <p:cNvPr id="43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39"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6EBB481-FB15-4DA4-A8E1-002B3CC70F7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685800" y="1143000"/>
            <a:ext cx="5485680" cy="3085560"/>
          </a:xfrm>
          <a:prstGeom prst="rect">
            <a:avLst/>
          </a:prstGeom>
          <a:ln w="0">
            <a:noFill/>
          </a:ln>
        </p:spPr>
      </p:sp>
      <p:sp>
        <p:nvSpPr>
          <p:cNvPr id="44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42"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D3AFC48-B7D0-4A65-B059-079324CAB2D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685800" y="1143000"/>
            <a:ext cx="5485680" cy="3085560"/>
          </a:xfrm>
          <a:prstGeom prst="rect">
            <a:avLst/>
          </a:prstGeom>
          <a:ln w="0">
            <a:noFill/>
          </a:ln>
        </p:spPr>
      </p:sp>
      <p:sp>
        <p:nvSpPr>
          <p:cNvPr id="44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45"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4FBBBB9-AF1E-469B-A959-E52C685F85E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685800" y="1143000"/>
            <a:ext cx="5485680" cy="3085560"/>
          </a:xfrm>
          <a:prstGeom prst="rect">
            <a:avLst/>
          </a:prstGeom>
          <a:ln w="0">
            <a:noFill/>
          </a:ln>
        </p:spPr>
      </p:sp>
      <p:sp>
        <p:nvSpPr>
          <p:cNvPr id="44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48"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F144D53-9954-4DFC-A9A5-9ECD89DE661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685800" y="1143000"/>
            <a:ext cx="5485680" cy="3085560"/>
          </a:xfrm>
          <a:prstGeom prst="rect">
            <a:avLst/>
          </a:prstGeom>
          <a:ln w="0">
            <a:noFill/>
          </a:ln>
        </p:spPr>
      </p:sp>
      <p:sp>
        <p:nvSpPr>
          <p:cNvPr id="45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51"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5DF149A-4554-479C-8B6C-8DC09A8D75A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685800" y="1143000"/>
            <a:ext cx="5485680" cy="3085560"/>
          </a:xfrm>
          <a:prstGeom prst="rect">
            <a:avLst/>
          </a:prstGeom>
          <a:ln w="0">
            <a:noFill/>
          </a:ln>
        </p:spPr>
      </p:sp>
      <p:sp>
        <p:nvSpPr>
          <p:cNvPr id="45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54"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7AC03C1-5267-4DA8-8F1A-90EF257BC4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5680" cy="3085560"/>
          </a:xfrm>
          <a:prstGeom prst="rect">
            <a:avLst/>
          </a:prstGeom>
          <a:ln w="0">
            <a:noFill/>
          </a:ln>
        </p:spPr>
      </p:sp>
      <p:sp>
        <p:nvSpPr>
          <p:cNvPr id="45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57"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8A64624-D49B-4D72-BEE0-FC1E9285CB1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5680" cy="3085560"/>
          </a:xfrm>
          <a:prstGeom prst="rect">
            <a:avLst/>
          </a:prstGeom>
          <a:ln w="0">
            <a:noFill/>
          </a:ln>
        </p:spPr>
      </p:sp>
      <p:sp>
        <p:nvSpPr>
          <p:cNvPr id="45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60"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04AD6D5-3B54-41AB-8DBB-1F0ECE50D82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5680" cy="3085560"/>
          </a:xfrm>
          <a:prstGeom prst="rect">
            <a:avLst/>
          </a:prstGeom>
          <a:ln w="0">
            <a:noFill/>
          </a:ln>
        </p:spPr>
      </p:sp>
      <p:sp>
        <p:nvSpPr>
          <p:cNvPr id="46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63" name="PlaceHolder 3"/>
          <p:cNvSpPr>
            <a:spLocks noGrp="1"/>
          </p:cNvSpPr>
          <p:nvPr>
            <p:ph type="sldNum" idx="2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916DDF1-8597-4F47-997E-7F68C078C1D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5680" cy="3085560"/>
          </a:xfrm>
          <a:prstGeom prst="rect">
            <a:avLst/>
          </a:prstGeom>
          <a:ln w="0">
            <a:noFill/>
          </a:ln>
        </p:spPr>
      </p:sp>
      <p:sp>
        <p:nvSpPr>
          <p:cNvPr id="46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466" name="PlaceHolder 3"/>
          <p:cNvSpPr>
            <a:spLocks noGrp="1"/>
          </p:cNvSpPr>
          <p:nvPr>
            <p:ph type="sldNum" idx="2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4B21C55-20DC-41C9-8550-C22537D8933A}"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Shape 0"/>
          <p:cNvSpPr/>
          <p:nvPr/>
        </p:nvSpPr>
        <p:spPr>
          <a:xfrm>
            <a:off x="5638680" y="2266920"/>
            <a:ext cx="913680" cy="1836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3720" cy="91368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7200" spc="-182" strike="noStrike">
                <a:solidFill>
                  <a:srgbClr val="2d3436"/>
                </a:solidFill>
                <a:latin typeface="Oranienbaum"/>
                <a:ea typeface="Oranienbaum"/>
              </a:rPr>
              <a:t>Game Theory</a:t>
            </a:r>
            <a:endParaRPr b="0" lang="en-HK" sz="7200" spc="-1" strike="noStrike">
              <a:latin typeface="Arial"/>
            </a:endParaRPr>
          </a:p>
        </p:txBody>
      </p:sp>
      <p:sp>
        <p:nvSpPr>
          <p:cNvPr id="46" name="Shape 2"/>
          <p:cNvSpPr/>
          <p:nvPr/>
        </p:nvSpPr>
        <p:spPr>
          <a:xfrm>
            <a:off x="5638680" y="3657600"/>
            <a:ext cx="913680" cy="1836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5080" cy="3042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1800" spc="41" strike="noStrike">
                <a:solidFill>
                  <a:srgbClr val="636e72"/>
                </a:solidFill>
                <a:latin typeface="Liter"/>
                <a:ea typeface="Liter"/>
              </a:rPr>
              <a:t>The Mathematics of Strategic Decision-Making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1400" cy="1836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168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9040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160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644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617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3280" cy="56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644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1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272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524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57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728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708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63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788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616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58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7400" cy="27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7400" cy="1142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Introduction to</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Game Theory</a:t>
            </a:r>
            <a:endParaRPr b="0" lang="en-HK" sz="4500" spc="-1" strike="noStrike">
              <a:latin typeface="Arial"/>
            </a:endParaRPr>
          </a:p>
        </p:txBody>
      </p:sp>
      <p:sp>
        <p:nvSpPr>
          <p:cNvPr id="70" name="Shape 2"/>
          <p:cNvSpPr/>
          <p:nvPr/>
        </p:nvSpPr>
        <p:spPr>
          <a:xfrm>
            <a:off x="609480" y="452448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8840" cy="123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500" spc="-1" strike="noStrike">
                <a:solidFill>
                  <a:srgbClr val="00008b"/>
                </a:solidFill>
                <a:latin typeface="Quattrocento Sans"/>
                <a:ea typeface="Quattrocento Sans"/>
              </a:rPr>
              <a:t>Game theory is a mathematical framework for analyzing strategic interactions among rational decision-makers.</a:t>
            </a:r>
            <a:r>
              <a:rPr b="0" i="1" lang="en-US" sz="1500" spc="-1" strike="noStrike">
                <a:solidFill>
                  <a:srgbClr val="00008b"/>
                </a:solidFill>
                <a:latin typeface="Quattrocento Sans"/>
                <a:ea typeface="Quattrocento Sans"/>
              </a:rPr>
              <a:t> It provides a structured approach to understanding how individuals or groups make decisions in situations where the outcome depends on the choices of multiple participants.</a:t>
            </a:r>
            <a:endParaRPr b="0" lang="en-HK" sz="1500" spc="-1" strike="noStrike">
              <a:solidFill>
                <a:srgbClr val="00008b"/>
              </a:solidFill>
              <a:latin typeface="Arial"/>
            </a:endParaRPr>
          </a:p>
        </p:txBody>
      </p:sp>
      <p:sp>
        <p:nvSpPr>
          <p:cNvPr id="75" name="Text 3"/>
          <p:cNvSpPr/>
          <p:nvPr/>
        </p:nvSpPr>
        <p:spPr>
          <a:xfrm>
            <a:off x="380880" y="2838600"/>
            <a:ext cx="6819120" cy="1113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350" spc="-1" strike="noStrike">
                <a:solidFill>
                  <a:srgbClr val="00008b"/>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i="1" lang="en-HK" sz="1350" spc="-1" strike="noStrike">
              <a:solidFill>
                <a:srgbClr val="00008b"/>
              </a:solidFill>
              <a:latin typeface="Arial"/>
            </a:endParaRPr>
          </a:p>
        </p:txBody>
      </p:sp>
      <p:sp>
        <p:nvSpPr>
          <p:cNvPr id="76" name="Shape 4"/>
          <p:cNvSpPr/>
          <p:nvPr/>
        </p:nvSpPr>
        <p:spPr>
          <a:xfrm>
            <a:off x="399960" y="4986360"/>
            <a:ext cx="6714360" cy="136152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7440" cy="136152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3760" cy="561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350" spc="-1" strike="noStrike">
                <a:solidFill>
                  <a:srgbClr val="00008b"/>
                </a:solidFill>
                <a:latin typeface="Quattrocento Sans"/>
                <a:ea typeface="Quattrocento Sans"/>
              </a:rPr>
              <a:t>"Game theory is the study of mathematical models of strategic interaction among rational decision-makers."</a:t>
            </a:r>
            <a:endParaRPr b="0" i="1" lang="en-HK" sz="1350" spc="-1" strike="noStrike">
              <a:solidFill>
                <a:srgbClr val="00008b"/>
              </a:solidFill>
              <a:latin typeface="Arial"/>
            </a:endParaRPr>
          </a:p>
        </p:txBody>
      </p:sp>
      <p:sp>
        <p:nvSpPr>
          <p:cNvPr id="79" name="Text 7"/>
          <p:cNvSpPr/>
          <p:nvPr/>
        </p:nvSpPr>
        <p:spPr>
          <a:xfrm>
            <a:off x="647640" y="5886360"/>
            <a:ext cx="63144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80840" cy="149472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3480" cy="17064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75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9024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Decision-makers whose choices influence outcomes. Games may involve two players or many.</a:t>
            </a:r>
            <a:endParaRPr b="0" i="1" lang="en-HK" sz="1200" spc="-1" strike="noStrike">
              <a:solidFill>
                <a:srgbClr val="00008b"/>
              </a:solidFill>
              <a:latin typeface="Arial"/>
            </a:endParaRPr>
          </a:p>
        </p:txBody>
      </p:sp>
      <p:sp>
        <p:nvSpPr>
          <p:cNvPr id="85" name="Shape 13"/>
          <p:cNvSpPr/>
          <p:nvPr/>
        </p:nvSpPr>
        <p:spPr>
          <a:xfrm>
            <a:off x="7426440" y="3110040"/>
            <a:ext cx="4380840" cy="149472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70640" cy="17064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61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9024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Complete plans of action available to each player, specifying choices at every decision point.</a:t>
            </a:r>
            <a:endParaRPr b="0" i="1" lang="en-HK" sz="1200" spc="-1" strike="noStrike">
              <a:solidFill>
                <a:srgbClr val="00008b"/>
              </a:solidFill>
              <a:latin typeface="Arial"/>
            </a:endParaRPr>
          </a:p>
        </p:txBody>
      </p:sp>
      <p:sp>
        <p:nvSpPr>
          <p:cNvPr id="90" name="Shape 18"/>
          <p:cNvSpPr/>
          <p:nvPr/>
        </p:nvSpPr>
        <p:spPr>
          <a:xfrm>
            <a:off x="7426440" y="4843440"/>
            <a:ext cx="4380840" cy="149472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80160" cy="38016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70640" cy="17064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664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9024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Numerical values representing utility or benefit received by players for each outcome.</a:t>
            </a:r>
            <a:endParaRPr b="0" i="1" lang="en-HK" sz="1200" spc="-1" strike="noStrike">
              <a:solidFill>
                <a:srgbClr val="00008b"/>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7400" cy="1142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324360" y="324360"/>
            <a:ext cx="1160748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6" strike="noStrike">
                <a:solidFill>
                  <a:srgbClr val="0984e3"/>
                </a:solidFill>
                <a:latin typeface="Quattrocento Sans"/>
                <a:ea typeface="Quattrocento Sans"/>
              </a:rPr>
              <a:t>HISTORICAL DEVELOPMENT</a:t>
            </a:r>
            <a:endParaRPr b="0" lang="en-HK" sz="1020" spc="-1" strike="noStrike">
              <a:latin typeface="Arial"/>
            </a:endParaRPr>
          </a:p>
        </p:txBody>
      </p:sp>
      <p:sp>
        <p:nvSpPr>
          <p:cNvPr id="100" name="Text 1"/>
          <p:cNvSpPr/>
          <p:nvPr/>
        </p:nvSpPr>
        <p:spPr>
          <a:xfrm>
            <a:off x="324360" y="583560"/>
            <a:ext cx="11737440" cy="388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1" name="Shape 2"/>
          <p:cNvSpPr/>
          <p:nvPr/>
        </p:nvSpPr>
        <p:spPr>
          <a:xfrm>
            <a:off x="6095880" y="1167480"/>
            <a:ext cx="15480" cy="497664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2" name="Shape 3"/>
          <p:cNvSpPr/>
          <p:nvPr/>
        </p:nvSpPr>
        <p:spPr>
          <a:xfrm>
            <a:off x="1638000" y="1171440"/>
            <a:ext cx="3866040" cy="72072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3" name="Text 4"/>
          <p:cNvSpPr/>
          <p:nvPr/>
        </p:nvSpPr>
        <p:spPr>
          <a:xfrm>
            <a:off x="1698840" y="1305000"/>
            <a:ext cx="3671640" cy="2260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4" name="Text 5"/>
          <p:cNvSpPr/>
          <p:nvPr/>
        </p:nvSpPr>
        <p:spPr>
          <a:xfrm>
            <a:off x="1706760" y="1564560"/>
            <a:ext cx="3663360" cy="1936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5" name="Shape 6"/>
          <p:cNvSpPr/>
          <p:nvPr/>
        </p:nvSpPr>
        <p:spPr>
          <a:xfrm>
            <a:off x="6683760" y="2030760"/>
            <a:ext cx="3290400" cy="72072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6" name="Text 7"/>
          <p:cNvSpPr/>
          <p:nvPr/>
        </p:nvSpPr>
        <p:spPr>
          <a:xfrm>
            <a:off x="6817320" y="2164320"/>
            <a:ext cx="309600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7" name="Text 8"/>
          <p:cNvSpPr/>
          <p:nvPr/>
        </p:nvSpPr>
        <p:spPr>
          <a:xfrm>
            <a:off x="6817320" y="2423880"/>
            <a:ext cx="308772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8" name="Shape 9"/>
          <p:cNvSpPr/>
          <p:nvPr/>
        </p:nvSpPr>
        <p:spPr>
          <a:xfrm>
            <a:off x="633600" y="2885760"/>
            <a:ext cx="4879440" cy="71280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09" name="Shape 10"/>
          <p:cNvSpPr/>
          <p:nvPr/>
        </p:nvSpPr>
        <p:spPr>
          <a:xfrm>
            <a:off x="633600" y="2885760"/>
            <a:ext cx="31680" cy="71280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0" name="Text 11"/>
          <p:cNvSpPr/>
          <p:nvPr/>
        </p:nvSpPr>
        <p:spPr>
          <a:xfrm>
            <a:off x="706680" y="3015720"/>
            <a:ext cx="4676760" cy="2260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1" name="Text 12"/>
          <p:cNvSpPr/>
          <p:nvPr/>
        </p:nvSpPr>
        <p:spPr>
          <a:xfrm>
            <a:off x="714960" y="3274920"/>
            <a:ext cx="4668480" cy="1936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2" name="Shape 13"/>
          <p:cNvSpPr/>
          <p:nvPr/>
        </p:nvSpPr>
        <p:spPr>
          <a:xfrm>
            <a:off x="6696000" y="3728880"/>
            <a:ext cx="5016960" cy="71280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3" name="Shape 14"/>
          <p:cNvSpPr/>
          <p:nvPr/>
        </p:nvSpPr>
        <p:spPr>
          <a:xfrm>
            <a:off x="6696000" y="3728880"/>
            <a:ext cx="31680" cy="71280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4" name="Text 15"/>
          <p:cNvSpPr/>
          <p:nvPr/>
        </p:nvSpPr>
        <p:spPr>
          <a:xfrm>
            <a:off x="6841800" y="3858480"/>
            <a:ext cx="481464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5" name="Text 16"/>
          <p:cNvSpPr/>
          <p:nvPr/>
        </p:nvSpPr>
        <p:spPr>
          <a:xfrm>
            <a:off x="6841800" y="4118040"/>
            <a:ext cx="480636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6" name="Shape 17"/>
          <p:cNvSpPr/>
          <p:nvPr/>
        </p:nvSpPr>
        <p:spPr>
          <a:xfrm>
            <a:off x="1476360" y="4572000"/>
            <a:ext cx="4036320" cy="71280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7" name="Text 18"/>
          <p:cNvSpPr/>
          <p:nvPr/>
        </p:nvSpPr>
        <p:spPr>
          <a:xfrm>
            <a:off x="1532880" y="4701600"/>
            <a:ext cx="3849840" cy="2260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8" name="Text 19"/>
          <p:cNvSpPr/>
          <p:nvPr/>
        </p:nvSpPr>
        <p:spPr>
          <a:xfrm>
            <a:off x="1541160" y="4961160"/>
            <a:ext cx="3841560" cy="19368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19" name="Shape 20"/>
          <p:cNvSpPr/>
          <p:nvPr/>
        </p:nvSpPr>
        <p:spPr>
          <a:xfrm>
            <a:off x="6683760" y="5419080"/>
            <a:ext cx="3987720" cy="72072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0" name="Text 21"/>
          <p:cNvSpPr/>
          <p:nvPr/>
        </p:nvSpPr>
        <p:spPr>
          <a:xfrm>
            <a:off x="6817320" y="5553000"/>
            <a:ext cx="37929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1" name="Text 22"/>
          <p:cNvSpPr/>
          <p:nvPr/>
        </p:nvSpPr>
        <p:spPr>
          <a:xfrm>
            <a:off x="6817320" y="5812200"/>
            <a:ext cx="378504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2" name="Shape 23"/>
          <p:cNvSpPr/>
          <p:nvPr/>
        </p:nvSpPr>
        <p:spPr>
          <a:xfrm>
            <a:off x="6031080" y="146736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3" name="Shape 24"/>
          <p:cNvSpPr/>
          <p:nvPr/>
        </p:nvSpPr>
        <p:spPr>
          <a:xfrm>
            <a:off x="6031080" y="232668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5"/>
          <p:cNvSpPr/>
          <p:nvPr/>
        </p:nvSpPr>
        <p:spPr>
          <a:xfrm>
            <a:off x="6031080" y="317772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6"/>
          <p:cNvSpPr/>
          <p:nvPr/>
        </p:nvSpPr>
        <p:spPr>
          <a:xfrm>
            <a:off x="6031080" y="402084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7"/>
          <p:cNvSpPr/>
          <p:nvPr/>
        </p:nvSpPr>
        <p:spPr>
          <a:xfrm>
            <a:off x="6031080" y="486396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7" name="Shape 28"/>
          <p:cNvSpPr/>
          <p:nvPr/>
        </p:nvSpPr>
        <p:spPr>
          <a:xfrm>
            <a:off x="6031080" y="5715000"/>
            <a:ext cx="128880" cy="12888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KEY FIGURE</a:t>
            </a:r>
            <a:endParaRPr b="0" lang="en-HK" sz="1200" spc="-1" strike="noStrike">
              <a:latin typeface="Arial"/>
            </a:endParaRPr>
          </a:p>
        </p:txBody>
      </p:sp>
      <p:sp>
        <p:nvSpPr>
          <p:cNvPr id="129"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0" name="Image 0"/>
          <p:cNvSpPr/>
          <p:nvPr/>
        </p:nvSpPr>
        <p:spPr>
          <a:xfrm>
            <a:off x="380880" y="1371600"/>
            <a:ext cx="4390200" cy="3047400"/>
          </a:xfrm>
          <a:prstGeom prst="roundRect">
            <a:avLst>
              <a:gd name="adj" fmla="val 0"/>
            </a:avLst>
          </a:prstGeom>
          <a:blipFill rotWithShape="0">
            <a:blip r:embed="rId1"/>
            <a:srcRect/>
            <a:stretch/>
          </a:blipFill>
          <a:ln w="0">
            <a:noFill/>
          </a:ln>
        </p:spPr>
        <p:style>
          <a:lnRef idx="0"/>
          <a:fillRef idx="0"/>
          <a:effectRef idx="0"/>
          <a:fontRef idx="minor"/>
        </p:style>
      </p:sp>
      <p:sp>
        <p:nvSpPr>
          <p:cNvPr id="131" name="Shape 2"/>
          <p:cNvSpPr/>
          <p:nvPr/>
        </p:nvSpPr>
        <p:spPr>
          <a:xfrm>
            <a:off x="399960" y="4648320"/>
            <a:ext cx="4371120" cy="114228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2" name="Shape 3"/>
          <p:cNvSpPr/>
          <p:nvPr/>
        </p:nvSpPr>
        <p:spPr>
          <a:xfrm>
            <a:off x="399960" y="4648320"/>
            <a:ext cx="37440" cy="114228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3" name="Text 4"/>
          <p:cNvSpPr/>
          <p:nvPr/>
        </p:nvSpPr>
        <p:spPr>
          <a:xfrm>
            <a:off x="609480" y="4838760"/>
            <a:ext cx="404748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4" name="Text 5"/>
          <p:cNvSpPr/>
          <p:nvPr/>
        </p:nvSpPr>
        <p:spPr>
          <a:xfrm>
            <a:off x="609480" y="5410080"/>
            <a:ext cx="40377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5" name="Text 6"/>
          <p:cNvSpPr/>
          <p:nvPr/>
        </p:nvSpPr>
        <p:spPr>
          <a:xfrm>
            <a:off x="5074920" y="1371600"/>
            <a:ext cx="68479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6" name="Text 7"/>
          <p:cNvSpPr/>
          <p:nvPr/>
        </p:nvSpPr>
        <p:spPr>
          <a:xfrm>
            <a:off x="5074920" y="1752480"/>
            <a:ext cx="680976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7" name="Text 8"/>
          <p:cNvSpPr/>
          <p:nvPr/>
        </p:nvSpPr>
        <p:spPr>
          <a:xfrm>
            <a:off x="5074920" y="2895480"/>
            <a:ext cx="68479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8" name="Text 9"/>
          <p:cNvSpPr/>
          <p:nvPr/>
        </p:nvSpPr>
        <p:spPr>
          <a:xfrm>
            <a:off x="5074920" y="3276720"/>
            <a:ext cx="680976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39" name="Text 10"/>
          <p:cNvSpPr/>
          <p:nvPr/>
        </p:nvSpPr>
        <p:spPr>
          <a:xfrm>
            <a:off x="5074920" y="4419720"/>
            <a:ext cx="68479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0" name="Text 11"/>
          <p:cNvSpPr/>
          <p:nvPr/>
        </p:nvSpPr>
        <p:spPr>
          <a:xfrm>
            <a:off x="5074920" y="4800600"/>
            <a:ext cx="680976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 0"/>
          <p:cNvSpPr/>
          <p:nvPr/>
        </p:nvSpPr>
        <p:spPr>
          <a:xfrm>
            <a:off x="609480" y="178128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2" name="Text 1"/>
          <p:cNvSpPr/>
          <p:nvPr/>
        </p:nvSpPr>
        <p:spPr>
          <a:xfrm>
            <a:off x="609480" y="3152880"/>
            <a:ext cx="11867400" cy="1142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3" name="Shape 2"/>
          <p:cNvSpPr/>
          <p:nvPr/>
        </p:nvSpPr>
        <p:spPr>
          <a:xfrm>
            <a:off x="609480" y="452448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4" name="Text 3"/>
          <p:cNvSpPr/>
          <p:nvPr/>
        </p:nvSpPr>
        <p:spPr>
          <a:xfrm>
            <a:off x="609480" y="477216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5"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6"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7" name="Text 2"/>
          <p:cNvSpPr/>
          <p:nvPr/>
        </p:nvSpPr>
        <p:spPr>
          <a:xfrm>
            <a:off x="380880" y="1371600"/>
            <a:ext cx="5657040" cy="123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8" name="Text 3"/>
          <p:cNvSpPr/>
          <p:nvPr/>
        </p:nvSpPr>
        <p:spPr>
          <a:xfrm>
            <a:off x="380880" y="2762280"/>
            <a:ext cx="5647680" cy="83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49" name="Shape 4"/>
          <p:cNvSpPr/>
          <p:nvPr/>
        </p:nvSpPr>
        <p:spPr>
          <a:xfrm>
            <a:off x="399960" y="3750480"/>
            <a:ext cx="5542920" cy="159948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0" name="Shape 5"/>
          <p:cNvSpPr/>
          <p:nvPr/>
        </p:nvSpPr>
        <p:spPr>
          <a:xfrm>
            <a:off x="399960" y="3750480"/>
            <a:ext cx="37440" cy="159948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1" name="Text 6"/>
          <p:cNvSpPr/>
          <p:nvPr/>
        </p:nvSpPr>
        <p:spPr>
          <a:xfrm>
            <a:off x="609480" y="3940920"/>
            <a:ext cx="52380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2" name="Text 7"/>
          <p:cNvSpPr/>
          <p:nvPr/>
        </p:nvSpPr>
        <p:spPr>
          <a:xfrm>
            <a:off x="609480" y="4321800"/>
            <a:ext cx="5218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3" name="Text 8"/>
          <p:cNvSpPr/>
          <p:nvPr/>
        </p:nvSpPr>
        <p:spPr>
          <a:xfrm>
            <a:off x="609480" y="4626720"/>
            <a:ext cx="5218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4" name="Text 9"/>
          <p:cNvSpPr/>
          <p:nvPr/>
        </p:nvSpPr>
        <p:spPr>
          <a:xfrm>
            <a:off x="609480" y="4931640"/>
            <a:ext cx="5218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5" name="Shape 10"/>
          <p:cNvSpPr/>
          <p:nvPr/>
        </p:nvSpPr>
        <p:spPr>
          <a:xfrm>
            <a:off x="6253200" y="1618200"/>
            <a:ext cx="5552280" cy="348552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6" name="Text 11"/>
          <p:cNvSpPr/>
          <p:nvPr/>
        </p:nvSpPr>
        <p:spPr>
          <a:xfrm>
            <a:off x="6438960" y="1851480"/>
            <a:ext cx="5180760" cy="26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7" name="Text 12"/>
          <p:cNvSpPr/>
          <p:nvPr/>
        </p:nvSpPr>
        <p:spPr>
          <a:xfrm>
            <a:off x="6448320" y="2270520"/>
            <a:ext cx="5161680" cy="227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8" name="Table 0"/>
          <p:cNvGraphicFramePr/>
          <p:nvPr/>
        </p:nvGraphicFramePr>
        <p:xfrm>
          <a:off x="6486480" y="2651400"/>
          <a:ext cx="5085720" cy="140904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(9, 2)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(2, 10)</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(8, 8)</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59" name="Shape 13"/>
          <p:cNvSpPr/>
          <p:nvPr/>
        </p:nvSpPr>
        <p:spPr>
          <a:xfrm>
            <a:off x="6486480" y="4218480"/>
            <a:ext cx="5085720" cy="864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0" name="Text 14"/>
          <p:cNvSpPr/>
          <p:nvPr/>
        </p:nvSpPr>
        <p:spPr>
          <a:xfrm>
            <a:off x="6486480" y="4375440"/>
            <a:ext cx="516168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CORE CONCEPT</a:t>
            </a:r>
            <a:endParaRPr b="0" lang="en-HK" sz="1200" spc="-1" strike="noStrike">
              <a:latin typeface="Arial"/>
            </a:endParaRPr>
          </a:p>
        </p:txBody>
      </p:sp>
      <p:sp>
        <p:nvSpPr>
          <p:cNvPr id="162"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3" name="Text 2"/>
          <p:cNvSpPr/>
          <p:nvPr/>
        </p:nvSpPr>
        <p:spPr>
          <a:xfrm>
            <a:off x="380880" y="1419120"/>
            <a:ext cx="5496480" cy="828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4" name="Text 3"/>
          <p:cNvSpPr/>
          <p:nvPr/>
        </p:nvSpPr>
        <p:spPr>
          <a:xfrm>
            <a:off x="380880" y="2452680"/>
            <a:ext cx="5647680" cy="83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5" name="Shape 4"/>
          <p:cNvSpPr/>
          <p:nvPr/>
        </p:nvSpPr>
        <p:spPr>
          <a:xfrm>
            <a:off x="380880" y="3867120"/>
            <a:ext cx="5562000" cy="201852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6" name="Text 5"/>
          <p:cNvSpPr/>
          <p:nvPr/>
        </p:nvSpPr>
        <p:spPr>
          <a:xfrm>
            <a:off x="609480" y="4095720"/>
            <a:ext cx="519984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7" name="Text 6"/>
          <p:cNvSpPr/>
          <p:nvPr/>
        </p:nvSpPr>
        <p:spPr>
          <a:xfrm>
            <a:off x="609480" y="4476600"/>
            <a:ext cx="51807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8" name="Shape 7"/>
          <p:cNvSpPr/>
          <p:nvPr/>
        </p:nvSpPr>
        <p:spPr>
          <a:xfrm>
            <a:off x="609480" y="4838760"/>
            <a:ext cx="5104800" cy="45648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69" name="Text 8"/>
          <p:cNvSpPr/>
          <p:nvPr/>
        </p:nvSpPr>
        <p:spPr>
          <a:xfrm>
            <a:off x="609480" y="4838760"/>
            <a:ext cx="5180760" cy="456480"/>
          </a:xfrm>
          <a:prstGeom prst="rect">
            <a:avLst/>
          </a:prstGeom>
          <a:noFill/>
          <a:ln w="0">
            <a:noFill/>
          </a:ln>
        </p:spPr>
        <p:style>
          <a:lnRef idx="0"/>
          <a:fillRef idx="0"/>
          <a:effectRef idx="0"/>
          <a:fontRef idx="minor"/>
        </p:style>
        <p:txBody>
          <a:bodyPr lIns="114480" rIns="114480" tIns="457200" bIns="45720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0" name="Text 9"/>
          <p:cNvSpPr/>
          <p:nvPr/>
        </p:nvSpPr>
        <p:spPr>
          <a:xfrm>
            <a:off x="609480" y="5410080"/>
            <a:ext cx="51807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1" name="Shape 10"/>
          <p:cNvSpPr/>
          <p:nvPr/>
        </p:nvSpPr>
        <p:spPr>
          <a:xfrm>
            <a:off x="6253200" y="1376280"/>
            <a:ext cx="5552280" cy="320904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2" name="Text 11"/>
          <p:cNvSpPr/>
          <p:nvPr/>
        </p:nvSpPr>
        <p:spPr>
          <a:xfrm>
            <a:off x="6486480" y="1609560"/>
            <a:ext cx="51807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3" name="Shape 12"/>
          <p:cNvSpPr/>
          <p:nvPr/>
        </p:nvSpPr>
        <p:spPr>
          <a:xfrm>
            <a:off x="6486480" y="2028960"/>
            <a:ext cx="304200" cy="30420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4" name="Text 13"/>
          <p:cNvSpPr/>
          <p:nvPr/>
        </p:nvSpPr>
        <p:spPr>
          <a:xfrm>
            <a:off x="6453360" y="2028960"/>
            <a:ext cx="370800" cy="304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5" name="Text 14"/>
          <p:cNvSpPr/>
          <p:nvPr/>
        </p:nvSpPr>
        <p:spPr>
          <a:xfrm>
            <a:off x="6905520" y="2028960"/>
            <a:ext cx="30664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6" name="Text 15"/>
          <p:cNvSpPr/>
          <p:nvPr/>
        </p:nvSpPr>
        <p:spPr>
          <a:xfrm>
            <a:off x="6905520" y="2295360"/>
            <a:ext cx="30664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7" name="Shape 16"/>
          <p:cNvSpPr/>
          <p:nvPr/>
        </p:nvSpPr>
        <p:spPr>
          <a:xfrm>
            <a:off x="6486480" y="2638440"/>
            <a:ext cx="304200" cy="30420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8" name="Text 17"/>
          <p:cNvSpPr/>
          <p:nvPr/>
        </p:nvSpPr>
        <p:spPr>
          <a:xfrm>
            <a:off x="6453360" y="2638440"/>
            <a:ext cx="370800" cy="304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79" name="Text 18"/>
          <p:cNvSpPr/>
          <p:nvPr/>
        </p:nvSpPr>
        <p:spPr>
          <a:xfrm>
            <a:off x="6905520" y="2638440"/>
            <a:ext cx="3666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0" name="Text 19"/>
          <p:cNvSpPr/>
          <p:nvPr/>
        </p:nvSpPr>
        <p:spPr>
          <a:xfrm>
            <a:off x="6905520" y="2905200"/>
            <a:ext cx="3666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1" name="Shape 20"/>
          <p:cNvSpPr/>
          <p:nvPr/>
        </p:nvSpPr>
        <p:spPr>
          <a:xfrm>
            <a:off x="6486480" y="3247920"/>
            <a:ext cx="304200" cy="30420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2" name="Text 21"/>
          <p:cNvSpPr/>
          <p:nvPr/>
        </p:nvSpPr>
        <p:spPr>
          <a:xfrm>
            <a:off x="6453360" y="3247920"/>
            <a:ext cx="370800" cy="304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3" name="Text 22"/>
          <p:cNvSpPr/>
          <p:nvPr/>
        </p:nvSpPr>
        <p:spPr>
          <a:xfrm>
            <a:off x="6905520" y="3247920"/>
            <a:ext cx="32853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4" name="Text 23"/>
          <p:cNvSpPr/>
          <p:nvPr/>
        </p:nvSpPr>
        <p:spPr>
          <a:xfrm>
            <a:off x="6905520" y="3514680"/>
            <a:ext cx="32853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5" name="Shape 24"/>
          <p:cNvSpPr/>
          <p:nvPr/>
        </p:nvSpPr>
        <p:spPr>
          <a:xfrm>
            <a:off x="6486480" y="3857760"/>
            <a:ext cx="304200" cy="30420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6" name="Text 25"/>
          <p:cNvSpPr/>
          <p:nvPr/>
        </p:nvSpPr>
        <p:spPr>
          <a:xfrm>
            <a:off x="6453360" y="3857760"/>
            <a:ext cx="370800" cy="304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7" name="Text 26"/>
          <p:cNvSpPr/>
          <p:nvPr/>
        </p:nvSpPr>
        <p:spPr>
          <a:xfrm>
            <a:off x="6905520" y="3857760"/>
            <a:ext cx="41331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8" name="Text 27"/>
          <p:cNvSpPr/>
          <p:nvPr/>
        </p:nvSpPr>
        <p:spPr>
          <a:xfrm>
            <a:off x="6905520" y="4124160"/>
            <a:ext cx="41331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89" name="Shape 28"/>
          <p:cNvSpPr/>
          <p:nvPr/>
        </p:nvSpPr>
        <p:spPr>
          <a:xfrm>
            <a:off x="6267600" y="4743360"/>
            <a:ext cx="5542920" cy="114228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0" name="Shape 29"/>
          <p:cNvSpPr/>
          <p:nvPr/>
        </p:nvSpPr>
        <p:spPr>
          <a:xfrm>
            <a:off x="6267600" y="4743360"/>
            <a:ext cx="37440" cy="114228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1" name="Text 30"/>
          <p:cNvSpPr/>
          <p:nvPr/>
        </p:nvSpPr>
        <p:spPr>
          <a:xfrm>
            <a:off x="6477120" y="4933800"/>
            <a:ext cx="52189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2" name="Text 31"/>
          <p:cNvSpPr/>
          <p:nvPr/>
        </p:nvSpPr>
        <p:spPr>
          <a:xfrm>
            <a:off x="6477120" y="5505480"/>
            <a:ext cx="52095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3" name="Text 0"/>
          <p:cNvSpPr/>
          <p:nvPr/>
        </p:nvSpPr>
        <p:spPr>
          <a:xfrm>
            <a:off x="379440" y="379440"/>
            <a:ext cx="115081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STRATEGIC CONCEPTS</a:t>
            </a:r>
            <a:endParaRPr b="0" lang="en-HK" sz="1200" spc="-1" strike="noStrike">
              <a:latin typeface="Arial"/>
            </a:endParaRPr>
          </a:p>
        </p:txBody>
      </p:sp>
      <p:sp>
        <p:nvSpPr>
          <p:cNvPr id="194" name="Text 1"/>
          <p:cNvSpPr/>
          <p:nvPr/>
        </p:nvSpPr>
        <p:spPr>
          <a:xfrm>
            <a:off x="379440" y="683280"/>
            <a:ext cx="11660040" cy="4546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5" name="Text 2"/>
          <p:cNvSpPr/>
          <p:nvPr/>
        </p:nvSpPr>
        <p:spPr>
          <a:xfrm>
            <a:off x="379440" y="1366200"/>
            <a:ext cx="568260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6" name="Text 3"/>
          <p:cNvSpPr/>
          <p:nvPr/>
        </p:nvSpPr>
        <p:spPr>
          <a:xfrm>
            <a:off x="379440" y="1826280"/>
            <a:ext cx="5096520" cy="466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7" name="Text 4"/>
          <p:cNvSpPr/>
          <p:nvPr/>
        </p:nvSpPr>
        <p:spPr>
          <a:xfrm>
            <a:off x="379440" y="2452680"/>
            <a:ext cx="5644440" cy="739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8" name="Shape 5"/>
          <p:cNvSpPr/>
          <p:nvPr/>
        </p:nvSpPr>
        <p:spPr>
          <a:xfrm>
            <a:off x="398520" y="3306600"/>
            <a:ext cx="5549760" cy="75816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199" name="Shape 6"/>
          <p:cNvSpPr/>
          <p:nvPr/>
        </p:nvSpPr>
        <p:spPr>
          <a:xfrm>
            <a:off x="398520" y="3306600"/>
            <a:ext cx="37080" cy="75816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0" name="Text 7"/>
          <p:cNvSpPr/>
          <p:nvPr/>
        </p:nvSpPr>
        <p:spPr>
          <a:xfrm>
            <a:off x="569160" y="3458520"/>
            <a:ext cx="5303160" cy="454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1" name="Text 8"/>
          <p:cNvSpPr/>
          <p:nvPr/>
        </p:nvSpPr>
        <p:spPr>
          <a:xfrm>
            <a:off x="379440" y="4217400"/>
            <a:ext cx="568260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2" name="Text 9"/>
          <p:cNvSpPr/>
          <p:nvPr/>
        </p:nvSpPr>
        <p:spPr>
          <a:xfrm>
            <a:off x="379440" y="4635000"/>
            <a:ext cx="5644440" cy="739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3" name="Text 10"/>
          <p:cNvSpPr/>
          <p:nvPr/>
        </p:nvSpPr>
        <p:spPr>
          <a:xfrm>
            <a:off x="6249240" y="1366200"/>
            <a:ext cx="568260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4" name="Text 11"/>
          <p:cNvSpPr/>
          <p:nvPr/>
        </p:nvSpPr>
        <p:spPr>
          <a:xfrm>
            <a:off x="6249240" y="1826280"/>
            <a:ext cx="5249880" cy="466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5" name="Text 12"/>
          <p:cNvSpPr/>
          <p:nvPr/>
        </p:nvSpPr>
        <p:spPr>
          <a:xfrm>
            <a:off x="6249240" y="2452680"/>
            <a:ext cx="5644440" cy="739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6" name="Shape 13"/>
          <p:cNvSpPr/>
          <p:nvPr/>
        </p:nvSpPr>
        <p:spPr>
          <a:xfrm>
            <a:off x="6249240" y="3344400"/>
            <a:ext cx="5568840" cy="218160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7" name="Text 14"/>
          <p:cNvSpPr/>
          <p:nvPr/>
        </p:nvSpPr>
        <p:spPr>
          <a:xfrm>
            <a:off x="6438960" y="3534120"/>
            <a:ext cx="5284080" cy="264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8" name="Text 15"/>
          <p:cNvSpPr/>
          <p:nvPr/>
        </p:nvSpPr>
        <p:spPr>
          <a:xfrm>
            <a:off x="6438960" y="3913920"/>
            <a:ext cx="5265000" cy="245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09" name="Shape 16"/>
          <p:cNvSpPr/>
          <p:nvPr/>
        </p:nvSpPr>
        <p:spPr>
          <a:xfrm>
            <a:off x="6438960" y="4274280"/>
            <a:ext cx="5189040" cy="45468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0" name="Text 17"/>
          <p:cNvSpPr/>
          <p:nvPr/>
        </p:nvSpPr>
        <p:spPr>
          <a:xfrm>
            <a:off x="6438960" y="4274280"/>
            <a:ext cx="5265000" cy="454680"/>
          </a:xfrm>
          <a:prstGeom prst="rect">
            <a:avLst/>
          </a:prstGeom>
          <a:noFill/>
          <a:ln w="0">
            <a:noFill/>
          </a:ln>
        </p:spPr>
        <p:style>
          <a:lnRef idx="0"/>
          <a:fillRef idx="0"/>
          <a:effectRef idx="0"/>
          <a:fontRef idx="minor"/>
        </p:style>
        <p:txBody>
          <a:bodyPr lIns="113760" rIns="113760" tIns="113760" bIns="11376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1" name="Text 18"/>
          <p:cNvSpPr/>
          <p:nvPr/>
        </p:nvSpPr>
        <p:spPr>
          <a:xfrm>
            <a:off x="6438960" y="4843440"/>
            <a:ext cx="5265000" cy="492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2" name="Shape 19"/>
          <p:cNvSpPr/>
          <p:nvPr/>
        </p:nvSpPr>
        <p:spPr>
          <a:xfrm>
            <a:off x="6268320" y="5678640"/>
            <a:ext cx="5549760" cy="79632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3" name="Shape 20"/>
          <p:cNvSpPr/>
          <p:nvPr/>
        </p:nvSpPr>
        <p:spPr>
          <a:xfrm>
            <a:off x="6268320" y="5678640"/>
            <a:ext cx="37080" cy="79632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4" name="Text 21"/>
          <p:cNvSpPr/>
          <p:nvPr/>
        </p:nvSpPr>
        <p:spPr>
          <a:xfrm>
            <a:off x="6438960" y="5830200"/>
            <a:ext cx="5303160" cy="492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5" name="Text 0"/>
          <p:cNvSpPr/>
          <p:nvPr/>
        </p:nvSpPr>
        <p:spPr>
          <a:xfrm>
            <a:off x="609480" y="206676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6" name="Text 1"/>
          <p:cNvSpPr/>
          <p:nvPr/>
        </p:nvSpPr>
        <p:spPr>
          <a:xfrm>
            <a:off x="609480" y="3438360"/>
            <a:ext cx="1186740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7" name="Shape 2"/>
          <p:cNvSpPr/>
          <p:nvPr/>
        </p:nvSpPr>
        <p:spPr>
          <a:xfrm>
            <a:off x="609480" y="423864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8" name="Text 3"/>
          <p:cNvSpPr/>
          <p:nvPr/>
        </p:nvSpPr>
        <p:spPr>
          <a:xfrm>
            <a:off x="609480" y="448632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 name="Text 0"/>
          <p:cNvSpPr/>
          <p:nvPr/>
        </p:nvSpPr>
        <p:spPr>
          <a:xfrm>
            <a:off x="356400" y="356400"/>
            <a:ext cx="11550240" cy="213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52" strike="noStrike">
                <a:solidFill>
                  <a:srgbClr val="0984e3"/>
                </a:solidFill>
                <a:latin typeface="Quattrocento Sans"/>
                <a:ea typeface="Quattrocento Sans"/>
              </a:rPr>
              <a:t>CLASSIFICATION FRAMEWORK</a:t>
            </a:r>
            <a:endParaRPr b="0" lang="en-HK" sz="1120" spc="-1" strike="noStrike">
              <a:latin typeface="Arial"/>
            </a:endParaRPr>
          </a:p>
        </p:txBody>
      </p:sp>
      <p:sp>
        <p:nvSpPr>
          <p:cNvPr id="220" name="Text 1"/>
          <p:cNvSpPr/>
          <p:nvPr/>
        </p:nvSpPr>
        <p:spPr>
          <a:xfrm>
            <a:off x="356400" y="641160"/>
            <a:ext cx="11692440" cy="426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1" name="Shape 2"/>
          <p:cNvSpPr/>
          <p:nvPr/>
        </p:nvSpPr>
        <p:spPr>
          <a:xfrm>
            <a:off x="360720" y="1287000"/>
            <a:ext cx="3695040" cy="262656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2" name="Shape 3"/>
          <p:cNvSpPr/>
          <p:nvPr/>
        </p:nvSpPr>
        <p:spPr>
          <a:xfrm>
            <a:off x="543240" y="146952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3" name="Shape 4"/>
          <p:cNvSpPr/>
          <p:nvPr/>
        </p:nvSpPr>
        <p:spPr>
          <a:xfrm>
            <a:off x="656640" y="1594080"/>
            <a:ext cx="199800" cy="17748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4" name="Text 5"/>
          <p:cNvSpPr/>
          <p:nvPr/>
        </p:nvSpPr>
        <p:spPr>
          <a:xfrm>
            <a:off x="1077480" y="1558440"/>
            <a:ext cx="234144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5" name="Text 6"/>
          <p:cNvSpPr/>
          <p:nvPr/>
        </p:nvSpPr>
        <p:spPr>
          <a:xfrm>
            <a:off x="543240" y="200376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6" name="Text 7"/>
          <p:cNvSpPr/>
          <p:nvPr/>
        </p:nvSpPr>
        <p:spPr>
          <a:xfrm>
            <a:off x="543240" y="2805480"/>
            <a:ext cx="3401280" cy="925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7" name="Shape 8"/>
          <p:cNvSpPr/>
          <p:nvPr/>
        </p:nvSpPr>
        <p:spPr>
          <a:xfrm>
            <a:off x="4246200" y="1287000"/>
            <a:ext cx="3695040" cy="262656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8" name="Shape 9"/>
          <p:cNvSpPr/>
          <p:nvPr/>
        </p:nvSpPr>
        <p:spPr>
          <a:xfrm>
            <a:off x="4428720" y="146952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9" name="Shape 10"/>
          <p:cNvSpPr/>
          <p:nvPr/>
        </p:nvSpPr>
        <p:spPr>
          <a:xfrm>
            <a:off x="4542120" y="1594080"/>
            <a:ext cx="199800" cy="17748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0" name="Text 11"/>
          <p:cNvSpPr/>
          <p:nvPr/>
        </p:nvSpPr>
        <p:spPr>
          <a:xfrm>
            <a:off x="4962960" y="1558440"/>
            <a:ext cx="243072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1" name="Text 12"/>
          <p:cNvSpPr/>
          <p:nvPr/>
        </p:nvSpPr>
        <p:spPr>
          <a:xfrm>
            <a:off x="4428720" y="200376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2" name="Text 13"/>
          <p:cNvSpPr/>
          <p:nvPr/>
        </p:nvSpPr>
        <p:spPr>
          <a:xfrm>
            <a:off x="4428720" y="280548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3" name="Shape 14"/>
          <p:cNvSpPr/>
          <p:nvPr/>
        </p:nvSpPr>
        <p:spPr>
          <a:xfrm>
            <a:off x="8131680" y="1287000"/>
            <a:ext cx="3695040" cy="262656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4" name="Shape 15"/>
          <p:cNvSpPr/>
          <p:nvPr/>
        </p:nvSpPr>
        <p:spPr>
          <a:xfrm>
            <a:off x="8314200" y="146952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5" name="Shape 16"/>
          <p:cNvSpPr/>
          <p:nvPr/>
        </p:nvSpPr>
        <p:spPr>
          <a:xfrm>
            <a:off x="8439120" y="1594080"/>
            <a:ext cx="177480" cy="17748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6" name="Text 17"/>
          <p:cNvSpPr/>
          <p:nvPr/>
        </p:nvSpPr>
        <p:spPr>
          <a:xfrm>
            <a:off x="8848800" y="1558440"/>
            <a:ext cx="203868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7" name="Text 18"/>
          <p:cNvSpPr/>
          <p:nvPr/>
        </p:nvSpPr>
        <p:spPr>
          <a:xfrm>
            <a:off x="8314200" y="200376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8" name="Text 19"/>
          <p:cNvSpPr/>
          <p:nvPr/>
        </p:nvSpPr>
        <p:spPr>
          <a:xfrm>
            <a:off x="8314200" y="280548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39" name="Shape 20"/>
          <p:cNvSpPr/>
          <p:nvPr/>
        </p:nvSpPr>
        <p:spPr>
          <a:xfrm>
            <a:off x="360720" y="4101120"/>
            <a:ext cx="3695040" cy="239508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0" name="Shape 21"/>
          <p:cNvSpPr/>
          <p:nvPr/>
        </p:nvSpPr>
        <p:spPr>
          <a:xfrm>
            <a:off x="543240" y="428364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1" name="Shape 22"/>
          <p:cNvSpPr/>
          <p:nvPr/>
        </p:nvSpPr>
        <p:spPr>
          <a:xfrm>
            <a:off x="645840" y="4408200"/>
            <a:ext cx="221760" cy="17748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2" name="Text 23"/>
          <p:cNvSpPr/>
          <p:nvPr/>
        </p:nvSpPr>
        <p:spPr>
          <a:xfrm>
            <a:off x="1077480" y="4372560"/>
            <a:ext cx="193176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3" name="Text 24"/>
          <p:cNvSpPr/>
          <p:nvPr/>
        </p:nvSpPr>
        <p:spPr>
          <a:xfrm>
            <a:off x="543240" y="481788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4" name="Text 25"/>
          <p:cNvSpPr/>
          <p:nvPr/>
        </p:nvSpPr>
        <p:spPr>
          <a:xfrm>
            <a:off x="543240" y="5619600"/>
            <a:ext cx="340128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5" name="Shape 26"/>
          <p:cNvSpPr/>
          <p:nvPr/>
        </p:nvSpPr>
        <p:spPr>
          <a:xfrm>
            <a:off x="4246200" y="4101120"/>
            <a:ext cx="7587000" cy="239508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6" name="Shape 27"/>
          <p:cNvSpPr/>
          <p:nvPr/>
        </p:nvSpPr>
        <p:spPr>
          <a:xfrm>
            <a:off x="4428720" y="4283640"/>
            <a:ext cx="426600" cy="42660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7" name="Shape 28"/>
          <p:cNvSpPr/>
          <p:nvPr/>
        </p:nvSpPr>
        <p:spPr>
          <a:xfrm>
            <a:off x="4553280" y="4408200"/>
            <a:ext cx="177480" cy="17748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8" name="Text 29"/>
          <p:cNvSpPr/>
          <p:nvPr/>
        </p:nvSpPr>
        <p:spPr>
          <a:xfrm>
            <a:off x="4962960" y="4372560"/>
            <a:ext cx="2047680" cy="24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49" name="Text 30"/>
          <p:cNvSpPr/>
          <p:nvPr/>
        </p:nvSpPr>
        <p:spPr>
          <a:xfrm>
            <a:off x="4428720" y="4817880"/>
            <a:ext cx="360612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0" name="Text 31"/>
          <p:cNvSpPr/>
          <p:nvPr/>
        </p:nvSpPr>
        <p:spPr>
          <a:xfrm>
            <a:off x="4428720" y="5583960"/>
            <a:ext cx="3606120" cy="46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1" name="Text 32"/>
          <p:cNvSpPr/>
          <p:nvPr/>
        </p:nvSpPr>
        <p:spPr>
          <a:xfrm>
            <a:off x="8109360" y="4817880"/>
            <a:ext cx="3606120" cy="694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2" name="Text 33"/>
          <p:cNvSpPr/>
          <p:nvPr/>
        </p:nvSpPr>
        <p:spPr>
          <a:xfrm>
            <a:off x="8109360" y="5583960"/>
            <a:ext cx="3606120" cy="46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3" name="Text 0"/>
          <p:cNvSpPr/>
          <p:nvPr/>
        </p:nvSpPr>
        <p:spPr>
          <a:xfrm>
            <a:off x="609480" y="206676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4" name="Text 1"/>
          <p:cNvSpPr/>
          <p:nvPr/>
        </p:nvSpPr>
        <p:spPr>
          <a:xfrm>
            <a:off x="609480" y="3438360"/>
            <a:ext cx="1186740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5" name="Shape 2"/>
          <p:cNvSpPr/>
          <p:nvPr/>
        </p:nvSpPr>
        <p:spPr>
          <a:xfrm>
            <a:off x="609480" y="423864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6" name="Text 3"/>
          <p:cNvSpPr/>
          <p:nvPr/>
        </p:nvSpPr>
        <p:spPr>
          <a:xfrm>
            <a:off x="609480" y="448632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CLASSIC EXAMPLE</a:t>
            </a:r>
            <a:endParaRPr b="0" lang="en-HK" sz="1200" spc="-1" strike="noStrike">
              <a:latin typeface="Arial"/>
            </a:endParaRPr>
          </a:p>
        </p:txBody>
      </p:sp>
      <p:sp>
        <p:nvSpPr>
          <p:cNvPr id="258"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59" name="Text 2"/>
          <p:cNvSpPr/>
          <p:nvPr/>
        </p:nvSpPr>
        <p:spPr>
          <a:xfrm>
            <a:off x="380880" y="1295280"/>
            <a:ext cx="5657040" cy="123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0" name="Text 3"/>
          <p:cNvSpPr/>
          <p:nvPr/>
        </p:nvSpPr>
        <p:spPr>
          <a:xfrm>
            <a:off x="380880" y="2647800"/>
            <a:ext cx="563796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1" name="Shape 4"/>
          <p:cNvSpPr/>
          <p:nvPr/>
        </p:nvSpPr>
        <p:spPr>
          <a:xfrm>
            <a:off x="385920" y="3548160"/>
            <a:ext cx="5552280" cy="202824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2" name="Text 5"/>
          <p:cNvSpPr/>
          <p:nvPr/>
        </p:nvSpPr>
        <p:spPr>
          <a:xfrm>
            <a:off x="495360" y="3705120"/>
            <a:ext cx="5333400" cy="26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3" name="Table 0"/>
          <p:cNvGraphicFramePr/>
          <p:nvPr/>
        </p:nvGraphicFramePr>
        <p:xfrm>
          <a:off x="542880" y="4086360"/>
          <a:ext cx="5238000" cy="106596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4" name="Text 6"/>
          <p:cNvSpPr/>
          <p:nvPr/>
        </p:nvSpPr>
        <p:spPr>
          <a:xfrm>
            <a:off x="509760" y="5229360"/>
            <a:ext cx="5304600" cy="189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5" name="Shape 7"/>
          <p:cNvSpPr/>
          <p:nvPr/>
        </p:nvSpPr>
        <p:spPr>
          <a:xfrm>
            <a:off x="6253200" y="1300320"/>
            <a:ext cx="5552280" cy="160884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6" name="Text 8"/>
          <p:cNvSpPr/>
          <p:nvPr/>
        </p:nvSpPr>
        <p:spPr>
          <a:xfrm>
            <a:off x="6448320" y="1495440"/>
            <a:ext cx="525708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7" name="Text 9"/>
          <p:cNvSpPr/>
          <p:nvPr/>
        </p:nvSpPr>
        <p:spPr>
          <a:xfrm>
            <a:off x="6448320" y="1876320"/>
            <a:ext cx="52380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8" name="Text 10"/>
          <p:cNvSpPr/>
          <p:nvPr/>
        </p:nvSpPr>
        <p:spPr>
          <a:xfrm>
            <a:off x="6448320" y="2181240"/>
            <a:ext cx="52380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69" name="Text 11"/>
          <p:cNvSpPr/>
          <p:nvPr/>
        </p:nvSpPr>
        <p:spPr>
          <a:xfrm>
            <a:off x="6448320" y="2486160"/>
            <a:ext cx="52380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0" name="Shape 12"/>
          <p:cNvSpPr/>
          <p:nvPr/>
        </p:nvSpPr>
        <p:spPr>
          <a:xfrm>
            <a:off x="6267600" y="3067200"/>
            <a:ext cx="5542920" cy="213300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1" name="Shape 13"/>
          <p:cNvSpPr/>
          <p:nvPr/>
        </p:nvSpPr>
        <p:spPr>
          <a:xfrm>
            <a:off x="6267600" y="3067200"/>
            <a:ext cx="37440" cy="213300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2" name="Text 14"/>
          <p:cNvSpPr/>
          <p:nvPr/>
        </p:nvSpPr>
        <p:spPr>
          <a:xfrm>
            <a:off x="6477120" y="3257640"/>
            <a:ext cx="52380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3" name="Shape 15"/>
          <p:cNvSpPr/>
          <p:nvPr/>
        </p:nvSpPr>
        <p:spPr>
          <a:xfrm>
            <a:off x="6496200" y="3672000"/>
            <a:ext cx="151560" cy="15156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4" name="Text 16"/>
          <p:cNvSpPr/>
          <p:nvPr/>
        </p:nvSpPr>
        <p:spPr>
          <a:xfrm>
            <a:off x="6724800" y="3638520"/>
            <a:ext cx="497124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5" name="Shape 17"/>
          <p:cNvSpPr/>
          <p:nvPr/>
        </p:nvSpPr>
        <p:spPr>
          <a:xfrm>
            <a:off x="6496200" y="4205160"/>
            <a:ext cx="151560" cy="15156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6" name="Text 18"/>
          <p:cNvSpPr/>
          <p:nvPr/>
        </p:nvSpPr>
        <p:spPr>
          <a:xfrm>
            <a:off x="6724800" y="4172040"/>
            <a:ext cx="4971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7" name="Shape 19"/>
          <p:cNvSpPr/>
          <p:nvPr/>
        </p:nvSpPr>
        <p:spPr>
          <a:xfrm>
            <a:off x="6515280" y="4510080"/>
            <a:ext cx="113760" cy="15156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8" name="Text 20"/>
          <p:cNvSpPr/>
          <p:nvPr/>
        </p:nvSpPr>
        <p:spPr>
          <a:xfrm>
            <a:off x="6724800" y="4476600"/>
            <a:ext cx="4971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79" name="Shape 21"/>
          <p:cNvSpPr/>
          <p:nvPr/>
        </p:nvSpPr>
        <p:spPr>
          <a:xfrm>
            <a:off x="6486480" y="4815000"/>
            <a:ext cx="170640" cy="15156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0" name="Text 22"/>
          <p:cNvSpPr/>
          <p:nvPr/>
        </p:nvSpPr>
        <p:spPr>
          <a:xfrm>
            <a:off x="6724800" y="4781520"/>
            <a:ext cx="4971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1" name="Text 0"/>
          <p:cNvSpPr/>
          <p:nvPr/>
        </p:nvSpPr>
        <p:spPr>
          <a:xfrm>
            <a:off x="358560" y="358560"/>
            <a:ext cx="11545920" cy="21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52"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2" name="Text 1"/>
          <p:cNvSpPr/>
          <p:nvPr/>
        </p:nvSpPr>
        <p:spPr>
          <a:xfrm>
            <a:off x="358560" y="645480"/>
            <a:ext cx="11689200" cy="429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3" name="Text 2"/>
          <p:cNvSpPr/>
          <p:nvPr/>
        </p:nvSpPr>
        <p:spPr>
          <a:xfrm>
            <a:off x="358560" y="1290960"/>
            <a:ext cx="5700960" cy="286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4" name="Text 3"/>
          <p:cNvSpPr/>
          <p:nvPr/>
        </p:nvSpPr>
        <p:spPr>
          <a:xfrm>
            <a:off x="358560" y="1725840"/>
            <a:ext cx="5473800" cy="440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5" name="Text 4"/>
          <p:cNvSpPr/>
          <p:nvPr/>
        </p:nvSpPr>
        <p:spPr>
          <a:xfrm>
            <a:off x="358560" y="2317320"/>
            <a:ext cx="5664960" cy="465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6" name="Shape 5"/>
          <p:cNvSpPr/>
          <p:nvPr/>
        </p:nvSpPr>
        <p:spPr>
          <a:xfrm>
            <a:off x="363240" y="2931480"/>
            <a:ext cx="5584320" cy="187308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7" name="Text 6"/>
          <p:cNvSpPr/>
          <p:nvPr/>
        </p:nvSpPr>
        <p:spPr>
          <a:xfrm>
            <a:off x="470520" y="3079440"/>
            <a:ext cx="5369040" cy="250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8" name="Table 0"/>
          <p:cNvGraphicFramePr/>
          <p:nvPr/>
        </p:nvGraphicFramePr>
        <p:xfrm>
          <a:off x="510840" y="3402000"/>
          <a:ext cx="5288400" cy="100332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89" name="Text 7"/>
          <p:cNvSpPr/>
          <p:nvPr/>
        </p:nvSpPr>
        <p:spPr>
          <a:xfrm>
            <a:off x="479520" y="4478040"/>
            <a:ext cx="5351040" cy="178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0" name="Shape 8"/>
          <p:cNvSpPr/>
          <p:nvPr/>
        </p:nvSpPr>
        <p:spPr>
          <a:xfrm>
            <a:off x="376560" y="4952880"/>
            <a:ext cx="5575320" cy="75240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1" name="Shape 9"/>
          <p:cNvSpPr/>
          <p:nvPr/>
        </p:nvSpPr>
        <p:spPr>
          <a:xfrm>
            <a:off x="376560" y="4952880"/>
            <a:ext cx="35280" cy="75240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2" name="Text 10"/>
          <p:cNvSpPr/>
          <p:nvPr/>
        </p:nvSpPr>
        <p:spPr>
          <a:xfrm>
            <a:off x="537840" y="5096520"/>
            <a:ext cx="5342400" cy="465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3" name="Text 11"/>
          <p:cNvSpPr/>
          <p:nvPr/>
        </p:nvSpPr>
        <p:spPr>
          <a:xfrm>
            <a:off x="6239520" y="1290960"/>
            <a:ext cx="5700960" cy="286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4" name="Text 12"/>
          <p:cNvSpPr/>
          <p:nvPr/>
        </p:nvSpPr>
        <p:spPr>
          <a:xfrm>
            <a:off x="6239520" y="1685520"/>
            <a:ext cx="5673960" cy="528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5" name="Text 13"/>
          <p:cNvSpPr/>
          <p:nvPr/>
        </p:nvSpPr>
        <p:spPr>
          <a:xfrm>
            <a:off x="6239520" y="2317320"/>
            <a:ext cx="5664960" cy="698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6" name="Shape 14"/>
          <p:cNvSpPr/>
          <p:nvPr/>
        </p:nvSpPr>
        <p:spPr>
          <a:xfrm>
            <a:off x="6243840" y="3164400"/>
            <a:ext cx="5584320" cy="187308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7" name="Text 15"/>
          <p:cNvSpPr/>
          <p:nvPr/>
        </p:nvSpPr>
        <p:spPr>
          <a:xfrm>
            <a:off x="6351480" y="3312360"/>
            <a:ext cx="5369040" cy="2502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8" name="Table 1"/>
          <p:cNvGraphicFramePr/>
          <p:nvPr/>
        </p:nvGraphicFramePr>
        <p:xfrm>
          <a:off x="6391800" y="3635280"/>
          <a:ext cx="5288400" cy="100332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299" name="Text 16"/>
          <p:cNvSpPr/>
          <p:nvPr/>
        </p:nvSpPr>
        <p:spPr>
          <a:xfrm>
            <a:off x="6360480" y="4710960"/>
            <a:ext cx="5351040" cy="178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0" name="Shape 17"/>
          <p:cNvSpPr/>
          <p:nvPr/>
        </p:nvSpPr>
        <p:spPr>
          <a:xfrm>
            <a:off x="6239520" y="5186160"/>
            <a:ext cx="5593320" cy="130824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1" name="Text 18"/>
          <p:cNvSpPr/>
          <p:nvPr/>
        </p:nvSpPr>
        <p:spPr>
          <a:xfrm>
            <a:off x="6382800" y="5329440"/>
            <a:ext cx="5387040" cy="250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2" name="Text 19"/>
          <p:cNvSpPr/>
          <p:nvPr/>
        </p:nvSpPr>
        <p:spPr>
          <a:xfrm>
            <a:off x="6382800" y="5652360"/>
            <a:ext cx="5378040" cy="698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609480" y="1781280"/>
            <a:ext cx="12191400" cy="1218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4" name="Text 1"/>
          <p:cNvSpPr/>
          <p:nvPr/>
        </p:nvSpPr>
        <p:spPr>
          <a:xfrm>
            <a:off x="609480" y="3152880"/>
            <a:ext cx="11867400" cy="1142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5" name="Shape 2"/>
          <p:cNvSpPr/>
          <p:nvPr/>
        </p:nvSpPr>
        <p:spPr>
          <a:xfrm>
            <a:off x="609480" y="452448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6" name="Text 3"/>
          <p:cNvSpPr/>
          <p:nvPr/>
        </p:nvSpPr>
        <p:spPr>
          <a:xfrm>
            <a:off x="609480" y="4772160"/>
            <a:ext cx="1169604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7"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5" strike="noStrike">
                <a:solidFill>
                  <a:srgbClr val="0984e3"/>
                </a:solidFill>
                <a:latin typeface="Quattrocento Sans"/>
                <a:ea typeface="Quattrocento Sans"/>
              </a:rPr>
              <a:t>APPLICATION DOMAIN</a:t>
            </a:r>
            <a:endParaRPr b="0" lang="en-HK" sz="1200" spc="-1" strike="noStrike">
              <a:latin typeface="Arial"/>
            </a:endParaRPr>
          </a:p>
        </p:txBody>
      </p:sp>
      <p:sp>
        <p:nvSpPr>
          <p:cNvPr id="308" name="Text 1"/>
          <p:cNvSpPr/>
          <p:nvPr/>
        </p:nvSpPr>
        <p:spPr>
          <a:xfrm>
            <a:off x="380880" y="68580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Economics &amp; Business Strategy</a:t>
            </a:r>
            <a:endParaRPr b="0" lang="en-HK" sz="3600" spc="-1" strike="noStrike">
              <a:latin typeface="Arial"/>
            </a:endParaRPr>
          </a:p>
        </p:txBody>
      </p:sp>
      <p:sp>
        <p:nvSpPr>
          <p:cNvPr id="309" name="Text 2"/>
          <p:cNvSpPr/>
          <p:nvPr/>
        </p:nvSpPr>
        <p:spPr>
          <a:xfrm>
            <a:off x="380880" y="1295280"/>
            <a:ext cx="764784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revolutionized economics by providing rigorous tools to model strategic interactions among firms, consumers, and market participants.</a:t>
            </a:r>
            <a:r>
              <a:rPr b="0" lang="en-US" sz="1500" spc="-1" strike="noStrike">
                <a:solidFill>
                  <a:srgbClr val="1e272e"/>
                </a:solidFill>
                <a:latin typeface="Quattrocento Sans"/>
                <a:ea typeface="Quattrocento Sans"/>
              </a:rPr>
              <a:t> It enables prediction of competitor behavior and optimization of strategic decisions.</a:t>
            </a:r>
            <a:endParaRPr b="0" lang="en-HK" sz="1500" spc="-1" strike="noStrike">
              <a:latin typeface="Arial"/>
            </a:endParaRPr>
          </a:p>
        </p:txBody>
      </p:sp>
      <p:sp>
        <p:nvSpPr>
          <p:cNvPr id="310" name="Shape 3"/>
          <p:cNvSpPr/>
          <p:nvPr/>
        </p:nvSpPr>
        <p:spPr>
          <a:xfrm>
            <a:off x="385920" y="2381400"/>
            <a:ext cx="3695040" cy="172332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1" name="Text 4"/>
          <p:cNvSpPr/>
          <p:nvPr/>
        </p:nvSpPr>
        <p:spPr>
          <a:xfrm>
            <a:off x="542880" y="2538360"/>
            <a:ext cx="34758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Oligopoly Competition</a:t>
            </a:r>
            <a:endParaRPr b="0" lang="en-HK" sz="1500" spc="-1" strike="noStrike">
              <a:latin typeface="Arial"/>
            </a:endParaRPr>
          </a:p>
        </p:txBody>
      </p:sp>
      <p:sp>
        <p:nvSpPr>
          <p:cNvPr id="312" name="Text 5"/>
          <p:cNvSpPr/>
          <p:nvPr/>
        </p:nvSpPr>
        <p:spPr>
          <a:xfrm>
            <a:off x="542880" y="2881440"/>
            <a:ext cx="34567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Cournot Model:</a:t>
            </a:r>
            <a:r>
              <a:rPr b="0" lang="en-US" sz="1200" spc="-1" strike="noStrike">
                <a:solidFill>
                  <a:srgbClr val="636e72"/>
                </a:solidFill>
                <a:latin typeface="Quattrocento Sans"/>
                <a:ea typeface="Quattrocento Sans"/>
              </a:rPr>
              <a:t> Firms compete by choosing quantities simultaneously.</a:t>
            </a:r>
            <a:endParaRPr b="0" lang="en-HK" sz="1200" spc="-1" strike="noStrike">
              <a:latin typeface="Arial"/>
            </a:endParaRPr>
          </a:p>
        </p:txBody>
      </p:sp>
      <p:sp>
        <p:nvSpPr>
          <p:cNvPr id="313" name="Text 6"/>
          <p:cNvSpPr/>
          <p:nvPr/>
        </p:nvSpPr>
        <p:spPr>
          <a:xfrm>
            <a:off x="542880" y="3452760"/>
            <a:ext cx="34567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Bertrand Model:</a:t>
            </a:r>
            <a:r>
              <a:rPr b="0" lang="en-US" sz="1200" spc="-1" strike="noStrike">
                <a:solidFill>
                  <a:srgbClr val="636e72"/>
                </a:solidFill>
                <a:latin typeface="Quattrocento Sans"/>
                <a:ea typeface="Quattrocento Sans"/>
              </a:rPr>
              <a:t> Firms compete by setting prices, undercutting rivals.</a:t>
            </a:r>
            <a:endParaRPr b="0" lang="en-HK" sz="1200" spc="-1" strike="noStrike">
              <a:latin typeface="Arial"/>
            </a:endParaRPr>
          </a:p>
        </p:txBody>
      </p:sp>
      <p:sp>
        <p:nvSpPr>
          <p:cNvPr id="314" name="Shape 7"/>
          <p:cNvSpPr/>
          <p:nvPr/>
        </p:nvSpPr>
        <p:spPr>
          <a:xfrm>
            <a:off x="4240080" y="2381400"/>
            <a:ext cx="3695040" cy="172332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5" name="Text 8"/>
          <p:cNvSpPr/>
          <p:nvPr/>
        </p:nvSpPr>
        <p:spPr>
          <a:xfrm>
            <a:off x="4397400" y="2538360"/>
            <a:ext cx="34758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Auction Design</a:t>
            </a:r>
            <a:endParaRPr b="0" lang="en-HK" sz="1500" spc="-1" strike="noStrike">
              <a:latin typeface="Arial"/>
            </a:endParaRPr>
          </a:p>
        </p:txBody>
      </p:sp>
      <p:sp>
        <p:nvSpPr>
          <p:cNvPr id="316" name="Text 9"/>
          <p:cNvSpPr/>
          <p:nvPr/>
        </p:nvSpPr>
        <p:spPr>
          <a:xfrm>
            <a:off x="4397400" y="2881440"/>
            <a:ext cx="34567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Mechanism Design:</a:t>
            </a:r>
            <a:r>
              <a:rPr b="0" lang="en-US" sz="1200" spc="-1" strike="noStrike">
                <a:solidFill>
                  <a:srgbClr val="636e72"/>
                </a:solidFill>
                <a:latin typeface="Quattrocento Sans"/>
                <a:ea typeface="Quattrocento Sans"/>
              </a:rPr>
              <a:t> Creating rules to achieve efficient outcomes.</a:t>
            </a:r>
            <a:endParaRPr b="0" lang="en-HK" sz="1200" spc="-1" strike="noStrike">
              <a:latin typeface="Arial"/>
            </a:endParaRPr>
          </a:p>
        </p:txBody>
      </p:sp>
      <p:sp>
        <p:nvSpPr>
          <p:cNvPr id="317" name="Text 10"/>
          <p:cNvSpPr/>
          <p:nvPr/>
        </p:nvSpPr>
        <p:spPr>
          <a:xfrm>
            <a:off x="4397400" y="3452760"/>
            <a:ext cx="345672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Bidding Strategies:</a:t>
            </a:r>
            <a:r>
              <a:rPr b="0" lang="en-US" sz="1200" spc="-1" strike="noStrike">
                <a:solidFill>
                  <a:srgbClr val="636e72"/>
                </a:solidFill>
                <a:latin typeface="Quattrocento Sans"/>
                <a:ea typeface="Quattrocento Sans"/>
              </a:rPr>
              <a:t> Analyzing optimal behavior in different auction formats.</a:t>
            </a:r>
            <a:endParaRPr b="0" lang="en-HK" sz="1200" spc="-1" strike="noStrike">
              <a:latin typeface="Arial"/>
            </a:endParaRPr>
          </a:p>
        </p:txBody>
      </p:sp>
      <p:sp>
        <p:nvSpPr>
          <p:cNvPr id="318" name="Shape 11"/>
          <p:cNvSpPr/>
          <p:nvPr/>
        </p:nvSpPr>
        <p:spPr>
          <a:xfrm>
            <a:off x="399960" y="4262400"/>
            <a:ext cx="7533720" cy="1637640"/>
          </a:xfrm>
          <a:custGeom>
            <a:avLst/>
            <a:gdLst/>
            <a:ahLst/>
            <a:rect l="l" t="t" r="r" b="b"/>
            <a:pathLst>
              <a:path w="7534275" h="1638300">
                <a:moveTo>
                  <a:pt x="0" y="0"/>
                </a:moveTo>
                <a:lnTo>
                  <a:pt x="7534275" y="0"/>
                </a:lnTo>
                <a:lnTo>
                  <a:pt x="7534275" y="1638300"/>
                </a:lnTo>
                <a:lnTo>
                  <a:pt x="0" y="1638300"/>
                </a:lnTo>
                <a:lnTo>
                  <a:pt x="0" y="0"/>
                </a:lnTo>
                <a:close/>
              </a:path>
            </a:pathLst>
          </a:custGeom>
          <a:solidFill>
            <a:srgbClr val="f8f9fa"/>
          </a:solidFill>
          <a:ln w="0">
            <a:noFill/>
          </a:ln>
        </p:spPr>
        <p:style>
          <a:lnRef idx="0"/>
          <a:fillRef idx="0"/>
          <a:effectRef idx="0"/>
          <a:fontRef idx="minor"/>
        </p:style>
      </p:sp>
      <p:sp>
        <p:nvSpPr>
          <p:cNvPr id="319" name="Shape 12"/>
          <p:cNvSpPr/>
          <p:nvPr/>
        </p:nvSpPr>
        <p:spPr>
          <a:xfrm>
            <a:off x="399960" y="4262400"/>
            <a:ext cx="37440" cy="1637640"/>
          </a:xfrm>
          <a:custGeom>
            <a:avLst/>
            <a:gdLst/>
            <a:ahLst/>
            <a:rect l="l" t="t" r="r" b="b"/>
            <a:pathLst>
              <a:path w="38100" h="1638300">
                <a:moveTo>
                  <a:pt x="0" y="0"/>
                </a:moveTo>
                <a:lnTo>
                  <a:pt x="38100" y="0"/>
                </a:lnTo>
                <a:lnTo>
                  <a:pt x="38100" y="1638300"/>
                </a:lnTo>
                <a:lnTo>
                  <a:pt x="0" y="1638300"/>
                </a:lnTo>
                <a:lnTo>
                  <a:pt x="0" y="0"/>
                </a:lnTo>
                <a:close/>
              </a:path>
            </a:pathLst>
          </a:custGeom>
          <a:solidFill>
            <a:srgbClr val="0984e3"/>
          </a:solidFill>
          <a:ln w="0">
            <a:noFill/>
          </a:ln>
        </p:spPr>
        <p:style>
          <a:lnRef idx="0"/>
          <a:fillRef idx="0"/>
          <a:effectRef idx="0"/>
          <a:fontRef idx="minor"/>
        </p:style>
      </p:sp>
      <p:sp>
        <p:nvSpPr>
          <p:cNvPr id="320" name="Text 13"/>
          <p:cNvSpPr/>
          <p:nvPr/>
        </p:nvSpPr>
        <p:spPr>
          <a:xfrm>
            <a:off x="571680" y="4414680"/>
            <a:ext cx="73051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Strategic Business Decisions</a:t>
            </a:r>
            <a:endParaRPr b="0" lang="en-HK" sz="1500" spc="-1" strike="noStrike">
              <a:latin typeface="Arial"/>
            </a:endParaRPr>
          </a:p>
        </p:txBody>
      </p:sp>
      <p:sp>
        <p:nvSpPr>
          <p:cNvPr id="321" name="Shape 14"/>
          <p:cNvSpPr/>
          <p:nvPr/>
        </p:nvSpPr>
        <p:spPr>
          <a:xfrm>
            <a:off x="619200" y="4791240"/>
            <a:ext cx="94680" cy="151560"/>
          </a:xfrm>
          <a:custGeom>
            <a:avLst/>
            <a:gdLst/>
            <a:ah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w="0">
            <a:noFill/>
          </a:ln>
        </p:spPr>
        <p:style>
          <a:lnRef idx="0"/>
          <a:fillRef idx="0"/>
          <a:effectRef idx="0"/>
          <a:fontRef idx="minor"/>
        </p:style>
      </p:sp>
      <p:sp>
        <p:nvSpPr>
          <p:cNvPr id="322" name="Text 15"/>
          <p:cNvSpPr/>
          <p:nvPr/>
        </p:nvSpPr>
        <p:spPr>
          <a:xfrm>
            <a:off x="819000" y="4757760"/>
            <a:ext cx="336168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Pricing:</a:t>
            </a:r>
            <a:r>
              <a:rPr b="0" lang="en-US" sz="1200" spc="-1" strike="noStrike">
                <a:solidFill>
                  <a:srgbClr val="636e72"/>
                </a:solidFill>
                <a:latin typeface="Quattrocento Sans"/>
                <a:ea typeface="Quattrocento Sans"/>
              </a:rPr>
              <a:t> Optimal pricing under competitive pressure</a:t>
            </a:r>
            <a:endParaRPr b="0" lang="en-HK" sz="1200" spc="-1" strike="noStrike">
              <a:latin typeface="Arial"/>
            </a:endParaRPr>
          </a:p>
        </p:txBody>
      </p:sp>
      <p:sp>
        <p:nvSpPr>
          <p:cNvPr id="323" name="Shape 16"/>
          <p:cNvSpPr/>
          <p:nvPr/>
        </p:nvSpPr>
        <p:spPr>
          <a:xfrm>
            <a:off x="4282920" y="4791240"/>
            <a:ext cx="132480" cy="151560"/>
          </a:xfrm>
          <a:custGeom>
            <a:avLst/>
            <a:gdLst/>
            <a:ah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w="0">
            <a:noFill/>
          </a:ln>
        </p:spPr>
        <p:style>
          <a:lnRef idx="0"/>
          <a:fillRef idx="0"/>
          <a:effectRef idx="0"/>
          <a:fontRef idx="minor"/>
        </p:style>
      </p:sp>
      <p:sp>
        <p:nvSpPr>
          <p:cNvPr id="324" name="Text 17"/>
          <p:cNvSpPr/>
          <p:nvPr/>
        </p:nvSpPr>
        <p:spPr>
          <a:xfrm>
            <a:off x="4502160" y="4757760"/>
            <a:ext cx="336168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R&amp;D:</a:t>
            </a:r>
            <a:r>
              <a:rPr b="0" lang="en-US" sz="1200" spc="-1" strike="noStrike">
                <a:solidFill>
                  <a:srgbClr val="636e72"/>
                </a:solidFill>
                <a:latin typeface="Quattrocento Sans"/>
                <a:ea typeface="Quattrocento Sans"/>
              </a:rPr>
              <a:t> Innovation races and patent strategies</a:t>
            </a:r>
            <a:endParaRPr b="0" lang="en-HK" sz="1200" spc="-1" strike="noStrike">
              <a:latin typeface="Arial"/>
            </a:endParaRPr>
          </a:p>
        </p:txBody>
      </p:sp>
      <p:sp>
        <p:nvSpPr>
          <p:cNvPr id="325" name="Shape 18"/>
          <p:cNvSpPr/>
          <p:nvPr/>
        </p:nvSpPr>
        <p:spPr>
          <a:xfrm>
            <a:off x="590400" y="5324400"/>
            <a:ext cx="151560" cy="151560"/>
          </a:xfrm>
          <a:custGeom>
            <a:avLst/>
            <a:gdLst/>
            <a:ah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w="0">
            <a:noFill/>
          </a:ln>
        </p:spPr>
        <p:style>
          <a:lnRef idx="0"/>
          <a:fillRef idx="0"/>
          <a:effectRef idx="0"/>
          <a:fontRef idx="minor"/>
        </p:style>
      </p:sp>
      <p:sp>
        <p:nvSpPr>
          <p:cNvPr id="326" name="Text 19"/>
          <p:cNvSpPr/>
          <p:nvPr/>
        </p:nvSpPr>
        <p:spPr>
          <a:xfrm>
            <a:off x="819000" y="5291280"/>
            <a:ext cx="336168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Marketing:</a:t>
            </a:r>
            <a:r>
              <a:rPr b="0" lang="en-US" sz="1200" spc="-1" strike="noStrike">
                <a:solidFill>
                  <a:srgbClr val="636e72"/>
                </a:solidFill>
                <a:latin typeface="Quattrocento Sans"/>
                <a:ea typeface="Quattrocento Sans"/>
              </a:rPr>
              <a:t> Advertising campaigns and market positioning</a:t>
            </a:r>
            <a:endParaRPr b="0" lang="en-HK" sz="1200" spc="-1" strike="noStrike">
              <a:latin typeface="Arial"/>
            </a:endParaRPr>
          </a:p>
        </p:txBody>
      </p:sp>
      <p:sp>
        <p:nvSpPr>
          <p:cNvPr id="327" name="Shape 20"/>
          <p:cNvSpPr/>
          <p:nvPr/>
        </p:nvSpPr>
        <p:spPr>
          <a:xfrm>
            <a:off x="4263840" y="5324400"/>
            <a:ext cx="170640" cy="151560"/>
          </a:xfrm>
          <a:custGeom>
            <a:avLst/>
            <a:gdLst/>
            <a:ah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w="0">
            <a:noFill/>
          </a:ln>
        </p:spPr>
        <p:style>
          <a:lnRef idx="0"/>
          <a:fillRef idx="0"/>
          <a:effectRef idx="0"/>
          <a:fontRef idx="minor"/>
        </p:style>
      </p:sp>
      <p:sp>
        <p:nvSpPr>
          <p:cNvPr id="328" name="Text 21"/>
          <p:cNvSpPr/>
          <p:nvPr/>
        </p:nvSpPr>
        <p:spPr>
          <a:xfrm>
            <a:off x="4502160" y="5291280"/>
            <a:ext cx="3361680" cy="456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Mergers:</a:t>
            </a:r>
            <a:r>
              <a:rPr b="0" lang="en-US" sz="1200" spc="-1" strike="noStrike">
                <a:solidFill>
                  <a:srgbClr val="636e72"/>
                </a:solidFill>
                <a:latin typeface="Quattrocento Sans"/>
                <a:ea typeface="Quattrocento Sans"/>
              </a:rPr>
              <a:t> Strategic acquisitions and antitrust analysis</a:t>
            </a:r>
            <a:endParaRPr b="0" lang="en-HK" sz="1200" spc="-1" strike="noStrike">
              <a:latin typeface="Arial"/>
            </a:endParaRPr>
          </a:p>
        </p:txBody>
      </p:sp>
      <p:sp>
        <p:nvSpPr>
          <p:cNvPr id="329" name="Shape 22"/>
          <p:cNvSpPr/>
          <p:nvPr/>
        </p:nvSpPr>
        <p:spPr>
          <a:xfrm>
            <a:off x="8132760" y="1300320"/>
            <a:ext cx="3675960" cy="2637720"/>
          </a:xfrm>
          <a:custGeom>
            <a:avLst/>
            <a:gdLst/>
            <a:ah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round/>
          </a:ln>
        </p:spPr>
        <p:style>
          <a:lnRef idx="0"/>
          <a:fillRef idx="0"/>
          <a:effectRef idx="0"/>
          <a:fontRef idx="minor"/>
        </p:style>
      </p:sp>
      <p:sp>
        <p:nvSpPr>
          <p:cNvPr id="330" name="Text 23"/>
          <p:cNvSpPr/>
          <p:nvPr/>
        </p:nvSpPr>
        <p:spPr>
          <a:xfrm>
            <a:off x="8242200" y="1457280"/>
            <a:ext cx="3456720" cy="26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Competitive Dynamics</a:t>
            </a:r>
            <a:endParaRPr b="0" lang="en-HK" sz="1500" spc="-1" strike="noStrike">
              <a:latin typeface="Arial"/>
            </a:endParaRPr>
          </a:p>
        </p:txBody>
      </p:sp>
      <p:sp>
        <p:nvSpPr>
          <p:cNvPr id="331" name="Image 0"/>
          <p:cNvSpPr/>
          <p:nvPr/>
        </p:nvSpPr>
        <p:spPr>
          <a:xfrm>
            <a:off x="8289720" y="1838160"/>
            <a:ext cx="3361680" cy="1332720"/>
          </a:xfrm>
          <a:prstGeom prst="roundRect">
            <a:avLst>
              <a:gd name="adj" fmla="val 0"/>
            </a:avLst>
          </a:prstGeom>
          <a:blipFill rotWithShape="0">
            <a:blip r:embed="rId1"/>
            <a:srcRect/>
            <a:stretch/>
          </a:blipFill>
          <a:ln w="0">
            <a:noFill/>
          </a:ln>
        </p:spPr>
        <p:style>
          <a:lnRef idx="0"/>
          <a:fillRef idx="0"/>
          <a:effectRef idx="0"/>
          <a:fontRef idx="minor"/>
        </p:style>
      </p:sp>
      <p:sp>
        <p:nvSpPr>
          <p:cNvPr id="332" name="Text 24"/>
          <p:cNvSpPr/>
          <p:nvPr/>
        </p:nvSpPr>
        <p:spPr>
          <a:xfrm>
            <a:off x="8251920" y="3286080"/>
            <a:ext cx="3437640" cy="4946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200" spc="-1" strike="noStrike">
                <a:solidFill>
                  <a:srgbClr val="636e72"/>
                </a:solidFill>
                <a:latin typeface="Quattrocento Sans"/>
                <a:ea typeface="Quattrocento Sans"/>
              </a:rPr>
              <a:t>Firms form strategic networks, competing and cooperating in complex ecosystems.</a:t>
            </a:r>
            <a:endParaRPr b="0" lang="en-HK" sz="1200" spc="-1" strike="noStrike">
              <a:latin typeface="Arial"/>
            </a:endParaRPr>
          </a:p>
        </p:txBody>
      </p:sp>
      <p:sp>
        <p:nvSpPr>
          <p:cNvPr id="333" name="Shape 25"/>
          <p:cNvSpPr/>
          <p:nvPr/>
        </p:nvSpPr>
        <p:spPr>
          <a:xfrm>
            <a:off x="8128080" y="4095720"/>
            <a:ext cx="3685320" cy="1637640"/>
          </a:xfrm>
          <a:custGeom>
            <a:avLst/>
            <a:gdLst/>
            <a:ahLst/>
            <a:rect l="l" t="t" r="r" b="b"/>
            <a:pathLst>
              <a:path w="3686175" h="1638300">
                <a:moveTo>
                  <a:pt x="0" y="0"/>
                </a:moveTo>
                <a:lnTo>
                  <a:pt x="3686175" y="0"/>
                </a:lnTo>
                <a:lnTo>
                  <a:pt x="3686175" y="1638300"/>
                </a:lnTo>
                <a:lnTo>
                  <a:pt x="0" y="1638300"/>
                </a:lnTo>
                <a:lnTo>
                  <a:pt x="0" y="0"/>
                </a:lnTo>
                <a:close/>
              </a:path>
            </a:pathLst>
          </a:custGeom>
          <a:solidFill>
            <a:srgbClr val="2d3436"/>
          </a:solidFill>
          <a:ln w="0">
            <a:noFill/>
          </a:ln>
        </p:spPr>
        <p:style>
          <a:lnRef idx="0"/>
          <a:fillRef idx="0"/>
          <a:effectRef idx="0"/>
          <a:fontRef idx="minor"/>
        </p:style>
      </p:sp>
      <p:sp>
        <p:nvSpPr>
          <p:cNvPr id="334" name="Text 26"/>
          <p:cNvSpPr/>
          <p:nvPr/>
        </p:nvSpPr>
        <p:spPr>
          <a:xfrm>
            <a:off x="8280360" y="4248000"/>
            <a:ext cx="34664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Oranienbaum"/>
                <a:ea typeface="Oranienbaum"/>
              </a:rPr>
              <a:t>Case Study: Airline Pricing</a:t>
            </a:r>
            <a:endParaRPr b="0" lang="en-HK" sz="1350" spc="-1" strike="noStrike">
              <a:latin typeface="Arial"/>
            </a:endParaRPr>
          </a:p>
        </p:txBody>
      </p:sp>
      <p:sp>
        <p:nvSpPr>
          <p:cNvPr id="335" name="Text 27"/>
          <p:cNvSpPr/>
          <p:nvPr/>
        </p:nvSpPr>
        <p:spPr>
          <a:xfrm>
            <a:off x="8280360" y="4591080"/>
            <a:ext cx="345672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Airlines use game theory to set fares, anticipating competitor responses to price changes. This explains why fares often move in lockstep and why price wars erupt.</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6" name="Text 0"/>
          <p:cNvSpPr/>
          <p:nvPr/>
        </p:nvSpPr>
        <p:spPr>
          <a:xfrm>
            <a:off x="370440" y="370440"/>
            <a:ext cx="115243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52" strike="noStrike">
                <a:solidFill>
                  <a:srgbClr val="0984e3"/>
                </a:solidFill>
                <a:latin typeface="Quattrocento Sans"/>
                <a:ea typeface="Quattrocento Sans"/>
              </a:rPr>
              <a:t>APPLICATION DOMAIN</a:t>
            </a:r>
            <a:endParaRPr b="0" lang="en-HK" sz="1170" spc="-1" strike="noStrike">
              <a:latin typeface="Arial"/>
            </a:endParaRPr>
          </a:p>
        </p:txBody>
      </p:sp>
      <p:sp>
        <p:nvSpPr>
          <p:cNvPr id="337" name="Text 1"/>
          <p:cNvSpPr/>
          <p:nvPr/>
        </p:nvSpPr>
        <p:spPr>
          <a:xfrm>
            <a:off x="370440" y="667080"/>
            <a:ext cx="11672640" cy="443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00" spc="-1" strike="noStrike">
                <a:solidFill>
                  <a:srgbClr val="2d3436"/>
                </a:solidFill>
                <a:latin typeface="Oranienbaum"/>
                <a:ea typeface="Oranienbaum"/>
              </a:rPr>
              <a:t>Political Science &amp; International Relations</a:t>
            </a:r>
            <a:endParaRPr b="0" lang="en-HK" sz="3500" spc="-1" strike="noStrike">
              <a:latin typeface="Arial"/>
            </a:endParaRPr>
          </a:p>
        </p:txBody>
      </p:sp>
      <p:sp>
        <p:nvSpPr>
          <p:cNvPr id="338" name="Text 2"/>
          <p:cNvSpPr/>
          <p:nvPr/>
        </p:nvSpPr>
        <p:spPr>
          <a:xfrm>
            <a:off x="370440" y="1334160"/>
            <a:ext cx="5669280" cy="1203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460" spc="-1" strike="noStrike">
                <a:solidFill>
                  <a:srgbClr val="1e272e"/>
                </a:solidFill>
                <a:latin typeface="Quattrocento Sans"/>
                <a:ea typeface="Quattrocento Sans"/>
              </a:rPr>
              <a:t>Game theory provides essential frameworks for understanding political behavior, from voting systems to international conflicts.</a:t>
            </a:r>
            <a:r>
              <a:rPr b="0" lang="en-US" sz="1460" spc="-1" strike="noStrike">
                <a:solidFill>
                  <a:srgbClr val="1e272e"/>
                </a:solidFill>
                <a:latin typeface="Quattrocento Sans"/>
                <a:ea typeface="Quattrocento Sans"/>
              </a:rPr>
              <a:t> It illuminates why nations cooperate or compete and how institutions shape strategic interactions.</a:t>
            </a:r>
            <a:endParaRPr b="0" lang="en-HK" sz="1460" spc="-1" strike="noStrike">
              <a:latin typeface="Arial"/>
            </a:endParaRPr>
          </a:p>
        </p:txBody>
      </p:sp>
      <p:sp>
        <p:nvSpPr>
          <p:cNvPr id="339" name="Shape 3"/>
          <p:cNvSpPr/>
          <p:nvPr/>
        </p:nvSpPr>
        <p:spPr>
          <a:xfrm>
            <a:off x="375120" y="2691360"/>
            <a:ext cx="5567040" cy="2157840"/>
          </a:xfrm>
          <a:custGeom>
            <a:avLst/>
            <a:gdLst/>
            <a:ahLst/>
            <a:rect l="l" t="t" r="r" b="b"/>
            <a:pathLst>
              <a:path w="5567927" h="2158614">
                <a:moveTo>
                  <a:pt x="0" y="0"/>
                </a:moveTo>
                <a:lnTo>
                  <a:pt x="5567927" y="0"/>
                </a:lnTo>
                <a:lnTo>
                  <a:pt x="5567927" y="2158614"/>
                </a:lnTo>
                <a:lnTo>
                  <a:pt x="0" y="2158614"/>
                </a:lnTo>
                <a:lnTo>
                  <a:pt x="0" y="0"/>
                </a:lnTo>
                <a:close/>
              </a:path>
            </a:pathLst>
          </a:custGeom>
          <a:solidFill>
            <a:srgbClr val="ffffff"/>
          </a:solidFill>
          <a:ln w="12700">
            <a:solidFill>
              <a:srgbClr val="e0e0e0"/>
            </a:solidFill>
            <a:round/>
          </a:ln>
        </p:spPr>
        <p:style>
          <a:lnRef idx="0"/>
          <a:fillRef idx="0"/>
          <a:effectRef idx="0"/>
          <a:fontRef idx="minor"/>
        </p:style>
      </p:sp>
      <p:sp>
        <p:nvSpPr>
          <p:cNvPr id="340" name="Text 4"/>
          <p:cNvSpPr/>
          <p:nvPr/>
        </p:nvSpPr>
        <p:spPr>
          <a:xfrm>
            <a:off x="565200" y="2881080"/>
            <a:ext cx="5280120" cy="258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Voting Systems &amp; Elections</a:t>
            </a:r>
            <a:endParaRPr b="0" lang="en-HK" sz="1460" spc="-1" strike="noStrike">
              <a:latin typeface="Arial"/>
            </a:endParaRPr>
          </a:p>
        </p:txBody>
      </p:sp>
      <p:sp>
        <p:nvSpPr>
          <p:cNvPr id="341" name="Text 5"/>
          <p:cNvSpPr/>
          <p:nvPr/>
        </p:nvSpPr>
        <p:spPr>
          <a:xfrm>
            <a:off x="565200" y="3251880"/>
            <a:ext cx="5261400" cy="48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Game theory analyzes strategic voting, where voters may not choose their true preference to avoid "wasting" votes. It explains:</a:t>
            </a:r>
            <a:endParaRPr b="0" lang="en-HK" sz="1170" spc="-1" strike="noStrike">
              <a:latin typeface="Arial"/>
            </a:endParaRPr>
          </a:p>
        </p:txBody>
      </p:sp>
      <p:sp>
        <p:nvSpPr>
          <p:cNvPr id="342" name="Shape 6"/>
          <p:cNvSpPr/>
          <p:nvPr/>
        </p:nvSpPr>
        <p:spPr>
          <a:xfrm>
            <a:off x="592920" y="3877200"/>
            <a:ext cx="128880" cy="14760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3" name="Text 7"/>
          <p:cNvSpPr/>
          <p:nvPr/>
        </p:nvSpPr>
        <p:spPr>
          <a:xfrm>
            <a:off x="804600" y="3844800"/>
            <a:ext cx="5022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Why two-party systems dominate under plurality voting</a:t>
            </a:r>
            <a:endParaRPr b="0" lang="en-HK" sz="1170" spc="-1" strike="noStrike">
              <a:latin typeface="Arial"/>
            </a:endParaRPr>
          </a:p>
        </p:txBody>
      </p:sp>
      <p:sp>
        <p:nvSpPr>
          <p:cNvPr id="344" name="Shape 8"/>
          <p:cNvSpPr/>
          <p:nvPr/>
        </p:nvSpPr>
        <p:spPr>
          <a:xfrm>
            <a:off x="592920" y="4173480"/>
            <a:ext cx="128880" cy="14760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5" name="Text 9"/>
          <p:cNvSpPr/>
          <p:nvPr/>
        </p:nvSpPr>
        <p:spPr>
          <a:xfrm>
            <a:off x="804600" y="4141080"/>
            <a:ext cx="5022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Strategic candidate positioning (median voter theorem)</a:t>
            </a:r>
            <a:endParaRPr b="0" lang="en-HK" sz="1170" spc="-1" strike="noStrike">
              <a:latin typeface="Arial"/>
            </a:endParaRPr>
          </a:p>
        </p:txBody>
      </p:sp>
      <p:sp>
        <p:nvSpPr>
          <p:cNvPr id="346" name="Shape 10"/>
          <p:cNvSpPr/>
          <p:nvPr/>
        </p:nvSpPr>
        <p:spPr>
          <a:xfrm>
            <a:off x="592920" y="4470120"/>
            <a:ext cx="128880" cy="14760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7" name="Text 11"/>
          <p:cNvSpPr/>
          <p:nvPr/>
        </p:nvSpPr>
        <p:spPr>
          <a:xfrm>
            <a:off x="804600" y="4437720"/>
            <a:ext cx="5022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Coalition formation in parliamentary systems</a:t>
            </a:r>
            <a:endParaRPr b="0" lang="en-HK" sz="1170" spc="-1" strike="noStrike">
              <a:latin typeface="Arial"/>
            </a:endParaRPr>
          </a:p>
        </p:txBody>
      </p:sp>
      <p:sp>
        <p:nvSpPr>
          <p:cNvPr id="348" name="Shape 12"/>
          <p:cNvSpPr/>
          <p:nvPr/>
        </p:nvSpPr>
        <p:spPr>
          <a:xfrm>
            <a:off x="375120" y="5007600"/>
            <a:ext cx="5567040" cy="1472400"/>
          </a:xfrm>
          <a:custGeom>
            <a:avLst/>
            <a:gdLst/>
            <a:ahLst/>
            <a:rect l="l" t="t" r="r" b="b"/>
            <a:pathLst>
              <a:path w="5567927" h="1473046">
                <a:moveTo>
                  <a:pt x="0" y="0"/>
                </a:moveTo>
                <a:lnTo>
                  <a:pt x="5567927" y="0"/>
                </a:lnTo>
                <a:lnTo>
                  <a:pt x="5567927" y="1473046"/>
                </a:lnTo>
                <a:lnTo>
                  <a:pt x="0" y="1473046"/>
                </a:lnTo>
                <a:lnTo>
                  <a:pt x="0" y="0"/>
                </a:lnTo>
                <a:close/>
              </a:path>
            </a:pathLst>
          </a:custGeom>
          <a:solidFill>
            <a:srgbClr val="ffffff"/>
          </a:solidFill>
          <a:ln w="12700">
            <a:solidFill>
              <a:srgbClr val="e0e0e0"/>
            </a:solidFill>
            <a:round/>
          </a:ln>
        </p:spPr>
        <p:style>
          <a:lnRef idx="0"/>
          <a:fillRef idx="0"/>
          <a:effectRef idx="0"/>
          <a:fontRef idx="minor"/>
        </p:style>
      </p:sp>
      <p:sp>
        <p:nvSpPr>
          <p:cNvPr id="349" name="Text 13"/>
          <p:cNvSpPr/>
          <p:nvPr/>
        </p:nvSpPr>
        <p:spPr>
          <a:xfrm>
            <a:off x="565200" y="5197320"/>
            <a:ext cx="5280120" cy="258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International Negotiations</a:t>
            </a:r>
            <a:endParaRPr b="0" lang="en-HK" sz="1460" spc="-1" strike="noStrike">
              <a:latin typeface="Arial"/>
            </a:endParaRPr>
          </a:p>
        </p:txBody>
      </p:sp>
      <p:sp>
        <p:nvSpPr>
          <p:cNvPr id="350" name="Text 14"/>
          <p:cNvSpPr/>
          <p:nvPr/>
        </p:nvSpPr>
        <p:spPr>
          <a:xfrm>
            <a:off x="565200" y="5567760"/>
            <a:ext cx="5261400" cy="721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Trade agreements, climate treaties, and arms control all involve strategic bargaining. Game theory reveals why enforceable commitments and repeated interactions foster cooperation.</a:t>
            </a:r>
            <a:endParaRPr b="0" lang="en-HK" sz="1170" spc="-1" strike="noStrike">
              <a:latin typeface="Arial"/>
            </a:endParaRPr>
          </a:p>
        </p:txBody>
      </p:sp>
      <p:sp>
        <p:nvSpPr>
          <p:cNvPr id="351" name="Shape 15"/>
          <p:cNvSpPr/>
          <p:nvPr/>
        </p:nvSpPr>
        <p:spPr>
          <a:xfrm>
            <a:off x="6242040" y="1334160"/>
            <a:ext cx="5576400" cy="2843640"/>
          </a:xfrm>
          <a:custGeom>
            <a:avLst/>
            <a:gdLst/>
            <a:ahLst/>
            <a:rect l="l" t="t" r="r" b="b"/>
            <a:pathLst>
              <a:path w="5577191" h="2844182">
                <a:moveTo>
                  <a:pt x="0" y="0"/>
                </a:moveTo>
                <a:lnTo>
                  <a:pt x="5577191" y="0"/>
                </a:lnTo>
                <a:lnTo>
                  <a:pt x="5577191" y="2844182"/>
                </a:lnTo>
                <a:lnTo>
                  <a:pt x="0" y="2844182"/>
                </a:lnTo>
                <a:lnTo>
                  <a:pt x="0" y="0"/>
                </a:lnTo>
                <a:close/>
              </a:path>
            </a:pathLst>
          </a:custGeom>
          <a:solidFill>
            <a:srgbClr val="2d3436"/>
          </a:solidFill>
          <a:ln w="0">
            <a:noFill/>
          </a:ln>
        </p:spPr>
        <p:style>
          <a:lnRef idx="0"/>
          <a:fillRef idx="0"/>
          <a:effectRef idx="0"/>
          <a:fontRef idx="minor"/>
        </p:style>
      </p:sp>
      <p:sp>
        <p:nvSpPr>
          <p:cNvPr id="352" name="Text 16"/>
          <p:cNvSpPr/>
          <p:nvPr/>
        </p:nvSpPr>
        <p:spPr>
          <a:xfrm>
            <a:off x="6427440" y="1519200"/>
            <a:ext cx="5317200" cy="295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50" spc="-1" strike="noStrike">
                <a:solidFill>
                  <a:srgbClr val="ffffff"/>
                </a:solidFill>
                <a:latin typeface="Oranienbaum"/>
                <a:ea typeface="Oranienbaum"/>
              </a:rPr>
              <a:t>Nuclear Deterrence Theory</a:t>
            </a:r>
            <a:endParaRPr b="0" lang="en-HK" sz="1750" spc="-1" strike="noStrike">
              <a:latin typeface="Arial"/>
            </a:endParaRPr>
          </a:p>
        </p:txBody>
      </p:sp>
      <p:sp>
        <p:nvSpPr>
          <p:cNvPr id="353" name="Text 17"/>
          <p:cNvSpPr/>
          <p:nvPr/>
        </p:nvSpPr>
        <p:spPr>
          <a:xfrm>
            <a:off x="6427440" y="1968840"/>
            <a:ext cx="5145840" cy="455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e0e0e0"/>
                </a:solidFill>
                <a:latin typeface="Quattrocento Sans"/>
                <a:ea typeface="Quattrocento Sans"/>
              </a:rPr>
              <a:t>The Cold War's most critical strategic problem was preventing nuclear war while maintaining credible deterrence.</a:t>
            </a:r>
            <a:endParaRPr b="0" lang="en-HK" sz="1320" spc="-1" strike="noStrike">
              <a:latin typeface="Arial"/>
            </a:endParaRPr>
          </a:p>
        </p:txBody>
      </p:sp>
      <p:sp>
        <p:nvSpPr>
          <p:cNvPr id="354" name="Text 18"/>
          <p:cNvSpPr/>
          <p:nvPr/>
        </p:nvSpPr>
        <p:spPr>
          <a:xfrm>
            <a:off x="6427440" y="2580120"/>
            <a:ext cx="5280120" cy="480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e0e0e0"/>
                </a:solidFill>
                <a:latin typeface="Quattrocento Sans"/>
                <a:ea typeface="Quattrocento Sans"/>
              </a:rPr>
              <a:t>Game theorists like Thomas Schelling applied the Chicken Game to model nuclear brinkmanship. Key insights:</a:t>
            </a:r>
            <a:endParaRPr b="0" lang="en-HK" sz="1170" spc="-1" strike="noStrike">
              <a:latin typeface="Arial"/>
            </a:endParaRPr>
          </a:p>
        </p:txBody>
      </p:sp>
      <p:sp>
        <p:nvSpPr>
          <p:cNvPr id="355" name="Shape 19"/>
          <p:cNvSpPr/>
          <p:nvPr/>
        </p:nvSpPr>
        <p:spPr>
          <a:xfrm>
            <a:off x="6436800" y="3205440"/>
            <a:ext cx="165960" cy="147600"/>
          </a:xfrm>
          <a:custGeom>
            <a:avLst/>
            <a:gdLst/>
            <a:ahLst/>
            <a:rect l="l" t="t" r="r" b="b"/>
            <a:pathLst>
              <a:path w="166760" h="148231">
                <a:moveTo>
                  <a:pt x="138967" y="-4632"/>
                </a:moveTo>
                <a:cubicBezTo>
                  <a:pt x="140964" y="-4632"/>
                  <a:pt x="142730" y="-3358"/>
                  <a:pt x="143367" y="-1477"/>
                </a:cubicBezTo>
                <a:lnTo>
                  <a:pt x="147276" y="10220"/>
                </a:lnTo>
                <a:lnTo>
                  <a:pt x="158972" y="14128"/>
                </a:lnTo>
                <a:cubicBezTo>
                  <a:pt x="160854" y="14765"/>
                  <a:pt x="162128" y="16531"/>
                  <a:pt x="162128" y="18529"/>
                </a:cubicBezTo>
                <a:cubicBezTo>
                  <a:pt x="162128" y="20527"/>
                  <a:pt x="160854" y="22293"/>
                  <a:pt x="158972" y="22929"/>
                </a:cubicBezTo>
                <a:lnTo>
                  <a:pt x="147276" y="26838"/>
                </a:lnTo>
                <a:lnTo>
                  <a:pt x="143367" y="38534"/>
                </a:lnTo>
                <a:cubicBezTo>
                  <a:pt x="142730" y="40416"/>
                  <a:pt x="140964" y="41690"/>
                  <a:pt x="138967" y="41690"/>
                </a:cubicBezTo>
                <a:cubicBezTo>
                  <a:pt x="136969" y="41690"/>
                  <a:pt x="135203" y="40416"/>
                  <a:pt x="134566" y="38534"/>
                </a:cubicBezTo>
                <a:lnTo>
                  <a:pt x="130658" y="26838"/>
                </a:lnTo>
                <a:lnTo>
                  <a:pt x="118961" y="22929"/>
                </a:lnTo>
                <a:cubicBezTo>
                  <a:pt x="117079" y="22293"/>
                  <a:pt x="115805" y="20527"/>
                  <a:pt x="115805" y="18529"/>
                </a:cubicBezTo>
                <a:cubicBezTo>
                  <a:pt x="115805" y="16531"/>
                  <a:pt x="117079" y="14765"/>
                  <a:pt x="118961" y="14128"/>
                </a:cubicBezTo>
                <a:lnTo>
                  <a:pt x="130658" y="10220"/>
                </a:lnTo>
                <a:lnTo>
                  <a:pt x="134566" y="-1477"/>
                </a:lnTo>
                <a:cubicBezTo>
                  <a:pt x="135203" y="-3358"/>
                  <a:pt x="136969" y="-4632"/>
                  <a:pt x="138967" y="-4632"/>
                </a:cubicBezTo>
                <a:close/>
                <a:moveTo>
                  <a:pt x="93050" y="28199"/>
                </a:moveTo>
                <a:cubicBezTo>
                  <a:pt x="96669" y="24580"/>
                  <a:pt x="102546" y="24580"/>
                  <a:pt x="106165" y="28199"/>
                </a:cubicBezTo>
                <a:lnTo>
                  <a:pt x="129326" y="51360"/>
                </a:lnTo>
                <a:cubicBezTo>
                  <a:pt x="132945" y="54979"/>
                  <a:pt x="132945" y="60856"/>
                  <a:pt x="129326" y="64475"/>
                </a:cubicBezTo>
                <a:lnTo>
                  <a:pt x="126170" y="67630"/>
                </a:lnTo>
                <a:cubicBezTo>
                  <a:pt x="128457" y="74000"/>
                  <a:pt x="129702" y="80861"/>
                  <a:pt x="129702" y="88041"/>
                </a:cubicBezTo>
                <a:cubicBezTo>
                  <a:pt x="129702" y="121306"/>
                  <a:pt x="102748" y="148260"/>
                  <a:pt x="69483" y="148260"/>
                </a:cubicBezTo>
                <a:cubicBezTo>
                  <a:pt x="36218" y="148260"/>
                  <a:pt x="9264" y="121277"/>
                  <a:pt x="9264" y="88012"/>
                </a:cubicBezTo>
                <a:cubicBezTo>
                  <a:pt x="9264" y="54747"/>
                  <a:pt x="36218" y="27793"/>
                  <a:pt x="69483" y="27793"/>
                </a:cubicBezTo>
                <a:cubicBezTo>
                  <a:pt x="76634" y="27793"/>
                  <a:pt x="83525" y="29038"/>
                  <a:pt x="89894" y="31354"/>
                </a:cubicBezTo>
                <a:lnTo>
                  <a:pt x="93050" y="28199"/>
                </a:lnTo>
                <a:close/>
                <a:moveTo>
                  <a:pt x="41690" y="88012"/>
                </a:moveTo>
                <a:cubicBezTo>
                  <a:pt x="41690" y="72668"/>
                  <a:pt x="54139" y="60219"/>
                  <a:pt x="69483" y="60219"/>
                </a:cubicBezTo>
                <a:cubicBezTo>
                  <a:pt x="73334" y="60219"/>
                  <a:pt x="76432" y="57121"/>
                  <a:pt x="76432" y="53271"/>
                </a:cubicBezTo>
                <a:cubicBezTo>
                  <a:pt x="76432" y="49420"/>
                  <a:pt x="73334" y="46322"/>
                  <a:pt x="69483" y="46322"/>
                </a:cubicBezTo>
                <a:cubicBezTo>
                  <a:pt x="46467" y="46322"/>
                  <a:pt x="27793" y="64996"/>
                  <a:pt x="27793" y="88012"/>
                </a:cubicBezTo>
                <a:cubicBezTo>
                  <a:pt x="27793" y="91863"/>
                  <a:pt x="30891" y="94960"/>
                  <a:pt x="34742" y="94960"/>
                </a:cubicBezTo>
                <a:cubicBezTo>
                  <a:pt x="38592" y="94960"/>
                  <a:pt x="41690" y="91863"/>
                  <a:pt x="41690" y="88012"/>
                </a:cubicBezTo>
                <a:close/>
              </a:path>
            </a:pathLst>
          </a:custGeom>
          <a:solidFill>
            <a:srgbClr val="0984e3"/>
          </a:solidFill>
          <a:ln w="0">
            <a:noFill/>
          </a:ln>
        </p:spPr>
        <p:style>
          <a:lnRef idx="0"/>
          <a:fillRef idx="0"/>
          <a:effectRef idx="0"/>
          <a:fontRef idx="minor"/>
        </p:style>
      </p:sp>
      <p:sp>
        <p:nvSpPr>
          <p:cNvPr id="356" name="Text 20"/>
          <p:cNvSpPr/>
          <p:nvPr/>
        </p:nvSpPr>
        <p:spPr>
          <a:xfrm>
            <a:off x="6666840" y="3173040"/>
            <a:ext cx="50407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Credible Threats:</a:t>
            </a:r>
            <a:r>
              <a:rPr b="0" lang="en-US" sz="1170" spc="-1" strike="noStrike">
                <a:solidFill>
                  <a:srgbClr val="e0e0e0"/>
                </a:solidFill>
                <a:latin typeface="Quattrocento Sans"/>
                <a:ea typeface="Quattrocento Sans"/>
              </a:rPr>
              <a:t> Making retaliation automatic (doomsday devices)</a:t>
            </a:r>
            <a:endParaRPr b="0" lang="en-HK" sz="1170" spc="-1" strike="noStrike">
              <a:latin typeface="Arial"/>
            </a:endParaRPr>
          </a:p>
        </p:txBody>
      </p:sp>
      <p:sp>
        <p:nvSpPr>
          <p:cNvPr id="357" name="Shape 21"/>
          <p:cNvSpPr/>
          <p:nvPr/>
        </p:nvSpPr>
        <p:spPr>
          <a:xfrm>
            <a:off x="6445800" y="3502080"/>
            <a:ext cx="147600" cy="147600"/>
          </a:xfrm>
          <a:custGeom>
            <a:avLst/>
            <a:gdLst/>
            <a:ahLst/>
            <a:rect l="l" t="t" r="r" b="b"/>
            <a:pathLst>
              <a:path w="148231" h="148231">
                <a:moveTo>
                  <a:pt x="83380" y="9264"/>
                </a:moveTo>
                <a:cubicBezTo>
                  <a:pt x="83380" y="4140"/>
                  <a:pt x="79240" y="0"/>
                  <a:pt x="74116" y="0"/>
                </a:cubicBezTo>
                <a:cubicBezTo>
                  <a:pt x="68991" y="0"/>
                  <a:pt x="64851" y="4140"/>
                  <a:pt x="64851" y="9264"/>
                </a:cubicBezTo>
                <a:lnTo>
                  <a:pt x="64851" y="69483"/>
                </a:lnTo>
                <a:cubicBezTo>
                  <a:pt x="64851" y="72031"/>
                  <a:pt x="62767" y="74116"/>
                  <a:pt x="60219" y="74116"/>
                </a:cubicBezTo>
                <a:cubicBezTo>
                  <a:pt x="57671" y="74116"/>
                  <a:pt x="55587" y="72031"/>
                  <a:pt x="55587" y="69483"/>
                </a:cubicBezTo>
                <a:lnTo>
                  <a:pt x="55587" y="18529"/>
                </a:lnTo>
                <a:cubicBezTo>
                  <a:pt x="55587" y="13404"/>
                  <a:pt x="51447" y="9264"/>
                  <a:pt x="46322" y="9264"/>
                </a:cubicBezTo>
                <a:cubicBezTo>
                  <a:pt x="41198" y="9264"/>
                  <a:pt x="37058" y="13404"/>
                  <a:pt x="37058" y="18529"/>
                </a:cubicBezTo>
                <a:lnTo>
                  <a:pt x="37058" y="97277"/>
                </a:lnTo>
                <a:cubicBezTo>
                  <a:pt x="37058" y="97711"/>
                  <a:pt x="37058" y="98174"/>
                  <a:pt x="37087" y="98608"/>
                </a:cubicBezTo>
                <a:lnTo>
                  <a:pt x="19571" y="81932"/>
                </a:lnTo>
                <a:cubicBezTo>
                  <a:pt x="14939" y="77532"/>
                  <a:pt x="7614" y="77705"/>
                  <a:pt x="3185" y="82338"/>
                </a:cubicBezTo>
                <a:cubicBezTo>
                  <a:pt x="-1245" y="86970"/>
                  <a:pt x="-1042" y="94295"/>
                  <a:pt x="3590" y="98724"/>
                </a:cubicBezTo>
                <a:lnTo>
                  <a:pt x="36131" y="129702"/>
                </a:lnTo>
                <a:cubicBezTo>
                  <a:pt x="48609" y="141601"/>
                  <a:pt x="65198" y="148231"/>
                  <a:pt x="82453" y="148231"/>
                </a:cubicBezTo>
                <a:lnTo>
                  <a:pt x="88012" y="148231"/>
                </a:lnTo>
                <a:cubicBezTo>
                  <a:pt x="116153" y="148231"/>
                  <a:pt x="138967" y="125417"/>
                  <a:pt x="138967" y="97277"/>
                </a:cubicBezTo>
                <a:lnTo>
                  <a:pt x="138967" y="37058"/>
                </a:lnTo>
                <a:cubicBezTo>
                  <a:pt x="138967" y="31933"/>
                  <a:pt x="134827" y="27793"/>
                  <a:pt x="129702" y="27793"/>
                </a:cubicBezTo>
                <a:cubicBezTo>
                  <a:pt x="124578" y="27793"/>
                  <a:pt x="120438" y="31933"/>
                  <a:pt x="120438" y="37058"/>
                </a:cubicBezTo>
                <a:lnTo>
                  <a:pt x="120438" y="69483"/>
                </a:lnTo>
                <a:cubicBezTo>
                  <a:pt x="120438" y="72031"/>
                  <a:pt x="118353" y="74116"/>
                  <a:pt x="115805" y="74116"/>
                </a:cubicBezTo>
                <a:cubicBezTo>
                  <a:pt x="113258" y="74116"/>
                  <a:pt x="111173" y="72031"/>
                  <a:pt x="111173" y="69483"/>
                </a:cubicBezTo>
                <a:lnTo>
                  <a:pt x="111173" y="18529"/>
                </a:lnTo>
                <a:cubicBezTo>
                  <a:pt x="111173" y="13404"/>
                  <a:pt x="107033" y="9264"/>
                  <a:pt x="101909" y="9264"/>
                </a:cubicBezTo>
                <a:cubicBezTo>
                  <a:pt x="96784" y="9264"/>
                  <a:pt x="92644" y="13404"/>
                  <a:pt x="92644" y="18529"/>
                </a:cubicBezTo>
                <a:lnTo>
                  <a:pt x="92644" y="69483"/>
                </a:lnTo>
                <a:cubicBezTo>
                  <a:pt x="92644" y="72031"/>
                  <a:pt x="90560" y="74116"/>
                  <a:pt x="88012" y="74116"/>
                </a:cubicBezTo>
                <a:cubicBezTo>
                  <a:pt x="85464" y="74116"/>
                  <a:pt x="83380" y="72031"/>
                  <a:pt x="83380" y="69483"/>
                </a:cubicBezTo>
                <a:lnTo>
                  <a:pt x="83380" y="9264"/>
                </a:lnTo>
                <a:close/>
              </a:path>
            </a:pathLst>
          </a:custGeom>
          <a:solidFill>
            <a:srgbClr val="0984e3"/>
          </a:solidFill>
          <a:ln w="0">
            <a:noFill/>
          </a:ln>
        </p:spPr>
        <p:style>
          <a:lnRef idx="0"/>
          <a:fillRef idx="0"/>
          <a:effectRef idx="0"/>
          <a:fontRef idx="minor"/>
        </p:style>
      </p:sp>
      <p:sp>
        <p:nvSpPr>
          <p:cNvPr id="358" name="Text 22"/>
          <p:cNvSpPr/>
          <p:nvPr/>
        </p:nvSpPr>
        <p:spPr>
          <a:xfrm>
            <a:off x="6666840" y="3469680"/>
            <a:ext cx="50407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Brinkmanship:</a:t>
            </a:r>
            <a:r>
              <a:rPr b="0" lang="en-US" sz="1170" spc="-1" strike="noStrike">
                <a:solidFill>
                  <a:srgbClr val="e0e0e0"/>
                </a:solidFill>
                <a:latin typeface="Quattrocento Sans"/>
                <a:ea typeface="Quattrocento Sans"/>
              </a:rPr>
              <a:t> Deliberately creating risk to force concessions</a:t>
            </a:r>
            <a:endParaRPr b="0" lang="en-HK" sz="1170" spc="-1" strike="noStrike">
              <a:latin typeface="Arial"/>
            </a:endParaRPr>
          </a:p>
        </p:txBody>
      </p:sp>
      <p:sp>
        <p:nvSpPr>
          <p:cNvPr id="359" name="Shape 23"/>
          <p:cNvSpPr/>
          <p:nvPr/>
        </p:nvSpPr>
        <p:spPr>
          <a:xfrm>
            <a:off x="6427440" y="3798360"/>
            <a:ext cx="184680" cy="147600"/>
          </a:xfrm>
          <a:custGeom>
            <a:avLst/>
            <a:gdLst/>
            <a:ahLst/>
            <a:rect l="l" t="t" r="r" b="b"/>
            <a:pathLst>
              <a:path w="185289" h="148231">
                <a:moveTo>
                  <a:pt x="111173" y="9264"/>
                </a:moveTo>
                <a:lnTo>
                  <a:pt x="148231" y="9264"/>
                </a:lnTo>
                <a:cubicBezTo>
                  <a:pt x="153355" y="9264"/>
                  <a:pt x="157495" y="13404"/>
                  <a:pt x="157495" y="18529"/>
                </a:cubicBezTo>
                <a:cubicBezTo>
                  <a:pt x="157495" y="23653"/>
                  <a:pt x="153355" y="27793"/>
                  <a:pt x="148231" y="27793"/>
                </a:cubicBezTo>
                <a:lnTo>
                  <a:pt x="115342" y="27793"/>
                </a:lnTo>
                <a:cubicBezTo>
                  <a:pt x="113837" y="35263"/>
                  <a:pt x="108712" y="41429"/>
                  <a:pt x="101909" y="44382"/>
                </a:cubicBezTo>
                <a:lnTo>
                  <a:pt x="101909" y="129702"/>
                </a:lnTo>
                <a:lnTo>
                  <a:pt x="148231" y="129702"/>
                </a:lnTo>
                <a:cubicBezTo>
                  <a:pt x="153355" y="129702"/>
                  <a:pt x="157495" y="133842"/>
                  <a:pt x="157495" y="138967"/>
                </a:cubicBezTo>
                <a:cubicBezTo>
                  <a:pt x="157495" y="144091"/>
                  <a:pt x="153355" y="148231"/>
                  <a:pt x="148231" y="148231"/>
                </a:cubicBezTo>
                <a:lnTo>
                  <a:pt x="37058" y="148231"/>
                </a:lnTo>
                <a:cubicBezTo>
                  <a:pt x="31933" y="148231"/>
                  <a:pt x="27793" y="144091"/>
                  <a:pt x="27793" y="138967"/>
                </a:cubicBezTo>
                <a:cubicBezTo>
                  <a:pt x="27793" y="133842"/>
                  <a:pt x="31933" y="129702"/>
                  <a:pt x="37058" y="129702"/>
                </a:cubicBezTo>
                <a:lnTo>
                  <a:pt x="83380" y="129702"/>
                </a:lnTo>
                <a:lnTo>
                  <a:pt x="83380" y="44382"/>
                </a:lnTo>
                <a:cubicBezTo>
                  <a:pt x="76576" y="41400"/>
                  <a:pt x="71452" y="35234"/>
                  <a:pt x="69947" y="27793"/>
                </a:cubicBezTo>
                <a:lnTo>
                  <a:pt x="37058" y="27793"/>
                </a:lnTo>
                <a:cubicBezTo>
                  <a:pt x="31933" y="27793"/>
                  <a:pt x="27793" y="23653"/>
                  <a:pt x="27793" y="18529"/>
                </a:cubicBezTo>
                <a:cubicBezTo>
                  <a:pt x="27793" y="13404"/>
                  <a:pt x="31933" y="9264"/>
                  <a:pt x="37058" y="9264"/>
                </a:cubicBezTo>
                <a:lnTo>
                  <a:pt x="74116" y="9264"/>
                </a:lnTo>
                <a:cubicBezTo>
                  <a:pt x="78342" y="3648"/>
                  <a:pt x="85059" y="0"/>
                  <a:pt x="92644" y="0"/>
                </a:cubicBezTo>
                <a:cubicBezTo>
                  <a:pt x="100230" y="0"/>
                  <a:pt x="106946" y="3648"/>
                  <a:pt x="111173" y="9264"/>
                </a:cubicBezTo>
                <a:close/>
                <a:moveTo>
                  <a:pt x="127270" y="92644"/>
                </a:moveTo>
                <a:lnTo>
                  <a:pt x="169192" y="92644"/>
                </a:lnTo>
                <a:lnTo>
                  <a:pt x="148231" y="56687"/>
                </a:lnTo>
                <a:lnTo>
                  <a:pt x="127270" y="92644"/>
                </a:lnTo>
                <a:close/>
                <a:moveTo>
                  <a:pt x="148231" y="120438"/>
                </a:moveTo>
                <a:cubicBezTo>
                  <a:pt x="130021" y="120438"/>
                  <a:pt x="114879" y="110594"/>
                  <a:pt x="111752" y="97595"/>
                </a:cubicBezTo>
                <a:cubicBezTo>
                  <a:pt x="111000" y="94410"/>
                  <a:pt x="112042" y="91139"/>
                  <a:pt x="113692" y="88302"/>
                </a:cubicBezTo>
                <a:lnTo>
                  <a:pt x="141254" y="41053"/>
                </a:lnTo>
                <a:cubicBezTo>
                  <a:pt x="142701" y="38563"/>
                  <a:pt x="145365" y="37058"/>
                  <a:pt x="148231" y="37058"/>
                </a:cubicBezTo>
                <a:cubicBezTo>
                  <a:pt x="151097" y="37058"/>
                  <a:pt x="153761" y="38592"/>
                  <a:pt x="155208" y="41053"/>
                </a:cubicBezTo>
                <a:lnTo>
                  <a:pt x="182770" y="88302"/>
                </a:lnTo>
                <a:cubicBezTo>
                  <a:pt x="184420" y="91139"/>
                  <a:pt x="185462" y="94410"/>
                  <a:pt x="184710" y="97595"/>
                </a:cubicBezTo>
                <a:cubicBezTo>
                  <a:pt x="181583" y="110565"/>
                  <a:pt x="166441" y="120438"/>
                  <a:pt x="148231" y="120438"/>
                </a:cubicBezTo>
                <a:close/>
                <a:moveTo>
                  <a:pt x="36710" y="56687"/>
                </a:moveTo>
                <a:lnTo>
                  <a:pt x="15750" y="92644"/>
                </a:lnTo>
                <a:lnTo>
                  <a:pt x="57700" y="92644"/>
                </a:lnTo>
                <a:lnTo>
                  <a:pt x="36710" y="56687"/>
                </a:lnTo>
                <a:close/>
                <a:moveTo>
                  <a:pt x="261" y="97595"/>
                </a:moveTo>
                <a:cubicBezTo>
                  <a:pt x="-492" y="94410"/>
                  <a:pt x="550" y="91139"/>
                  <a:pt x="2200" y="88302"/>
                </a:cubicBezTo>
                <a:lnTo>
                  <a:pt x="29762" y="41053"/>
                </a:lnTo>
                <a:cubicBezTo>
                  <a:pt x="31210" y="38563"/>
                  <a:pt x="33873" y="37058"/>
                  <a:pt x="36739" y="37058"/>
                </a:cubicBezTo>
                <a:cubicBezTo>
                  <a:pt x="39605" y="37058"/>
                  <a:pt x="42269" y="38592"/>
                  <a:pt x="43717" y="41053"/>
                </a:cubicBezTo>
                <a:lnTo>
                  <a:pt x="71278" y="88302"/>
                </a:lnTo>
                <a:cubicBezTo>
                  <a:pt x="72928" y="91139"/>
                  <a:pt x="73971" y="94410"/>
                  <a:pt x="73218" y="97595"/>
                </a:cubicBezTo>
                <a:cubicBezTo>
                  <a:pt x="70091" y="110565"/>
                  <a:pt x="54950" y="120438"/>
                  <a:pt x="36739" y="120438"/>
                </a:cubicBezTo>
                <a:cubicBezTo>
                  <a:pt x="18529" y="120438"/>
                  <a:pt x="3387" y="110594"/>
                  <a:pt x="261" y="97595"/>
                </a:cubicBezTo>
                <a:close/>
              </a:path>
            </a:pathLst>
          </a:custGeom>
          <a:solidFill>
            <a:srgbClr val="0984e3"/>
          </a:solidFill>
          <a:ln w="0">
            <a:noFill/>
          </a:ln>
        </p:spPr>
        <p:style>
          <a:lnRef idx="0"/>
          <a:fillRef idx="0"/>
          <a:effectRef idx="0"/>
          <a:fontRef idx="minor"/>
        </p:style>
      </p:sp>
      <p:sp>
        <p:nvSpPr>
          <p:cNvPr id="360" name="Text 24"/>
          <p:cNvSpPr/>
          <p:nvPr/>
        </p:nvSpPr>
        <p:spPr>
          <a:xfrm>
            <a:off x="6666840" y="3765960"/>
            <a:ext cx="50407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MAD Doctrine:</a:t>
            </a:r>
            <a:r>
              <a:rPr b="0" lang="en-US" sz="1170" spc="-1" strike="noStrike">
                <a:solidFill>
                  <a:srgbClr val="e0e0e0"/>
                </a:solidFill>
                <a:latin typeface="Quattrocento Sans"/>
                <a:ea typeface="Quattrocento Sans"/>
              </a:rPr>
              <a:t> Mutual Assured Destruction as deterrent</a:t>
            </a:r>
            <a:endParaRPr b="0" lang="en-HK" sz="1170" spc="-1" strike="noStrike">
              <a:latin typeface="Arial"/>
            </a:endParaRPr>
          </a:p>
        </p:txBody>
      </p:sp>
      <p:sp>
        <p:nvSpPr>
          <p:cNvPr id="361" name="Shape 25"/>
          <p:cNvSpPr/>
          <p:nvPr/>
        </p:nvSpPr>
        <p:spPr>
          <a:xfrm>
            <a:off x="6260760" y="4321800"/>
            <a:ext cx="5558040" cy="870120"/>
          </a:xfrm>
          <a:custGeom>
            <a:avLst/>
            <a:gdLst/>
            <a:ahLst/>
            <a:rect l="l" t="t" r="r" b="b"/>
            <a:pathLst>
              <a:path w="5558663" h="870857">
                <a:moveTo>
                  <a:pt x="0" y="0"/>
                </a:moveTo>
                <a:lnTo>
                  <a:pt x="5558663" y="0"/>
                </a:lnTo>
                <a:lnTo>
                  <a:pt x="5558663" y="870857"/>
                </a:lnTo>
                <a:lnTo>
                  <a:pt x="0" y="870857"/>
                </a:lnTo>
                <a:lnTo>
                  <a:pt x="0" y="0"/>
                </a:lnTo>
                <a:close/>
              </a:path>
            </a:pathLst>
          </a:custGeom>
          <a:solidFill>
            <a:srgbClr val="f8f9fa"/>
          </a:solidFill>
          <a:ln w="0">
            <a:noFill/>
          </a:ln>
        </p:spPr>
        <p:style>
          <a:lnRef idx="0"/>
          <a:fillRef idx="0"/>
          <a:effectRef idx="0"/>
          <a:fontRef idx="minor"/>
        </p:style>
      </p:sp>
      <p:sp>
        <p:nvSpPr>
          <p:cNvPr id="362" name="Shape 26"/>
          <p:cNvSpPr/>
          <p:nvPr/>
        </p:nvSpPr>
        <p:spPr>
          <a:xfrm>
            <a:off x="6260760" y="4321800"/>
            <a:ext cx="36360" cy="870120"/>
          </a:xfrm>
          <a:custGeom>
            <a:avLst/>
            <a:gdLst/>
            <a:ahLst/>
            <a:rect l="l" t="t" r="r" b="b"/>
            <a:pathLst>
              <a:path w="37058" h="870857">
                <a:moveTo>
                  <a:pt x="0" y="0"/>
                </a:moveTo>
                <a:lnTo>
                  <a:pt x="37058" y="0"/>
                </a:lnTo>
                <a:lnTo>
                  <a:pt x="37058" y="870857"/>
                </a:lnTo>
                <a:lnTo>
                  <a:pt x="0" y="870857"/>
                </a:lnTo>
                <a:lnTo>
                  <a:pt x="0" y="0"/>
                </a:lnTo>
                <a:close/>
              </a:path>
            </a:pathLst>
          </a:custGeom>
          <a:solidFill>
            <a:srgbClr val="0984e3"/>
          </a:solidFill>
          <a:ln w="0">
            <a:noFill/>
          </a:ln>
        </p:spPr>
        <p:style>
          <a:lnRef idx="0"/>
          <a:fillRef idx="0"/>
          <a:effectRef idx="0"/>
          <a:fontRef idx="minor"/>
        </p:style>
      </p:sp>
      <p:sp>
        <p:nvSpPr>
          <p:cNvPr id="363" name="Text 27"/>
          <p:cNvSpPr/>
          <p:nvPr/>
        </p:nvSpPr>
        <p:spPr>
          <a:xfrm>
            <a:off x="6464520" y="4507200"/>
            <a:ext cx="5243040" cy="240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1e272e"/>
                </a:solidFill>
                <a:latin typeface="Quattrocento Sans"/>
                <a:ea typeface="Quattrocento Sans"/>
              </a:rPr>
              <a:t>"The power to constrain an adversary depends upon the power to bind oneself."</a:t>
            </a:r>
            <a:endParaRPr b="0" lang="en-HK" sz="1170" spc="-1" strike="noStrike">
              <a:latin typeface="Arial"/>
            </a:endParaRPr>
          </a:p>
        </p:txBody>
      </p:sp>
      <p:sp>
        <p:nvSpPr>
          <p:cNvPr id="364" name="Text 28"/>
          <p:cNvSpPr/>
          <p:nvPr/>
        </p:nvSpPr>
        <p:spPr>
          <a:xfrm>
            <a:off x="6464520" y="4822200"/>
            <a:ext cx="5233680" cy="184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20" spc="-1" strike="noStrike">
                <a:solidFill>
                  <a:srgbClr val="636e72"/>
                </a:solidFill>
                <a:latin typeface="Quattrocento Sans"/>
                <a:ea typeface="Quattrocento Sans"/>
              </a:rPr>
              <a:t>— </a:t>
            </a:r>
            <a:r>
              <a:rPr b="0" lang="en-US" sz="1020" spc="-1" strike="noStrike">
                <a:solidFill>
                  <a:srgbClr val="636e72"/>
                </a:solidFill>
                <a:latin typeface="Quattrocento Sans"/>
                <a:ea typeface="Quattrocento Sans"/>
              </a:rPr>
              <a:t>Thomas Schelling, Nobel Laureate 2005</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5" name="Text 0"/>
          <p:cNvSpPr/>
          <p:nvPr/>
        </p:nvSpPr>
        <p:spPr>
          <a:xfrm>
            <a:off x="335880" y="335880"/>
            <a:ext cx="1158660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49" strike="noStrike">
                <a:solidFill>
                  <a:srgbClr val="0984e3"/>
                </a:solidFill>
                <a:latin typeface="Quattrocento Sans"/>
                <a:ea typeface="Quattrocento Sans"/>
              </a:rPr>
              <a:t>APPLICATION DOMAIN</a:t>
            </a:r>
            <a:endParaRPr b="0" lang="en-HK" sz="1060" spc="-1" strike="noStrike">
              <a:latin typeface="Arial"/>
            </a:endParaRPr>
          </a:p>
        </p:txBody>
      </p:sp>
      <p:sp>
        <p:nvSpPr>
          <p:cNvPr id="366" name="Text 1"/>
          <p:cNvSpPr/>
          <p:nvPr/>
        </p:nvSpPr>
        <p:spPr>
          <a:xfrm>
            <a:off x="335880" y="604440"/>
            <a:ext cx="11721240" cy="402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2d3436"/>
                </a:solidFill>
                <a:latin typeface="Oranienbaum"/>
                <a:ea typeface="Oranienbaum"/>
              </a:rPr>
              <a:t>Biology &amp; Evolutionary Game Theory</a:t>
            </a:r>
            <a:endParaRPr b="0" lang="en-HK" sz="3170" spc="-1" strike="noStrike">
              <a:latin typeface="Arial"/>
            </a:endParaRPr>
          </a:p>
        </p:txBody>
      </p:sp>
      <p:sp>
        <p:nvSpPr>
          <p:cNvPr id="367" name="Text 2"/>
          <p:cNvSpPr/>
          <p:nvPr/>
        </p:nvSpPr>
        <p:spPr>
          <a:xfrm>
            <a:off x="335880" y="1251000"/>
            <a:ext cx="5995440" cy="456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1e272e"/>
                </a:solidFill>
                <a:latin typeface="Quattrocento Sans"/>
                <a:ea typeface="Quattrocento Sans"/>
              </a:rPr>
              <a:t>In 1973, John Maynard Smith and George Price introduced game theory to biology, revolutionizing our understanding of animal behavior and evolution.</a:t>
            </a:r>
            <a:endParaRPr b="0" lang="en-HK" sz="1320" spc="-1" strike="noStrike">
              <a:latin typeface="Arial"/>
            </a:endParaRPr>
          </a:p>
        </p:txBody>
      </p:sp>
      <p:sp>
        <p:nvSpPr>
          <p:cNvPr id="368" name="Text 3"/>
          <p:cNvSpPr/>
          <p:nvPr/>
        </p:nvSpPr>
        <p:spPr>
          <a:xfrm>
            <a:off x="335880" y="1889280"/>
            <a:ext cx="6876000" cy="654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Evolutionary game theory applies strategic concepts to populations where successful strategies spread through natural selection. Unlike classical game theory, it doesn't assume rationality—only that successful strategies reproduce.</a:t>
            </a:r>
            <a:endParaRPr b="0" lang="en-HK" sz="1060" spc="-1" strike="noStrike">
              <a:latin typeface="Arial"/>
            </a:endParaRPr>
          </a:p>
        </p:txBody>
      </p:sp>
      <p:sp>
        <p:nvSpPr>
          <p:cNvPr id="369" name="Shape 4"/>
          <p:cNvSpPr/>
          <p:nvPr/>
        </p:nvSpPr>
        <p:spPr>
          <a:xfrm>
            <a:off x="340200" y="2682720"/>
            <a:ext cx="6800760" cy="1955880"/>
          </a:xfrm>
          <a:custGeom>
            <a:avLst/>
            <a:gdLst/>
            <a:ah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round/>
          </a:ln>
        </p:spPr>
        <p:style>
          <a:lnRef idx="0"/>
          <a:fillRef idx="0"/>
          <a:effectRef idx="0"/>
          <a:fontRef idx="minor"/>
        </p:style>
      </p:sp>
      <p:sp>
        <p:nvSpPr>
          <p:cNvPr id="370" name="Text 5"/>
          <p:cNvSpPr/>
          <p:nvPr/>
        </p:nvSpPr>
        <p:spPr>
          <a:xfrm>
            <a:off x="512280" y="2854800"/>
            <a:ext cx="654048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Evolutionarily Stable Strategy (ESS)</a:t>
            </a:r>
            <a:endParaRPr b="0" lang="en-HK" sz="1320" spc="-1" strike="noStrike">
              <a:latin typeface="Arial"/>
            </a:endParaRPr>
          </a:p>
        </p:txBody>
      </p:sp>
      <p:sp>
        <p:nvSpPr>
          <p:cNvPr id="371" name="Text 6"/>
          <p:cNvSpPr/>
          <p:nvPr/>
        </p:nvSpPr>
        <p:spPr>
          <a:xfrm>
            <a:off x="512280" y="3190680"/>
            <a:ext cx="6523560" cy="217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e272e"/>
                </a:solidFill>
                <a:latin typeface="Quattrocento Sans"/>
                <a:ea typeface="Quattrocento Sans"/>
              </a:rPr>
              <a:t>An ESS is a strategy that, if adopted by a population, cannot be invaded by any alternative strategy. It satisfies:</a:t>
            </a:r>
            <a:endParaRPr b="0" lang="en-HK" sz="1060" spc="-1" strike="noStrike">
              <a:latin typeface="Arial"/>
            </a:endParaRPr>
          </a:p>
        </p:txBody>
      </p:sp>
      <p:sp>
        <p:nvSpPr>
          <p:cNvPr id="372" name="Shape 7"/>
          <p:cNvSpPr/>
          <p:nvPr/>
        </p:nvSpPr>
        <p:spPr>
          <a:xfrm>
            <a:off x="512280" y="3509640"/>
            <a:ext cx="6456240" cy="637560"/>
          </a:xfrm>
          <a:custGeom>
            <a:avLst/>
            <a:gdLst/>
            <a:ahLst/>
            <a:rect l="l" t="t" r="r" b="b"/>
            <a:pathLst>
              <a:path w="6457058" h="638149">
                <a:moveTo>
                  <a:pt x="0" y="0"/>
                </a:moveTo>
                <a:lnTo>
                  <a:pt x="6457058" y="0"/>
                </a:lnTo>
                <a:lnTo>
                  <a:pt x="6457058" y="638149"/>
                </a:lnTo>
                <a:lnTo>
                  <a:pt x="0" y="638149"/>
                </a:lnTo>
                <a:lnTo>
                  <a:pt x="0" y="0"/>
                </a:lnTo>
                <a:close/>
              </a:path>
            </a:pathLst>
          </a:custGeom>
          <a:solidFill>
            <a:srgbClr val="f8f9fa"/>
          </a:solidFill>
          <a:ln w="0">
            <a:noFill/>
          </a:ln>
        </p:spPr>
        <p:style>
          <a:lnRef idx="0"/>
          <a:fillRef idx="0"/>
          <a:effectRef idx="0"/>
          <a:fontRef idx="minor"/>
        </p:style>
      </p:sp>
      <p:sp>
        <p:nvSpPr>
          <p:cNvPr id="373" name="Text 8"/>
          <p:cNvSpPr/>
          <p:nvPr/>
        </p:nvSpPr>
        <p:spPr>
          <a:xfrm>
            <a:off x="613080" y="3610440"/>
            <a:ext cx="63219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u(ESS, ESS) ≥ u(Mutant, ESS)</a:t>
            </a:r>
            <a:endParaRPr b="0" lang="en-HK" sz="1060" spc="-1" strike="noStrike">
              <a:latin typeface="Arial"/>
            </a:endParaRPr>
          </a:p>
        </p:txBody>
      </p:sp>
      <p:sp>
        <p:nvSpPr>
          <p:cNvPr id="374" name="Text 9"/>
          <p:cNvSpPr/>
          <p:nvPr/>
        </p:nvSpPr>
        <p:spPr>
          <a:xfrm>
            <a:off x="613080" y="3845520"/>
            <a:ext cx="63219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If equal: u(ESS, Mutant) &gt; u(Mutant, Mutant)</a:t>
            </a:r>
            <a:endParaRPr b="0" lang="en-HK" sz="1060" spc="-1" strike="noStrike">
              <a:latin typeface="Arial"/>
            </a:endParaRPr>
          </a:p>
        </p:txBody>
      </p:sp>
      <p:sp>
        <p:nvSpPr>
          <p:cNvPr id="375" name="Text 10"/>
          <p:cNvSpPr/>
          <p:nvPr/>
        </p:nvSpPr>
        <p:spPr>
          <a:xfrm>
            <a:off x="512280" y="4248720"/>
            <a:ext cx="6523560" cy="217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An ESS is a refined Nash Equilibrium that is robust to evolutionary pressures.</a:t>
            </a:r>
            <a:endParaRPr b="0" lang="en-HK" sz="1060" spc="-1" strike="noStrike">
              <a:latin typeface="Arial"/>
            </a:endParaRPr>
          </a:p>
        </p:txBody>
      </p:sp>
      <p:sp>
        <p:nvSpPr>
          <p:cNvPr id="376" name="Shape 11"/>
          <p:cNvSpPr/>
          <p:nvPr/>
        </p:nvSpPr>
        <p:spPr>
          <a:xfrm>
            <a:off x="352800" y="4777560"/>
            <a:ext cx="6792120" cy="1527480"/>
          </a:xfrm>
          <a:custGeom>
            <a:avLst/>
            <a:gdLst/>
            <a:ahLst/>
            <a:rect l="l" t="t" r="r" b="b"/>
            <a:pathLst>
              <a:path w="6792926" h="1528198">
                <a:moveTo>
                  <a:pt x="0" y="0"/>
                </a:moveTo>
                <a:lnTo>
                  <a:pt x="6792926" y="0"/>
                </a:lnTo>
                <a:lnTo>
                  <a:pt x="6792926" y="1528198"/>
                </a:lnTo>
                <a:lnTo>
                  <a:pt x="0" y="1528198"/>
                </a:lnTo>
                <a:lnTo>
                  <a:pt x="0" y="0"/>
                </a:lnTo>
                <a:close/>
              </a:path>
            </a:pathLst>
          </a:custGeom>
          <a:solidFill>
            <a:srgbClr val="f8f9fa"/>
          </a:solidFill>
          <a:ln w="0">
            <a:noFill/>
          </a:ln>
        </p:spPr>
        <p:style>
          <a:lnRef idx="0"/>
          <a:fillRef idx="0"/>
          <a:effectRef idx="0"/>
          <a:fontRef idx="minor"/>
        </p:style>
      </p:sp>
      <p:sp>
        <p:nvSpPr>
          <p:cNvPr id="377" name="Shape 12"/>
          <p:cNvSpPr/>
          <p:nvPr/>
        </p:nvSpPr>
        <p:spPr>
          <a:xfrm>
            <a:off x="352800" y="4777560"/>
            <a:ext cx="32760" cy="1527480"/>
          </a:xfrm>
          <a:custGeom>
            <a:avLst/>
            <a:gdLst/>
            <a:ahLst/>
            <a:rect l="l" t="t" r="r" b="b"/>
            <a:pathLst>
              <a:path w="33587" h="1528198">
                <a:moveTo>
                  <a:pt x="0" y="0"/>
                </a:moveTo>
                <a:lnTo>
                  <a:pt x="33587" y="0"/>
                </a:lnTo>
                <a:lnTo>
                  <a:pt x="33587" y="1528198"/>
                </a:lnTo>
                <a:lnTo>
                  <a:pt x="0" y="1528198"/>
                </a:lnTo>
                <a:lnTo>
                  <a:pt x="0" y="0"/>
                </a:lnTo>
                <a:close/>
              </a:path>
            </a:pathLst>
          </a:custGeom>
          <a:solidFill>
            <a:srgbClr val="0984e3"/>
          </a:solidFill>
          <a:ln w="0">
            <a:noFill/>
          </a:ln>
        </p:spPr>
        <p:style>
          <a:lnRef idx="0"/>
          <a:fillRef idx="0"/>
          <a:effectRef idx="0"/>
          <a:fontRef idx="minor"/>
        </p:style>
      </p:sp>
      <p:sp>
        <p:nvSpPr>
          <p:cNvPr id="378" name="Text 13"/>
          <p:cNvSpPr/>
          <p:nvPr/>
        </p:nvSpPr>
        <p:spPr>
          <a:xfrm>
            <a:off x="537480" y="4945680"/>
            <a:ext cx="652356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The Hawk-Dove Game</a:t>
            </a:r>
            <a:endParaRPr b="0" lang="en-HK" sz="1320" spc="-1" strike="noStrike">
              <a:latin typeface="Arial"/>
            </a:endParaRPr>
          </a:p>
        </p:txBody>
      </p:sp>
      <p:sp>
        <p:nvSpPr>
          <p:cNvPr id="379" name="Text 14"/>
          <p:cNvSpPr/>
          <p:nvPr/>
        </p:nvSpPr>
        <p:spPr>
          <a:xfrm>
            <a:off x="537480" y="5281560"/>
            <a:ext cx="6506640" cy="217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Models conflict over resources between aggressive (Hawk) and peaceful (Dove) strategies:</a:t>
            </a:r>
            <a:endParaRPr b="0" lang="en-HK" sz="1060" spc="-1" strike="noStrike">
              <a:latin typeface="Arial"/>
            </a:endParaRPr>
          </a:p>
        </p:txBody>
      </p:sp>
      <p:sp>
        <p:nvSpPr>
          <p:cNvPr id="380" name="Text 15"/>
          <p:cNvSpPr/>
          <p:nvPr/>
        </p:nvSpPr>
        <p:spPr>
          <a:xfrm>
            <a:off x="537480" y="5600520"/>
            <a:ext cx="3215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Hawk:</a:t>
            </a:r>
            <a:r>
              <a:rPr b="0" lang="en-US" sz="1060" spc="-1" strike="noStrike">
                <a:solidFill>
                  <a:srgbClr val="636e72"/>
                </a:solidFill>
                <a:latin typeface="Quattrocento Sans"/>
                <a:ea typeface="Quattrocento Sans"/>
              </a:rPr>
              <a:t> Fight, high cost</a:t>
            </a:r>
            <a:endParaRPr b="0" lang="en-HK" sz="1060" spc="-1" strike="noStrike">
              <a:latin typeface="Arial"/>
            </a:endParaRPr>
          </a:p>
        </p:txBody>
      </p:sp>
      <p:sp>
        <p:nvSpPr>
          <p:cNvPr id="381" name="Text 16"/>
          <p:cNvSpPr/>
          <p:nvPr/>
        </p:nvSpPr>
        <p:spPr>
          <a:xfrm>
            <a:off x="3823200" y="5600520"/>
            <a:ext cx="3215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Dove:</a:t>
            </a:r>
            <a:r>
              <a:rPr b="0" lang="en-US" sz="1060" spc="-1" strike="noStrike">
                <a:solidFill>
                  <a:srgbClr val="636e72"/>
                </a:solidFill>
                <a:latin typeface="Quattrocento Sans"/>
                <a:ea typeface="Quattrocento Sans"/>
              </a:rPr>
              <a:t> Hawk takes all</a:t>
            </a:r>
            <a:endParaRPr b="0" lang="en-HK" sz="1060" spc="-1" strike="noStrike">
              <a:latin typeface="Arial"/>
            </a:endParaRPr>
          </a:p>
        </p:txBody>
      </p:sp>
      <p:sp>
        <p:nvSpPr>
          <p:cNvPr id="382" name="Text 17"/>
          <p:cNvSpPr/>
          <p:nvPr/>
        </p:nvSpPr>
        <p:spPr>
          <a:xfrm>
            <a:off x="537480" y="5936400"/>
            <a:ext cx="3215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Dove vs. Dove:</a:t>
            </a:r>
            <a:r>
              <a:rPr b="0" lang="en-US" sz="1060" spc="-1" strike="noStrike">
                <a:solidFill>
                  <a:srgbClr val="636e72"/>
                </a:solidFill>
                <a:latin typeface="Quattrocento Sans"/>
                <a:ea typeface="Quattrocento Sans"/>
              </a:rPr>
              <a:t> Share peacefully</a:t>
            </a:r>
            <a:endParaRPr b="0" lang="en-HK" sz="1060" spc="-1" strike="noStrike">
              <a:latin typeface="Arial"/>
            </a:endParaRPr>
          </a:p>
        </p:txBody>
      </p:sp>
      <p:sp>
        <p:nvSpPr>
          <p:cNvPr id="383" name="Text 18"/>
          <p:cNvSpPr/>
          <p:nvPr/>
        </p:nvSpPr>
        <p:spPr>
          <a:xfrm>
            <a:off x="3823200" y="5936400"/>
            <a:ext cx="3215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0984e3"/>
                </a:solidFill>
                <a:latin typeface="Quattrocento Sans"/>
                <a:ea typeface="Quattrocento Sans"/>
              </a:rPr>
              <a:t>ESS:</a:t>
            </a:r>
            <a:r>
              <a:rPr b="0" lang="en-US" sz="1060" spc="-1" strike="noStrike">
                <a:solidFill>
                  <a:srgbClr val="636e72"/>
                </a:solidFill>
                <a:latin typeface="Quattrocento Sans"/>
                <a:ea typeface="Quattrocento Sans"/>
              </a:rPr>
              <a:t> Mixed population</a:t>
            </a:r>
            <a:endParaRPr b="0" lang="en-HK" sz="1060" spc="-1" strike="noStrike">
              <a:latin typeface="Arial"/>
            </a:endParaRPr>
          </a:p>
        </p:txBody>
      </p:sp>
      <p:sp>
        <p:nvSpPr>
          <p:cNvPr id="384" name="Shape 19"/>
          <p:cNvSpPr/>
          <p:nvPr/>
        </p:nvSpPr>
        <p:spPr>
          <a:xfrm>
            <a:off x="7415640" y="1213200"/>
            <a:ext cx="4440960" cy="3500640"/>
          </a:xfrm>
          <a:custGeom>
            <a:avLst/>
            <a:gdLst/>
            <a:ah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round/>
          </a:ln>
        </p:spPr>
        <p:style>
          <a:lnRef idx="0"/>
          <a:fillRef idx="0"/>
          <a:effectRef idx="0"/>
          <a:fontRef idx="minor"/>
        </p:style>
      </p:sp>
      <p:sp>
        <p:nvSpPr>
          <p:cNvPr id="385" name="Image 0"/>
          <p:cNvSpPr/>
          <p:nvPr/>
        </p:nvSpPr>
        <p:spPr>
          <a:xfrm>
            <a:off x="7587720" y="1385280"/>
            <a:ext cx="4096800" cy="1678680"/>
          </a:xfrm>
          <a:prstGeom prst="roundRect">
            <a:avLst>
              <a:gd name="adj" fmla="val 0"/>
            </a:avLst>
          </a:prstGeom>
          <a:blipFill rotWithShape="0">
            <a:blip r:embed="rId1"/>
            <a:srcRect/>
            <a:stretch/>
          </a:blipFill>
          <a:ln w="0">
            <a:noFill/>
          </a:ln>
        </p:spPr>
        <p:style>
          <a:lnRef idx="0"/>
          <a:fillRef idx="0"/>
          <a:effectRef idx="0"/>
          <a:fontRef idx="minor"/>
        </p:style>
      </p:sp>
      <p:sp>
        <p:nvSpPr>
          <p:cNvPr id="386" name="Text 20"/>
          <p:cNvSpPr/>
          <p:nvPr/>
        </p:nvSpPr>
        <p:spPr>
          <a:xfrm>
            <a:off x="7545600" y="3199320"/>
            <a:ext cx="4180680" cy="234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20" spc="-1" strike="noStrike">
                <a:solidFill>
                  <a:srgbClr val="2d3436"/>
                </a:solidFill>
                <a:latin typeface="Oranienbaum"/>
                <a:ea typeface="Oranienbaum"/>
              </a:rPr>
              <a:t>Applications in Biology</a:t>
            </a:r>
            <a:endParaRPr b="0" lang="en-HK" sz="1320" spc="-1" strike="noStrike">
              <a:latin typeface="Arial"/>
            </a:endParaRPr>
          </a:p>
        </p:txBody>
      </p:sp>
      <p:sp>
        <p:nvSpPr>
          <p:cNvPr id="387" name="Shape 21"/>
          <p:cNvSpPr/>
          <p:nvPr/>
        </p:nvSpPr>
        <p:spPr>
          <a:xfrm>
            <a:off x="7621200" y="3564360"/>
            <a:ext cx="100080" cy="133560"/>
          </a:xfrm>
          <a:custGeom>
            <a:avLst/>
            <a:gdLst/>
            <a:ah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w="0">
            <a:noFill/>
          </a:ln>
        </p:spPr>
        <p:style>
          <a:lnRef idx="0"/>
          <a:fillRef idx="0"/>
          <a:effectRef idx="0"/>
          <a:fontRef idx="minor"/>
        </p:style>
      </p:sp>
      <p:sp>
        <p:nvSpPr>
          <p:cNvPr id="388" name="Text 22"/>
          <p:cNvSpPr/>
          <p:nvPr/>
        </p:nvSpPr>
        <p:spPr>
          <a:xfrm>
            <a:off x="7800120" y="3534840"/>
            <a:ext cx="39517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Animal Behavior:</a:t>
            </a:r>
            <a:r>
              <a:rPr b="0" lang="en-US" sz="1060" spc="-1" strike="noStrike">
                <a:solidFill>
                  <a:srgbClr val="636e72"/>
                </a:solidFill>
                <a:latin typeface="Quattrocento Sans"/>
                <a:ea typeface="Quattrocento Sans"/>
              </a:rPr>
              <a:t> Mating rituals, territorial disputes</a:t>
            </a:r>
            <a:endParaRPr b="0" lang="en-HK" sz="1060" spc="-1" strike="noStrike">
              <a:latin typeface="Arial"/>
            </a:endParaRPr>
          </a:p>
        </p:txBody>
      </p:sp>
      <p:sp>
        <p:nvSpPr>
          <p:cNvPr id="389" name="Shape 23"/>
          <p:cNvSpPr/>
          <p:nvPr/>
        </p:nvSpPr>
        <p:spPr>
          <a:xfrm>
            <a:off x="7604640" y="3832920"/>
            <a:ext cx="133560" cy="133560"/>
          </a:xfrm>
          <a:custGeom>
            <a:avLst/>
            <a:gdLst/>
            <a:ah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w="0">
            <a:noFill/>
          </a:ln>
        </p:spPr>
        <p:style>
          <a:lnRef idx="0"/>
          <a:fillRef idx="0"/>
          <a:effectRef idx="0"/>
          <a:fontRef idx="minor"/>
        </p:style>
      </p:sp>
      <p:sp>
        <p:nvSpPr>
          <p:cNvPr id="390" name="Text 24"/>
          <p:cNvSpPr/>
          <p:nvPr/>
        </p:nvSpPr>
        <p:spPr>
          <a:xfrm>
            <a:off x="7800120" y="3803760"/>
            <a:ext cx="39517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Pathogen Evolution:</a:t>
            </a:r>
            <a:r>
              <a:rPr b="0" lang="en-US" sz="1060" spc="-1" strike="noStrike">
                <a:solidFill>
                  <a:srgbClr val="636e72"/>
                </a:solidFill>
                <a:latin typeface="Quattrocento Sans"/>
                <a:ea typeface="Quattrocento Sans"/>
              </a:rPr>
              <a:t> Virulence and transmission strategies</a:t>
            </a:r>
            <a:endParaRPr b="0" lang="en-HK" sz="1060" spc="-1" strike="noStrike">
              <a:latin typeface="Arial"/>
            </a:endParaRPr>
          </a:p>
        </p:txBody>
      </p:sp>
      <p:sp>
        <p:nvSpPr>
          <p:cNvPr id="391" name="Shape 25"/>
          <p:cNvSpPr/>
          <p:nvPr/>
        </p:nvSpPr>
        <p:spPr>
          <a:xfrm>
            <a:off x="7604640" y="4101840"/>
            <a:ext cx="133560" cy="133560"/>
          </a:xfrm>
          <a:custGeom>
            <a:avLst/>
            <a:gdLst/>
            <a:ah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w="0">
            <a:noFill/>
          </a:ln>
        </p:spPr>
        <p:style>
          <a:lnRef idx="0"/>
          <a:fillRef idx="0"/>
          <a:effectRef idx="0"/>
          <a:fontRef idx="minor"/>
        </p:style>
      </p:sp>
      <p:sp>
        <p:nvSpPr>
          <p:cNvPr id="392" name="Text 26"/>
          <p:cNvSpPr/>
          <p:nvPr/>
        </p:nvSpPr>
        <p:spPr>
          <a:xfrm>
            <a:off x="7800120" y="4072320"/>
            <a:ext cx="39517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Cancer Therapy:</a:t>
            </a:r>
            <a:r>
              <a:rPr b="0" lang="en-US" sz="1060" spc="-1" strike="noStrike">
                <a:solidFill>
                  <a:srgbClr val="636e72"/>
                </a:solidFill>
                <a:latin typeface="Quattrocento Sans"/>
                <a:ea typeface="Quattrocento Sans"/>
              </a:rPr>
              <a:t> Treatment resistance evolution</a:t>
            </a:r>
            <a:endParaRPr b="0" lang="en-HK" sz="1060" spc="-1" strike="noStrike">
              <a:latin typeface="Arial"/>
            </a:endParaRPr>
          </a:p>
        </p:txBody>
      </p:sp>
      <p:sp>
        <p:nvSpPr>
          <p:cNvPr id="393" name="Shape 27"/>
          <p:cNvSpPr/>
          <p:nvPr/>
        </p:nvSpPr>
        <p:spPr>
          <a:xfrm>
            <a:off x="7587720" y="4370400"/>
            <a:ext cx="167040" cy="133560"/>
          </a:xfrm>
          <a:custGeom>
            <a:avLst/>
            <a:gdLst/>
            <a:ah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w="0">
            <a:noFill/>
          </a:ln>
        </p:spPr>
        <p:style>
          <a:lnRef idx="0"/>
          <a:fillRef idx="0"/>
          <a:effectRef idx="0"/>
          <a:fontRef idx="minor"/>
        </p:style>
      </p:sp>
      <p:sp>
        <p:nvSpPr>
          <p:cNvPr id="394" name="Text 28"/>
          <p:cNvSpPr/>
          <p:nvPr/>
        </p:nvSpPr>
        <p:spPr>
          <a:xfrm>
            <a:off x="7800120" y="4341240"/>
            <a:ext cx="39517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Social Behavior:</a:t>
            </a:r>
            <a:r>
              <a:rPr b="0" lang="en-US" sz="1060" spc="-1" strike="noStrike">
                <a:solidFill>
                  <a:srgbClr val="636e72"/>
                </a:solidFill>
                <a:latin typeface="Quattrocento Sans"/>
                <a:ea typeface="Quattrocento Sans"/>
              </a:rPr>
              <a:t> Altruism and cooperation evolution</a:t>
            </a:r>
            <a:endParaRPr b="0" lang="en-HK" sz="1060" spc="-1" strike="noStrike">
              <a:latin typeface="Arial"/>
            </a:endParaRPr>
          </a:p>
        </p:txBody>
      </p:sp>
      <p:sp>
        <p:nvSpPr>
          <p:cNvPr id="395" name="Shape 29"/>
          <p:cNvSpPr/>
          <p:nvPr/>
        </p:nvSpPr>
        <p:spPr>
          <a:xfrm>
            <a:off x="7411320" y="4853160"/>
            <a:ext cx="4449600" cy="1292400"/>
          </a:xfrm>
          <a:custGeom>
            <a:avLst/>
            <a:gdLst/>
            <a:ahLst/>
            <a:rect l="l" t="t" r="r" b="b"/>
            <a:pathLst>
              <a:path w="4450248" h="1293091">
                <a:moveTo>
                  <a:pt x="0" y="0"/>
                </a:moveTo>
                <a:lnTo>
                  <a:pt x="4450248" y="0"/>
                </a:lnTo>
                <a:lnTo>
                  <a:pt x="4450248" y="1293091"/>
                </a:lnTo>
                <a:lnTo>
                  <a:pt x="0" y="1293091"/>
                </a:lnTo>
                <a:lnTo>
                  <a:pt x="0" y="0"/>
                </a:lnTo>
                <a:close/>
              </a:path>
            </a:pathLst>
          </a:custGeom>
          <a:solidFill>
            <a:srgbClr val="2d3436"/>
          </a:solidFill>
          <a:ln w="0">
            <a:noFill/>
          </a:ln>
        </p:spPr>
        <p:style>
          <a:lnRef idx="0"/>
          <a:fillRef idx="0"/>
          <a:effectRef idx="0"/>
          <a:fontRef idx="minor"/>
        </p:style>
      </p:sp>
      <p:sp>
        <p:nvSpPr>
          <p:cNvPr id="396" name="Text 30"/>
          <p:cNvSpPr/>
          <p:nvPr/>
        </p:nvSpPr>
        <p:spPr>
          <a:xfrm>
            <a:off x="7579440" y="5021280"/>
            <a:ext cx="4189320" cy="234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Oranienbaum"/>
                <a:ea typeface="Oranienbaum"/>
              </a:rPr>
              <a:t>Evolution of Cooperation</a:t>
            </a:r>
            <a:endParaRPr b="0" lang="en-HK" sz="1190" spc="-1" strike="noStrike">
              <a:latin typeface="Arial"/>
            </a:endParaRPr>
          </a:p>
        </p:txBody>
      </p:sp>
      <p:sp>
        <p:nvSpPr>
          <p:cNvPr id="397" name="Text 31"/>
          <p:cNvSpPr/>
          <p:nvPr/>
        </p:nvSpPr>
        <p:spPr>
          <a:xfrm>
            <a:off x="7579440" y="5323680"/>
            <a:ext cx="4180680" cy="654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e0e0e0"/>
                </a:solidFill>
                <a:latin typeface="Quattrocento Sans"/>
                <a:ea typeface="Quattrocento Sans"/>
              </a:rPr>
              <a:t>Despite individual incentives to defect, cooperation evolves through mechanisms like reciprocity, kin selection, and group selection—explaining altruism across species.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8" name="Shape 0"/>
          <p:cNvSpPr/>
          <p:nvPr/>
        </p:nvSpPr>
        <p:spPr>
          <a:xfrm>
            <a:off x="5486400" y="58572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99" name="Text 1"/>
          <p:cNvSpPr/>
          <p:nvPr/>
        </p:nvSpPr>
        <p:spPr>
          <a:xfrm>
            <a:off x="3664080" y="909720"/>
            <a:ext cx="4866480" cy="1428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500" spc="-1" strike="noStrike">
                <a:solidFill>
                  <a:srgbClr val="2d3436"/>
                </a:solidFill>
                <a:latin typeface="Oranienbaum"/>
                <a:ea typeface="Oranienbaum"/>
              </a:rPr>
              <a:t>The Enduring Power</a:t>
            </a:r>
            <a:endParaRPr b="0" lang="en-HK" sz="4500" spc="-1" strike="noStrike">
              <a:latin typeface="Arial"/>
            </a:endParaRPr>
          </a:p>
          <a:p>
            <a:pPr algn="ctr">
              <a:lnSpc>
                <a:spcPct val="100000"/>
              </a:lnSpc>
              <a:buNone/>
            </a:pPr>
            <a:r>
              <a:rPr b="1" lang="en-US" sz="4500" spc="-1" strike="noStrike">
                <a:solidFill>
                  <a:srgbClr val="2d3436"/>
                </a:solidFill>
                <a:latin typeface="Oranienbaum"/>
                <a:ea typeface="Oranienbaum"/>
              </a:rPr>
              <a:t>of Game Theory</a:t>
            </a:r>
            <a:endParaRPr b="0" lang="en-HK" sz="4500" spc="-1" strike="noStrike">
              <a:latin typeface="Arial"/>
            </a:endParaRPr>
          </a:p>
        </p:txBody>
      </p:sp>
      <p:sp>
        <p:nvSpPr>
          <p:cNvPr id="400" name="Shape 2"/>
          <p:cNvSpPr/>
          <p:nvPr/>
        </p:nvSpPr>
        <p:spPr>
          <a:xfrm>
            <a:off x="5486400" y="2643120"/>
            <a:ext cx="1218600" cy="1836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401" name="Text 3"/>
          <p:cNvSpPr/>
          <p:nvPr/>
        </p:nvSpPr>
        <p:spPr>
          <a:xfrm>
            <a:off x="1771560" y="2967120"/>
            <a:ext cx="8647920" cy="11138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800" spc="-1" strike="noStrike">
                <a:solidFill>
                  <a:srgbClr val="1e272e"/>
                </a:solidFill>
                <a:latin typeface="Quattrocento Sans"/>
                <a:ea typeface="Quattrocento Sans"/>
              </a:rPr>
              <a:t>Game theory transforms our understanding of strategic interaction across all domains of life. From economics to biology, from politics to everyday decisions, its mathematical precision reveals the hidden logic of competition and cooperation.</a:t>
            </a:r>
            <a:endParaRPr b="0" lang="en-HK" sz="1800" spc="-1" strike="noStrike">
              <a:latin typeface="Arial"/>
            </a:endParaRPr>
          </a:p>
        </p:txBody>
      </p:sp>
      <p:sp>
        <p:nvSpPr>
          <p:cNvPr id="402" name="Text 4"/>
          <p:cNvSpPr/>
          <p:nvPr/>
        </p:nvSpPr>
        <p:spPr>
          <a:xfrm>
            <a:off x="1781280" y="4309920"/>
            <a:ext cx="8628840" cy="12376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500" spc="-1" strike="noStrike">
                <a:solidFill>
                  <a:srgbClr val="636e72"/>
                </a:solidFill>
                <a:latin typeface="Quattrocento Sans"/>
                <a:ea typeface="Quattrocento Sans"/>
              </a:rPr>
              <a:t>As we face increasingly complex global challenges—climate change, pandemics, technological disruption—the insights of game theory become more vital than ever. By understanding the strategic structures that shape our world, we become better equipped to design institutions, craft policies, and make decisions that lead to better outcomes for all.</a:t>
            </a:r>
            <a:endParaRPr b="0" lang="en-HK" sz="1500" spc="-1" strike="noStrike">
              <a:latin typeface="Arial"/>
            </a:endParaRPr>
          </a:p>
        </p:txBody>
      </p:sp>
      <p:sp>
        <p:nvSpPr>
          <p:cNvPr id="403" name="Text 5"/>
          <p:cNvSpPr/>
          <p:nvPr/>
        </p:nvSpPr>
        <p:spPr>
          <a:xfrm>
            <a:off x="2615400" y="6005520"/>
            <a:ext cx="6962040" cy="2660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50" spc="-1" strike="noStrike">
                <a:solidFill>
                  <a:srgbClr val="636e72"/>
                </a:solidFill>
                <a:latin typeface="Liter"/>
                <a:ea typeface="Liter"/>
              </a:rPr>
              <a:t>"In the long run, we're all dead. But game theory helps us navigate the short run more wisely."</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18</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2026-04-07T20:36:30Z</dcterms:modified>
  <cp:revision>3</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