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1" i="1" lang="en-HK" sz="4400" spc="-1" strike="noStrike">
                <a:solidFill>
                  <a:srgbClr val="000000"/>
                </a:solidFill>
                <a:latin typeface="Calibri Light"/>
              </a:rPr>
              <a:t>Cl</a:t>
            </a:r>
            <a:r>
              <a:rPr b="1" i="1" lang="en-HK" sz="4400" spc="-1" strike="noStrike">
                <a:solidFill>
                  <a:srgbClr val="000000"/>
                </a:solidFill>
                <a:latin typeface="Calibri Light"/>
              </a:rPr>
              <a:t>ic</a:t>
            </a:r>
            <a:r>
              <a:rPr b="1" i="1" lang="en-HK" sz="4400" spc="-1" strike="noStrike">
                <a:solidFill>
                  <a:srgbClr val="000000"/>
                </a:solidFill>
                <a:latin typeface="Calibri Light"/>
              </a:rPr>
              <a:t>k </a:t>
            </a:r>
            <a:r>
              <a:rPr b="1" i="1" lang="en-HK" sz="4400" spc="-1" strike="noStrike">
                <a:solidFill>
                  <a:srgbClr val="000000"/>
                </a:solidFill>
                <a:latin typeface="Calibri Light"/>
              </a:rPr>
              <a:t>t</a:t>
            </a:r>
            <a:r>
              <a:rPr b="1" i="1" lang="en-HK" sz="4400" spc="-1" strike="noStrike">
                <a:solidFill>
                  <a:srgbClr val="000000"/>
                </a:solidFill>
                <a:latin typeface="Calibri Light"/>
              </a:rPr>
              <a:t>o </a:t>
            </a:r>
            <a:r>
              <a:rPr b="1" i="1" lang="en-HK" sz="4400" spc="-1" strike="noStrike">
                <a:solidFill>
                  <a:srgbClr val="000000"/>
                </a:solidFill>
                <a:latin typeface="Calibri Light"/>
              </a:rPr>
              <a:t>m</a:t>
            </a:r>
            <a:r>
              <a:rPr b="1" i="1" lang="en-HK" sz="4400" spc="-1" strike="noStrike">
                <a:solidFill>
                  <a:srgbClr val="000000"/>
                </a:solidFill>
                <a:latin typeface="Calibri Light"/>
              </a:rPr>
              <a:t>o</a:t>
            </a:r>
            <a:r>
              <a:rPr b="1" i="1" lang="en-HK" sz="4400" spc="-1" strike="noStrike">
                <a:solidFill>
                  <a:srgbClr val="000000"/>
                </a:solidFill>
                <a:latin typeface="Calibri Light"/>
              </a:rPr>
              <a:t>v</a:t>
            </a:r>
            <a:r>
              <a:rPr b="1" i="1" lang="en-HK" sz="4400" spc="-1" strike="noStrike">
                <a:solidFill>
                  <a:srgbClr val="000000"/>
                </a:solidFill>
                <a:latin typeface="Calibri Light"/>
              </a:rPr>
              <a:t>e </a:t>
            </a:r>
            <a:r>
              <a:rPr b="1" i="1" lang="en-HK" sz="4400" spc="-1" strike="noStrike">
                <a:solidFill>
                  <a:srgbClr val="000000"/>
                </a:solidFill>
                <a:latin typeface="Calibri Light"/>
              </a:rPr>
              <a:t>t</a:t>
            </a:r>
            <a:r>
              <a:rPr b="1" i="1" lang="en-HK" sz="4400" spc="-1" strike="noStrike">
                <a:solidFill>
                  <a:srgbClr val="000000"/>
                </a:solidFill>
                <a:latin typeface="Calibri Light"/>
              </a:rPr>
              <a:t>h</a:t>
            </a:r>
            <a:r>
              <a:rPr b="1" i="1" lang="en-HK" sz="4400" spc="-1" strike="noStrike">
                <a:solidFill>
                  <a:srgbClr val="000000"/>
                </a:solidFill>
                <a:latin typeface="Calibri Light"/>
              </a:rPr>
              <a:t>e </a:t>
            </a:r>
            <a:r>
              <a:rPr b="1" i="1" lang="en-HK" sz="4400" spc="-1" strike="noStrike">
                <a:solidFill>
                  <a:srgbClr val="000000"/>
                </a:solidFill>
                <a:latin typeface="Calibri Light"/>
              </a:rPr>
              <a:t>sl</a:t>
            </a:r>
            <a:r>
              <a:rPr b="1" i="1" lang="en-HK" sz="4400" spc="-1" strike="noStrike">
                <a:solidFill>
                  <a:srgbClr val="000000"/>
                </a:solidFill>
                <a:latin typeface="Calibri Light"/>
              </a:rPr>
              <a:t>id</a:t>
            </a:r>
            <a:r>
              <a:rPr b="1" i="1" lang="en-HK" sz="4400" spc="-1" strike="noStrike">
                <a:solidFill>
                  <a:srgbClr val="000000"/>
                </a:solidFill>
                <a:latin typeface="Calibri Light"/>
              </a:rPr>
              <a:t>e</a:t>
            </a:r>
            <a:endParaRPr b="1" i="1" lang="en-HK" sz="4400" spc="-1" strike="noStrike">
              <a:solidFill>
                <a:srgbClr val="000000"/>
              </a:solidFill>
              <a:latin typeface="Calibri Light"/>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a:t>
            </a:r>
            <a:r>
              <a:rPr b="0" lang="en-HK" sz="2000" spc="-1" strike="noStrike">
                <a:latin typeface="Arial"/>
              </a:rPr>
              <a:t>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9D3A5137-EAD9-4C50-843D-24843203D29F}"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6040" cy="3085920"/>
          </a:xfrm>
          <a:prstGeom prst="rect">
            <a:avLst/>
          </a:prstGeom>
          <a:ln w="0">
            <a:noFill/>
          </a:ln>
        </p:spPr>
      </p:sp>
      <p:sp>
        <p:nvSpPr>
          <p:cNvPr id="55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2743BF75-B4D3-428C-9C55-6141176B0A0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6040" cy="3085920"/>
          </a:xfrm>
          <a:prstGeom prst="rect">
            <a:avLst/>
          </a:prstGeom>
          <a:ln w="0">
            <a:noFill/>
          </a:ln>
        </p:spPr>
      </p:sp>
      <p:sp>
        <p:nvSpPr>
          <p:cNvPr id="55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42FDAD8-ED7E-4EBC-8837-5E4FB34FD95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6040" cy="3085920"/>
          </a:xfrm>
          <a:prstGeom prst="rect">
            <a:avLst/>
          </a:prstGeom>
          <a:ln w="0">
            <a:noFill/>
          </a:ln>
        </p:spPr>
      </p:sp>
      <p:sp>
        <p:nvSpPr>
          <p:cNvPr id="56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070EA474-C32D-4C6E-A6DE-3FF9606AE18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6040" cy="3085920"/>
          </a:xfrm>
          <a:prstGeom prst="rect">
            <a:avLst/>
          </a:prstGeom>
          <a:ln w="0">
            <a:noFill/>
          </a:ln>
        </p:spPr>
      </p:sp>
      <p:sp>
        <p:nvSpPr>
          <p:cNvPr id="56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64"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92D8658-C8FD-413E-BA96-C7535B11996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685800" y="1143000"/>
            <a:ext cx="5486040" cy="3085920"/>
          </a:xfrm>
          <a:prstGeom prst="rect">
            <a:avLst/>
          </a:prstGeom>
          <a:ln w="0">
            <a:noFill/>
          </a:ln>
        </p:spPr>
      </p:sp>
      <p:sp>
        <p:nvSpPr>
          <p:cNvPr id="56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67"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4808C96-1C2F-4132-8983-F0F57D04040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685800" y="1143000"/>
            <a:ext cx="5486040" cy="3085920"/>
          </a:xfrm>
          <a:prstGeom prst="rect">
            <a:avLst/>
          </a:prstGeom>
          <a:ln w="0">
            <a:noFill/>
          </a:ln>
        </p:spPr>
      </p:sp>
      <p:sp>
        <p:nvSpPr>
          <p:cNvPr id="56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70"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777FBA3-4858-490D-AF77-7624E007D7C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685800" y="1143000"/>
            <a:ext cx="5486040" cy="3085920"/>
          </a:xfrm>
          <a:prstGeom prst="rect">
            <a:avLst/>
          </a:prstGeom>
          <a:ln w="0">
            <a:noFill/>
          </a:ln>
        </p:spPr>
      </p:sp>
      <p:sp>
        <p:nvSpPr>
          <p:cNvPr id="57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73"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B6A165C4-063C-4CC4-8C15-C876D7B0BF3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685800" y="1143000"/>
            <a:ext cx="5486040" cy="3085920"/>
          </a:xfrm>
          <a:prstGeom prst="rect">
            <a:avLst/>
          </a:prstGeom>
          <a:ln w="0">
            <a:noFill/>
          </a:ln>
        </p:spPr>
      </p:sp>
      <p:sp>
        <p:nvSpPr>
          <p:cNvPr id="57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76"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7B197B7-EAC1-4BAB-98F9-F54EAA0F2FB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685800" y="1143000"/>
            <a:ext cx="5486040" cy="3085920"/>
          </a:xfrm>
          <a:prstGeom prst="rect">
            <a:avLst/>
          </a:prstGeom>
          <a:ln w="0">
            <a:noFill/>
          </a:ln>
        </p:spPr>
      </p:sp>
      <p:sp>
        <p:nvSpPr>
          <p:cNvPr id="57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79"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73D0BA83-681E-4A91-9DA1-DEA9FC6BB34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685800" y="1143000"/>
            <a:ext cx="5486040" cy="3085920"/>
          </a:xfrm>
          <a:prstGeom prst="rect">
            <a:avLst/>
          </a:prstGeom>
          <a:ln w="0">
            <a:noFill/>
          </a:ln>
        </p:spPr>
      </p:sp>
      <p:sp>
        <p:nvSpPr>
          <p:cNvPr id="58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82"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4838E61-08AF-49B2-8BB9-DF5F9D426BA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6040" cy="3085920"/>
          </a:xfrm>
          <a:prstGeom prst="rect">
            <a:avLst/>
          </a:prstGeom>
          <a:ln w="0">
            <a:noFill/>
          </a:ln>
        </p:spPr>
      </p:sp>
      <p:sp>
        <p:nvSpPr>
          <p:cNvPr id="58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85"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B84A793-2EA0-472F-B269-9938EC92777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6040" cy="3085920"/>
          </a:xfrm>
          <a:prstGeom prst="rect">
            <a:avLst/>
          </a:prstGeom>
          <a:ln w="0">
            <a:noFill/>
          </a:ln>
        </p:spPr>
      </p:sp>
      <p:sp>
        <p:nvSpPr>
          <p:cNvPr id="58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88" name="PlaceHolder 3"/>
          <p:cNvSpPr>
            <a:spLocks noGrp="1"/>
          </p:cNvSpPr>
          <p:nvPr>
            <p:ph type="sldNum" idx="1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266CF059-4BC7-4E4A-AE54-7420DDD6549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sldImg"/>
          </p:nvPr>
        </p:nvSpPr>
        <p:spPr>
          <a:xfrm>
            <a:off x="685800" y="1143000"/>
            <a:ext cx="5486040" cy="3085920"/>
          </a:xfrm>
          <a:prstGeom prst="rect">
            <a:avLst/>
          </a:prstGeom>
          <a:ln w="0">
            <a:noFill/>
          </a:ln>
        </p:spPr>
      </p:sp>
      <p:sp>
        <p:nvSpPr>
          <p:cNvPr id="59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91" name="PlaceHolder 3"/>
          <p:cNvSpPr>
            <a:spLocks noGrp="1"/>
          </p:cNvSpPr>
          <p:nvPr>
            <p:ph type="sldNum" idx="1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C224F8B5-FB46-4136-8E3C-D8BF7845202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685800" y="1143000"/>
            <a:ext cx="5486040" cy="3085920"/>
          </a:xfrm>
          <a:prstGeom prst="rect">
            <a:avLst/>
          </a:prstGeom>
          <a:ln w="0">
            <a:noFill/>
          </a:ln>
        </p:spPr>
      </p:sp>
      <p:sp>
        <p:nvSpPr>
          <p:cNvPr id="59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94" name="PlaceHolder 3"/>
          <p:cNvSpPr>
            <a:spLocks noGrp="1"/>
          </p:cNvSpPr>
          <p:nvPr>
            <p:ph type="sldNum" idx="1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77B1231A-537D-4099-9F9B-0171EEF6F21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sldImg"/>
          </p:nvPr>
        </p:nvSpPr>
        <p:spPr>
          <a:xfrm>
            <a:off x="685800" y="1143000"/>
            <a:ext cx="5486040" cy="3085920"/>
          </a:xfrm>
          <a:prstGeom prst="rect">
            <a:avLst/>
          </a:prstGeom>
          <a:ln w="0">
            <a:noFill/>
          </a:ln>
        </p:spPr>
      </p:sp>
      <p:sp>
        <p:nvSpPr>
          <p:cNvPr id="59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597" name="PlaceHolder 3"/>
          <p:cNvSpPr>
            <a:spLocks noGrp="1"/>
          </p:cNvSpPr>
          <p:nvPr>
            <p:ph type="sldNum" idx="1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ECA7205-BFC3-4B52-99C2-5C51D578F8F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685800" y="1143000"/>
            <a:ext cx="5486040" cy="3085920"/>
          </a:xfrm>
          <a:prstGeom prst="rect">
            <a:avLst/>
          </a:prstGeom>
          <a:ln w="0">
            <a:noFill/>
          </a:ln>
        </p:spPr>
      </p:sp>
      <p:sp>
        <p:nvSpPr>
          <p:cNvPr id="59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600" name="PlaceHolder 3"/>
          <p:cNvSpPr>
            <a:spLocks noGrp="1"/>
          </p:cNvSpPr>
          <p:nvPr>
            <p:ph type="sldNum" idx="1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04B9351B-C3F6-4A77-9CA9-F9992B73382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6040" cy="3085920"/>
          </a:xfrm>
          <a:prstGeom prst="rect">
            <a:avLst/>
          </a:prstGeom>
          <a:ln w="0">
            <a:noFill/>
          </a:ln>
        </p:spPr>
      </p:sp>
      <p:sp>
        <p:nvSpPr>
          <p:cNvPr id="60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603" name="PlaceHolder 3"/>
          <p:cNvSpPr>
            <a:spLocks noGrp="1"/>
          </p:cNvSpPr>
          <p:nvPr>
            <p:ph type="sldNum" idx="2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093FFF2F-2D94-439A-A5BB-7A4646E72DB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6040" cy="3085920"/>
          </a:xfrm>
          <a:prstGeom prst="rect">
            <a:avLst/>
          </a:prstGeom>
          <a:ln w="0">
            <a:noFill/>
          </a:ln>
        </p:spPr>
      </p:sp>
      <p:sp>
        <p:nvSpPr>
          <p:cNvPr id="60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606" name="PlaceHolder 3"/>
          <p:cNvSpPr>
            <a:spLocks noGrp="1"/>
          </p:cNvSpPr>
          <p:nvPr>
            <p:ph type="sldNum" idx="2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EB799FE-1D3D-4F1F-8A5A-04202A2F855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6040" cy="3085920"/>
          </a:xfrm>
          <a:prstGeom prst="rect">
            <a:avLst/>
          </a:prstGeom>
          <a:ln w="0">
            <a:noFill/>
          </a:ln>
        </p:spPr>
      </p:sp>
      <p:sp>
        <p:nvSpPr>
          <p:cNvPr id="60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609" name="PlaceHolder 3"/>
          <p:cNvSpPr>
            <a:spLocks noGrp="1"/>
          </p:cNvSpPr>
          <p:nvPr>
            <p:ph type="sldNum" idx="2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08934DA4-6173-40C8-8F54-84310E3FD3FD}"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1" i="1" lang="en-HK" sz="4400" spc="-1" strike="noStrike">
              <a:solidFill>
                <a:srgbClr val="000000"/>
              </a:solidFill>
              <a:latin typeface="Calibri Light"/>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1" i="1" lang="en-HK" sz="4400" spc="-1" strike="noStrike">
                <a:solidFill>
                  <a:srgbClr val="000000"/>
                </a:solidFill>
                <a:latin typeface="Calibri Light"/>
              </a:rPr>
              <a:t>Click to </a:t>
            </a:r>
            <a:r>
              <a:rPr b="1" i="1" lang="en-HK" sz="4400" spc="-1" strike="noStrike">
                <a:solidFill>
                  <a:srgbClr val="000000"/>
                </a:solidFill>
                <a:latin typeface="Calibri Light"/>
              </a:rPr>
              <a:t>edit the </a:t>
            </a:r>
            <a:r>
              <a:rPr b="1" i="1" lang="en-HK" sz="4400" spc="-1" strike="noStrike">
                <a:solidFill>
                  <a:srgbClr val="000000"/>
                </a:solidFill>
                <a:latin typeface="Calibri Light"/>
              </a:rPr>
              <a:t>title text </a:t>
            </a:r>
            <a:r>
              <a:rPr b="1" i="1" lang="en-HK" sz="4400" spc="-1" strike="noStrike">
                <a:solidFill>
                  <a:srgbClr val="000000"/>
                </a:solidFill>
                <a:latin typeface="Calibri Light"/>
              </a:rPr>
              <a:t>format</a:t>
            </a:r>
            <a:endParaRPr b="1" i="1" lang="en-HK" sz="4400" spc="-1" strike="noStrike">
              <a:solidFill>
                <a:srgbClr val="000000"/>
              </a:solidFill>
              <a:latin typeface="Calibri Light"/>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solidFill>
                  <a:srgbClr val="000000"/>
                </a:solidFill>
                <a:latin typeface="Calibri"/>
              </a:rPr>
              <a:t>Click to edit the outline text format</a:t>
            </a:r>
            <a:endParaRPr b="0" lang="en-HK"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HK" sz="2400" spc="-1" strike="noStrike">
                <a:solidFill>
                  <a:srgbClr val="000000"/>
                </a:solidFill>
                <a:latin typeface="Calibri"/>
              </a:rPr>
              <a:t>Second Outline Level</a:t>
            </a:r>
            <a:endParaRPr b="0" lang="en-HK"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HK" sz="2000" spc="-1" strike="noStrike">
                <a:solidFill>
                  <a:srgbClr val="000000"/>
                </a:solidFill>
                <a:latin typeface="Calibri"/>
              </a:rPr>
              <a:t>Third Outline Level</a:t>
            </a:r>
            <a:endParaRPr b="0" lang="en-HK"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HK" sz="2000" spc="-1" strike="noStrike">
                <a:solidFill>
                  <a:srgbClr val="000000"/>
                </a:solidFill>
                <a:latin typeface="Calibri"/>
              </a:rPr>
              <a:t>Fourth Outline Level</a:t>
            </a:r>
            <a:endParaRPr b="0" lang="en-HK"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HK" sz="2000" spc="-1" strike="noStrike">
                <a:solidFill>
                  <a:srgbClr val="000000"/>
                </a:solidFill>
                <a:latin typeface="Calibri"/>
              </a:rPr>
              <a:t>Fifth Outline Level</a:t>
            </a:r>
            <a:endParaRPr b="0" lang="en-HK"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HK" sz="2000" spc="-1" strike="noStrike">
                <a:solidFill>
                  <a:srgbClr val="000000"/>
                </a:solidFill>
                <a:latin typeface="Calibri"/>
              </a:rPr>
              <a:t>Sixth Outline Level</a:t>
            </a:r>
            <a:endParaRPr b="0" lang="en-HK"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HK" sz="2000" spc="-1" strike="noStrike">
                <a:solidFill>
                  <a:srgbClr val="000000"/>
                </a:solidFill>
                <a:latin typeface="Calibri"/>
              </a:rPr>
              <a:t>Seventh Outline Level</a:t>
            </a:r>
            <a:endParaRPr b="0" lang="en-HK"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9160" cy="39024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48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58" strike="noStrike">
                <a:solidFill>
                  <a:srgbClr val="c9a36a"/>
                </a:solidFill>
                <a:latin typeface="Quattrocento Sans"/>
                <a:ea typeface="Quattrocento Sans"/>
              </a:rPr>
              <a:t>Art History Lecture</a:t>
            </a:r>
            <a:endParaRPr b="0" lang="en-HK" sz="1200" spc="-1" strike="noStrike">
              <a:latin typeface="Arial"/>
            </a:endParaRPr>
          </a:p>
        </p:txBody>
      </p:sp>
      <p:sp>
        <p:nvSpPr>
          <p:cNvPr id="48" name="Text 3"/>
          <p:cNvSpPr/>
          <p:nvPr/>
        </p:nvSpPr>
        <p:spPr>
          <a:xfrm>
            <a:off x="380880" y="1387800"/>
            <a:ext cx="6953040" cy="2609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7200" spc="-1" strike="noStrike">
                <a:solidFill>
                  <a:srgbClr val="f2f2f2"/>
                </a:solidFill>
                <a:latin typeface="Oranienbaum"/>
                <a:ea typeface="Oranienbaum"/>
              </a:rPr>
              <a:t>Vincent van Gogh:</a:t>
            </a:r>
            <a:endParaRPr b="0" lang="en-HK" sz="7200" spc="-1" strike="noStrike">
              <a:latin typeface="Arial"/>
            </a:endParaRPr>
          </a:p>
          <a:p>
            <a:pPr>
              <a:lnSpc>
                <a:spcPct val="80000"/>
              </a:lnSpc>
              <a:buNone/>
            </a:pPr>
            <a:r>
              <a:rPr b="1" lang="en-US" sz="7200" spc="-1" strike="noStrike">
                <a:solidFill>
                  <a:srgbClr val="c9a36a"/>
                </a:solidFill>
                <a:latin typeface="Oranienbaum"/>
                <a:ea typeface="Oranienbaum"/>
              </a:rPr>
              <a:t>A Life of Passionand Color</a:t>
            </a:r>
            <a:endParaRPr b="0" lang="en-HK" sz="7200" spc="-1" strike="noStrike">
              <a:latin typeface="Arial"/>
            </a:endParaRPr>
          </a:p>
        </p:txBody>
      </p:sp>
      <p:sp>
        <p:nvSpPr>
          <p:cNvPr id="49" name="Shape 4"/>
          <p:cNvSpPr/>
          <p:nvPr/>
        </p:nvSpPr>
        <p:spPr>
          <a:xfrm>
            <a:off x="380880" y="4298400"/>
            <a:ext cx="1523520" cy="2808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492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b8b8b8"/>
                </a:solidFill>
                <a:latin typeface="Quattrocento Sans"/>
                <a:ea typeface="Quattrocento Sans"/>
              </a:rPr>
              <a:t>Exploring the Art, Struggles, and Legacy of a Post-Impressionist Master</a:t>
            </a:r>
            <a:endParaRPr b="0" lang="en-HK" sz="1800" spc="-1" strike="noStrike">
              <a:latin typeface="Arial"/>
            </a:endParaRPr>
          </a:p>
        </p:txBody>
      </p:sp>
      <p:sp>
        <p:nvSpPr>
          <p:cNvPr id="51" name="Shape 6"/>
          <p:cNvSpPr/>
          <p:nvPr/>
        </p:nvSpPr>
        <p:spPr>
          <a:xfrm>
            <a:off x="416880" y="5870160"/>
            <a:ext cx="166320" cy="19008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248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90080" cy="19008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876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99"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548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f2f2f2"/>
                </a:solidFill>
                <a:latin typeface="Oranienbaum"/>
                <a:ea typeface="Oranienbaum"/>
              </a:rPr>
              <a:t>Contents</a:t>
            </a:r>
            <a:endParaRPr b="0" lang="en-HK" sz="4500" spc="-1" strike="noStrike">
              <a:latin typeface="Arial"/>
            </a:endParaRPr>
          </a:p>
        </p:txBody>
      </p:sp>
      <p:sp>
        <p:nvSpPr>
          <p:cNvPr id="57" name="Shape 2"/>
          <p:cNvSpPr/>
          <p:nvPr/>
        </p:nvSpPr>
        <p:spPr>
          <a:xfrm>
            <a:off x="380880" y="1486080"/>
            <a:ext cx="1218960" cy="2808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3280" cy="13428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7800" cy="13428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3160" cy="5331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7116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7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936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600" y="1819440"/>
            <a:ext cx="5543280" cy="13428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600" y="1819440"/>
            <a:ext cx="37800" cy="13428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280" y="2048040"/>
            <a:ext cx="533160" cy="5331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480" y="2143080"/>
            <a:ext cx="4284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8880" y="2048040"/>
            <a:ext cx="4457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8880" y="2428920"/>
            <a:ext cx="441936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3280" cy="13428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7800" cy="13428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3160" cy="5331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84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7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936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600" y="3352680"/>
            <a:ext cx="5543280" cy="13428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600" y="3352680"/>
            <a:ext cx="37800" cy="13428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280" y="3581280"/>
            <a:ext cx="533160" cy="5331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280" y="3676680"/>
            <a:ext cx="43776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8880" y="3581280"/>
            <a:ext cx="4457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8880" y="3962520"/>
            <a:ext cx="441936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3280" cy="159048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7800" cy="159048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3160" cy="5331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84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7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936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600" y="4886280"/>
            <a:ext cx="5543280" cy="159048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600" y="4886280"/>
            <a:ext cx="37800" cy="159048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280" y="5114880"/>
            <a:ext cx="533160" cy="5331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600" y="5210280"/>
            <a:ext cx="4284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8880" y="5114880"/>
            <a:ext cx="4457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8880" y="5495760"/>
            <a:ext cx="441936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3120" cy="80928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8440" cy="65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68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Early Life and</a:t>
            </a:r>
            <a:endParaRPr b="0" i="1" lang="en-HK" sz="5400" spc="-1" strike="noStrike">
              <a:latin typeface="Arial"/>
            </a:endParaRPr>
          </a:p>
          <a:p>
            <a:pPr>
              <a:lnSpc>
                <a:spcPct val="100000"/>
              </a:lnSpc>
              <a:buNone/>
            </a:pPr>
            <a:r>
              <a:rPr b="1" i="1" lang="en-US" sz="5400" spc="-1" strike="noStrike">
                <a:solidFill>
                  <a:srgbClr val="f2f2f2"/>
                </a:solidFill>
                <a:latin typeface="Oranienbaum"/>
                <a:ea typeface="Oranienbaum"/>
              </a:rPr>
              <a:t>Artistic Beginnings</a:t>
            </a:r>
            <a:endParaRPr b="0" i="1" lang="en-HK" sz="5400" spc="-1" strike="noStrike">
              <a:latin typeface="Arial"/>
            </a:endParaRPr>
          </a:p>
        </p:txBody>
      </p:sp>
      <p:sp>
        <p:nvSpPr>
          <p:cNvPr id="99" name="Shape 4"/>
          <p:cNvSpPr/>
          <p:nvPr/>
        </p:nvSpPr>
        <p:spPr>
          <a:xfrm>
            <a:off x="380880" y="4369680"/>
            <a:ext cx="1828440" cy="280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3360" cy="93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564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222" strike="noStrike">
                <a:solidFill>
                  <a:srgbClr val="c9a36a"/>
                </a:solidFill>
                <a:latin typeface="Quattrocento Sans"/>
                <a:ea typeface="Quattrocento Sans"/>
              </a:rPr>
              <a:t>Chapter 01</a:t>
            </a:r>
            <a:endParaRPr b="0" i="1" lang="en-HK" sz="1110" spc="-1" strike="noStrike">
              <a:latin typeface="Arial"/>
            </a:endParaRPr>
          </a:p>
        </p:txBody>
      </p:sp>
      <p:sp>
        <p:nvSpPr>
          <p:cNvPr id="102" name="Text 1"/>
          <p:cNvSpPr/>
          <p:nvPr/>
        </p:nvSpPr>
        <p:spPr>
          <a:xfrm>
            <a:off x="353520" y="636120"/>
            <a:ext cx="11696760" cy="423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340" spc="-1" strike="noStrike">
                <a:solidFill>
                  <a:srgbClr val="f2f2f2"/>
                </a:solidFill>
                <a:latin typeface="Oranienbaum"/>
                <a:ea typeface="Oranienbaum"/>
              </a:rPr>
              <a:t>From Zundert to the Canvas</a:t>
            </a:r>
            <a:endParaRPr b="0" i="1" lang="en-HK" sz="3340" spc="-1" strike="noStrike">
              <a:latin typeface="Arial"/>
            </a:endParaRPr>
          </a:p>
        </p:txBody>
      </p:sp>
      <p:sp>
        <p:nvSpPr>
          <p:cNvPr id="103" name="Shape 2"/>
          <p:cNvSpPr/>
          <p:nvPr/>
        </p:nvSpPr>
        <p:spPr>
          <a:xfrm>
            <a:off x="353520" y="1201680"/>
            <a:ext cx="989280" cy="1728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8400" cy="176652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6280" cy="176652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8760" cy="21168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4160" cy="282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Birth and Childhood</a:t>
            </a:r>
            <a:endParaRPr b="0" i="1" lang="en-HK" sz="1670" spc="-1" strike="noStrike">
              <a:latin typeface="Arial"/>
            </a:endParaRPr>
          </a:p>
        </p:txBody>
      </p:sp>
      <p:sp>
        <p:nvSpPr>
          <p:cNvPr id="108" name="Text 7"/>
          <p:cNvSpPr/>
          <p:nvPr/>
        </p:nvSpPr>
        <p:spPr>
          <a:xfrm>
            <a:off x="591840" y="2067480"/>
            <a:ext cx="5821920" cy="91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110" spc="-1" strike="noStrike">
                <a:solidFill>
                  <a:srgbClr val="f2f2f2"/>
                </a:solidFill>
                <a:latin typeface="Quattrocento Sans"/>
                <a:ea typeface="Quattrocento Sans"/>
              </a:rPr>
              <a:t>March 30, 1853</a:t>
            </a:r>
            <a:r>
              <a:rPr b="0" i="1"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i="1" lang="en-HK" sz="1110" spc="-1" strike="noStrike">
              <a:latin typeface="Arial"/>
            </a:endParaRPr>
          </a:p>
        </p:txBody>
      </p:sp>
      <p:sp>
        <p:nvSpPr>
          <p:cNvPr id="109" name="Shape 8"/>
          <p:cNvSpPr/>
          <p:nvPr/>
        </p:nvSpPr>
        <p:spPr>
          <a:xfrm>
            <a:off x="366480" y="3375000"/>
            <a:ext cx="6188400" cy="153684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6280" cy="153684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11680" cy="21168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501560" cy="282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Career Struggles</a:t>
            </a:r>
            <a:endParaRPr b="0" i="1" lang="en-HK" sz="1670" spc="-1" strike="noStrike">
              <a:latin typeface="Arial"/>
            </a:endParaRPr>
          </a:p>
        </p:txBody>
      </p:sp>
      <p:sp>
        <p:nvSpPr>
          <p:cNvPr id="113" name="Text 12"/>
          <p:cNvSpPr/>
          <p:nvPr/>
        </p:nvSpPr>
        <p:spPr>
          <a:xfrm>
            <a:off x="591840" y="4011120"/>
            <a:ext cx="5821920" cy="688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10" spc="-1" strike="noStrike">
                <a:solidFill>
                  <a:srgbClr val="b8b8b8"/>
                </a:solidFill>
                <a:latin typeface="Quattrocento Sans"/>
                <a:ea typeface="Quattrocento Sans"/>
              </a:rPr>
              <a:t>Before becoming an artist, Van Gogh tried multiple careers: </a:t>
            </a:r>
            <a:r>
              <a:rPr b="0" i="1" lang="en-US" sz="1110" spc="-1" strike="noStrike">
                <a:solidFill>
                  <a:srgbClr val="f2f2f2"/>
                </a:solidFill>
                <a:latin typeface="Quattrocento Sans"/>
                <a:ea typeface="Quattrocento Sans"/>
              </a:rPr>
              <a:t>art dealer at Goupil &amp; Cie</a:t>
            </a:r>
            <a:r>
              <a:rPr b="0" i="1" lang="en-US" sz="1110" spc="-1" strike="noStrike">
                <a:solidFill>
                  <a:srgbClr val="b8b8b8"/>
                </a:solidFill>
                <a:latin typeface="Quattrocento Sans"/>
                <a:ea typeface="Quattrocento Sans"/>
              </a:rPr>
              <a:t> (The Hague, London, Paris), </a:t>
            </a:r>
            <a:r>
              <a:rPr b="0" i="1" lang="en-US" sz="1110" spc="-1" strike="noStrike">
                <a:solidFill>
                  <a:srgbClr val="f2f2f2"/>
                </a:solidFill>
                <a:latin typeface="Quattrocento Sans"/>
                <a:ea typeface="Quattrocento Sans"/>
              </a:rPr>
              <a:t>teacher in England</a:t>
            </a:r>
            <a:r>
              <a:rPr b="0" i="1" lang="en-US" sz="1110" spc="-1" strike="noStrike">
                <a:solidFill>
                  <a:srgbClr val="b8b8b8"/>
                </a:solidFill>
                <a:latin typeface="Quattrocento Sans"/>
                <a:ea typeface="Quattrocento Sans"/>
              </a:rPr>
              <a:t>, and </a:t>
            </a:r>
            <a:r>
              <a:rPr b="0" i="1" lang="en-US" sz="1110" spc="-1" strike="noStrike">
                <a:solidFill>
                  <a:srgbClr val="f2f2f2"/>
                </a:solidFill>
                <a:latin typeface="Quattrocento Sans"/>
                <a:ea typeface="Quattrocento Sans"/>
              </a:rPr>
              <a:t>preacher among poor miners in Belgium</a:t>
            </a:r>
            <a:r>
              <a:rPr b="0" i="1" lang="en-US" sz="1110" spc="-1" strike="noStrike">
                <a:solidFill>
                  <a:srgbClr val="b8b8b8"/>
                </a:solidFill>
                <a:latin typeface="Quattrocento Sans"/>
                <a:ea typeface="Quattrocento Sans"/>
              </a:rPr>
              <a:t>. Each attempt ended in failure or dismissal, deepening his sense of isolation and purposelessness.</a:t>
            </a:r>
            <a:endParaRPr b="0" i="1" lang="en-HK" sz="1110" spc="-1" strike="noStrike">
              <a:latin typeface="Arial"/>
            </a:endParaRPr>
          </a:p>
        </p:txBody>
      </p:sp>
      <p:sp>
        <p:nvSpPr>
          <p:cNvPr id="114" name="Shape 13"/>
          <p:cNvSpPr/>
          <p:nvPr/>
        </p:nvSpPr>
        <p:spPr>
          <a:xfrm>
            <a:off x="366480" y="5088960"/>
            <a:ext cx="6188400" cy="153684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6280" cy="153684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8320" cy="21168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5400" cy="282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The Turning Point</a:t>
            </a:r>
            <a:endParaRPr b="0" i="1" lang="en-HK" sz="1670" spc="-1" strike="noStrike">
              <a:latin typeface="Arial"/>
            </a:endParaRPr>
          </a:p>
        </p:txBody>
      </p:sp>
      <p:sp>
        <p:nvSpPr>
          <p:cNvPr id="118" name="Text 17"/>
          <p:cNvSpPr/>
          <p:nvPr/>
        </p:nvSpPr>
        <p:spPr>
          <a:xfrm>
            <a:off x="591840" y="5725080"/>
            <a:ext cx="5821920" cy="688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110" spc="-1" strike="noStrike">
                <a:solidFill>
                  <a:srgbClr val="f2f2f2"/>
                </a:solidFill>
                <a:latin typeface="Quattrocento Sans"/>
                <a:ea typeface="Quattrocento Sans"/>
              </a:rPr>
              <a:t>1880, Age 27</a:t>
            </a:r>
            <a:r>
              <a:rPr b="0" i="1"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i="1" lang="en-US" sz="1110" spc="-1" strike="noStrike">
                <a:solidFill>
                  <a:srgbClr val="c9a36a"/>
                </a:solidFill>
                <a:latin typeface="Quattrocento Sans"/>
                <a:ea typeface="Quattrocento Sans"/>
              </a:rPr>
              <a:t>ten years</a:t>
            </a:r>
            <a:r>
              <a:rPr b="0" i="1" lang="en-US" sz="1110" spc="-1" strike="noStrike">
                <a:solidFill>
                  <a:srgbClr val="b8b8b8"/>
                </a:solidFill>
                <a:latin typeface="Quattrocento Sans"/>
                <a:ea typeface="Quattrocento Sans"/>
              </a:rPr>
              <a:t> to create his entire body of work, making his subsequent productivity all the more remarkable.</a:t>
            </a:r>
            <a:endParaRPr b="0" i="1" lang="en-HK" sz="1110" spc="-1" strike="noStrike">
              <a:latin typeface="Arial"/>
            </a:endParaRPr>
          </a:p>
        </p:txBody>
      </p:sp>
      <p:sp>
        <p:nvSpPr>
          <p:cNvPr id="119" name="Shape 18"/>
          <p:cNvSpPr/>
          <p:nvPr/>
        </p:nvSpPr>
        <p:spPr>
          <a:xfrm>
            <a:off x="6763680" y="1431360"/>
            <a:ext cx="5070960" cy="268524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5720" y="1643400"/>
            <a:ext cx="4735080" cy="24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90" spc="-1" strike="noStrike">
                <a:solidFill>
                  <a:srgbClr val="c9a36a"/>
                </a:solidFill>
                <a:latin typeface="Oranienbaum"/>
                <a:ea typeface="Oranienbaum"/>
              </a:rPr>
              <a:t>Key Timeline</a:t>
            </a:r>
            <a:endParaRPr b="0" i="1" lang="en-HK" sz="1390" spc="-1" strike="noStrike">
              <a:latin typeface="Arial"/>
            </a:endParaRPr>
          </a:p>
        </p:txBody>
      </p:sp>
      <p:sp>
        <p:nvSpPr>
          <p:cNvPr id="121" name="Shape 20"/>
          <p:cNvSpPr/>
          <p:nvPr/>
        </p:nvSpPr>
        <p:spPr>
          <a:xfrm>
            <a:off x="6975720" y="2102760"/>
            <a:ext cx="70200" cy="702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120" y="2031840"/>
            <a:ext cx="160740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1853</a:t>
            </a:r>
            <a:endParaRPr b="0" i="1" lang="en-HK" sz="1110" spc="-1" strike="noStrike">
              <a:latin typeface="Arial"/>
            </a:endParaRPr>
          </a:p>
        </p:txBody>
      </p:sp>
      <p:sp>
        <p:nvSpPr>
          <p:cNvPr id="123" name="Text 22"/>
          <p:cNvSpPr/>
          <p:nvPr/>
        </p:nvSpPr>
        <p:spPr>
          <a:xfrm>
            <a:off x="7152120" y="2243880"/>
            <a:ext cx="1598760" cy="17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Born in Zundert, Netherlands</a:t>
            </a:r>
            <a:endParaRPr b="0" i="1" lang="en-HK" sz="980" spc="-1" strike="noStrike">
              <a:latin typeface="Arial"/>
            </a:endParaRPr>
          </a:p>
        </p:txBody>
      </p:sp>
      <p:sp>
        <p:nvSpPr>
          <p:cNvPr id="124" name="Shape 23"/>
          <p:cNvSpPr/>
          <p:nvPr/>
        </p:nvSpPr>
        <p:spPr>
          <a:xfrm>
            <a:off x="6975720" y="2597400"/>
            <a:ext cx="70200" cy="702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120" y="2526840"/>
            <a:ext cx="140436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1869</a:t>
            </a:r>
            <a:endParaRPr b="0" i="1" lang="en-HK" sz="1110" spc="-1" strike="noStrike">
              <a:latin typeface="Arial"/>
            </a:endParaRPr>
          </a:p>
        </p:txBody>
      </p:sp>
      <p:sp>
        <p:nvSpPr>
          <p:cNvPr id="126" name="Text 25"/>
          <p:cNvSpPr/>
          <p:nvPr/>
        </p:nvSpPr>
        <p:spPr>
          <a:xfrm>
            <a:off x="7152120" y="2738880"/>
            <a:ext cx="1395360" cy="17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Begins work as art dealer</a:t>
            </a:r>
            <a:endParaRPr b="0" i="1" lang="en-HK" sz="980" spc="-1" strike="noStrike">
              <a:latin typeface="Arial"/>
            </a:endParaRPr>
          </a:p>
        </p:txBody>
      </p:sp>
      <p:sp>
        <p:nvSpPr>
          <p:cNvPr id="127" name="Shape 26"/>
          <p:cNvSpPr/>
          <p:nvPr/>
        </p:nvSpPr>
        <p:spPr>
          <a:xfrm>
            <a:off x="6975720" y="3092040"/>
            <a:ext cx="70200" cy="702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120" y="3021480"/>
            <a:ext cx="127188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1879</a:t>
            </a:r>
            <a:endParaRPr b="0" i="1" lang="en-HK" sz="1110" spc="-1" strike="noStrike">
              <a:latin typeface="Arial"/>
            </a:endParaRPr>
          </a:p>
        </p:txBody>
      </p:sp>
      <p:sp>
        <p:nvSpPr>
          <p:cNvPr id="129" name="Text 28"/>
          <p:cNvSpPr/>
          <p:nvPr/>
        </p:nvSpPr>
        <p:spPr>
          <a:xfrm>
            <a:off x="7152120" y="3233520"/>
            <a:ext cx="1262880" cy="17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Dismissed as preacher</a:t>
            </a:r>
            <a:endParaRPr b="0" i="1" lang="en-HK" sz="980" spc="-1" strike="noStrike">
              <a:latin typeface="Arial"/>
            </a:endParaRPr>
          </a:p>
        </p:txBody>
      </p:sp>
      <p:sp>
        <p:nvSpPr>
          <p:cNvPr id="130" name="Shape 29"/>
          <p:cNvSpPr/>
          <p:nvPr/>
        </p:nvSpPr>
        <p:spPr>
          <a:xfrm>
            <a:off x="6975720" y="3587040"/>
            <a:ext cx="70200" cy="702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120" y="3516120"/>
            <a:ext cx="136908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1880</a:t>
            </a:r>
            <a:endParaRPr b="0" i="1" lang="en-HK" sz="1110" spc="-1" strike="noStrike">
              <a:latin typeface="Arial"/>
            </a:endParaRPr>
          </a:p>
        </p:txBody>
      </p:sp>
      <p:sp>
        <p:nvSpPr>
          <p:cNvPr id="132" name="Text 31"/>
          <p:cNvSpPr/>
          <p:nvPr/>
        </p:nvSpPr>
        <p:spPr>
          <a:xfrm>
            <a:off x="7152120" y="3728160"/>
            <a:ext cx="1360080" cy="17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Commits to art at age 27</a:t>
            </a:r>
            <a:endParaRPr b="0" i="1" lang="en-HK" sz="980" spc="-1" strike="noStrike">
              <a:latin typeface="Arial"/>
            </a:endParaRPr>
          </a:p>
        </p:txBody>
      </p:sp>
      <p:sp>
        <p:nvSpPr>
          <p:cNvPr id="133" name="Shape 32"/>
          <p:cNvSpPr/>
          <p:nvPr/>
        </p:nvSpPr>
        <p:spPr>
          <a:xfrm>
            <a:off x="6768000" y="4298040"/>
            <a:ext cx="5061960" cy="232308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5400" y="4936320"/>
            <a:ext cx="231480" cy="26460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080" y="5342760"/>
            <a:ext cx="4717440" cy="2912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390" spc="-1" strike="noStrike">
                <a:solidFill>
                  <a:srgbClr val="f2f2f2"/>
                </a:solidFill>
                <a:latin typeface="Quattrocento Sans"/>
                <a:ea typeface="Quattrocento Sans"/>
              </a:rPr>
              <a:t>"I am seeking, I am striving, I am in it with all my heart."</a:t>
            </a:r>
            <a:endParaRPr b="0" i="1" lang="en-HK" sz="1390" spc="-1" strike="noStrike">
              <a:latin typeface="Arial"/>
            </a:endParaRPr>
          </a:p>
        </p:txBody>
      </p:sp>
      <p:sp>
        <p:nvSpPr>
          <p:cNvPr id="136" name="Text 35"/>
          <p:cNvSpPr/>
          <p:nvPr/>
        </p:nvSpPr>
        <p:spPr>
          <a:xfrm>
            <a:off x="6949080" y="5771160"/>
            <a:ext cx="4699800" cy="2116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110" spc="-1" strike="noStrike">
                <a:solidFill>
                  <a:srgbClr val="c9a36a"/>
                </a:solidFill>
                <a:latin typeface="Quattrocento Sans"/>
                <a:ea typeface="Quattrocento Sans"/>
              </a:rPr>
              <a:t>— </a:t>
            </a:r>
            <a:r>
              <a:rPr b="0" i="1" lang="en-US" sz="1110" spc="-1" strike="noStrike">
                <a:solidFill>
                  <a:srgbClr val="c9a36a"/>
                </a:solidFill>
                <a:latin typeface="Quattrocento Sans"/>
                <a:ea typeface="Quattrocento Sans"/>
              </a:rPr>
              <a:t>Vincent van Gogh</a:t>
            </a:r>
            <a:endParaRPr b="0" i="1"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7880" cy="80928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3920" cy="65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68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The Evolution</a:t>
            </a:r>
            <a:endParaRPr b="0" i="1" lang="en-HK" sz="5400" spc="-1" strike="noStrike">
              <a:latin typeface="Arial"/>
            </a:endParaRPr>
          </a:p>
          <a:p>
            <a:pPr>
              <a:lnSpc>
                <a:spcPct val="100000"/>
              </a:lnSpc>
              <a:buNone/>
            </a:pPr>
            <a:r>
              <a:rPr b="1" i="1" lang="en-US" sz="5400" spc="-1" strike="noStrike">
                <a:solidFill>
                  <a:srgbClr val="f2f2f2"/>
                </a:solidFill>
                <a:latin typeface="Oranienbaum"/>
                <a:ea typeface="Oranienbaum"/>
              </a:rPr>
              <a:t>of Style</a:t>
            </a:r>
            <a:endParaRPr b="0" i="1" lang="en-HK" sz="5400" spc="-1" strike="noStrike">
              <a:latin typeface="Arial"/>
            </a:endParaRPr>
          </a:p>
        </p:txBody>
      </p:sp>
      <p:sp>
        <p:nvSpPr>
          <p:cNvPr id="142" name="Shape 4"/>
          <p:cNvSpPr/>
          <p:nvPr/>
        </p:nvSpPr>
        <p:spPr>
          <a:xfrm>
            <a:off x="380880" y="4369680"/>
            <a:ext cx="1828440" cy="280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3360" cy="93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decade of transformation across five distinct artistic periods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0964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20" spc="202" strike="noStrike">
                <a:solidFill>
                  <a:srgbClr val="c9a36a"/>
                </a:solidFill>
                <a:latin typeface="Quattrocento Sans"/>
                <a:ea typeface="Quattrocento Sans"/>
              </a:rPr>
              <a:t>Chapter 02</a:t>
            </a:r>
            <a:endParaRPr b="0" i="1" lang="en-HK" sz="1020" spc="-1" strike="noStrike">
              <a:latin typeface="Arial"/>
            </a:endParaRPr>
          </a:p>
        </p:txBody>
      </p:sp>
      <p:sp>
        <p:nvSpPr>
          <p:cNvPr id="145" name="Text 1"/>
          <p:cNvSpPr/>
          <p:nvPr/>
        </p:nvSpPr>
        <p:spPr>
          <a:xfrm>
            <a:off x="323280" y="582120"/>
            <a:ext cx="11738880" cy="387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60" spc="-1" strike="noStrike">
                <a:solidFill>
                  <a:srgbClr val="f2f2f2"/>
                </a:solidFill>
                <a:latin typeface="Oranienbaum"/>
                <a:ea typeface="Oranienbaum"/>
              </a:rPr>
              <a:t>Five Periods of Artistic Revolution</a:t>
            </a:r>
            <a:endParaRPr b="0" i="1" lang="en-HK" sz="3060" spc="-1" strike="noStrike">
              <a:latin typeface="Arial"/>
            </a:endParaRPr>
          </a:p>
        </p:txBody>
      </p:sp>
      <p:sp>
        <p:nvSpPr>
          <p:cNvPr id="146" name="Shape 2"/>
          <p:cNvSpPr/>
          <p:nvPr/>
        </p:nvSpPr>
        <p:spPr>
          <a:xfrm>
            <a:off x="323280" y="1099440"/>
            <a:ext cx="905040" cy="1584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7440" cy="22269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7440" cy="237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9032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The Hague / Nuenen</a:t>
            </a:r>
            <a:endParaRPr b="0" i="1" lang="en-HK" sz="1280" spc="-1" strike="noStrike">
              <a:latin typeface="Arial"/>
            </a:endParaRPr>
          </a:p>
        </p:txBody>
      </p:sp>
      <p:sp>
        <p:nvSpPr>
          <p:cNvPr id="150" name="Text 6"/>
          <p:cNvSpPr/>
          <p:nvPr/>
        </p:nvSpPr>
        <p:spPr>
          <a:xfrm>
            <a:off x="5352480" y="1495800"/>
            <a:ext cx="5738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1880-1886</a:t>
            </a:r>
            <a:endParaRPr b="0" i="1" lang="en-HK" sz="889" spc="-1" strike="noStrike">
              <a:latin typeface="Arial"/>
            </a:endParaRPr>
          </a:p>
        </p:txBody>
      </p:sp>
      <p:sp>
        <p:nvSpPr>
          <p:cNvPr id="151" name="Text 7"/>
          <p:cNvSpPr/>
          <p:nvPr/>
        </p:nvSpPr>
        <p:spPr>
          <a:xfrm>
            <a:off x="484920" y="1786680"/>
            <a:ext cx="5448960" cy="63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Van Gogh's early period was characterized by </a:t>
            </a:r>
            <a:r>
              <a:rPr b="0" i="1" lang="en-US" sz="1020" spc="-1" strike="noStrike">
                <a:solidFill>
                  <a:srgbClr val="f2f2f2"/>
                </a:solidFill>
                <a:latin typeface="Quattrocento Sans"/>
                <a:ea typeface="Quattrocento Sans"/>
              </a:rPr>
              <a:t>dark, earthy tones</a:t>
            </a:r>
            <a:r>
              <a:rPr b="0" i="1"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i="1" lang="en-HK" sz="1020" spc="-1" strike="noStrike">
              <a:latin typeface="Arial"/>
            </a:endParaRPr>
          </a:p>
        </p:txBody>
      </p:sp>
      <p:sp>
        <p:nvSpPr>
          <p:cNvPr id="152" name="Shape 8"/>
          <p:cNvSpPr/>
          <p:nvPr/>
        </p:nvSpPr>
        <p:spPr>
          <a:xfrm>
            <a:off x="484920" y="2514240"/>
            <a:ext cx="5384160" cy="5817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6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i="1" lang="en-HK" sz="889" spc="-1" strike="noStrike">
              <a:latin typeface="Arial"/>
            </a:endParaRPr>
          </a:p>
        </p:txBody>
      </p:sp>
      <p:sp>
        <p:nvSpPr>
          <p:cNvPr id="154" name="Text 10"/>
          <p:cNvSpPr/>
          <p:nvPr/>
        </p:nvSpPr>
        <p:spPr>
          <a:xfrm>
            <a:off x="582120" y="2805480"/>
            <a:ext cx="52549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Potato Eaters (1885)</a:t>
            </a:r>
            <a:endParaRPr b="0" i="1" lang="en-HK" sz="1020" spc="-1" strike="noStrike">
              <a:latin typeface="Arial"/>
            </a:endParaRPr>
          </a:p>
        </p:txBody>
      </p:sp>
      <p:sp>
        <p:nvSpPr>
          <p:cNvPr id="155" name="Shape 11"/>
          <p:cNvSpPr/>
          <p:nvPr/>
        </p:nvSpPr>
        <p:spPr>
          <a:xfrm>
            <a:off x="484920" y="32097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952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Dark Earth Palette</a:t>
            </a:r>
            <a:endParaRPr b="0" i="1" lang="en-HK" sz="889" spc="-1" strike="noStrike">
              <a:latin typeface="Arial"/>
            </a:endParaRPr>
          </a:p>
        </p:txBody>
      </p:sp>
      <p:sp>
        <p:nvSpPr>
          <p:cNvPr id="159" name="Shape 15"/>
          <p:cNvSpPr/>
          <p:nvPr/>
        </p:nvSpPr>
        <p:spPr>
          <a:xfrm>
            <a:off x="6158880" y="1289520"/>
            <a:ext cx="5707440" cy="22269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8880" y="1289520"/>
            <a:ext cx="5707440" cy="237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520" y="1463400"/>
            <a:ext cx="85680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Paris Period</a:t>
            </a:r>
            <a:endParaRPr b="0" i="1" lang="en-HK" sz="1280" spc="-1" strike="noStrike">
              <a:latin typeface="Arial"/>
            </a:endParaRPr>
          </a:p>
        </p:txBody>
      </p:sp>
      <p:sp>
        <p:nvSpPr>
          <p:cNvPr id="162" name="Text 18"/>
          <p:cNvSpPr/>
          <p:nvPr/>
        </p:nvSpPr>
        <p:spPr>
          <a:xfrm>
            <a:off x="11198160" y="1495800"/>
            <a:ext cx="557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1886-1888</a:t>
            </a:r>
            <a:endParaRPr b="0" i="1" lang="en-HK" sz="889" spc="-1" strike="noStrike">
              <a:latin typeface="Arial"/>
            </a:endParaRPr>
          </a:p>
        </p:txBody>
      </p:sp>
      <p:sp>
        <p:nvSpPr>
          <p:cNvPr id="163" name="Text 19"/>
          <p:cNvSpPr/>
          <p:nvPr/>
        </p:nvSpPr>
        <p:spPr>
          <a:xfrm>
            <a:off x="6320520" y="1786680"/>
            <a:ext cx="5448960" cy="63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Moving to Paris transformed his palette. Through brother Theo, he met </a:t>
            </a:r>
            <a:r>
              <a:rPr b="0" i="1" lang="en-US" sz="1020" spc="-1" strike="noStrike">
                <a:solidFill>
                  <a:srgbClr val="f2f2f2"/>
                </a:solidFill>
                <a:latin typeface="Quattrocento Sans"/>
                <a:ea typeface="Quattrocento Sans"/>
              </a:rPr>
              <a:t>Impressionists like Pissarro, Degas, and Seurat</a:t>
            </a:r>
            <a:r>
              <a:rPr b="0" i="1" lang="en-US" sz="1020" spc="-1" strike="noStrike">
                <a:solidFill>
                  <a:srgbClr val="b8b8b8"/>
                </a:solidFill>
                <a:latin typeface="Quattrocento Sans"/>
                <a:ea typeface="Quattrocento Sans"/>
              </a:rPr>
              <a:t>, embracing brighter colors, broken brushwork, and the influence of Japanese ukiyo-e prints.</a:t>
            </a:r>
            <a:endParaRPr b="0" i="1" lang="en-HK" sz="1020" spc="-1" strike="noStrike">
              <a:latin typeface="Arial"/>
            </a:endParaRPr>
          </a:p>
        </p:txBody>
      </p:sp>
      <p:sp>
        <p:nvSpPr>
          <p:cNvPr id="164" name="Shape 20"/>
          <p:cNvSpPr/>
          <p:nvPr/>
        </p:nvSpPr>
        <p:spPr>
          <a:xfrm>
            <a:off x="6320520" y="2514240"/>
            <a:ext cx="5384160" cy="5817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7720" y="2611440"/>
            <a:ext cx="5246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Key Development:</a:t>
            </a:r>
            <a:endParaRPr b="0" i="1" lang="en-HK" sz="889" spc="-1" strike="noStrike">
              <a:latin typeface="Arial"/>
            </a:endParaRPr>
          </a:p>
        </p:txBody>
      </p:sp>
      <p:sp>
        <p:nvSpPr>
          <p:cNvPr id="166" name="Text 22"/>
          <p:cNvSpPr/>
          <p:nvPr/>
        </p:nvSpPr>
        <p:spPr>
          <a:xfrm>
            <a:off x="6417720" y="2805480"/>
            <a:ext cx="52549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Discovery of pure color</a:t>
            </a:r>
            <a:endParaRPr b="0" i="1" lang="en-HK" sz="1020" spc="-1" strike="noStrike">
              <a:latin typeface="Arial"/>
            </a:endParaRPr>
          </a:p>
        </p:txBody>
      </p:sp>
      <p:sp>
        <p:nvSpPr>
          <p:cNvPr id="167" name="Shape 23"/>
          <p:cNvSpPr/>
          <p:nvPr/>
        </p:nvSpPr>
        <p:spPr>
          <a:xfrm>
            <a:off x="6320520" y="32097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560" y="32097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600" y="32097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440" y="3193560"/>
            <a:ext cx="13820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Bright Impressionist Palette</a:t>
            </a:r>
            <a:endParaRPr b="0" i="1" lang="en-HK" sz="889" spc="-1" strike="noStrike">
              <a:latin typeface="Arial"/>
            </a:endParaRPr>
          </a:p>
        </p:txBody>
      </p:sp>
      <p:sp>
        <p:nvSpPr>
          <p:cNvPr id="171" name="Shape 27"/>
          <p:cNvSpPr/>
          <p:nvPr/>
        </p:nvSpPr>
        <p:spPr>
          <a:xfrm>
            <a:off x="323280" y="3658320"/>
            <a:ext cx="5707440" cy="22269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7440" cy="237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852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Arles Period</a:t>
            </a:r>
            <a:endParaRPr b="0" i="1" lang="en-HK" sz="1280" spc="-1" strike="noStrike">
              <a:latin typeface="Arial"/>
            </a:endParaRPr>
          </a:p>
        </p:txBody>
      </p:sp>
      <p:sp>
        <p:nvSpPr>
          <p:cNvPr id="174" name="Text 30"/>
          <p:cNvSpPr/>
          <p:nvPr/>
        </p:nvSpPr>
        <p:spPr>
          <a:xfrm>
            <a:off x="5362560" y="3864600"/>
            <a:ext cx="557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1888-1889</a:t>
            </a:r>
            <a:endParaRPr b="0" i="1" lang="en-HK" sz="889" spc="-1" strike="noStrike">
              <a:latin typeface="Arial"/>
            </a:endParaRPr>
          </a:p>
        </p:txBody>
      </p:sp>
      <p:sp>
        <p:nvSpPr>
          <p:cNvPr id="175" name="Text 31"/>
          <p:cNvSpPr/>
          <p:nvPr/>
        </p:nvSpPr>
        <p:spPr>
          <a:xfrm>
            <a:off x="484920" y="4155480"/>
            <a:ext cx="5448960" cy="63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Seeking the "Japanese" light of the South, Van Gogh created his most iconic works. The </a:t>
            </a:r>
            <a:r>
              <a:rPr b="0" i="1" lang="en-US" sz="1020" spc="-1" strike="noStrike">
                <a:solidFill>
                  <a:srgbClr val="f2f2f2"/>
                </a:solidFill>
                <a:latin typeface="Quattrocento Sans"/>
                <a:ea typeface="Quattrocento Sans"/>
              </a:rPr>
              <a:t>intense Provençal sun</a:t>
            </a:r>
            <a:r>
              <a:rPr b="0" i="1" lang="en-US" sz="1020" spc="-1" strike="noStrike">
                <a:solidFill>
                  <a:srgbClr val="b8b8b8"/>
                </a:solidFill>
                <a:latin typeface="Quattrocento Sans"/>
                <a:ea typeface="Quattrocento Sans"/>
              </a:rPr>
              <a:t> pushed his colors to pure saturation, developing his signature bold brushwork and emotional expression.</a:t>
            </a:r>
            <a:endParaRPr b="0" i="1" lang="en-HK" sz="1020" spc="-1" strike="noStrike">
              <a:latin typeface="Arial"/>
            </a:endParaRPr>
          </a:p>
        </p:txBody>
      </p:sp>
      <p:sp>
        <p:nvSpPr>
          <p:cNvPr id="176" name="Shape 32"/>
          <p:cNvSpPr/>
          <p:nvPr/>
        </p:nvSpPr>
        <p:spPr>
          <a:xfrm>
            <a:off x="484920" y="4883400"/>
            <a:ext cx="5384160" cy="5817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6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Masterpieces:</a:t>
            </a:r>
            <a:endParaRPr b="0" i="1" lang="en-HK" sz="889" spc="-1" strike="noStrike">
              <a:latin typeface="Arial"/>
            </a:endParaRPr>
          </a:p>
        </p:txBody>
      </p:sp>
      <p:sp>
        <p:nvSpPr>
          <p:cNvPr id="178" name="Text 34"/>
          <p:cNvSpPr/>
          <p:nvPr/>
        </p:nvSpPr>
        <p:spPr>
          <a:xfrm>
            <a:off x="582120" y="5174280"/>
            <a:ext cx="52549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Sunflowers, The Bedroom</a:t>
            </a:r>
            <a:endParaRPr b="0" i="1" lang="en-HK" sz="1020" spc="-1" strike="noStrike">
              <a:latin typeface="Arial"/>
            </a:endParaRPr>
          </a:p>
        </p:txBody>
      </p:sp>
      <p:sp>
        <p:nvSpPr>
          <p:cNvPr id="179" name="Shape 35"/>
          <p:cNvSpPr/>
          <p:nvPr/>
        </p:nvSpPr>
        <p:spPr>
          <a:xfrm>
            <a:off x="484920" y="55785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314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Pure Color Expression</a:t>
            </a:r>
            <a:endParaRPr b="0" i="1" lang="en-HK" sz="889" spc="-1" strike="noStrike">
              <a:latin typeface="Arial"/>
            </a:endParaRPr>
          </a:p>
        </p:txBody>
      </p:sp>
      <p:sp>
        <p:nvSpPr>
          <p:cNvPr id="183" name="Shape 39"/>
          <p:cNvSpPr/>
          <p:nvPr/>
        </p:nvSpPr>
        <p:spPr>
          <a:xfrm>
            <a:off x="6158880" y="3658320"/>
            <a:ext cx="5707440" cy="22269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8880" y="3658320"/>
            <a:ext cx="5707440" cy="237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520" y="3832200"/>
            <a:ext cx="83232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Saint-Rémy</a:t>
            </a:r>
            <a:endParaRPr b="0" i="1" lang="en-HK" sz="1280" spc="-1" strike="noStrike">
              <a:latin typeface="Arial"/>
            </a:endParaRPr>
          </a:p>
        </p:txBody>
      </p:sp>
      <p:sp>
        <p:nvSpPr>
          <p:cNvPr id="186" name="Text 42"/>
          <p:cNvSpPr/>
          <p:nvPr/>
        </p:nvSpPr>
        <p:spPr>
          <a:xfrm>
            <a:off x="11188440" y="3864600"/>
            <a:ext cx="5738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1889-1890</a:t>
            </a:r>
            <a:endParaRPr b="0" i="1" lang="en-HK" sz="889" spc="-1" strike="noStrike">
              <a:latin typeface="Arial"/>
            </a:endParaRPr>
          </a:p>
        </p:txBody>
      </p:sp>
      <p:sp>
        <p:nvSpPr>
          <p:cNvPr id="187" name="Text 43"/>
          <p:cNvSpPr/>
          <p:nvPr/>
        </p:nvSpPr>
        <p:spPr>
          <a:xfrm>
            <a:off x="6320520" y="4155480"/>
            <a:ext cx="5448960" cy="63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During his asylum stay, Van Gogh painted </a:t>
            </a:r>
            <a:r>
              <a:rPr b="0" i="1" lang="en-US" sz="1020" spc="-1" strike="noStrike">
                <a:solidFill>
                  <a:srgbClr val="f2f2f2"/>
                </a:solidFill>
                <a:latin typeface="Quattrocento Sans"/>
                <a:ea typeface="Quattrocento Sans"/>
              </a:rPr>
              <a:t>over 150 works in one year</a:t>
            </a:r>
            <a:r>
              <a:rPr b="0" i="1"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i="1" lang="en-HK" sz="1020" spc="-1" strike="noStrike">
              <a:latin typeface="Arial"/>
            </a:endParaRPr>
          </a:p>
        </p:txBody>
      </p:sp>
      <p:sp>
        <p:nvSpPr>
          <p:cNvPr id="188" name="Shape 44"/>
          <p:cNvSpPr/>
          <p:nvPr/>
        </p:nvSpPr>
        <p:spPr>
          <a:xfrm>
            <a:off x="6320520" y="4883400"/>
            <a:ext cx="5384160" cy="5817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7720" y="4980240"/>
            <a:ext cx="5246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i="1" lang="en-HK" sz="889" spc="-1" strike="noStrike">
              <a:latin typeface="Arial"/>
            </a:endParaRPr>
          </a:p>
        </p:txBody>
      </p:sp>
      <p:sp>
        <p:nvSpPr>
          <p:cNvPr id="190" name="Text 46"/>
          <p:cNvSpPr/>
          <p:nvPr/>
        </p:nvSpPr>
        <p:spPr>
          <a:xfrm>
            <a:off x="6417720" y="5174280"/>
            <a:ext cx="52549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Starry Night (1889)</a:t>
            </a:r>
            <a:endParaRPr b="0" i="1" lang="en-HK" sz="1020" spc="-1" strike="noStrike">
              <a:latin typeface="Arial"/>
            </a:endParaRPr>
          </a:p>
        </p:txBody>
      </p:sp>
      <p:sp>
        <p:nvSpPr>
          <p:cNvPr id="191" name="Shape 47"/>
          <p:cNvSpPr/>
          <p:nvPr/>
        </p:nvSpPr>
        <p:spPr>
          <a:xfrm>
            <a:off x="6320520" y="55785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560" y="55785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600" y="5578560"/>
            <a:ext cx="128880" cy="1288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440" y="5562360"/>
            <a:ext cx="87264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Visionary Palette</a:t>
            </a:r>
            <a:endParaRPr b="0" i="1" lang="en-HK" sz="889" spc="-1" strike="noStrike">
              <a:latin typeface="Arial"/>
            </a:endParaRPr>
          </a:p>
        </p:txBody>
      </p:sp>
      <p:sp>
        <p:nvSpPr>
          <p:cNvPr id="195" name="Shape 51"/>
          <p:cNvSpPr/>
          <p:nvPr/>
        </p:nvSpPr>
        <p:spPr>
          <a:xfrm>
            <a:off x="335520" y="6015240"/>
            <a:ext cx="11532600" cy="84060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3760" cy="84060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65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50" spc="-1" strike="noStrike">
                <a:solidFill>
                  <a:srgbClr val="f2f2f2"/>
                </a:solidFill>
                <a:latin typeface="Oranienbaum"/>
                <a:ea typeface="Oranienbaum"/>
              </a:rPr>
              <a:t>Auvers-sur-Oise Period</a:t>
            </a:r>
            <a:endParaRPr b="0" i="1" lang="en-HK" sz="1150" spc="-1" strike="noStrike">
              <a:latin typeface="Arial"/>
            </a:endParaRPr>
          </a:p>
        </p:txBody>
      </p:sp>
      <p:sp>
        <p:nvSpPr>
          <p:cNvPr id="198" name="Text 54"/>
          <p:cNvSpPr/>
          <p:nvPr/>
        </p:nvSpPr>
        <p:spPr>
          <a:xfrm>
            <a:off x="477000" y="6467760"/>
            <a:ext cx="139032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c9a36a"/>
                </a:solidFill>
                <a:latin typeface="Quattrocento Sans"/>
                <a:ea typeface="Quattrocento Sans"/>
              </a:rPr>
              <a:t>1890 • Final Months</a:t>
            </a:r>
            <a:endParaRPr b="0" i="1" lang="en-HK" sz="889" spc="-1" strike="noStrike">
              <a:latin typeface="Arial"/>
            </a:endParaRPr>
          </a:p>
        </p:txBody>
      </p:sp>
      <p:sp>
        <p:nvSpPr>
          <p:cNvPr id="199" name="Text 55"/>
          <p:cNvSpPr/>
          <p:nvPr/>
        </p:nvSpPr>
        <p:spPr>
          <a:xfrm>
            <a:off x="6302520" y="6144480"/>
            <a:ext cx="5497200" cy="58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b8b8b8"/>
                </a:solidFill>
                <a:latin typeface="Quattrocento Sans"/>
                <a:ea typeface="Quattrocento Sans"/>
              </a:rPr>
              <a:t>In his final two months, Van Gogh produced </a:t>
            </a:r>
            <a:r>
              <a:rPr b="0" i="1" lang="en-US" sz="1020" spc="-1" strike="noStrike">
                <a:solidFill>
                  <a:srgbClr val="f2f2f2"/>
                </a:solidFill>
                <a:latin typeface="Quattrocento Sans"/>
                <a:ea typeface="Quattrocento Sans"/>
              </a:rPr>
              <a:t>70+ paintings</a:t>
            </a:r>
            <a:r>
              <a:rPr b="0" i="1"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i="1"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29720" cy="220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160" spc="231" strike="noStrike">
                <a:solidFill>
                  <a:srgbClr val="c9a36a"/>
                </a:solidFill>
                <a:latin typeface="Quattrocento Sans"/>
                <a:ea typeface="Quattrocento Sans"/>
              </a:rPr>
              <a:t>Chapter 02</a:t>
            </a:r>
            <a:endParaRPr b="0" i="1" lang="en-HK" sz="1160" spc="-1" strike="noStrike">
              <a:latin typeface="Arial"/>
            </a:endParaRPr>
          </a:p>
        </p:txBody>
      </p:sp>
      <p:sp>
        <p:nvSpPr>
          <p:cNvPr id="201" name="Text 1"/>
          <p:cNvSpPr/>
          <p:nvPr/>
        </p:nvSpPr>
        <p:spPr>
          <a:xfrm>
            <a:off x="367920" y="662040"/>
            <a:ext cx="11676600" cy="441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480" spc="-1" strike="noStrike">
                <a:solidFill>
                  <a:srgbClr val="f2f2f2"/>
                </a:solidFill>
                <a:latin typeface="Oranienbaum"/>
                <a:ea typeface="Oranienbaum"/>
              </a:rPr>
              <a:t>Signature Techniques: Impasto and Expressive Brushwork</a:t>
            </a:r>
            <a:endParaRPr b="0" i="1" lang="en-HK" sz="3480" spc="-1" strike="noStrike">
              <a:latin typeface="Arial"/>
            </a:endParaRPr>
          </a:p>
        </p:txBody>
      </p:sp>
      <p:sp>
        <p:nvSpPr>
          <p:cNvPr id="202" name="Shape 2"/>
          <p:cNvSpPr/>
          <p:nvPr/>
        </p:nvSpPr>
        <p:spPr>
          <a:xfrm>
            <a:off x="367920" y="1250640"/>
            <a:ext cx="1029600" cy="1800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3760" cy="358560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7360" cy="358560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41000" cy="4410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3600" cy="18360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60360" cy="293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The Impasto Technique</a:t>
            </a:r>
            <a:endParaRPr b="0" i="1" lang="en-HK" sz="1740" spc="-1" strike="noStrike">
              <a:latin typeface="Arial"/>
            </a:endParaRPr>
          </a:p>
        </p:txBody>
      </p:sp>
      <p:sp>
        <p:nvSpPr>
          <p:cNvPr id="208" name="Text 8"/>
          <p:cNvSpPr/>
          <p:nvPr/>
        </p:nvSpPr>
        <p:spPr>
          <a:xfrm>
            <a:off x="579240" y="2225160"/>
            <a:ext cx="5295600" cy="95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revolutionized painting with </a:t>
            </a:r>
            <a:r>
              <a:rPr b="0" i="1" lang="en-US" sz="1160" spc="-1" strike="noStrike">
                <a:solidFill>
                  <a:srgbClr val="f2f2f2"/>
                </a:solidFill>
                <a:latin typeface="Quattrocento Sans"/>
                <a:ea typeface="Quattrocento Sans"/>
              </a:rPr>
              <a:t>impasto</a:t>
            </a:r>
            <a:r>
              <a:rPr b="0" i="1"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i="1" lang="en-HK" sz="1160" spc="-1" strike="noStrike">
              <a:latin typeface="Arial"/>
            </a:endParaRPr>
          </a:p>
        </p:txBody>
      </p:sp>
      <p:sp>
        <p:nvSpPr>
          <p:cNvPr id="209" name="Shape 9"/>
          <p:cNvSpPr/>
          <p:nvPr/>
        </p:nvSpPr>
        <p:spPr>
          <a:xfrm>
            <a:off x="579240" y="3328560"/>
            <a:ext cx="5222160" cy="139716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92120" cy="183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010" spc="-1" strike="noStrike">
                <a:solidFill>
                  <a:srgbClr val="c9a36a"/>
                </a:solidFill>
                <a:latin typeface="Quattrocento Sans"/>
                <a:ea typeface="Quattrocento Sans"/>
              </a:rPr>
              <a:t>Technical Characteristics:</a:t>
            </a:r>
            <a:endParaRPr b="0" i="1" lang="en-HK" sz="1010" spc="-1" strike="noStrike">
              <a:latin typeface="Arial"/>
            </a:endParaRPr>
          </a:p>
        </p:txBody>
      </p:sp>
      <p:sp>
        <p:nvSpPr>
          <p:cNvPr id="211" name="Text 11"/>
          <p:cNvSpPr/>
          <p:nvPr/>
        </p:nvSpPr>
        <p:spPr>
          <a:xfrm>
            <a:off x="726480" y="3732840"/>
            <a:ext cx="4992120" cy="183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Paint applied straight from tubes without pre-mixing</a:t>
            </a:r>
            <a:endParaRPr b="0" i="1" lang="en-HK" sz="1010" spc="-1" strike="noStrike">
              <a:latin typeface="Arial"/>
            </a:endParaRPr>
          </a:p>
        </p:txBody>
      </p:sp>
      <p:sp>
        <p:nvSpPr>
          <p:cNvPr id="212" name="Text 12"/>
          <p:cNvSpPr/>
          <p:nvPr/>
        </p:nvSpPr>
        <p:spPr>
          <a:xfrm>
            <a:off x="726480" y="3953520"/>
            <a:ext cx="4992120" cy="183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Thick ridges and valleys catch light dynamically</a:t>
            </a:r>
            <a:endParaRPr b="0" i="1" lang="en-HK" sz="1010" spc="-1" strike="noStrike">
              <a:latin typeface="Arial"/>
            </a:endParaRPr>
          </a:p>
        </p:txBody>
      </p:sp>
      <p:sp>
        <p:nvSpPr>
          <p:cNvPr id="213" name="Text 13"/>
          <p:cNvSpPr/>
          <p:nvPr/>
        </p:nvSpPr>
        <p:spPr>
          <a:xfrm>
            <a:off x="726480" y="4174200"/>
            <a:ext cx="4992120" cy="183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Creates tactile, sculptural quality on canvas</a:t>
            </a:r>
            <a:endParaRPr b="0" i="1" lang="en-HK" sz="1010" spc="-1" strike="noStrike">
              <a:latin typeface="Arial"/>
            </a:endParaRPr>
          </a:p>
        </p:txBody>
      </p:sp>
      <p:sp>
        <p:nvSpPr>
          <p:cNvPr id="214" name="Text 14"/>
          <p:cNvSpPr/>
          <p:nvPr/>
        </p:nvSpPr>
        <p:spPr>
          <a:xfrm>
            <a:off x="726480" y="4394880"/>
            <a:ext cx="4992120" cy="183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Enhances emotional intensity through physical texture</a:t>
            </a:r>
            <a:endParaRPr b="0" i="1" lang="en-HK" sz="1010" spc="-1" strike="noStrike">
              <a:latin typeface="Arial"/>
            </a:endParaRPr>
          </a:p>
        </p:txBody>
      </p:sp>
      <p:sp>
        <p:nvSpPr>
          <p:cNvPr id="215" name="Shape 15"/>
          <p:cNvSpPr/>
          <p:nvPr/>
        </p:nvSpPr>
        <p:spPr>
          <a:xfrm>
            <a:off x="381600" y="5185800"/>
            <a:ext cx="5603760" cy="167292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7360" cy="167292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41000" cy="4410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3600" cy="18360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9200" cy="293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Directional Brushwork</a:t>
            </a:r>
            <a:endParaRPr b="0" i="1" lang="en-HK" sz="1740" spc="-1" strike="noStrike">
              <a:latin typeface="Arial"/>
            </a:endParaRPr>
          </a:p>
        </p:txBody>
      </p:sp>
      <p:sp>
        <p:nvSpPr>
          <p:cNvPr id="220" name="Text 20"/>
          <p:cNvSpPr/>
          <p:nvPr/>
        </p:nvSpPr>
        <p:spPr>
          <a:xfrm>
            <a:off x="579240" y="5958000"/>
            <a:ext cx="5295600" cy="716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His brushstrokes </a:t>
            </a:r>
            <a:r>
              <a:rPr b="0" i="1" lang="en-US" sz="1160" spc="-1" strike="noStrike">
                <a:solidFill>
                  <a:srgbClr val="f2f2f2"/>
                </a:solidFill>
                <a:latin typeface="Quattrocento Sans"/>
                <a:ea typeface="Quattrocento Sans"/>
              </a:rPr>
              <a:t>follow the form</a:t>
            </a:r>
            <a:r>
              <a:rPr b="0" i="1"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i="1" lang="en-HK" sz="1160" spc="-1" strike="noStrike">
              <a:latin typeface="Arial"/>
            </a:endParaRPr>
          </a:p>
        </p:txBody>
      </p:sp>
      <p:sp>
        <p:nvSpPr>
          <p:cNvPr id="221" name="Shape 21"/>
          <p:cNvSpPr/>
          <p:nvPr/>
        </p:nvSpPr>
        <p:spPr>
          <a:xfrm>
            <a:off x="6221160" y="1452600"/>
            <a:ext cx="5603760" cy="358560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160" y="1452600"/>
            <a:ext cx="27360" cy="358560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8800" y="1636560"/>
            <a:ext cx="441000" cy="4410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7680" y="1765440"/>
            <a:ext cx="183600" cy="18360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320" y="1710360"/>
            <a:ext cx="1985760" cy="293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Color Theory Mastery</a:t>
            </a:r>
            <a:endParaRPr b="0" i="1" lang="en-HK" sz="1740" spc="-1" strike="noStrike">
              <a:latin typeface="Arial"/>
            </a:endParaRPr>
          </a:p>
        </p:txBody>
      </p:sp>
      <p:sp>
        <p:nvSpPr>
          <p:cNvPr id="226" name="Text 26"/>
          <p:cNvSpPr/>
          <p:nvPr/>
        </p:nvSpPr>
        <p:spPr>
          <a:xfrm>
            <a:off x="6418800" y="2225160"/>
            <a:ext cx="5295600" cy="716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used </a:t>
            </a:r>
            <a:r>
              <a:rPr b="0" i="1" lang="en-US" sz="1160" spc="-1" strike="noStrike">
                <a:solidFill>
                  <a:srgbClr val="f2f2f2"/>
                </a:solidFill>
                <a:latin typeface="Quattrocento Sans"/>
                <a:ea typeface="Quattrocento Sans"/>
              </a:rPr>
              <a:t>complementary colors</a:t>
            </a:r>
            <a:r>
              <a:rPr b="0" i="1"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i="1" lang="en-HK" sz="1160" spc="-1" strike="noStrike">
              <a:latin typeface="Arial"/>
            </a:endParaRPr>
          </a:p>
        </p:txBody>
      </p:sp>
      <p:sp>
        <p:nvSpPr>
          <p:cNvPr id="227" name="Shape 27"/>
          <p:cNvSpPr/>
          <p:nvPr/>
        </p:nvSpPr>
        <p:spPr>
          <a:xfrm>
            <a:off x="6418800" y="3089520"/>
            <a:ext cx="1663920" cy="58824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080" y="3751560"/>
            <a:ext cx="1719000" cy="1468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Blue/Yellow</a:t>
            </a:r>
            <a:endParaRPr b="0" i="1" lang="en-HK" sz="870" spc="-1" strike="noStrike">
              <a:latin typeface="Arial"/>
            </a:endParaRPr>
          </a:p>
        </p:txBody>
      </p:sp>
      <p:sp>
        <p:nvSpPr>
          <p:cNvPr id="229" name="Shape 29"/>
          <p:cNvSpPr/>
          <p:nvPr/>
        </p:nvSpPr>
        <p:spPr>
          <a:xfrm>
            <a:off x="8196840" y="3089520"/>
            <a:ext cx="1663920" cy="58824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120" y="3751560"/>
            <a:ext cx="1719000" cy="1468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Red/Cyan</a:t>
            </a:r>
            <a:endParaRPr b="0" i="1" lang="en-HK" sz="870" spc="-1" strike="noStrike">
              <a:latin typeface="Arial"/>
            </a:endParaRPr>
          </a:p>
        </p:txBody>
      </p:sp>
      <p:sp>
        <p:nvSpPr>
          <p:cNvPr id="231" name="Shape 31"/>
          <p:cNvSpPr/>
          <p:nvPr/>
        </p:nvSpPr>
        <p:spPr>
          <a:xfrm>
            <a:off x="9974520" y="3089520"/>
            <a:ext cx="1663920" cy="58824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160" y="3751560"/>
            <a:ext cx="1719000" cy="1468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Brown/Sky</a:t>
            </a:r>
            <a:endParaRPr b="0" i="1" lang="en-HK" sz="870" spc="-1" strike="noStrike">
              <a:latin typeface="Arial"/>
            </a:endParaRPr>
          </a:p>
        </p:txBody>
      </p:sp>
      <p:sp>
        <p:nvSpPr>
          <p:cNvPr id="233" name="Shape 33"/>
          <p:cNvSpPr/>
          <p:nvPr/>
        </p:nvSpPr>
        <p:spPr>
          <a:xfrm>
            <a:off x="6418800" y="4045680"/>
            <a:ext cx="5222160" cy="80892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320" y="4155840"/>
            <a:ext cx="5065920" cy="183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010" spc="-1" strike="noStrike">
                <a:solidFill>
                  <a:srgbClr val="c9a36a"/>
                </a:solidFill>
                <a:latin typeface="Quattrocento Sans"/>
                <a:ea typeface="Quattrocento Sans"/>
              </a:rPr>
              <a:t>Philosophy:</a:t>
            </a:r>
            <a:endParaRPr b="0" i="1" lang="en-HK" sz="1010" spc="-1" strike="noStrike">
              <a:latin typeface="Arial"/>
            </a:endParaRPr>
          </a:p>
        </p:txBody>
      </p:sp>
      <p:sp>
        <p:nvSpPr>
          <p:cNvPr id="235" name="Text 35"/>
          <p:cNvSpPr/>
          <p:nvPr/>
        </p:nvSpPr>
        <p:spPr>
          <a:xfrm>
            <a:off x="6529320" y="4376520"/>
            <a:ext cx="5065920" cy="367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"Color expresses something in itself... I use color arbitrarily to express myself more forcefully."</a:t>
            </a:r>
            <a:endParaRPr b="0" i="1" lang="en-HK" sz="1010" spc="-1" strike="noStrike">
              <a:latin typeface="Arial"/>
            </a:endParaRPr>
          </a:p>
        </p:txBody>
      </p:sp>
      <p:sp>
        <p:nvSpPr>
          <p:cNvPr id="236" name="Shape 36"/>
          <p:cNvSpPr/>
          <p:nvPr/>
        </p:nvSpPr>
        <p:spPr>
          <a:xfrm>
            <a:off x="6221160" y="5185800"/>
            <a:ext cx="5603760" cy="167292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160" y="5185800"/>
            <a:ext cx="27360" cy="167292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8800" y="5369760"/>
            <a:ext cx="441000" cy="4410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200" y="5498280"/>
            <a:ext cx="160560" cy="18360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320" y="5443200"/>
            <a:ext cx="1810800" cy="293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Japanese Influence</a:t>
            </a:r>
            <a:endParaRPr b="0" i="1" lang="en-HK" sz="1740" spc="-1" strike="noStrike">
              <a:latin typeface="Arial"/>
            </a:endParaRPr>
          </a:p>
        </p:txBody>
      </p:sp>
      <p:sp>
        <p:nvSpPr>
          <p:cNvPr id="241" name="Text 41"/>
          <p:cNvSpPr/>
          <p:nvPr/>
        </p:nvSpPr>
        <p:spPr>
          <a:xfrm>
            <a:off x="6418800" y="5958000"/>
            <a:ext cx="5295600" cy="716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collected hundreds of </a:t>
            </a:r>
            <a:r>
              <a:rPr b="0" i="1" lang="en-US" sz="1160" spc="-1" strike="noStrike">
                <a:solidFill>
                  <a:srgbClr val="f2f2f2"/>
                </a:solidFill>
                <a:latin typeface="Quattrocento Sans"/>
                <a:ea typeface="Quattrocento Sans"/>
              </a:rPr>
              <a:t>ukiyo-e woodblock prints</a:t>
            </a:r>
            <a:r>
              <a:rPr b="0" i="1"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i="1"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2"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7880" cy="80928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6800" cy="65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68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Masterpieces That</a:t>
            </a:r>
            <a:endParaRPr b="0" i="1" lang="en-HK" sz="5400" spc="-1" strike="noStrike">
              <a:latin typeface="Arial"/>
            </a:endParaRPr>
          </a:p>
          <a:p>
            <a:pPr>
              <a:lnSpc>
                <a:spcPct val="100000"/>
              </a:lnSpc>
              <a:buNone/>
            </a:pPr>
            <a:r>
              <a:rPr b="1" i="1" lang="en-US" sz="5400" spc="-1" strike="noStrike">
                <a:solidFill>
                  <a:srgbClr val="f2f2f2"/>
                </a:solidFill>
                <a:latin typeface="Oranienbaum"/>
                <a:ea typeface="Oranienbaum"/>
              </a:rPr>
              <a:t>Define an Era</a:t>
            </a:r>
            <a:endParaRPr b="0" i="1" lang="en-HK" sz="5400" spc="-1" strike="noStrike">
              <a:latin typeface="Arial"/>
            </a:endParaRPr>
          </a:p>
        </p:txBody>
      </p:sp>
      <p:sp>
        <p:nvSpPr>
          <p:cNvPr id="247" name="Shape 4"/>
          <p:cNvSpPr/>
          <p:nvPr/>
        </p:nvSpPr>
        <p:spPr>
          <a:xfrm>
            <a:off x="380880" y="4601880"/>
            <a:ext cx="1828440" cy="280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336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200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00" spc="199" strike="noStrike">
                <a:solidFill>
                  <a:srgbClr val="c9a36a"/>
                </a:solidFill>
                <a:latin typeface="Quattrocento Sans"/>
                <a:ea typeface="Quattrocento Sans"/>
              </a:rPr>
              <a:t>Chapter 03 • Masterpiece Analysis</a:t>
            </a:r>
            <a:endParaRPr b="0" i="1" lang="en-HK" sz="1000" spc="-1" strike="noStrike">
              <a:latin typeface="Arial"/>
            </a:endParaRPr>
          </a:p>
        </p:txBody>
      </p:sp>
      <p:sp>
        <p:nvSpPr>
          <p:cNvPr id="250" name="Text 1"/>
          <p:cNvSpPr/>
          <p:nvPr/>
        </p:nvSpPr>
        <p:spPr>
          <a:xfrm>
            <a:off x="317520" y="571680"/>
            <a:ext cx="11747160" cy="3805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00" spc="-1" strike="noStrike">
                <a:solidFill>
                  <a:srgbClr val="f2f2f2"/>
                </a:solidFill>
                <a:latin typeface="Oranienbaum"/>
                <a:ea typeface="Oranienbaum"/>
              </a:rPr>
              <a:t>The Starry Night: A Visionary Masterpiece</a:t>
            </a:r>
            <a:endParaRPr b="0" i="1" lang="en-HK" sz="3000" spc="-1" strike="noStrike">
              <a:latin typeface="Arial"/>
            </a:endParaRPr>
          </a:p>
        </p:txBody>
      </p:sp>
      <p:sp>
        <p:nvSpPr>
          <p:cNvPr id="251" name="Shape 2"/>
          <p:cNvSpPr/>
          <p:nvPr/>
        </p:nvSpPr>
        <p:spPr>
          <a:xfrm>
            <a:off x="317520" y="1079640"/>
            <a:ext cx="888480" cy="1548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3360" cy="404784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5440" cy="403992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9400" cy="117432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3400" cy="117432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91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c9a36a"/>
                </a:solidFill>
                <a:latin typeface="Quattrocento Sans"/>
                <a:ea typeface="Quattrocento Sans"/>
              </a:rPr>
              <a:t>Painting Details</a:t>
            </a:r>
            <a:endParaRPr b="0" i="1" lang="en-HK" sz="880" spc="-1" strike="noStrike">
              <a:latin typeface="Arial"/>
            </a:endParaRPr>
          </a:p>
        </p:txBody>
      </p:sp>
      <p:sp>
        <p:nvSpPr>
          <p:cNvPr id="257" name="Text 7"/>
          <p:cNvSpPr/>
          <p:nvPr/>
        </p:nvSpPr>
        <p:spPr>
          <a:xfrm>
            <a:off x="468360" y="575388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Year</a:t>
            </a:r>
            <a:endParaRPr b="0" i="1" lang="en-HK" sz="880" spc="-1" strike="noStrike">
              <a:latin typeface="Arial"/>
            </a:endParaRPr>
          </a:p>
        </p:txBody>
      </p:sp>
      <p:sp>
        <p:nvSpPr>
          <p:cNvPr id="258" name="Text 8"/>
          <p:cNvSpPr/>
          <p:nvPr/>
        </p:nvSpPr>
        <p:spPr>
          <a:xfrm>
            <a:off x="468360" y="591264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June 1889</a:t>
            </a:r>
            <a:endParaRPr b="0" i="1" lang="en-HK" sz="880" spc="-1" strike="noStrike">
              <a:latin typeface="Arial"/>
            </a:endParaRPr>
          </a:p>
        </p:txBody>
      </p:sp>
      <p:sp>
        <p:nvSpPr>
          <p:cNvPr id="259" name="Text 9"/>
          <p:cNvSpPr/>
          <p:nvPr/>
        </p:nvSpPr>
        <p:spPr>
          <a:xfrm>
            <a:off x="2918520" y="575388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Medium</a:t>
            </a:r>
            <a:endParaRPr b="0" i="1" lang="en-HK" sz="880" spc="-1" strike="noStrike">
              <a:latin typeface="Arial"/>
            </a:endParaRPr>
          </a:p>
        </p:txBody>
      </p:sp>
      <p:sp>
        <p:nvSpPr>
          <p:cNvPr id="260" name="Text 10"/>
          <p:cNvSpPr/>
          <p:nvPr/>
        </p:nvSpPr>
        <p:spPr>
          <a:xfrm>
            <a:off x="2918520" y="591264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Oil on canvas</a:t>
            </a:r>
            <a:endParaRPr b="0" i="1" lang="en-HK" sz="880" spc="-1" strike="noStrike">
              <a:latin typeface="Arial"/>
            </a:endParaRPr>
          </a:p>
        </p:txBody>
      </p:sp>
      <p:sp>
        <p:nvSpPr>
          <p:cNvPr id="261" name="Text 11"/>
          <p:cNvSpPr/>
          <p:nvPr/>
        </p:nvSpPr>
        <p:spPr>
          <a:xfrm>
            <a:off x="468360" y="613476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Dimensions</a:t>
            </a:r>
            <a:endParaRPr b="0" i="1" lang="en-HK" sz="880" spc="-1" strike="noStrike">
              <a:latin typeface="Arial"/>
            </a:endParaRPr>
          </a:p>
        </p:txBody>
      </p:sp>
      <p:sp>
        <p:nvSpPr>
          <p:cNvPr id="262" name="Text 12"/>
          <p:cNvSpPr/>
          <p:nvPr/>
        </p:nvSpPr>
        <p:spPr>
          <a:xfrm>
            <a:off x="468360" y="629352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73.7 × 92.1 cm</a:t>
            </a:r>
            <a:endParaRPr b="0" i="1" lang="en-HK" sz="880" spc="-1" strike="noStrike">
              <a:latin typeface="Arial"/>
            </a:endParaRPr>
          </a:p>
        </p:txBody>
      </p:sp>
      <p:sp>
        <p:nvSpPr>
          <p:cNvPr id="263" name="Text 13"/>
          <p:cNvSpPr/>
          <p:nvPr/>
        </p:nvSpPr>
        <p:spPr>
          <a:xfrm>
            <a:off x="2918520" y="613476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Location</a:t>
            </a:r>
            <a:endParaRPr b="0" i="1" lang="en-HK" sz="880" spc="-1" strike="noStrike">
              <a:latin typeface="Arial"/>
            </a:endParaRPr>
          </a:p>
        </p:txBody>
      </p:sp>
      <p:sp>
        <p:nvSpPr>
          <p:cNvPr id="264" name="Text 14"/>
          <p:cNvSpPr/>
          <p:nvPr/>
        </p:nvSpPr>
        <p:spPr>
          <a:xfrm>
            <a:off x="2918520" y="6293520"/>
            <a:ext cx="24444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MoMA, New York</a:t>
            </a:r>
            <a:endParaRPr b="0" i="1" lang="en-HK" sz="880" spc="-1" strike="noStrike">
              <a:latin typeface="Arial"/>
            </a:endParaRPr>
          </a:p>
        </p:txBody>
      </p:sp>
      <p:sp>
        <p:nvSpPr>
          <p:cNvPr id="265" name="Shape 15"/>
          <p:cNvSpPr/>
          <p:nvPr/>
        </p:nvSpPr>
        <p:spPr>
          <a:xfrm>
            <a:off x="5634720" y="1222200"/>
            <a:ext cx="6242400" cy="199980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4720" y="1222200"/>
            <a:ext cx="23400" cy="199980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360" y="1380960"/>
            <a:ext cx="600840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500" spc="-1" strike="noStrike">
                <a:solidFill>
                  <a:srgbClr val="f2f2f2"/>
                </a:solidFill>
                <a:latin typeface="Oranienbaum"/>
                <a:ea typeface="Oranienbaum"/>
              </a:rPr>
              <a:t>A View from the Asylum</a:t>
            </a:r>
            <a:endParaRPr b="0" i="1" lang="en-HK" sz="1500" spc="-1" strike="noStrike">
              <a:latin typeface="Arial"/>
            </a:endParaRPr>
          </a:p>
        </p:txBody>
      </p:sp>
      <p:sp>
        <p:nvSpPr>
          <p:cNvPr id="268" name="Text 18"/>
          <p:cNvSpPr/>
          <p:nvPr/>
        </p:nvSpPr>
        <p:spPr>
          <a:xfrm>
            <a:off x="5805360" y="1730520"/>
            <a:ext cx="5976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Painted during his stay at </a:t>
            </a:r>
            <a:r>
              <a:rPr b="0" i="1" lang="en-US" sz="1000" spc="-1" strike="noStrike">
                <a:solidFill>
                  <a:srgbClr val="f2f2f2"/>
                </a:solidFill>
                <a:latin typeface="Quattrocento Sans"/>
                <a:ea typeface="Quattrocento Sans"/>
              </a:rPr>
              <a:t>Saint-Paul-de-Mausole asylum</a:t>
            </a:r>
            <a:r>
              <a:rPr b="0" i="1" lang="en-US" sz="1000" spc="-1" strike="noStrike">
                <a:solidFill>
                  <a:srgbClr val="b8b8b8"/>
                </a:solidFill>
                <a:latin typeface="Quattrocento Sans"/>
                <a:ea typeface="Quattrocento Sans"/>
              </a:rPr>
              <a:t> in Saint-Rémy-de-Provence, "The Starry Night" depicts the view from his bedroom window just before sunrise. However, Van Gogh painted this masterpiece from memory during the day, transforming observation into visionary experience.</a:t>
            </a:r>
            <a:endParaRPr b="0" i="1" lang="en-HK" sz="1000" spc="-1" strike="noStrike">
              <a:latin typeface="Arial"/>
            </a:endParaRPr>
          </a:p>
        </p:txBody>
      </p:sp>
      <p:sp>
        <p:nvSpPr>
          <p:cNvPr id="269" name="Text 19"/>
          <p:cNvSpPr/>
          <p:nvPr/>
        </p:nvSpPr>
        <p:spPr>
          <a:xfrm>
            <a:off x="5805360" y="2444760"/>
            <a:ext cx="5976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The painting represents both his </a:t>
            </a:r>
            <a:r>
              <a:rPr b="0" i="1" lang="en-US" sz="1000" spc="-1" strike="noStrike">
                <a:solidFill>
                  <a:srgbClr val="c9a36a"/>
                </a:solidFill>
                <a:latin typeface="Quattrocento Sans"/>
                <a:ea typeface="Quattrocento Sans"/>
              </a:rPr>
              <a:t>inner turmoil</a:t>
            </a:r>
            <a:r>
              <a:rPr b="0" i="1" lang="en-US" sz="1000" spc="-1" strike="noStrike">
                <a:solidFill>
                  <a:srgbClr val="b8b8b8"/>
                </a:solidFill>
                <a:latin typeface="Quattrocento Sans"/>
                <a:ea typeface="Quattrocento Sans"/>
              </a:rPr>
              <a:t> and his </a:t>
            </a:r>
            <a:r>
              <a:rPr b="0" i="1" lang="en-US" sz="1000" spc="-1" strike="noStrike">
                <a:solidFill>
                  <a:srgbClr val="c9a36a"/>
                </a:solidFill>
                <a:latin typeface="Quattrocento Sans"/>
                <a:ea typeface="Quattrocento Sans"/>
              </a:rPr>
              <a:t>transcendent hope</a:t>
            </a:r>
            <a:r>
              <a:rPr b="0" i="1"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i="1" lang="en-HK" sz="1000" spc="-1" strike="noStrike">
              <a:latin typeface="Arial"/>
            </a:endParaRPr>
          </a:p>
        </p:txBody>
      </p:sp>
      <p:sp>
        <p:nvSpPr>
          <p:cNvPr id="270" name="Shape 20"/>
          <p:cNvSpPr/>
          <p:nvPr/>
        </p:nvSpPr>
        <p:spPr>
          <a:xfrm>
            <a:off x="5634720" y="3349800"/>
            <a:ext cx="6242400" cy="207936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4720" y="3349800"/>
            <a:ext cx="23400" cy="207936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360" y="3508200"/>
            <a:ext cx="600840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500" spc="-1" strike="noStrike">
                <a:solidFill>
                  <a:srgbClr val="f2f2f2"/>
                </a:solidFill>
                <a:latin typeface="Oranienbaum"/>
                <a:ea typeface="Oranienbaum"/>
              </a:rPr>
              <a:t>Scientific Revelation</a:t>
            </a:r>
            <a:endParaRPr b="0" i="1" lang="en-HK" sz="1500" spc="-1" strike="noStrike">
              <a:latin typeface="Arial"/>
            </a:endParaRPr>
          </a:p>
        </p:txBody>
      </p:sp>
      <p:sp>
        <p:nvSpPr>
          <p:cNvPr id="273" name="Text 23"/>
          <p:cNvSpPr/>
          <p:nvPr/>
        </p:nvSpPr>
        <p:spPr>
          <a:xfrm>
            <a:off x="5805360" y="3857760"/>
            <a:ext cx="5976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In 2006, scientists analyzing the painting's swirling patterns discovered something remarkable: </a:t>
            </a:r>
            <a:r>
              <a:rPr b="0" i="1" lang="en-US" sz="1000" spc="-1" strike="noStrike">
                <a:solidFill>
                  <a:srgbClr val="f2f2f2"/>
                </a:solidFill>
                <a:latin typeface="Quattrocento Sans"/>
                <a:ea typeface="Quattrocento Sans"/>
              </a:rPr>
              <a:t>Van Gogh's turbulent brushstrokes accurately depict the physics of fluid turbulence</a:t>
            </a:r>
            <a:r>
              <a:rPr b="0" i="1" lang="en-US" sz="1000" spc="-1" strike="noStrike">
                <a:solidFill>
                  <a:srgbClr val="b8b8b8"/>
                </a:solidFill>
                <a:latin typeface="Quattrocento Sans"/>
                <a:ea typeface="Quattrocento Sans"/>
              </a:rPr>
              <a:t>—mathematical patterns that scientists wouldn't fully understand until decades after his death.</a:t>
            </a:r>
            <a:endParaRPr b="0" i="1" lang="en-HK" sz="1000" spc="-1" strike="noStrike">
              <a:latin typeface="Arial"/>
            </a:endParaRPr>
          </a:p>
        </p:txBody>
      </p:sp>
      <p:sp>
        <p:nvSpPr>
          <p:cNvPr id="274" name="Shape 24"/>
          <p:cNvSpPr/>
          <p:nvPr/>
        </p:nvSpPr>
        <p:spPr>
          <a:xfrm>
            <a:off x="5805360" y="4572000"/>
            <a:ext cx="5913000" cy="69804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0760" y="4667400"/>
            <a:ext cx="57780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c9a36a"/>
                </a:solidFill>
                <a:latin typeface="Quattrocento Sans"/>
                <a:ea typeface="Quattrocento Sans"/>
              </a:rPr>
              <a:t>Key Insight:</a:t>
            </a:r>
            <a:endParaRPr b="0" i="1" lang="en-HK" sz="880" spc="-1" strike="noStrike">
              <a:latin typeface="Arial"/>
            </a:endParaRPr>
          </a:p>
        </p:txBody>
      </p:sp>
      <p:sp>
        <p:nvSpPr>
          <p:cNvPr id="276" name="Text 26"/>
          <p:cNvSpPr/>
          <p:nvPr/>
        </p:nvSpPr>
        <p:spPr>
          <a:xfrm>
            <a:off x="5900760" y="4857840"/>
            <a:ext cx="57780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i="1" lang="en-HK" sz="880" spc="-1" strike="noStrike">
              <a:latin typeface="Arial"/>
            </a:endParaRPr>
          </a:p>
        </p:txBody>
      </p:sp>
      <p:sp>
        <p:nvSpPr>
          <p:cNvPr id="277" name="Shape 27"/>
          <p:cNvSpPr/>
          <p:nvPr/>
        </p:nvSpPr>
        <p:spPr>
          <a:xfrm>
            <a:off x="5626800" y="5560200"/>
            <a:ext cx="6246360" cy="89640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3960" y="5722920"/>
            <a:ext cx="138600" cy="15840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2640" y="5691240"/>
            <a:ext cx="5802120" cy="412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i="1" lang="en-HK" sz="1000" spc="-1" strike="noStrike">
              <a:latin typeface="Arial"/>
            </a:endParaRPr>
          </a:p>
        </p:txBody>
      </p:sp>
      <p:sp>
        <p:nvSpPr>
          <p:cNvPr id="280" name="Text 30"/>
          <p:cNvSpPr/>
          <p:nvPr/>
        </p:nvSpPr>
        <p:spPr>
          <a:xfrm>
            <a:off x="6002640" y="6167520"/>
            <a:ext cx="579384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c9a36a"/>
                </a:solidFill>
                <a:latin typeface="Quattrocento Sans"/>
                <a:ea typeface="Quattrocento Sans"/>
              </a:rPr>
              <a:t>— </a:t>
            </a:r>
            <a:r>
              <a:rPr b="0" i="1" lang="en-US" sz="880" spc="-1" strike="noStrike">
                <a:solidFill>
                  <a:srgbClr val="c9a36a"/>
                </a:solidFill>
                <a:latin typeface="Quattrocento Sans"/>
                <a:ea typeface="Quattrocento Sans"/>
              </a:rPr>
              <a:t>Letter to Theo, June 1889</a:t>
            </a:r>
            <a:endParaRPr b="0" i="1"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200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9"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7160" cy="3805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00" spc="-1" strike="noStrike">
                <a:solidFill>
                  <a:srgbClr val="f2f2f2"/>
                </a:solidFill>
                <a:latin typeface="Oranienbaum"/>
                <a:ea typeface="Oranienbaum"/>
              </a:rPr>
              <a:t>Sunflowers: The Celebration of Color and Light</a:t>
            </a:r>
            <a:endParaRPr b="0" i="1" lang="en-HK" sz="3000" spc="-1" strike="noStrike">
              <a:latin typeface="Arial"/>
            </a:endParaRPr>
          </a:p>
        </p:txBody>
      </p:sp>
      <p:sp>
        <p:nvSpPr>
          <p:cNvPr id="283" name="Shape 2"/>
          <p:cNvSpPr/>
          <p:nvPr/>
        </p:nvSpPr>
        <p:spPr>
          <a:xfrm>
            <a:off x="317520" y="1079640"/>
            <a:ext cx="888480" cy="1548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2400" cy="199980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3400" cy="199980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840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6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6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The flowers represent </a:t>
            </a:r>
            <a:r>
              <a:rPr b="0" i="1" lang="en-US" sz="1000" spc="-1" strike="noStrike">
                <a:solidFill>
                  <a:srgbClr val="c9a36a"/>
                </a:solidFill>
                <a:latin typeface="Quattrocento Sans"/>
                <a:ea typeface="Quattrocento Sans"/>
              </a:rPr>
              <a:t>gratitude and friendship</a:t>
            </a:r>
            <a:r>
              <a:rPr b="0" i="1"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i="1" lang="en-HK" sz="1000" spc="-1" strike="noStrike">
              <a:latin typeface="Arial"/>
            </a:endParaRPr>
          </a:p>
        </p:txBody>
      </p:sp>
      <p:sp>
        <p:nvSpPr>
          <p:cNvPr id="289" name="Shape 8"/>
          <p:cNvSpPr/>
          <p:nvPr/>
        </p:nvSpPr>
        <p:spPr>
          <a:xfrm>
            <a:off x="329400" y="3349800"/>
            <a:ext cx="6242400" cy="207936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3400" cy="207936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840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6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3000" cy="69804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80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80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6360" cy="69012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8600" cy="15840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6840" cy="20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892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3680" y="1226520"/>
            <a:ext cx="5103360" cy="690516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7640" y="1230480"/>
            <a:ext cx="5095440" cy="689724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600" y="8259840"/>
            <a:ext cx="5099400" cy="130140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600" y="8259840"/>
            <a:ext cx="23400" cy="130140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560" y="8386920"/>
            <a:ext cx="48891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560" y="8609040"/>
            <a:ext cx="856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080" y="8609040"/>
            <a:ext cx="8488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560" y="8831160"/>
            <a:ext cx="6267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1800" y="8831160"/>
            <a:ext cx="5472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560" y="9053640"/>
            <a:ext cx="7138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6640" y="9053640"/>
            <a:ext cx="79344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560" y="9275760"/>
            <a:ext cx="7138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5280" y="9275760"/>
            <a:ext cx="69804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9164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50" spc="208" strike="noStrike">
                <a:solidFill>
                  <a:srgbClr val="c9a36a"/>
                </a:solidFill>
                <a:latin typeface="Quattrocento Sans"/>
                <a:ea typeface="Quattrocento Sans"/>
              </a:rPr>
              <a:t>Chapter 03</a:t>
            </a:r>
            <a:endParaRPr b="0" i="1" lang="en-HK" sz="1050" spc="-1" strike="noStrike">
              <a:latin typeface="Arial"/>
            </a:endParaRPr>
          </a:p>
        </p:txBody>
      </p:sp>
      <p:sp>
        <p:nvSpPr>
          <p:cNvPr id="314" name="Text 1"/>
          <p:cNvSpPr/>
          <p:nvPr/>
        </p:nvSpPr>
        <p:spPr>
          <a:xfrm>
            <a:off x="333360" y="600120"/>
            <a:ext cx="11724840" cy="399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150" spc="-1" strike="noStrike">
                <a:solidFill>
                  <a:srgbClr val="f2f2f2"/>
                </a:solidFill>
                <a:latin typeface="Oranienbaum"/>
                <a:ea typeface="Oranienbaum"/>
              </a:rPr>
              <a:t>Other Iconic Works: From Irises to Wheatfields</a:t>
            </a:r>
            <a:endParaRPr b="0" i="1" lang="en-HK" sz="3150" spc="-1" strike="noStrike">
              <a:latin typeface="Arial"/>
            </a:endParaRPr>
          </a:p>
        </p:txBody>
      </p:sp>
      <p:sp>
        <p:nvSpPr>
          <p:cNvPr id="315" name="Shape 2"/>
          <p:cNvSpPr/>
          <p:nvPr/>
        </p:nvSpPr>
        <p:spPr>
          <a:xfrm>
            <a:off x="333360" y="1133280"/>
            <a:ext cx="933120" cy="1620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4680" cy="25164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6400" cy="116640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4136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Irises</a:t>
            </a:r>
            <a:endParaRPr b="0" i="1" lang="en-HK" sz="1310" spc="-1" strike="noStrike">
              <a:latin typeface="Arial"/>
            </a:endParaRPr>
          </a:p>
        </p:txBody>
      </p:sp>
      <p:sp>
        <p:nvSpPr>
          <p:cNvPr id="319" name="Text 5"/>
          <p:cNvSpPr/>
          <p:nvPr/>
        </p:nvSpPr>
        <p:spPr>
          <a:xfrm>
            <a:off x="5639760" y="2658240"/>
            <a:ext cx="29124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1889</a:t>
            </a:r>
            <a:endParaRPr b="0" i="1" lang="en-HK" sz="920" spc="-1" strike="noStrike">
              <a:latin typeface="Arial"/>
            </a:endParaRPr>
          </a:p>
        </p:txBody>
      </p:sp>
      <p:sp>
        <p:nvSpPr>
          <p:cNvPr id="320" name="Text 6"/>
          <p:cNvSpPr/>
          <p:nvPr/>
        </p:nvSpPr>
        <p:spPr>
          <a:xfrm>
            <a:off x="474840" y="2925000"/>
            <a:ext cx="5457960" cy="407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Painted in the asylum garden, this work showcases Van Gogh's study of color with </a:t>
            </a:r>
            <a:r>
              <a:rPr b="0" i="1" lang="en-US" sz="920" spc="-1" strike="noStrike">
                <a:solidFill>
                  <a:srgbClr val="f2f2f2"/>
                </a:solidFill>
                <a:latin typeface="Quattrocento Sans"/>
                <a:ea typeface="Quattrocento Sans"/>
              </a:rPr>
              <a:t>vibrant blues and greens</a:t>
            </a:r>
            <a:r>
              <a:rPr b="0" i="1" lang="en-US" sz="920" spc="-1" strike="noStrike">
                <a:solidFill>
                  <a:srgbClr val="b8b8b8"/>
                </a:solidFill>
                <a:latin typeface="Quattrocento Sans"/>
                <a:ea typeface="Quattrocento Sans"/>
              </a:rPr>
              <a:t>. Originally the irises were purple, but the pigment faded over time to cobalt blue.</a:t>
            </a:r>
            <a:endParaRPr b="0" i="1" lang="en-HK" sz="920" spc="-1" strike="noStrike">
              <a:latin typeface="Arial"/>
            </a:endParaRPr>
          </a:p>
        </p:txBody>
      </p:sp>
      <p:sp>
        <p:nvSpPr>
          <p:cNvPr id="321" name="Shape 7"/>
          <p:cNvSpPr/>
          <p:nvPr/>
        </p:nvSpPr>
        <p:spPr>
          <a:xfrm>
            <a:off x="474840" y="3429360"/>
            <a:ext cx="5399640" cy="2664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6480" cy="132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Getty Center, Los Angeles</a:t>
            </a:r>
            <a:endParaRPr b="0" i="1" lang="en-HK" sz="790" spc="-1" strike="noStrike">
              <a:latin typeface="Arial"/>
            </a:endParaRPr>
          </a:p>
        </p:txBody>
      </p:sp>
      <p:sp>
        <p:nvSpPr>
          <p:cNvPr id="323" name="Shape 9"/>
          <p:cNvSpPr/>
          <p:nvPr/>
        </p:nvSpPr>
        <p:spPr>
          <a:xfrm>
            <a:off x="6184080" y="1320840"/>
            <a:ext cx="5674680" cy="25164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040" y="1325160"/>
            <a:ext cx="5666400" cy="116640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600" y="2625120"/>
            <a:ext cx="94968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The Bedroom</a:t>
            </a:r>
            <a:endParaRPr b="0" i="1" lang="en-HK" sz="1310" spc="-1" strike="noStrike">
              <a:latin typeface="Arial"/>
            </a:endParaRPr>
          </a:p>
        </p:txBody>
      </p:sp>
      <p:sp>
        <p:nvSpPr>
          <p:cNvPr id="326" name="Text 11"/>
          <p:cNvSpPr/>
          <p:nvPr/>
        </p:nvSpPr>
        <p:spPr>
          <a:xfrm>
            <a:off x="11485440" y="2658240"/>
            <a:ext cx="29124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1888</a:t>
            </a:r>
            <a:endParaRPr b="0" i="1" lang="en-HK" sz="920" spc="-1" strike="noStrike">
              <a:latin typeface="Arial"/>
            </a:endParaRPr>
          </a:p>
        </p:txBody>
      </p:sp>
      <p:sp>
        <p:nvSpPr>
          <p:cNvPr id="327" name="Text 12"/>
          <p:cNvSpPr/>
          <p:nvPr/>
        </p:nvSpPr>
        <p:spPr>
          <a:xfrm>
            <a:off x="6321600" y="2925000"/>
            <a:ext cx="5457960" cy="407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A glimpse into Van Gogh's personal space in Arles, featuring </a:t>
            </a:r>
            <a:r>
              <a:rPr b="0" i="1" lang="en-US" sz="920" spc="-1" strike="noStrike">
                <a:solidFill>
                  <a:srgbClr val="f2f2f2"/>
                </a:solidFill>
                <a:latin typeface="Quattrocento Sans"/>
                <a:ea typeface="Quattrocento Sans"/>
              </a:rPr>
              <a:t>distorted perspective</a:t>
            </a:r>
            <a:r>
              <a:rPr b="0" i="1" lang="en-US" sz="920" spc="-1" strike="noStrike">
                <a:solidFill>
                  <a:srgbClr val="b8b8b8"/>
                </a:solidFill>
                <a:latin typeface="Quattrocento Sans"/>
                <a:ea typeface="Quattrocento Sans"/>
              </a:rPr>
              <a:t> and bold colors. The painting reflects his desire for tranquility and simplicity.</a:t>
            </a:r>
            <a:endParaRPr b="0" i="1" lang="en-HK" sz="920" spc="-1" strike="noStrike">
              <a:latin typeface="Arial"/>
            </a:endParaRPr>
          </a:p>
        </p:txBody>
      </p:sp>
      <p:sp>
        <p:nvSpPr>
          <p:cNvPr id="328" name="Shape 13"/>
          <p:cNvSpPr/>
          <p:nvPr/>
        </p:nvSpPr>
        <p:spPr>
          <a:xfrm>
            <a:off x="6321600" y="3429360"/>
            <a:ext cx="5399640" cy="2664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200" y="3495960"/>
            <a:ext cx="5316480" cy="132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i="1" lang="en-HK" sz="790" spc="-1" strike="noStrike">
              <a:latin typeface="Arial"/>
            </a:endParaRPr>
          </a:p>
        </p:txBody>
      </p:sp>
      <p:sp>
        <p:nvSpPr>
          <p:cNvPr id="330" name="Shape 15"/>
          <p:cNvSpPr/>
          <p:nvPr/>
        </p:nvSpPr>
        <p:spPr>
          <a:xfrm>
            <a:off x="337680" y="4008600"/>
            <a:ext cx="5674680" cy="25164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6400" cy="116640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292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Wheatfield with Crows</a:t>
            </a:r>
            <a:endParaRPr b="0" i="1" lang="en-HK" sz="1310" spc="-1" strike="noStrike">
              <a:latin typeface="Arial"/>
            </a:endParaRPr>
          </a:p>
        </p:txBody>
      </p:sp>
      <p:sp>
        <p:nvSpPr>
          <p:cNvPr id="333" name="Text 17"/>
          <p:cNvSpPr/>
          <p:nvPr/>
        </p:nvSpPr>
        <p:spPr>
          <a:xfrm>
            <a:off x="5629320" y="5346000"/>
            <a:ext cx="29952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1890</a:t>
            </a:r>
            <a:endParaRPr b="0" i="1" lang="en-HK" sz="920" spc="-1" strike="noStrike">
              <a:latin typeface="Arial"/>
            </a:endParaRPr>
          </a:p>
        </p:txBody>
      </p:sp>
      <p:sp>
        <p:nvSpPr>
          <p:cNvPr id="334" name="Text 18"/>
          <p:cNvSpPr/>
          <p:nvPr/>
        </p:nvSpPr>
        <p:spPr>
          <a:xfrm>
            <a:off x="474840" y="5612760"/>
            <a:ext cx="5457960" cy="407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Often considered his final painting, this work shows </a:t>
            </a:r>
            <a:r>
              <a:rPr b="0" i="1" lang="en-US" sz="920" spc="-1" strike="noStrike">
                <a:solidFill>
                  <a:srgbClr val="f2f2f2"/>
                </a:solidFill>
                <a:latin typeface="Quattrocento Sans"/>
                <a:ea typeface="Quattrocento Sans"/>
              </a:rPr>
              <a:t>menacing skies</a:t>
            </a:r>
            <a:r>
              <a:rPr b="0" i="1" lang="en-US" sz="920" spc="-1" strike="noStrike">
                <a:solidFill>
                  <a:srgbClr val="b8b8b8"/>
                </a:solidFill>
                <a:latin typeface="Quattrocento Sans"/>
                <a:ea typeface="Quattrocento Sans"/>
              </a:rPr>
              <a:t>, dark crows, and a dead-end path—interpreted as expressing his emotional turmoil and foreshadowing his death.</a:t>
            </a:r>
            <a:endParaRPr b="0" i="1" lang="en-HK" sz="920" spc="-1" strike="noStrike">
              <a:latin typeface="Arial"/>
            </a:endParaRPr>
          </a:p>
        </p:txBody>
      </p:sp>
      <p:sp>
        <p:nvSpPr>
          <p:cNvPr id="335" name="Shape 19"/>
          <p:cNvSpPr/>
          <p:nvPr/>
        </p:nvSpPr>
        <p:spPr>
          <a:xfrm>
            <a:off x="474840" y="6116760"/>
            <a:ext cx="5399640" cy="2664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6480" cy="132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i="1" lang="en-HK" sz="790" spc="-1" strike="noStrike">
              <a:latin typeface="Arial"/>
            </a:endParaRPr>
          </a:p>
        </p:txBody>
      </p:sp>
      <p:sp>
        <p:nvSpPr>
          <p:cNvPr id="337" name="Shape 21"/>
          <p:cNvSpPr/>
          <p:nvPr/>
        </p:nvSpPr>
        <p:spPr>
          <a:xfrm>
            <a:off x="6184080" y="4008600"/>
            <a:ext cx="5674680" cy="25164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040" y="4012560"/>
            <a:ext cx="5666400" cy="116640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600" y="5312520"/>
            <a:ext cx="117468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Almond Blossom</a:t>
            </a:r>
            <a:endParaRPr b="0" i="1" lang="en-HK" sz="1310" spc="-1" strike="noStrike">
              <a:latin typeface="Arial"/>
            </a:endParaRPr>
          </a:p>
        </p:txBody>
      </p:sp>
      <p:sp>
        <p:nvSpPr>
          <p:cNvPr id="340" name="Text 23"/>
          <p:cNvSpPr/>
          <p:nvPr/>
        </p:nvSpPr>
        <p:spPr>
          <a:xfrm>
            <a:off x="11475720" y="5346000"/>
            <a:ext cx="29952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1890</a:t>
            </a:r>
            <a:endParaRPr b="0" i="1" lang="en-HK" sz="920" spc="-1" strike="noStrike">
              <a:latin typeface="Arial"/>
            </a:endParaRPr>
          </a:p>
        </p:txBody>
      </p:sp>
      <p:sp>
        <p:nvSpPr>
          <p:cNvPr id="341" name="Text 24"/>
          <p:cNvSpPr/>
          <p:nvPr/>
        </p:nvSpPr>
        <p:spPr>
          <a:xfrm>
            <a:off x="6321600" y="5612760"/>
            <a:ext cx="5457960" cy="407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Painted as a gift for his newborn nephew, this work shows </a:t>
            </a:r>
            <a:r>
              <a:rPr b="0" i="1" lang="en-US" sz="920" spc="-1" strike="noStrike">
                <a:solidFill>
                  <a:srgbClr val="f2f2f2"/>
                </a:solidFill>
                <a:latin typeface="Quattrocento Sans"/>
                <a:ea typeface="Quattrocento Sans"/>
              </a:rPr>
              <a:t>delicate branches against turquoise sky</a:t>
            </a:r>
            <a:r>
              <a:rPr b="0" i="1" lang="en-US" sz="920" spc="-1" strike="noStrike">
                <a:solidFill>
                  <a:srgbClr val="b8b8b8"/>
                </a:solidFill>
                <a:latin typeface="Quattrocento Sans"/>
                <a:ea typeface="Quattrocento Sans"/>
              </a:rPr>
              <a:t>. It represents new life and hope, heavily influenced by Japanese prints.</a:t>
            </a:r>
            <a:endParaRPr b="0" i="1" lang="en-HK" sz="920" spc="-1" strike="noStrike">
              <a:latin typeface="Arial"/>
            </a:endParaRPr>
          </a:p>
        </p:txBody>
      </p:sp>
      <p:sp>
        <p:nvSpPr>
          <p:cNvPr id="342" name="Shape 25"/>
          <p:cNvSpPr/>
          <p:nvPr/>
        </p:nvSpPr>
        <p:spPr>
          <a:xfrm>
            <a:off x="6321600" y="6116760"/>
            <a:ext cx="5399640" cy="2664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200" y="6183360"/>
            <a:ext cx="5316480" cy="132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i="1"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6320" cy="80928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2720" cy="65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68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8440" cy="280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3360" cy="93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b8b8b8"/>
                </a:solidFill>
                <a:latin typeface="Quattrocento Sans"/>
                <a:ea typeface="Quattrocento Sans"/>
              </a:rPr>
              <a:t>The complex relationship between creativity and psychological struggle</a:t>
            </a:r>
            <a:endParaRPr b="0" i="1"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3720" cy="202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70" spc="211" strike="noStrike">
                <a:solidFill>
                  <a:srgbClr val="c9a36a"/>
                </a:solidFill>
                <a:latin typeface="Quattrocento Sans"/>
                <a:ea typeface="Quattrocento Sans"/>
              </a:rPr>
              <a:t>Chapter 04</a:t>
            </a:r>
            <a:endParaRPr b="0" i="1" lang="en-HK" sz="1070" spc="-1" strike="noStrike">
              <a:latin typeface="Arial"/>
            </a:endParaRPr>
          </a:p>
        </p:txBody>
      </p:sp>
      <p:sp>
        <p:nvSpPr>
          <p:cNvPr id="352" name="Text 1"/>
          <p:cNvSpPr/>
          <p:nvPr/>
        </p:nvSpPr>
        <p:spPr>
          <a:xfrm>
            <a:off x="337680" y="608040"/>
            <a:ext cx="11718720" cy="405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190" spc="-1" strike="noStrike">
                <a:solidFill>
                  <a:srgbClr val="f2f2f2"/>
                </a:solidFill>
                <a:latin typeface="Oranienbaum"/>
                <a:ea typeface="Oranienbaum"/>
              </a:rPr>
              <a:t>The Struggle Within: Mental Health and Artistic Creation</a:t>
            </a:r>
            <a:endParaRPr b="0" i="1" lang="en-HK" sz="3190" spc="-1" strike="noStrike">
              <a:latin typeface="Arial"/>
            </a:endParaRPr>
          </a:p>
        </p:txBody>
      </p:sp>
      <p:sp>
        <p:nvSpPr>
          <p:cNvPr id="353" name="Shape 2"/>
          <p:cNvSpPr/>
          <p:nvPr/>
        </p:nvSpPr>
        <p:spPr>
          <a:xfrm>
            <a:off x="337680" y="1148400"/>
            <a:ext cx="945360" cy="1656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4080" cy="330948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4840" cy="330948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5000" cy="40500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8480" cy="16848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20720" cy="270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Possible Diagnoses</a:t>
            </a:r>
            <a:endParaRPr b="0" i="1" lang="en-HK" sz="1600" spc="-1" strike="noStrike">
              <a:latin typeface="Arial"/>
            </a:endParaRPr>
          </a:p>
        </p:txBody>
      </p:sp>
      <p:sp>
        <p:nvSpPr>
          <p:cNvPr id="359" name="Text 8"/>
          <p:cNvSpPr/>
          <p:nvPr/>
        </p:nvSpPr>
        <p:spPr>
          <a:xfrm>
            <a:off x="532080" y="2043360"/>
            <a:ext cx="5361120" cy="43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i="1" lang="en-HK" sz="1070" spc="-1" strike="noStrike">
              <a:latin typeface="Arial"/>
            </a:endParaRPr>
          </a:p>
        </p:txBody>
      </p:sp>
      <p:sp>
        <p:nvSpPr>
          <p:cNvPr id="360" name="Shape 9"/>
          <p:cNvSpPr/>
          <p:nvPr/>
        </p:nvSpPr>
        <p:spPr>
          <a:xfrm>
            <a:off x="532080" y="2617560"/>
            <a:ext cx="5293440" cy="57384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Bipolar Disorder</a:t>
            </a:r>
            <a:endParaRPr b="0" i="1" lang="en-HK" sz="930" spc="-1" strike="noStrike">
              <a:latin typeface="Arial"/>
            </a:endParaRPr>
          </a:p>
        </p:txBody>
      </p:sp>
      <p:sp>
        <p:nvSpPr>
          <p:cNvPr id="362" name="Text 11"/>
          <p:cNvSpPr/>
          <p:nvPr/>
        </p:nvSpPr>
        <p:spPr>
          <a:xfrm>
            <a:off x="633240" y="292140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Cycles of intense creativity and deep depression match his productive patterns</a:t>
            </a:r>
            <a:endParaRPr b="0" i="1" lang="en-HK" sz="930" spc="-1" strike="noStrike">
              <a:latin typeface="Arial"/>
            </a:endParaRPr>
          </a:p>
        </p:txBody>
      </p:sp>
      <p:sp>
        <p:nvSpPr>
          <p:cNvPr id="363" name="Shape 12"/>
          <p:cNvSpPr/>
          <p:nvPr/>
        </p:nvSpPr>
        <p:spPr>
          <a:xfrm>
            <a:off x="532080" y="3259080"/>
            <a:ext cx="5293440" cy="57384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Temporal Lobe Epilepsy</a:t>
            </a:r>
            <a:endParaRPr b="0" i="1" lang="en-HK" sz="930" spc="-1" strike="noStrike">
              <a:latin typeface="Arial"/>
            </a:endParaRPr>
          </a:p>
        </p:txBody>
      </p:sp>
      <p:sp>
        <p:nvSpPr>
          <p:cNvPr id="365" name="Text 14"/>
          <p:cNvSpPr/>
          <p:nvPr/>
        </p:nvSpPr>
        <p:spPr>
          <a:xfrm>
            <a:off x="633240" y="356292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Could explain his religious fervor, altered perceptions, and aura experiences</a:t>
            </a:r>
            <a:endParaRPr b="0" i="1" lang="en-HK" sz="930" spc="-1" strike="noStrike">
              <a:latin typeface="Arial"/>
            </a:endParaRPr>
          </a:p>
        </p:txBody>
      </p:sp>
      <p:sp>
        <p:nvSpPr>
          <p:cNvPr id="366" name="Shape 15"/>
          <p:cNvSpPr/>
          <p:nvPr/>
        </p:nvSpPr>
        <p:spPr>
          <a:xfrm>
            <a:off x="532080" y="3900600"/>
            <a:ext cx="5293440" cy="57384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Schizophrenia</a:t>
            </a:r>
            <a:endParaRPr b="0" i="1" lang="en-HK" sz="930" spc="-1" strike="noStrike">
              <a:latin typeface="Arial"/>
            </a:endParaRPr>
          </a:p>
        </p:txBody>
      </p:sp>
      <p:sp>
        <p:nvSpPr>
          <p:cNvPr id="368" name="Text 17"/>
          <p:cNvSpPr/>
          <p:nvPr/>
        </p:nvSpPr>
        <p:spPr>
          <a:xfrm>
            <a:off x="633240" y="420480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His psychotic episodes, paranoia, and hallucinations support this theory</a:t>
            </a:r>
            <a:endParaRPr b="0" i="1" lang="en-HK" sz="930" spc="-1" strike="noStrike">
              <a:latin typeface="Arial"/>
            </a:endParaRPr>
          </a:p>
        </p:txBody>
      </p:sp>
      <p:sp>
        <p:nvSpPr>
          <p:cNvPr id="369" name="Shape 18"/>
          <p:cNvSpPr/>
          <p:nvPr/>
        </p:nvSpPr>
        <p:spPr>
          <a:xfrm>
            <a:off x="350280" y="4779000"/>
            <a:ext cx="5644080" cy="153648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4840" cy="153648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5000" cy="40500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9720" cy="16848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21880" cy="270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Asylum Productivity</a:t>
            </a:r>
            <a:endParaRPr b="0" i="1" lang="en-HK" sz="1600" spc="-1" strike="noStrike">
              <a:latin typeface="Arial"/>
            </a:endParaRPr>
          </a:p>
        </p:txBody>
      </p:sp>
      <p:sp>
        <p:nvSpPr>
          <p:cNvPr id="374" name="Text 23"/>
          <p:cNvSpPr/>
          <p:nvPr/>
        </p:nvSpPr>
        <p:spPr>
          <a:xfrm>
            <a:off x="532080" y="5488200"/>
            <a:ext cx="5361120" cy="658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i="1" lang="en-US" sz="1070" spc="-1" strike="noStrike">
                <a:solidFill>
                  <a:srgbClr val="f2f2f2"/>
                </a:solidFill>
                <a:latin typeface="Quattrocento Sans"/>
                <a:ea typeface="Quattrocento Sans"/>
              </a:rPr>
              <a:t>over 150 works in one year</a:t>
            </a:r>
            <a:r>
              <a:rPr b="0" i="1" lang="en-US" sz="1070" spc="-1" strike="noStrike">
                <a:solidFill>
                  <a:srgbClr val="b8b8b8"/>
                </a:solidFill>
                <a:latin typeface="Quattrocento Sans"/>
                <a:ea typeface="Quattrocento Sans"/>
              </a:rPr>
              <a:t>, including "The Starry Night" and "Irises." His art became both therapy and transcendence.</a:t>
            </a:r>
            <a:endParaRPr b="0" i="1" lang="en-HK" sz="1070" spc="-1" strike="noStrike">
              <a:latin typeface="Arial"/>
            </a:endParaRPr>
          </a:p>
        </p:txBody>
      </p:sp>
      <p:sp>
        <p:nvSpPr>
          <p:cNvPr id="375" name="Shape 24"/>
          <p:cNvSpPr/>
          <p:nvPr/>
        </p:nvSpPr>
        <p:spPr>
          <a:xfrm>
            <a:off x="6208200" y="1334160"/>
            <a:ext cx="5644080" cy="320796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200" y="1334160"/>
            <a:ext cx="24840" cy="320796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89640" y="1503000"/>
            <a:ext cx="405000" cy="40500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7720" y="1621080"/>
            <a:ext cx="168480" cy="16848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160" y="1570320"/>
            <a:ext cx="1434960" cy="270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The Ear Incident</a:t>
            </a:r>
            <a:endParaRPr b="0" i="1" lang="en-HK" sz="1600" spc="-1" strike="noStrike">
              <a:latin typeface="Arial"/>
            </a:endParaRPr>
          </a:p>
        </p:txBody>
      </p:sp>
      <p:sp>
        <p:nvSpPr>
          <p:cNvPr id="380" name="Text 29"/>
          <p:cNvSpPr/>
          <p:nvPr/>
        </p:nvSpPr>
        <p:spPr>
          <a:xfrm>
            <a:off x="6389640" y="2043360"/>
            <a:ext cx="5361120" cy="658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070" spc="-1" strike="noStrike">
                <a:solidFill>
                  <a:srgbClr val="f2f2f2"/>
                </a:solidFill>
                <a:latin typeface="Quattrocento Sans"/>
                <a:ea typeface="Quattrocento Sans"/>
              </a:rPr>
              <a:t>December 23, 1888</a:t>
            </a:r>
            <a:r>
              <a:rPr b="0" i="1" lang="en-US" sz="1070" spc="-1" strike="noStrike">
                <a:solidFill>
                  <a:srgbClr val="b8b8b8"/>
                </a:solidFill>
                <a:latin typeface="Quattrocento Sans"/>
                <a:ea typeface="Quattrocento Sans"/>
              </a:rPr>
              <a:t> — After a heated argument with Paul Gauguin in Arles, Van Gogh suffered a severe mental breakdown. He </a:t>
            </a:r>
            <a:r>
              <a:rPr b="0" i="1" lang="en-US" sz="1070" spc="-1" strike="noStrike">
                <a:solidFill>
                  <a:srgbClr val="f2f2f2"/>
                </a:solidFill>
                <a:latin typeface="Quattrocento Sans"/>
                <a:ea typeface="Quattrocento Sans"/>
              </a:rPr>
              <a:t>severed part of his left ear</a:t>
            </a:r>
            <a:r>
              <a:rPr b="0" i="1" lang="en-US" sz="1070" spc="-1" strike="noStrike">
                <a:solidFill>
                  <a:srgbClr val="b8b8b8"/>
                </a:solidFill>
                <a:latin typeface="Quattrocento Sans"/>
                <a:ea typeface="Quattrocento Sans"/>
              </a:rPr>
              <a:t> with a razor, wrapped it in paper, and delivered it to a woman at a nearby brothel.</a:t>
            </a:r>
            <a:endParaRPr b="0" i="1" lang="en-HK" sz="1070" spc="-1" strike="noStrike">
              <a:latin typeface="Arial"/>
            </a:endParaRPr>
          </a:p>
        </p:txBody>
      </p:sp>
      <p:sp>
        <p:nvSpPr>
          <p:cNvPr id="381" name="Text 30"/>
          <p:cNvSpPr/>
          <p:nvPr/>
        </p:nvSpPr>
        <p:spPr>
          <a:xfrm>
            <a:off x="6389640" y="2836800"/>
            <a:ext cx="5361120" cy="658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i="1" lang="en-HK" sz="1070" spc="-1" strike="noStrike">
              <a:latin typeface="Arial"/>
            </a:endParaRPr>
          </a:p>
        </p:txBody>
      </p:sp>
      <p:sp>
        <p:nvSpPr>
          <p:cNvPr id="382" name="Shape 31"/>
          <p:cNvSpPr/>
          <p:nvPr/>
        </p:nvSpPr>
        <p:spPr>
          <a:xfrm>
            <a:off x="6389640" y="3630600"/>
            <a:ext cx="5293440" cy="74268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0800" y="3731760"/>
            <a:ext cx="5150160" cy="16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Aftermath:</a:t>
            </a:r>
            <a:endParaRPr b="0" i="1" lang="en-HK" sz="930" spc="-1" strike="noStrike">
              <a:latin typeface="Arial"/>
            </a:endParaRPr>
          </a:p>
        </p:txBody>
      </p:sp>
      <p:sp>
        <p:nvSpPr>
          <p:cNvPr id="384" name="Text 33"/>
          <p:cNvSpPr/>
          <p:nvPr/>
        </p:nvSpPr>
        <p:spPr>
          <a:xfrm>
            <a:off x="6490800" y="3934440"/>
            <a:ext cx="5150160" cy="337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i="1" lang="en-HK" sz="930" spc="-1" strike="noStrike">
              <a:latin typeface="Arial"/>
            </a:endParaRPr>
          </a:p>
        </p:txBody>
      </p:sp>
      <p:sp>
        <p:nvSpPr>
          <p:cNvPr id="385" name="Shape 34"/>
          <p:cNvSpPr/>
          <p:nvPr/>
        </p:nvSpPr>
        <p:spPr>
          <a:xfrm>
            <a:off x="6199560" y="4681800"/>
            <a:ext cx="5648040" cy="183168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160" y="4905360"/>
            <a:ext cx="189720" cy="25308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600" y="5293800"/>
            <a:ext cx="5386320" cy="236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i="1" lang="en-US" sz="1330" spc="-1" strike="noStrike">
                <a:solidFill>
                  <a:srgbClr val="f2f2f2"/>
                </a:solidFill>
                <a:latin typeface="Oranienbaum"/>
                <a:ea typeface="Oranienbaum"/>
              </a:rPr>
              <a:t>The Paradox of Creativity</a:t>
            </a:r>
            <a:endParaRPr b="0" i="1" lang="en-HK" sz="1330" spc="-1" strike="noStrike">
              <a:latin typeface="Arial"/>
            </a:endParaRPr>
          </a:p>
        </p:txBody>
      </p:sp>
      <p:sp>
        <p:nvSpPr>
          <p:cNvPr id="388" name="Text 37"/>
          <p:cNvSpPr/>
          <p:nvPr/>
        </p:nvSpPr>
        <p:spPr>
          <a:xfrm>
            <a:off x="6338880" y="5631480"/>
            <a:ext cx="5369400" cy="6580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i="1"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8520" cy="80928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51400" cy="65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68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Unbreakable</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Bond: Vincent and Theo</a:t>
            </a:r>
            <a:endParaRPr b="0" lang="en-HK" sz="5400" spc="-1" strike="noStrike">
              <a:latin typeface="Arial"/>
            </a:endParaRPr>
          </a:p>
        </p:txBody>
      </p:sp>
      <p:sp>
        <p:nvSpPr>
          <p:cNvPr id="394" name="Shape 4"/>
          <p:cNvSpPr/>
          <p:nvPr/>
        </p:nvSpPr>
        <p:spPr>
          <a:xfrm>
            <a:off x="380880" y="4601880"/>
            <a:ext cx="1828440" cy="280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336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504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9"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3200" cy="384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30" spc="-1" strike="noStrike">
                <a:solidFill>
                  <a:srgbClr val="f2f2f2"/>
                </a:solidFill>
                <a:latin typeface="Oranienbaum"/>
                <a:ea typeface="Oranienbaum"/>
              </a:rPr>
              <a:t>Theo van Gogh: The Brother Behind the Artist</a:t>
            </a:r>
            <a:endParaRPr b="0" i="1" lang="en-HK" sz="3030" spc="-1" strike="noStrike">
              <a:latin typeface="Arial"/>
            </a:endParaRPr>
          </a:p>
        </p:txBody>
      </p:sp>
      <p:sp>
        <p:nvSpPr>
          <p:cNvPr id="398" name="Shape 2"/>
          <p:cNvSpPr/>
          <p:nvPr/>
        </p:nvSpPr>
        <p:spPr>
          <a:xfrm>
            <a:off x="320400" y="1089360"/>
            <a:ext cx="896760" cy="1584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5920" cy="304380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3760" cy="304380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4120" cy="3841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9840" cy="15984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6920" cy="255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73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73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3280" cy="70452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720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720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5920" cy="221040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3760" cy="221040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4120" cy="3841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9680" cy="15984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11080" cy="255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73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73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2960" y="1269720"/>
            <a:ext cx="5102280" cy="377244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0280" y="1433880"/>
            <a:ext cx="288000" cy="28800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240" y="1818360"/>
            <a:ext cx="4870080" cy="2559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120" y="2202840"/>
            <a:ext cx="483804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120" y="2955960"/>
            <a:ext cx="483804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120" y="3708720"/>
            <a:ext cx="4773960" cy="70452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240" y="3804840"/>
            <a:ext cx="463788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240" y="3997080"/>
            <a:ext cx="463788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240" y="5174640"/>
            <a:ext cx="5098320" cy="147348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240" y="5174640"/>
            <a:ext cx="23760" cy="147348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320" y="5334840"/>
            <a:ext cx="484596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160" y="5687640"/>
            <a:ext cx="127800" cy="1278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600" y="5655600"/>
            <a:ext cx="204228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160" y="5911920"/>
            <a:ext cx="127800" cy="1278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600" y="5879880"/>
            <a:ext cx="200232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160" y="6136200"/>
            <a:ext cx="127800" cy="1278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600" y="6104160"/>
            <a:ext cx="222660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160" y="6360480"/>
            <a:ext cx="127800" cy="1278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600" y="6328440"/>
            <a:ext cx="23306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7240" cy="80928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5440" cy="65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68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Enduring Legacy</a:t>
            </a:r>
            <a:endParaRPr b="0" i="1" lang="en-HK" sz="5400" spc="-1" strike="noStrike">
              <a:latin typeface="Arial"/>
            </a:endParaRPr>
          </a:p>
          <a:p>
            <a:pPr>
              <a:lnSpc>
                <a:spcPct val="100000"/>
              </a:lnSpc>
              <a:buNone/>
            </a:pPr>
            <a:r>
              <a:rPr b="1" i="1" lang="en-US" sz="5400" spc="-1" strike="noStrike">
                <a:solidFill>
                  <a:srgbClr val="f2f2f2"/>
                </a:solidFill>
                <a:latin typeface="Oranienbaum"/>
                <a:ea typeface="Oranienbaum"/>
              </a:rPr>
              <a:t>and Influence</a:t>
            </a:r>
            <a:endParaRPr b="0" i="1" lang="en-HK" sz="5400" spc="-1" strike="noStrike">
              <a:latin typeface="Arial"/>
            </a:endParaRPr>
          </a:p>
        </p:txBody>
      </p:sp>
      <p:sp>
        <p:nvSpPr>
          <p:cNvPr id="440" name="Shape 4"/>
          <p:cNvSpPr/>
          <p:nvPr/>
        </p:nvSpPr>
        <p:spPr>
          <a:xfrm>
            <a:off x="380880" y="4369680"/>
            <a:ext cx="1828440" cy="280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3360" cy="93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504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9"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3200" cy="384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30" spc="-1" strike="noStrike">
                <a:solidFill>
                  <a:srgbClr val="f2f2f2"/>
                </a:solidFill>
                <a:latin typeface="Oranienbaum"/>
                <a:ea typeface="Oranienbaum"/>
              </a:rPr>
              <a:t>Posthumous Recognition and Global Impact</a:t>
            </a:r>
            <a:endParaRPr b="0" i="1" lang="en-HK" sz="3030" spc="-1" strike="noStrike">
              <a:latin typeface="Arial"/>
            </a:endParaRPr>
          </a:p>
        </p:txBody>
      </p:sp>
      <p:sp>
        <p:nvSpPr>
          <p:cNvPr id="444" name="Shape 2"/>
          <p:cNvSpPr/>
          <p:nvPr/>
        </p:nvSpPr>
        <p:spPr>
          <a:xfrm>
            <a:off x="320400" y="1089360"/>
            <a:ext cx="896760" cy="1584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7120" cy="304380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3760" cy="304380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4120" cy="3841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9840" cy="15984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8240" cy="255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85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85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4480" cy="70452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840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840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7120" cy="200232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3760" cy="200232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4120" cy="3841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9840" cy="15984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3800" cy="255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8560" cy="416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856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160" y="1265760"/>
            <a:ext cx="5667120" cy="355644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160" y="1265760"/>
            <a:ext cx="23760" cy="355644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600" y="1425960"/>
            <a:ext cx="384120" cy="3841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440" y="1537920"/>
            <a:ext cx="99720" cy="15984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200" y="1490040"/>
            <a:ext cx="1609920" cy="255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600" y="1938600"/>
            <a:ext cx="5398560" cy="208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600" y="2274840"/>
            <a:ext cx="5334480" cy="54432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1720" y="2387160"/>
            <a:ext cx="140148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7640" y="2370960"/>
            <a:ext cx="7686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1720" y="2595240"/>
            <a:ext cx="519048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600" y="2916000"/>
            <a:ext cx="5334480" cy="54432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1720" y="3027960"/>
            <a:ext cx="61632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120" y="3012120"/>
            <a:ext cx="7686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1720" y="3236400"/>
            <a:ext cx="519048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600" y="3556800"/>
            <a:ext cx="5334480" cy="54432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1720" y="3668760"/>
            <a:ext cx="125712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2720" y="3652920"/>
            <a:ext cx="80064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1720" y="3877200"/>
            <a:ext cx="519048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600" y="4229640"/>
            <a:ext cx="539064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240" y="4954680"/>
            <a:ext cx="5671080" cy="157788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160" y="5118840"/>
            <a:ext cx="240120" cy="24012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440" y="5455080"/>
            <a:ext cx="5422680" cy="223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360" y="5743440"/>
            <a:ext cx="5406840" cy="6246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696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211"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21600" cy="402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170" spc="-1" strike="noStrike">
                <a:solidFill>
                  <a:srgbClr val="f2f2f2"/>
                </a:solidFill>
                <a:latin typeface="Oranienbaum"/>
                <a:ea typeface="Oranienbaum"/>
              </a:rPr>
              <a:t>Inspiring Generations: Van Gogh's Artistic Descendants</a:t>
            </a:r>
            <a:endParaRPr b="0" i="1" lang="en-HK" sz="3170" spc="-1" strike="noStrike">
              <a:latin typeface="Arial"/>
            </a:endParaRPr>
          </a:p>
        </p:txBody>
      </p:sp>
      <p:sp>
        <p:nvSpPr>
          <p:cNvPr id="487" name="Shape 2"/>
          <p:cNvSpPr/>
          <p:nvPr/>
        </p:nvSpPr>
        <p:spPr>
          <a:xfrm>
            <a:off x="335880" y="1141920"/>
            <a:ext cx="939960" cy="1656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3000" cy="285048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3000" cy="2484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2840" cy="4028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6520" cy="16740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344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4440" cy="1091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7120" cy="73872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42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4200" cy="33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080" y="1339200"/>
            <a:ext cx="3753000" cy="285048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080" y="1339200"/>
            <a:ext cx="3753000" cy="2484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89840" y="1519920"/>
            <a:ext cx="402840" cy="4028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560" y="1637280"/>
            <a:ext cx="167400" cy="16740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3840" y="1603800"/>
            <a:ext cx="63792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89840" y="2057040"/>
            <a:ext cx="3484440" cy="125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89840" y="3450960"/>
            <a:ext cx="3417120" cy="57060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0640" y="3551760"/>
            <a:ext cx="32742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0640" y="3753360"/>
            <a:ext cx="32742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7920" y="1339200"/>
            <a:ext cx="3753000" cy="285048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7920" y="1339200"/>
            <a:ext cx="3753000" cy="2484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040" y="1519920"/>
            <a:ext cx="402840" cy="4028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3400" y="1637280"/>
            <a:ext cx="167400" cy="16740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79680" y="1603800"/>
            <a:ext cx="81396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040" y="2057040"/>
            <a:ext cx="3484440" cy="125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040" y="3450960"/>
            <a:ext cx="3417120" cy="57060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6840" y="3551760"/>
            <a:ext cx="32742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6840" y="3753360"/>
            <a:ext cx="32742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80080" cy="231696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4840" cy="231696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2840" cy="4028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9520" cy="16740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236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9360" cy="6714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68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8160" cy="133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9360" cy="6714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68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8160" cy="268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9360" cy="6714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68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8160" cy="268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9360" cy="6714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68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8160" cy="268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320" y="4328640"/>
            <a:ext cx="5684040" cy="230868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3600" y="4752360"/>
            <a:ext cx="377640" cy="30204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000" y="5189040"/>
            <a:ext cx="5440680" cy="2682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7920" y="5558760"/>
            <a:ext cx="5407200" cy="654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91760" cy="685656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91760" cy="685656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480" y="-123840"/>
            <a:ext cx="494640" cy="43956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6640" y="829440"/>
            <a:ext cx="2960640" cy="13748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i="1" lang="en-US" sz="4330" spc="-1" strike="noStrike">
                <a:solidFill>
                  <a:srgbClr val="f2f2f2"/>
                </a:solidFill>
                <a:latin typeface="Oranienbaum"/>
                <a:ea typeface="Oranienbaum"/>
              </a:rPr>
              <a:t>The Eternal</a:t>
            </a:r>
            <a:endParaRPr b="0" i="1" lang="en-HK" sz="4330" spc="-1" strike="noStrike">
              <a:latin typeface="Arial"/>
            </a:endParaRPr>
          </a:p>
          <a:p>
            <a:pPr algn="ctr">
              <a:lnSpc>
                <a:spcPct val="100000"/>
              </a:lnSpc>
              <a:buNone/>
            </a:pPr>
            <a:r>
              <a:rPr b="1" i="1" lang="en-US" sz="4330" spc="-1" strike="noStrike">
                <a:solidFill>
                  <a:srgbClr val="c9a36a"/>
                </a:solidFill>
                <a:latin typeface="Oranienbaum"/>
                <a:ea typeface="Oranienbaum"/>
              </a:rPr>
              <a:t>Starry Night</a:t>
            </a:r>
            <a:endParaRPr b="0" i="1" lang="en-HK" sz="4330" spc="-1" strike="noStrike">
              <a:latin typeface="Arial"/>
            </a:endParaRPr>
          </a:p>
        </p:txBody>
      </p:sp>
      <p:sp>
        <p:nvSpPr>
          <p:cNvPr id="540" name="Shape 3"/>
          <p:cNvSpPr/>
          <p:nvPr/>
        </p:nvSpPr>
        <p:spPr>
          <a:xfrm>
            <a:off x="5361480" y="2498040"/>
            <a:ext cx="146628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31600" cy="8978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450" spc="-1" strike="noStrike">
                <a:solidFill>
                  <a:srgbClr val="b8b8b8"/>
                </a:solidFill>
                <a:latin typeface="Quattrocento Sans"/>
                <a:ea typeface="Quattrocento Sans"/>
              </a:rPr>
              <a:t>Vincent van Gogh's life reminds us that </a:t>
            </a:r>
            <a:r>
              <a:rPr b="0" i="1" lang="en-US" sz="1450" spc="-1" strike="noStrike">
                <a:solidFill>
                  <a:srgbClr val="f2f2f2"/>
                </a:solidFill>
                <a:latin typeface="Quattrocento Sans"/>
                <a:ea typeface="Quattrocento Sans"/>
              </a:rPr>
              <a:t>true artistic genius often comes with great personal cost</a:t>
            </a:r>
            <a:r>
              <a:rPr b="0" i="1"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i="1" lang="en-HK" sz="1450" spc="-1" strike="noStrike">
              <a:latin typeface="Arial"/>
            </a:endParaRPr>
          </a:p>
        </p:txBody>
      </p:sp>
      <p:sp>
        <p:nvSpPr>
          <p:cNvPr id="542" name="Text 5"/>
          <p:cNvSpPr/>
          <p:nvPr/>
        </p:nvSpPr>
        <p:spPr>
          <a:xfrm>
            <a:off x="2529000" y="3905280"/>
            <a:ext cx="7131600" cy="3020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450" spc="-1" strike="noStrike">
                <a:solidFill>
                  <a:srgbClr val="b8b8b8"/>
                </a:solidFill>
                <a:latin typeface="Quattrocento Sans"/>
                <a:ea typeface="Quattrocento Sans"/>
              </a:rPr>
              <a:t>As he once wrote to Theo:</a:t>
            </a:r>
            <a:endParaRPr b="0" i="1" lang="en-HK" sz="1450" spc="-1" strike="noStrike">
              <a:latin typeface="Arial"/>
            </a:endParaRPr>
          </a:p>
        </p:txBody>
      </p:sp>
      <p:sp>
        <p:nvSpPr>
          <p:cNvPr id="543" name="Shape 6"/>
          <p:cNvSpPr/>
          <p:nvPr/>
        </p:nvSpPr>
        <p:spPr>
          <a:xfrm>
            <a:off x="2714400" y="4574160"/>
            <a:ext cx="6764760" cy="177804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080" y="4872240"/>
            <a:ext cx="240120" cy="27468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2240" cy="357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729" spc="-1" strike="noStrike">
                <a:solidFill>
                  <a:srgbClr val="f2f2f2"/>
                </a:solidFill>
                <a:latin typeface="Quattrocento Sans"/>
                <a:ea typeface="Quattrocento Sans"/>
              </a:rPr>
              <a:t>"What would life be if we had no courage to attempt anything?"</a:t>
            </a:r>
            <a:endParaRPr b="0" i="1" lang="en-HK" sz="1729" spc="-1" strike="noStrike">
              <a:latin typeface="Arial"/>
            </a:endParaRPr>
          </a:p>
        </p:txBody>
      </p:sp>
      <p:sp>
        <p:nvSpPr>
          <p:cNvPr id="546" name="Text 9"/>
          <p:cNvSpPr/>
          <p:nvPr/>
        </p:nvSpPr>
        <p:spPr>
          <a:xfrm>
            <a:off x="3044520" y="5798160"/>
            <a:ext cx="610488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c9a36a"/>
                </a:solidFill>
                <a:latin typeface="Quattrocento Sans"/>
                <a:ea typeface="Quattrocento Sans"/>
              </a:rPr>
              <a:t>— </a:t>
            </a:r>
            <a:r>
              <a:rPr b="0" i="1" lang="en-US" sz="1300" spc="-1" strike="noStrike">
                <a:solidFill>
                  <a:srgbClr val="c9a36a"/>
                </a:solidFill>
                <a:latin typeface="Quattrocento Sans"/>
                <a:ea typeface="Quattrocento Sans"/>
              </a:rPr>
              <a:t>Vincent van Gogh</a:t>
            </a:r>
            <a:endParaRPr b="0" i="1" lang="en-HK" sz="1300" spc="-1" strike="noStrike">
              <a:latin typeface="Arial"/>
            </a:endParaRPr>
          </a:p>
        </p:txBody>
      </p:sp>
      <p:sp>
        <p:nvSpPr>
          <p:cNvPr id="547" name="Shape 10"/>
          <p:cNvSpPr/>
          <p:nvPr/>
        </p:nvSpPr>
        <p:spPr>
          <a:xfrm>
            <a:off x="3387240" y="6760440"/>
            <a:ext cx="182880" cy="18288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716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860+ Paintings</a:t>
            </a:r>
            <a:endParaRPr b="0" i="1" lang="en-HK" sz="1300" spc="-1" strike="noStrike">
              <a:latin typeface="Arial"/>
            </a:endParaRPr>
          </a:p>
        </p:txBody>
      </p:sp>
      <p:sp>
        <p:nvSpPr>
          <p:cNvPr id="549" name="Shape 12"/>
          <p:cNvSpPr/>
          <p:nvPr/>
        </p:nvSpPr>
        <p:spPr>
          <a:xfrm>
            <a:off x="5137560" y="6760440"/>
            <a:ext cx="182880" cy="18288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600" y="6724080"/>
            <a:ext cx="171396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134 Years of Inspiration</a:t>
            </a:r>
            <a:endParaRPr b="0" i="1" lang="en-HK" sz="1300" spc="-1" strike="noStrike">
              <a:latin typeface="Arial"/>
            </a:endParaRPr>
          </a:p>
        </p:txBody>
      </p:sp>
      <p:sp>
        <p:nvSpPr>
          <p:cNvPr id="551" name="Shape 14"/>
          <p:cNvSpPr/>
          <p:nvPr/>
        </p:nvSpPr>
        <p:spPr>
          <a:xfrm>
            <a:off x="7453080" y="6760440"/>
            <a:ext cx="228960" cy="18288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160" y="6724080"/>
            <a:ext cx="111816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Eternal Legacy</a:t>
            </a:r>
            <a:endParaRPr b="0" i="1"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2026-04-10T01:43:59Z</dcterms:modified>
  <cp:revision>2</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