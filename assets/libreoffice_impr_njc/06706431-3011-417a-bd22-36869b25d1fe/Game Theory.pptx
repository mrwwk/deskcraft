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6.xml.rels" ContentType="application/vnd.openxmlformats-package.relationships+xml"/>
  <Override PartName="/ppt/notesSlides/_rels/notesSlide15.xml.rels" ContentType="application/vnd.openxmlformats-package.relationships+xml"/>
  <Override PartName="/ppt/notesSlides/_rels/notesSlide4.xml.rels" ContentType="application/vnd.openxmlformats-package.relationships+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14.xml.rels" ContentType="application/vnd.openxmlformats-package.relationships+xml"/>
  <Override PartName="/ppt/notesSlides/_rels/notesSlide1.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7.xml.rels" ContentType="application/vnd.openxmlformats-package.relationships+xml"/>
  <Override PartName="/ppt/notesSlides/_rels/notesSlide16.xml.rels" ContentType="application/vnd.openxmlformats-package.relationships+xml"/>
  <Override PartName="/ppt/notesSlides/_rels/notesSlide5.xml.rels" ContentType="application/vnd.openxmlformats-package.relationships+xml"/>
  <Override PartName="/ppt/notesSlides/_rels/notesSlide12.xml.rels" ContentType="application/vnd.openxmlformats-package.relationships+xml"/>
  <Override PartName="/ppt/notesSlides/notesSlide9.xml" ContentType="application/vnd.openxmlformats-officedocument.presentationml.notesSlide+xml"/>
  <Override PartName="/ppt/notesSlides/notesSlide8.xml" ContentType="application/vnd.openxmlformats-officedocument.presentationml.notesSlide+xml"/>
  <Override PartName="/ppt/notesSlides/notesSlide17.xml" ContentType="application/vnd.openxmlformats-officedocument.presentationml.notesSlid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13.xml.rels" ContentType="application/vnd.openxmlformats-package.relationships+xml"/>
  <Override PartName="/ppt/slides/_rels/slide16.xml.rels" ContentType="application/vnd.openxmlformats-package.relationships+xml"/>
  <Override PartName="/ppt/slides/_rels/slide12.xml.rels" ContentType="application/vnd.openxmlformats-package.relationships+xml"/>
  <Override PartName="/ppt/slides/_rels/slide15.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14.xml.rels" ContentType="application/vnd.openxmlformats-package.relationships+xml"/>
  <Override PartName="/ppt/slides/_rels/slide17.xml.rels" ContentType="application/vnd.openxmlformats-package.relationships+xml"/>
  <Override PartName="/ppt/slides/_rels/slide1.xml.rels" ContentType="application/vnd.openxmlformats-package.relationships+xml"/>
  <Override PartName="/ppt/slides/_rels/slide4.xml.rels" ContentType="application/vnd.openxmlformats-package.relationships+xml"/>
  <Override PartName="/ppt/slides/_rels/slide2.xml.rels" ContentType="application/vnd.openxmlformats-package.relationships+xml"/>
  <Override PartName="/ppt/slides/_rels/slide5.xml.rels" ContentType="application/vnd.openxmlformats-package.relationships+xml"/>
  <Override PartName="/ppt/slides/_rels/slide3.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HK" sz="4400" spc="-1" strike="noStrike">
                <a:latin typeface="Arial"/>
              </a:rPr>
              <a:t>Click to move the slide</a:t>
            </a:r>
            <a:endParaRPr b="0" lang="en-HK"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format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0C36BBD8-9DF3-4EF4-915B-CE906B20755A}"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8" name="PlaceHolder 1"/>
          <p:cNvSpPr>
            <a:spLocks noGrp="1"/>
          </p:cNvSpPr>
          <p:nvPr>
            <p:ph type="sldImg"/>
          </p:nvPr>
        </p:nvSpPr>
        <p:spPr>
          <a:xfrm>
            <a:off x="685800" y="1143000"/>
            <a:ext cx="5485320" cy="3085200"/>
          </a:xfrm>
          <a:prstGeom prst="rect">
            <a:avLst/>
          </a:prstGeom>
          <a:ln w="0">
            <a:noFill/>
          </a:ln>
        </p:spPr>
      </p:sp>
      <p:sp>
        <p:nvSpPr>
          <p:cNvPr id="309"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310" name="PlaceHolder 3"/>
          <p:cNvSpPr>
            <a:spLocks noGrp="1"/>
          </p:cNvSpPr>
          <p:nvPr>
            <p:ph type="sldNum" idx="4"/>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5FA9654-DF36-4ADD-8D45-E7DCC61AC2B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1" name="PlaceHolder 1"/>
          <p:cNvSpPr>
            <a:spLocks noGrp="1"/>
          </p:cNvSpPr>
          <p:nvPr>
            <p:ph type="sldImg"/>
          </p:nvPr>
        </p:nvSpPr>
        <p:spPr>
          <a:xfrm>
            <a:off x="685800" y="1143000"/>
            <a:ext cx="5485320" cy="3085200"/>
          </a:xfrm>
          <a:prstGeom prst="rect">
            <a:avLst/>
          </a:prstGeom>
          <a:ln w="0">
            <a:noFill/>
          </a:ln>
        </p:spPr>
      </p:sp>
      <p:sp>
        <p:nvSpPr>
          <p:cNvPr id="312"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313" name="PlaceHolder 3"/>
          <p:cNvSpPr>
            <a:spLocks noGrp="1"/>
          </p:cNvSpPr>
          <p:nvPr>
            <p:ph type="sldNum" idx="5"/>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CB524E5-97CC-42CF-90B3-6D68D835745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4" name="PlaceHolder 1"/>
          <p:cNvSpPr>
            <a:spLocks noGrp="1"/>
          </p:cNvSpPr>
          <p:nvPr>
            <p:ph type="sldImg"/>
          </p:nvPr>
        </p:nvSpPr>
        <p:spPr>
          <a:xfrm>
            <a:off x="685800" y="1143000"/>
            <a:ext cx="5485320" cy="3085200"/>
          </a:xfrm>
          <a:prstGeom prst="rect">
            <a:avLst/>
          </a:prstGeom>
          <a:ln w="0">
            <a:noFill/>
          </a:ln>
        </p:spPr>
      </p:sp>
      <p:sp>
        <p:nvSpPr>
          <p:cNvPr id="315"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316" name="PlaceHolder 3"/>
          <p:cNvSpPr>
            <a:spLocks noGrp="1"/>
          </p:cNvSpPr>
          <p:nvPr>
            <p:ph type="sldNum" idx="6"/>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7E11554-D43D-42FD-9BC7-DB04C70A5B9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7" name="PlaceHolder 1"/>
          <p:cNvSpPr>
            <a:spLocks noGrp="1"/>
          </p:cNvSpPr>
          <p:nvPr>
            <p:ph type="sldImg"/>
          </p:nvPr>
        </p:nvSpPr>
        <p:spPr>
          <a:xfrm>
            <a:off x="685800" y="1143000"/>
            <a:ext cx="5485320" cy="3085200"/>
          </a:xfrm>
          <a:prstGeom prst="rect">
            <a:avLst/>
          </a:prstGeom>
          <a:ln w="0">
            <a:noFill/>
          </a:ln>
        </p:spPr>
      </p:sp>
      <p:sp>
        <p:nvSpPr>
          <p:cNvPr id="318"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319" name="PlaceHolder 3"/>
          <p:cNvSpPr>
            <a:spLocks noGrp="1"/>
          </p:cNvSpPr>
          <p:nvPr>
            <p:ph type="sldNum" idx="7"/>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BD148C5-4241-4891-95E0-B17B136803C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0" name="PlaceHolder 1"/>
          <p:cNvSpPr>
            <a:spLocks noGrp="1"/>
          </p:cNvSpPr>
          <p:nvPr>
            <p:ph type="sldImg"/>
          </p:nvPr>
        </p:nvSpPr>
        <p:spPr>
          <a:xfrm>
            <a:off x="685800" y="1143000"/>
            <a:ext cx="5485320" cy="3085200"/>
          </a:xfrm>
          <a:prstGeom prst="rect">
            <a:avLst/>
          </a:prstGeom>
          <a:ln w="0">
            <a:noFill/>
          </a:ln>
        </p:spPr>
      </p:sp>
      <p:sp>
        <p:nvSpPr>
          <p:cNvPr id="321"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pPr marL="216000" indent="-216000">
              <a:lnSpc>
                <a:spcPct val="100000"/>
              </a:lnSpc>
              <a:buNone/>
              <a:tabLst>
                <a:tab algn="l" pos="0"/>
              </a:tabLst>
            </a:pPr>
            <a:r>
              <a:rPr b="0" lang="en-HK" sz="1800" spc="-1" strike="noStrike">
                <a:latin typeface="Arial"/>
              </a:rPr>
              <a:t>Key concept: Nash Equilibrium occurs when no player can improve their payoff by unilaterally changing their strategy, given other players’ strategies remain fixed.</a:t>
            </a:r>
            <a:endParaRPr b="0" lang="en-HK" sz="1800" spc="-1" strike="noStrike">
              <a:latin typeface="Arial"/>
            </a:endParaRPr>
          </a:p>
        </p:txBody>
      </p:sp>
      <p:sp>
        <p:nvSpPr>
          <p:cNvPr id="322" name="PlaceHolder 3"/>
          <p:cNvSpPr>
            <a:spLocks noGrp="1"/>
          </p:cNvSpPr>
          <p:nvPr>
            <p:ph type="sldNum" idx="8"/>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C5AC5FB-2470-46C2-94A7-15FE5511BFF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3" name="PlaceHolder 1"/>
          <p:cNvSpPr>
            <a:spLocks noGrp="1"/>
          </p:cNvSpPr>
          <p:nvPr>
            <p:ph type="sldImg"/>
          </p:nvPr>
        </p:nvSpPr>
        <p:spPr>
          <a:xfrm>
            <a:off x="685800" y="1143000"/>
            <a:ext cx="5485320" cy="3085200"/>
          </a:xfrm>
          <a:prstGeom prst="rect">
            <a:avLst/>
          </a:prstGeom>
          <a:ln w="0">
            <a:noFill/>
          </a:ln>
        </p:spPr>
      </p:sp>
      <p:sp>
        <p:nvSpPr>
          <p:cNvPr id="324"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325" name="PlaceHolder 3"/>
          <p:cNvSpPr>
            <a:spLocks noGrp="1"/>
          </p:cNvSpPr>
          <p:nvPr>
            <p:ph type="sldNum" idx="9"/>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664E8CB-7FB9-4E32-BB2A-A0EDA2249CA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6" name="PlaceHolder 1"/>
          <p:cNvSpPr>
            <a:spLocks noGrp="1"/>
          </p:cNvSpPr>
          <p:nvPr>
            <p:ph type="sldImg"/>
          </p:nvPr>
        </p:nvSpPr>
        <p:spPr>
          <a:xfrm>
            <a:off x="685800" y="1143000"/>
            <a:ext cx="5485320" cy="3085200"/>
          </a:xfrm>
          <a:prstGeom prst="rect">
            <a:avLst/>
          </a:prstGeom>
          <a:ln w="0">
            <a:noFill/>
          </a:ln>
        </p:spPr>
      </p:sp>
      <p:sp>
        <p:nvSpPr>
          <p:cNvPr id="327"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328" name="PlaceHolder 3"/>
          <p:cNvSpPr>
            <a:spLocks noGrp="1"/>
          </p:cNvSpPr>
          <p:nvPr>
            <p:ph type="sldNum" idx="10"/>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8DCBAEC-50A5-40A9-B40B-06165BD0C92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9" name="PlaceHolder 1"/>
          <p:cNvSpPr>
            <a:spLocks noGrp="1"/>
          </p:cNvSpPr>
          <p:nvPr>
            <p:ph type="sldImg"/>
          </p:nvPr>
        </p:nvSpPr>
        <p:spPr>
          <a:xfrm>
            <a:off x="685800" y="1143000"/>
            <a:ext cx="5485320" cy="3085200"/>
          </a:xfrm>
          <a:prstGeom prst="rect">
            <a:avLst/>
          </a:prstGeom>
          <a:ln w="0">
            <a:noFill/>
          </a:ln>
        </p:spPr>
      </p:sp>
      <p:sp>
        <p:nvSpPr>
          <p:cNvPr id="330"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331" name="PlaceHolder 3"/>
          <p:cNvSpPr>
            <a:spLocks noGrp="1"/>
          </p:cNvSpPr>
          <p:nvPr>
            <p:ph type="sldNum" idx="11"/>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DA3C3A5-C55E-4F9E-9972-343511E2551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2" name="PlaceHolder 1"/>
          <p:cNvSpPr>
            <a:spLocks noGrp="1"/>
          </p:cNvSpPr>
          <p:nvPr>
            <p:ph type="sldImg"/>
          </p:nvPr>
        </p:nvSpPr>
        <p:spPr>
          <a:xfrm>
            <a:off x="685800" y="1143000"/>
            <a:ext cx="5485320" cy="3085200"/>
          </a:xfrm>
          <a:prstGeom prst="rect">
            <a:avLst/>
          </a:prstGeom>
          <a:ln w="0">
            <a:noFill/>
          </a:ln>
        </p:spPr>
      </p:sp>
      <p:sp>
        <p:nvSpPr>
          <p:cNvPr id="333"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334" name="PlaceHolder 3"/>
          <p:cNvSpPr>
            <a:spLocks noGrp="1"/>
          </p:cNvSpPr>
          <p:nvPr>
            <p:ph type="sldNum" idx="12"/>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B936CAA-1F56-4430-9B27-126D57833AA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5" name="PlaceHolder 1"/>
          <p:cNvSpPr>
            <a:spLocks noGrp="1"/>
          </p:cNvSpPr>
          <p:nvPr>
            <p:ph type="sldImg"/>
          </p:nvPr>
        </p:nvSpPr>
        <p:spPr>
          <a:xfrm>
            <a:off x="685800" y="1143000"/>
            <a:ext cx="5485320" cy="3085200"/>
          </a:xfrm>
          <a:prstGeom prst="rect">
            <a:avLst/>
          </a:prstGeom>
          <a:ln w="0">
            <a:noFill/>
          </a:ln>
        </p:spPr>
      </p:sp>
      <p:sp>
        <p:nvSpPr>
          <p:cNvPr id="336"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337" name="PlaceHolder 3"/>
          <p:cNvSpPr>
            <a:spLocks noGrp="1"/>
          </p:cNvSpPr>
          <p:nvPr>
            <p:ph type="sldNum" idx="13"/>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5CA4FC3-3878-4A12-BD9F-7B766B7ACF0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8" name="PlaceHolder 1"/>
          <p:cNvSpPr>
            <a:spLocks noGrp="1"/>
          </p:cNvSpPr>
          <p:nvPr>
            <p:ph type="sldImg"/>
          </p:nvPr>
        </p:nvSpPr>
        <p:spPr>
          <a:xfrm>
            <a:off x="685800" y="1143000"/>
            <a:ext cx="5485320" cy="3085200"/>
          </a:xfrm>
          <a:prstGeom prst="rect">
            <a:avLst/>
          </a:prstGeom>
          <a:ln w="0">
            <a:noFill/>
          </a:ln>
        </p:spPr>
      </p:sp>
      <p:sp>
        <p:nvSpPr>
          <p:cNvPr id="339"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340" name="PlaceHolder 3"/>
          <p:cNvSpPr>
            <a:spLocks noGrp="1"/>
          </p:cNvSpPr>
          <p:nvPr>
            <p:ph type="sldNum" idx="14"/>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6438B91-1C7B-4C71-9474-B7CEDDD23F07}"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1" name="PlaceHolder 1"/>
          <p:cNvSpPr>
            <a:spLocks noGrp="1"/>
          </p:cNvSpPr>
          <p:nvPr>
            <p:ph type="sldImg"/>
          </p:nvPr>
        </p:nvSpPr>
        <p:spPr>
          <a:xfrm>
            <a:off x="685800" y="1143000"/>
            <a:ext cx="5485320" cy="3085200"/>
          </a:xfrm>
          <a:prstGeom prst="rect">
            <a:avLst/>
          </a:prstGeom>
          <a:ln w="0">
            <a:noFill/>
          </a:ln>
        </p:spPr>
      </p:sp>
      <p:sp>
        <p:nvSpPr>
          <p:cNvPr id="342"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343" name="PlaceHolder 3"/>
          <p:cNvSpPr>
            <a:spLocks noGrp="1"/>
          </p:cNvSpPr>
          <p:nvPr>
            <p:ph type="sldNum" idx="15"/>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0D92983-C8AD-4814-B15E-1ECB6E5DD6E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4" name="PlaceHolder 1"/>
          <p:cNvSpPr>
            <a:spLocks noGrp="1"/>
          </p:cNvSpPr>
          <p:nvPr>
            <p:ph type="sldImg"/>
          </p:nvPr>
        </p:nvSpPr>
        <p:spPr>
          <a:xfrm>
            <a:off x="685800" y="1143000"/>
            <a:ext cx="5485320" cy="3085200"/>
          </a:xfrm>
          <a:prstGeom prst="rect">
            <a:avLst/>
          </a:prstGeom>
          <a:ln w="0">
            <a:noFill/>
          </a:ln>
        </p:spPr>
      </p:sp>
      <p:sp>
        <p:nvSpPr>
          <p:cNvPr id="345"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346" name="PlaceHolder 3"/>
          <p:cNvSpPr>
            <a:spLocks noGrp="1"/>
          </p:cNvSpPr>
          <p:nvPr>
            <p:ph type="sldNum" idx="16"/>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9C1281F-0C23-4080-88C8-0F77FEC06FB7}"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7" name="PlaceHolder 1"/>
          <p:cNvSpPr>
            <a:spLocks noGrp="1"/>
          </p:cNvSpPr>
          <p:nvPr>
            <p:ph type="sldImg"/>
          </p:nvPr>
        </p:nvSpPr>
        <p:spPr>
          <a:xfrm>
            <a:off x="685800" y="1143000"/>
            <a:ext cx="5485320" cy="3085200"/>
          </a:xfrm>
          <a:prstGeom prst="rect">
            <a:avLst/>
          </a:prstGeom>
          <a:ln w="0">
            <a:noFill/>
          </a:ln>
        </p:spPr>
      </p:sp>
      <p:sp>
        <p:nvSpPr>
          <p:cNvPr id="348"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349" name="PlaceHolder 3"/>
          <p:cNvSpPr>
            <a:spLocks noGrp="1"/>
          </p:cNvSpPr>
          <p:nvPr>
            <p:ph type="sldNum" idx="17"/>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C6AD56A-8110-4A3C-8087-6E6B6EC4336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0" name="PlaceHolder 1"/>
          <p:cNvSpPr>
            <a:spLocks noGrp="1"/>
          </p:cNvSpPr>
          <p:nvPr>
            <p:ph type="sldImg"/>
          </p:nvPr>
        </p:nvSpPr>
        <p:spPr>
          <a:xfrm>
            <a:off x="685800" y="1143000"/>
            <a:ext cx="5485320" cy="3085200"/>
          </a:xfrm>
          <a:prstGeom prst="rect">
            <a:avLst/>
          </a:prstGeom>
          <a:ln w="0">
            <a:noFill/>
          </a:ln>
        </p:spPr>
      </p:sp>
      <p:sp>
        <p:nvSpPr>
          <p:cNvPr id="351"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352" name="PlaceHolder 3"/>
          <p:cNvSpPr>
            <a:spLocks noGrp="1"/>
          </p:cNvSpPr>
          <p:nvPr>
            <p:ph type="sldNum" idx="18"/>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EE94CDA-802C-462B-8A44-0FEE43418D6F}"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3" name="PlaceHolder 1"/>
          <p:cNvSpPr>
            <a:spLocks noGrp="1"/>
          </p:cNvSpPr>
          <p:nvPr>
            <p:ph type="sldImg"/>
          </p:nvPr>
        </p:nvSpPr>
        <p:spPr>
          <a:xfrm>
            <a:off x="685800" y="1143000"/>
            <a:ext cx="5485320" cy="3085200"/>
          </a:xfrm>
          <a:prstGeom prst="rect">
            <a:avLst/>
          </a:prstGeom>
          <a:ln w="0">
            <a:noFill/>
          </a:ln>
        </p:spPr>
      </p:sp>
      <p:sp>
        <p:nvSpPr>
          <p:cNvPr id="354"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355" name="PlaceHolder 3"/>
          <p:cNvSpPr>
            <a:spLocks noGrp="1"/>
          </p:cNvSpPr>
          <p:nvPr>
            <p:ph type="sldNum" idx="19"/>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4F55A3E-E1D2-4F2E-8A1A-4F230F85DF47}"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6" name="PlaceHolder 1"/>
          <p:cNvSpPr>
            <a:spLocks noGrp="1"/>
          </p:cNvSpPr>
          <p:nvPr>
            <p:ph type="sldImg"/>
          </p:nvPr>
        </p:nvSpPr>
        <p:spPr>
          <a:xfrm>
            <a:off x="685800" y="1143000"/>
            <a:ext cx="5485320" cy="3085200"/>
          </a:xfrm>
          <a:prstGeom prst="rect">
            <a:avLst/>
          </a:prstGeom>
          <a:ln w="0">
            <a:noFill/>
          </a:ln>
        </p:spPr>
      </p:sp>
      <p:sp>
        <p:nvSpPr>
          <p:cNvPr id="357"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358" name="PlaceHolder 3"/>
          <p:cNvSpPr>
            <a:spLocks noGrp="1"/>
          </p:cNvSpPr>
          <p:nvPr>
            <p:ph type="sldNum" idx="20"/>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964CDF3-8549-406B-ACA8-7D5B52BADD09}"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en-HK" sz="4400" spc="-1" strike="noStrike">
                <a:latin typeface="Arial"/>
              </a:rPr>
              <a:t>Click to edit the title text format</a:t>
            </a:r>
            <a:endParaRPr b="0" lang="en-HK"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8b"/>
        </a:solidFill>
      </p:bgPr>
    </p:bg>
    <p:spTree>
      <p:nvGrpSpPr>
        <p:cNvPr id="1" name=""/>
        <p:cNvGrpSpPr/>
        <p:nvPr/>
      </p:nvGrpSpPr>
      <p:grpSpPr>
        <a:xfrm>
          <a:off x="0" y="0"/>
          <a:ext cx="0" cy="0"/>
          <a:chOff x="0" y="0"/>
          <a:chExt cx="0" cy="0"/>
        </a:xfrm>
      </p:grpSpPr>
      <p:sp>
        <p:nvSpPr>
          <p:cNvPr id="44" name="Shape 0"/>
          <p:cNvSpPr/>
          <p:nvPr/>
        </p:nvSpPr>
        <p:spPr>
          <a:xfrm>
            <a:off x="5638680" y="2266920"/>
            <a:ext cx="913320" cy="18000"/>
          </a:xfrm>
          <a:custGeom>
            <a:avLst/>
            <a:gdLst/>
            <a:ahLst/>
            <a:rect l="l" t="t" r="r" b="b"/>
            <a:pathLst>
              <a:path w="914400" h="19050">
                <a:moveTo>
                  <a:pt x="0" y="0"/>
                </a:moveTo>
                <a:lnTo>
                  <a:pt x="914400" y="0"/>
                </a:lnTo>
                <a:lnTo>
                  <a:pt x="914400" y="19050"/>
                </a:lnTo>
                <a:lnTo>
                  <a:pt x="0" y="19050"/>
                </a:lnTo>
                <a:lnTo>
                  <a:pt x="0" y="0"/>
                </a:lnTo>
                <a:close/>
              </a:path>
            </a:pathLst>
          </a:custGeom>
          <a:solidFill>
            <a:srgbClr val="0984e3"/>
          </a:solidFill>
          <a:ln w="0">
            <a:noFill/>
          </a:ln>
        </p:spPr>
        <p:style>
          <a:lnRef idx="0"/>
          <a:fillRef idx="0"/>
          <a:effectRef idx="0"/>
          <a:fontRef idx="minor"/>
        </p:style>
      </p:sp>
      <p:sp>
        <p:nvSpPr>
          <p:cNvPr id="45" name="Text 1"/>
          <p:cNvSpPr/>
          <p:nvPr/>
        </p:nvSpPr>
        <p:spPr>
          <a:xfrm>
            <a:off x="3633840" y="2514600"/>
            <a:ext cx="4923360" cy="91332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7200" spc="-182" strike="noStrike">
                <a:solidFill>
                  <a:srgbClr val="000000"/>
                </a:solidFill>
                <a:latin typeface="Oranienbaum"/>
                <a:ea typeface="Oranienbaum"/>
              </a:rPr>
              <a:t>Game</a:t>
            </a:r>
            <a:endParaRPr b="1" lang="en-HK" sz="7200" spc="-1" strike="noStrike">
              <a:solidFill>
                <a:srgbClr val="000000"/>
              </a:solidFill>
              <a:latin typeface="Arial"/>
            </a:endParaRPr>
          </a:p>
          <a:p>
            <a:pPr algn="ctr">
              <a:lnSpc>
                <a:spcPct val="80000"/>
              </a:lnSpc>
              <a:buNone/>
            </a:pPr>
            <a:r>
              <a:rPr b="1" lang="en-US" sz="7200" spc="-182" strike="noStrike">
                <a:solidFill>
                  <a:srgbClr val="000000"/>
                </a:solidFill>
                <a:latin typeface="Oranienbaum"/>
                <a:ea typeface="Oranienbaum"/>
              </a:rPr>
              <a:t>Theory</a:t>
            </a:r>
            <a:endParaRPr b="1" lang="en-HK" sz="7200" spc="-1" strike="noStrike">
              <a:solidFill>
                <a:srgbClr val="000000"/>
              </a:solidFill>
              <a:latin typeface="Arial"/>
            </a:endParaRPr>
          </a:p>
        </p:txBody>
      </p:sp>
      <p:sp>
        <p:nvSpPr>
          <p:cNvPr id="46" name="Shape 2"/>
          <p:cNvSpPr/>
          <p:nvPr/>
        </p:nvSpPr>
        <p:spPr>
          <a:xfrm>
            <a:off x="5638680" y="3657600"/>
            <a:ext cx="913320" cy="18000"/>
          </a:xfrm>
          <a:custGeom>
            <a:avLst/>
            <a:gdLst/>
            <a:ahLst/>
            <a:rect l="l" t="t" r="r" b="b"/>
            <a:pathLst>
              <a:path w="914400" h="19050">
                <a:moveTo>
                  <a:pt x="0" y="0"/>
                </a:moveTo>
                <a:lnTo>
                  <a:pt x="914400" y="0"/>
                </a:lnTo>
                <a:lnTo>
                  <a:pt x="914400" y="19050"/>
                </a:lnTo>
                <a:lnTo>
                  <a:pt x="0" y="19050"/>
                </a:lnTo>
                <a:lnTo>
                  <a:pt x="0" y="0"/>
                </a:lnTo>
                <a:close/>
              </a:path>
            </a:pathLst>
          </a:custGeom>
          <a:solidFill>
            <a:srgbClr val="0984e3"/>
          </a:solidFill>
          <a:ln w="0">
            <a:noFill/>
          </a:ln>
        </p:spPr>
        <p:style>
          <a:lnRef idx="0"/>
          <a:fillRef idx="0"/>
          <a:effectRef idx="0"/>
          <a:fontRef idx="minor"/>
        </p:style>
      </p:sp>
      <p:sp>
        <p:nvSpPr>
          <p:cNvPr id="47" name="Text 3"/>
          <p:cNvSpPr/>
          <p:nvPr/>
        </p:nvSpPr>
        <p:spPr>
          <a:xfrm>
            <a:off x="3545640" y="4286160"/>
            <a:ext cx="5094720" cy="30384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800" spc="38" strike="noStrike">
                <a:solidFill>
                  <a:srgbClr val="ffffff"/>
                </a:solidFill>
                <a:latin typeface="Liter"/>
                <a:ea typeface="Liter"/>
              </a:rPr>
              <a:t>The Mathematics of Strategic Decision-Making</a:t>
            </a:r>
            <a:endParaRPr b="1" lang="en-HK"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8" name="Text 0"/>
          <p:cNvSpPr/>
          <p:nvPr/>
        </p:nvSpPr>
        <p:spPr>
          <a:xfrm>
            <a:off x="380880" y="380880"/>
            <a:ext cx="11657520" cy="456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Contents</a:t>
            </a:r>
            <a:endParaRPr b="0" lang="en-HK" sz="3600" spc="-1" strike="noStrike">
              <a:latin typeface="Arial"/>
            </a:endParaRPr>
          </a:p>
        </p:txBody>
      </p:sp>
      <p:sp>
        <p:nvSpPr>
          <p:cNvPr id="49" name="Shape 1"/>
          <p:cNvSpPr/>
          <p:nvPr/>
        </p:nvSpPr>
        <p:spPr>
          <a:xfrm>
            <a:off x="380880" y="952560"/>
            <a:ext cx="761040" cy="18000"/>
          </a:xfrm>
          <a:custGeom>
            <a:avLst/>
            <a:gdLst/>
            <a:ahLst/>
            <a:rect l="l" t="t" r="r" b="b"/>
            <a:pathLst>
              <a:path w="762000" h="19050">
                <a:moveTo>
                  <a:pt x="0" y="0"/>
                </a:moveTo>
                <a:lnTo>
                  <a:pt x="762000" y="0"/>
                </a:lnTo>
                <a:lnTo>
                  <a:pt x="762000" y="19050"/>
                </a:lnTo>
                <a:lnTo>
                  <a:pt x="0" y="19050"/>
                </a:lnTo>
                <a:lnTo>
                  <a:pt x="0" y="0"/>
                </a:lnTo>
                <a:close/>
              </a:path>
            </a:pathLst>
          </a:custGeom>
          <a:solidFill>
            <a:srgbClr val="0984e3"/>
          </a:solidFill>
          <a:ln w="0">
            <a:noFill/>
          </a:ln>
        </p:spPr>
        <p:style>
          <a:lnRef idx="0"/>
          <a:fillRef idx="0"/>
          <a:effectRef idx="0"/>
          <a:fontRef idx="minor"/>
        </p:style>
      </p:sp>
      <p:sp>
        <p:nvSpPr>
          <p:cNvPr id="50" name="Text 2"/>
          <p:cNvSpPr/>
          <p:nvPr/>
        </p:nvSpPr>
        <p:spPr>
          <a:xfrm>
            <a:off x="380880" y="1428840"/>
            <a:ext cx="751320" cy="570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01</a:t>
            </a:r>
            <a:endParaRPr b="0" lang="en-HK" sz="4500" spc="-1" strike="noStrike">
              <a:latin typeface="Arial"/>
            </a:endParaRPr>
          </a:p>
        </p:txBody>
      </p:sp>
      <p:sp>
        <p:nvSpPr>
          <p:cNvPr id="51" name="Text 3"/>
          <p:cNvSpPr/>
          <p:nvPr/>
        </p:nvSpPr>
        <p:spPr>
          <a:xfrm>
            <a:off x="1034280" y="1504800"/>
            <a:ext cx="419004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Introduction to Game Theory</a:t>
            </a:r>
            <a:endParaRPr b="0" lang="en-HK" sz="1800" spc="-1" strike="noStrike">
              <a:latin typeface="Arial"/>
            </a:endParaRPr>
          </a:p>
        </p:txBody>
      </p:sp>
      <p:sp>
        <p:nvSpPr>
          <p:cNvPr id="52" name="Text 4"/>
          <p:cNvSpPr/>
          <p:nvPr/>
        </p:nvSpPr>
        <p:spPr>
          <a:xfrm>
            <a:off x="1034280" y="1886040"/>
            <a:ext cx="4161240" cy="275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Defining the mathematical study of strategic interaction</a:t>
            </a:r>
            <a:endParaRPr b="0" lang="en-HK" sz="1350" spc="-1" strike="noStrike">
              <a:latin typeface="Arial"/>
            </a:endParaRPr>
          </a:p>
        </p:txBody>
      </p:sp>
      <p:sp>
        <p:nvSpPr>
          <p:cNvPr id="53" name="Text 5"/>
          <p:cNvSpPr/>
          <p:nvPr/>
        </p:nvSpPr>
        <p:spPr>
          <a:xfrm>
            <a:off x="6400800" y="1428840"/>
            <a:ext cx="856080" cy="570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02</a:t>
            </a:r>
            <a:endParaRPr b="0" lang="en-HK" sz="4500" spc="-1" strike="noStrike">
              <a:latin typeface="Arial"/>
            </a:endParaRPr>
          </a:p>
        </p:txBody>
      </p:sp>
      <p:sp>
        <p:nvSpPr>
          <p:cNvPr id="54" name="Text 6"/>
          <p:cNvSpPr/>
          <p:nvPr/>
        </p:nvSpPr>
        <p:spPr>
          <a:xfrm>
            <a:off x="7160040" y="1504800"/>
            <a:ext cx="476136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Historical Foundations</a:t>
            </a:r>
            <a:endParaRPr b="0" lang="en-HK" sz="1800" spc="-1" strike="noStrike">
              <a:latin typeface="Arial"/>
            </a:endParaRPr>
          </a:p>
        </p:txBody>
      </p:sp>
      <p:sp>
        <p:nvSpPr>
          <p:cNvPr id="55" name="Text 7"/>
          <p:cNvSpPr/>
          <p:nvPr/>
        </p:nvSpPr>
        <p:spPr>
          <a:xfrm>
            <a:off x="7160040" y="1886040"/>
            <a:ext cx="4732920" cy="560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From von Neumann to Nash: The evolution of strategic thinking</a:t>
            </a:r>
            <a:endParaRPr b="0" lang="en-HK" sz="1350" spc="-1" strike="noStrike">
              <a:latin typeface="Arial"/>
            </a:endParaRPr>
          </a:p>
        </p:txBody>
      </p:sp>
      <p:sp>
        <p:nvSpPr>
          <p:cNvPr id="56" name="Text 8"/>
          <p:cNvSpPr/>
          <p:nvPr/>
        </p:nvSpPr>
        <p:spPr>
          <a:xfrm>
            <a:off x="380880" y="2824200"/>
            <a:ext cx="856080" cy="570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03</a:t>
            </a:r>
            <a:endParaRPr b="0" lang="en-HK" sz="4500" spc="-1" strike="noStrike">
              <a:latin typeface="Arial"/>
            </a:endParaRPr>
          </a:p>
        </p:txBody>
      </p:sp>
      <p:sp>
        <p:nvSpPr>
          <p:cNvPr id="57" name="Text 9"/>
          <p:cNvSpPr/>
          <p:nvPr/>
        </p:nvSpPr>
        <p:spPr>
          <a:xfrm>
            <a:off x="1143000" y="2900520"/>
            <a:ext cx="397080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Core Concepts &amp; Mathematical Framework</a:t>
            </a:r>
            <a:endParaRPr b="0" lang="en-HK" sz="1800" spc="-1" strike="noStrike">
              <a:latin typeface="Arial"/>
            </a:endParaRPr>
          </a:p>
        </p:txBody>
      </p:sp>
      <p:sp>
        <p:nvSpPr>
          <p:cNvPr id="58" name="Text 10"/>
          <p:cNvSpPr/>
          <p:nvPr/>
        </p:nvSpPr>
        <p:spPr>
          <a:xfrm>
            <a:off x="1143000" y="3281400"/>
            <a:ext cx="3942360" cy="275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The essential building blocks of strategic analysis</a:t>
            </a:r>
            <a:endParaRPr b="0" lang="en-HK" sz="1350" spc="-1" strike="noStrike">
              <a:latin typeface="Arial"/>
            </a:endParaRPr>
          </a:p>
        </p:txBody>
      </p:sp>
      <p:sp>
        <p:nvSpPr>
          <p:cNvPr id="59" name="Text 11"/>
          <p:cNvSpPr/>
          <p:nvPr/>
        </p:nvSpPr>
        <p:spPr>
          <a:xfrm>
            <a:off x="6400800" y="2824200"/>
            <a:ext cx="884880" cy="570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04</a:t>
            </a:r>
            <a:endParaRPr b="0" lang="en-HK" sz="4500" spc="-1" strike="noStrike">
              <a:latin typeface="Arial"/>
            </a:endParaRPr>
          </a:p>
        </p:txBody>
      </p:sp>
      <p:sp>
        <p:nvSpPr>
          <p:cNvPr id="60" name="Text 12"/>
          <p:cNvSpPr/>
          <p:nvPr/>
        </p:nvSpPr>
        <p:spPr>
          <a:xfrm>
            <a:off x="7188480" y="2900520"/>
            <a:ext cx="247536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Types of Games</a:t>
            </a:r>
            <a:endParaRPr b="0" lang="en-HK" sz="1800" spc="-1" strike="noStrike">
              <a:latin typeface="Arial"/>
            </a:endParaRPr>
          </a:p>
        </p:txBody>
      </p:sp>
      <p:sp>
        <p:nvSpPr>
          <p:cNvPr id="61" name="Text 13"/>
          <p:cNvSpPr/>
          <p:nvPr/>
        </p:nvSpPr>
        <p:spPr>
          <a:xfrm>
            <a:off x="7188480" y="3281400"/>
            <a:ext cx="2446920" cy="275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Classifying strategic interactions</a:t>
            </a:r>
            <a:endParaRPr b="0" lang="en-HK" sz="1350" spc="-1" strike="noStrike">
              <a:latin typeface="Arial"/>
            </a:endParaRPr>
          </a:p>
        </p:txBody>
      </p:sp>
      <p:sp>
        <p:nvSpPr>
          <p:cNvPr id="62" name="Text 14"/>
          <p:cNvSpPr/>
          <p:nvPr/>
        </p:nvSpPr>
        <p:spPr>
          <a:xfrm>
            <a:off x="380880" y="3940920"/>
            <a:ext cx="846720" cy="570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05</a:t>
            </a:r>
            <a:endParaRPr b="0" lang="en-HK" sz="4500" spc="-1" strike="noStrike">
              <a:latin typeface="Arial"/>
            </a:endParaRPr>
          </a:p>
        </p:txBody>
      </p:sp>
      <p:sp>
        <p:nvSpPr>
          <p:cNvPr id="63" name="Text 15"/>
          <p:cNvSpPr/>
          <p:nvPr/>
        </p:nvSpPr>
        <p:spPr>
          <a:xfrm>
            <a:off x="1137240" y="4017240"/>
            <a:ext cx="286596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Classic Game Models</a:t>
            </a:r>
            <a:endParaRPr b="0" lang="en-HK" sz="1800" spc="-1" strike="noStrike">
              <a:latin typeface="Arial"/>
            </a:endParaRPr>
          </a:p>
        </p:txBody>
      </p:sp>
      <p:sp>
        <p:nvSpPr>
          <p:cNvPr id="64" name="Text 16"/>
          <p:cNvSpPr/>
          <p:nvPr/>
        </p:nvSpPr>
        <p:spPr>
          <a:xfrm>
            <a:off x="1137240" y="4398120"/>
            <a:ext cx="2837520" cy="275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Iconic examples that shaped the field</a:t>
            </a:r>
            <a:endParaRPr b="0" lang="en-HK" sz="1350" spc="-1" strike="noStrike">
              <a:latin typeface="Arial"/>
            </a:endParaRPr>
          </a:p>
        </p:txBody>
      </p:sp>
      <p:sp>
        <p:nvSpPr>
          <p:cNvPr id="65" name="Text 17"/>
          <p:cNvSpPr/>
          <p:nvPr/>
        </p:nvSpPr>
        <p:spPr>
          <a:xfrm>
            <a:off x="6400800" y="3940920"/>
            <a:ext cx="865800" cy="570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06</a:t>
            </a:r>
            <a:endParaRPr b="0" lang="en-HK" sz="4500" spc="-1" strike="noStrike">
              <a:latin typeface="Arial"/>
            </a:endParaRPr>
          </a:p>
        </p:txBody>
      </p:sp>
      <p:sp>
        <p:nvSpPr>
          <p:cNvPr id="66" name="Text 18"/>
          <p:cNvSpPr/>
          <p:nvPr/>
        </p:nvSpPr>
        <p:spPr>
          <a:xfrm>
            <a:off x="7171560" y="4017240"/>
            <a:ext cx="307548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Real-World Applications</a:t>
            </a:r>
            <a:endParaRPr b="0" lang="en-HK" sz="1800" spc="-1" strike="noStrike">
              <a:latin typeface="Arial"/>
            </a:endParaRPr>
          </a:p>
        </p:txBody>
      </p:sp>
      <p:sp>
        <p:nvSpPr>
          <p:cNvPr id="67" name="Text 19"/>
          <p:cNvSpPr/>
          <p:nvPr/>
        </p:nvSpPr>
        <p:spPr>
          <a:xfrm>
            <a:off x="7171560" y="4398120"/>
            <a:ext cx="3047040" cy="275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Game theory in action across disciplines</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8" name="Text 0"/>
          <p:cNvSpPr/>
          <p:nvPr/>
        </p:nvSpPr>
        <p:spPr>
          <a:xfrm>
            <a:off x="609480" y="1781280"/>
            <a:ext cx="12191040" cy="1218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01</a:t>
            </a:r>
            <a:endParaRPr b="0" lang="en-HK" sz="9600" spc="-1" strike="noStrike">
              <a:latin typeface="Arial"/>
            </a:endParaRPr>
          </a:p>
        </p:txBody>
      </p:sp>
      <p:sp>
        <p:nvSpPr>
          <p:cNvPr id="69" name="Text 1"/>
          <p:cNvSpPr/>
          <p:nvPr/>
        </p:nvSpPr>
        <p:spPr>
          <a:xfrm>
            <a:off x="609480" y="3152880"/>
            <a:ext cx="11867040" cy="11419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Introduction to</a:t>
            </a:r>
            <a:endParaRPr b="0" lang="en-HK" sz="3600" spc="-1" strike="noStrike">
              <a:latin typeface="Arial"/>
            </a:endParaRPr>
          </a:p>
          <a:p>
            <a:pPr>
              <a:lnSpc>
                <a:spcPct val="80000"/>
              </a:lnSpc>
              <a:buNone/>
            </a:pPr>
            <a:r>
              <a:rPr b="1" lang="en-US" sz="3600" spc="-1" strike="noStrike">
                <a:solidFill>
                  <a:srgbClr val="2d3436"/>
                </a:solidFill>
                <a:latin typeface="Oranienbaum"/>
                <a:ea typeface="Oranienbaum"/>
              </a:rPr>
              <a:t>Game Theory</a:t>
            </a:r>
            <a:endParaRPr b="0" lang="en-HK" sz="3600" spc="-1" strike="noStrike">
              <a:latin typeface="Arial"/>
            </a:endParaRPr>
          </a:p>
        </p:txBody>
      </p:sp>
      <p:sp>
        <p:nvSpPr>
          <p:cNvPr id="70" name="Shape 2"/>
          <p:cNvSpPr/>
          <p:nvPr/>
        </p:nvSpPr>
        <p:spPr>
          <a:xfrm>
            <a:off x="609480" y="4524480"/>
            <a:ext cx="1218240" cy="1800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71" name="Text 3"/>
          <p:cNvSpPr/>
          <p:nvPr/>
        </p:nvSpPr>
        <p:spPr>
          <a:xfrm>
            <a:off x="609480" y="4772160"/>
            <a:ext cx="1169568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Defining the mathematical study of strategic interaction</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2" name="Text 0"/>
          <p:cNvSpPr/>
          <p:nvPr/>
        </p:nvSpPr>
        <p:spPr>
          <a:xfrm>
            <a:off x="380880" y="380880"/>
            <a:ext cx="115052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2" strike="noStrike">
                <a:solidFill>
                  <a:srgbClr val="0984e3"/>
                </a:solidFill>
                <a:latin typeface="Quattrocento Sans"/>
                <a:ea typeface="Quattrocento Sans"/>
              </a:rPr>
              <a:t>INTRODUCTION</a:t>
            </a:r>
            <a:endParaRPr b="0" lang="en-HK" sz="1200" spc="-1" strike="noStrike">
              <a:latin typeface="Arial"/>
            </a:endParaRPr>
          </a:p>
        </p:txBody>
      </p:sp>
      <p:sp>
        <p:nvSpPr>
          <p:cNvPr id="73" name="Text 1"/>
          <p:cNvSpPr/>
          <p:nvPr/>
        </p:nvSpPr>
        <p:spPr>
          <a:xfrm>
            <a:off x="380880" y="685800"/>
            <a:ext cx="11657520" cy="456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What is Game Theory?</a:t>
            </a:r>
            <a:endParaRPr b="0" lang="en-HK" sz="3600" spc="-1" strike="noStrike">
              <a:latin typeface="Arial"/>
            </a:endParaRPr>
          </a:p>
        </p:txBody>
      </p:sp>
      <p:sp>
        <p:nvSpPr>
          <p:cNvPr id="74" name="Text 2"/>
          <p:cNvSpPr/>
          <p:nvPr/>
        </p:nvSpPr>
        <p:spPr>
          <a:xfrm>
            <a:off x="380880" y="1371600"/>
            <a:ext cx="6828480" cy="1237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i="1" lang="en-US" sz="1500" spc="-1" strike="noStrike">
                <a:solidFill>
                  <a:srgbClr val="2a6099"/>
                </a:solidFill>
                <a:latin typeface="Quattrocento Sans"/>
                <a:ea typeface="Quattrocento Sans"/>
              </a:rPr>
              <a:t>Game theory is a mathematical framework for analyzing strategic interactions among rational decision-makers.</a:t>
            </a:r>
            <a:r>
              <a:rPr b="0" i="1" lang="en-US" sz="1500" spc="-1" strike="noStrike">
                <a:solidFill>
                  <a:srgbClr val="2a6099"/>
                </a:solidFill>
                <a:latin typeface="Quattrocento Sans"/>
                <a:ea typeface="Quattrocento Sans"/>
              </a:rPr>
              <a:t> It provides a structured approach to understanding how individuals or groups make decisions in situations where the outcome depends on the choices of multiple participants.</a:t>
            </a:r>
            <a:endParaRPr b="0" i="1" lang="en-HK" sz="1500" spc="-1" strike="noStrike">
              <a:solidFill>
                <a:srgbClr val="2a6099"/>
              </a:solidFill>
              <a:latin typeface="Arial"/>
            </a:endParaRPr>
          </a:p>
        </p:txBody>
      </p:sp>
      <p:sp>
        <p:nvSpPr>
          <p:cNvPr id="75" name="Text 3"/>
          <p:cNvSpPr/>
          <p:nvPr/>
        </p:nvSpPr>
        <p:spPr>
          <a:xfrm>
            <a:off x="380880" y="2838600"/>
            <a:ext cx="6818760" cy="1113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Originally developed to investigate rational and economic behavior, game theory has evolved into a powerful tool with applications spanning economics, political science, biology, psychology, and computer science. It helps us predict behavior, design optimal strategies, and understand the dynamics of cooperation and competition.</a:t>
            </a:r>
            <a:endParaRPr b="0" lang="en-HK" sz="1350" spc="-1" strike="noStrike">
              <a:latin typeface="Arial"/>
            </a:endParaRPr>
          </a:p>
        </p:txBody>
      </p:sp>
      <p:sp>
        <p:nvSpPr>
          <p:cNvPr id="76" name="Shape 4"/>
          <p:cNvSpPr/>
          <p:nvPr/>
        </p:nvSpPr>
        <p:spPr>
          <a:xfrm>
            <a:off x="399960" y="4986360"/>
            <a:ext cx="6714000" cy="1361160"/>
          </a:xfrm>
          <a:custGeom>
            <a:avLst/>
            <a:gdLst/>
            <a:ahLst/>
            <a:rect l="l" t="t" r="r" b="b"/>
            <a:pathLst>
              <a:path w="6715125" h="1362075">
                <a:moveTo>
                  <a:pt x="0" y="0"/>
                </a:moveTo>
                <a:lnTo>
                  <a:pt x="6715125" y="0"/>
                </a:lnTo>
                <a:lnTo>
                  <a:pt x="6715125" y="1362075"/>
                </a:lnTo>
                <a:lnTo>
                  <a:pt x="0" y="1362075"/>
                </a:lnTo>
                <a:lnTo>
                  <a:pt x="0" y="0"/>
                </a:lnTo>
                <a:close/>
              </a:path>
            </a:pathLst>
          </a:custGeom>
          <a:solidFill>
            <a:srgbClr val="f8f9fa"/>
          </a:solidFill>
          <a:ln w="0">
            <a:noFill/>
          </a:ln>
        </p:spPr>
        <p:style>
          <a:lnRef idx="0"/>
          <a:fillRef idx="0"/>
          <a:effectRef idx="0"/>
          <a:fontRef idx="minor"/>
        </p:style>
      </p:sp>
      <p:sp>
        <p:nvSpPr>
          <p:cNvPr id="77" name="Shape 5"/>
          <p:cNvSpPr/>
          <p:nvPr/>
        </p:nvSpPr>
        <p:spPr>
          <a:xfrm>
            <a:off x="399960" y="4986360"/>
            <a:ext cx="37080" cy="1361160"/>
          </a:xfrm>
          <a:custGeom>
            <a:avLst/>
            <a:gdLst/>
            <a:ahLst/>
            <a:rect l="l" t="t" r="r" b="b"/>
            <a:pathLst>
              <a:path w="38100" h="1362075">
                <a:moveTo>
                  <a:pt x="0" y="0"/>
                </a:moveTo>
                <a:lnTo>
                  <a:pt x="38100" y="0"/>
                </a:lnTo>
                <a:lnTo>
                  <a:pt x="38100" y="1362075"/>
                </a:lnTo>
                <a:lnTo>
                  <a:pt x="0" y="1362075"/>
                </a:lnTo>
                <a:lnTo>
                  <a:pt x="0" y="0"/>
                </a:lnTo>
                <a:close/>
              </a:path>
            </a:pathLst>
          </a:custGeom>
          <a:solidFill>
            <a:srgbClr val="0984e3"/>
          </a:solidFill>
          <a:ln w="0">
            <a:noFill/>
          </a:ln>
        </p:spPr>
        <p:style>
          <a:lnRef idx="0"/>
          <a:fillRef idx="0"/>
          <a:effectRef idx="0"/>
          <a:fontRef idx="minor"/>
        </p:style>
      </p:sp>
      <p:sp>
        <p:nvSpPr>
          <p:cNvPr id="78" name="Text 6"/>
          <p:cNvSpPr/>
          <p:nvPr/>
        </p:nvSpPr>
        <p:spPr>
          <a:xfrm>
            <a:off x="647640" y="5214960"/>
            <a:ext cx="6323400" cy="560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1e272e"/>
                </a:solidFill>
                <a:latin typeface="Quattrocento Sans"/>
                <a:ea typeface="Quattrocento Sans"/>
              </a:rPr>
              <a:t>"Game theory is the study of mathematical models of strategic interaction among rational decision-makers."</a:t>
            </a:r>
            <a:endParaRPr b="0" lang="en-HK" sz="1350" spc="-1" strike="noStrike">
              <a:latin typeface="Arial"/>
            </a:endParaRPr>
          </a:p>
        </p:txBody>
      </p:sp>
      <p:sp>
        <p:nvSpPr>
          <p:cNvPr id="79" name="Text 7"/>
          <p:cNvSpPr/>
          <p:nvPr/>
        </p:nvSpPr>
        <p:spPr>
          <a:xfrm>
            <a:off x="647640" y="5886360"/>
            <a:ext cx="63140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 </a:t>
            </a:r>
            <a:r>
              <a:rPr b="0" lang="en-US" sz="1200" spc="-1" strike="noStrike">
                <a:solidFill>
                  <a:srgbClr val="636e72"/>
                </a:solidFill>
                <a:latin typeface="Quattrocento Sans"/>
                <a:ea typeface="Quattrocento Sans"/>
              </a:rPr>
              <a:t>Roger Myerson, Nobel Laureate 2007</a:t>
            </a:r>
            <a:endParaRPr b="0" lang="en-HK" sz="1200" spc="-1" strike="noStrike">
              <a:latin typeface="Arial"/>
            </a:endParaRPr>
          </a:p>
        </p:txBody>
      </p:sp>
      <p:sp>
        <p:nvSpPr>
          <p:cNvPr id="80" name="Shape 8"/>
          <p:cNvSpPr/>
          <p:nvPr/>
        </p:nvSpPr>
        <p:spPr>
          <a:xfrm>
            <a:off x="7426440" y="1376280"/>
            <a:ext cx="4380480" cy="1494360"/>
          </a:xfrm>
          <a:custGeom>
            <a:avLst/>
            <a:gdLst/>
            <a:ah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round/>
          </a:ln>
        </p:spPr>
        <p:style>
          <a:lnRef idx="0"/>
          <a:fillRef idx="0"/>
          <a:effectRef idx="0"/>
          <a:fontRef idx="minor"/>
        </p:style>
      </p:sp>
      <p:sp>
        <p:nvSpPr>
          <p:cNvPr id="81" name="Shape 9"/>
          <p:cNvSpPr/>
          <p:nvPr/>
        </p:nvSpPr>
        <p:spPr>
          <a:xfrm>
            <a:off x="7660080" y="1609560"/>
            <a:ext cx="379800" cy="379800"/>
          </a:xfrm>
          <a:custGeom>
            <a:avLst/>
            <a:gdLst/>
            <a:ahLst/>
            <a:rect l="l" t="t" r="r" b="b"/>
            <a:pathLst>
              <a:path w="381000" h="381000">
                <a:moveTo>
                  <a:pt x="0" y="0"/>
                </a:moveTo>
                <a:lnTo>
                  <a:pt x="381000" y="0"/>
                </a:lnTo>
                <a:lnTo>
                  <a:pt x="381000" y="381000"/>
                </a:lnTo>
                <a:lnTo>
                  <a:pt x="0" y="381000"/>
                </a:lnTo>
                <a:lnTo>
                  <a:pt x="0" y="0"/>
                </a:lnTo>
                <a:close/>
              </a:path>
            </a:pathLst>
          </a:custGeom>
          <a:solidFill>
            <a:srgbClr val="0984e3"/>
          </a:solidFill>
          <a:ln w="0">
            <a:noFill/>
          </a:ln>
        </p:spPr>
        <p:style>
          <a:lnRef idx="0"/>
          <a:fillRef idx="0"/>
          <a:effectRef idx="0"/>
          <a:fontRef idx="minor"/>
        </p:style>
      </p:sp>
      <p:sp>
        <p:nvSpPr>
          <p:cNvPr id="82" name="Shape 10"/>
          <p:cNvSpPr/>
          <p:nvPr/>
        </p:nvSpPr>
        <p:spPr>
          <a:xfrm>
            <a:off x="7745760" y="1714680"/>
            <a:ext cx="213120" cy="170280"/>
          </a:xfrm>
          <a:custGeom>
            <a:avLst/>
            <a:gdLst/>
            <a:ahLst/>
            <a:rect l="l" t="t" r="r" b="b"/>
            <a:pathLst>
              <a:path w="214313" h="171450">
                <a:moveTo>
                  <a:pt x="107156" y="5358"/>
                </a:moveTo>
                <a:cubicBezTo>
                  <a:pt x="126377" y="5358"/>
                  <a:pt x="141982" y="20963"/>
                  <a:pt x="141982" y="40184"/>
                </a:cubicBezTo>
                <a:cubicBezTo>
                  <a:pt x="141982" y="59404"/>
                  <a:pt x="126377" y="75009"/>
                  <a:pt x="107156" y="75009"/>
                </a:cubicBezTo>
                <a:cubicBezTo>
                  <a:pt x="87935" y="75009"/>
                  <a:pt x="72330" y="59404"/>
                  <a:pt x="72330" y="40184"/>
                </a:cubicBezTo>
                <a:cubicBezTo>
                  <a:pt x="72330" y="20963"/>
                  <a:pt x="87935" y="5358"/>
                  <a:pt x="107156" y="5358"/>
                </a:cubicBezTo>
                <a:close/>
                <a:moveTo>
                  <a:pt x="32147" y="29468"/>
                </a:moveTo>
                <a:cubicBezTo>
                  <a:pt x="45454" y="29468"/>
                  <a:pt x="56257" y="40271"/>
                  <a:pt x="56257" y="53578"/>
                </a:cubicBezTo>
                <a:cubicBezTo>
                  <a:pt x="56257" y="66885"/>
                  <a:pt x="45454" y="77688"/>
                  <a:pt x="32147" y="77688"/>
                </a:cubicBezTo>
                <a:cubicBezTo>
                  <a:pt x="18840" y="77688"/>
                  <a:pt x="8037" y="66885"/>
                  <a:pt x="8037" y="53578"/>
                </a:cubicBezTo>
                <a:cubicBezTo>
                  <a:pt x="8037" y="40271"/>
                  <a:pt x="18840" y="29468"/>
                  <a:pt x="32147" y="29468"/>
                </a:cubicBezTo>
                <a:close/>
                <a:moveTo>
                  <a:pt x="0" y="139303"/>
                </a:moveTo>
                <a:cubicBezTo>
                  <a:pt x="0" y="115628"/>
                  <a:pt x="19188" y="96441"/>
                  <a:pt x="42863" y="96441"/>
                </a:cubicBezTo>
                <a:cubicBezTo>
                  <a:pt x="47149" y="96441"/>
                  <a:pt x="51301" y="97077"/>
                  <a:pt x="55219" y="98249"/>
                </a:cubicBezTo>
                <a:cubicBezTo>
                  <a:pt x="44202" y="110572"/>
                  <a:pt x="37505" y="126846"/>
                  <a:pt x="37505" y="144661"/>
                </a:cubicBezTo>
                <a:lnTo>
                  <a:pt x="37505" y="150019"/>
                </a:lnTo>
                <a:cubicBezTo>
                  <a:pt x="37505" y="153836"/>
                  <a:pt x="38308" y="157453"/>
                  <a:pt x="39748" y="160734"/>
                </a:cubicBezTo>
                <a:lnTo>
                  <a:pt x="10716" y="160734"/>
                </a:lnTo>
                <a:cubicBezTo>
                  <a:pt x="4789" y="160734"/>
                  <a:pt x="0" y="155946"/>
                  <a:pt x="0" y="150019"/>
                </a:cubicBezTo>
                <a:lnTo>
                  <a:pt x="0" y="139303"/>
                </a:lnTo>
                <a:close/>
                <a:moveTo>
                  <a:pt x="174564" y="160734"/>
                </a:moveTo>
                <a:cubicBezTo>
                  <a:pt x="176004" y="157453"/>
                  <a:pt x="176808" y="153836"/>
                  <a:pt x="176808" y="150019"/>
                </a:cubicBezTo>
                <a:lnTo>
                  <a:pt x="176808" y="144661"/>
                </a:lnTo>
                <a:cubicBezTo>
                  <a:pt x="176808" y="126846"/>
                  <a:pt x="170111" y="110572"/>
                  <a:pt x="159094" y="98249"/>
                </a:cubicBezTo>
                <a:cubicBezTo>
                  <a:pt x="163011" y="97077"/>
                  <a:pt x="167164" y="96441"/>
                  <a:pt x="171450" y="96441"/>
                </a:cubicBezTo>
                <a:cubicBezTo>
                  <a:pt x="195125" y="96441"/>
                  <a:pt x="214313" y="115628"/>
                  <a:pt x="214313" y="139303"/>
                </a:cubicBezTo>
                <a:lnTo>
                  <a:pt x="214313" y="150019"/>
                </a:lnTo>
                <a:cubicBezTo>
                  <a:pt x="214313" y="155946"/>
                  <a:pt x="209524" y="160734"/>
                  <a:pt x="203597" y="160734"/>
                </a:cubicBezTo>
                <a:lnTo>
                  <a:pt x="174564" y="160734"/>
                </a:lnTo>
                <a:close/>
                <a:moveTo>
                  <a:pt x="158055" y="53578"/>
                </a:moveTo>
                <a:cubicBezTo>
                  <a:pt x="158055" y="40271"/>
                  <a:pt x="168859" y="29468"/>
                  <a:pt x="182166" y="29468"/>
                </a:cubicBezTo>
                <a:cubicBezTo>
                  <a:pt x="195472" y="29468"/>
                  <a:pt x="206276" y="40271"/>
                  <a:pt x="206276" y="53578"/>
                </a:cubicBezTo>
                <a:cubicBezTo>
                  <a:pt x="206276" y="66885"/>
                  <a:pt x="195472" y="77688"/>
                  <a:pt x="182166" y="77688"/>
                </a:cubicBezTo>
                <a:cubicBezTo>
                  <a:pt x="168859" y="77688"/>
                  <a:pt x="158055" y="66885"/>
                  <a:pt x="158055" y="53578"/>
                </a:cubicBezTo>
                <a:close/>
                <a:moveTo>
                  <a:pt x="53578" y="144661"/>
                </a:moveTo>
                <a:cubicBezTo>
                  <a:pt x="53578" y="115059"/>
                  <a:pt x="77554" y="91083"/>
                  <a:pt x="107156" y="91083"/>
                </a:cubicBezTo>
                <a:cubicBezTo>
                  <a:pt x="136758" y="91083"/>
                  <a:pt x="160734" y="115059"/>
                  <a:pt x="160734" y="144661"/>
                </a:cubicBezTo>
                <a:lnTo>
                  <a:pt x="160734" y="150019"/>
                </a:lnTo>
                <a:cubicBezTo>
                  <a:pt x="160734" y="155946"/>
                  <a:pt x="155946" y="160734"/>
                  <a:pt x="150019" y="160734"/>
                </a:cubicBezTo>
                <a:lnTo>
                  <a:pt x="64294" y="160734"/>
                </a:lnTo>
                <a:cubicBezTo>
                  <a:pt x="58367" y="160734"/>
                  <a:pt x="53578" y="155946"/>
                  <a:pt x="53578" y="150019"/>
                </a:cubicBezTo>
                <a:lnTo>
                  <a:pt x="53578" y="144661"/>
                </a:lnTo>
                <a:close/>
              </a:path>
            </a:pathLst>
          </a:custGeom>
          <a:solidFill>
            <a:srgbClr val="ffffff"/>
          </a:solidFill>
          <a:ln w="0">
            <a:noFill/>
          </a:ln>
        </p:spPr>
        <p:style>
          <a:lnRef idx="0"/>
          <a:fillRef idx="0"/>
          <a:effectRef idx="0"/>
          <a:fontRef idx="minor"/>
        </p:style>
      </p:sp>
      <p:sp>
        <p:nvSpPr>
          <p:cNvPr id="83" name="Text 11"/>
          <p:cNvSpPr/>
          <p:nvPr/>
        </p:nvSpPr>
        <p:spPr>
          <a:xfrm>
            <a:off x="8155440" y="1666800"/>
            <a:ext cx="637200" cy="26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Players</a:t>
            </a:r>
            <a:endParaRPr b="0" lang="en-HK" sz="1500" spc="-1" strike="noStrike">
              <a:latin typeface="Arial"/>
            </a:endParaRPr>
          </a:p>
        </p:txBody>
      </p:sp>
      <p:sp>
        <p:nvSpPr>
          <p:cNvPr id="84" name="Text 12"/>
          <p:cNvSpPr/>
          <p:nvPr/>
        </p:nvSpPr>
        <p:spPr>
          <a:xfrm>
            <a:off x="7660080" y="2143080"/>
            <a:ext cx="3989880" cy="494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Decision-makers whose choices influence outcomes. Games may involve two players or many.</a:t>
            </a:r>
            <a:endParaRPr b="0" lang="en-HK" sz="1200" spc="-1" strike="noStrike">
              <a:latin typeface="Arial"/>
            </a:endParaRPr>
          </a:p>
        </p:txBody>
      </p:sp>
      <p:sp>
        <p:nvSpPr>
          <p:cNvPr id="85" name="Shape 13"/>
          <p:cNvSpPr/>
          <p:nvPr/>
        </p:nvSpPr>
        <p:spPr>
          <a:xfrm>
            <a:off x="7426440" y="3110040"/>
            <a:ext cx="4380480" cy="1494360"/>
          </a:xfrm>
          <a:custGeom>
            <a:avLst/>
            <a:gdLst/>
            <a:ah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round/>
          </a:ln>
        </p:spPr>
        <p:style>
          <a:lnRef idx="0"/>
          <a:fillRef idx="0"/>
          <a:effectRef idx="0"/>
          <a:fontRef idx="minor"/>
        </p:style>
      </p:sp>
      <p:sp>
        <p:nvSpPr>
          <p:cNvPr id="86" name="Shape 14"/>
          <p:cNvSpPr/>
          <p:nvPr/>
        </p:nvSpPr>
        <p:spPr>
          <a:xfrm>
            <a:off x="7660080" y="3343320"/>
            <a:ext cx="379800" cy="379800"/>
          </a:xfrm>
          <a:custGeom>
            <a:avLst/>
            <a:gdLst/>
            <a:ahLst/>
            <a:rect l="l" t="t" r="r" b="b"/>
            <a:pathLst>
              <a:path w="381000" h="381000">
                <a:moveTo>
                  <a:pt x="0" y="0"/>
                </a:moveTo>
                <a:lnTo>
                  <a:pt x="381000" y="0"/>
                </a:lnTo>
                <a:lnTo>
                  <a:pt x="381000" y="381000"/>
                </a:lnTo>
                <a:lnTo>
                  <a:pt x="0" y="381000"/>
                </a:lnTo>
                <a:lnTo>
                  <a:pt x="0" y="0"/>
                </a:lnTo>
                <a:close/>
              </a:path>
            </a:pathLst>
          </a:custGeom>
          <a:solidFill>
            <a:srgbClr val="0984e3"/>
          </a:solidFill>
          <a:ln w="0">
            <a:noFill/>
          </a:ln>
        </p:spPr>
        <p:style>
          <a:lnRef idx="0"/>
          <a:fillRef idx="0"/>
          <a:effectRef idx="0"/>
          <a:fontRef idx="minor"/>
        </p:style>
      </p:sp>
      <p:sp>
        <p:nvSpPr>
          <p:cNvPr id="87" name="Shape 15"/>
          <p:cNvSpPr/>
          <p:nvPr/>
        </p:nvSpPr>
        <p:spPr>
          <a:xfrm>
            <a:off x="7767000" y="3448080"/>
            <a:ext cx="170280" cy="170280"/>
          </a:xfrm>
          <a:custGeom>
            <a:avLst/>
            <a:gdLst/>
            <a:ahLst/>
            <a:rect l="l" t="t" r="r" b="b"/>
            <a:pathLst>
              <a:path w="171450" h="171450">
                <a:moveTo>
                  <a:pt x="56257" y="18752"/>
                </a:moveTo>
                <a:lnTo>
                  <a:pt x="56257" y="32147"/>
                </a:lnTo>
                <a:lnTo>
                  <a:pt x="30104" y="32147"/>
                </a:lnTo>
                <a:cubicBezTo>
                  <a:pt x="25316" y="32147"/>
                  <a:pt x="21431" y="36031"/>
                  <a:pt x="21431" y="40820"/>
                </a:cubicBezTo>
                <a:cubicBezTo>
                  <a:pt x="21431" y="42159"/>
                  <a:pt x="21733" y="43499"/>
                  <a:pt x="22335" y="44704"/>
                </a:cubicBezTo>
                <a:lnTo>
                  <a:pt x="33520" y="67073"/>
                </a:lnTo>
                <a:cubicBezTo>
                  <a:pt x="29702" y="67676"/>
                  <a:pt x="26756" y="70991"/>
                  <a:pt x="26756" y="75009"/>
                </a:cubicBezTo>
                <a:cubicBezTo>
                  <a:pt x="26756" y="79463"/>
                  <a:pt x="30339" y="83046"/>
                  <a:pt x="34792" y="83046"/>
                </a:cubicBezTo>
                <a:lnTo>
                  <a:pt x="36668" y="83046"/>
                </a:lnTo>
                <a:lnTo>
                  <a:pt x="32113" y="128588"/>
                </a:lnTo>
                <a:lnTo>
                  <a:pt x="13294" y="152128"/>
                </a:lnTo>
                <a:cubicBezTo>
                  <a:pt x="11620" y="154238"/>
                  <a:pt x="10682" y="156850"/>
                  <a:pt x="10682" y="159562"/>
                </a:cubicBezTo>
                <a:cubicBezTo>
                  <a:pt x="10682" y="166126"/>
                  <a:pt x="16006" y="171450"/>
                  <a:pt x="22570" y="171450"/>
                </a:cubicBezTo>
                <a:lnTo>
                  <a:pt x="105917" y="171450"/>
                </a:lnTo>
                <a:cubicBezTo>
                  <a:pt x="112481" y="171450"/>
                  <a:pt x="117805" y="166126"/>
                  <a:pt x="117805" y="159562"/>
                </a:cubicBezTo>
                <a:cubicBezTo>
                  <a:pt x="117805" y="156850"/>
                  <a:pt x="116901" y="154238"/>
                  <a:pt x="115193" y="152128"/>
                </a:cubicBezTo>
                <a:lnTo>
                  <a:pt x="96441" y="128588"/>
                </a:lnTo>
                <a:lnTo>
                  <a:pt x="91886" y="83046"/>
                </a:lnTo>
                <a:lnTo>
                  <a:pt x="93762" y="83046"/>
                </a:lnTo>
                <a:cubicBezTo>
                  <a:pt x="98215" y="83046"/>
                  <a:pt x="101798" y="79463"/>
                  <a:pt x="101798" y="75009"/>
                </a:cubicBezTo>
                <a:cubicBezTo>
                  <a:pt x="101798" y="71025"/>
                  <a:pt x="98885" y="67676"/>
                  <a:pt x="95034" y="67073"/>
                </a:cubicBezTo>
                <a:lnTo>
                  <a:pt x="106219" y="44704"/>
                </a:lnTo>
                <a:cubicBezTo>
                  <a:pt x="106821" y="43499"/>
                  <a:pt x="107123" y="42159"/>
                  <a:pt x="107123" y="40820"/>
                </a:cubicBezTo>
                <a:cubicBezTo>
                  <a:pt x="107123" y="36031"/>
                  <a:pt x="103238" y="32147"/>
                  <a:pt x="98450" y="32147"/>
                </a:cubicBezTo>
                <a:lnTo>
                  <a:pt x="72297" y="32147"/>
                </a:lnTo>
                <a:lnTo>
                  <a:pt x="72297" y="18752"/>
                </a:lnTo>
                <a:lnTo>
                  <a:pt x="77655" y="18752"/>
                </a:lnTo>
                <a:cubicBezTo>
                  <a:pt x="82108" y="18752"/>
                  <a:pt x="85692" y="15169"/>
                  <a:pt x="85692" y="10716"/>
                </a:cubicBezTo>
                <a:cubicBezTo>
                  <a:pt x="85692" y="6262"/>
                  <a:pt x="82142" y="2679"/>
                  <a:pt x="77688" y="2679"/>
                </a:cubicBezTo>
                <a:lnTo>
                  <a:pt x="72330" y="2679"/>
                </a:lnTo>
                <a:lnTo>
                  <a:pt x="72330" y="-2679"/>
                </a:lnTo>
                <a:cubicBezTo>
                  <a:pt x="72330" y="-7133"/>
                  <a:pt x="68747" y="-10716"/>
                  <a:pt x="64294" y="-10716"/>
                </a:cubicBezTo>
                <a:cubicBezTo>
                  <a:pt x="59840" y="-10716"/>
                  <a:pt x="56257" y="-7133"/>
                  <a:pt x="56257" y="-2679"/>
                </a:cubicBezTo>
                <a:lnTo>
                  <a:pt x="56257" y="2679"/>
                </a:lnTo>
                <a:lnTo>
                  <a:pt x="50899" y="2679"/>
                </a:lnTo>
                <a:cubicBezTo>
                  <a:pt x="46446" y="2679"/>
                  <a:pt x="42863" y="6262"/>
                  <a:pt x="42863" y="10716"/>
                </a:cubicBezTo>
                <a:cubicBezTo>
                  <a:pt x="42863" y="15169"/>
                  <a:pt x="46446" y="18752"/>
                  <a:pt x="50899" y="18752"/>
                </a:cubicBezTo>
                <a:lnTo>
                  <a:pt x="56257" y="18752"/>
                </a:lnTo>
                <a:close/>
                <a:moveTo>
                  <a:pt x="109098" y="93628"/>
                </a:moveTo>
                <a:lnTo>
                  <a:pt x="111945" y="122259"/>
                </a:lnTo>
                <a:lnTo>
                  <a:pt x="127817" y="142082"/>
                </a:lnTo>
                <a:lnTo>
                  <a:pt x="129224" y="143991"/>
                </a:lnTo>
                <a:cubicBezTo>
                  <a:pt x="132304" y="148579"/>
                  <a:pt x="133945" y="154004"/>
                  <a:pt x="133945" y="159562"/>
                </a:cubicBezTo>
                <a:cubicBezTo>
                  <a:pt x="133945" y="163815"/>
                  <a:pt x="133008" y="167867"/>
                  <a:pt x="131300" y="171450"/>
                </a:cubicBezTo>
                <a:lnTo>
                  <a:pt x="159127" y="171450"/>
                </a:lnTo>
                <a:cubicBezTo>
                  <a:pt x="165925" y="171450"/>
                  <a:pt x="171450" y="165925"/>
                  <a:pt x="171450" y="159127"/>
                </a:cubicBezTo>
                <a:cubicBezTo>
                  <a:pt x="171450" y="156683"/>
                  <a:pt x="170713" y="154305"/>
                  <a:pt x="169374" y="152296"/>
                </a:cubicBezTo>
                <a:lnTo>
                  <a:pt x="160734" y="139337"/>
                </a:lnTo>
                <a:lnTo>
                  <a:pt x="160734" y="117905"/>
                </a:lnTo>
                <a:lnTo>
                  <a:pt x="165188" y="113452"/>
                </a:lnTo>
                <a:cubicBezTo>
                  <a:pt x="169206" y="109433"/>
                  <a:pt x="171450" y="103975"/>
                  <a:pt x="171450" y="98282"/>
                </a:cubicBezTo>
                <a:lnTo>
                  <a:pt x="171450" y="64294"/>
                </a:lnTo>
                <a:cubicBezTo>
                  <a:pt x="171450" y="58367"/>
                  <a:pt x="166661" y="53578"/>
                  <a:pt x="160734" y="53578"/>
                </a:cubicBezTo>
                <a:cubicBezTo>
                  <a:pt x="154807" y="53578"/>
                  <a:pt x="150019" y="58367"/>
                  <a:pt x="150019" y="64294"/>
                </a:cubicBezTo>
                <a:lnTo>
                  <a:pt x="150019" y="69652"/>
                </a:lnTo>
                <a:lnTo>
                  <a:pt x="139303" y="69652"/>
                </a:lnTo>
                <a:lnTo>
                  <a:pt x="139303" y="64294"/>
                </a:lnTo>
                <a:cubicBezTo>
                  <a:pt x="139303" y="58367"/>
                  <a:pt x="134515" y="53578"/>
                  <a:pt x="128588" y="53578"/>
                </a:cubicBezTo>
                <a:cubicBezTo>
                  <a:pt x="122660" y="53578"/>
                  <a:pt x="117872" y="58367"/>
                  <a:pt x="117872" y="64294"/>
                </a:cubicBezTo>
                <a:lnTo>
                  <a:pt x="117872" y="75009"/>
                </a:lnTo>
                <a:cubicBezTo>
                  <a:pt x="117872" y="82510"/>
                  <a:pt x="114456" y="89208"/>
                  <a:pt x="109098" y="93628"/>
                </a:cubicBezTo>
                <a:close/>
              </a:path>
            </a:pathLst>
          </a:custGeom>
          <a:solidFill>
            <a:srgbClr val="ffffff"/>
          </a:solidFill>
          <a:ln w="0">
            <a:noFill/>
          </a:ln>
        </p:spPr>
        <p:style>
          <a:lnRef idx="0"/>
          <a:fillRef idx="0"/>
          <a:effectRef idx="0"/>
          <a:fontRef idx="minor"/>
        </p:style>
      </p:sp>
      <p:sp>
        <p:nvSpPr>
          <p:cNvPr id="88" name="Text 16"/>
          <p:cNvSpPr/>
          <p:nvPr/>
        </p:nvSpPr>
        <p:spPr>
          <a:xfrm>
            <a:off x="8155440" y="3400560"/>
            <a:ext cx="865800" cy="26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Strategies</a:t>
            </a:r>
            <a:endParaRPr b="0" lang="en-HK" sz="1500" spc="-1" strike="noStrike">
              <a:latin typeface="Arial"/>
            </a:endParaRPr>
          </a:p>
        </p:txBody>
      </p:sp>
      <p:sp>
        <p:nvSpPr>
          <p:cNvPr id="89" name="Text 17"/>
          <p:cNvSpPr/>
          <p:nvPr/>
        </p:nvSpPr>
        <p:spPr>
          <a:xfrm>
            <a:off x="7660080" y="3876840"/>
            <a:ext cx="3989880" cy="494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Complete plans of action available to each player, specifying choices at every decision point.</a:t>
            </a:r>
            <a:endParaRPr b="0" lang="en-HK" sz="1200" spc="-1" strike="noStrike">
              <a:latin typeface="Arial"/>
            </a:endParaRPr>
          </a:p>
        </p:txBody>
      </p:sp>
      <p:sp>
        <p:nvSpPr>
          <p:cNvPr id="90" name="Shape 18"/>
          <p:cNvSpPr/>
          <p:nvPr/>
        </p:nvSpPr>
        <p:spPr>
          <a:xfrm>
            <a:off x="7426440" y="4843440"/>
            <a:ext cx="4380480" cy="1494360"/>
          </a:xfrm>
          <a:custGeom>
            <a:avLst/>
            <a:gdLst/>
            <a:ah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round/>
          </a:ln>
        </p:spPr>
        <p:style>
          <a:lnRef idx="0"/>
          <a:fillRef idx="0"/>
          <a:effectRef idx="0"/>
          <a:fontRef idx="minor"/>
        </p:style>
      </p:sp>
      <p:sp>
        <p:nvSpPr>
          <p:cNvPr id="91" name="Shape 19"/>
          <p:cNvSpPr/>
          <p:nvPr/>
        </p:nvSpPr>
        <p:spPr>
          <a:xfrm>
            <a:off x="7660080" y="5076720"/>
            <a:ext cx="379800" cy="379800"/>
          </a:xfrm>
          <a:custGeom>
            <a:avLst/>
            <a:gdLst/>
            <a:ahLst/>
            <a:rect l="l" t="t" r="r" b="b"/>
            <a:pathLst>
              <a:path w="381000" h="381000">
                <a:moveTo>
                  <a:pt x="0" y="0"/>
                </a:moveTo>
                <a:lnTo>
                  <a:pt x="381000" y="0"/>
                </a:lnTo>
                <a:lnTo>
                  <a:pt x="381000" y="381000"/>
                </a:lnTo>
                <a:lnTo>
                  <a:pt x="0" y="381000"/>
                </a:lnTo>
                <a:lnTo>
                  <a:pt x="0" y="0"/>
                </a:lnTo>
                <a:close/>
              </a:path>
            </a:pathLst>
          </a:custGeom>
          <a:solidFill>
            <a:srgbClr val="0984e3"/>
          </a:solidFill>
          <a:ln w="0">
            <a:noFill/>
          </a:ln>
        </p:spPr>
        <p:style>
          <a:lnRef idx="0"/>
          <a:fillRef idx="0"/>
          <a:effectRef idx="0"/>
          <a:fontRef idx="minor"/>
        </p:style>
      </p:sp>
      <p:sp>
        <p:nvSpPr>
          <p:cNvPr id="92" name="Shape 20"/>
          <p:cNvSpPr/>
          <p:nvPr/>
        </p:nvSpPr>
        <p:spPr>
          <a:xfrm>
            <a:off x="7767000" y="5181480"/>
            <a:ext cx="170280" cy="170280"/>
          </a:xfrm>
          <a:custGeom>
            <a:avLst/>
            <a:gdLst/>
            <a:ahLst/>
            <a:rect l="l" t="t" r="r" b="b"/>
            <a:pathLst>
              <a:path w="171450" h="171450">
                <a:moveTo>
                  <a:pt x="48321" y="0"/>
                </a:moveTo>
                <a:lnTo>
                  <a:pt x="123330" y="0"/>
                </a:lnTo>
                <a:cubicBezTo>
                  <a:pt x="132204" y="0"/>
                  <a:pt x="139437" y="7300"/>
                  <a:pt x="139102" y="16140"/>
                </a:cubicBezTo>
                <a:cubicBezTo>
                  <a:pt x="139035" y="17915"/>
                  <a:pt x="138968" y="19690"/>
                  <a:pt x="138868" y="21431"/>
                </a:cubicBezTo>
                <a:lnTo>
                  <a:pt x="155477" y="21431"/>
                </a:lnTo>
                <a:cubicBezTo>
                  <a:pt x="164217" y="21431"/>
                  <a:pt x="171919" y="28664"/>
                  <a:pt x="171249" y="38107"/>
                </a:cubicBezTo>
                <a:cubicBezTo>
                  <a:pt x="168738" y="72833"/>
                  <a:pt x="150990" y="91920"/>
                  <a:pt x="131735" y="101899"/>
                </a:cubicBezTo>
                <a:cubicBezTo>
                  <a:pt x="126444" y="104645"/>
                  <a:pt x="121053" y="106687"/>
                  <a:pt x="115930" y="108194"/>
                </a:cubicBezTo>
                <a:cubicBezTo>
                  <a:pt x="109165" y="117771"/>
                  <a:pt x="102133" y="122828"/>
                  <a:pt x="96541" y="125540"/>
                </a:cubicBezTo>
                <a:lnTo>
                  <a:pt x="96541" y="150019"/>
                </a:lnTo>
                <a:lnTo>
                  <a:pt x="117972" y="150019"/>
                </a:lnTo>
                <a:cubicBezTo>
                  <a:pt x="123899" y="150019"/>
                  <a:pt x="128688" y="154807"/>
                  <a:pt x="128688" y="160734"/>
                </a:cubicBezTo>
                <a:cubicBezTo>
                  <a:pt x="128688" y="166661"/>
                  <a:pt x="123899" y="171450"/>
                  <a:pt x="117972" y="171450"/>
                </a:cubicBezTo>
                <a:lnTo>
                  <a:pt x="53679" y="171450"/>
                </a:lnTo>
                <a:cubicBezTo>
                  <a:pt x="47752" y="171450"/>
                  <a:pt x="42963" y="166661"/>
                  <a:pt x="42963" y="160734"/>
                </a:cubicBezTo>
                <a:cubicBezTo>
                  <a:pt x="42963" y="154807"/>
                  <a:pt x="47752" y="150019"/>
                  <a:pt x="53679" y="150019"/>
                </a:cubicBezTo>
                <a:lnTo>
                  <a:pt x="75110" y="150019"/>
                </a:lnTo>
                <a:lnTo>
                  <a:pt x="75110" y="125540"/>
                </a:lnTo>
                <a:cubicBezTo>
                  <a:pt x="69752" y="122962"/>
                  <a:pt x="63088" y="118173"/>
                  <a:pt x="56592" y="109366"/>
                </a:cubicBezTo>
                <a:cubicBezTo>
                  <a:pt x="50430" y="107759"/>
                  <a:pt x="43733" y="105315"/>
                  <a:pt x="37203" y="101631"/>
                </a:cubicBezTo>
                <a:cubicBezTo>
                  <a:pt x="19087" y="91485"/>
                  <a:pt x="2746" y="72364"/>
                  <a:pt x="402" y="38040"/>
                </a:cubicBezTo>
                <a:cubicBezTo>
                  <a:pt x="-234" y="28631"/>
                  <a:pt x="7434" y="21398"/>
                  <a:pt x="16174" y="21398"/>
                </a:cubicBezTo>
                <a:lnTo>
                  <a:pt x="32783" y="21398"/>
                </a:lnTo>
                <a:cubicBezTo>
                  <a:pt x="32683" y="19656"/>
                  <a:pt x="32616" y="17915"/>
                  <a:pt x="32549" y="16107"/>
                </a:cubicBezTo>
                <a:cubicBezTo>
                  <a:pt x="32214" y="7233"/>
                  <a:pt x="39447" y="-33"/>
                  <a:pt x="48321" y="-33"/>
                </a:cubicBezTo>
                <a:close/>
                <a:moveTo>
                  <a:pt x="33989" y="37505"/>
                </a:moveTo>
                <a:lnTo>
                  <a:pt x="16442" y="37505"/>
                </a:lnTo>
                <a:cubicBezTo>
                  <a:pt x="18518" y="65868"/>
                  <a:pt x="31544" y="80066"/>
                  <a:pt x="44972" y="87600"/>
                </a:cubicBezTo>
                <a:cubicBezTo>
                  <a:pt x="40150" y="75110"/>
                  <a:pt x="36165" y="58802"/>
                  <a:pt x="33989" y="37505"/>
                </a:cubicBezTo>
                <a:close/>
                <a:moveTo>
                  <a:pt x="127248" y="85993"/>
                </a:moveTo>
                <a:cubicBezTo>
                  <a:pt x="140810" y="78023"/>
                  <a:pt x="153066" y="63858"/>
                  <a:pt x="155142" y="37505"/>
                </a:cubicBezTo>
                <a:lnTo>
                  <a:pt x="137629" y="37505"/>
                </a:lnTo>
                <a:cubicBezTo>
                  <a:pt x="135553" y="57898"/>
                  <a:pt x="131802" y="73737"/>
                  <a:pt x="127248" y="85993"/>
                </a:cubicBezTo>
                <a:close/>
              </a:path>
            </a:pathLst>
          </a:custGeom>
          <a:solidFill>
            <a:srgbClr val="ffffff"/>
          </a:solidFill>
          <a:ln w="0">
            <a:noFill/>
          </a:ln>
        </p:spPr>
        <p:style>
          <a:lnRef idx="0"/>
          <a:fillRef idx="0"/>
          <a:effectRef idx="0"/>
          <a:fontRef idx="minor"/>
        </p:style>
      </p:sp>
      <p:sp>
        <p:nvSpPr>
          <p:cNvPr id="93" name="Text 21"/>
          <p:cNvSpPr/>
          <p:nvPr/>
        </p:nvSpPr>
        <p:spPr>
          <a:xfrm>
            <a:off x="8155440" y="5133960"/>
            <a:ext cx="656280" cy="26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Payoffs</a:t>
            </a:r>
            <a:endParaRPr b="0" lang="en-HK" sz="1500" spc="-1" strike="noStrike">
              <a:latin typeface="Arial"/>
            </a:endParaRPr>
          </a:p>
        </p:txBody>
      </p:sp>
      <p:sp>
        <p:nvSpPr>
          <p:cNvPr id="94" name="Text 22"/>
          <p:cNvSpPr/>
          <p:nvPr/>
        </p:nvSpPr>
        <p:spPr>
          <a:xfrm>
            <a:off x="7660080" y="5610240"/>
            <a:ext cx="3989880" cy="494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Numerical values representing utility or benefit received by players for each outcome.</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5" name="Text 0"/>
          <p:cNvSpPr/>
          <p:nvPr/>
        </p:nvSpPr>
        <p:spPr>
          <a:xfrm>
            <a:off x="609480" y="1781280"/>
            <a:ext cx="12191040" cy="1218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02</a:t>
            </a:r>
            <a:endParaRPr b="0" lang="en-HK" sz="9600" spc="-1" strike="noStrike">
              <a:latin typeface="Arial"/>
            </a:endParaRPr>
          </a:p>
        </p:txBody>
      </p:sp>
      <p:sp>
        <p:nvSpPr>
          <p:cNvPr id="96" name="Text 1"/>
          <p:cNvSpPr/>
          <p:nvPr/>
        </p:nvSpPr>
        <p:spPr>
          <a:xfrm>
            <a:off x="609480" y="3152880"/>
            <a:ext cx="11867040" cy="11419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Historical</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Foundations</a:t>
            </a:r>
            <a:endParaRPr b="0" lang="en-HK" sz="4500" spc="-1" strike="noStrike">
              <a:latin typeface="Arial"/>
            </a:endParaRPr>
          </a:p>
        </p:txBody>
      </p:sp>
      <p:sp>
        <p:nvSpPr>
          <p:cNvPr id="97" name="Shape 2"/>
          <p:cNvSpPr/>
          <p:nvPr/>
        </p:nvSpPr>
        <p:spPr>
          <a:xfrm>
            <a:off x="609480" y="4524480"/>
            <a:ext cx="1218240" cy="1800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98" name="Text 3"/>
          <p:cNvSpPr/>
          <p:nvPr/>
        </p:nvSpPr>
        <p:spPr>
          <a:xfrm>
            <a:off x="609480" y="4772160"/>
            <a:ext cx="1169568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From von Neumann to Nash: The evolution of strategic thinking</a:t>
            </a:r>
            <a:endParaRPr b="0" lang="en-HK" sz="1800" spc="-1" strike="noStrike">
              <a:latin typeface="Arial"/>
            </a:endParaRPr>
          </a:p>
        </p:txBody>
      </p:sp>
      <p:sp>
        <p:nvSpPr>
          <p:cNvPr id="99" name=""/>
          <p:cNvSpPr/>
          <p:nvPr/>
        </p:nvSpPr>
        <p:spPr>
          <a:xfrm>
            <a:off x="2133000" y="5394600"/>
            <a:ext cx="16458120" cy="345960"/>
          </a:xfrm>
          <a:prstGeom prst="rect">
            <a:avLst/>
          </a:prstGeom>
          <a:noFill/>
          <a:ln w="0">
            <a:noFill/>
          </a:ln>
        </p:spPr>
        <p:style>
          <a:lnRef idx="0"/>
          <a:fillRef idx="0"/>
          <a:effectRef idx="0"/>
          <a:fontRef idx="minor"/>
        </p:style>
        <p:txBody>
          <a:bodyPr lIns="90000" rIns="90000" tIns="45000" bIns="45000" anchor="t">
            <a:noAutofit/>
          </a:bodyPr>
          <a:p>
            <a:pPr>
              <a:lnSpc>
                <a:spcPct val="100000"/>
              </a:lnSpc>
              <a:buNone/>
            </a:pPr>
            <a:r>
              <a:rPr b="0" lang="en-HK" sz="1800" spc="-1" strike="noStrike">
                <a:latin typeface="Arial"/>
              </a:rPr>
              <a:t>Key concept: Nash Equilibrium occurs when no player can improve their payoff by unilaterally changing their strategy, given other players’ strategies remain fixed.</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999999"/>
        </a:solidFill>
      </p:bgPr>
    </p:bg>
    <p:spTree>
      <p:nvGrpSpPr>
        <p:cNvPr id="1" name=""/>
        <p:cNvGrpSpPr/>
        <p:nvPr/>
      </p:nvGrpSpPr>
      <p:grpSpPr>
        <a:xfrm>
          <a:off x="0" y="0"/>
          <a:ext cx="0" cy="0"/>
          <a:chOff x="0" y="0"/>
          <a:chExt cx="0" cy="0"/>
        </a:xfrm>
      </p:grpSpPr>
      <p:sp>
        <p:nvSpPr>
          <p:cNvPr id="100" name="Text 0"/>
          <p:cNvSpPr/>
          <p:nvPr/>
        </p:nvSpPr>
        <p:spPr>
          <a:xfrm>
            <a:off x="324360" y="324360"/>
            <a:ext cx="1160712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43" strike="noStrike">
                <a:solidFill>
                  <a:srgbClr val="0984e3"/>
                </a:solidFill>
                <a:latin typeface="Quattrocento Sans"/>
                <a:ea typeface="Quattrocento Sans"/>
              </a:rPr>
              <a:t>HISTORICAL DEVELOPMENT</a:t>
            </a:r>
            <a:endParaRPr b="0" lang="en-HK" sz="1020" spc="-1" strike="noStrike">
              <a:latin typeface="Arial"/>
            </a:endParaRPr>
          </a:p>
        </p:txBody>
      </p:sp>
      <p:sp>
        <p:nvSpPr>
          <p:cNvPr id="101" name="Text 1"/>
          <p:cNvSpPr/>
          <p:nvPr/>
        </p:nvSpPr>
        <p:spPr>
          <a:xfrm>
            <a:off x="324360" y="583560"/>
            <a:ext cx="11737080" cy="3880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060" spc="-1" strike="noStrike">
                <a:solidFill>
                  <a:srgbClr val="2d3436"/>
                </a:solidFill>
                <a:latin typeface="Oranienbaum"/>
                <a:ea typeface="Oranienbaum"/>
              </a:rPr>
              <a:t>The Pioneers of Game Theory</a:t>
            </a:r>
            <a:endParaRPr b="0" lang="en-HK" sz="3060" spc="-1" strike="noStrike">
              <a:latin typeface="Arial"/>
            </a:endParaRPr>
          </a:p>
        </p:txBody>
      </p:sp>
      <p:sp>
        <p:nvSpPr>
          <p:cNvPr id="102" name="Shape 2"/>
          <p:cNvSpPr/>
          <p:nvPr/>
        </p:nvSpPr>
        <p:spPr>
          <a:xfrm>
            <a:off x="6095880" y="1167480"/>
            <a:ext cx="15120" cy="4976280"/>
          </a:xfrm>
          <a:custGeom>
            <a:avLst/>
            <a:gdLst/>
            <a:ahLst/>
            <a:rect l="l" t="t" r="r" b="b"/>
            <a:pathLst>
              <a:path w="16213" h="4977319">
                <a:moveTo>
                  <a:pt x="0" y="0"/>
                </a:moveTo>
                <a:lnTo>
                  <a:pt x="16213" y="0"/>
                </a:lnTo>
                <a:lnTo>
                  <a:pt x="16213" y="4977319"/>
                </a:lnTo>
                <a:lnTo>
                  <a:pt x="0" y="4977319"/>
                </a:lnTo>
                <a:lnTo>
                  <a:pt x="0" y="0"/>
                </a:lnTo>
                <a:close/>
              </a:path>
            </a:pathLst>
          </a:custGeom>
          <a:solidFill>
            <a:srgbClr val="e0e0e0"/>
          </a:solidFill>
          <a:ln w="0">
            <a:noFill/>
          </a:ln>
        </p:spPr>
        <p:style>
          <a:lnRef idx="0"/>
          <a:fillRef idx="0"/>
          <a:effectRef idx="0"/>
          <a:fontRef idx="minor"/>
        </p:style>
      </p:sp>
      <p:sp>
        <p:nvSpPr>
          <p:cNvPr id="103" name="Shape 3"/>
          <p:cNvSpPr/>
          <p:nvPr/>
        </p:nvSpPr>
        <p:spPr>
          <a:xfrm>
            <a:off x="1638000" y="1171440"/>
            <a:ext cx="3865680" cy="720360"/>
          </a:xfrm>
          <a:custGeom>
            <a:avLst/>
            <a:gdLst/>
            <a:ahLst/>
            <a:rect l="l" t="t" r="r" b="b"/>
            <a:pathLst>
              <a:path w="3866745" h="721468">
                <a:moveTo>
                  <a:pt x="0" y="0"/>
                </a:moveTo>
                <a:lnTo>
                  <a:pt x="3866745" y="0"/>
                </a:lnTo>
                <a:lnTo>
                  <a:pt x="3866745" y="721468"/>
                </a:lnTo>
                <a:lnTo>
                  <a:pt x="0" y="721468"/>
                </a:lnTo>
                <a:lnTo>
                  <a:pt x="0" y="0"/>
                </a:lnTo>
                <a:close/>
              </a:path>
            </a:pathLst>
          </a:custGeom>
          <a:solidFill>
            <a:srgbClr val="ffffff"/>
          </a:solidFill>
          <a:ln w="12700">
            <a:solidFill>
              <a:srgbClr val="e0e0e0"/>
            </a:solidFill>
            <a:round/>
          </a:ln>
        </p:spPr>
        <p:style>
          <a:lnRef idx="0"/>
          <a:fillRef idx="0"/>
          <a:effectRef idx="0"/>
          <a:fontRef idx="minor"/>
        </p:style>
      </p:sp>
      <p:sp>
        <p:nvSpPr>
          <p:cNvPr id="104" name="Text 4"/>
          <p:cNvSpPr/>
          <p:nvPr/>
        </p:nvSpPr>
        <p:spPr>
          <a:xfrm>
            <a:off x="1698840" y="1305000"/>
            <a:ext cx="3671280" cy="22572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150" spc="-1" strike="noStrike">
                <a:solidFill>
                  <a:srgbClr val="2d3436"/>
                </a:solidFill>
                <a:latin typeface="Oranienbaum"/>
                <a:ea typeface="Oranienbaum"/>
              </a:rPr>
              <a:t>1912 — Ernst Zermelo</a:t>
            </a:r>
            <a:endParaRPr b="0" lang="en-HK" sz="1150" spc="-1" strike="noStrike">
              <a:latin typeface="Arial"/>
            </a:endParaRPr>
          </a:p>
        </p:txBody>
      </p:sp>
      <p:sp>
        <p:nvSpPr>
          <p:cNvPr id="105" name="Text 5"/>
          <p:cNvSpPr/>
          <p:nvPr/>
        </p:nvSpPr>
        <p:spPr>
          <a:xfrm>
            <a:off x="1706760" y="1564560"/>
            <a:ext cx="3663000" cy="19332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0" lang="en-US" sz="1020" spc="-1" strike="noStrike">
                <a:solidFill>
                  <a:srgbClr val="636e72"/>
                </a:solidFill>
                <a:latin typeface="Quattrocento Sans"/>
                <a:ea typeface="Quattrocento Sans"/>
              </a:rPr>
              <a:t>Proved chess is determined; laid early mathematical foundations</a:t>
            </a:r>
            <a:endParaRPr b="0" lang="en-HK" sz="1020" spc="-1" strike="noStrike">
              <a:latin typeface="Arial"/>
            </a:endParaRPr>
          </a:p>
        </p:txBody>
      </p:sp>
      <p:sp>
        <p:nvSpPr>
          <p:cNvPr id="106" name="Shape 6"/>
          <p:cNvSpPr/>
          <p:nvPr/>
        </p:nvSpPr>
        <p:spPr>
          <a:xfrm>
            <a:off x="6683760" y="2030760"/>
            <a:ext cx="3290040" cy="720360"/>
          </a:xfrm>
          <a:custGeom>
            <a:avLst/>
            <a:gdLst/>
            <a:ahLst/>
            <a:rect l="l" t="t" r="r" b="b"/>
            <a:pathLst>
              <a:path w="3291191" h="721468">
                <a:moveTo>
                  <a:pt x="0" y="0"/>
                </a:moveTo>
                <a:lnTo>
                  <a:pt x="3291191" y="0"/>
                </a:lnTo>
                <a:lnTo>
                  <a:pt x="3291191" y="721468"/>
                </a:lnTo>
                <a:lnTo>
                  <a:pt x="0" y="721468"/>
                </a:lnTo>
                <a:lnTo>
                  <a:pt x="0" y="0"/>
                </a:lnTo>
                <a:close/>
              </a:path>
            </a:pathLst>
          </a:custGeom>
          <a:solidFill>
            <a:srgbClr val="ffffff"/>
          </a:solidFill>
          <a:ln w="12700">
            <a:solidFill>
              <a:srgbClr val="e0e0e0"/>
            </a:solidFill>
            <a:round/>
          </a:ln>
        </p:spPr>
        <p:style>
          <a:lnRef idx="0"/>
          <a:fillRef idx="0"/>
          <a:effectRef idx="0"/>
          <a:fontRef idx="minor"/>
        </p:style>
      </p:sp>
      <p:sp>
        <p:nvSpPr>
          <p:cNvPr id="107" name="Text 7"/>
          <p:cNvSpPr/>
          <p:nvPr/>
        </p:nvSpPr>
        <p:spPr>
          <a:xfrm>
            <a:off x="6817320" y="2164320"/>
            <a:ext cx="3095640" cy="225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2d3436"/>
                </a:solidFill>
                <a:latin typeface="Oranienbaum"/>
                <a:ea typeface="Oranienbaum"/>
              </a:rPr>
              <a:t>1921 — Émile Borel</a:t>
            </a:r>
            <a:endParaRPr b="0" lang="en-HK" sz="1150" spc="-1" strike="noStrike">
              <a:latin typeface="Arial"/>
            </a:endParaRPr>
          </a:p>
        </p:txBody>
      </p:sp>
      <p:sp>
        <p:nvSpPr>
          <p:cNvPr id="108" name="Text 8"/>
          <p:cNvSpPr/>
          <p:nvPr/>
        </p:nvSpPr>
        <p:spPr>
          <a:xfrm>
            <a:off x="6817320" y="2423880"/>
            <a:ext cx="308736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636e72"/>
                </a:solidFill>
                <a:latin typeface="Quattrocento Sans"/>
                <a:ea typeface="Quattrocento Sans"/>
              </a:rPr>
              <a:t>Posed fundamental questions about optimal strategies</a:t>
            </a:r>
            <a:endParaRPr b="0" lang="en-HK" sz="1020" spc="-1" strike="noStrike">
              <a:latin typeface="Arial"/>
            </a:endParaRPr>
          </a:p>
        </p:txBody>
      </p:sp>
      <p:sp>
        <p:nvSpPr>
          <p:cNvPr id="109" name="Shape 9"/>
          <p:cNvSpPr/>
          <p:nvPr/>
        </p:nvSpPr>
        <p:spPr>
          <a:xfrm>
            <a:off x="633600" y="2885760"/>
            <a:ext cx="4879080" cy="712440"/>
          </a:xfrm>
          <a:custGeom>
            <a:avLst/>
            <a:gdLst/>
            <a:ahLst/>
            <a:rect l="l" t="t" r="r" b="b"/>
            <a:pathLst>
              <a:path w="4880043" h="713362">
                <a:moveTo>
                  <a:pt x="0" y="0"/>
                </a:moveTo>
                <a:lnTo>
                  <a:pt x="4880043" y="0"/>
                </a:lnTo>
                <a:lnTo>
                  <a:pt x="4880043" y="713362"/>
                </a:lnTo>
                <a:lnTo>
                  <a:pt x="0" y="713362"/>
                </a:lnTo>
                <a:lnTo>
                  <a:pt x="0" y="0"/>
                </a:lnTo>
                <a:close/>
              </a:path>
            </a:pathLst>
          </a:custGeom>
          <a:solidFill>
            <a:srgbClr val="f8f9fa"/>
          </a:solidFill>
          <a:ln w="0">
            <a:noFill/>
          </a:ln>
        </p:spPr>
        <p:style>
          <a:lnRef idx="0"/>
          <a:fillRef idx="0"/>
          <a:effectRef idx="0"/>
          <a:fontRef idx="minor"/>
        </p:style>
      </p:sp>
      <p:sp>
        <p:nvSpPr>
          <p:cNvPr id="110" name="Shape 10"/>
          <p:cNvSpPr/>
          <p:nvPr/>
        </p:nvSpPr>
        <p:spPr>
          <a:xfrm>
            <a:off x="633600" y="2885760"/>
            <a:ext cx="31320" cy="712440"/>
          </a:xfrm>
          <a:custGeom>
            <a:avLst/>
            <a:gdLst/>
            <a:ahLst/>
            <a:rect l="l" t="t" r="r" b="b"/>
            <a:pathLst>
              <a:path w="32426" h="713362">
                <a:moveTo>
                  <a:pt x="0" y="0"/>
                </a:moveTo>
                <a:lnTo>
                  <a:pt x="32426" y="0"/>
                </a:lnTo>
                <a:lnTo>
                  <a:pt x="32426" y="713362"/>
                </a:lnTo>
                <a:lnTo>
                  <a:pt x="0" y="713362"/>
                </a:lnTo>
                <a:lnTo>
                  <a:pt x="0" y="0"/>
                </a:lnTo>
                <a:close/>
              </a:path>
            </a:pathLst>
          </a:custGeom>
          <a:solidFill>
            <a:srgbClr val="0984e3"/>
          </a:solidFill>
          <a:ln w="0">
            <a:noFill/>
          </a:ln>
        </p:spPr>
        <p:style>
          <a:lnRef idx="0"/>
          <a:fillRef idx="0"/>
          <a:effectRef idx="0"/>
          <a:fontRef idx="minor"/>
        </p:style>
      </p:sp>
      <p:sp>
        <p:nvSpPr>
          <p:cNvPr id="111" name="Text 11"/>
          <p:cNvSpPr/>
          <p:nvPr/>
        </p:nvSpPr>
        <p:spPr>
          <a:xfrm>
            <a:off x="706680" y="3015720"/>
            <a:ext cx="4676400" cy="22572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150" spc="-1" strike="noStrike">
                <a:solidFill>
                  <a:srgbClr val="2d3436"/>
                </a:solidFill>
                <a:latin typeface="Oranienbaum"/>
                <a:ea typeface="Oranienbaum"/>
              </a:rPr>
              <a:t>1928 — John von Neumann</a:t>
            </a:r>
            <a:endParaRPr b="0" lang="en-HK" sz="1150" spc="-1" strike="noStrike">
              <a:latin typeface="Arial"/>
            </a:endParaRPr>
          </a:p>
        </p:txBody>
      </p:sp>
      <p:sp>
        <p:nvSpPr>
          <p:cNvPr id="112" name="Text 12"/>
          <p:cNvSpPr/>
          <p:nvPr/>
        </p:nvSpPr>
        <p:spPr>
          <a:xfrm>
            <a:off x="714960" y="3274920"/>
            <a:ext cx="4668120" cy="19332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020" spc="-1" strike="noStrike">
                <a:solidFill>
                  <a:srgbClr val="636e72"/>
                </a:solidFill>
                <a:latin typeface="Quattrocento Sans"/>
                <a:ea typeface="Quattrocento Sans"/>
              </a:rPr>
              <a:t>Minimax Theorem:</a:t>
            </a:r>
            <a:r>
              <a:rPr b="0" lang="en-US" sz="1020" spc="-1" strike="noStrike">
                <a:solidFill>
                  <a:srgbClr val="636e72"/>
                </a:solidFill>
                <a:latin typeface="Quattrocento Sans"/>
                <a:ea typeface="Quattrocento Sans"/>
              </a:rPr>
              <a:t> Proved all two-person zero-sum games have optimal solutions</a:t>
            </a:r>
            <a:endParaRPr b="0" lang="en-HK" sz="1020" spc="-1" strike="noStrike">
              <a:latin typeface="Arial"/>
            </a:endParaRPr>
          </a:p>
        </p:txBody>
      </p:sp>
      <p:sp>
        <p:nvSpPr>
          <p:cNvPr id="113" name="Shape 13"/>
          <p:cNvSpPr/>
          <p:nvPr/>
        </p:nvSpPr>
        <p:spPr>
          <a:xfrm>
            <a:off x="6696000" y="3728880"/>
            <a:ext cx="5016600" cy="712440"/>
          </a:xfrm>
          <a:custGeom>
            <a:avLst/>
            <a:gdLst/>
            <a:ahLst/>
            <a:rect l="l" t="t" r="r" b="b"/>
            <a:pathLst>
              <a:path w="5017851" h="713362">
                <a:moveTo>
                  <a:pt x="0" y="0"/>
                </a:moveTo>
                <a:lnTo>
                  <a:pt x="5017851" y="0"/>
                </a:lnTo>
                <a:lnTo>
                  <a:pt x="5017851" y="713362"/>
                </a:lnTo>
                <a:lnTo>
                  <a:pt x="0" y="713362"/>
                </a:lnTo>
                <a:lnTo>
                  <a:pt x="0" y="0"/>
                </a:lnTo>
                <a:close/>
              </a:path>
            </a:pathLst>
          </a:custGeom>
          <a:solidFill>
            <a:srgbClr val="f8f9fa"/>
          </a:solidFill>
          <a:ln w="0">
            <a:noFill/>
          </a:ln>
        </p:spPr>
        <p:style>
          <a:lnRef idx="0"/>
          <a:fillRef idx="0"/>
          <a:effectRef idx="0"/>
          <a:fontRef idx="minor"/>
        </p:style>
      </p:sp>
      <p:sp>
        <p:nvSpPr>
          <p:cNvPr id="114" name="Shape 14"/>
          <p:cNvSpPr/>
          <p:nvPr/>
        </p:nvSpPr>
        <p:spPr>
          <a:xfrm>
            <a:off x="6696000" y="3728880"/>
            <a:ext cx="31320" cy="712440"/>
          </a:xfrm>
          <a:custGeom>
            <a:avLst/>
            <a:gdLst/>
            <a:ahLst/>
            <a:rect l="l" t="t" r="r" b="b"/>
            <a:pathLst>
              <a:path w="32426" h="713362">
                <a:moveTo>
                  <a:pt x="0" y="0"/>
                </a:moveTo>
                <a:lnTo>
                  <a:pt x="32426" y="0"/>
                </a:lnTo>
                <a:lnTo>
                  <a:pt x="32426" y="713362"/>
                </a:lnTo>
                <a:lnTo>
                  <a:pt x="0" y="713362"/>
                </a:lnTo>
                <a:lnTo>
                  <a:pt x="0" y="0"/>
                </a:lnTo>
                <a:close/>
              </a:path>
            </a:pathLst>
          </a:custGeom>
          <a:solidFill>
            <a:srgbClr val="0984e3"/>
          </a:solidFill>
          <a:ln w="0">
            <a:noFill/>
          </a:ln>
        </p:spPr>
        <p:style>
          <a:lnRef idx="0"/>
          <a:fillRef idx="0"/>
          <a:effectRef idx="0"/>
          <a:fontRef idx="minor"/>
        </p:style>
      </p:sp>
      <p:sp>
        <p:nvSpPr>
          <p:cNvPr id="115" name="Text 15"/>
          <p:cNvSpPr/>
          <p:nvPr/>
        </p:nvSpPr>
        <p:spPr>
          <a:xfrm>
            <a:off x="6841800" y="3858480"/>
            <a:ext cx="4814280" cy="225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2d3436"/>
                </a:solidFill>
                <a:latin typeface="Oranienbaum"/>
                <a:ea typeface="Oranienbaum"/>
              </a:rPr>
              <a:t>1944 — von Neumann &amp; Morgenstern</a:t>
            </a:r>
            <a:endParaRPr b="0" lang="en-HK" sz="1150" spc="-1" strike="noStrike">
              <a:latin typeface="Arial"/>
            </a:endParaRPr>
          </a:p>
        </p:txBody>
      </p:sp>
      <p:sp>
        <p:nvSpPr>
          <p:cNvPr id="116" name="Text 16"/>
          <p:cNvSpPr/>
          <p:nvPr/>
        </p:nvSpPr>
        <p:spPr>
          <a:xfrm>
            <a:off x="6841800" y="4118040"/>
            <a:ext cx="480600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1" strike="noStrike">
                <a:solidFill>
                  <a:srgbClr val="636e72"/>
                </a:solidFill>
                <a:latin typeface="Quattrocento Sans"/>
                <a:ea typeface="Quattrocento Sans"/>
              </a:rPr>
              <a:t>"Theory of Games and Economic Behavior"</a:t>
            </a:r>
            <a:r>
              <a:rPr b="0" lang="en-US" sz="1020" spc="-1" strike="noStrike">
                <a:solidFill>
                  <a:srgbClr val="636e72"/>
                </a:solidFill>
                <a:latin typeface="Quattrocento Sans"/>
                <a:ea typeface="Quattrocento Sans"/>
              </a:rPr>
              <a:t> — established game theory as a discipline</a:t>
            </a:r>
            <a:endParaRPr b="0" lang="en-HK" sz="1020" spc="-1" strike="noStrike">
              <a:latin typeface="Arial"/>
            </a:endParaRPr>
          </a:p>
        </p:txBody>
      </p:sp>
      <p:sp>
        <p:nvSpPr>
          <p:cNvPr id="117" name="Shape 17"/>
          <p:cNvSpPr/>
          <p:nvPr/>
        </p:nvSpPr>
        <p:spPr>
          <a:xfrm>
            <a:off x="1476360" y="4572000"/>
            <a:ext cx="4035960" cy="712440"/>
          </a:xfrm>
          <a:custGeom>
            <a:avLst/>
            <a:gdLst/>
            <a:ahLst/>
            <a:rect l="l" t="t" r="r" b="b"/>
            <a:pathLst>
              <a:path w="4036979" h="713362">
                <a:moveTo>
                  <a:pt x="0" y="0"/>
                </a:moveTo>
                <a:lnTo>
                  <a:pt x="4036979" y="0"/>
                </a:lnTo>
                <a:lnTo>
                  <a:pt x="4036979" y="713362"/>
                </a:lnTo>
                <a:lnTo>
                  <a:pt x="0" y="713362"/>
                </a:lnTo>
                <a:lnTo>
                  <a:pt x="0" y="0"/>
                </a:lnTo>
                <a:close/>
              </a:path>
            </a:pathLst>
          </a:custGeom>
          <a:solidFill>
            <a:srgbClr val="2d3436"/>
          </a:solidFill>
          <a:ln w="0">
            <a:noFill/>
          </a:ln>
        </p:spPr>
        <p:style>
          <a:lnRef idx="0"/>
          <a:fillRef idx="0"/>
          <a:effectRef idx="0"/>
          <a:fontRef idx="minor"/>
        </p:style>
      </p:sp>
      <p:sp>
        <p:nvSpPr>
          <p:cNvPr id="118" name="Text 18"/>
          <p:cNvSpPr/>
          <p:nvPr/>
        </p:nvSpPr>
        <p:spPr>
          <a:xfrm>
            <a:off x="1532880" y="4701600"/>
            <a:ext cx="3849480" cy="22572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150" spc="-1" strike="noStrike">
                <a:solidFill>
                  <a:srgbClr val="ffffff"/>
                </a:solidFill>
                <a:latin typeface="Oranienbaum"/>
                <a:ea typeface="Oranienbaum"/>
              </a:rPr>
              <a:t>1950 — John Nash</a:t>
            </a:r>
            <a:endParaRPr b="0" lang="en-HK" sz="1150" spc="-1" strike="noStrike">
              <a:latin typeface="Arial"/>
            </a:endParaRPr>
          </a:p>
        </p:txBody>
      </p:sp>
      <p:sp>
        <p:nvSpPr>
          <p:cNvPr id="119" name="Text 19"/>
          <p:cNvSpPr/>
          <p:nvPr/>
        </p:nvSpPr>
        <p:spPr>
          <a:xfrm>
            <a:off x="1541160" y="4961160"/>
            <a:ext cx="3841200" cy="19332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020" spc="-1" strike="noStrike">
                <a:solidFill>
                  <a:srgbClr val="e0e0e0"/>
                </a:solidFill>
                <a:latin typeface="Quattrocento Sans"/>
                <a:ea typeface="Quattrocento Sans"/>
              </a:rPr>
              <a:t>Nash Equilibrium:</a:t>
            </a:r>
            <a:r>
              <a:rPr b="0" lang="en-US" sz="1020" spc="-1" strike="noStrike">
                <a:solidFill>
                  <a:srgbClr val="e0e0e0"/>
                </a:solidFill>
                <a:latin typeface="Quattrocento Sans"/>
                <a:ea typeface="Quattrocento Sans"/>
              </a:rPr>
              <a:t> Proved existence of equilibrium in all finite games</a:t>
            </a:r>
            <a:endParaRPr b="0" lang="en-HK" sz="1020" spc="-1" strike="noStrike">
              <a:latin typeface="Arial"/>
            </a:endParaRPr>
          </a:p>
        </p:txBody>
      </p:sp>
      <p:sp>
        <p:nvSpPr>
          <p:cNvPr id="120" name="Shape 20"/>
          <p:cNvSpPr/>
          <p:nvPr/>
        </p:nvSpPr>
        <p:spPr>
          <a:xfrm>
            <a:off x="6683760" y="5419080"/>
            <a:ext cx="3987360" cy="720360"/>
          </a:xfrm>
          <a:custGeom>
            <a:avLst/>
            <a:gdLst/>
            <a:ahLst/>
            <a:rect l="l" t="t" r="r" b="b"/>
            <a:pathLst>
              <a:path w="3988340" h="721468">
                <a:moveTo>
                  <a:pt x="0" y="0"/>
                </a:moveTo>
                <a:lnTo>
                  <a:pt x="3988340" y="0"/>
                </a:lnTo>
                <a:lnTo>
                  <a:pt x="3988340" y="721468"/>
                </a:lnTo>
                <a:lnTo>
                  <a:pt x="0" y="721468"/>
                </a:lnTo>
                <a:lnTo>
                  <a:pt x="0" y="0"/>
                </a:lnTo>
                <a:close/>
              </a:path>
            </a:pathLst>
          </a:custGeom>
          <a:solidFill>
            <a:srgbClr val="ffffff"/>
          </a:solidFill>
          <a:ln w="12700">
            <a:solidFill>
              <a:srgbClr val="e0e0e0"/>
            </a:solidFill>
            <a:round/>
          </a:ln>
        </p:spPr>
        <p:style>
          <a:lnRef idx="0"/>
          <a:fillRef idx="0"/>
          <a:effectRef idx="0"/>
          <a:fontRef idx="minor"/>
        </p:style>
      </p:sp>
      <p:sp>
        <p:nvSpPr>
          <p:cNvPr id="121" name="Text 21"/>
          <p:cNvSpPr/>
          <p:nvPr/>
        </p:nvSpPr>
        <p:spPr>
          <a:xfrm>
            <a:off x="6817320" y="5553000"/>
            <a:ext cx="3792600" cy="225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2d3436"/>
                </a:solidFill>
                <a:latin typeface="Oranienbaum"/>
                <a:ea typeface="Oranienbaum"/>
              </a:rPr>
              <a:t>1994 — Nobel Prize</a:t>
            </a:r>
            <a:endParaRPr b="0" lang="en-HK" sz="1150" spc="-1" strike="noStrike">
              <a:latin typeface="Arial"/>
            </a:endParaRPr>
          </a:p>
        </p:txBody>
      </p:sp>
      <p:sp>
        <p:nvSpPr>
          <p:cNvPr id="122" name="Text 22"/>
          <p:cNvSpPr/>
          <p:nvPr/>
        </p:nvSpPr>
        <p:spPr>
          <a:xfrm>
            <a:off x="6817320" y="5812200"/>
            <a:ext cx="378468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636e72"/>
                </a:solidFill>
                <a:latin typeface="Quattrocento Sans"/>
                <a:ea typeface="Quattrocento Sans"/>
              </a:rPr>
              <a:t>Nash, Harsanyi, and Selten awarded for game theory contributions</a:t>
            </a:r>
            <a:endParaRPr b="0" lang="en-HK" sz="1020" spc="-1" strike="noStrike">
              <a:latin typeface="Arial"/>
            </a:endParaRPr>
          </a:p>
        </p:txBody>
      </p:sp>
      <p:sp>
        <p:nvSpPr>
          <p:cNvPr id="123" name="Shape 23"/>
          <p:cNvSpPr/>
          <p:nvPr/>
        </p:nvSpPr>
        <p:spPr>
          <a:xfrm>
            <a:off x="6031080" y="1467360"/>
            <a:ext cx="128520" cy="12852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4" name="Shape 24"/>
          <p:cNvSpPr/>
          <p:nvPr/>
        </p:nvSpPr>
        <p:spPr>
          <a:xfrm>
            <a:off x="6031080" y="2326680"/>
            <a:ext cx="128520" cy="12852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5" name="Shape 25"/>
          <p:cNvSpPr/>
          <p:nvPr/>
        </p:nvSpPr>
        <p:spPr>
          <a:xfrm>
            <a:off x="6031080" y="3177720"/>
            <a:ext cx="128520" cy="12852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6" name="Shape 26"/>
          <p:cNvSpPr/>
          <p:nvPr/>
        </p:nvSpPr>
        <p:spPr>
          <a:xfrm>
            <a:off x="6031080" y="4020840"/>
            <a:ext cx="128520" cy="12852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7" name="Shape 27"/>
          <p:cNvSpPr/>
          <p:nvPr/>
        </p:nvSpPr>
        <p:spPr>
          <a:xfrm>
            <a:off x="6031080" y="4863960"/>
            <a:ext cx="128520" cy="12852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2d3436"/>
          </a:solidFill>
          <a:ln w="0">
            <a:noFill/>
          </a:ln>
        </p:spPr>
        <p:style>
          <a:lnRef idx="0"/>
          <a:fillRef idx="0"/>
          <a:effectRef idx="0"/>
          <a:fontRef idx="minor"/>
        </p:style>
      </p:sp>
      <p:sp>
        <p:nvSpPr>
          <p:cNvPr id="128" name="Shape 28"/>
          <p:cNvSpPr/>
          <p:nvPr/>
        </p:nvSpPr>
        <p:spPr>
          <a:xfrm>
            <a:off x="6031080" y="5715000"/>
            <a:ext cx="128520" cy="12852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9" name="Text 0"/>
          <p:cNvSpPr/>
          <p:nvPr/>
        </p:nvSpPr>
        <p:spPr>
          <a:xfrm>
            <a:off x="380880" y="380880"/>
            <a:ext cx="115052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2" strike="noStrike">
                <a:solidFill>
                  <a:srgbClr val="0984e3"/>
                </a:solidFill>
                <a:latin typeface="Quattrocento Sans"/>
                <a:ea typeface="Quattrocento Sans"/>
              </a:rPr>
              <a:t>KEY FIGURE</a:t>
            </a:r>
            <a:endParaRPr b="0" lang="en-HK" sz="1200" spc="-1" strike="noStrike">
              <a:latin typeface="Arial"/>
            </a:endParaRPr>
          </a:p>
        </p:txBody>
      </p:sp>
      <p:sp>
        <p:nvSpPr>
          <p:cNvPr id="130" name="Text 1"/>
          <p:cNvSpPr/>
          <p:nvPr/>
        </p:nvSpPr>
        <p:spPr>
          <a:xfrm>
            <a:off x="380880" y="685800"/>
            <a:ext cx="11657520" cy="456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John Nash: A Beautiful Mind</a:t>
            </a:r>
            <a:endParaRPr b="0" lang="en-HK" sz="3600" spc="-1" strike="noStrike">
              <a:latin typeface="Arial"/>
            </a:endParaRPr>
          </a:p>
        </p:txBody>
      </p:sp>
      <p:sp>
        <p:nvSpPr>
          <p:cNvPr id="131" name="Image 0"/>
          <p:cNvSpPr/>
          <p:nvPr/>
        </p:nvSpPr>
        <p:spPr>
          <a:xfrm>
            <a:off x="380880" y="1371600"/>
            <a:ext cx="4389840" cy="3047040"/>
          </a:xfrm>
          <a:prstGeom prst="roundRect">
            <a:avLst>
              <a:gd name="adj" fmla="val 0"/>
            </a:avLst>
          </a:prstGeom>
          <a:blipFill rotWithShape="0">
            <a:blip r:embed="rId1"/>
            <a:srcRect/>
            <a:stretch/>
          </a:blipFill>
          <a:ln w="0">
            <a:noFill/>
          </a:ln>
        </p:spPr>
        <p:style>
          <a:lnRef idx="0"/>
          <a:fillRef idx="0"/>
          <a:effectRef idx="0"/>
          <a:fontRef idx="minor"/>
        </p:style>
      </p:sp>
      <p:sp>
        <p:nvSpPr>
          <p:cNvPr id="132" name="Shape 2"/>
          <p:cNvSpPr/>
          <p:nvPr/>
        </p:nvSpPr>
        <p:spPr>
          <a:xfrm>
            <a:off x="399960" y="4648320"/>
            <a:ext cx="4370760" cy="1141920"/>
          </a:xfrm>
          <a:custGeom>
            <a:avLst/>
            <a:gdLst/>
            <a:ahLst/>
            <a:rect l="l" t="t" r="r" b="b"/>
            <a:pathLst>
              <a:path w="4371975" h="1143000">
                <a:moveTo>
                  <a:pt x="0" y="0"/>
                </a:moveTo>
                <a:lnTo>
                  <a:pt x="4371975" y="0"/>
                </a:lnTo>
                <a:lnTo>
                  <a:pt x="4371975" y="1143000"/>
                </a:lnTo>
                <a:lnTo>
                  <a:pt x="0" y="1143000"/>
                </a:lnTo>
                <a:lnTo>
                  <a:pt x="0" y="0"/>
                </a:lnTo>
                <a:close/>
              </a:path>
            </a:pathLst>
          </a:custGeom>
          <a:solidFill>
            <a:srgbClr val="f8f9fa"/>
          </a:solidFill>
          <a:ln w="0">
            <a:noFill/>
          </a:ln>
        </p:spPr>
        <p:style>
          <a:lnRef idx="0"/>
          <a:fillRef idx="0"/>
          <a:effectRef idx="0"/>
          <a:fontRef idx="minor"/>
        </p:style>
      </p:sp>
      <p:sp>
        <p:nvSpPr>
          <p:cNvPr id="133" name="Shape 3"/>
          <p:cNvSpPr/>
          <p:nvPr/>
        </p:nvSpPr>
        <p:spPr>
          <a:xfrm>
            <a:off x="399960" y="4648320"/>
            <a:ext cx="37080" cy="1141920"/>
          </a:xfrm>
          <a:custGeom>
            <a:avLst/>
            <a:gdLst/>
            <a:ahLst/>
            <a:rect l="l" t="t" r="r" b="b"/>
            <a:pathLst>
              <a:path w="38100" h="1143000">
                <a:moveTo>
                  <a:pt x="0" y="0"/>
                </a:moveTo>
                <a:lnTo>
                  <a:pt x="38100" y="0"/>
                </a:lnTo>
                <a:lnTo>
                  <a:pt x="38100" y="1143000"/>
                </a:lnTo>
                <a:lnTo>
                  <a:pt x="0" y="1143000"/>
                </a:lnTo>
                <a:lnTo>
                  <a:pt x="0" y="0"/>
                </a:lnTo>
                <a:close/>
              </a:path>
            </a:pathLst>
          </a:custGeom>
          <a:solidFill>
            <a:srgbClr val="0984e3"/>
          </a:solidFill>
          <a:ln w="0">
            <a:noFill/>
          </a:ln>
        </p:spPr>
        <p:style>
          <a:lnRef idx="0"/>
          <a:fillRef idx="0"/>
          <a:effectRef idx="0"/>
          <a:fontRef idx="minor"/>
        </p:style>
      </p:sp>
      <p:sp>
        <p:nvSpPr>
          <p:cNvPr id="134" name="Text 4"/>
          <p:cNvSpPr/>
          <p:nvPr/>
        </p:nvSpPr>
        <p:spPr>
          <a:xfrm>
            <a:off x="609480" y="4838760"/>
            <a:ext cx="4047120" cy="494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"I was on the right track. I was doing good work. And then I became mentally disturbed."</a:t>
            </a:r>
            <a:endParaRPr b="0" lang="en-HK" sz="1200" spc="-1" strike="noStrike">
              <a:latin typeface="Arial"/>
            </a:endParaRPr>
          </a:p>
        </p:txBody>
      </p:sp>
      <p:sp>
        <p:nvSpPr>
          <p:cNvPr id="135" name="Text 5"/>
          <p:cNvSpPr/>
          <p:nvPr/>
        </p:nvSpPr>
        <p:spPr>
          <a:xfrm>
            <a:off x="609480" y="5410080"/>
            <a:ext cx="4037400" cy="189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636e72"/>
                </a:solidFill>
                <a:latin typeface="Quattrocento Sans"/>
                <a:ea typeface="Quattrocento Sans"/>
              </a:rPr>
              <a:t>— </a:t>
            </a:r>
            <a:r>
              <a:rPr b="0" lang="en-US" sz="1050" spc="-1" strike="noStrike">
                <a:solidFill>
                  <a:srgbClr val="636e72"/>
                </a:solidFill>
                <a:latin typeface="Quattrocento Sans"/>
                <a:ea typeface="Quattrocento Sans"/>
              </a:rPr>
              <a:t>John Nash, on his recovery</a:t>
            </a:r>
            <a:endParaRPr b="0" lang="en-HK" sz="1050" spc="-1" strike="noStrike">
              <a:latin typeface="Arial"/>
            </a:endParaRPr>
          </a:p>
        </p:txBody>
      </p:sp>
      <p:sp>
        <p:nvSpPr>
          <p:cNvPr id="136" name="Text 6"/>
          <p:cNvSpPr/>
          <p:nvPr/>
        </p:nvSpPr>
        <p:spPr>
          <a:xfrm>
            <a:off x="5074920" y="1371600"/>
            <a:ext cx="684756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Early Brilliance</a:t>
            </a:r>
            <a:endParaRPr b="0" lang="en-HK" sz="1800" spc="-1" strike="noStrike">
              <a:latin typeface="Arial"/>
            </a:endParaRPr>
          </a:p>
        </p:txBody>
      </p:sp>
      <p:sp>
        <p:nvSpPr>
          <p:cNvPr id="137" name="Text 7"/>
          <p:cNvSpPr/>
          <p:nvPr/>
        </p:nvSpPr>
        <p:spPr>
          <a:xfrm>
            <a:off x="5074920" y="1752480"/>
            <a:ext cx="6809400" cy="989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Born June 13, 1928, in Bluefield, West Virginia, Nash showed exceptional mathematical talent from an early age. His high school math teacher noted he "will really go places if you would only organize your work." He completed his undergraduate and master's degrees at Carnegie Tech in 1948, then earned his Ph.D. from Princeton in 1950 at age 21.</a:t>
            </a:r>
            <a:endParaRPr b="0" lang="en-HK" sz="1200" spc="-1" strike="noStrike">
              <a:latin typeface="Arial"/>
            </a:endParaRPr>
          </a:p>
        </p:txBody>
      </p:sp>
      <p:sp>
        <p:nvSpPr>
          <p:cNvPr id="138" name="Text 8"/>
          <p:cNvSpPr/>
          <p:nvPr/>
        </p:nvSpPr>
        <p:spPr>
          <a:xfrm>
            <a:off x="5074920" y="2895480"/>
            <a:ext cx="684756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The Nash Equilibrium</a:t>
            </a:r>
            <a:endParaRPr b="0" lang="en-HK" sz="1800" spc="-1" strike="noStrike">
              <a:latin typeface="Arial"/>
            </a:endParaRPr>
          </a:p>
        </p:txBody>
      </p:sp>
      <p:sp>
        <p:nvSpPr>
          <p:cNvPr id="139" name="Text 9"/>
          <p:cNvSpPr/>
          <p:nvPr/>
        </p:nvSpPr>
        <p:spPr>
          <a:xfrm>
            <a:off x="5074920" y="3276720"/>
            <a:ext cx="6809400" cy="989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Nash's doctoral thesis introduced the concept that would revolutionize economics: the </a:t>
            </a:r>
            <a:r>
              <a:rPr b="1" lang="en-US" sz="1200" spc="-1" strike="noStrike">
                <a:solidFill>
                  <a:srgbClr val="1e272e"/>
                </a:solidFill>
                <a:latin typeface="Quattrocento Sans"/>
                <a:ea typeface="Quattrocento Sans"/>
              </a:rPr>
              <a:t>Nash Equilibrium</a:t>
            </a:r>
            <a:r>
              <a:rPr b="0" lang="en-US" sz="1200" spc="-1" strike="noStrike">
                <a:solidFill>
                  <a:srgbClr val="1e272e"/>
                </a:solidFill>
                <a:latin typeface="Quattrocento Sans"/>
                <a:ea typeface="Quattrocento Sans"/>
              </a:rPr>
              <a:t>. He proved that in any finite game, there exists at least one set of strategies where no player can benefit by unilaterally changing their strategy. This elegant solution concept became the cornerstone of non-cooperative game theory.</a:t>
            </a:r>
            <a:endParaRPr b="0" lang="en-HK" sz="1200" spc="-1" strike="noStrike">
              <a:latin typeface="Arial"/>
            </a:endParaRPr>
          </a:p>
        </p:txBody>
      </p:sp>
      <p:sp>
        <p:nvSpPr>
          <p:cNvPr id="140" name="Text 10"/>
          <p:cNvSpPr/>
          <p:nvPr/>
        </p:nvSpPr>
        <p:spPr>
          <a:xfrm>
            <a:off x="5074920" y="4419720"/>
            <a:ext cx="684756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Struggle and Triumph</a:t>
            </a:r>
            <a:endParaRPr b="0" lang="en-HK" sz="1800" spc="-1" strike="noStrike">
              <a:latin typeface="Arial"/>
            </a:endParaRPr>
          </a:p>
        </p:txBody>
      </p:sp>
      <p:sp>
        <p:nvSpPr>
          <p:cNvPr id="141" name="Text 11"/>
          <p:cNvSpPr/>
          <p:nvPr/>
        </p:nvSpPr>
        <p:spPr>
          <a:xfrm>
            <a:off x="5074920" y="4800600"/>
            <a:ext cx="6809400" cy="989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In 1959, Nash was diagnosed with paranoid schizophrenia. For decades, he battled delusions and was hospitalized multiple times. Yet remarkably, by the 1980s, he experienced a spontaneous remission without medication. He returned to Princeton, resumed his research, and in 1994, was awarded the </a:t>
            </a:r>
            <a:r>
              <a:rPr b="1" lang="en-US" sz="1200" spc="-1" strike="noStrike">
                <a:solidFill>
                  <a:srgbClr val="1e272e"/>
                </a:solidFill>
                <a:latin typeface="Quattrocento Sans"/>
                <a:ea typeface="Quattrocento Sans"/>
              </a:rPr>
              <a:t>Nobel Prize in Economic Sciences</a:t>
            </a:r>
            <a:r>
              <a:rPr b="0" lang="en-US" sz="1200" spc="-1" strike="noStrike">
                <a:solidFill>
                  <a:srgbClr val="1e272e"/>
                </a:solidFill>
                <a:latin typeface="Quattrocento Sans"/>
                <a:ea typeface="Quattrocento Sans"/>
              </a:rPr>
              <a:t> for his work on game theory.</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2" name="Text 0"/>
          <p:cNvSpPr/>
          <p:nvPr/>
        </p:nvSpPr>
        <p:spPr>
          <a:xfrm>
            <a:off x="609480" y="1781280"/>
            <a:ext cx="12191040" cy="1218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03</a:t>
            </a:r>
            <a:endParaRPr b="0" lang="en-HK" sz="9600" spc="-1" strike="noStrike">
              <a:latin typeface="Arial"/>
            </a:endParaRPr>
          </a:p>
        </p:txBody>
      </p:sp>
      <p:sp>
        <p:nvSpPr>
          <p:cNvPr id="143" name="Text 1"/>
          <p:cNvSpPr/>
          <p:nvPr/>
        </p:nvSpPr>
        <p:spPr>
          <a:xfrm>
            <a:off x="609480" y="3152880"/>
            <a:ext cx="11867040" cy="11419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Core Concepts &amp;</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Mathematical Framework</a:t>
            </a:r>
            <a:endParaRPr b="0" lang="en-HK" sz="4500" spc="-1" strike="noStrike">
              <a:latin typeface="Arial"/>
            </a:endParaRPr>
          </a:p>
        </p:txBody>
      </p:sp>
      <p:sp>
        <p:nvSpPr>
          <p:cNvPr id="144" name="Shape 2"/>
          <p:cNvSpPr/>
          <p:nvPr/>
        </p:nvSpPr>
        <p:spPr>
          <a:xfrm>
            <a:off x="609480" y="4524480"/>
            <a:ext cx="1218240" cy="1800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145" name="Text 3"/>
          <p:cNvSpPr/>
          <p:nvPr/>
        </p:nvSpPr>
        <p:spPr>
          <a:xfrm>
            <a:off x="609480" y="4772160"/>
            <a:ext cx="1169568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The essential building blocks of strategic analysis</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6" name="Text 0"/>
          <p:cNvSpPr/>
          <p:nvPr/>
        </p:nvSpPr>
        <p:spPr>
          <a:xfrm>
            <a:off x="380880" y="380880"/>
            <a:ext cx="115052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2" strike="noStrike">
                <a:solidFill>
                  <a:srgbClr val="0984e3"/>
                </a:solidFill>
                <a:latin typeface="Quattrocento Sans"/>
                <a:ea typeface="Quattrocento Sans"/>
              </a:rPr>
              <a:t>MATHEMATICAL REPRESENTATION</a:t>
            </a:r>
            <a:endParaRPr b="0" lang="en-HK" sz="1200" spc="-1" strike="noStrike">
              <a:latin typeface="Arial"/>
            </a:endParaRPr>
          </a:p>
        </p:txBody>
      </p:sp>
      <p:sp>
        <p:nvSpPr>
          <p:cNvPr id="147" name="Text 1"/>
          <p:cNvSpPr/>
          <p:nvPr/>
        </p:nvSpPr>
        <p:spPr>
          <a:xfrm>
            <a:off x="380880" y="685800"/>
            <a:ext cx="11657520" cy="456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Payoff Matrices &amp; Strategic Representation</a:t>
            </a:r>
            <a:endParaRPr b="0" lang="en-HK" sz="3600" spc="-1" strike="noStrike">
              <a:latin typeface="Arial"/>
            </a:endParaRPr>
          </a:p>
        </p:txBody>
      </p:sp>
      <p:sp>
        <p:nvSpPr>
          <p:cNvPr id="148" name="Text 2"/>
          <p:cNvSpPr/>
          <p:nvPr/>
        </p:nvSpPr>
        <p:spPr>
          <a:xfrm>
            <a:off x="380880" y="1371600"/>
            <a:ext cx="5656680" cy="1237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A payoff matrix is the fundamental tool for representing strategic interactions in game theory.</a:t>
            </a:r>
            <a:r>
              <a:rPr b="0" lang="en-US" sz="1500" spc="-1" strike="noStrike">
                <a:solidFill>
                  <a:srgbClr val="1e272e"/>
                </a:solidFill>
                <a:latin typeface="Quattrocento Sans"/>
                <a:ea typeface="Quattrocento Sans"/>
              </a:rPr>
              <a:t> It organizes all possible outcomes based on the strategies chosen by each player, enabling systematic analysis of decision-making scenarios.</a:t>
            </a:r>
            <a:endParaRPr b="0" lang="en-HK" sz="1500" spc="-1" strike="noStrike">
              <a:latin typeface="Arial"/>
            </a:endParaRPr>
          </a:p>
        </p:txBody>
      </p:sp>
      <p:sp>
        <p:nvSpPr>
          <p:cNvPr id="149" name="Text 3"/>
          <p:cNvSpPr/>
          <p:nvPr/>
        </p:nvSpPr>
        <p:spPr>
          <a:xfrm>
            <a:off x="380880" y="2762280"/>
            <a:ext cx="5647320" cy="837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Each cell in the matrix shows the payoff for every player given a specific combination of strategies. By examining the matrix, we can identify dominant strategies, Nash equilibria, and predict rational behavior.</a:t>
            </a:r>
            <a:endParaRPr b="0" lang="en-HK" sz="1350" spc="-1" strike="noStrike">
              <a:latin typeface="Arial"/>
            </a:endParaRPr>
          </a:p>
        </p:txBody>
      </p:sp>
      <p:sp>
        <p:nvSpPr>
          <p:cNvPr id="150" name="Shape 4"/>
          <p:cNvSpPr/>
          <p:nvPr/>
        </p:nvSpPr>
        <p:spPr>
          <a:xfrm>
            <a:off x="399960" y="3750480"/>
            <a:ext cx="5542560" cy="1599120"/>
          </a:xfrm>
          <a:custGeom>
            <a:avLst/>
            <a:gdLst/>
            <a:ahLst/>
            <a:rect l="l" t="t" r="r" b="b"/>
            <a:pathLst>
              <a:path w="5543550" h="1600200">
                <a:moveTo>
                  <a:pt x="0" y="0"/>
                </a:moveTo>
                <a:lnTo>
                  <a:pt x="5543550" y="0"/>
                </a:lnTo>
                <a:lnTo>
                  <a:pt x="5543550" y="1600200"/>
                </a:lnTo>
                <a:lnTo>
                  <a:pt x="0" y="1600200"/>
                </a:lnTo>
                <a:lnTo>
                  <a:pt x="0" y="0"/>
                </a:lnTo>
                <a:close/>
              </a:path>
            </a:pathLst>
          </a:custGeom>
          <a:solidFill>
            <a:srgbClr val="f8f9fa"/>
          </a:solidFill>
          <a:ln w="0">
            <a:noFill/>
          </a:ln>
        </p:spPr>
        <p:style>
          <a:lnRef idx="0"/>
          <a:fillRef idx="0"/>
          <a:effectRef idx="0"/>
          <a:fontRef idx="minor"/>
        </p:style>
      </p:sp>
      <p:sp>
        <p:nvSpPr>
          <p:cNvPr id="151" name="Shape 5"/>
          <p:cNvSpPr/>
          <p:nvPr/>
        </p:nvSpPr>
        <p:spPr>
          <a:xfrm>
            <a:off x="399960" y="3750480"/>
            <a:ext cx="37080" cy="1599120"/>
          </a:xfrm>
          <a:custGeom>
            <a:avLst/>
            <a:gdLst/>
            <a:ahLst/>
            <a:rect l="l" t="t" r="r" b="b"/>
            <a:pathLst>
              <a:path w="38100" h="1600200">
                <a:moveTo>
                  <a:pt x="0" y="0"/>
                </a:moveTo>
                <a:lnTo>
                  <a:pt x="38100" y="0"/>
                </a:lnTo>
                <a:lnTo>
                  <a:pt x="38100" y="1600200"/>
                </a:lnTo>
                <a:lnTo>
                  <a:pt x="0" y="1600200"/>
                </a:lnTo>
                <a:lnTo>
                  <a:pt x="0" y="0"/>
                </a:lnTo>
                <a:close/>
              </a:path>
            </a:pathLst>
          </a:custGeom>
          <a:solidFill>
            <a:srgbClr val="0984e3"/>
          </a:solidFill>
          <a:ln w="0">
            <a:noFill/>
          </a:ln>
        </p:spPr>
        <p:style>
          <a:lnRef idx="0"/>
          <a:fillRef idx="0"/>
          <a:effectRef idx="0"/>
          <a:fontRef idx="minor"/>
        </p:style>
      </p:sp>
      <p:sp>
        <p:nvSpPr>
          <p:cNvPr id="152" name="Text 6"/>
          <p:cNvSpPr/>
          <p:nvPr/>
        </p:nvSpPr>
        <p:spPr>
          <a:xfrm>
            <a:off x="609480" y="3940920"/>
            <a:ext cx="5237640" cy="26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Matrix Components</a:t>
            </a:r>
            <a:endParaRPr b="0" lang="en-HK" sz="1500" spc="-1" strike="noStrike">
              <a:latin typeface="Arial"/>
            </a:endParaRPr>
          </a:p>
        </p:txBody>
      </p:sp>
      <p:sp>
        <p:nvSpPr>
          <p:cNvPr id="153" name="Text 7"/>
          <p:cNvSpPr/>
          <p:nvPr/>
        </p:nvSpPr>
        <p:spPr>
          <a:xfrm>
            <a:off x="609480" y="4321800"/>
            <a:ext cx="521856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Rows:</a:t>
            </a:r>
            <a:r>
              <a:rPr b="0" lang="en-US" sz="1200" spc="-1" strike="noStrike">
                <a:solidFill>
                  <a:srgbClr val="636e72"/>
                </a:solidFill>
                <a:latin typeface="Quattrocento Sans"/>
                <a:ea typeface="Quattrocento Sans"/>
              </a:rPr>
              <a:t> Strategies available to Player 1</a:t>
            </a:r>
            <a:endParaRPr b="0" lang="en-HK" sz="1200" spc="-1" strike="noStrike">
              <a:latin typeface="Arial"/>
            </a:endParaRPr>
          </a:p>
        </p:txBody>
      </p:sp>
      <p:sp>
        <p:nvSpPr>
          <p:cNvPr id="154" name="Text 8"/>
          <p:cNvSpPr/>
          <p:nvPr/>
        </p:nvSpPr>
        <p:spPr>
          <a:xfrm>
            <a:off x="609480" y="4626720"/>
            <a:ext cx="521856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Columns:</a:t>
            </a:r>
            <a:r>
              <a:rPr b="0" lang="en-US" sz="1200" spc="-1" strike="noStrike">
                <a:solidFill>
                  <a:srgbClr val="636e72"/>
                </a:solidFill>
                <a:latin typeface="Quattrocento Sans"/>
                <a:ea typeface="Quattrocento Sans"/>
              </a:rPr>
              <a:t> Strategies available to Player 2</a:t>
            </a:r>
            <a:endParaRPr b="0" lang="en-HK" sz="1200" spc="-1" strike="noStrike">
              <a:latin typeface="Arial"/>
            </a:endParaRPr>
          </a:p>
        </p:txBody>
      </p:sp>
      <p:sp>
        <p:nvSpPr>
          <p:cNvPr id="155" name="Text 9"/>
          <p:cNvSpPr/>
          <p:nvPr/>
        </p:nvSpPr>
        <p:spPr>
          <a:xfrm>
            <a:off x="609480" y="4931640"/>
            <a:ext cx="521856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Cells:</a:t>
            </a:r>
            <a:r>
              <a:rPr b="0" lang="en-US" sz="1200" spc="-1" strike="noStrike">
                <a:solidFill>
                  <a:srgbClr val="636e72"/>
                </a:solidFill>
                <a:latin typeface="Quattrocento Sans"/>
                <a:ea typeface="Quattrocento Sans"/>
              </a:rPr>
              <a:t> Payoffs (Player 1, Player 2)</a:t>
            </a:r>
            <a:endParaRPr b="0" lang="en-HK" sz="1200" spc="-1" strike="noStrike">
              <a:latin typeface="Arial"/>
            </a:endParaRPr>
          </a:p>
        </p:txBody>
      </p:sp>
      <p:sp>
        <p:nvSpPr>
          <p:cNvPr id="156" name="Shape 10"/>
          <p:cNvSpPr/>
          <p:nvPr/>
        </p:nvSpPr>
        <p:spPr>
          <a:xfrm>
            <a:off x="6253200" y="1618200"/>
            <a:ext cx="5551920" cy="3485160"/>
          </a:xfrm>
          <a:custGeom>
            <a:avLst/>
            <a:gdLst/>
            <a:ahLst/>
            <a:rect l="l" t="t" r="r" b="b"/>
            <a:pathLst>
              <a:path w="5553075" h="3486150">
                <a:moveTo>
                  <a:pt x="0" y="0"/>
                </a:moveTo>
                <a:lnTo>
                  <a:pt x="5553075" y="0"/>
                </a:lnTo>
                <a:lnTo>
                  <a:pt x="5553075" y="3486150"/>
                </a:lnTo>
                <a:lnTo>
                  <a:pt x="0" y="3486150"/>
                </a:lnTo>
                <a:lnTo>
                  <a:pt x="0" y="0"/>
                </a:lnTo>
                <a:close/>
              </a:path>
            </a:pathLst>
          </a:custGeom>
          <a:solidFill>
            <a:srgbClr val="ffffff"/>
          </a:solidFill>
          <a:ln w="12700">
            <a:solidFill>
              <a:srgbClr val="e0e0e0"/>
            </a:solidFill>
            <a:round/>
          </a:ln>
        </p:spPr>
        <p:style>
          <a:lnRef idx="0"/>
          <a:fillRef idx="0"/>
          <a:effectRef idx="0"/>
          <a:fontRef idx="minor"/>
        </p:style>
      </p:sp>
      <p:sp>
        <p:nvSpPr>
          <p:cNvPr id="157" name="Text 11"/>
          <p:cNvSpPr/>
          <p:nvPr/>
        </p:nvSpPr>
        <p:spPr>
          <a:xfrm>
            <a:off x="6438960" y="1851480"/>
            <a:ext cx="5180400" cy="2656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2d3436"/>
                </a:solidFill>
                <a:latin typeface="Oranienbaum"/>
                <a:ea typeface="Oranienbaum"/>
              </a:rPr>
              <a:t>Example: Pricing Game</a:t>
            </a:r>
            <a:endParaRPr b="0" lang="en-HK" sz="1500" spc="-1" strike="noStrike">
              <a:latin typeface="Arial"/>
            </a:endParaRPr>
          </a:p>
        </p:txBody>
      </p:sp>
      <p:sp>
        <p:nvSpPr>
          <p:cNvPr id="158" name="Text 12"/>
          <p:cNvSpPr/>
          <p:nvPr/>
        </p:nvSpPr>
        <p:spPr>
          <a:xfrm>
            <a:off x="6448320" y="2270520"/>
            <a:ext cx="5161320" cy="2275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200" spc="-1" strike="noStrike">
                <a:solidFill>
                  <a:srgbClr val="636e72"/>
                </a:solidFill>
                <a:latin typeface="Quattrocento Sans"/>
                <a:ea typeface="Quattrocento Sans"/>
              </a:rPr>
              <a:t>Two firms deciding whether to lower prices</a:t>
            </a:r>
            <a:endParaRPr b="0" lang="en-HK" sz="1200" spc="-1" strike="noStrike">
              <a:latin typeface="Arial"/>
            </a:endParaRPr>
          </a:p>
        </p:txBody>
      </p:sp>
      <p:graphicFrame>
        <p:nvGraphicFramePr>
          <p:cNvPr id="159" name="Table 0"/>
          <p:cNvGraphicFramePr/>
          <p:nvPr/>
        </p:nvGraphicFramePr>
        <p:xfrm>
          <a:off x="6486480" y="2651400"/>
          <a:ext cx="5085720" cy="1409040"/>
        </p:xfrm>
        <a:graphic>
          <a:graphicData uri="http://schemas.openxmlformats.org/drawingml/2006/table">
            <a:tbl>
              <a:tblPr/>
              <a:tblGrid>
                <a:gridCol w="1749600"/>
                <a:gridCol w="1730160"/>
                <a:gridCol w="1606320"/>
              </a:tblGrid>
              <a:tr h="469800">
                <a:tc>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1" lang="en-US" sz="1200" spc="-1" strike="noStrike">
                          <a:solidFill>
                            <a:srgbClr val="2d3436"/>
                          </a:solidFill>
                          <a:latin typeface="微软雅黑"/>
                          <a:ea typeface="微软雅黑"/>
                        </a:rPr>
                        <a:t>Firm B: Lower</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1" lang="en-US" sz="1200" spc="-1" strike="noStrike">
                          <a:solidFill>
                            <a:srgbClr val="2d3436"/>
                          </a:solidFill>
                          <a:latin typeface="微软雅黑"/>
                          <a:ea typeface="微软雅黑"/>
                        </a:rPr>
                        <a:t>Firm B: Keep</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469800">
                <a:tc>
                  <a:txBody>
                    <a:bodyPr lIns="114120" rIns="114120" anchor="ctr">
                      <a:noAutofit/>
                    </a:bodyPr>
                    <a:p>
                      <a:pPr>
                        <a:lnSpc>
                          <a:spcPct val="100000"/>
                        </a:lnSpc>
                        <a:buNone/>
                      </a:pPr>
                      <a:r>
                        <a:rPr b="1" lang="en-US" sz="1200" spc="-1" strike="noStrike">
                          <a:solidFill>
                            <a:srgbClr val="2d3436"/>
                          </a:solidFill>
                          <a:latin typeface="微软雅黑"/>
                          <a:ea typeface="微软雅黑"/>
                        </a:rPr>
                        <a:t>(4, 4)</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(4, 4)</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Firm A: Lower Prices</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r>
              <a:tr h="469800">
                <a:tc>
                  <a:txBody>
                    <a:bodyPr lIns="114120" rIns="114120" anchor="ctr">
                      <a:noAutofit/>
                    </a:bodyPr>
                    <a:p>
                      <a:pPr>
                        <a:lnSpc>
                          <a:spcPct val="100000"/>
                        </a:lnSpc>
                        <a:buNone/>
                      </a:pPr>
                      <a:r>
                        <a:rPr b="1" lang="en-US" sz="1200" spc="-1" strike="noStrike">
                          <a:solidFill>
                            <a:srgbClr val="2d3436"/>
                          </a:solidFill>
                          <a:latin typeface="微软雅黑"/>
                          <a:ea typeface="微软雅黑"/>
                        </a:rPr>
                        <a:t>Firm A: Lower Prices</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(4, 4)</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(8, 8)</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r>
            </a:tbl>
          </a:graphicData>
        </a:graphic>
      </p:graphicFrame>
      <p:sp>
        <p:nvSpPr>
          <p:cNvPr id="160" name="Shape 13"/>
          <p:cNvSpPr/>
          <p:nvPr/>
        </p:nvSpPr>
        <p:spPr>
          <a:xfrm>
            <a:off x="6486480" y="4218480"/>
            <a:ext cx="5085360" cy="8280"/>
          </a:xfrm>
          <a:custGeom>
            <a:avLst/>
            <a:gdLst/>
            <a:ahLst/>
            <a:rect l="l" t="t" r="r" b="b"/>
            <a:pathLst>
              <a:path w="5086350" h="9525">
                <a:moveTo>
                  <a:pt x="0" y="0"/>
                </a:moveTo>
                <a:lnTo>
                  <a:pt x="5086350" y="0"/>
                </a:lnTo>
                <a:lnTo>
                  <a:pt x="5086350" y="9525"/>
                </a:lnTo>
                <a:lnTo>
                  <a:pt x="0" y="9525"/>
                </a:lnTo>
                <a:lnTo>
                  <a:pt x="0" y="0"/>
                </a:lnTo>
                <a:close/>
              </a:path>
            </a:pathLst>
          </a:custGeom>
          <a:solidFill>
            <a:srgbClr val="e0e0e0"/>
          </a:solidFill>
          <a:ln w="0">
            <a:noFill/>
          </a:ln>
        </p:spPr>
        <p:style>
          <a:lnRef idx="0"/>
          <a:fillRef idx="0"/>
          <a:effectRef idx="0"/>
          <a:fontRef idx="minor"/>
        </p:style>
      </p:sp>
      <p:sp>
        <p:nvSpPr>
          <p:cNvPr id="161" name="Text 14"/>
          <p:cNvSpPr/>
          <p:nvPr/>
        </p:nvSpPr>
        <p:spPr>
          <a:xfrm>
            <a:off x="6486480" y="4375440"/>
            <a:ext cx="5161320" cy="494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Interpretation:</a:t>
            </a:r>
            <a:r>
              <a:rPr b="0" lang="en-US" sz="1200" spc="-1" strike="noStrike">
                <a:solidFill>
                  <a:srgbClr val="636e72"/>
                </a:solidFill>
                <a:latin typeface="Quattrocento Sans"/>
                <a:ea typeface="Quattrocento Sans"/>
              </a:rPr>
              <a:t> If both firms lower prices, each earns 5. If Firm A lowers while B keeps, A captures market share and earns 10 while B earns only 2.</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2" name="Text 0"/>
          <p:cNvSpPr/>
          <p:nvPr/>
        </p:nvSpPr>
        <p:spPr>
          <a:xfrm>
            <a:off x="380880" y="380880"/>
            <a:ext cx="115052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2" strike="noStrike">
                <a:solidFill>
                  <a:srgbClr val="0984e3"/>
                </a:solidFill>
                <a:latin typeface="Quattrocento Sans"/>
                <a:ea typeface="Quattrocento Sans"/>
              </a:rPr>
              <a:t>CORE CONCEPT</a:t>
            </a:r>
            <a:endParaRPr b="0" lang="en-HK" sz="1200" spc="-1" strike="noStrike">
              <a:latin typeface="Arial"/>
            </a:endParaRPr>
          </a:p>
        </p:txBody>
      </p:sp>
      <p:sp>
        <p:nvSpPr>
          <p:cNvPr id="163" name="Text 1"/>
          <p:cNvSpPr/>
          <p:nvPr/>
        </p:nvSpPr>
        <p:spPr>
          <a:xfrm>
            <a:off x="380880" y="685800"/>
            <a:ext cx="11657520" cy="456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Nash Equilibrium: The Cornerstone Concept</a:t>
            </a:r>
            <a:endParaRPr b="0" lang="en-HK" sz="3600" spc="-1" strike="noStrike">
              <a:latin typeface="Arial"/>
            </a:endParaRPr>
          </a:p>
        </p:txBody>
      </p:sp>
      <p:sp>
        <p:nvSpPr>
          <p:cNvPr id="164" name="Text 2"/>
          <p:cNvSpPr/>
          <p:nvPr/>
        </p:nvSpPr>
        <p:spPr>
          <a:xfrm>
            <a:off x="380880" y="1419120"/>
            <a:ext cx="5496120" cy="827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A Nash Equilibrium is a set of strategies, one for each player, such that no player can improve their outcome by unilaterally changing their own strategy.</a:t>
            </a:r>
            <a:endParaRPr b="0" lang="en-HK" sz="1500" spc="-1" strike="noStrike">
              <a:latin typeface="Arial"/>
            </a:endParaRPr>
          </a:p>
        </p:txBody>
      </p:sp>
      <p:sp>
        <p:nvSpPr>
          <p:cNvPr id="165" name="Text 3"/>
          <p:cNvSpPr/>
          <p:nvPr/>
        </p:nvSpPr>
        <p:spPr>
          <a:xfrm>
            <a:off x="380880" y="2452680"/>
            <a:ext cx="5647320" cy="837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In equilibrium, each player's strategy is optimal given the strategies of all other players. This creates a stable state where everyone is doing the best they can, given what others are doing.</a:t>
            </a:r>
            <a:endParaRPr b="0" lang="en-HK" sz="1350" spc="-1" strike="noStrike">
              <a:latin typeface="Arial"/>
            </a:endParaRPr>
          </a:p>
        </p:txBody>
      </p:sp>
      <p:sp>
        <p:nvSpPr>
          <p:cNvPr id="166" name="Shape 4"/>
          <p:cNvSpPr/>
          <p:nvPr/>
        </p:nvSpPr>
        <p:spPr>
          <a:xfrm>
            <a:off x="380880" y="3867120"/>
            <a:ext cx="5561640" cy="2018160"/>
          </a:xfrm>
          <a:custGeom>
            <a:avLst/>
            <a:gdLst/>
            <a:ahLst/>
            <a:rect l="l" t="t" r="r" b="b"/>
            <a:pathLst>
              <a:path w="5562600" h="2019300">
                <a:moveTo>
                  <a:pt x="0" y="0"/>
                </a:moveTo>
                <a:lnTo>
                  <a:pt x="5562600" y="0"/>
                </a:lnTo>
                <a:lnTo>
                  <a:pt x="5562600" y="2019300"/>
                </a:lnTo>
                <a:lnTo>
                  <a:pt x="0" y="2019300"/>
                </a:lnTo>
                <a:lnTo>
                  <a:pt x="0" y="0"/>
                </a:lnTo>
                <a:close/>
              </a:path>
            </a:pathLst>
          </a:custGeom>
          <a:solidFill>
            <a:srgbClr val="2d3436"/>
          </a:solidFill>
          <a:ln w="0">
            <a:noFill/>
          </a:ln>
        </p:spPr>
        <p:style>
          <a:lnRef idx="0"/>
          <a:fillRef idx="0"/>
          <a:effectRef idx="0"/>
          <a:fontRef idx="minor"/>
        </p:style>
      </p:sp>
      <p:sp>
        <p:nvSpPr>
          <p:cNvPr id="167" name="Text 5"/>
          <p:cNvSpPr/>
          <p:nvPr/>
        </p:nvSpPr>
        <p:spPr>
          <a:xfrm>
            <a:off x="609480" y="4095720"/>
            <a:ext cx="5199480" cy="26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Oranienbaum"/>
                <a:ea typeface="Oranienbaum"/>
              </a:rPr>
              <a:t>Mathematical Definition</a:t>
            </a:r>
            <a:endParaRPr b="0" lang="en-HK" sz="1500" spc="-1" strike="noStrike">
              <a:latin typeface="Arial"/>
            </a:endParaRPr>
          </a:p>
        </p:txBody>
      </p:sp>
      <p:sp>
        <p:nvSpPr>
          <p:cNvPr id="168" name="Text 6"/>
          <p:cNvSpPr/>
          <p:nvPr/>
        </p:nvSpPr>
        <p:spPr>
          <a:xfrm>
            <a:off x="609480" y="4476600"/>
            <a:ext cx="5180400" cy="246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For a strategy profile s * = ( s</a:t>
            </a:r>
            <a:r>
              <a:rPr b="0" lang="en-US" sz="900" spc="-1" strike="noStrike">
                <a:solidFill>
                  <a:srgbClr val="e0e0e0"/>
                </a:solidFill>
                <a:latin typeface="Quattrocento Sans"/>
                <a:ea typeface="Quattrocento Sans"/>
              </a:rPr>
              <a:t>1</a:t>
            </a:r>
            <a:r>
              <a:rPr b="0" lang="en-US" sz="1200" spc="-1" strike="noStrike">
                <a:solidFill>
                  <a:srgbClr val="e0e0e0"/>
                </a:solidFill>
                <a:latin typeface="Quattrocento Sans"/>
                <a:ea typeface="Quattrocento Sans"/>
              </a:rPr>
              <a:t> *, ..., s</a:t>
            </a:r>
            <a:r>
              <a:rPr b="0" lang="en-US" sz="900" spc="-1" strike="noStrike">
                <a:solidFill>
                  <a:srgbClr val="e0e0e0"/>
                </a:solidFill>
                <a:latin typeface="Quattrocento Sans"/>
                <a:ea typeface="Quattrocento Sans"/>
              </a:rPr>
              <a:t>n</a:t>
            </a:r>
            <a:r>
              <a:rPr b="0" lang="en-US" sz="1200" spc="-1" strike="noStrike">
                <a:solidFill>
                  <a:srgbClr val="e0e0e0"/>
                </a:solidFill>
                <a:latin typeface="Quattrocento Sans"/>
                <a:ea typeface="Quattrocento Sans"/>
              </a:rPr>
              <a:t> *) to be a Nash Equilibrium:</a:t>
            </a:r>
            <a:endParaRPr b="0" lang="en-HK" sz="1200" spc="-1" strike="noStrike">
              <a:latin typeface="Arial"/>
            </a:endParaRPr>
          </a:p>
        </p:txBody>
      </p:sp>
      <p:sp>
        <p:nvSpPr>
          <p:cNvPr id="169" name="Shape 7"/>
          <p:cNvSpPr/>
          <p:nvPr/>
        </p:nvSpPr>
        <p:spPr>
          <a:xfrm>
            <a:off x="609480" y="4838760"/>
            <a:ext cx="5104440" cy="456120"/>
          </a:xfrm>
          <a:custGeom>
            <a:avLst/>
            <a:gdLst/>
            <a:ahLst/>
            <a:rect l="l" t="t" r="r" b="b"/>
            <a:pathLst>
              <a:path w="5105400" h="457200">
                <a:moveTo>
                  <a:pt x="0" y="0"/>
                </a:moveTo>
                <a:lnTo>
                  <a:pt x="5105400" y="0"/>
                </a:lnTo>
                <a:lnTo>
                  <a:pt x="5105400" y="457200"/>
                </a:lnTo>
                <a:lnTo>
                  <a:pt x="0" y="457200"/>
                </a:lnTo>
                <a:lnTo>
                  <a:pt x="0" y="0"/>
                </a:lnTo>
                <a:close/>
              </a:path>
            </a:pathLst>
          </a:custGeom>
          <a:solidFill>
            <a:srgbClr val="1e272e"/>
          </a:solidFill>
          <a:ln w="0">
            <a:noFill/>
          </a:ln>
        </p:spPr>
        <p:style>
          <a:lnRef idx="0"/>
          <a:fillRef idx="0"/>
          <a:effectRef idx="0"/>
          <a:fontRef idx="minor"/>
        </p:style>
      </p:sp>
      <p:sp>
        <p:nvSpPr>
          <p:cNvPr id="170" name="Text 8"/>
          <p:cNvSpPr/>
          <p:nvPr/>
        </p:nvSpPr>
        <p:spPr>
          <a:xfrm>
            <a:off x="609480" y="4838760"/>
            <a:ext cx="5180400" cy="456120"/>
          </a:xfrm>
          <a:prstGeom prst="rect">
            <a:avLst/>
          </a:prstGeom>
          <a:noFill/>
          <a:ln w="0">
            <a:noFill/>
          </a:ln>
        </p:spPr>
        <p:style>
          <a:lnRef idx="0"/>
          <a:fillRef idx="0"/>
          <a:effectRef idx="0"/>
          <a:fontRef idx="minor"/>
        </p:style>
        <p:txBody>
          <a:bodyPr lIns="114480" rIns="114480" tIns="456480" bIns="456480" anchor="ctr">
            <a:noAutofit/>
          </a:bodyPr>
          <a:p>
            <a:pPr>
              <a:lnSpc>
                <a:spcPct val="130000"/>
              </a:lnSpc>
              <a:buNone/>
            </a:pPr>
            <a:r>
              <a:rPr b="0" lang="en-US" sz="1200" spc="-1" strike="noStrike">
                <a:solidFill>
                  <a:srgbClr val="ffffff"/>
                </a:solidFill>
                <a:latin typeface="MiSans"/>
                <a:ea typeface="MiSans"/>
              </a:rPr>
              <a:t>uᵢ(sᵢ*, s₋ᵢ*) ≥ uᵢ(sᵢ, s₋ᵢ*)</a:t>
            </a:r>
            <a:endParaRPr b="0" lang="en-HK" sz="1200" spc="-1" strike="noStrike">
              <a:latin typeface="Arial"/>
            </a:endParaRPr>
          </a:p>
        </p:txBody>
      </p:sp>
      <p:sp>
        <p:nvSpPr>
          <p:cNvPr id="171" name="Text 9"/>
          <p:cNvSpPr/>
          <p:nvPr/>
        </p:nvSpPr>
        <p:spPr>
          <a:xfrm>
            <a:off x="609480" y="5410080"/>
            <a:ext cx="5180400" cy="246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for all players i and all alternative strategies s</a:t>
            </a:r>
            <a:r>
              <a:rPr b="0" lang="en-US" sz="900" spc="-1" strike="noStrike">
                <a:solidFill>
                  <a:srgbClr val="e0e0e0"/>
                </a:solidFill>
                <a:latin typeface="Quattrocento Sans"/>
                <a:ea typeface="Quattrocento Sans"/>
              </a:rPr>
              <a:t>i</a:t>
            </a:r>
            <a:r>
              <a:rPr b="0" lang="en-US" sz="1200" spc="-1" strike="noStrike">
                <a:solidFill>
                  <a:srgbClr val="e0e0e0"/>
                </a:solidFill>
                <a:latin typeface="Quattrocento Sans"/>
                <a:ea typeface="Quattrocento Sans"/>
              </a:rPr>
              <a:t> .</a:t>
            </a:r>
            <a:endParaRPr b="0" lang="en-HK" sz="1200" spc="-1" strike="noStrike">
              <a:latin typeface="Arial"/>
            </a:endParaRPr>
          </a:p>
        </p:txBody>
      </p:sp>
      <p:sp>
        <p:nvSpPr>
          <p:cNvPr id="172" name="Shape 10"/>
          <p:cNvSpPr/>
          <p:nvPr/>
        </p:nvSpPr>
        <p:spPr>
          <a:xfrm>
            <a:off x="6253200" y="1376280"/>
            <a:ext cx="5551920" cy="3208680"/>
          </a:xfrm>
          <a:custGeom>
            <a:avLst/>
            <a:gdLst/>
            <a:ahLst/>
            <a:rect l="l" t="t" r="r" b="b"/>
            <a:pathLst>
              <a:path w="5553075" h="3209925">
                <a:moveTo>
                  <a:pt x="0" y="0"/>
                </a:moveTo>
                <a:lnTo>
                  <a:pt x="5553075" y="0"/>
                </a:lnTo>
                <a:lnTo>
                  <a:pt x="5553075" y="3209925"/>
                </a:lnTo>
                <a:lnTo>
                  <a:pt x="0" y="3209925"/>
                </a:lnTo>
                <a:lnTo>
                  <a:pt x="0" y="0"/>
                </a:lnTo>
                <a:close/>
              </a:path>
            </a:pathLst>
          </a:custGeom>
          <a:solidFill>
            <a:srgbClr val="ffffff"/>
          </a:solidFill>
          <a:ln w="12700">
            <a:solidFill>
              <a:srgbClr val="e0e0e0"/>
            </a:solidFill>
            <a:round/>
          </a:ln>
        </p:spPr>
        <p:style>
          <a:lnRef idx="0"/>
          <a:fillRef idx="0"/>
          <a:effectRef idx="0"/>
          <a:fontRef idx="minor"/>
        </p:style>
      </p:sp>
      <p:sp>
        <p:nvSpPr>
          <p:cNvPr id="173" name="Text 11"/>
          <p:cNvSpPr/>
          <p:nvPr/>
        </p:nvSpPr>
        <p:spPr>
          <a:xfrm>
            <a:off x="6486480" y="1609560"/>
            <a:ext cx="5180400" cy="26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Key Properties</a:t>
            </a:r>
            <a:endParaRPr b="0" lang="en-HK" sz="1500" spc="-1" strike="noStrike">
              <a:latin typeface="Arial"/>
            </a:endParaRPr>
          </a:p>
        </p:txBody>
      </p:sp>
      <p:sp>
        <p:nvSpPr>
          <p:cNvPr id="174" name="Shape 12"/>
          <p:cNvSpPr/>
          <p:nvPr/>
        </p:nvSpPr>
        <p:spPr>
          <a:xfrm>
            <a:off x="6486480" y="2028960"/>
            <a:ext cx="303840" cy="30384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75" name="Text 13"/>
          <p:cNvSpPr/>
          <p:nvPr/>
        </p:nvSpPr>
        <p:spPr>
          <a:xfrm>
            <a:off x="6453360" y="2028960"/>
            <a:ext cx="370440" cy="3038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1</a:t>
            </a:r>
            <a:endParaRPr b="0" lang="en-HK" sz="1050" spc="-1" strike="noStrike">
              <a:latin typeface="Arial"/>
            </a:endParaRPr>
          </a:p>
        </p:txBody>
      </p:sp>
      <p:sp>
        <p:nvSpPr>
          <p:cNvPr id="176" name="Text 14"/>
          <p:cNvSpPr/>
          <p:nvPr/>
        </p:nvSpPr>
        <p:spPr>
          <a:xfrm>
            <a:off x="6905520" y="2028960"/>
            <a:ext cx="306612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Stability</a:t>
            </a:r>
            <a:endParaRPr b="0" lang="en-HK" sz="1200" spc="-1" strike="noStrike">
              <a:latin typeface="Arial"/>
            </a:endParaRPr>
          </a:p>
        </p:txBody>
      </p:sp>
      <p:sp>
        <p:nvSpPr>
          <p:cNvPr id="177" name="Text 15"/>
          <p:cNvSpPr/>
          <p:nvPr/>
        </p:nvSpPr>
        <p:spPr>
          <a:xfrm>
            <a:off x="6905520" y="2295360"/>
            <a:ext cx="306612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No player has incentive to deviate unilaterally</a:t>
            </a:r>
            <a:endParaRPr b="0" lang="en-HK" sz="1200" spc="-1" strike="noStrike">
              <a:latin typeface="Arial"/>
            </a:endParaRPr>
          </a:p>
        </p:txBody>
      </p:sp>
      <p:sp>
        <p:nvSpPr>
          <p:cNvPr id="178" name="Shape 16"/>
          <p:cNvSpPr/>
          <p:nvPr/>
        </p:nvSpPr>
        <p:spPr>
          <a:xfrm>
            <a:off x="6486480" y="2638440"/>
            <a:ext cx="303840" cy="30384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79" name="Text 17"/>
          <p:cNvSpPr/>
          <p:nvPr/>
        </p:nvSpPr>
        <p:spPr>
          <a:xfrm>
            <a:off x="6453360" y="2638440"/>
            <a:ext cx="370440" cy="3038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2</a:t>
            </a:r>
            <a:endParaRPr b="0" lang="en-HK" sz="1050" spc="-1" strike="noStrike">
              <a:latin typeface="Arial"/>
            </a:endParaRPr>
          </a:p>
        </p:txBody>
      </p:sp>
      <p:sp>
        <p:nvSpPr>
          <p:cNvPr id="180" name="Text 18"/>
          <p:cNvSpPr/>
          <p:nvPr/>
        </p:nvSpPr>
        <p:spPr>
          <a:xfrm>
            <a:off x="6905520" y="2638440"/>
            <a:ext cx="366588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Self-Enforcing</a:t>
            </a:r>
            <a:endParaRPr b="0" lang="en-HK" sz="1200" spc="-1" strike="noStrike">
              <a:latin typeface="Arial"/>
            </a:endParaRPr>
          </a:p>
        </p:txBody>
      </p:sp>
      <p:sp>
        <p:nvSpPr>
          <p:cNvPr id="181" name="Text 19"/>
          <p:cNvSpPr/>
          <p:nvPr/>
        </p:nvSpPr>
        <p:spPr>
          <a:xfrm>
            <a:off x="6905520" y="2905200"/>
            <a:ext cx="366588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Equilibrium strategies are best responses to each other</a:t>
            </a:r>
            <a:endParaRPr b="0" lang="en-HK" sz="1200" spc="-1" strike="noStrike">
              <a:latin typeface="Arial"/>
            </a:endParaRPr>
          </a:p>
        </p:txBody>
      </p:sp>
      <p:sp>
        <p:nvSpPr>
          <p:cNvPr id="182" name="Shape 20"/>
          <p:cNvSpPr/>
          <p:nvPr/>
        </p:nvSpPr>
        <p:spPr>
          <a:xfrm>
            <a:off x="6486480" y="3247920"/>
            <a:ext cx="303840" cy="30384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83" name="Text 21"/>
          <p:cNvSpPr/>
          <p:nvPr/>
        </p:nvSpPr>
        <p:spPr>
          <a:xfrm>
            <a:off x="6453360" y="3247920"/>
            <a:ext cx="370440" cy="3038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3</a:t>
            </a:r>
            <a:endParaRPr b="0" lang="en-HK" sz="1050" spc="-1" strike="noStrike">
              <a:latin typeface="Arial"/>
            </a:endParaRPr>
          </a:p>
        </p:txBody>
      </p:sp>
      <p:sp>
        <p:nvSpPr>
          <p:cNvPr id="184" name="Text 22"/>
          <p:cNvSpPr/>
          <p:nvPr/>
        </p:nvSpPr>
        <p:spPr>
          <a:xfrm>
            <a:off x="6905520" y="3247920"/>
            <a:ext cx="328500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Existence</a:t>
            </a:r>
            <a:endParaRPr b="0" lang="en-HK" sz="1200" spc="-1" strike="noStrike">
              <a:latin typeface="Arial"/>
            </a:endParaRPr>
          </a:p>
        </p:txBody>
      </p:sp>
      <p:sp>
        <p:nvSpPr>
          <p:cNvPr id="185" name="Text 23"/>
          <p:cNvSpPr/>
          <p:nvPr/>
        </p:nvSpPr>
        <p:spPr>
          <a:xfrm>
            <a:off x="6905520" y="3514680"/>
            <a:ext cx="328500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Nash proved equilibrium exists in all finite games</a:t>
            </a:r>
            <a:endParaRPr b="0" lang="en-HK" sz="1200" spc="-1" strike="noStrike">
              <a:latin typeface="Arial"/>
            </a:endParaRPr>
          </a:p>
        </p:txBody>
      </p:sp>
      <p:sp>
        <p:nvSpPr>
          <p:cNvPr id="186" name="Shape 24"/>
          <p:cNvSpPr/>
          <p:nvPr/>
        </p:nvSpPr>
        <p:spPr>
          <a:xfrm>
            <a:off x="6486480" y="3857760"/>
            <a:ext cx="303840" cy="30384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87" name="Text 25"/>
          <p:cNvSpPr/>
          <p:nvPr/>
        </p:nvSpPr>
        <p:spPr>
          <a:xfrm>
            <a:off x="6453360" y="3857760"/>
            <a:ext cx="370440" cy="3038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4</a:t>
            </a:r>
            <a:endParaRPr b="0" lang="en-HK" sz="1050" spc="-1" strike="noStrike">
              <a:latin typeface="Arial"/>
            </a:endParaRPr>
          </a:p>
        </p:txBody>
      </p:sp>
      <p:sp>
        <p:nvSpPr>
          <p:cNvPr id="188" name="Text 26"/>
          <p:cNvSpPr/>
          <p:nvPr/>
        </p:nvSpPr>
        <p:spPr>
          <a:xfrm>
            <a:off x="6905520" y="3857760"/>
            <a:ext cx="413280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Non-Uniqueness</a:t>
            </a:r>
            <a:endParaRPr b="0" lang="en-HK" sz="1200" spc="-1" strike="noStrike">
              <a:latin typeface="Arial"/>
            </a:endParaRPr>
          </a:p>
        </p:txBody>
      </p:sp>
      <p:sp>
        <p:nvSpPr>
          <p:cNvPr id="189" name="Text 27"/>
          <p:cNvSpPr/>
          <p:nvPr/>
        </p:nvSpPr>
        <p:spPr>
          <a:xfrm>
            <a:off x="6905520" y="4124160"/>
            <a:ext cx="413280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Games may have multiple equilibria or none in pure strategies</a:t>
            </a:r>
            <a:endParaRPr b="0" lang="en-HK" sz="1200" spc="-1" strike="noStrike">
              <a:latin typeface="Arial"/>
            </a:endParaRPr>
          </a:p>
        </p:txBody>
      </p:sp>
      <p:sp>
        <p:nvSpPr>
          <p:cNvPr id="190" name="Shape 28"/>
          <p:cNvSpPr/>
          <p:nvPr/>
        </p:nvSpPr>
        <p:spPr>
          <a:xfrm>
            <a:off x="6267600" y="4743360"/>
            <a:ext cx="5542560" cy="1141920"/>
          </a:xfrm>
          <a:custGeom>
            <a:avLst/>
            <a:gdLst/>
            <a:ahLst/>
            <a:rect l="l" t="t" r="r" b="b"/>
            <a:pathLst>
              <a:path w="5543550" h="1143000">
                <a:moveTo>
                  <a:pt x="0" y="0"/>
                </a:moveTo>
                <a:lnTo>
                  <a:pt x="5543550" y="0"/>
                </a:lnTo>
                <a:lnTo>
                  <a:pt x="5543550" y="1143000"/>
                </a:lnTo>
                <a:lnTo>
                  <a:pt x="0" y="1143000"/>
                </a:lnTo>
                <a:lnTo>
                  <a:pt x="0" y="0"/>
                </a:lnTo>
                <a:close/>
              </a:path>
            </a:pathLst>
          </a:custGeom>
          <a:solidFill>
            <a:srgbClr val="f8f9fa"/>
          </a:solidFill>
          <a:ln w="0">
            <a:noFill/>
          </a:ln>
        </p:spPr>
        <p:style>
          <a:lnRef idx="0"/>
          <a:fillRef idx="0"/>
          <a:effectRef idx="0"/>
          <a:fontRef idx="minor"/>
        </p:style>
      </p:sp>
      <p:sp>
        <p:nvSpPr>
          <p:cNvPr id="191" name="Shape 29"/>
          <p:cNvSpPr/>
          <p:nvPr/>
        </p:nvSpPr>
        <p:spPr>
          <a:xfrm>
            <a:off x="6267600" y="4743360"/>
            <a:ext cx="37080" cy="1141920"/>
          </a:xfrm>
          <a:custGeom>
            <a:avLst/>
            <a:gdLst/>
            <a:ahLst/>
            <a:rect l="l" t="t" r="r" b="b"/>
            <a:pathLst>
              <a:path w="38100" h="1143000">
                <a:moveTo>
                  <a:pt x="0" y="0"/>
                </a:moveTo>
                <a:lnTo>
                  <a:pt x="38100" y="0"/>
                </a:lnTo>
                <a:lnTo>
                  <a:pt x="38100" y="1143000"/>
                </a:lnTo>
                <a:lnTo>
                  <a:pt x="0" y="1143000"/>
                </a:lnTo>
                <a:lnTo>
                  <a:pt x="0" y="0"/>
                </a:lnTo>
                <a:close/>
              </a:path>
            </a:pathLst>
          </a:custGeom>
          <a:solidFill>
            <a:srgbClr val="0984e3"/>
          </a:solidFill>
          <a:ln w="0">
            <a:noFill/>
          </a:ln>
        </p:spPr>
        <p:style>
          <a:lnRef idx="0"/>
          <a:fillRef idx="0"/>
          <a:effectRef idx="0"/>
          <a:fontRef idx="minor"/>
        </p:style>
      </p:sp>
      <p:sp>
        <p:nvSpPr>
          <p:cNvPr id="192" name="Text 30"/>
          <p:cNvSpPr/>
          <p:nvPr/>
        </p:nvSpPr>
        <p:spPr>
          <a:xfrm>
            <a:off x="6477120" y="4933800"/>
            <a:ext cx="5218560" cy="494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"In some ways it's a very rational thing to do, and in some ways it's almost crazy."</a:t>
            </a:r>
            <a:endParaRPr b="0" lang="en-HK" sz="1200" spc="-1" strike="noStrike">
              <a:latin typeface="Arial"/>
            </a:endParaRPr>
          </a:p>
        </p:txBody>
      </p:sp>
      <p:sp>
        <p:nvSpPr>
          <p:cNvPr id="193" name="Text 31"/>
          <p:cNvSpPr/>
          <p:nvPr/>
        </p:nvSpPr>
        <p:spPr>
          <a:xfrm>
            <a:off x="6477120" y="5505480"/>
            <a:ext cx="5209200" cy="189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636e72"/>
                </a:solidFill>
                <a:latin typeface="Quattrocento Sans"/>
                <a:ea typeface="Quattrocento Sans"/>
              </a:rPr>
              <a:t>— </a:t>
            </a:r>
            <a:r>
              <a:rPr b="0" lang="en-US" sz="1050" spc="-1" strike="noStrike">
                <a:solidFill>
                  <a:srgbClr val="636e72"/>
                </a:solidFill>
                <a:latin typeface="Quattrocento Sans"/>
                <a:ea typeface="Quattrocento Sans"/>
              </a:rPr>
              <a:t>John Nash, on game theory</a:t>
            </a:r>
            <a:endParaRPr b="0" lang="en-HK" sz="105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4" name="Text 0"/>
          <p:cNvSpPr/>
          <p:nvPr/>
        </p:nvSpPr>
        <p:spPr>
          <a:xfrm>
            <a:off x="379440" y="379440"/>
            <a:ext cx="1150776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2" strike="noStrike">
                <a:solidFill>
                  <a:srgbClr val="0984e3"/>
                </a:solidFill>
                <a:latin typeface="Quattrocento Sans"/>
                <a:ea typeface="Quattrocento Sans"/>
              </a:rPr>
              <a:t>STRATEGIC CONCEPTS</a:t>
            </a:r>
            <a:endParaRPr b="0" lang="en-HK" sz="1200" spc="-1" strike="noStrike">
              <a:latin typeface="Arial"/>
            </a:endParaRPr>
          </a:p>
        </p:txBody>
      </p:sp>
      <p:sp>
        <p:nvSpPr>
          <p:cNvPr id="195" name="Text 1"/>
          <p:cNvSpPr/>
          <p:nvPr/>
        </p:nvSpPr>
        <p:spPr>
          <a:xfrm>
            <a:off x="379440" y="683280"/>
            <a:ext cx="11659680" cy="4543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590" spc="-1" strike="noStrike">
                <a:solidFill>
                  <a:srgbClr val="2d3436"/>
                </a:solidFill>
                <a:latin typeface="Oranienbaum"/>
                <a:ea typeface="Oranienbaum"/>
              </a:rPr>
              <a:t>Dominant Strategies &amp; Mixed Strategies</a:t>
            </a:r>
            <a:endParaRPr b="0" lang="en-HK" sz="3590" spc="-1" strike="noStrike">
              <a:latin typeface="Arial"/>
            </a:endParaRPr>
          </a:p>
        </p:txBody>
      </p:sp>
      <p:sp>
        <p:nvSpPr>
          <p:cNvPr id="196" name="Text 2"/>
          <p:cNvSpPr/>
          <p:nvPr/>
        </p:nvSpPr>
        <p:spPr>
          <a:xfrm>
            <a:off x="379440" y="1366200"/>
            <a:ext cx="5682240" cy="302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90" spc="-1" strike="noStrike">
                <a:solidFill>
                  <a:srgbClr val="2d3436"/>
                </a:solidFill>
                <a:latin typeface="Oranienbaum"/>
                <a:ea typeface="Oranienbaum"/>
              </a:rPr>
              <a:t>Dominant Strategies</a:t>
            </a:r>
            <a:endParaRPr b="0" lang="en-HK" sz="1790" spc="-1" strike="noStrike">
              <a:latin typeface="Arial"/>
            </a:endParaRPr>
          </a:p>
        </p:txBody>
      </p:sp>
      <p:sp>
        <p:nvSpPr>
          <p:cNvPr id="197" name="Text 3"/>
          <p:cNvSpPr/>
          <p:nvPr/>
        </p:nvSpPr>
        <p:spPr>
          <a:xfrm>
            <a:off x="379440" y="1826280"/>
            <a:ext cx="5096160" cy="466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40" spc="-1" strike="noStrike">
                <a:solidFill>
                  <a:srgbClr val="1e272e"/>
                </a:solidFill>
                <a:latin typeface="Quattrocento Sans"/>
                <a:ea typeface="Quattrocento Sans"/>
              </a:rPr>
              <a:t>A dominant strategy is one that yields a higher payoff than any other strategy, regardless of what opponents choose.</a:t>
            </a:r>
            <a:endParaRPr b="0" lang="en-HK" sz="1340" spc="-1" strike="noStrike">
              <a:latin typeface="Arial"/>
            </a:endParaRPr>
          </a:p>
        </p:txBody>
      </p:sp>
      <p:sp>
        <p:nvSpPr>
          <p:cNvPr id="198" name="Text 4"/>
          <p:cNvSpPr/>
          <p:nvPr/>
        </p:nvSpPr>
        <p:spPr>
          <a:xfrm>
            <a:off x="379440" y="2452680"/>
            <a:ext cx="5644080" cy="739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When a player has a dominant strategy, rationality dictates they should play it. If both players have dominant strategies, their combination forms a dominant strategy equilibrium—a particularly strong solution concept.</a:t>
            </a:r>
            <a:endParaRPr b="0" lang="en-HK" sz="1200" spc="-1" strike="noStrike">
              <a:latin typeface="Arial"/>
            </a:endParaRPr>
          </a:p>
        </p:txBody>
      </p:sp>
      <p:sp>
        <p:nvSpPr>
          <p:cNvPr id="199" name="Shape 5"/>
          <p:cNvSpPr/>
          <p:nvPr/>
        </p:nvSpPr>
        <p:spPr>
          <a:xfrm>
            <a:off x="398520" y="3306600"/>
            <a:ext cx="5549400" cy="757800"/>
          </a:xfrm>
          <a:custGeom>
            <a:avLst/>
            <a:gdLst/>
            <a:ahLst/>
            <a:rect l="l" t="t" r="r" b="b"/>
            <a:pathLst>
              <a:path w="5550444" h="759035">
                <a:moveTo>
                  <a:pt x="0" y="0"/>
                </a:moveTo>
                <a:lnTo>
                  <a:pt x="5550444" y="0"/>
                </a:lnTo>
                <a:lnTo>
                  <a:pt x="5550444" y="759035"/>
                </a:lnTo>
                <a:lnTo>
                  <a:pt x="0" y="759035"/>
                </a:lnTo>
                <a:lnTo>
                  <a:pt x="0" y="0"/>
                </a:lnTo>
                <a:close/>
              </a:path>
            </a:pathLst>
          </a:custGeom>
          <a:solidFill>
            <a:srgbClr val="f8f9fa"/>
          </a:solidFill>
          <a:ln w="0">
            <a:noFill/>
          </a:ln>
        </p:spPr>
        <p:style>
          <a:lnRef idx="0"/>
          <a:fillRef idx="0"/>
          <a:effectRef idx="0"/>
          <a:fontRef idx="minor"/>
        </p:style>
      </p:sp>
      <p:sp>
        <p:nvSpPr>
          <p:cNvPr id="200" name="Shape 6"/>
          <p:cNvSpPr/>
          <p:nvPr/>
        </p:nvSpPr>
        <p:spPr>
          <a:xfrm>
            <a:off x="398520" y="3306600"/>
            <a:ext cx="36720" cy="757800"/>
          </a:xfrm>
          <a:custGeom>
            <a:avLst/>
            <a:gdLst/>
            <a:ahLst/>
            <a:rect l="l" t="t" r="r" b="b"/>
            <a:pathLst>
              <a:path w="37952" h="759035">
                <a:moveTo>
                  <a:pt x="0" y="0"/>
                </a:moveTo>
                <a:lnTo>
                  <a:pt x="37952" y="0"/>
                </a:lnTo>
                <a:lnTo>
                  <a:pt x="37952" y="759035"/>
                </a:lnTo>
                <a:lnTo>
                  <a:pt x="0" y="759035"/>
                </a:lnTo>
                <a:lnTo>
                  <a:pt x="0" y="0"/>
                </a:lnTo>
                <a:close/>
              </a:path>
            </a:pathLst>
          </a:custGeom>
          <a:solidFill>
            <a:srgbClr val="0984e3"/>
          </a:solidFill>
          <a:ln w="0">
            <a:noFill/>
          </a:ln>
        </p:spPr>
        <p:style>
          <a:lnRef idx="0"/>
          <a:fillRef idx="0"/>
          <a:effectRef idx="0"/>
          <a:fontRef idx="minor"/>
        </p:style>
      </p:sp>
      <p:sp>
        <p:nvSpPr>
          <p:cNvPr id="201" name="Text 7"/>
          <p:cNvSpPr/>
          <p:nvPr/>
        </p:nvSpPr>
        <p:spPr>
          <a:xfrm>
            <a:off x="569160" y="3458520"/>
            <a:ext cx="5302800" cy="454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1e272e"/>
                </a:solidFill>
                <a:latin typeface="Quattrocento Sans"/>
                <a:ea typeface="Quattrocento Sans"/>
              </a:rPr>
              <a:t>Strictly Dominant:</a:t>
            </a:r>
            <a:r>
              <a:rPr b="0" lang="en-US" sz="1200" spc="-1" strike="noStrike">
                <a:solidFill>
                  <a:srgbClr val="1e272e"/>
                </a:solidFill>
                <a:latin typeface="Quattrocento Sans"/>
                <a:ea typeface="Quattrocento Sans"/>
              </a:rPr>
              <a:t> Always better than all other strategies</a:t>
            </a:r>
            <a:endParaRPr b="0" lang="en-HK" sz="1200" spc="-1" strike="noStrike">
              <a:latin typeface="Arial"/>
            </a:endParaRPr>
          </a:p>
          <a:p>
            <a:pPr>
              <a:lnSpc>
                <a:spcPct val="130000"/>
              </a:lnSpc>
              <a:buNone/>
            </a:pPr>
            <a:r>
              <a:rPr b="1" lang="en-US" sz="1200" spc="-1" strike="noStrike">
                <a:solidFill>
                  <a:srgbClr val="1e272e"/>
                </a:solidFill>
                <a:latin typeface="Quattrocento Sans"/>
                <a:ea typeface="Quattrocento Sans"/>
              </a:rPr>
              <a:t>Weakly Dominant:</a:t>
            </a:r>
            <a:r>
              <a:rPr b="0" lang="en-US" sz="1200" spc="-1" strike="noStrike">
                <a:solidFill>
                  <a:srgbClr val="1e272e"/>
                </a:solidFill>
                <a:latin typeface="Quattrocento Sans"/>
                <a:ea typeface="Quattrocento Sans"/>
              </a:rPr>
              <a:t> At least as good, and sometimes better</a:t>
            </a:r>
            <a:endParaRPr b="0" lang="en-HK" sz="1200" spc="-1" strike="noStrike">
              <a:latin typeface="Arial"/>
            </a:endParaRPr>
          </a:p>
        </p:txBody>
      </p:sp>
      <p:sp>
        <p:nvSpPr>
          <p:cNvPr id="202" name="Text 8"/>
          <p:cNvSpPr/>
          <p:nvPr/>
        </p:nvSpPr>
        <p:spPr>
          <a:xfrm>
            <a:off x="379440" y="4217400"/>
            <a:ext cx="5682240" cy="302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90" spc="-1" strike="noStrike">
                <a:solidFill>
                  <a:srgbClr val="2d3436"/>
                </a:solidFill>
                <a:latin typeface="Oranienbaum"/>
                <a:ea typeface="Oranienbaum"/>
              </a:rPr>
              <a:t>Iterated Elimination</a:t>
            </a:r>
            <a:endParaRPr b="0" lang="en-HK" sz="1790" spc="-1" strike="noStrike">
              <a:latin typeface="Arial"/>
            </a:endParaRPr>
          </a:p>
        </p:txBody>
      </p:sp>
      <p:sp>
        <p:nvSpPr>
          <p:cNvPr id="203" name="Text 9"/>
          <p:cNvSpPr/>
          <p:nvPr/>
        </p:nvSpPr>
        <p:spPr>
          <a:xfrm>
            <a:off x="379440" y="4635000"/>
            <a:ext cx="5644080" cy="739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Players can eliminate dominated strategies (those always worse than alternatives), simplifying the game. This process, repeated iteratively, can sometimes lead to a unique equilibrium.</a:t>
            </a:r>
            <a:endParaRPr b="0" lang="en-HK" sz="1200" spc="-1" strike="noStrike">
              <a:latin typeface="Arial"/>
            </a:endParaRPr>
          </a:p>
        </p:txBody>
      </p:sp>
      <p:sp>
        <p:nvSpPr>
          <p:cNvPr id="204" name="Text 10"/>
          <p:cNvSpPr/>
          <p:nvPr/>
        </p:nvSpPr>
        <p:spPr>
          <a:xfrm>
            <a:off x="6249240" y="1366200"/>
            <a:ext cx="5682240" cy="302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90" spc="-1" strike="noStrike">
                <a:solidFill>
                  <a:srgbClr val="2d3436"/>
                </a:solidFill>
                <a:latin typeface="Oranienbaum"/>
                <a:ea typeface="Oranienbaum"/>
              </a:rPr>
              <a:t>Mixed Strategies</a:t>
            </a:r>
            <a:endParaRPr b="0" lang="en-HK" sz="1790" spc="-1" strike="noStrike">
              <a:latin typeface="Arial"/>
            </a:endParaRPr>
          </a:p>
        </p:txBody>
      </p:sp>
      <p:sp>
        <p:nvSpPr>
          <p:cNvPr id="205" name="Text 11"/>
          <p:cNvSpPr/>
          <p:nvPr/>
        </p:nvSpPr>
        <p:spPr>
          <a:xfrm>
            <a:off x="6249240" y="1826280"/>
            <a:ext cx="5249520" cy="466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40" spc="-1" strike="noStrike">
                <a:solidFill>
                  <a:srgbClr val="1e272e"/>
                </a:solidFill>
                <a:latin typeface="Quattrocento Sans"/>
                <a:ea typeface="Quattrocento Sans"/>
              </a:rPr>
              <a:t>When no pure strategy equilibrium exists, players can randomize their choices according to specific probabilities.</a:t>
            </a:r>
            <a:endParaRPr b="0" lang="en-HK" sz="1340" spc="-1" strike="noStrike">
              <a:latin typeface="Arial"/>
            </a:endParaRPr>
          </a:p>
        </p:txBody>
      </p:sp>
      <p:sp>
        <p:nvSpPr>
          <p:cNvPr id="206" name="Text 12"/>
          <p:cNvSpPr/>
          <p:nvPr/>
        </p:nvSpPr>
        <p:spPr>
          <a:xfrm>
            <a:off x="6249240" y="2452680"/>
            <a:ext cx="5644080" cy="739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A mixed strategy specifies the probability distribution over pure strategies. By randomizing unpredictably, players prevent opponents from exploiting predictable behavior.</a:t>
            </a:r>
            <a:endParaRPr b="0" lang="en-HK" sz="1200" spc="-1" strike="noStrike">
              <a:latin typeface="Arial"/>
            </a:endParaRPr>
          </a:p>
        </p:txBody>
      </p:sp>
      <p:sp>
        <p:nvSpPr>
          <p:cNvPr id="207" name="Shape 13"/>
          <p:cNvSpPr/>
          <p:nvPr/>
        </p:nvSpPr>
        <p:spPr>
          <a:xfrm>
            <a:off x="6249240" y="3344400"/>
            <a:ext cx="5568480" cy="2181240"/>
          </a:xfrm>
          <a:custGeom>
            <a:avLst/>
            <a:gdLst/>
            <a:ahLst/>
            <a:rect l="l" t="t" r="r" b="b"/>
            <a:pathLst>
              <a:path w="5569419" h="2182226">
                <a:moveTo>
                  <a:pt x="0" y="0"/>
                </a:moveTo>
                <a:lnTo>
                  <a:pt x="5569419" y="0"/>
                </a:lnTo>
                <a:lnTo>
                  <a:pt x="5569419" y="2182226"/>
                </a:lnTo>
                <a:lnTo>
                  <a:pt x="0" y="2182226"/>
                </a:lnTo>
                <a:lnTo>
                  <a:pt x="0" y="0"/>
                </a:lnTo>
                <a:close/>
              </a:path>
            </a:pathLst>
          </a:custGeom>
          <a:solidFill>
            <a:srgbClr val="2d3436"/>
          </a:solidFill>
          <a:ln w="0">
            <a:noFill/>
          </a:ln>
        </p:spPr>
        <p:style>
          <a:lnRef idx="0"/>
          <a:fillRef idx="0"/>
          <a:effectRef idx="0"/>
          <a:fontRef idx="minor"/>
        </p:style>
      </p:sp>
      <p:sp>
        <p:nvSpPr>
          <p:cNvPr id="208" name="Text 14"/>
          <p:cNvSpPr/>
          <p:nvPr/>
        </p:nvSpPr>
        <p:spPr>
          <a:xfrm>
            <a:off x="6438960" y="3534120"/>
            <a:ext cx="5283720" cy="26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90" spc="-1" strike="noStrike">
                <a:solidFill>
                  <a:srgbClr val="ffffff"/>
                </a:solidFill>
                <a:latin typeface="Oranienbaum"/>
                <a:ea typeface="Oranienbaum"/>
              </a:rPr>
              <a:t>The Minimax Theorem</a:t>
            </a:r>
            <a:endParaRPr b="0" lang="en-HK" sz="1490" spc="-1" strike="noStrike">
              <a:latin typeface="Arial"/>
            </a:endParaRPr>
          </a:p>
        </p:txBody>
      </p:sp>
      <p:sp>
        <p:nvSpPr>
          <p:cNvPr id="209" name="Text 15"/>
          <p:cNvSpPr/>
          <p:nvPr/>
        </p:nvSpPr>
        <p:spPr>
          <a:xfrm>
            <a:off x="6438960" y="3913920"/>
            <a:ext cx="5264640" cy="245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In two-person zero-sum games, von Neumann proved that:</a:t>
            </a:r>
            <a:endParaRPr b="0" lang="en-HK" sz="1200" spc="-1" strike="noStrike">
              <a:latin typeface="Arial"/>
            </a:endParaRPr>
          </a:p>
        </p:txBody>
      </p:sp>
      <p:sp>
        <p:nvSpPr>
          <p:cNvPr id="210" name="Shape 16"/>
          <p:cNvSpPr/>
          <p:nvPr/>
        </p:nvSpPr>
        <p:spPr>
          <a:xfrm>
            <a:off x="6438960" y="4274280"/>
            <a:ext cx="5188680" cy="454320"/>
          </a:xfrm>
          <a:custGeom>
            <a:avLst/>
            <a:gdLst/>
            <a:ahLst/>
            <a:rect l="l" t="t" r="r" b="b"/>
            <a:pathLst>
              <a:path w="5189902" h="455421">
                <a:moveTo>
                  <a:pt x="0" y="0"/>
                </a:moveTo>
                <a:lnTo>
                  <a:pt x="5189902" y="0"/>
                </a:lnTo>
                <a:lnTo>
                  <a:pt x="5189902" y="455421"/>
                </a:lnTo>
                <a:lnTo>
                  <a:pt x="0" y="455421"/>
                </a:lnTo>
                <a:lnTo>
                  <a:pt x="0" y="0"/>
                </a:lnTo>
                <a:close/>
              </a:path>
            </a:pathLst>
          </a:custGeom>
          <a:solidFill>
            <a:srgbClr val="1e272e"/>
          </a:solidFill>
          <a:ln w="0">
            <a:noFill/>
          </a:ln>
        </p:spPr>
        <p:style>
          <a:lnRef idx="0"/>
          <a:fillRef idx="0"/>
          <a:effectRef idx="0"/>
          <a:fontRef idx="minor"/>
        </p:style>
      </p:sp>
      <p:sp>
        <p:nvSpPr>
          <p:cNvPr id="211" name="Text 17"/>
          <p:cNvSpPr/>
          <p:nvPr/>
        </p:nvSpPr>
        <p:spPr>
          <a:xfrm>
            <a:off x="6438960" y="4274280"/>
            <a:ext cx="5264640" cy="454320"/>
          </a:xfrm>
          <a:prstGeom prst="rect">
            <a:avLst/>
          </a:prstGeom>
          <a:noFill/>
          <a:ln w="0">
            <a:noFill/>
          </a:ln>
        </p:spPr>
        <p:style>
          <a:lnRef idx="0"/>
          <a:fillRef idx="0"/>
          <a:effectRef idx="0"/>
          <a:fontRef idx="minor"/>
        </p:style>
        <p:txBody>
          <a:bodyPr lIns="113760" rIns="113760" tIns="227520" bIns="227520" anchor="ctr">
            <a:noAutofit/>
          </a:bodyPr>
          <a:p>
            <a:pPr>
              <a:lnSpc>
                <a:spcPct val="130000"/>
              </a:lnSpc>
              <a:buNone/>
            </a:pPr>
            <a:r>
              <a:rPr b="0" lang="en-US" sz="1200" spc="-1" strike="noStrike">
                <a:solidFill>
                  <a:srgbClr val="ffffff"/>
                </a:solidFill>
                <a:latin typeface="MiSans"/>
                <a:ea typeface="MiSans"/>
              </a:rPr>
              <a:t>maxₓ minᵧ xAyᵀ = minᵧ maxₓ xAyᵀ</a:t>
            </a:r>
            <a:endParaRPr b="0" lang="en-HK" sz="1200" spc="-1" strike="noStrike">
              <a:latin typeface="Arial"/>
            </a:endParaRPr>
          </a:p>
        </p:txBody>
      </p:sp>
      <p:sp>
        <p:nvSpPr>
          <p:cNvPr id="212" name="Text 18"/>
          <p:cNvSpPr/>
          <p:nvPr/>
        </p:nvSpPr>
        <p:spPr>
          <a:xfrm>
            <a:off x="6438960" y="4843440"/>
            <a:ext cx="5264640" cy="492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Both players have optimal mixed strategies, and the game's value is uniquely determined.</a:t>
            </a:r>
            <a:endParaRPr b="0" lang="en-HK" sz="1200" spc="-1" strike="noStrike">
              <a:latin typeface="Arial"/>
            </a:endParaRPr>
          </a:p>
        </p:txBody>
      </p:sp>
      <p:sp>
        <p:nvSpPr>
          <p:cNvPr id="213" name="Shape 19"/>
          <p:cNvSpPr/>
          <p:nvPr/>
        </p:nvSpPr>
        <p:spPr>
          <a:xfrm>
            <a:off x="6268320" y="5678640"/>
            <a:ext cx="5549400" cy="795960"/>
          </a:xfrm>
          <a:custGeom>
            <a:avLst/>
            <a:gdLst/>
            <a:ahLst/>
            <a:rect l="l" t="t" r="r" b="b"/>
            <a:pathLst>
              <a:path w="5550444" h="796987">
                <a:moveTo>
                  <a:pt x="0" y="0"/>
                </a:moveTo>
                <a:lnTo>
                  <a:pt x="5550444" y="0"/>
                </a:lnTo>
                <a:lnTo>
                  <a:pt x="5550444" y="796987"/>
                </a:lnTo>
                <a:lnTo>
                  <a:pt x="0" y="796987"/>
                </a:lnTo>
                <a:lnTo>
                  <a:pt x="0" y="0"/>
                </a:lnTo>
                <a:close/>
              </a:path>
            </a:pathLst>
          </a:custGeom>
          <a:solidFill>
            <a:srgbClr val="f8f9fa"/>
          </a:solidFill>
          <a:ln w="0">
            <a:noFill/>
          </a:ln>
        </p:spPr>
        <p:style>
          <a:lnRef idx="0"/>
          <a:fillRef idx="0"/>
          <a:effectRef idx="0"/>
          <a:fontRef idx="minor"/>
        </p:style>
      </p:sp>
      <p:sp>
        <p:nvSpPr>
          <p:cNvPr id="214" name="Shape 20"/>
          <p:cNvSpPr/>
          <p:nvPr/>
        </p:nvSpPr>
        <p:spPr>
          <a:xfrm>
            <a:off x="6268320" y="5678640"/>
            <a:ext cx="36720" cy="795960"/>
          </a:xfrm>
          <a:custGeom>
            <a:avLst/>
            <a:gdLst/>
            <a:ahLst/>
            <a:rect l="l" t="t" r="r" b="b"/>
            <a:pathLst>
              <a:path w="37952" h="796987">
                <a:moveTo>
                  <a:pt x="0" y="0"/>
                </a:moveTo>
                <a:lnTo>
                  <a:pt x="37952" y="0"/>
                </a:lnTo>
                <a:lnTo>
                  <a:pt x="37952" y="796987"/>
                </a:lnTo>
                <a:lnTo>
                  <a:pt x="0" y="796987"/>
                </a:lnTo>
                <a:lnTo>
                  <a:pt x="0" y="0"/>
                </a:lnTo>
                <a:close/>
              </a:path>
            </a:pathLst>
          </a:custGeom>
          <a:solidFill>
            <a:srgbClr val="0984e3"/>
          </a:solidFill>
          <a:ln w="0">
            <a:noFill/>
          </a:ln>
        </p:spPr>
        <p:style>
          <a:lnRef idx="0"/>
          <a:fillRef idx="0"/>
          <a:effectRef idx="0"/>
          <a:fontRef idx="minor"/>
        </p:style>
      </p:sp>
      <p:sp>
        <p:nvSpPr>
          <p:cNvPr id="215" name="Text 21"/>
          <p:cNvSpPr/>
          <p:nvPr/>
        </p:nvSpPr>
        <p:spPr>
          <a:xfrm>
            <a:off x="6438960" y="5830200"/>
            <a:ext cx="5302800" cy="492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1e272e"/>
                </a:solidFill>
                <a:latin typeface="Quattrocento Sans"/>
                <a:ea typeface="Quattrocento Sans"/>
              </a:rPr>
              <a:t>Key Insight:</a:t>
            </a:r>
            <a:r>
              <a:rPr b="0" lang="en-US" sz="1200" spc="-1" strike="noStrike">
                <a:solidFill>
                  <a:srgbClr val="1e272e"/>
                </a:solidFill>
                <a:latin typeface="Quattrocento Sans"/>
                <a:ea typeface="Quattrocento Sans"/>
              </a:rPr>
              <a:t> Mixed strategies make players indifferent to opponent's choices, creating equilibrium through unpredictability.</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6" name="Text 0"/>
          <p:cNvSpPr/>
          <p:nvPr/>
        </p:nvSpPr>
        <p:spPr>
          <a:xfrm>
            <a:off x="609480" y="2066760"/>
            <a:ext cx="12191040" cy="1218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04</a:t>
            </a:r>
            <a:endParaRPr b="0" lang="en-HK" sz="9600" spc="-1" strike="noStrike">
              <a:latin typeface="Arial"/>
            </a:endParaRPr>
          </a:p>
        </p:txBody>
      </p:sp>
      <p:sp>
        <p:nvSpPr>
          <p:cNvPr id="217" name="Text 1"/>
          <p:cNvSpPr/>
          <p:nvPr/>
        </p:nvSpPr>
        <p:spPr>
          <a:xfrm>
            <a:off x="609480" y="3438360"/>
            <a:ext cx="11867040" cy="570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Types of Games</a:t>
            </a:r>
            <a:endParaRPr b="0" lang="en-HK" sz="4500" spc="-1" strike="noStrike">
              <a:latin typeface="Arial"/>
            </a:endParaRPr>
          </a:p>
        </p:txBody>
      </p:sp>
      <p:sp>
        <p:nvSpPr>
          <p:cNvPr id="218" name="Shape 2"/>
          <p:cNvSpPr/>
          <p:nvPr/>
        </p:nvSpPr>
        <p:spPr>
          <a:xfrm>
            <a:off x="609480" y="4238640"/>
            <a:ext cx="1218240" cy="1800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219" name="Text 3"/>
          <p:cNvSpPr/>
          <p:nvPr/>
        </p:nvSpPr>
        <p:spPr>
          <a:xfrm>
            <a:off x="609480" y="4486320"/>
            <a:ext cx="1169568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Classifying strategic interactions</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20" name="Text 0"/>
          <p:cNvSpPr/>
          <p:nvPr/>
        </p:nvSpPr>
        <p:spPr>
          <a:xfrm>
            <a:off x="356400" y="356400"/>
            <a:ext cx="11549880" cy="212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20" spc="49" strike="noStrike">
                <a:solidFill>
                  <a:srgbClr val="0984e3"/>
                </a:solidFill>
                <a:latin typeface="Quattrocento Sans"/>
                <a:ea typeface="Quattrocento Sans"/>
              </a:rPr>
              <a:t>CLASSIFICATION FRAMEWORK</a:t>
            </a:r>
            <a:endParaRPr b="0" lang="en-HK" sz="1120" spc="-1" strike="noStrike">
              <a:latin typeface="Arial"/>
            </a:endParaRPr>
          </a:p>
        </p:txBody>
      </p:sp>
      <p:sp>
        <p:nvSpPr>
          <p:cNvPr id="221" name="Text 1"/>
          <p:cNvSpPr/>
          <p:nvPr/>
        </p:nvSpPr>
        <p:spPr>
          <a:xfrm>
            <a:off x="356400" y="641160"/>
            <a:ext cx="11692080" cy="426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359" spc="-1" strike="noStrike">
                <a:solidFill>
                  <a:srgbClr val="2d3436"/>
                </a:solidFill>
                <a:latin typeface="Oranienbaum"/>
                <a:ea typeface="Oranienbaum"/>
              </a:rPr>
              <a:t>Game Classification Framework</a:t>
            </a:r>
            <a:endParaRPr b="0" lang="en-HK" sz="3359" spc="-1" strike="noStrike">
              <a:latin typeface="Arial"/>
            </a:endParaRPr>
          </a:p>
        </p:txBody>
      </p:sp>
      <p:sp>
        <p:nvSpPr>
          <p:cNvPr id="222" name="Shape 2"/>
          <p:cNvSpPr/>
          <p:nvPr/>
        </p:nvSpPr>
        <p:spPr>
          <a:xfrm>
            <a:off x="360720" y="1287000"/>
            <a:ext cx="3694680" cy="2626200"/>
          </a:xfrm>
          <a:custGeom>
            <a:avLst/>
            <a:gdLst/>
            <a:ah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round/>
          </a:ln>
        </p:spPr>
        <p:style>
          <a:lnRef idx="0"/>
          <a:fillRef idx="0"/>
          <a:effectRef idx="0"/>
          <a:fontRef idx="minor"/>
        </p:style>
      </p:sp>
      <p:sp>
        <p:nvSpPr>
          <p:cNvPr id="223" name="Shape 3"/>
          <p:cNvSpPr/>
          <p:nvPr/>
        </p:nvSpPr>
        <p:spPr>
          <a:xfrm>
            <a:off x="543240" y="1469520"/>
            <a:ext cx="426240" cy="42624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24" name="Shape 4"/>
          <p:cNvSpPr/>
          <p:nvPr/>
        </p:nvSpPr>
        <p:spPr>
          <a:xfrm>
            <a:off x="656640" y="1594080"/>
            <a:ext cx="199440" cy="177120"/>
          </a:xfrm>
          <a:custGeom>
            <a:avLst/>
            <a:gdLst/>
            <a:ahLst/>
            <a:rect l="l" t="t" r="r" b="b"/>
            <a:pathLst>
              <a:path w="200380" h="178115">
                <a:moveTo>
                  <a:pt x="93545" y="29640"/>
                </a:moveTo>
                <a:lnTo>
                  <a:pt x="52982" y="74725"/>
                </a:lnTo>
                <a:cubicBezTo>
                  <a:pt x="51382" y="76499"/>
                  <a:pt x="51452" y="79247"/>
                  <a:pt x="53156" y="80952"/>
                </a:cubicBezTo>
                <a:cubicBezTo>
                  <a:pt x="63767" y="91562"/>
                  <a:pt x="80987" y="91562"/>
                  <a:pt x="91597" y="80952"/>
                </a:cubicBezTo>
                <a:lnTo>
                  <a:pt x="102660" y="69889"/>
                </a:lnTo>
                <a:cubicBezTo>
                  <a:pt x="104121" y="68428"/>
                  <a:pt x="105965" y="67628"/>
                  <a:pt x="107843" y="67489"/>
                </a:cubicBezTo>
                <a:cubicBezTo>
                  <a:pt x="110209" y="67280"/>
                  <a:pt x="112644" y="68080"/>
                  <a:pt x="114453" y="69889"/>
                </a:cubicBezTo>
                <a:lnTo>
                  <a:pt x="175889" y="130804"/>
                </a:lnTo>
                <a:lnTo>
                  <a:pt x="200380" y="111322"/>
                </a:lnTo>
                <a:lnTo>
                  <a:pt x="200380" y="11132"/>
                </a:lnTo>
                <a:lnTo>
                  <a:pt x="161417" y="33397"/>
                </a:lnTo>
                <a:lnTo>
                  <a:pt x="153138" y="27865"/>
                </a:lnTo>
                <a:cubicBezTo>
                  <a:pt x="147641" y="24213"/>
                  <a:pt x="141205" y="22264"/>
                  <a:pt x="134595" y="22264"/>
                </a:cubicBezTo>
                <a:lnTo>
                  <a:pt x="110105" y="22264"/>
                </a:lnTo>
                <a:cubicBezTo>
                  <a:pt x="109722" y="22264"/>
                  <a:pt x="109304" y="22264"/>
                  <a:pt x="108922" y="22299"/>
                </a:cubicBezTo>
                <a:cubicBezTo>
                  <a:pt x="103043" y="22612"/>
                  <a:pt x="97511" y="25256"/>
                  <a:pt x="93545" y="29640"/>
                </a:cubicBezTo>
                <a:close/>
                <a:moveTo>
                  <a:pt x="40563" y="63558"/>
                </a:moveTo>
                <a:lnTo>
                  <a:pt x="77717" y="22264"/>
                </a:lnTo>
                <a:lnTo>
                  <a:pt x="63941" y="22264"/>
                </a:lnTo>
                <a:cubicBezTo>
                  <a:pt x="55070" y="22264"/>
                  <a:pt x="46581" y="25778"/>
                  <a:pt x="40319" y="32040"/>
                </a:cubicBezTo>
                <a:lnTo>
                  <a:pt x="38963" y="33397"/>
                </a:lnTo>
                <a:lnTo>
                  <a:pt x="0" y="11132"/>
                </a:lnTo>
                <a:lnTo>
                  <a:pt x="0" y="111322"/>
                </a:lnTo>
                <a:lnTo>
                  <a:pt x="54409" y="156651"/>
                </a:lnTo>
                <a:cubicBezTo>
                  <a:pt x="62410" y="163330"/>
                  <a:pt x="72499" y="166983"/>
                  <a:pt x="82900" y="166983"/>
                </a:cubicBezTo>
                <a:lnTo>
                  <a:pt x="88362" y="166983"/>
                </a:lnTo>
                <a:lnTo>
                  <a:pt x="85927" y="164548"/>
                </a:lnTo>
                <a:cubicBezTo>
                  <a:pt x="82657" y="161278"/>
                  <a:pt x="82657" y="155990"/>
                  <a:pt x="85927" y="152755"/>
                </a:cubicBezTo>
                <a:cubicBezTo>
                  <a:pt x="89197" y="149520"/>
                  <a:pt x="94485" y="149485"/>
                  <a:pt x="97720" y="152755"/>
                </a:cubicBezTo>
                <a:lnTo>
                  <a:pt x="111983" y="167018"/>
                </a:lnTo>
                <a:lnTo>
                  <a:pt x="115114" y="167018"/>
                </a:lnTo>
                <a:cubicBezTo>
                  <a:pt x="121759" y="167018"/>
                  <a:pt x="128264" y="165522"/>
                  <a:pt x="134178" y="162739"/>
                </a:cubicBezTo>
                <a:lnTo>
                  <a:pt x="124890" y="153416"/>
                </a:lnTo>
                <a:cubicBezTo>
                  <a:pt x="121619" y="150146"/>
                  <a:pt x="121619" y="144858"/>
                  <a:pt x="124890" y="141623"/>
                </a:cubicBezTo>
                <a:cubicBezTo>
                  <a:pt x="128160" y="138387"/>
                  <a:pt x="133447" y="138353"/>
                  <a:pt x="136683" y="141623"/>
                </a:cubicBezTo>
                <a:lnTo>
                  <a:pt x="147815" y="152755"/>
                </a:lnTo>
                <a:lnTo>
                  <a:pt x="153903" y="146667"/>
                </a:lnTo>
                <a:cubicBezTo>
                  <a:pt x="156999" y="143571"/>
                  <a:pt x="157903" y="139083"/>
                  <a:pt x="156547" y="135152"/>
                </a:cubicBezTo>
                <a:lnTo>
                  <a:pt x="108574" y="87562"/>
                </a:lnTo>
                <a:lnTo>
                  <a:pt x="103390" y="92745"/>
                </a:lnTo>
                <a:cubicBezTo>
                  <a:pt x="86240" y="109896"/>
                  <a:pt x="58479" y="109896"/>
                  <a:pt x="41328" y="92745"/>
                </a:cubicBezTo>
                <a:cubicBezTo>
                  <a:pt x="33327" y="84744"/>
                  <a:pt x="33014" y="71907"/>
                  <a:pt x="40563" y="63523"/>
                </a:cubicBezTo>
                <a:close/>
              </a:path>
            </a:pathLst>
          </a:custGeom>
          <a:solidFill>
            <a:srgbClr val="ffffff"/>
          </a:solidFill>
          <a:ln w="0">
            <a:noFill/>
          </a:ln>
        </p:spPr>
        <p:style>
          <a:lnRef idx="0"/>
          <a:fillRef idx="0"/>
          <a:effectRef idx="0"/>
          <a:fontRef idx="minor"/>
        </p:style>
      </p:sp>
      <p:sp>
        <p:nvSpPr>
          <p:cNvPr id="225" name="Text 5"/>
          <p:cNvSpPr/>
          <p:nvPr/>
        </p:nvSpPr>
        <p:spPr>
          <a:xfrm>
            <a:off x="1077480" y="1558440"/>
            <a:ext cx="2341080" cy="24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Cooperative vs Non-Cooperative</a:t>
            </a:r>
            <a:endParaRPr b="0" lang="en-HK" sz="1400" spc="-1" strike="noStrike">
              <a:latin typeface="Arial"/>
            </a:endParaRPr>
          </a:p>
        </p:txBody>
      </p:sp>
      <p:sp>
        <p:nvSpPr>
          <p:cNvPr id="226" name="Text 6"/>
          <p:cNvSpPr/>
          <p:nvPr/>
        </p:nvSpPr>
        <p:spPr>
          <a:xfrm>
            <a:off x="543240" y="2003760"/>
            <a:ext cx="3400920" cy="693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Cooperative games</a:t>
            </a:r>
            <a:r>
              <a:rPr b="0" lang="en-US" sz="1120" spc="-1" strike="noStrike">
                <a:solidFill>
                  <a:srgbClr val="1e272e"/>
                </a:solidFill>
                <a:latin typeface="Quattrocento Sans"/>
                <a:ea typeface="Quattrocento Sans"/>
              </a:rPr>
              <a:t> allow binding agreements and coalition formation. Players work together to maximize collective payoff, then divide the gains.</a:t>
            </a:r>
            <a:endParaRPr b="0" lang="en-HK" sz="1120" spc="-1" strike="noStrike">
              <a:latin typeface="Arial"/>
            </a:endParaRPr>
          </a:p>
        </p:txBody>
      </p:sp>
      <p:sp>
        <p:nvSpPr>
          <p:cNvPr id="227" name="Text 7"/>
          <p:cNvSpPr/>
          <p:nvPr/>
        </p:nvSpPr>
        <p:spPr>
          <a:xfrm>
            <a:off x="543240" y="2805480"/>
            <a:ext cx="3400920" cy="925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Non-cooperative games</a:t>
            </a:r>
            <a:r>
              <a:rPr b="0" lang="en-US" sz="1120" spc="-1" strike="noStrike">
                <a:solidFill>
                  <a:srgbClr val="636e72"/>
                </a:solidFill>
                <a:latin typeface="Quattrocento Sans"/>
                <a:ea typeface="Quattrocento Sans"/>
              </a:rPr>
              <a:t> assume independent decision-making without enforceable agreements. Each player pursues self-interest through strategic interaction.</a:t>
            </a:r>
            <a:endParaRPr b="0" lang="en-HK" sz="1120" spc="-1" strike="noStrike">
              <a:latin typeface="Arial"/>
            </a:endParaRPr>
          </a:p>
        </p:txBody>
      </p:sp>
      <p:sp>
        <p:nvSpPr>
          <p:cNvPr id="228" name="Shape 8"/>
          <p:cNvSpPr/>
          <p:nvPr/>
        </p:nvSpPr>
        <p:spPr>
          <a:xfrm>
            <a:off x="4246200" y="1287000"/>
            <a:ext cx="3694680" cy="2626200"/>
          </a:xfrm>
          <a:custGeom>
            <a:avLst/>
            <a:gdLst/>
            <a:ah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round/>
          </a:ln>
        </p:spPr>
        <p:style>
          <a:lnRef idx="0"/>
          <a:fillRef idx="0"/>
          <a:effectRef idx="0"/>
          <a:fontRef idx="minor"/>
        </p:style>
      </p:sp>
      <p:sp>
        <p:nvSpPr>
          <p:cNvPr id="229" name="Shape 9"/>
          <p:cNvSpPr/>
          <p:nvPr/>
        </p:nvSpPr>
        <p:spPr>
          <a:xfrm>
            <a:off x="4428720" y="1469520"/>
            <a:ext cx="426240" cy="42624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30" name="Shape 10"/>
          <p:cNvSpPr/>
          <p:nvPr/>
        </p:nvSpPr>
        <p:spPr>
          <a:xfrm>
            <a:off x="4542120" y="1594080"/>
            <a:ext cx="199440" cy="177120"/>
          </a:xfrm>
          <a:custGeom>
            <a:avLst/>
            <a:gdLst/>
            <a:ahLst/>
            <a:rect l="l" t="t" r="r" b="b"/>
            <a:pathLst>
              <a:path w="200380" h="178115">
                <a:moveTo>
                  <a:pt x="100190" y="11132"/>
                </a:moveTo>
                <a:cubicBezTo>
                  <a:pt x="72081" y="11132"/>
                  <a:pt x="49573" y="23934"/>
                  <a:pt x="33188" y="39171"/>
                </a:cubicBezTo>
                <a:cubicBezTo>
                  <a:pt x="16907" y="54304"/>
                  <a:pt x="6018" y="72359"/>
                  <a:pt x="835" y="84779"/>
                </a:cubicBezTo>
                <a:cubicBezTo>
                  <a:pt x="-313" y="87527"/>
                  <a:pt x="-313" y="90588"/>
                  <a:pt x="835" y="93337"/>
                </a:cubicBezTo>
                <a:cubicBezTo>
                  <a:pt x="6018" y="105756"/>
                  <a:pt x="16907" y="123846"/>
                  <a:pt x="33188" y="138944"/>
                </a:cubicBezTo>
                <a:cubicBezTo>
                  <a:pt x="49573" y="154146"/>
                  <a:pt x="72081" y="166983"/>
                  <a:pt x="100190" y="166983"/>
                </a:cubicBezTo>
                <a:cubicBezTo>
                  <a:pt x="128299" y="166983"/>
                  <a:pt x="150807" y="154181"/>
                  <a:pt x="167192" y="138944"/>
                </a:cubicBezTo>
                <a:cubicBezTo>
                  <a:pt x="183473" y="123811"/>
                  <a:pt x="194361" y="105756"/>
                  <a:pt x="199545" y="93337"/>
                </a:cubicBezTo>
                <a:cubicBezTo>
                  <a:pt x="200693" y="90588"/>
                  <a:pt x="200693" y="87527"/>
                  <a:pt x="199545" y="84779"/>
                </a:cubicBezTo>
                <a:cubicBezTo>
                  <a:pt x="194361" y="72359"/>
                  <a:pt x="183473" y="54270"/>
                  <a:pt x="167192" y="39171"/>
                </a:cubicBezTo>
                <a:cubicBezTo>
                  <a:pt x="150807" y="23969"/>
                  <a:pt x="128299" y="11132"/>
                  <a:pt x="100190" y="11132"/>
                </a:cubicBezTo>
                <a:close/>
                <a:moveTo>
                  <a:pt x="50095" y="89058"/>
                </a:moveTo>
                <a:cubicBezTo>
                  <a:pt x="50095" y="61410"/>
                  <a:pt x="72542" y="38963"/>
                  <a:pt x="100190" y="38963"/>
                </a:cubicBezTo>
                <a:cubicBezTo>
                  <a:pt x="127838" y="38963"/>
                  <a:pt x="150285" y="61410"/>
                  <a:pt x="150285" y="89058"/>
                </a:cubicBezTo>
                <a:cubicBezTo>
                  <a:pt x="150285" y="116706"/>
                  <a:pt x="127838" y="139153"/>
                  <a:pt x="100190" y="139153"/>
                </a:cubicBezTo>
                <a:cubicBezTo>
                  <a:pt x="72542" y="139153"/>
                  <a:pt x="50095" y="116706"/>
                  <a:pt x="50095" y="89058"/>
                </a:cubicBezTo>
                <a:close/>
                <a:moveTo>
                  <a:pt x="100190" y="66793"/>
                </a:moveTo>
                <a:cubicBezTo>
                  <a:pt x="100190" y="79074"/>
                  <a:pt x="90206" y="89058"/>
                  <a:pt x="77925" y="89058"/>
                </a:cubicBezTo>
                <a:cubicBezTo>
                  <a:pt x="73925" y="89058"/>
                  <a:pt x="70168" y="88014"/>
                  <a:pt x="66898" y="86136"/>
                </a:cubicBezTo>
                <a:cubicBezTo>
                  <a:pt x="66550" y="89927"/>
                  <a:pt x="66863" y="93824"/>
                  <a:pt x="67907" y="97685"/>
                </a:cubicBezTo>
                <a:cubicBezTo>
                  <a:pt x="72672" y="115497"/>
                  <a:pt x="91006" y="126072"/>
                  <a:pt x="108817" y="121306"/>
                </a:cubicBezTo>
                <a:cubicBezTo>
                  <a:pt x="126629" y="116540"/>
                  <a:pt x="137205" y="98207"/>
                  <a:pt x="132439" y="80395"/>
                </a:cubicBezTo>
                <a:cubicBezTo>
                  <a:pt x="128194" y="64497"/>
                  <a:pt x="113131" y="54374"/>
                  <a:pt x="97268" y="55765"/>
                </a:cubicBezTo>
                <a:cubicBezTo>
                  <a:pt x="99111" y="59001"/>
                  <a:pt x="100190" y="62758"/>
                  <a:pt x="100190" y="66793"/>
                </a:cubicBezTo>
                <a:close/>
              </a:path>
            </a:pathLst>
          </a:custGeom>
          <a:solidFill>
            <a:srgbClr val="ffffff"/>
          </a:solidFill>
          <a:ln w="0">
            <a:noFill/>
          </a:ln>
        </p:spPr>
        <p:style>
          <a:lnRef idx="0"/>
          <a:fillRef idx="0"/>
          <a:effectRef idx="0"/>
          <a:fontRef idx="minor"/>
        </p:style>
      </p:sp>
      <p:sp>
        <p:nvSpPr>
          <p:cNvPr id="231" name="Text 11"/>
          <p:cNvSpPr/>
          <p:nvPr/>
        </p:nvSpPr>
        <p:spPr>
          <a:xfrm>
            <a:off x="4962960" y="1558440"/>
            <a:ext cx="2430360" cy="24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Perfect vs Imperfect Information</a:t>
            </a:r>
            <a:endParaRPr b="0" lang="en-HK" sz="1400" spc="-1" strike="noStrike">
              <a:latin typeface="Arial"/>
            </a:endParaRPr>
          </a:p>
        </p:txBody>
      </p:sp>
      <p:sp>
        <p:nvSpPr>
          <p:cNvPr id="232" name="Text 12"/>
          <p:cNvSpPr/>
          <p:nvPr/>
        </p:nvSpPr>
        <p:spPr>
          <a:xfrm>
            <a:off x="4428720" y="2003760"/>
            <a:ext cx="3400920" cy="693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Perfect information games</a:t>
            </a:r>
            <a:r>
              <a:rPr b="0" lang="en-US" sz="1120" spc="-1" strike="noStrike">
                <a:solidFill>
                  <a:srgbClr val="1e272e"/>
                </a:solidFill>
                <a:latin typeface="Quattrocento Sans"/>
                <a:ea typeface="Quattrocento Sans"/>
              </a:rPr>
              <a:t> (e.g., chess) allow players to observe all previous moves. Each decision is made with complete knowledge of the game's history.</a:t>
            </a:r>
            <a:endParaRPr b="0" lang="en-HK" sz="1120" spc="-1" strike="noStrike">
              <a:latin typeface="Arial"/>
            </a:endParaRPr>
          </a:p>
        </p:txBody>
      </p:sp>
      <p:sp>
        <p:nvSpPr>
          <p:cNvPr id="233" name="Text 13"/>
          <p:cNvSpPr/>
          <p:nvPr/>
        </p:nvSpPr>
        <p:spPr>
          <a:xfrm>
            <a:off x="4428720" y="2805480"/>
            <a:ext cx="3400920" cy="693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Imperfect information games</a:t>
            </a:r>
            <a:r>
              <a:rPr b="0" lang="en-US" sz="1120" spc="-1" strike="noStrike">
                <a:solidFill>
                  <a:srgbClr val="636e72"/>
                </a:solidFill>
                <a:latin typeface="Quattrocento Sans"/>
                <a:ea typeface="Quattrocento Sans"/>
              </a:rPr>
              <a:t> (e.g., poker) involve hidden information. Players must make decisions without knowing opponents' cards or actions.</a:t>
            </a:r>
            <a:endParaRPr b="0" lang="en-HK" sz="1120" spc="-1" strike="noStrike">
              <a:latin typeface="Arial"/>
            </a:endParaRPr>
          </a:p>
        </p:txBody>
      </p:sp>
      <p:sp>
        <p:nvSpPr>
          <p:cNvPr id="234" name="Shape 14"/>
          <p:cNvSpPr/>
          <p:nvPr/>
        </p:nvSpPr>
        <p:spPr>
          <a:xfrm>
            <a:off x="8131680" y="1287000"/>
            <a:ext cx="3694680" cy="2626200"/>
          </a:xfrm>
          <a:custGeom>
            <a:avLst/>
            <a:gdLst/>
            <a:ah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round/>
          </a:ln>
        </p:spPr>
        <p:style>
          <a:lnRef idx="0"/>
          <a:fillRef idx="0"/>
          <a:effectRef idx="0"/>
          <a:fontRef idx="minor"/>
        </p:style>
      </p:sp>
      <p:sp>
        <p:nvSpPr>
          <p:cNvPr id="235" name="Shape 15"/>
          <p:cNvSpPr/>
          <p:nvPr/>
        </p:nvSpPr>
        <p:spPr>
          <a:xfrm>
            <a:off x="8314200" y="1469520"/>
            <a:ext cx="426240" cy="42624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36" name="Shape 16"/>
          <p:cNvSpPr/>
          <p:nvPr/>
        </p:nvSpPr>
        <p:spPr>
          <a:xfrm>
            <a:off x="8439120" y="1594080"/>
            <a:ext cx="177120" cy="177120"/>
          </a:xfrm>
          <a:custGeom>
            <a:avLst/>
            <a:gdLst/>
            <a:ahLst/>
            <a:rect l="l" t="t" r="r" b="b"/>
            <a:pathLst>
              <a:path w="178115" h="178115">
                <a:moveTo>
                  <a:pt x="89058" y="0"/>
                </a:moveTo>
                <a:cubicBezTo>
                  <a:pt x="138210" y="0"/>
                  <a:pt x="178115" y="39905"/>
                  <a:pt x="178115" y="89058"/>
                </a:cubicBezTo>
                <a:cubicBezTo>
                  <a:pt x="178115" y="138210"/>
                  <a:pt x="138210" y="178115"/>
                  <a:pt x="89058" y="178115"/>
                </a:cubicBezTo>
                <a:cubicBezTo>
                  <a:pt x="39905" y="178115"/>
                  <a:pt x="0" y="138210"/>
                  <a:pt x="0" y="89058"/>
                </a:cubicBezTo>
                <a:cubicBezTo>
                  <a:pt x="0" y="39905"/>
                  <a:pt x="39905" y="0"/>
                  <a:pt x="89058" y="0"/>
                </a:cubicBezTo>
                <a:close/>
                <a:moveTo>
                  <a:pt x="80709" y="41746"/>
                </a:moveTo>
                <a:lnTo>
                  <a:pt x="80709" y="89058"/>
                </a:lnTo>
                <a:cubicBezTo>
                  <a:pt x="80709" y="91841"/>
                  <a:pt x="82100" y="94450"/>
                  <a:pt x="84431" y="96015"/>
                </a:cubicBezTo>
                <a:lnTo>
                  <a:pt x="117828" y="118280"/>
                </a:lnTo>
                <a:cubicBezTo>
                  <a:pt x="121654" y="120854"/>
                  <a:pt x="126838" y="119810"/>
                  <a:pt x="129412" y="115949"/>
                </a:cubicBezTo>
                <a:cubicBezTo>
                  <a:pt x="131986" y="112087"/>
                  <a:pt x="130943" y="106939"/>
                  <a:pt x="127081" y="104364"/>
                </a:cubicBezTo>
                <a:lnTo>
                  <a:pt x="97407" y="84605"/>
                </a:lnTo>
                <a:lnTo>
                  <a:pt x="97407" y="41746"/>
                </a:lnTo>
                <a:cubicBezTo>
                  <a:pt x="97407" y="37119"/>
                  <a:pt x="93685" y="33397"/>
                  <a:pt x="89058" y="33397"/>
                </a:cubicBezTo>
                <a:cubicBezTo>
                  <a:pt x="84431" y="33397"/>
                  <a:pt x="80709" y="37119"/>
                  <a:pt x="80709" y="41746"/>
                </a:cubicBezTo>
                <a:close/>
              </a:path>
            </a:pathLst>
          </a:custGeom>
          <a:solidFill>
            <a:srgbClr val="ffffff"/>
          </a:solidFill>
          <a:ln w="0">
            <a:noFill/>
          </a:ln>
        </p:spPr>
        <p:style>
          <a:lnRef idx="0"/>
          <a:fillRef idx="0"/>
          <a:effectRef idx="0"/>
          <a:fontRef idx="minor"/>
        </p:style>
      </p:sp>
      <p:sp>
        <p:nvSpPr>
          <p:cNvPr id="237" name="Text 17"/>
          <p:cNvSpPr/>
          <p:nvPr/>
        </p:nvSpPr>
        <p:spPr>
          <a:xfrm>
            <a:off x="8848800" y="1558440"/>
            <a:ext cx="2038320" cy="24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Simultaneous vs Sequential</a:t>
            </a:r>
            <a:endParaRPr b="0" lang="en-HK" sz="1400" spc="-1" strike="noStrike">
              <a:latin typeface="Arial"/>
            </a:endParaRPr>
          </a:p>
        </p:txBody>
      </p:sp>
      <p:sp>
        <p:nvSpPr>
          <p:cNvPr id="238" name="Text 18"/>
          <p:cNvSpPr/>
          <p:nvPr/>
        </p:nvSpPr>
        <p:spPr>
          <a:xfrm>
            <a:off x="8314200" y="2003760"/>
            <a:ext cx="3400920" cy="693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Simultaneous games</a:t>
            </a:r>
            <a:r>
              <a:rPr b="0" lang="en-US" sz="1120" spc="-1" strike="noStrike">
                <a:solidFill>
                  <a:srgbClr val="1e272e"/>
                </a:solidFill>
                <a:latin typeface="Quattrocento Sans"/>
                <a:ea typeface="Quattrocento Sans"/>
              </a:rPr>
              <a:t> require players to choose strategies without knowing others' choices. Represented by payoff matrices.</a:t>
            </a:r>
            <a:endParaRPr b="0" lang="en-HK" sz="1120" spc="-1" strike="noStrike">
              <a:latin typeface="Arial"/>
            </a:endParaRPr>
          </a:p>
        </p:txBody>
      </p:sp>
      <p:sp>
        <p:nvSpPr>
          <p:cNvPr id="239" name="Text 19"/>
          <p:cNvSpPr/>
          <p:nvPr/>
        </p:nvSpPr>
        <p:spPr>
          <a:xfrm>
            <a:off x="8314200" y="2805480"/>
            <a:ext cx="3400920" cy="693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Sequential games</a:t>
            </a:r>
            <a:r>
              <a:rPr b="0" lang="en-US" sz="1120" spc="-1" strike="noStrike">
                <a:solidFill>
                  <a:srgbClr val="636e72"/>
                </a:solidFill>
                <a:latin typeface="Quattrocento Sans"/>
                <a:ea typeface="Quattrocento Sans"/>
              </a:rPr>
              <a:t> involve turn-taking, with later players observing earlier moves. Analyzed using game trees and backward induction.</a:t>
            </a:r>
            <a:endParaRPr b="0" lang="en-HK" sz="1120" spc="-1" strike="noStrike">
              <a:latin typeface="Arial"/>
            </a:endParaRPr>
          </a:p>
        </p:txBody>
      </p:sp>
      <p:sp>
        <p:nvSpPr>
          <p:cNvPr id="240" name="Shape 20"/>
          <p:cNvSpPr/>
          <p:nvPr/>
        </p:nvSpPr>
        <p:spPr>
          <a:xfrm>
            <a:off x="360720" y="4101120"/>
            <a:ext cx="3694680" cy="2394720"/>
          </a:xfrm>
          <a:custGeom>
            <a:avLst/>
            <a:gdLst/>
            <a:ahLst/>
            <a:rect l="l" t="t" r="r" b="b"/>
            <a:pathLst>
              <a:path w="3695895" h="2395652">
                <a:moveTo>
                  <a:pt x="0" y="0"/>
                </a:moveTo>
                <a:lnTo>
                  <a:pt x="3695895" y="0"/>
                </a:lnTo>
                <a:lnTo>
                  <a:pt x="3695895" y="2395652"/>
                </a:lnTo>
                <a:lnTo>
                  <a:pt x="0" y="2395652"/>
                </a:lnTo>
                <a:lnTo>
                  <a:pt x="0" y="0"/>
                </a:lnTo>
                <a:close/>
              </a:path>
            </a:pathLst>
          </a:custGeom>
          <a:solidFill>
            <a:srgbClr val="ffffff"/>
          </a:solidFill>
          <a:ln w="12700">
            <a:solidFill>
              <a:srgbClr val="e0e0e0"/>
            </a:solidFill>
            <a:round/>
          </a:ln>
        </p:spPr>
        <p:style>
          <a:lnRef idx="0"/>
          <a:fillRef idx="0"/>
          <a:effectRef idx="0"/>
          <a:fontRef idx="minor"/>
        </p:style>
      </p:sp>
      <p:sp>
        <p:nvSpPr>
          <p:cNvPr id="241" name="Shape 21"/>
          <p:cNvSpPr/>
          <p:nvPr/>
        </p:nvSpPr>
        <p:spPr>
          <a:xfrm>
            <a:off x="543240" y="4283640"/>
            <a:ext cx="426240" cy="42624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42" name="Shape 22"/>
          <p:cNvSpPr/>
          <p:nvPr/>
        </p:nvSpPr>
        <p:spPr>
          <a:xfrm>
            <a:off x="645840" y="4408200"/>
            <a:ext cx="221400" cy="177120"/>
          </a:xfrm>
          <a:custGeom>
            <a:avLst/>
            <a:gdLst/>
            <a:ahLst/>
            <a:rect l="l" t="t" r="r" b="b"/>
            <a:pathLst>
              <a:path w="222644" h="178115">
                <a:moveTo>
                  <a:pt x="133587" y="11132"/>
                </a:moveTo>
                <a:lnTo>
                  <a:pt x="178115" y="11132"/>
                </a:lnTo>
                <a:cubicBezTo>
                  <a:pt x="184273" y="11132"/>
                  <a:pt x="189248" y="16107"/>
                  <a:pt x="189248" y="22264"/>
                </a:cubicBezTo>
                <a:cubicBezTo>
                  <a:pt x="189248" y="28422"/>
                  <a:pt x="184273" y="33397"/>
                  <a:pt x="178115" y="33397"/>
                </a:cubicBezTo>
                <a:lnTo>
                  <a:pt x="138596" y="33397"/>
                </a:lnTo>
                <a:cubicBezTo>
                  <a:pt x="136787" y="42372"/>
                  <a:pt x="130630" y="49782"/>
                  <a:pt x="122454" y="53330"/>
                </a:cubicBezTo>
                <a:lnTo>
                  <a:pt x="122454" y="155851"/>
                </a:lnTo>
                <a:lnTo>
                  <a:pt x="178115" y="155851"/>
                </a:lnTo>
                <a:cubicBezTo>
                  <a:pt x="184273" y="155851"/>
                  <a:pt x="189248" y="160826"/>
                  <a:pt x="189248" y="166983"/>
                </a:cubicBezTo>
                <a:cubicBezTo>
                  <a:pt x="189248" y="173141"/>
                  <a:pt x="184273" y="178115"/>
                  <a:pt x="178115" y="178115"/>
                </a:cubicBezTo>
                <a:lnTo>
                  <a:pt x="44529" y="178115"/>
                </a:lnTo>
                <a:cubicBezTo>
                  <a:pt x="38371" y="178115"/>
                  <a:pt x="33397" y="173141"/>
                  <a:pt x="33397" y="166983"/>
                </a:cubicBezTo>
                <a:cubicBezTo>
                  <a:pt x="33397" y="160826"/>
                  <a:pt x="38371" y="155851"/>
                  <a:pt x="44529" y="155851"/>
                </a:cubicBezTo>
                <a:lnTo>
                  <a:pt x="100190" y="155851"/>
                </a:lnTo>
                <a:lnTo>
                  <a:pt x="100190" y="53330"/>
                </a:lnTo>
                <a:cubicBezTo>
                  <a:pt x="92015" y="49747"/>
                  <a:pt x="85857" y="42337"/>
                  <a:pt x="84048" y="33397"/>
                </a:cubicBezTo>
                <a:lnTo>
                  <a:pt x="44529" y="33397"/>
                </a:lnTo>
                <a:cubicBezTo>
                  <a:pt x="38371" y="33397"/>
                  <a:pt x="33397" y="28422"/>
                  <a:pt x="33397" y="22264"/>
                </a:cubicBezTo>
                <a:cubicBezTo>
                  <a:pt x="33397" y="16107"/>
                  <a:pt x="38371" y="11132"/>
                  <a:pt x="44529" y="11132"/>
                </a:cubicBezTo>
                <a:lnTo>
                  <a:pt x="89058" y="11132"/>
                </a:lnTo>
                <a:cubicBezTo>
                  <a:pt x="94137" y="4383"/>
                  <a:pt x="102208" y="0"/>
                  <a:pt x="111322" y="0"/>
                </a:cubicBezTo>
                <a:cubicBezTo>
                  <a:pt x="120437" y="0"/>
                  <a:pt x="128507" y="4383"/>
                  <a:pt x="133587" y="11132"/>
                </a:cubicBezTo>
                <a:close/>
                <a:moveTo>
                  <a:pt x="152929" y="111322"/>
                </a:moveTo>
                <a:lnTo>
                  <a:pt x="203302" y="111322"/>
                </a:lnTo>
                <a:lnTo>
                  <a:pt x="178115" y="68115"/>
                </a:lnTo>
                <a:lnTo>
                  <a:pt x="152929" y="111322"/>
                </a:lnTo>
                <a:close/>
                <a:moveTo>
                  <a:pt x="178115" y="144719"/>
                </a:moveTo>
                <a:cubicBezTo>
                  <a:pt x="156234" y="144719"/>
                  <a:pt x="138039" y="132891"/>
                  <a:pt x="134282" y="117271"/>
                </a:cubicBezTo>
                <a:cubicBezTo>
                  <a:pt x="133378" y="113444"/>
                  <a:pt x="134630" y="109513"/>
                  <a:pt x="136613" y="106104"/>
                </a:cubicBezTo>
                <a:lnTo>
                  <a:pt x="169731" y="49330"/>
                </a:lnTo>
                <a:cubicBezTo>
                  <a:pt x="171471" y="46338"/>
                  <a:pt x="174671" y="44529"/>
                  <a:pt x="178115" y="44529"/>
                </a:cubicBezTo>
                <a:cubicBezTo>
                  <a:pt x="181559" y="44529"/>
                  <a:pt x="184760" y="46373"/>
                  <a:pt x="186499" y="49330"/>
                </a:cubicBezTo>
                <a:lnTo>
                  <a:pt x="219618" y="106104"/>
                </a:lnTo>
                <a:cubicBezTo>
                  <a:pt x="221601" y="109513"/>
                  <a:pt x="222853" y="113444"/>
                  <a:pt x="221949" y="117271"/>
                </a:cubicBezTo>
                <a:cubicBezTo>
                  <a:pt x="218191" y="132856"/>
                  <a:pt x="199997" y="144719"/>
                  <a:pt x="178115" y="144719"/>
                </a:cubicBezTo>
                <a:close/>
                <a:moveTo>
                  <a:pt x="44111" y="68115"/>
                </a:moveTo>
                <a:lnTo>
                  <a:pt x="18925" y="111322"/>
                </a:lnTo>
                <a:lnTo>
                  <a:pt x="69333" y="111322"/>
                </a:lnTo>
                <a:lnTo>
                  <a:pt x="44111" y="68115"/>
                </a:lnTo>
                <a:close/>
                <a:moveTo>
                  <a:pt x="313" y="117271"/>
                </a:moveTo>
                <a:cubicBezTo>
                  <a:pt x="-591" y="113444"/>
                  <a:pt x="661" y="109513"/>
                  <a:pt x="2644" y="106104"/>
                </a:cubicBezTo>
                <a:lnTo>
                  <a:pt x="35762" y="49330"/>
                </a:lnTo>
                <a:cubicBezTo>
                  <a:pt x="37502" y="46338"/>
                  <a:pt x="40702" y="44529"/>
                  <a:pt x="44146" y="44529"/>
                </a:cubicBezTo>
                <a:cubicBezTo>
                  <a:pt x="47590" y="44529"/>
                  <a:pt x="50791" y="46373"/>
                  <a:pt x="52530" y="49330"/>
                </a:cubicBezTo>
                <a:lnTo>
                  <a:pt x="85648" y="106104"/>
                </a:lnTo>
                <a:cubicBezTo>
                  <a:pt x="87631" y="109513"/>
                  <a:pt x="88884" y="113444"/>
                  <a:pt x="87979" y="117271"/>
                </a:cubicBezTo>
                <a:cubicBezTo>
                  <a:pt x="84222" y="132856"/>
                  <a:pt x="66028" y="144719"/>
                  <a:pt x="44146" y="144719"/>
                </a:cubicBezTo>
                <a:cubicBezTo>
                  <a:pt x="22264" y="144719"/>
                  <a:pt x="4070" y="132891"/>
                  <a:pt x="313" y="117271"/>
                </a:cubicBezTo>
                <a:close/>
              </a:path>
            </a:pathLst>
          </a:custGeom>
          <a:solidFill>
            <a:srgbClr val="ffffff"/>
          </a:solidFill>
          <a:ln w="0">
            <a:noFill/>
          </a:ln>
        </p:spPr>
        <p:style>
          <a:lnRef idx="0"/>
          <a:fillRef idx="0"/>
          <a:effectRef idx="0"/>
          <a:fontRef idx="minor"/>
        </p:style>
      </p:sp>
      <p:sp>
        <p:nvSpPr>
          <p:cNvPr id="243" name="Text 23"/>
          <p:cNvSpPr/>
          <p:nvPr/>
        </p:nvSpPr>
        <p:spPr>
          <a:xfrm>
            <a:off x="1077480" y="4372560"/>
            <a:ext cx="1931400" cy="24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Symmetric vs Asymmetric</a:t>
            </a:r>
            <a:endParaRPr b="0" lang="en-HK" sz="1400" spc="-1" strike="noStrike">
              <a:latin typeface="Arial"/>
            </a:endParaRPr>
          </a:p>
        </p:txBody>
      </p:sp>
      <p:sp>
        <p:nvSpPr>
          <p:cNvPr id="244" name="Text 24"/>
          <p:cNvSpPr/>
          <p:nvPr/>
        </p:nvSpPr>
        <p:spPr>
          <a:xfrm>
            <a:off x="543240" y="4817880"/>
            <a:ext cx="3400920" cy="693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Symmetric games</a:t>
            </a:r>
            <a:r>
              <a:rPr b="0" lang="en-US" sz="1120" spc="-1" strike="noStrike">
                <a:solidFill>
                  <a:srgbClr val="1e272e"/>
                </a:solidFill>
                <a:latin typeface="Quattrocento Sans"/>
                <a:ea typeface="Quattrocento Sans"/>
              </a:rPr>
              <a:t> have identical strategy sets and payoff structures for all players. Players are interchangeable.</a:t>
            </a:r>
            <a:endParaRPr b="0" lang="en-HK" sz="1120" spc="-1" strike="noStrike">
              <a:latin typeface="Arial"/>
            </a:endParaRPr>
          </a:p>
        </p:txBody>
      </p:sp>
      <p:sp>
        <p:nvSpPr>
          <p:cNvPr id="245" name="Text 25"/>
          <p:cNvSpPr/>
          <p:nvPr/>
        </p:nvSpPr>
        <p:spPr>
          <a:xfrm>
            <a:off x="543240" y="5619600"/>
            <a:ext cx="3400920" cy="693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Asymmetric games</a:t>
            </a:r>
            <a:r>
              <a:rPr b="0" lang="en-US" sz="1120" spc="-1" strike="noStrike">
                <a:solidFill>
                  <a:srgbClr val="636e72"/>
                </a:solidFill>
                <a:latin typeface="Quattrocento Sans"/>
                <a:ea typeface="Quattrocento Sans"/>
              </a:rPr>
              <a:t> feature different roles, strategies, or payoff functions. Players have distinct positions and objectives.</a:t>
            </a:r>
            <a:endParaRPr b="0" lang="en-HK" sz="1120" spc="-1" strike="noStrike">
              <a:latin typeface="Arial"/>
            </a:endParaRPr>
          </a:p>
        </p:txBody>
      </p:sp>
      <p:sp>
        <p:nvSpPr>
          <p:cNvPr id="246" name="Shape 26"/>
          <p:cNvSpPr/>
          <p:nvPr/>
        </p:nvSpPr>
        <p:spPr>
          <a:xfrm>
            <a:off x="4246200" y="4101120"/>
            <a:ext cx="7586640" cy="2394720"/>
          </a:xfrm>
          <a:custGeom>
            <a:avLst/>
            <a:gdLst/>
            <a:ahLst/>
            <a:rect l="l" t="t" r="r" b="b"/>
            <a:pathLst>
              <a:path w="7587717" h="2395652">
                <a:moveTo>
                  <a:pt x="0" y="0"/>
                </a:moveTo>
                <a:lnTo>
                  <a:pt x="7587717" y="0"/>
                </a:lnTo>
                <a:lnTo>
                  <a:pt x="7587717" y="2395652"/>
                </a:lnTo>
                <a:lnTo>
                  <a:pt x="0" y="2395652"/>
                </a:lnTo>
                <a:lnTo>
                  <a:pt x="0" y="0"/>
                </a:lnTo>
                <a:close/>
              </a:path>
            </a:pathLst>
          </a:custGeom>
          <a:solidFill>
            <a:srgbClr val="ffffff"/>
          </a:solidFill>
          <a:ln w="12700">
            <a:solidFill>
              <a:srgbClr val="e0e0e0"/>
            </a:solidFill>
            <a:round/>
          </a:ln>
        </p:spPr>
        <p:style>
          <a:lnRef idx="0"/>
          <a:fillRef idx="0"/>
          <a:effectRef idx="0"/>
          <a:fontRef idx="minor"/>
        </p:style>
      </p:sp>
      <p:sp>
        <p:nvSpPr>
          <p:cNvPr id="247" name="Shape 27"/>
          <p:cNvSpPr/>
          <p:nvPr/>
        </p:nvSpPr>
        <p:spPr>
          <a:xfrm>
            <a:off x="4428720" y="4283640"/>
            <a:ext cx="426240" cy="426240"/>
          </a:xfrm>
          <a:custGeom>
            <a:avLst/>
            <a:gdLst/>
            <a:ahLst/>
            <a:rect l="l" t="t" r="r" b="b"/>
            <a:pathLst>
              <a:path w="427477" h="427477">
                <a:moveTo>
                  <a:pt x="0" y="0"/>
                </a:moveTo>
                <a:lnTo>
                  <a:pt x="427477" y="0"/>
                </a:lnTo>
                <a:lnTo>
                  <a:pt x="427477" y="427477"/>
                </a:lnTo>
                <a:lnTo>
                  <a:pt x="0" y="427477"/>
                </a:lnTo>
                <a:lnTo>
                  <a:pt x="0" y="0"/>
                </a:lnTo>
                <a:close/>
              </a:path>
            </a:pathLst>
          </a:custGeom>
          <a:solidFill>
            <a:srgbClr val="2d3436"/>
          </a:solidFill>
          <a:ln w="0">
            <a:noFill/>
          </a:ln>
        </p:spPr>
        <p:style>
          <a:lnRef idx="0"/>
          <a:fillRef idx="0"/>
          <a:effectRef idx="0"/>
          <a:fontRef idx="minor"/>
        </p:style>
      </p:sp>
      <p:sp>
        <p:nvSpPr>
          <p:cNvPr id="248" name="Shape 28"/>
          <p:cNvSpPr/>
          <p:nvPr/>
        </p:nvSpPr>
        <p:spPr>
          <a:xfrm>
            <a:off x="4553280" y="4408200"/>
            <a:ext cx="177120" cy="177120"/>
          </a:xfrm>
          <a:custGeom>
            <a:avLst/>
            <a:gdLst/>
            <a:ahLst/>
            <a:rect l="l" t="t" r="r" b="b"/>
            <a:pathLst>
              <a:path w="178115" h="178115">
                <a:moveTo>
                  <a:pt x="22264" y="22264"/>
                </a:moveTo>
                <a:cubicBezTo>
                  <a:pt x="22264" y="16107"/>
                  <a:pt x="17290" y="11132"/>
                  <a:pt x="11132" y="11132"/>
                </a:cubicBezTo>
                <a:cubicBezTo>
                  <a:pt x="4975" y="11132"/>
                  <a:pt x="0" y="16107"/>
                  <a:pt x="0" y="22264"/>
                </a:cubicBezTo>
                <a:lnTo>
                  <a:pt x="0" y="139153"/>
                </a:lnTo>
                <a:cubicBezTo>
                  <a:pt x="0" y="154529"/>
                  <a:pt x="12454" y="166983"/>
                  <a:pt x="27831" y="166983"/>
                </a:cubicBezTo>
                <a:lnTo>
                  <a:pt x="166983" y="166983"/>
                </a:lnTo>
                <a:cubicBezTo>
                  <a:pt x="173141" y="166983"/>
                  <a:pt x="178115" y="162008"/>
                  <a:pt x="178115" y="155851"/>
                </a:cubicBezTo>
                <a:cubicBezTo>
                  <a:pt x="178115" y="149693"/>
                  <a:pt x="173141" y="144719"/>
                  <a:pt x="166983" y="144719"/>
                </a:cubicBezTo>
                <a:lnTo>
                  <a:pt x="27831" y="144719"/>
                </a:lnTo>
                <a:cubicBezTo>
                  <a:pt x="24769" y="144719"/>
                  <a:pt x="22264" y="142214"/>
                  <a:pt x="22264" y="139153"/>
                </a:cubicBezTo>
                <a:lnTo>
                  <a:pt x="22264" y="22264"/>
                </a:lnTo>
                <a:close/>
                <a:moveTo>
                  <a:pt x="163713" y="52391"/>
                </a:moveTo>
                <a:cubicBezTo>
                  <a:pt x="168062" y="48042"/>
                  <a:pt x="168062" y="40980"/>
                  <a:pt x="163713" y="36632"/>
                </a:cubicBezTo>
                <a:cubicBezTo>
                  <a:pt x="159365" y="32283"/>
                  <a:pt x="152303" y="32283"/>
                  <a:pt x="147954" y="36632"/>
                </a:cubicBezTo>
                <a:lnTo>
                  <a:pt x="111322" y="73299"/>
                </a:lnTo>
                <a:lnTo>
                  <a:pt x="91354" y="53365"/>
                </a:lnTo>
                <a:cubicBezTo>
                  <a:pt x="87005" y="49017"/>
                  <a:pt x="79943" y="49017"/>
                  <a:pt x="75595" y="53365"/>
                </a:cubicBezTo>
                <a:lnTo>
                  <a:pt x="42198" y="86762"/>
                </a:lnTo>
                <a:cubicBezTo>
                  <a:pt x="37850" y="91110"/>
                  <a:pt x="37850" y="98172"/>
                  <a:pt x="42198" y="102521"/>
                </a:cubicBezTo>
                <a:cubicBezTo>
                  <a:pt x="46547" y="106869"/>
                  <a:pt x="53609" y="106869"/>
                  <a:pt x="57957" y="102521"/>
                </a:cubicBezTo>
                <a:lnTo>
                  <a:pt x="83492" y="76986"/>
                </a:lnTo>
                <a:lnTo>
                  <a:pt x="103460" y="96955"/>
                </a:lnTo>
                <a:cubicBezTo>
                  <a:pt x="107809" y="101303"/>
                  <a:pt x="114871" y="101303"/>
                  <a:pt x="119219" y="96955"/>
                </a:cubicBezTo>
                <a:lnTo>
                  <a:pt x="163748" y="52426"/>
                </a:lnTo>
                <a:close/>
              </a:path>
            </a:pathLst>
          </a:custGeom>
          <a:solidFill>
            <a:srgbClr val="ffffff"/>
          </a:solidFill>
          <a:ln w="0">
            <a:noFill/>
          </a:ln>
        </p:spPr>
        <p:style>
          <a:lnRef idx="0"/>
          <a:fillRef idx="0"/>
          <a:effectRef idx="0"/>
          <a:fontRef idx="minor"/>
        </p:style>
      </p:sp>
      <p:sp>
        <p:nvSpPr>
          <p:cNvPr id="249" name="Text 29"/>
          <p:cNvSpPr/>
          <p:nvPr/>
        </p:nvSpPr>
        <p:spPr>
          <a:xfrm>
            <a:off x="4962960" y="4372560"/>
            <a:ext cx="2047320" cy="24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Zero-Sum vs Non-Zero-Sum</a:t>
            </a:r>
            <a:endParaRPr b="0" lang="en-HK" sz="1400" spc="-1" strike="noStrike">
              <a:latin typeface="Arial"/>
            </a:endParaRPr>
          </a:p>
        </p:txBody>
      </p:sp>
      <p:sp>
        <p:nvSpPr>
          <p:cNvPr id="250" name="Text 30"/>
          <p:cNvSpPr/>
          <p:nvPr/>
        </p:nvSpPr>
        <p:spPr>
          <a:xfrm>
            <a:off x="4428720" y="4817880"/>
            <a:ext cx="3605760" cy="693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Zero-sum games</a:t>
            </a:r>
            <a:r>
              <a:rPr b="0" lang="en-US" sz="1120" spc="-1" strike="noStrike">
                <a:solidFill>
                  <a:srgbClr val="1e272e"/>
                </a:solidFill>
                <a:latin typeface="Quattrocento Sans"/>
                <a:ea typeface="Quattrocento Sans"/>
              </a:rPr>
              <a:t> represent pure competition: one player's gain equals another's loss. Total payoff is constant.</a:t>
            </a:r>
            <a:endParaRPr b="0" lang="en-HK" sz="1120" spc="-1" strike="noStrike">
              <a:latin typeface="Arial"/>
            </a:endParaRPr>
          </a:p>
        </p:txBody>
      </p:sp>
      <p:sp>
        <p:nvSpPr>
          <p:cNvPr id="251" name="Text 31"/>
          <p:cNvSpPr/>
          <p:nvPr/>
        </p:nvSpPr>
        <p:spPr>
          <a:xfrm>
            <a:off x="4428720" y="5583960"/>
            <a:ext cx="3605760" cy="461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20" spc="-1" strike="noStrike">
                <a:solidFill>
                  <a:srgbClr val="636e72"/>
                </a:solidFill>
                <a:latin typeface="Quattrocento Sans"/>
                <a:ea typeface="Quattrocento Sans"/>
              </a:rPr>
              <a:t>Examples: Poker, chess, competitive sports. Mathematically: Σpayoffs = constant</a:t>
            </a:r>
            <a:endParaRPr b="0" lang="en-HK" sz="1120" spc="-1" strike="noStrike">
              <a:latin typeface="Arial"/>
            </a:endParaRPr>
          </a:p>
        </p:txBody>
      </p:sp>
      <p:sp>
        <p:nvSpPr>
          <p:cNvPr id="252" name="Text 32"/>
          <p:cNvSpPr/>
          <p:nvPr/>
        </p:nvSpPr>
        <p:spPr>
          <a:xfrm>
            <a:off x="8109360" y="4817880"/>
            <a:ext cx="3605760" cy="693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Non-zero-sum games</a:t>
            </a:r>
            <a:r>
              <a:rPr b="0" lang="en-US" sz="1120" spc="-1" strike="noStrike">
                <a:solidFill>
                  <a:srgbClr val="1e272e"/>
                </a:solidFill>
                <a:latin typeface="Quattrocento Sans"/>
                <a:ea typeface="Quattrocento Sans"/>
              </a:rPr>
              <a:t> allow mutual gain or loss. Cooperation can benefit all players; conflict can harm everyone.</a:t>
            </a:r>
            <a:endParaRPr b="0" lang="en-HK" sz="1120" spc="-1" strike="noStrike">
              <a:latin typeface="Arial"/>
            </a:endParaRPr>
          </a:p>
        </p:txBody>
      </p:sp>
      <p:sp>
        <p:nvSpPr>
          <p:cNvPr id="253" name="Text 33"/>
          <p:cNvSpPr/>
          <p:nvPr/>
        </p:nvSpPr>
        <p:spPr>
          <a:xfrm>
            <a:off x="8109360" y="5583960"/>
            <a:ext cx="3605760" cy="461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20" spc="-1" strike="noStrike">
                <a:solidFill>
                  <a:srgbClr val="636e72"/>
                </a:solidFill>
                <a:latin typeface="Quattrocento Sans"/>
                <a:ea typeface="Quattrocento Sans"/>
              </a:rPr>
              <a:t>Examples: Prisoner's Dilemma, trade negotiations, environmental agreements.</a:t>
            </a:r>
            <a:endParaRPr b="0" lang="en-HK" sz="112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4" name="Text 0"/>
          <p:cNvSpPr/>
          <p:nvPr/>
        </p:nvSpPr>
        <p:spPr>
          <a:xfrm>
            <a:off x="609480" y="2066760"/>
            <a:ext cx="12191040" cy="1218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05</a:t>
            </a:r>
            <a:endParaRPr b="0" lang="en-HK" sz="9600" spc="-1" strike="noStrike">
              <a:latin typeface="Arial"/>
            </a:endParaRPr>
          </a:p>
        </p:txBody>
      </p:sp>
      <p:sp>
        <p:nvSpPr>
          <p:cNvPr id="255" name="Text 1"/>
          <p:cNvSpPr/>
          <p:nvPr/>
        </p:nvSpPr>
        <p:spPr>
          <a:xfrm>
            <a:off x="609480" y="3438360"/>
            <a:ext cx="11867040" cy="570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Classic Game Models</a:t>
            </a:r>
            <a:endParaRPr b="0" lang="en-HK" sz="4500" spc="-1" strike="noStrike">
              <a:latin typeface="Arial"/>
            </a:endParaRPr>
          </a:p>
        </p:txBody>
      </p:sp>
      <p:sp>
        <p:nvSpPr>
          <p:cNvPr id="256" name="Shape 2"/>
          <p:cNvSpPr/>
          <p:nvPr/>
        </p:nvSpPr>
        <p:spPr>
          <a:xfrm>
            <a:off x="609480" y="4238640"/>
            <a:ext cx="1218240" cy="1800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257" name="Text 3"/>
          <p:cNvSpPr/>
          <p:nvPr/>
        </p:nvSpPr>
        <p:spPr>
          <a:xfrm>
            <a:off x="609480" y="4486320"/>
            <a:ext cx="1169568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Iconic examples that shaped the field</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8" name="Text 0"/>
          <p:cNvSpPr/>
          <p:nvPr/>
        </p:nvSpPr>
        <p:spPr>
          <a:xfrm>
            <a:off x="380880" y="380880"/>
            <a:ext cx="115052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2" strike="noStrike">
                <a:solidFill>
                  <a:srgbClr val="0984e3"/>
                </a:solidFill>
                <a:latin typeface="Quattrocento Sans"/>
                <a:ea typeface="Quattrocento Sans"/>
              </a:rPr>
              <a:t>CLASSIC EXAMPLE</a:t>
            </a:r>
            <a:endParaRPr b="0" lang="en-HK" sz="1200" spc="-1" strike="noStrike">
              <a:latin typeface="Arial"/>
            </a:endParaRPr>
          </a:p>
        </p:txBody>
      </p:sp>
      <p:sp>
        <p:nvSpPr>
          <p:cNvPr id="259" name="Text 1"/>
          <p:cNvSpPr/>
          <p:nvPr/>
        </p:nvSpPr>
        <p:spPr>
          <a:xfrm>
            <a:off x="380880" y="685800"/>
            <a:ext cx="11657520" cy="456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The Prisoner's Dilemma</a:t>
            </a:r>
            <a:endParaRPr b="0" lang="en-HK" sz="3600" spc="-1" strike="noStrike">
              <a:latin typeface="Arial"/>
            </a:endParaRPr>
          </a:p>
        </p:txBody>
      </p:sp>
      <p:sp>
        <p:nvSpPr>
          <p:cNvPr id="260" name="Text 2"/>
          <p:cNvSpPr/>
          <p:nvPr/>
        </p:nvSpPr>
        <p:spPr>
          <a:xfrm>
            <a:off x="380880" y="1295280"/>
            <a:ext cx="5656680" cy="1237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Two suspects are arrested and interrogated separately.</a:t>
            </a:r>
            <a:r>
              <a:rPr b="0" lang="en-US" sz="1500" spc="-1" strike="noStrike">
                <a:solidFill>
                  <a:srgbClr val="1e272e"/>
                </a:solidFill>
                <a:latin typeface="Quattrocento Sans"/>
                <a:ea typeface="Quattrocento Sans"/>
              </a:rPr>
              <a:t> Each must choose: confess (defect) or remain silent (cooperate). The dilemma reveals the tension between individual rationality and collective optimality.</a:t>
            </a:r>
            <a:endParaRPr b="0" lang="en-HK" sz="1500" spc="-1" strike="noStrike">
              <a:latin typeface="Arial"/>
            </a:endParaRPr>
          </a:p>
        </p:txBody>
      </p:sp>
      <p:sp>
        <p:nvSpPr>
          <p:cNvPr id="261" name="Text 3"/>
          <p:cNvSpPr/>
          <p:nvPr/>
        </p:nvSpPr>
        <p:spPr>
          <a:xfrm>
            <a:off x="380880" y="2647800"/>
            <a:ext cx="5637600" cy="741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The paradox: rational self-interest leads both to confess, resulting in worse outcomes for both than if they had cooperated. This illustrates how individual incentives can undermine collective welfare.</a:t>
            </a:r>
            <a:endParaRPr b="0" lang="en-HK" sz="1200" spc="-1" strike="noStrike">
              <a:latin typeface="Arial"/>
            </a:endParaRPr>
          </a:p>
        </p:txBody>
      </p:sp>
      <p:sp>
        <p:nvSpPr>
          <p:cNvPr id="262" name="Shape 4"/>
          <p:cNvSpPr/>
          <p:nvPr/>
        </p:nvSpPr>
        <p:spPr>
          <a:xfrm>
            <a:off x="385920" y="3548160"/>
            <a:ext cx="5551920" cy="2027880"/>
          </a:xfrm>
          <a:custGeom>
            <a:avLst/>
            <a:gdLst/>
            <a:ahLst/>
            <a:rect l="l" t="t" r="r" b="b"/>
            <a:pathLst>
              <a:path w="5553075" h="2028825">
                <a:moveTo>
                  <a:pt x="0" y="0"/>
                </a:moveTo>
                <a:lnTo>
                  <a:pt x="5553075" y="0"/>
                </a:lnTo>
                <a:lnTo>
                  <a:pt x="5553075" y="2028825"/>
                </a:lnTo>
                <a:lnTo>
                  <a:pt x="0" y="2028825"/>
                </a:lnTo>
                <a:lnTo>
                  <a:pt x="0" y="0"/>
                </a:lnTo>
                <a:close/>
              </a:path>
            </a:pathLst>
          </a:custGeom>
          <a:solidFill>
            <a:srgbClr val="ffffff"/>
          </a:solidFill>
          <a:ln w="12700">
            <a:solidFill>
              <a:srgbClr val="e0e0e0"/>
            </a:solidFill>
            <a:round/>
          </a:ln>
        </p:spPr>
        <p:style>
          <a:lnRef idx="0"/>
          <a:fillRef idx="0"/>
          <a:effectRef idx="0"/>
          <a:fontRef idx="minor"/>
        </p:style>
      </p:sp>
      <p:sp>
        <p:nvSpPr>
          <p:cNvPr id="263" name="Text 5"/>
          <p:cNvSpPr/>
          <p:nvPr/>
        </p:nvSpPr>
        <p:spPr>
          <a:xfrm>
            <a:off x="495360" y="3705120"/>
            <a:ext cx="5333040" cy="2656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2d3436"/>
                </a:solidFill>
                <a:latin typeface="Oranienbaum"/>
                <a:ea typeface="Oranienbaum"/>
              </a:rPr>
              <a:t>Payoff Matrix (Years in Prison)</a:t>
            </a:r>
            <a:endParaRPr b="0" lang="en-HK" sz="1500" spc="-1" strike="noStrike">
              <a:latin typeface="Arial"/>
            </a:endParaRPr>
          </a:p>
        </p:txBody>
      </p:sp>
      <p:graphicFrame>
        <p:nvGraphicFramePr>
          <p:cNvPr id="264" name="Table 0"/>
          <p:cNvGraphicFramePr/>
          <p:nvPr/>
        </p:nvGraphicFramePr>
        <p:xfrm>
          <a:off x="542880" y="4086360"/>
          <a:ext cx="5238000" cy="1065960"/>
        </p:xfrm>
        <a:graphic>
          <a:graphicData uri="http://schemas.openxmlformats.org/drawingml/2006/table">
            <a:tbl>
              <a:tblPr/>
              <a:tblGrid>
                <a:gridCol w="1879560"/>
                <a:gridCol w="1507680"/>
                <a:gridCol w="1851120"/>
              </a:tblGrid>
              <a:tr h="355320">
                <a:tc>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1" lang="en-US" sz="1000" spc="-1" strike="noStrike">
                          <a:solidFill>
                            <a:srgbClr val="2d3436"/>
                          </a:solidFill>
                          <a:latin typeface="微软雅黑"/>
                          <a:ea typeface="微软雅黑"/>
                        </a:rPr>
                        <a:t>B: Silent</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1" lang="en-US" sz="1000" spc="-1" strike="noStrike">
                          <a:solidFill>
                            <a:srgbClr val="2d3436"/>
                          </a:solidFill>
                          <a:latin typeface="微软雅黑"/>
                          <a:ea typeface="微软雅黑"/>
                        </a:rPr>
                        <a:t>B: Confess</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355320">
                <a:tc>
                  <a:txBody>
                    <a:bodyPr lIns="75960" rIns="75960" anchor="ctr">
                      <a:noAutofit/>
                    </a:bodyPr>
                    <a:p>
                      <a:pPr>
                        <a:lnSpc>
                          <a:spcPct val="100000"/>
                        </a:lnSpc>
                        <a:buNone/>
                      </a:pPr>
                      <a:r>
                        <a:rPr b="1" lang="en-US" sz="1000" spc="-1" strike="noStrike">
                          <a:solidFill>
                            <a:srgbClr val="2d3436"/>
                          </a:solidFill>
                          <a:latin typeface="微软雅黑"/>
                          <a:ea typeface="微软雅黑"/>
                        </a:rPr>
                        <a:t>A: Silent</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(-1, -1)</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no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(-10, 0)</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noFill/>
                  </a:tcPr>
                </a:tc>
              </a:tr>
              <a:tr h="355680">
                <a:tc>
                  <a:txBody>
                    <a:bodyPr lIns="75960" rIns="75960" anchor="ctr">
                      <a:noAutofit/>
                    </a:bodyPr>
                    <a:p>
                      <a:pPr>
                        <a:lnSpc>
                          <a:spcPct val="100000"/>
                        </a:lnSpc>
                        <a:buNone/>
                      </a:pPr>
                      <a:r>
                        <a:rPr b="1" lang="en-US" sz="1000" spc="-1" strike="noStrike">
                          <a:solidFill>
                            <a:srgbClr val="2d3436"/>
                          </a:solidFill>
                          <a:latin typeface="微软雅黑"/>
                          <a:ea typeface="微软雅黑"/>
                        </a:rPr>
                        <a:t>A: Confess</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(0, -10)</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no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(-5, -5)</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0984e3"/>
                    </a:solidFill>
                  </a:tcPr>
                </a:tc>
              </a:tr>
            </a:tbl>
          </a:graphicData>
        </a:graphic>
      </p:graphicFrame>
      <p:sp>
        <p:nvSpPr>
          <p:cNvPr id="265" name="Text 6"/>
          <p:cNvSpPr/>
          <p:nvPr/>
        </p:nvSpPr>
        <p:spPr>
          <a:xfrm>
            <a:off x="509760" y="5229360"/>
            <a:ext cx="5304240" cy="1893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1050" spc="-1" strike="noStrike">
                <a:solidFill>
                  <a:srgbClr val="636e72"/>
                </a:solidFill>
                <a:latin typeface="Quattrocento Sans"/>
                <a:ea typeface="Quattrocento Sans"/>
              </a:rPr>
              <a:t>Nash Equilibrium highlighted in blue</a:t>
            </a:r>
            <a:endParaRPr b="0" lang="en-HK" sz="1050" spc="-1" strike="noStrike">
              <a:latin typeface="Arial"/>
            </a:endParaRPr>
          </a:p>
        </p:txBody>
      </p:sp>
      <p:sp>
        <p:nvSpPr>
          <p:cNvPr id="266" name="Shape 7"/>
          <p:cNvSpPr/>
          <p:nvPr/>
        </p:nvSpPr>
        <p:spPr>
          <a:xfrm>
            <a:off x="6253200" y="1300320"/>
            <a:ext cx="5551920" cy="1608480"/>
          </a:xfrm>
          <a:custGeom>
            <a:avLst/>
            <a:gdLst/>
            <a:ahLst/>
            <a:rect l="l" t="t" r="r" b="b"/>
            <a:pathLst>
              <a:path w="5553075" h="1609725">
                <a:moveTo>
                  <a:pt x="0" y="0"/>
                </a:moveTo>
                <a:lnTo>
                  <a:pt x="5553075" y="0"/>
                </a:lnTo>
                <a:lnTo>
                  <a:pt x="5553075" y="1609725"/>
                </a:lnTo>
                <a:lnTo>
                  <a:pt x="0" y="1609725"/>
                </a:lnTo>
                <a:lnTo>
                  <a:pt x="0" y="0"/>
                </a:lnTo>
                <a:close/>
              </a:path>
            </a:pathLst>
          </a:custGeom>
          <a:solidFill>
            <a:srgbClr val="ffffff"/>
          </a:solidFill>
          <a:ln w="12700">
            <a:solidFill>
              <a:srgbClr val="e0e0e0"/>
            </a:solidFill>
            <a:round/>
          </a:ln>
        </p:spPr>
        <p:style>
          <a:lnRef idx="0"/>
          <a:fillRef idx="0"/>
          <a:effectRef idx="0"/>
          <a:fontRef idx="minor"/>
        </p:style>
      </p:sp>
      <p:sp>
        <p:nvSpPr>
          <p:cNvPr id="267" name="Text 8"/>
          <p:cNvSpPr/>
          <p:nvPr/>
        </p:nvSpPr>
        <p:spPr>
          <a:xfrm>
            <a:off x="6448320" y="1495440"/>
            <a:ext cx="5256720" cy="26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Why Confession is Dominant</a:t>
            </a:r>
            <a:endParaRPr b="0" lang="en-HK" sz="1500" spc="-1" strike="noStrike">
              <a:latin typeface="Arial"/>
            </a:endParaRPr>
          </a:p>
        </p:txBody>
      </p:sp>
      <p:sp>
        <p:nvSpPr>
          <p:cNvPr id="268" name="Text 9"/>
          <p:cNvSpPr/>
          <p:nvPr/>
        </p:nvSpPr>
        <p:spPr>
          <a:xfrm>
            <a:off x="6448320" y="1876320"/>
            <a:ext cx="52376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If B is silent:</a:t>
            </a:r>
            <a:r>
              <a:rPr b="0" lang="en-US" sz="1200" spc="-1" strike="noStrike">
                <a:solidFill>
                  <a:srgbClr val="636e72"/>
                </a:solidFill>
                <a:latin typeface="Quattrocento Sans"/>
                <a:ea typeface="Quattrocento Sans"/>
              </a:rPr>
              <a:t> A gets 0 years (confess) vs. -1 year (silent) → Confess better</a:t>
            </a:r>
            <a:endParaRPr b="0" lang="en-HK" sz="1200" spc="-1" strike="noStrike">
              <a:latin typeface="Arial"/>
            </a:endParaRPr>
          </a:p>
        </p:txBody>
      </p:sp>
      <p:sp>
        <p:nvSpPr>
          <p:cNvPr id="269" name="Text 10"/>
          <p:cNvSpPr/>
          <p:nvPr/>
        </p:nvSpPr>
        <p:spPr>
          <a:xfrm>
            <a:off x="6448320" y="2181240"/>
            <a:ext cx="52376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If B confesses:</a:t>
            </a:r>
            <a:r>
              <a:rPr b="0" lang="en-US" sz="1200" spc="-1" strike="noStrike">
                <a:solidFill>
                  <a:srgbClr val="636e72"/>
                </a:solidFill>
                <a:latin typeface="Quattrocento Sans"/>
                <a:ea typeface="Quattrocento Sans"/>
              </a:rPr>
              <a:t> A gets -5 years (confess) vs. -10 years (silent) → Confess better</a:t>
            </a:r>
            <a:endParaRPr b="0" lang="en-HK" sz="1200" spc="-1" strike="noStrike">
              <a:latin typeface="Arial"/>
            </a:endParaRPr>
          </a:p>
        </p:txBody>
      </p:sp>
      <p:sp>
        <p:nvSpPr>
          <p:cNvPr id="270" name="Text 11"/>
          <p:cNvSpPr/>
          <p:nvPr/>
        </p:nvSpPr>
        <p:spPr>
          <a:xfrm>
            <a:off x="6448320" y="2486160"/>
            <a:ext cx="52376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0984e3"/>
                </a:solidFill>
                <a:latin typeface="Quattrocento Sans"/>
                <a:ea typeface="Quattrocento Sans"/>
              </a:rPr>
              <a:t>Confessing is always better, regardless of B's choice</a:t>
            </a:r>
            <a:endParaRPr b="0" lang="en-HK" sz="1200" spc="-1" strike="noStrike">
              <a:latin typeface="Arial"/>
            </a:endParaRPr>
          </a:p>
        </p:txBody>
      </p:sp>
      <p:sp>
        <p:nvSpPr>
          <p:cNvPr id="271" name="Shape 12"/>
          <p:cNvSpPr/>
          <p:nvPr/>
        </p:nvSpPr>
        <p:spPr>
          <a:xfrm>
            <a:off x="6267600" y="3067200"/>
            <a:ext cx="5542560" cy="2132640"/>
          </a:xfrm>
          <a:custGeom>
            <a:avLst/>
            <a:gdLst/>
            <a:ahLst/>
            <a:rect l="l" t="t" r="r" b="b"/>
            <a:pathLst>
              <a:path w="5543550" h="2133600">
                <a:moveTo>
                  <a:pt x="0" y="0"/>
                </a:moveTo>
                <a:lnTo>
                  <a:pt x="5543550" y="0"/>
                </a:lnTo>
                <a:lnTo>
                  <a:pt x="5543550" y="2133600"/>
                </a:lnTo>
                <a:lnTo>
                  <a:pt x="0" y="2133600"/>
                </a:lnTo>
                <a:lnTo>
                  <a:pt x="0" y="0"/>
                </a:lnTo>
                <a:close/>
              </a:path>
            </a:pathLst>
          </a:custGeom>
          <a:solidFill>
            <a:srgbClr val="f8f9fa"/>
          </a:solidFill>
          <a:ln w="0">
            <a:noFill/>
          </a:ln>
        </p:spPr>
        <p:style>
          <a:lnRef idx="0"/>
          <a:fillRef idx="0"/>
          <a:effectRef idx="0"/>
          <a:fontRef idx="minor"/>
        </p:style>
      </p:sp>
      <p:sp>
        <p:nvSpPr>
          <p:cNvPr id="272" name="Shape 13"/>
          <p:cNvSpPr/>
          <p:nvPr/>
        </p:nvSpPr>
        <p:spPr>
          <a:xfrm>
            <a:off x="6267600" y="3067200"/>
            <a:ext cx="37080" cy="2132640"/>
          </a:xfrm>
          <a:custGeom>
            <a:avLst/>
            <a:gdLst/>
            <a:ahLst/>
            <a:rect l="l" t="t" r="r" b="b"/>
            <a:pathLst>
              <a:path w="38100" h="2133600">
                <a:moveTo>
                  <a:pt x="0" y="0"/>
                </a:moveTo>
                <a:lnTo>
                  <a:pt x="38100" y="0"/>
                </a:lnTo>
                <a:lnTo>
                  <a:pt x="38100" y="2133600"/>
                </a:lnTo>
                <a:lnTo>
                  <a:pt x="0" y="2133600"/>
                </a:lnTo>
                <a:lnTo>
                  <a:pt x="0" y="0"/>
                </a:lnTo>
                <a:close/>
              </a:path>
            </a:pathLst>
          </a:custGeom>
          <a:solidFill>
            <a:srgbClr val="0984e3"/>
          </a:solidFill>
          <a:ln w="0">
            <a:noFill/>
          </a:ln>
        </p:spPr>
        <p:style>
          <a:lnRef idx="0"/>
          <a:fillRef idx="0"/>
          <a:effectRef idx="0"/>
          <a:fontRef idx="minor"/>
        </p:style>
      </p:sp>
      <p:sp>
        <p:nvSpPr>
          <p:cNvPr id="273" name="Text 14"/>
          <p:cNvSpPr/>
          <p:nvPr/>
        </p:nvSpPr>
        <p:spPr>
          <a:xfrm>
            <a:off x="6477120" y="3257640"/>
            <a:ext cx="5237640" cy="26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Real-World Applications</a:t>
            </a:r>
            <a:endParaRPr b="0" lang="en-HK" sz="1500" spc="-1" strike="noStrike">
              <a:latin typeface="Arial"/>
            </a:endParaRPr>
          </a:p>
        </p:txBody>
      </p:sp>
      <p:sp>
        <p:nvSpPr>
          <p:cNvPr id="274" name="Shape 15"/>
          <p:cNvSpPr/>
          <p:nvPr/>
        </p:nvSpPr>
        <p:spPr>
          <a:xfrm>
            <a:off x="6496200" y="3672000"/>
            <a:ext cx="151200" cy="151200"/>
          </a:xfrm>
          <a:custGeom>
            <a:avLst/>
            <a:gdLst/>
            <a:ahLst/>
            <a:rect l="l" t="t" r="r" b="b"/>
            <a:pathLst>
              <a:path w="152400" h="152400">
                <a:moveTo>
                  <a:pt x="38100" y="95250"/>
                </a:moveTo>
                <a:lnTo>
                  <a:pt x="7293" y="95250"/>
                </a:lnTo>
                <a:cubicBezTo>
                  <a:pt x="-119" y="95250"/>
                  <a:pt x="-4673" y="87184"/>
                  <a:pt x="-863" y="80814"/>
                </a:cubicBezTo>
                <a:lnTo>
                  <a:pt x="14883" y="54560"/>
                </a:lnTo>
                <a:cubicBezTo>
                  <a:pt x="17472" y="50244"/>
                  <a:pt x="22116" y="47625"/>
                  <a:pt x="27146" y="47625"/>
                </a:cubicBezTo>
                <a:lnTo>
                  <a:pt x="55424" y="47625"/>
                </a:lnTo>
                <a:cubicBezTo>
                  <a:pt x="78075" y="9257"/>
                  <a:pt x="111859" y="7322"/>
                  <a:pt x="134451" y="10626"/>
                </a:cubicBezTo>
                <a:cubicBezTo>
                  <a:pt x="138261" y="11192"/>
                  <a:pt x="141238" y="14168"/>
                  <a:pt x="141774" y="17949"/>
                </a:cubicBezTo>
                <a:cubicBezTo>
                  <a:pt x="145078" y="40541"/>
                  <a:pt x="143143" y="74325"/>
                  <a:pt x="104775" y="96976"/>
                </a:cubicBezTo>
                <a:lnTo>
                  <a:pt x="104775" y="125254"/>
                </a:lnTo>
                <a:cubicBezTo>
                  <a:pt x="104775" y="130284"/>
                  <a:pt x="102156" y="134928"/>
                  <a:pt x="97840" y="137517"/>
                </a:cubicBezTo>
                <a:lnTo>
                  <a:pt x="71586" y="153263"/>
                </a:lnTo>
                <a:cubicBezTo>
                  <a:pt x="65246" y="157073"/>
                  <a:pt x="57150" y="152489"/>
                  <a:pt x="57150" y="145107"/>
                </a:cubicBezTo>
                <a:lnTo>
                  <a:pt x="57150" y="114300"/>
                </a:lnTo>
                <a:cubicBezTo>
                  <a:pt x="57150" y="103793"/>
                  <a:pt x="48607" y="95250"/>
                  <a:pt x="38100" y="95250"/>
                </a:cubicBezTo>
                <a:lnTo>
                  <a:pt x="38070" y="95250"/>
                </a:lnTo>
                <a:close/>
                <a:moveTo>
                  <a:pt x="119062" y="47625"/>
                </a:moveTo>
                <a:cubicBezTo>
                  <a:pt x="119062" y="39740"/>
                  <a:pt x="112660" y="33338"/>
                  <a:pt x="104775" y="33338"/>
                </a:cubicBezTo>
                <a:cubicBezTo>
                  <a:pt x="96890" y="33338"/>
                  <a:pt x="90488" y="39740"/>
                  <a:pt x="90488" y="47625"/>
                </a:cubicBezTo>
                <a:cubicBezTo>
                  <a:pt x="90488" y="55510"/>
                  <a:pt x="96890" y="61912"/>
                  <a:pt x="104775" y="61912"/>
                </a:cubicBezTo>
                <a:cubicBezTo>
                  <a:pt x="112660" y="61912"/>
                  <a:pt x="119062" y="55510"/>
                  <a:pt x="119062" y="47625"/>
                </a:cubicBezTo>
                <a:close/>
              </a:path>
            </a:pathLst>
          </a:custGeom>
          <a:solidFill>
            <a:srgbClr val="0984e3"/>
          </a:solidFill>
          <a:ln w="0">
            <a:noFill/>
          </a:ln>
        </p:spPr>
        <p:style>
          <a:lnRef idx="0"/>
          <a:fillRef idx="0"/>
          <a:effectRef idx="0"/>
          <a:fontRef idx="minor"/>
        </p:style>
      </p:sp>
      <p:sp>
        <p:nvSpPr>
          <p:cNvPr id="275" name="Text 16"/>
          <p:cNvSpPr/>
          <p:nvPr/>
        </p:nvSpPr>
        <p:spPr>
          <a:xfrm>
            <a:off x="6724800" y="3638520"/>
            <a:ext cx="4970880" cy="456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Arms Races:</a:t>
            </a:r>
            <a:r>
              <a:rPr b="0" lang="en-US" sz="1200" spc="-1" strike="noStrike">
                <a:solidFill>
                  <a:srgbClr val="636e72"/>
                </a:solidFill>
                <a:latin typeface="Quattrocento Sans"/>
                <a:ea typeface="Quattrocento Sans"/>
              </a:rPr>
              <a:t> Nations build weapons despite mutual disarmament being preferable</a:t>
            </a:r>
            <a:endParaRPr b="0" lang="en-HK" sz="1200" spc="-1" strike="noStrike">
              <a:latin typeface="Arial"/>
            </a:endParaRPr>
          </a:p>
        </p:txBody>
      </p:sp>
      <p:sp>
        <p:nvSpPr>
          <p:cNvPr id="276" name="Shape 17"/>
          <p:cNvSpPr/>
          <p:nvPr/>
        </p:nvSpPr>
        <p:spPr>
          <a:xfrm>
            <a:off x="6496200" y="4205160"/>
            <a:ext cx="151200" cy="151200"/>
          </a:xfrm>
          <a:custGeom>
            <a:avLst/>
            <a:gdLst/>
            <a:ahLst/>
            <a:rect l="l" t="t" r="r" b="b"/>
            <a:pathLst>
              <a:path w="152400" h="152400">
                <a:moveTo>
                  <a:pt x="140285" y="1994"/>
                </a:moveTo>
                <a:cubicBezTo>
                  <a:pt x="142190" y="179"/>
                  <a:pt x="144959" y="-476"/>
                  <a:pt x="147518" y="357"/>
                </a:cubicBezTo>
                <a:cubicBezTo>
                  <a:pt x="150435" y="1339"/>
                  <a:pt x="152400" y="4078"/>
                  <a:pt x="152400" y="7144"/>
                </a:cubicBezTo>
                <a:lnTo>
                  <a:pt x="152400" y="62776"/>
                </a:lnTo>
                <a:cubicBezTo>
                  <a:pt x="152400" y="101828"/>
                  <a:pt x="120223" y="133350"/>
                  <a:pt x="81320" y="133350"/>
                </a:cubicBezTo>
                <a:cubicBezTo>
                  <a:pt x="58400" y="133350"/>
                  <a:pt x="38636" y="118616"/>
                  <a:pt x="31462" y="98018"/>
                </a:cubicBezTo>
                <a:cubicBezTo>
                  <a:pt x="20925" y="107186"/>
                  <a:pt x="14287" y="120670"/>
                  <a:pt x="14287" y="135731"/>
                </a:cubicBezTo>
                <a:cubicBezTo>
                  <a:pt x="14287" y="139690"/>
                  <a:pt x="11103" y="142875"/>
                  <a:pt x="7144" y="142875"/>
                </a:cubicBezTo>
                <a:cubicBezTo>
                  <a:pt x="3185" y="142875"/>
                  <a:pt x="0" y="139690"/>
                  <a:pt x="0" y="135731"/>
                </a:cubicBezTo>
                <a:cubicBezTo>
                  <a:pt x="0" y="113437"/>
                  <a:pt x="11370" y="93791"/>
                  <a:pt x="28605" y="82242"/>
                </a:cubicBezTo>
                <a:cubicBezTo>
                  <a:pt x="39112" y="75218"/>
                  <a:pt x="51643" y="71438"/>
                  <a:pt x="64294" y="71438"/>
                </a:cubicBezTo>
                <a:lnTo>
                  <a:pt x="88106" y="71438"/>
                </a:lnTo>
                <a:cubicBezTo>
                  <a:pt x="92065" y="71438"/>
                  <a:pt x="95250" y="68253"/>
                  <a:pt x="95250" y="64294"/>
                </a:cubicBezTo>
                <a:cubicBezTo>
                  <a:pt x="95250" y="60335"/>
                  <a:pt x="92065" y="57150"/>
                  <a:pt x="88106" y="57150"/>
                </a:cubicBezTo>
                <a:lnTo>
                  <a:pt x="64294" y="57150"/>
                </a:lnTo>
                <a:cubicBezTo>
                  <a:pt x="52477" y="57150"/>
                  <a:pt x="41285" y="59769"/>
                  <a:pt x="31254" y="64443"/>
                </a:cubicBezTo>
                <a:cubicBezTo>
                  <a:pt x="38189" y="43607"/>
                  <a:pt x="57805" y="28575"/>
                  <a:pt x="80962" y="28575"/>
                </a:cubicBezTo>
                <a:cubicBezTo>
                  <a:pt x="100727" y="28575"/>
                  <a:pt x="115431" y="21997"/>
                  <a:pt x="125224" y="15478"/>
                </a:cubicBezTo>
                <a:cubicBezTo>
                  <a:pt x="130939" y="11668"/>
                  <a:pt x="135791" y="7114"/>
                  <a:pt x="140315" y="1994"/>
                </a:cubicBezTo>
                <a:close/>
              </a:path>
            </a:pathLst>
          </a:custGeom>
          <a:solidFill>
            <a:srgbClr val="0984e3"/>
          </a:solidFill>
          <a:ln w="0">
            <a:noFill/>
          </a:ln>
        </p:spPr>
        <p:style>
          <a:lnRef idx="0"/>
          <a:fillRef idx="0"/>
          <a:effectRef idx="0"/>
          <a:fontRef idx="minor"/>
        </p:style>
      </p:sp>
      <p:sp>
        <p:nvSpPr>
          <p:cNvPr id="277" name="Text 18"/>
          <p:cNvSpPr/>
          <p:nvPr/>
        </p:nvSpPr>
        <p:spPr>
          <a:xfrm>
            <a:off x="6724800" y="4172040"/>
            <a:ext cx="497088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Environment:</a:t>
            </a:r>
            <a:r>
              <a:rPr b="0" lang="en-US" sz="1200" spc="-1" strike="noStrike">
                <a:solidFill>
                  <a:srgbClr val="636e72"/>
                </a:solidFill>
                <a:latin typeface="Quattrocento Sans"/>
                <a:ea typeface="Quattrocento Sans"/>
              </a:rPr>
              <a:t> Overfishing and pollution despite collective harm</a:t>
            </a:r>
            <a:endParaRPr b="0" lang="en-HK" sz="1200" spc="-1" strike="noStrike">
              <a:latin typeface="Arial"/>
            </a:endParaRPr>
          </a:p>
        </p:txBody>
      </p:sp>
      <p:sp>
        <p:nvSpPr>
          <p:cNvPr id="278" name="Shape 19"/>
          <p:cNvSpPr/>
          <p:nvPr/>
        </p:nvSpPr>
        <p:spPr>
          <a:xfrm>
            <a:off x="6515280" y="4510080"/>
            <a:ext cx="113400" cy="151200"/>
          </a:xfrm>
          <a:custGeom>
            <a:avLst/>
            <a:gdLst/>
            <a:ahLst/>
            <a:rect l="l" t="t" r="r" b="b"/>
            <a:pathLst>
              <a:path w="114300" h="152400">
                <a:moveTo>
                  <a:pt x="19050" y="0"/>
                </a:moveTo>
                <a:cubicBezTo>
                  <a:pt x="8543" y="0"/>
                  <a:pt x="0" y="8543"/>
                  <a:pt x="0" y="19050"/>
                </a:cubicBezTo>
                <a:lnTo>
                  <a:pt x="0" y="133350"/>
                </a:lnTo>
                <a:cubicBezTo>
                  <a:pt x="0" y="143857"/>
                  <a:pt x="8543" y="152400"/>
                  <a:pt x="19050" y="152400"/>
                </a:cubicBezTo>
                <a:lnTo>
                  <a:pt x="95250" y="152400"/>
                </a:lnTo>
                <a:cubicBezTo>
                  <a:pt x="105757" y="152400"/>
                  <a:pt x="114300" y="143857"/>
                  <a:pt x="114300" y="133350"/>
                </a:cubicBezTo>
                <a:lnTo>
                  <a:pt x="114300" y="19050"/>
                </a:lnTo>
                <a:cubicBezTo>
                  <a:pt x="114300" y="8543"/>
                  <a:pt x="105757" y="0"/>
                  <a:pt x="95250" y="0"/>
                </a:cubicBezTo>
                <a:lnTo>
                  <a:pt x="19050" y="0"/>
                </a:lnTo>
                <a:close/>
                <a:moveTo>
                  <a:pt x="52388" y="104775"/>
                </a:moveTo>
                <a:lnTo>
                  <a:pt x="61912" y="104775"/>
                </a:lnTo>
                <a:cubicBezTo>
                  <a:pt x="67181" y="104775"/>
                  <a:pt x="71438" y="109031"/>
                  <a:pt x="71438" y="114300"/>
                </a:cubicBezTo>
                <a:lnTo>
                  <a:pt x="71438" y="138113"/>
                </a:lnTo>
                <a:lnTo>
                  <a:pt x="42863" y="138113"/>
                </a:lnTo>
                <a:lnTo>
                  <a:pt x="42863" y="114300"/>
                </a:lnTo>
                <a:cubicBezTo>
                  <a:pt x="42863" y="109031"/>
                  <a:pt x="47119" y="104775"/>
                  <a:pt x="52388" y="104775"/>
                </a:cubicBezTo>
                <a:close/>
                <a:moveTo>
                  <a:pt x="28575" y="33338"/>
                </a:moveTo>
                <a:cubicBezTo>
                  <a:pt x="28575" y="30718"/>
                  <a:pt x="30718" y="28575"/>
                  <a:pt x="33338" y="28575"/>
                </a:cubicBezTo>
                <a:lnTo>
                  <a:pt x="42863" y="28575"/>
                </a:lnTo>
                <a:cubicBezTo>
                  <a:pt x="45482" y="28575"/>
                  <a:pt x="47625" y="30718"/>
                  <a:pt x="47625" y="33338"/>
                </a:cubicBezTo>
                <a:lnTo>
                  <a:pt x="47625" y="42863"/>
                </a:lnTo>
                <a:cubicBezTo>
                  <a:pt x="47625" y="45482"/>
                  <a:pt x="45482" y="47625"/>
                  <a:pt x="42863" y="47625"/>
                </a:cubicBezTo>
                <a:lnTo>
                  <a:pt x="33338" y="47625"/>
                </a:lnTo>
                <a:cubicBezTo>
                  <a:pt x="30718" y="47625"/>
                  <a:pt x="28575" y="45482"/>
                  <a:pt x="28575" y="42863"/>
                </a:cubicBezTo>
                <a:lnTo>
                  <a:pt x="28575" y="33338"/>
                </a:lnTo>
                <a:close/>
                <a:moveTo>
                  <a:pt x="71438" y="28575"/>
                </a:moveTo>
                <a:lnTo>
                  <a:pt x="80962" y="28575"/>
                </a:lnTo>
                <a:cubicBezTo>
                  <a:pt x="83582" y="28575"/>
                  <a:pt x="85725" y="30718"/>
                  <a:pt x="85725" y="33338"/>
                </a:cubicBezTo>
                <a:lnTo>
                  <a:pt x="85725" y="42863"/>
                </a:lnTo>
                <a:cubicBezTo>
                  <a:pt x="85725" y="45482"/>
                  <a:pt x="83582" y="47625"/>
                  <a:pt x="80962" y="47625"/>
                </a:cubicBezTo>
                <a:lnTo>
                  <a:pt x="71438" y="47625"/>
                </a:lnTo>
                <a:cubicBezTo>
                  <a:pt x="68818" y="47625"/>
                  <a:pt x="66675" y="45482"/>
                  <a:pt x="66675" y="42863"/>
                </a:cubicBezTo>
                <a:lnTo>
                  <a:pt x="66675" y="33338"/>
                </a:lnTo>
                <a:cubicBezTo>
                  <a:pt x="66675" y="30718"/>
                  <a:pt x="68818" y="28575"/>
                  <a:pt x="71438" y="28575"/>
                </a:cubicBezTo>
                <a:close/>
                <a:moveTo>
                  <a:pt x="28575" y="71438"/>
                </a:moveTo>
                <a:cubicBezTo>
                  <a:pt x="28575" y="68818"/>
                  <a:pt x="30718" y="66675"/>
                  <a:pt x="33338" y="66675"/>
                </a:cubicBezTo>
                <a:lnTo>
                  <a:pt x="42863" y="66675"/>
                </a:lnTo>
                <a:cubicBezTo>
                  <a:pt x="45482" y="66675"/>
                  <a:pt x="47625" y="68818"/>
                  <a:pt x="47625" y="71438"/>
                </a:cubicBezTo>
                <a:lnTo>
                  <a:pt x="47625" y="80962"/>
                </a:lnTo>
                <a:cubicBezTo>
                  <a:pt x="47625" y="83582"/>
                  <a:pt x="45482" y="85725"/>
                  <a:pt x="42863" y="85725"/>
                </a:cubicBezTo>
                <a:lnTo>
                  <a:pt x="33338" y="85725"/>
                </a:lnTo>
                <a:cubicBezTo>
                  <a:pt x="30718" y="85725"/>
                  <a:pt x="28575" y="83582"/>
                  <a:pt x="28575" y="80962"/>
                </a:cubicBezTo>
                <a:lnTo>
                  <a:pt x="28575" y="71438"/>
                </a:lnTo>
                <a:close/>
                <a:moveTo>
                  <a:pt x="71438" y="66675"/>
                </a:moveTo>
                <a:lnTo>
                  <a:pt x="80962" y="66675"/>
                </a:lnTo>
                <a:cubicBezTo>
                  <a:pt x="83582" y="66675"/>
                  <a:pt x="85725" y="68818"/>
                  <a:pt x="85725" y="71438"/>
                </a:cubicBezTo>
                <a:lnTo>
                  <a:pt x="85725" y="80962"/>
                </a:lnTo>
                <a:cubicBezTo>
                  <a:pt x="85725" y="83582"/>
                  <a:pt x="83582" y="85725"/>
                  <a:pt x="80962" y="85725"/>
                </a:cubicBezTo>
                <a:lnTo>
                  <a:pt x="71438" y="85725"/>
                </a:lnTo>
                <a:cubicBezTo>
                  <a:pt x="68818" y="85725"/>
                  <a:pt x="66675" y="83582"/>
                  <a:pt x="66675" y="80962"/>
                </a:cubicBezTo>
                <a:lnTo>
                  <a:pt x="66675" y="71438"/>
                </a:lnTo>
                <a:cubicBezTo>
                  <a:pt x="66675" y="68818"/>
                  <a:pt x="68818" y="66675"/>
                  <a:pt x="71438" y="66675"/>
                </a:cubicBezTo>
                <a:close/>
              </a:path>
            </a:pathLst>
          </a:custGeom>
          <a:solidFill>
            <a:srgbClr val="0984e3"/>
          </a:solidFill>
          <a:ln w="0">
            <a:noFill/>
          </a:ln>
        </p:spPr>
        <p:style>
          <a:lnRef idx="0"/>
          <a:fillRef idx="0"/>
          <a:effectRef idx="0"/>
          <a:fontRef idx="minor"/>
        </p:style>
      </p:sp>
      <p:sp>
        <p:nvSpPr>
          <p:cNvPr id="279" name="Text 20"/>
          <p:cNvSpPr/>
          <p:nvPr/>
        </p:nvSpPr>
        <p:spPr>
          <a:xfrm>
            <a:off x="6724800" y="4476600"/>
            <a:ext cx="497088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Business:</a:t>
            </a:r>
            <a:r>
              <a:rPr b="0" lang="en-US" sz="1200" spc="-1" strike="noStrike">
                <a:solidFill>
                  <a:srgbClr val="636e72"/>
                </a:solidFill>
                <a:latin typeface="Quattrocento Sans"/>
                <a:ea typeface="Quattrocento Sans"/>
              </a:rPr>
              <a:t> Price wars that reduce profits for all competitors</a:t>
            </a:r>
            <a:endParaRPr b="0" lang="en-HK" sz="1200" spc="-1" strike="noStrike">
              <a:latin typeface="Arial"/>
            </a:endParaRPr>
          </a:p>
        </p:txBody>
      </p:sp>
      <p:sp>
        <p:nvSpPr>
          <p:cNvPr id="280" name="Shape 21"/>
          <p:cNvSpPr/>
          <p:nvPr/>
        </p:nvSpPr>
        <p:spPr>
          <a:xfrm>
            <a:off x="6486480" y="4815000"/>
            <a:ext cx="170280" cy="151200"/>
          </a:xfrm>
          <a:custGeom>
            <a:avLst/>
            <a:gdLst/>
            <a:ahLst/>
            <a:rect l="l" t="t" r="r" b="b"/>
            <a:pathLst>
              <a:path w="171450" h="152400">
                <a:moveTo>
                  <a:pt x="85725" y="-4762"/>
                </a:moveTo>
                <a:cubicBezTo>
                  <a:pt x="81766" y="-4762"/>
                  <a:pt x="78581" y="-1578"/>
                  <a:pt x="78581" y="2381"/>
                </a:cubicBezTo>
                <a:lnTo>
                  <a:pt x="78581" y="5953"/>
                </a:lnTo>
                <a:lnTo>
                  <a:pt x="78045" y="5953"/>
                </a:lnTo>
                <a:cubicBezTo>
                  <a:pt x="67151" y="5953"/>
                  <a:pt x="58341" y="14794"/>
                  <a:pt x="58341" y="25658"/>
                </a:cubicBezTo>
                <a:cubicBezTo>
                  <a:pt x="58341" y="35600"/>
                  <a:pt x="65752" y="43994"/>
                  <a:pt x="75605" y="45214"/>
                </a:cubicBezTo>
                <a:lnTo>
                  <a:pt x="93762" y="47476"/>
                </a:lnTo>
                <a:cubicBezTo>
                  <a:pt x="95280" y="47655"/>
                  <a:pt x="96441" y="48964"/>
                  <a:pt x="96441" y="50512"/>
                </a:cubicBezTo>
                <a:cubicBezTo>
                  <a:pt x="96441" y="52209"/>
                  <a:pt x="95071" y="53548"/>
                  <a:pt x="93405" y="53548"/>
                </a:cubicBezTo>
                <a:lnTo>
                  <a:pt x="71438" y="53578"/>
                </a:lnTo>
                <a:cubicBezTo>
                  <a:pt x="66824" y="53578"/>
                  <a:pt x="63103" y="57299"/>
                  <a:pt x="63103" y="61912"/>
                </a:cubicBezTo>
                <a:cubicBezTo>
                  <a:pt x="63103" y="66526"/>
                  <a:pt x="66824" y="70247"/>
                  <a:pt x="71438" y="70247"/>
                </a:cubicBezTo>
                <a:lnTo>
                  <a:pt x="78581" y="70247"/>
                </a:lnTo>
                <a:lnTo>
                  <a:pt x="78581" y="73819"/>
                </a:lnTo>
                <a:cubicBezTo>
                  <a:pt x="78581" y="77778"/>
                  <a:pt x="81766" y="80962"/>
                  <a:pt x="85725" y="80962"/>
                </a:cubicBezTo>
                <a:cubicBezTo>
                  <a:pt x="89684" y="80962"/>
                  <a:pt x="92869" y="77778"/>
                  <a:pt x="92869" y="73819"/>
                </a:cubicBezTo>
                <a:lnTo>
                  <a:pt x="92869" y="70247"/>
                </a:lnTo>
                <a:lnTo>
                  <a:pt x="93405" y="70247"/>
                </a:lnTo>
                <a:cubicBezTo>
                  <a:pt x="104299" y="70247"/>
                  <a:pt x="113109" y="61406"/>
                  <a:pt x="113109" y="50542"/>
                </a:cubicBezTo>
                <a:cubicBezTo>
                  <a:pt x="113109" y="40600"/>
                  <a:pt x="105698" y="32206"/>
                  <a:pt x="95845" y="30986"/>
                </a:cubicBezTo>
                <a:lnTo>
                  <a:pt x="77688" y="28724"/>
                </a:lnTo>
                <a:cubicBezTo>
                  <a:pt x="76170" y="28545"/>
                  <a:pt x="75009" y="27236"/>
                  <a:pt x="75009" y="25688"/>
                </a:cubicBezTo>
                <a:cubicBezTo>
                  <a:pt x="75009" y="23991"/>
                  <a:pt x="76379" y="22652"/>
                  <a:pt x="78045" y="22652"/>
                </a:cubicBezTo>
                <a:lnTo>
                  <a:pt x="97631" y="22622"/>
                </a:lnTo>
                <a:cubicBezTo>
                  <a:pt x="102245" y="22622"/>
                  <a:pt x="105966" y="18901"/>
                  <a:pt x="105966" y="14288"/>
                </a:cubicBezTo>
                <a:cubicBezTo>
                  <a:pt x="105966" y="9674"/>
                  <a:pt x="102245" y="5953"/>
                  <a:pt x="97631" y="5953"/>
                </a:cubicBezTo>
                <a:lnTo>
                  <a:pt x="92869" y="5953"/>
                </a:lnTo>
                <a:lnTo>
                  <a:pt x="92869" y="2381"/>
                </a:lnTo>
                <a:cubicBezTo>
                  <a:pt x="92869" y="-1578"/>
                  <a:pt x="89684" y="-4762"/>
                  <a:pt x="85725" y="-4762"/>
                </a:cubicBezTo>
                <a:close/>
                <a:moveTo>
                  <a:pt x="32534" y="101650"/>
                </a:moveTo>
                <a:lnTo>
                  <a:pt x="19854" y="114300"/>
                </a:lnTo>
                <a:lnTo>
                  <a:pt x="9525" y="114300"/>
                </a:lnTo>
                <a:cubicBezTo>
                  <a:pt x="4256" y="114300"/>
                  <a:pt x="0" y="118556"/>
                  <a:pt x="0" y="123825"/>
                </a:cubicBezTo>
                <a:lnTo>
                  <a:pt x="0" y="142875"/>
                </a:lnTo>
                <a:cubicBezTo>
                  <a:pt x="0" y="148144"/>
                  <a:pt x="4256" y="152400"/>
                  <a:pt x="9525" y="152400"/>
                </a:cubicBezTo>
                <a:lnTo>
                  <a:pt x="104924" y="152400"/>
                </a:lnTo>
                <a:cubicBezTo>
                  <a:pt x="113556" y="152400"/>
                  <a:pt x="121980" y="149632"/>
                  <a:pt x="128945" y="144512"/>
                </a:cubicBezTo>
                <a:lnTo>
                  <a:pt x="166628" y="116741"/>
                </a:lnTo>
                <a:cubicBezTo>
                  <a:pt x="171926" y="112841"/>
                  <a:pt x="173057" y="105400"/>
                  <a:pt x="169158" y="100102"/>
                </a:cubicBezTo>
                <a:cubicBezTo>
                  <a:pt x="165259" y="94804"/>
                  <a:pt x="157817" y="93672"/>
                  <a:pt x="152519" y="97572"/>
                </a:cubicBezTo>
                <a:lnTo>
                  <a:pt x="116860" y="123825"/>
                </a:lnTo>
                <a:lnTo>
                  <a:pt x="83344" y="123825"/>
                </a:lnTo>
                <a:cubicBezTo>
                  <a:pt x="79385" y="123825"/>
                  <a:pt x="76200" y="120640"/>
                  <a:pt x="76200" y="116681"/>
                </a:cubicBezTo>
                <a:cubicBezTo>
                  <a:pt x="76200" y="112722"/>
                  <a:pt x="79385" y="109537"/>
                  <a:pt x="83344" y="109537"/>
                </a:cubicBezTo>
                <a:lnTo>
                  <a:pt x="104775" y="109537"/>
                </a:lnTo>
                <a:cubicBezTo>
                  <a:pt x="110044" y="109537"/>
                  <a:pt x="114300" y="105281"/>
                  <a:pt x="114300" y="100013"/>
                </a:cubicBezTo>
                <a:cubicBezTo>
                  <a:pt x="114300" y="94744"/>
                  <a:pt x="110044" y="90488"/>
                  <a:pt x="104775" y="90488"/>
                </a:cubicBezTo>
                <a:lnTo>
                  <a:pt x="59472" y="90488"/>
                </a:lnTo>
                <a:cubicBezTo>
                  <a:pt x="49381" y="90488"/>
                  <a:pt x="39678" y="94506"/>
                  <a:pt x="32534" y="101650"/>
                </a:cubicBezTo>
                <a:close/>
              </a:path>
            </a:pathLst>
          </a:custGeom>
          <a:solidFill>
            <a:srgbClr val="0984e3"/>
          </a:solidFill>
          <a:ln w="0">
            <a:noFill/>
          </a:ln>
        </p:spPr>
        <p:style>
          <a:lnRef idx="0"/>
          <a:fillRef idx="0"/>
          <a:effectRef idx="0"/>
          <a:fontRef idx="minor"/>
        </p:style>
      </p:sp>
      <p:sp>
        <p:nvSpPr>
          <p:cNvPr id="281" name="Text 22"/>
          <p:cNvSpPr/>
          <p:nvPr/>
        </p:nvSpPr>
        <p:spPr>
          <a:xfrm>
            <a:off x="6724800" y="4781520"/>
            <a:ext cx="497088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Public Goods:</a:t>
            </a:r>
            <a:r>
              <a:rPr b="0" lang="en-US" sz="1200" spc="-1" strike="noStrike">
                <a:solidFill>
                  <a:srgbClr val="636e72"/>
                </a:solidFill>
                <a:latin typeface="Quattrocento Sans"/>
                <a:ea typeface="Quattrocento Sans"/>
              </a:rPr>
              <a:t> Free-riding on contributions to shared resources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2" name="Text 0"/>
          <p:cNvSpPr/>
          <p:nvPr/>
        </p:nvSpPr>
        <p:spPr>
          <a:xfrm>
            <a:off x="358560" y="358560"/>
            <a:ext cx="11545560" cy="214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130" spc="49" strike="noStrike">
                <a:solidFill>
                  <a:srgbClr val="0984e3"/>
                </a:solidFill>
                <a:latin typeface="Quattrocento Sans"/>
                <a:ea typeface="Quattrocento Sans"/>
              </a:rPr>
              <a:t>COORDINATION &amp; CONFRONTATION</a:t>
            </a:r>
            <a:endParaRPr b="0" lang="en-HK" sz="1130" spc="-1" strike="noStrike">
              <a:latin typeface="Arial"/>
            </a:endParaRPr>
          </a:p>
        </p:txBody>
      </p:sp>
      <p:sp>
        <p:nvSpPr>
          <p:cNvPr id="283" name="Text 1"/>
          <p:cNvSpPr/>
          <p:nvPr/>
        </p:nvSpPr>
        <p:spPr>
          <a:xfrm>
            <a:off x="358560" y="645480"/>
            <a:ext cx="11688840" cy="429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390" spc="-1" strike="noStrike">
                <a:solidFill>
                  <a:srgbClr val="2d3436"/>
                </a:solidFill>
                <a:latin typeface="Oranienbaum"/>
                <a:ea typeface="Oranienbaum"/>
              </a:rPr>
              <a:t>Battle of the Sexes &amp; Chicken Game</a:t>
            </a:r>
            <a:endParaRPr b="0" lang="en-HK" sz="3390" spc="-1" strike="noStrike">
              <a:latin typeface="Arial"/>
            </a:endParaRPr>
          </a:p>
        </p:txBody>
      </p:sp>
      <p:sp>
        <p:nvSpPr>
          <p:cNvPr id="284" name="Text 2"/>
          <p:cNvSpPr/>
          <p:nvPr/>
        </p:nvSpPr>
        <p:spPr>
          <a:xfrm>
            <a:off x="358560" y="1290960"/>
            <a:ext cx="5700600" cy="285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00" spc="-1" strike="noStrike">
                <a:solidFill>
                  <a:srgbClr val="2d3436"/>
                </a:solidFill>
                <a:latin typeface="Oranienbaum"/>
                <a:ea typeface="Oranienbaum"/>
              </a:rPr>
              <a:t>Battle of the Sexes</a:t>
            </a:r>
            <a:endParaRPr b="0" lang="en-HK" sz="1700" spc="-1" strike="noStrike">
              <a:latin typeface="Arial"/>
            </a:endParaRPr>
          </a:p>
        </p:txBody>
      </p:sp>
      <p:sp>
        <p:nvSpPr>
          <p:cNvPr id="285" name="Text 3"/>
          <p:cNvSpPr/>
          <p:nvPr/>
        </p:nvSpPr>
        <p:spPr>
          <a:xfrm>
            <a:off x="358560" y="1725840"/>
            <a:ext cx="5473440" cy="440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70" spc="-1" strike="noStrike">
                <a:solidFill>
                  <a:srgbClr val="1e272e"/>
                </a:solidFill>
                <a:latin typeface="Quattrocento Sans"/>
                <a:ea typeface="Quattrocento Sans"/>
              </a:rPr>
              <a:t>A coordination game where two players prefer to be together but disagree on the preferred activity.</a:t>
            </a:r>
            <a:endParaRPr b="0" lang="en-HK" sz="1270" spc="-1" strike="noStrike">
              <a:latin typeface="Arial"/>
            </a:endParaRPr>
          </a:p>
        </p:txBody>
      </p:sp>
      <p:sp>
        <p:nvSpPr>
          <p:cNvPr id="286" name="Text 4"/>
          <p:cNvSpPr/>
          <p:nvPr/>
        </p:nvSpPr>
        <p:spPr>
          <a:xfrm>
            <a:off x="358560" y="2317320"/>
            <a:ext cx="5664600" cy="465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30" spc="-1" strike="noStrike">
                <a:solidFill>
                  <a:srgbClr val="636e72"/>
                </a:solidFill>
                <a:latin typeface="Quattrocento Sans"/>
                <a:ea typeface="Quattrocento Sans"/>
              </a:rPr>
              <a:t>Classic scenario: Alice prefers ballet, Bob prefers boxing, but both prefer being together over being apart. The challenge is achieving coordination when preferences diverge.</a:t>
            </a:r>
            <a:endParaRPr b="0" lang="en-HK" sz="1130" spc="-1" strike="noStrike">
              <a:latin typeface="Arial"/>
            </a:endParaRPr>
          </a:p>
        </p:txBody>
      </p:sp>
      <p:sp>
        <p:nvSpPr>
          <p:cNvPr id="287" name="Shape 5"/>
          <p:cNvSpPr/>
          <p:nvPr/>
        </p:nvSpPr>
        <p:spPr>
          <a:xfrm>
            <a:off x="363240" y="2931480"/>
            <a:ext cx="5583960" cy="1872720"/>
          </a:xfrm>
          <a:custGeom>
            <a:avLst/>
            <a:gdLst/>
            <a:ahLst/>
            <a:rect l="l" t="t" r="r" b="b"/>
            <a:pathLst>
              <a:path w="5585012" h="1873624">
                <a:moveTo>
                  <a:pt x="0" y="0"/>
                </a:moveTo>
                <a:lnTo>
                  <a:pt x="5585012" y="0"/>
                </a:lnTo>
                <a:lnTo>
                  <a:pt x="5585012" y="1873624"/>
                </a:lnTo>
                <a:lnTo>
                  <a:pt x="0" y="1873624"/>
                </a:lnTo>
                <a:lnTo>
                  <a:pt x="0" y="0"/>
                </a:lnTo>
                <a:close/>
              </a:path>
            </a:pathLst>
          </a:custGeom>
          <a:solidFill>
            <a:srgbClr val="ffffff"/>
          </a:solidFill>
          <a:ln w="12700">
            <a:solidFill>
              <a:srgbClr val="e0e0e0"/>
            </a:solidFill>
            <a:round/>
          </a:ln>
        </p:spPr>
        <p:style>
          <a:lnRef idx="0"/>
          <a:fillRef idx="0"/>
          <a:effectRef idx="0"/>
          <a:fontRef idx="minor"/>
        </p:style>
      </p:sp>
      <p:sp>
        <p:nvSpPr>
          <p:cNvPr id="288" name="Text 6"/>
          <p:cNvSpPr/>
          <p:nvPr/>
        </p:nvSpPr>
        <p:spPr>
          <a:xfrm>
            <a:off x="470520" y="3079440"/>
            <a:ext cx="5368680" cy="2498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270" spc="-1" strike="noStrike">
                <a:solidFill>
                  <a:srgbClr val="2d3436"/>
                </a:solidFill>
                <a:latin typeface="Oranienbaum"/>
                <a:ea typeface="Oranienbaum"/>
              </a:rPr>
              <a:t>Payoff Matrix</a:t>
            </a:r>
            <a:endParaRPr b="0" lang="en-HK" sz="1270" spc="-1" strike="noStrike">
              <a:latin typeface="Arial"/>
            </a:endParaRPr>
          </a:p>
        </p:txBody>
      </p:sp>
      <p:graphicFrame>
        <p:nvGraphicFramePr>
          <p:cNvPr id="289" name="Table 0"/>
          <p:cNvGraphicFramePr/>
          <p:nvPr/>
        </p:nvGraphicFramePr>
        <p:xfrm>
          <a:off x="510840" y="3402000"/>
          <a:ext cx="5288400" cy="1003320"/>
        </p:xfrm>
        <a:graphic>
          <a:graphicData uri="http://schemas.openxmlformats.org/drawingml/2006/table">
            <a:tbl>
              <a:tblPr/>
              <a:tblGrid>
                <a:gridCol w="1894680"/>
                <a:gridCol w="1616040"/>
                <a:gridCol w="1778040"/>
              </a:tblGrid>
              <a:tr h="334440">
                <a:tc>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1" lang="en-US" sz="900" spc="-1" strike="noStrike">
                          <a:solidFill>
                            <a:srgbClr val="2d3436"/>
                          </a:solidFill>
                          <a:latin typeface="微软雅黑"/>
                          <a:ea typeface="微软雅黑"/>
                        </a:rPr>
                        <a:t>Bob: Ballet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1" lang="en-US" sz="900" spc="-1" strike="noStrike">
                          <a:solidFill>
                            <a:srgbClr val="2d3436"/>
                          </a:solidFill>
                          <a:latin typeface="微软雅黑"/>
                          <a:ea typeface="微软雅黑"/>
                        </a:rPr>
                        <a:t>Bob: Boxing</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334440">
                <a:tc>
                  <a:txBody>
                    <a:bodyPr lIns="71640" rIns="71640" anchor="ctr">
                      <a:noAutofit/>
                    </a:bodyPr>
                    <a:p>
                      <a:pPr>
                        <a:lnSpc>
                          <a:spcPct val="100000"/>
                        </a:lnSpc>
                        <a:buNone/>
                      </a:pPr>
                      <a:r>
                        <a:rPr b="1" lang="en-US" sz="900" spc="-1" strike="noStrike">
                          <a:solidFill>
                            <a:srgbClr val="2d3436"/>
                          </a:solidFill>
                          <a:latin typeface="微软雅黑"/>
                          <a:ea typeface="微软雅黑"/>
                        </a:rPr>
                        <a:t>Alice: Ballet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(3, 2)</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0984e3"/>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(0, 0)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r>
              <a:tr h="334800">
                <a:tc>
                  <a:txBody>
                    <a:bodyPr lIns="71640" rIns="71640" anchor="ctr">
                      <a:noAutofit/>
                    </a:bodyPr>
                    <a:p>
                      <a:pPr>
                        <a:lnSpc>
                          <a:spcPct val="100000"/>
                        </a:lnSpc>
                        <a:buNone/>
                      </a:pPr>
                      <a:r>
                        <a:rPr b="1" lang="en-US" sz="900" spc="-1" strike="noStrike">
                          <a:solidFill>
                            <a:srgbClr val="2d3436"/>
                          </a:solidFill>
                          <a:latin typeface="微软雅黑"/>
                          <a:ea typeface="微软雅黑"/>
                        </a:rPr>
                        <a:t>Alice: Boxing</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(0, 0)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(2, 3)</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0984e3"/>
                    </a:solidFill>
                  </a:tcPr>
                </a:tc>
              </a:tr>
            </a:tbl>
          </a:graphicData>
        </a:graphic>
      </p:graphicFrame>
      <p:sp>
        <p:nvSpPr>
          <p:cNvPr id="290" name="Text 7"/>
          <p:cNvSpPr/>
          <p:nvPr/>
        </p:nvSpPr>
        <p:spPr>
          <a:xfrm>
            <a:off x="479520" y="4478040"/>
            <a:ext cx="5350680" cy="1782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89" spc="-1" strike="noStrike">
                <a:solidFill>
                  <a:srgbClr val="636e72"/>
                </a:solidFill>
                <a:latin typeface="Quattrocento Sans"/>
                <a:ea typeface="Quattrocento Sans"/>
              </a:rPr>
              <a:t>Two pure-strategy Nash equilibria (highlighted)</a:t>
            </a:r>
            <a:endParaRPr b="0" lang="en-HK" sz="989" spc="-1" strike="noStrike">
              <a:latin typeface="Arial"/>
            </a:endParaRPr>
          </a:p>
        </p:txBody>
      </p:sp>
      <p:sp>
        <p:nvSpPr>
          <p:cNvPr id="291" name="Shape 8"/>
          <p:cNvSpPr/>
          <p:nvPr/>
        </p:nvSpPr>
        <p:spPr>
          <a:xfrm>
            <a:off x="376560" y="4952880"/>
            <a:ext cx="5574960" cy="752040"/>
          </a:xfrm>
          <a:custGeom>
            <a:avLst/>
            <a:gdLst/>
            <a:ahLst/>
            <a:rect l="l" t="t" r="r" b="b"/>
            <a:pathLst>
              <a:path w="5576047" h="753035">
                <a:moveTo>
                  <a:pt x="0" y="0"/>
                </a:moveTo>
                <a:lnTo>
                  <a:pt x="5576047" y="0"/>
                </a:lnTo>
                <a:lnTo>
                  <a:pt x="5576047" y="753035"/>
                </a:lnTo>
                <a:lnTo>
                  <a:pt x="0" y="753035"/>
                </a:lnTo>
                <a:lnTo>
                  <a:pt x="0" y="0"/>
                </a:lnTo>
                <a:close/>
              </a:path>
            </a:pathLst>
          </a:custGeom>
          <a:solidFill>
            <a:srgbClr val="f8f9fa"/>
          </a:solidFill>
          <a:ln w="0">
            <a:noFill/>
          </a:ln>
        </p:spPr>
        <p:style>
          <a:lnRef idx="0"/>
          <a:fillRef idx="0"/>
          <a:effectRef idx="0"/>
          <a:fontRef idx="minor"/>
        </p:style>
      </p:sp>
      <p:sp>
        <p:nvSpPr>
          <p:cNvPr id="292" name="Shape 9"/>
          <p:cNvSpPr/>
          <p:nvPr/>
        </p:nvSpPr>
        <p:spPr>
          <a:xfrm>
            <a:off x="376560" y="4952880"/>
            <a:ext cx="34920" cy="752040"/>
          </a:xfrm>
          <a:custGeom>
            <a:avLst/>
            <a:gdLst/>
            <a:ahLst/>
            <a:rect l="l" t="t" r="r" b="b"/>
            <a:pathLst>
              <a:path w="35859" h="753035">
                <a:moveTo>
                  <a:pt x="0" y="0"/>
                </a:moveTo>
                <a:lnTo>
                  <a:pt x="35859" y="0"/>
                </a:lnTo>
                <a:lnTo>
                  <a:pt x="35859" y="753035"/>
                </a:lnTo>
                <a:lnTo>
                  <a:pt x="0" y="753035"/>
                </a:lnTo>
                <a:lnTo>
                  <a:pt x="0" y="0"/>
                </a:lnTo>
                <a:close/>
              </a:path>
            </a:pathLst>
          </a:custGeom>
          <a:solidFill>
            <a:srgbClr val="0984e3"/>
          </a:solidFill>
          <a:ln w="0">
            <a:noFill/>
          </a:ln>
        </p:spPr>
        <p:style>
          <a:lnRef idx="0"/>
          <a:fillRef idx="0"/>
          <a:effectRef idx="0"/>
          <a:fontRef idx="minor"/>
        </p:style>
      </p:sp>
      <p:sp>
        <p:nvSpPr>
          <p:cNvPr id="293" name="Text 10"/>
          <p:cNvSpPr/>
          <p:nvPr/>
        </p:nvSpPr>
        <p:spPr>
          <a:xfrm>
            <a:off x="537840" y="5096520"/>
            <a:ext cx="5342040" cy="465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30" spc="-1" strike="noStrike">
                <a:solidFill>
                  <a:srgbClr val="1e272e"/>
                </a:solidFill>
                <a:latin typeface="Quattrocento Sans"/>
                <a:ea typeface="Quattrocento Sans"/>
              </a:rPr>
              <a:t>Key Challenge:</a:t>
            </a:r>
            <a:r>
              <a:rPr b="0" lang="en-US" sz="1130" spc="-1" strike="noStrike">
                <a:solidFill>
                  <a:srgbClr val="1e272e"/>
                </a:solidFill>
                <a:latin typeface="Quattrocento Sans"/>
                <a:ea typeface="Quattrocento Sans"/>
              </a:rPr>
              <a:t> Multiple equilibria create coordination problems. Players need mechanisms (communication, conventions, focal points) to select among equilibria.</a:t>
            </a:r>
            <a:endParaRPr b="0" lang="en-HK" sz="1130" spc="-1" strike="noStrike">
              <a:latin typeface="Arial"/>
            </a:endParaRPr>
          </a:p>
        </p:txBody>
      </p:sp>
      <p:sp>
        <p:nvSpPr>
          <p:cNvPr id="294" name="Text 11"/>
          <p:cNvSpPr/>
          <p:nvPr/>
        </p:nvSpPr>
        <p:spPr>
          <a:xfrm>
            <a:off x="6239520" y="1290960"/>
            <a:ext cx="5700600" cy="285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00" spc="-1" strike="noStrike">
                <a:solidFill>
                  <a:srgbClr val="2d3436"/>
                </a:solidFill>
                <a:latin typeface="Oranienbaum"/>
                <a:ea typeface="Oranienbaum"/>
              </a:rPr>
              <a:t>Chicken Game</a:t>
            </a:r>
            <a:endParaRPr b="0" lang="en-HK" sz="1700" spc="-1" strike="noStrike">
              <a:latin typeface="Arial"/>
            </a:endParaRPr>
          </a:p>
        </p:txBody>
      </p:sp>
      <p:sp>
        <p:nvSpPr>
          <p:cNvPr id="295" name="Text 12"/>
          <p:cNvSpPr/>
          <p:nvPr/>
        </p:nvSpPr>
        <p:spPr>
          <a:xfrm>
            <a:off x="6239520" y="1685520"/>
            <a:ext cx="5673600" cy="527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70" spc="-1" strike="noStrike">
                <a:solidFill>
                  <a:srgbClr val="1e272e"/>
                </a:solidFill>
                <a:latin typeface="Quattrocento Sans"/>
                <a:ea typeface="Quattrocento Sans"/>
              </a:rPr>
              <a:t>Two drivers head toward each other; the first to swerve is "chicken."</a:t>
            </a:r>
            <a:r>
              <a:rPr b="0" lang="en-US" sz="1270" spc="-1" strike="noStrike">
                <a:solidFill>
                  <a:srgbClr val="1e272e"/>
                </a:solidFill>
                <a:latin typeface="Quattrocento Sans"/>
                <a:ea typeface="Quattrocento Sans"/>
              </a:rPr>
              <a:t> Mutual destruction occurs if neither swerves.</a:t>
            </a:r>
            <a:endParaRPr b="0" lang="en-HK" sz="1270" spc="-1" strike="noStrike">
              <a:latin typeface="Arial"/>
            </a:endParaRPr>
          </a:p>
        </p:txBody>
      </p:sp>
      <p:sp>
        <p:nvSpPr>
          <p:cNvPr id="296" name="Text 13"/>
          <p:cNvSpPr/>
          <p:nvPr/>
        </p:nvSpPr>
        <p:spPr>
          <a:xfrm>
            <a:off x="6239520" y="2317320"/>
            <a:ext cx="5664600" cy="698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30" spc="-1" strike="noStrike">
                <a:solidFill>
                  <a:srgbClr val="636e72"/>
                </a:solidFill>
                <a:latin typeface="Quattrocento Sans"/>
                <a:ea typeface="Quattrocento Sans"/>
              </a:rPr>
              <a:t>This game models brinkmanship—pushing situations to the edge of disaster to force opponent concession. It has profound implications for nuclear strategy and conflict resolution.</a:t>
            </a:r>
            <a:endParaRPr b="0" lang="en-HK" sz="1130" spc="-1" strike="noStrike">
              <a:latin typeface="Arial"/>
            </a:endParaRPr>
          </a:p>
        </p:txBody>
      </p:sp>
      <p:sp>
        <p:nvSpPr>
          <p:cNvPr id="297" name="Shape 14"/>
          <p:cNvSpPr/>
          <p:nvPr/>
        </p:nvSpPr>
        <p:spPr>
          <a:xfrm>
            <a:off x="6243840" y="3164400"/>
            <a:ext cx="5583960" cy="1872720"/>
          </a:xfrm>
          <a:custGeom>
            <a:avLst/>
            <a:gdLst/>
            <a:ahLst/>
            <a:rect l="l" t="t" r="r" b="b"/>
            <a:pathLst>
              <a:path w="5585012" h="1873624">
                <a:moveTo>
                  <a:pt x="0" y="0"/>
                </a:moveTo>
                <a:lnTo>
                  <a:pt x="5585012" y="0"/>
                </a:lnTo>
                <a:lnTo>
                  <a:pt x="5585012" y="1873624"/>
                </a:lnTo>
                <a:lnTo>
                  <a:pt x="0" y="1873624"/>
                </a:lnTo>
                <a:lnTo>
                  <a:pt x="0" y="0"/>
                </a:lnTo>
                <a:close/>
              </a:path>
            </a:pathLst>
          </a:custGeom>
          <a:solidFill>
            <a:srgbClr val="ffffff"/>
          </a:solidFill>
          <a:ln w="12700">
            <a:solidFill>
              <a:srgbClr val="e0e0e0"/>
            </a:solidFill>
            <a:round/>
          </a:ln>
        </p:spPr>
        <p:style>
          <a:lnRef idx="0"/>
          <a:fillRef idx="0"/>
          <a:effectRef idx="0"/>
          <a:fontRef idx="minor"/>
        </p:style>
      </p:sp>
      <p:sp>
        <p:nvSpPr>
          <p:cNvPr id="298" name="Text 15"/>
          <p:cNvSpPr/>
          <p:nvPr/>
        </p:nvSpPr>
        <p:spPr>
          <a:xfrm>
            <a:off x="6351480" y="3312360"/>
            <a:ext cx="5368680" cy="2498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270" spc="-1" strike="noStrike">
                <a:solidFill>
                  <a:srgbClr val="2d3436"/>
                </a:solidFill>
                <a:latin typeface="Oranienbaum"/>
                <a:ea typeface="Oranienbaum"/>
              </a:rPr>
              <a:t>Payoff Matrix</a:t>
            </a:r>
            <a:endParaRPr b="0" lang="en-HK" sz="1270" spc="-1" strike="noStrike">
              <a:latin typeface="Arial"/>
            </a:endParaRPr>
          </a:p>
        </p:txBody>
      </p:sp>
      <p:graphicFrame>
        <p:nvGraphicFramePr>
          <p:cNvPr id="299" name="Table 1"/>
          <p:cNvGraphicFramePr/>
          <p:nvPr/>
        </p:nvGraphicFramePr>
        <p:xfrm>
          <a:off x="6391800" y="3635280"/>
          <a:ext cx="5288400" cy="1003320"/>
        </p:xfrm>
        <a:graphic>
          <a:graphicData uri="http://schemas.openxmlformats.org/drawingml/2006/table">
            <a:tbl>
              <a:tblPr/>
              <a:tblGrid>
                <a:gridCol w="1777680"/>
                <a:gridCol w="1751040"/>
                <a:gridCol w="1760040"/>
              </a:tblGrid>
              <a:tr h="334440">
                <a:tc>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1" lang="en-US" sz="900" spc="-1" strike="noStrike">
                          <a:solidFill>
                            <a:srgbClr val="2d3436"/>
                          </a:solidFill>
                          <a:latin typeface="微软雅黑"/>
                          <a:ea typeface="微软雅黑"/>
                        </a:rPr>
                        <a:t>Driver B: Swerve</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1" lang="en-US" sz="900" spc="-1" strike="noStrike">
                          <a:solidFill>
                            <a:srgbClr val="2d3436"/>
                          </a:solidFill>
                          <a:latin typeface="微软雅黑"/>
                          <a:ea typeface="微软雅黑"/>
                        </a:rPr>
                        <a:t>Driver B: Straight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334440">
                <a:tc>
                  <a:txBody>
                    <a:bodyPr lIns="71640" rIns="71640" anchor="ctr">
                      <a:noAutofit/>
                    </a:bodyPr>
                    <a:p>
                      <a:pPr>
                        <a:lnSpc>
                          <a:spcPct val="100000"/>
                        </a:lnSpc>
                        <a:buNone/>
                      </a:pPr>
                      <a:r>
                        <a:rPr b="1" lang="en-US" sz="900" spc="-1" strike="noStrike">
                          <a:solidFill>
                            <a:srgbClr val="2d3436"/>
                          </a:solidFill>
                          <a:latin typeface="微软雅黑"/>
                          <a:ea typeface="微软雅黑"/>
                        </a:rPr>
                        <a:t>Driver A: Swerve</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(0, 0)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(-1, 2)</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r>
              <a:tr h="334800">
                <a:tc>
                  <a:txBody>
                    <a:bodyPr lIns="71640" rIns="71640" anchor="ctr">
                      <a:noAutofit/>
                    </a:bodyPr>
                    <a:p>
                      <a:pPr>
                        <a:lnSpc>
                          <a:spcPct val="100000"/>
                        </a:lnSpc>
                        <a:buNone/>
                      </a:pPr>
                      <a:r>
                        <a:rPr b="1" lang="en-US" sz="900" spc="-1" strike="noStrike">
                          <a:solidFill>
                            <a:srgbClr val="2d3436"/>
                          </a:solidFill>
                          <a:latin typeface="微软雅黑"/>
                          <a:ea typeface="微软雅黑"/>
                        </a:rPr>
                        <a:t>Driver A: Straight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(2, -1)</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(-10, -10)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b2c36"/>
                    </a:solidFill>
                  </a:tcPr>
                </a:tc>
              </a:tr>
            </a:tbl>
          </a:graphicData>
        </a:graphic>
      </p:graphicFrame>
      <p:sp>
        <p:nvSpPr>
          <p:cNvPr id="300" name="Text 16"/>
          <p:cNvSpPr/>
          <p:nvPr/>
        </p:nvSpPr>
        <p:spPr>
          <a:xfrm>
            <a:off x="6360480" y="4710960"/>
            <a:ext cx="5350680" cy="1782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89" spc="-1" strike="noStrike">
                <a:solidFill>
                  <a:srgbClr val="636e72"/>
                </a:solidFill>
                <a:latin typeface="Quattrocento Sans"/>
                <a:ea typeface="Quattrocento Sans"/>
              </a:rPr>
              <a:t>Mutual destruction (highlighted in red) is the worst outcome</a:t>
            </a:r>
            <a:endParaRPr b="0" lang="en-HK" sz="989" spc="-1" strike="noStrike">
              <a:latin typeface="Arial"/>
            </a:endParaRPr>
          </a:p>
        </p:txBody>
      </p:sp>
      <p:sp>
        <p:nvSpPr>
          <p:cNvPr id="301" name="Shape 17"/>
          <p:cNvSpPr/>
          <p:nvPr/>
        </p:nvSpPr>
        <p:spPr>
          <a:xfrm>
            <a:off x="6239520" y="5186160"/>
            <a:ext cx="5592960" cy="1307880"/>
          </a:xfrm>
          <a:custGeom>
            <a:avLst/>
            <a:gdLst/>
            <a:ahLst/>
            <a:rect l="l" t="t" r="r" b="b"/>
            <a:pathLst>
              <a:path w="5593976" h="1308847">
                <a:moveTo>
                  <a:pt x="0" y="0"/>
                </a:moveTo>
                <a:lnTo>
                  <a:pt x="5593976" y="0"/>
                </a:lnTo>
                <a:lnTo>
                  <a:pt x="5593976" y="1308847"/>
                </a:lnTo>
                <a:lnTo>
                  <a:pt x="0" y="1308847"/>
                </a:lnTo>
                <a:lnTo>
                  <a:pt x="0" y="0"/>
                </a:lnTo>
                <a:close/>
              </a:path>
            </a:pathLst>
          </a:custGeom>
          <a:solidFill>
            <a:srgbClr val="2d3436"/>
          </a:solidFill>
          <a:ln w="0">
            <a:noFill/>
          </a:ln>
        </p:spPr>
        <p:style>
          <a:lnRef idx="0"/>
          <a:fillRef idx="0"/>
          <a:effectRef idx="0"/>
          <a:fontRef idx="minor"/>
        </p:style>
      </p:sp>
      <p:sp>
        <p:nvSpPr>
          <p:cNvPr id="302" name="Text 18"/>
          <p:cNvSpPr/>
          <p:nvPr/>
        </p:nvSpPr>
        <p:spPr>
          <a:xfrm>
            <a:off x="6382800" y="5329440"/>
            <a:ext cx="5386680" cy="249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70" spc="-1" strike="noStrike">
                <a:solidFill>
                  <a:srgbClr val="ffffff"/>
                </a:solidFill>
                <a:latin typeface="Oranienbaum"/>
                <a:ea typeface="Oranienbaum"/>
              </a:rPr>
              <a:t>Nuclear Deterrence Application</a:t>
            </a:r>
            <a:endParaRPr b="0" lang="en-HK" sz="1270" spc="-1" strike="noStrike">
              <a:latin typeface="Arial"/>
            </a:endParaRPr>
          </a:p>
        </p:txBody>
      </p:sp>
      <p:sp>
        <p:nvSpPr>
          <p:cNvPr id="303" name="Text 19"/>
          <p:cNvSpPr/>
          <p:nvPr/>
        </p:nvSpPr>
        <p:spPr>
          <a:xfrm>
            <a:off x="6382800" y="5652360"/>
            <a:ext cx="5377680" cy="698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30" spc="-1" strike="noStrike">
                <a:solidFill>
                  <a:srgbClr val="e0e0e0"/>
                </a:solidFill>
                <a:latin typeface="Quattrocento Sans"/>
                <a:ea typeface="Quattrocento Sans"/>
              </a:rPr>
              <a:t>During the Cold War, the Chicken Game modeled nuclear brinkmanship. Both superpowers threatened mutual assured destruction (MAD) to deter first strikes. The key was making threats credible while avoiding actual catastrophe.</a:t>
            </a:r>
            <a:endParaRPr b="0" lang="en-HK" sz="113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04" name="Text 0"/>
          <p:cNvSpPr/>
          <p:nvPr/>
        </p:nvSpPr>
        <p:spPr>
          <a:xfrm>
            <a:off x="609480" y="1781280"/>
            <a:ext cx="12191040" cy="1218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06</a:t>
            </a:r>
            <a:endParaRPr b="0" lang="en-HK" sz="9600" spc="-1" strike="noStrike">
              <a:latin typeface="Arial"/>
            </a:endParaRPr>
          </a:p>
        </p:txBody>
      </p:sp>
      <p:sp>
        <p:nvSpPr>
          <p:cNvPr id="305" name="Text 1"/>
          <p:cNvSpPr/>
          <p:nvPr/>
        </p:nvSpPr>
        <p:spPr>
          <a:xfrm>
            <a:off x="609480" y="3152880"/>
            <a:ext cx="11867040" cy="11419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Real-World</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Applications</a:t>
            </a:r>
            <a:endParaRPr b="0" lang="en-HK" sz="4500" spc="-1" strike="noStrike">
              <a:latin typeface="Arial"/>
            </a:endParaRPr>
          </a:p>
        </p:txBody>
      </p:sp>
      <p:sp>
        <p:nvSpPr>
          <p:cNvPr id="306" name="Shape 2"/>
          <p:cNvSpPr/>
          <p:nvPr/>
        </p:nvSpPr>
        <p:spPr>
          <a:xfrm>
            <a:off x="609480" y="4524480"/>
            <a:ext cx="1218240" cy="1800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307" name="Text 3"/>
          <p:cNvSpPr/>
          <p:nvPr/>
        </p:nvSpPr>
        <p:spPr>
          <a:xfrm>
            <a:off x="609480" y="4772160"/>
            <a:ext cx="1169568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Game theory in action across disciplines</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19</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2026-03-18T11:54:39Z</dcterms:created>
  <dc:creator>Kimi</dc:creator>
  <dc:description/>
  <dc:language>en-HK</dc:language>
  <cp:lastModifiedBy/>
  <dcterms:modified xsi:type="dcterms:W3CDTF">2026-04-18T15:04:52Z</dcterms:modified>
  <cp:revision>4</cp:revision>
  <dc:subject>Game Theory</dc:subject>
  <dc:title>Game Theory</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{"Label":"Game Theory","ContentProducer":"001191110108MACG2KBH8F10000","ProduceID":"19d00906-6002-88af-8000-00001a6b51f9","ReservedCode1":"","ContentPropagator":"001191110108MACG2KBH8F20000","PropagateID":"19d00906-6002-88af-8000-00001a6b51f9","ReservedCode2":""}</vt:lpwstr>
  </property>
  <property fmtid="{D5CDD505-2E9C-101B-9397-08002B2CF9AE}" pid="3" name="Notes">
    <vt:i4>21</vt:i4>
  </property>
  <property fmtid="{D5CDD505-2E9C-101B-9397-08002B2CF9AE}" pid="4" name="PresentationFormat">
    <vt:lpwstr>On-screen Show (16:9)</vt:lpwstr>
  </property>
  <property fmtid="{D5CDD505-2E9C-101B-9397-08002B2CF9AE}" pid="5" name="Slides">
    <vt:i4>21</vt:i4>
  </property>
</Properties>
</file>