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a:t>
            </a:r>
            <a:r>
              <a:rPr b="0" lang="en-HK" sz="2000" spc="-1" strike="noStrike">
                <a:latin typeface="Arial"/>
              </a:rPr>
              <a:t>the notes </a:t>
            </a:r>
            <a:r>
              <a:rPr b="0" lang="en-HK" sz="2000" spc="-1" strike="noStrike">
                <a:latin typeface="Arial"/>
              </a:rPr>
              <a:t>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77910473-4076-49D5-B64D-670DCB0EA1D1}"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3880" cy="3083760"/>
          </a:xfrm>
          <a:prstGeom prst="rect">
            <a:avLst/>
          </a:prstGeom>
          <a:ln w="0">
            <a:noFill/>
          </a:ln>
        </p:spPr>
      </p:sp>
      <p:sp>
        <p:nvSpPr>
          <p:cNvPr id="55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6B87AF2-C2E5-41AC-B926-C8DF6AAADB5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3880" cy="3083760"/>
          </a:xfrm>
          <a:prstGeom prst="rect">
            <a:avLst/>
          </a:prstGeom>
          <a:ln w="0">
            <a:noFill/>
          </a:ln>
        </p:spPr>
      </p:sp>
      <p:sp>
        <p:nvSpPr>
          <p:cNvPr id="55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164005A-FC21-4382-9007-91D19AE6C1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3880" cy="3083760"/>
          </a:xfrm>
          <a:prstGeom prst="rect">
            <a:avLst/>
          </a:prstGeom>
          <a:ln w="0">
            <a:noFill/>
          </a:ln>
        </p:spPr>
      </p:sp>
      <p:sp>
        <p:nvSpPr>
          <p:cNvPr id="56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4BA6F78-3A59-4B99-9FAD-BE0E68A2863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3880" cy="3083760"/>
          </a:xfrm>
          <a:prstGeom prst="rect">
            <a:avLst/>
          </a:prstGeom>
          <a:ln w="0">
            <a:noFill/>
          </a:ln>
        </p:spPr>
      </p:sp>
      <p:sp>
        <p:nvSpPr>
          <p:cNvPr id="563" name="PlaceHolder 2"/>
          <p:cNvSpPr>
            <a:spLocks noGrp="1"/>
          </p:cNvSpPr>
          <p:nvPr>
            <p:ph type="sldNum" idx="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89E075E-CD30-4DCC-8F91-DFAE95F049DF}" type="slidenum">
              <a:rPr b="0" lang="en-US" sz="1200" spc="-1" strike="noStrike">
                <a:latin typeface="Times New Roman"/>
              </a:rPr>
              <a:t>&lt;number&gt;</a:t>
            </a:fld>
            <a:r>
              <a:rPr b="0" lang="en-US" sz="1200" spc="-1" strike="noStrike">
                <a:latin typeface="Times New Roman"/>
              </a:rPr>
              <a:t>Van Gogh began his artistic career at 27 and produced over 860 oil paintings in just 10 years.</a:t>
            </a:r>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685800" y="1143000"/>
            <a:ext cx="5483880" cy="3083760"/>
          </a:xfrm>
          <a:prstGeom prst="rect">
            <a:avLst/>
          </a:prstGeom>
          <a:ln w="0">
            <a:noFill/>
          </a:ln>
        </p:spPr>
      </p:sp>
      <p:sp>
        <p:nvSpPr>
          <p:cNvPr id="56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66" name="PlaceHolder 3"/>
          <p:cNvSpPr>
            <a:spLocks noGrp="1"/>
          </p:cNvSpPr>
          <p:nvPr>
            <p:ph type="sldNum" idx="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7B4EC22-D1B2-46D2-AFB9-05C3E902B63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685800" y="1143000"/>
            <a:ext cx="5483880" cy="3083760"/>
          </a:xfrm>
          <a:prstGeom prst="rect">
            <a:avLst/>
          </a:prstGeom>
          <a:ln w="0">
            <a:noFill/>
          </a:ln>
        </p:spPr>
      </p:sp>
      <p:sp>
        <p:nvSpPr>
          <p:cNvPr id="56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69" name="PlaceHolder 3"/>
          <p:cNvSpPr>
            <a:spLocks noGrp="1"/>
          </p:cNvSpPr>
          <p:nvPr>
            <p:ph type="sldNum" idx="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7C3AA51-5766-455A-8F38-4766DF8FFB9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685800" y="1143000"/>
            <a:ext cx="5483880" cy="3083760"/>
          </a:xfrm>
          <a:prstGeom prst="rect">
            <a:avLst/>
          </a:prstGeom>
          <a:ln w="0">
            <a:noFill/>
          </a:ln>
        </p:spPr>
      </p:sp>
      <p:sp>
        <p:nvSpPr>
          <p:cNvPr id="57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72" name="PlaceHolder 3"/>
          <p:cNvSpPr>
            <a:spLocks noGrp="1"/>
          </p:cNvSpPr>
          <p:nvPr>
            <p:ph type="sldNum" idx="1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DBF6B8B-6C5C-4A25-9361-FDCD360D4AE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sldImg"/>
          </p:nvPr>
        </p:nvSpPr>
        <p:spPr>
          <a:xfrm>
            <a:off x="685800" y="1143000"/>
            <a:ext cx="5483880" cy="3083760"/>
          </a:xfrm>
          <a:prstGeom prst="rect">
            <a:avLst/>
          </a:prstGeom>
          <a:ln w="0">
            <a:noFill/>
          </a:ln>
        </p:spPr>
      </p:sp>
      <p:sp>
        <p:nvSpPr>
          <p:cNvPr id="57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75" name="PlaceHolder 3"/>
          <p:cNvSpPr>
            <a:spLocks noGrp="1"/>
          </p:cNvSpPr>
          <p:nvPr>
            <p:ph type="sldNum" idx="1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41691D8-72B8-467F-B28F-00E09E92193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ldImg"/>
          </p:nvPr>
        </p:nvSpPr>
        <p:spPr>
          <a:xfrm>
            <a:off x="685800" y="1143000"/>
            <a:ext cx="5483880" cy="3083760"/>
          </a:xfrm>
          <a:prstGeom prst="rect">
            <a:avLst/>
          </a:prstGeom>
          <a:ln w="0">
            <a:noFill/>
          </a:ln>
        </p:spPr>
      </p:sp>
      <p:sp>
        <p:nvSpPr>
          <p:cNvPr id="57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78" name="PlaceHolder 3"/>
          <p:cNvSpPr>
            <a:spLocks noGrp="1"/>
          </p:cNvSpPr>
          <p:nvPr>
            <p:ph type="sldNum" idx="1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A0F030E-A2AF-4F01-B804-DCAB063B114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PlaceHolder 1"/>
          <p:cNvSpPr>
            <a:spLocks noGrp="1"/>
          </p:cNvSpPr>
          <p:nvPr>
            <p:ph type="sldImg"/>
          </p:nvPr>
        </p:nvSpPr>
        <p:spPr>
          <a:xfrm>
            <a:off x="685800" y="1143000"/>
            <a:ext cx="5483880" cy="3083760"/>
          </a:xfrm>
          <a:prstGeom prst="rect">
            <a:avLst/>
          </a:prstGeom>
          <a:ln w="0">
            <a:noFill/>
          </a:ln>
        </p:spPr>
      </p:sp>
      <p:sp>
        <p:nvSpPr>
          <p:cNvPr id="58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81" name="PlaceHolder 3"/>
          <p:cNvSpPr>
            <a:spLocks noGrp="1"/>
          </p:cNvSpPr>
          <p:nvPr>
            <p:ph type="sldNum" idx="13"/>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A2E4491-321D-4B06-B343-5A29968C645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PlaceHolder 1"/>
          <p:cNvSpPr>
            <a:spLocks noGrp="1"/>
          </p:cNvSpPr>
          <p:nvPr>
            <p:ph type="sldImg"/>
          </p:nvPr>
        </p:nvSpPr>
        <p:spPr>
          <a:xfrm>
            <a:off x="685800" y="1143000"/>
            <a:ext cx="5483880" cy="3083760"/>
          </a:xfrm>
          <a:prstGeom prst="rect">
            <a:avLst/>
          </a:prstGeom>
          <a:ln w="0">
            <a:noFill/>
          </a:ln>
        </p:spPr>
      </p:sp>
      <p:sp>
        <p:nvSpPr>
          <p:cNvPr id="58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84" name="PlaceHolder 3"/>
          <p:cNvSpPr>
            <a:spLocks noGrp="1"/>
          </p:cNvSpPr>
          <p:nvPr>
            <p:ph type="sldNum" idx="1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568F2A2-D703-4521-9B54-8B5840C0AFE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5" name="PlaceHolder 1"/>
          <p:cNvSpPr>
            <a:spLocks noGrp="1"/>
          </p:cNvSpPr>
          <p:nvPr>
            <p:ph type="sldImg"/>
          </p:nvPr>
        </p:nvSpPr>
        <p:spPr>
          <a:xfrm>
            <a:off x="685800" y="1143000"/>
            <a:ext cx="5483880" cy="3083760"/>
          </a:xfrm>
          <a:prstGeom prst="rect">
            <a:avLst/>
          </a:prstGeom>
          <a:ln w="0">
            <a:noFill/>
          </a:ln>
        </p:spPr>
      </p:sp>
      <p:sp>
        <p:nvSpPr>
          <p:cNvPr id="586"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87" name="PlaceHolder 3"/>
          <p:cNvSpPr>
            <a:spLocks noGrp="1"/>
          </p:cNvSpPr>
          <p:nvPr>
            <p:ph type="sldNum" idx="1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791E2C6-1513-411A-AA39-593F5DFB31F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sldImg"/>
          </p:nvPr>
        </p:nvSpPr>
        <p:spPr>
          <a:xfrm>
            <a:off x="685800" y="1143000"/>
            <a:ext cx="5483880" cy="3083760"/>
          </a:xfrm>
          <a:prstGeom prst="rect">
            <a:avLst/>
          </a:prstGeom>
          <a:ln w="0">
            <a:noFill/>
          </a:ln>
        </p:spPr>
      </p:sp>
      <p:sp>
        <p:nvSpPr>
          <p:cNvPr id="589"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90" name="PlaceHolder 3"/>
          <p:cNvSpPr>
            <a:spLocks noGrp="1"/>
          </p:cNvSpPr>
          <p:nvPr>
            <p:ph type="sldNum" idx="1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C9E52A-24C0-4AD4-A139-E990DF30DEB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sldImg"/>
          </p:nvPr>
        </p:nvSpPr>
        <p:spPr>
          <a:xfrm>
            <a:off x="685800" y="1143000"/>
            <a:ext cx="5483880" cy="3083760"/>
          </a:xfrm>
          <a:prstGeom prst="rect">
            <a:avLst/>
          </a:prstGeom>
          <a:ln w="0">
            <a:noFill/>
          </a:ln>
        </p:spPr>
      </p:sp>
      <p:sp>
        <p:nvSpPr>
          <p:cNvPr id="592"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93" name="PlaceHolder 3"/>
          <p:cNvSpPr>
            <a:spLocks noGrp="1"/>
          </p:cNvSpPr>
          <p:nvPr>
            <p:ph type="sldNum" idx="1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80594EC-DF06-443D-9AD1-834D1C69979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685800" y="1143000"/>
            <a:ext cx="5483880" cy="3083760"/>
          </a:xfrm>
          <a:prstGeom prst="rect">
            <a:avLst/>
          </a:prstGeom>
          <a:ln w="0">
            <a:noFill/>
          </a:ln>
        </p:spPr>
      </p:sp>
      <p:sp>
        <p:nvSpPr>
          <p:cNvPr id="59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96" name="PlaceHolder 3"/>
          <p:cNvSpPr>
            <a:spLocks noGrp="1"/>
          </p:cNvSpPr>
          <p:nvPr>
            <p:ph type="sldNum" idx="1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CC480CA-8F82-4D9C-8862-CB6F903F06D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sldImg"/>
          </p:nvPr>
        </p:nvSpPr>
        <p:spPr>
          <a:xfrm>
            <a:off x="685800" y="1143000"/>
            <a:ext cx="5483880" cy="3083760"/>
          </a:xfrm>
          <a:prstGeom prst="rect">
            <a:avLst/>
          </a:prstGeom>
          <a:ln w="0">
            <a:noFill/>
          </a:ln>
        </p:spPr>
      </p:sp>
      <p:sp>
        <p:nvSpPr>
          <p:cNvPr id="59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599" name="PlaceHolder 3"/>
          <p:cNvSpPr>
            <a:spLocks noGrp="1"/>
          </p:cNvSpPr>
          <p:nvPr>
            <p:ph type="sldNum" idx="1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0524940-CF0A-40D9-BCE9-80F74517E12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 name="PlaceHolder 1"/>
          <p:cNvSpPr>
            <a:spLocks noGrp="1"/>
          </p:cNvSpPr>
          <p:nvPr>
            <p:ph type="sldImg"/>
          </p:nvPr>
        </p:nvSpPr>
        <p:spPr>
          <a:xfrm>
            <a:off x="685800" y="1143000"/>
            <a:ext cx="5483880" cy="3083760"/>
          </a:xfrm>
          <a:prstGeom prst="rect">
            <a:avLst/>
          </a:prstGeom>
          <a:ln w="0">
            <a:noFill/>
          </a:ln>
        </p:spPr>
      </p:sp>
      <p:sp>
        <p:nvSpPr>
          <p:cNvPr id="60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602" name="PlaceHolder 3"/>
          <p:cNvSpPr>
            <a:spLocks noGrp="1"/>
          </p:cNvSpPr>
          <p:nvPr>
            <p:ph type="sldNum" idx="2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885BCB8-36E9-4E8E-B723-DE4980A9190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 name="PlaceHolder 1"/>
          <p:cNvSpPr>
            <a:spLocks noGrp="1"/>
          </p:cNvSpPr>
          <p:nvPr>
            <p:ph type="sldImg"/>
          </p:nvPr>
        </p:nvSpPr>
        <p:spPr>
          <a:xfrm>
            <a:off x="685800" y="1143000"/>
            <a:ext cx="5483880" cy="3083760"/>
          </a:xfrm>
          <a:prstGeom prst="rect">
            <a:avLst/>
          </a:prstGeom>
          <a:ln w="0">
            <a:noFill/>
          </a:ln>
        </p:spPr>
      </p:sp>
      <p:sp>
        <p:nvSpPr>
          <p:cNvPr id="60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605" name="PlaceHolder 3"/>
          <p:cNvSpPr>
            <a:spLocks noGrp="1"/>
          </p:cNvSpPr>
          <p:nvPr>
            <p:ph type="sldNum" idx="2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E1168D3-FBE3-43D6-988C-361C8EC1E1C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ldImg"/>
          </p:nvPr>
        </p:nvSpPr>
        <p:spPr>
          <a:xfrm>
            <a:off x="685800" y="1143000"/>
            <a:ext cx="5483880" cy="3083760"/>
          </a:xfrm>
          <a:prstGeom prst="rect">
            <a:avLst/>
          </a:prstGeom>
          <a:ln w="0">
            <a:noFill/>
          </a:ln>
        </p:spPr>
      </p:sp>
      <p:sp>
        <p:nvSpPr>
          <p:cNvPr id="60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608" name="PlaceHolder 3"/>
          <p:cNvSpPr>
            <a:spLocks noGrp="1"/>
          </p:cNvSpPr>
          <p:nvPr>
            <p:ph type="sldNum" idx="2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14EE896-A020-44FE-981A-36D825930672}"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7000" cy="38808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27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41"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0880" cy="2607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7200" spc="-1" strike="noStrike">
                <a:solidFill>
                  <a:srgbClr val="f2f2f2"/>
                </a:solidFill>
                <a:latin typeface="Oranienbaum"/>
                <a:ea typeface="Oranienbaum"/>
              </a:rPr>
              <a:t>Vincent van Gogh:</a:t>
            </a:r>
            <a:endParaRPr b="0" lang="en-HK" sz="7200" spc="-1" strike="noStrike">
              <a:latin typeface="Arial"/>
            </a:endParaRPr>
          </a:p>
          <a:p>
            <a:pPr>
              <a:lnSpc>
                <a:spcPct val="80000"/>
              </a:lnSpc>
              <a:buNone/>
            </a:pPr>
            <a:r>
              <a:rPr b="1" lang="en-US" sz="7200" spc="-1" strike="noStrike">
                <a:solidFill>
                  <a:srgbClr val="c9a36a"/>
                </a:solidFill>
                <a:latin typeface="Oranienbaum"/>
                <a:ea typeface="Oranienbaum"/>
              </a:rPr>
              <a:t>A Life of Passionand Color</a:t>
            </a:r>
            <a:endParaRPr b="0" lang="en-HK" sz="7200" spc="-1" strike="noStrike">
              <a:latin typeface="Arial"/>
            </a:endParaRPr>
          </a:p>
        </p:txBody>
      </p:sp>
      <p:sp>
        <p:nvSpPr>
          <p:cNvPr id="49" name="Shape 4"/>
          <p:cNvSpPr/>
          <p:nvPr/>
        </p:nvSpPr>
        <p:spPr>
          <a:xfrm>
            <a:off x="380880" y="4298400"/>
            <a:ext cx="1521360" cy="2592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276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4160" cy="18792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032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7920" cy="18792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660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38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82"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3320" cy="569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6800" cy="2592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1120" cy="13406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5640" cy="13406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6900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720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1120" cy="13406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5640" cy="13406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62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720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1120" cy="13406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5640" cy="13406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62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720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1120" cy="13406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5640" cy="13406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560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720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1120" cy="15883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5640" cy="15883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62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720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1120" cy="15883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5640" cy="15883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1000" cy="5310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62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53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720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0960" cy="80712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628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1200" cy="93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348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205" strike="noStrike">
                <a:solidFill>
                  <a:srgbClr val="c9a36a"/>
                </a:solidFill>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4600" cy="42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340" spc="-1" strike="noStrike">
                <a:solidFill>
                  <a:srgbClr val="f2f2f2"/>
                </a:solidFill>
                <a:latin typeface="Oranienbaum"/>
                <a:ea typeface="Oranienbaum"/>
              </a:rPr>
              <a:t>From Zundert to the Canvas</a:t>
            </a:r>
            <a:endParaRPr b="0" lang="en-HK" sz="3340" spc="-1" strike="noStrike">
              <a:latin typeface="Arial"/>
            </a:endParaRPr>
          </a:p>
        </p:txBody>
      </p:sp>
      <p:sp>
        <p:nvSpPr>
          <p:cNvPr id="103" name="Shape 2"/>
          <p:cNvSpPr/>
          <p:nvPr/>
        </p:nvSpPr>
        <p:spPr>
          <a:xfrm>
            <a:off x="353520" y="1201680"/>
            <a:ext cx="987120" cy="1512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6240" cy="176436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4120" cy="176436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6600" cy="20952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2000" cy="280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19760" cy="91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March 30, 1853</a:t>
            </a:r>
            <a:r>
              <a:rPr b="0"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6240" cy="15346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4120" cy="15346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09520" cy="20952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499400" cy="280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19760" cy="68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b8b8b8"/>
                </a:solidFill>
                <a:latin typeface="Quattrocento Sans"/>
                <a:ea typeface="Quattrocento Sans"/>
              </a:rPr>
              <a:t>Before becoming an artist, Van Gogh tried multiple careers: </a:t>
            </a:r>
            <a:r>
              <a:rPr b="0" lang="en-US" sz="1110" spc="-1" strike="noStrike">
                <a:solidFill>
                  <a:srgbClr val="f2f2f2"/>
                </a:solidFill>
                <a:latin typeface="Quattrocento Sans"/>
                <a:ea typeface="Quattrocento Sans"/>
              </a:rPr>
              <a:t>art dealer at Goupil &amp; Cie</a:t>
            </a:r>
            <a:r>
              <a:rPr b="0" lang="en-US" sz="1110" spc="-1" strike="noStrike">
                <a:solidFill>
                  <a:srgbClr val="b8b8b8"/>
                </a:solidFill>
                <a:latin typeface="Quattrocento Sans"/>
                <a:ea typeface="Quattrocento Sans"/>
              </a:rPr>
              <a:t> (The Hague, London, Paris), </a:t>
            </a:r>
            <a:r>
              <a:rPr b="0" lang="en-US" sz="1110" spc="-1" strike="noStrike">
                <a:solidFill>
                  <a:srgbClr val="f2f2f2"/>
                </a:solidFill>
                <a:latin typeface="Quattrocento Sans"/>
                <a:ea typeface="Quattrocento Sans"/>
              </a:rPr>
              <a:t>teacher in England</a:t>
            </a:r>
            <a:r>
              <a:rPr b="0" lang="en-US" sz="1110" spc="-1" strike="noStrike">
                <a:solidFill>
                  <a:srgbClr val="b8b8b8"/>
                </a:solidFill>
                <a:latin typeface="Quattrocento Sans"/>
                <a:ea typeface="Quattrocento Sans"/>
              </a:rPr>
              <a:t>, and </a:t>
            </a:r>
            <a:r>
              <a:rPr b="0" lang="en-US" sz="1110" spc="-1" strike="noStrike">
                <a:solidFill>
                  <a:srgbClr val="f2f2f2"/>
                </a:solidFill>
                <a:latin typeface="Quattrocento Sans"/>
                <a:ea typeface="Quattrocento Sans"/>
              </a:rPr>
              <a:t>preacher among poor miners in Belgium</a:t>
            </a:r>
            <a:r>
              <a:rPr b="0"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6240" cy="15346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4120" cy="15346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6160" cy="20952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3240" cy="2800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19760" cy="68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1880, Age 27</a:t>
            </a:r>
            <a:r>
              <a:rPr b="0"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lang="en-US" sz="1110" spc="-1" strike="noStrike">
                <a:solidFill>
                  <a:srgbClr val="c9a36a"/>
                </a:solidFill>
                <a:latin typeface="Quattrocento Sans"/>
                <a:ea typeface="Quattrocento Sans"/>
              </a:rPr>
              <a:t>ten years</a:t>
            </a:r>
            <a:r>
              <a:rPr b="0"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3680" y="1431360"/>
            <a:ext cx="5068800" cy="268308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2920" cy="244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5720" y="2102760"/>
            <a:ext cx="68040" cy="680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524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120" y="2243880"/>
            <a:ext cx="159660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5720" y="2597400"/>
            <a:ext cx="68040" cy="680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220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120" y="2738880"/>
            <a:ext cx="139320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5720" y="3092040"/>
            <a:ext cx="68040" cy="680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6972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120" y="3233520"/>
            <a:ext cx="126072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5720" y="3587040"/>
            <a:ext cx="68040" cy="680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6920" cy="20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120" y="3728160"/>
            <a:ext cx="135792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000" y="4298040"/>
            <a:ext cx="5059800" cy="232092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29320" cy="26244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5280" cy="2890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080" y="5771160"/>
            <a:ext cx="4697640" cy="209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c9a36a"/>
                </a:solidFill>
                <a:latin typeface="Quattrocento Sans"/>
                <a:ea typeface="Quattrocento Sans"/>
              </a:rPr>
              <a:t>— </a:t>
            </a:r>
            <a:r>
              <a:rPr b="0"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5720" cy="8071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176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1200" cy="93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8b0000"/>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74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85"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6720" cy="385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2880" cy="1368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5280" cy="22248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5280" cy="216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816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480" y="1495800"/>
            <a:ext cx="5716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680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Van Gogh's early period was characterized by </a:t>
            </a:r>
            <a:r>
              <a:rPr b="0" lang="en-US" sz="1020" spc="-1" strike="noStrike">
                <a:solidFill>
                  <a:srgbClr val="f2f2f2"/>
                </a:solidFill>
                <a:latin typeface="Quattrocento Sans"/>
                <a:ea typeface="Quattrocento Sans"/>
              </a:rPr>
              <a:t>dark, earthy tones</a:t>
            </a:r>
            <a:r>
              <a:rPr b="0"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2000" cy="5796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4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2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73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8880" y="1289520"/>
            <a:ext cx="5705280" cy="22248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5280" cy="216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464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160" y="1495800"/>
            <a:ext cx="555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520" y="1786680"/>
            <a:ext cx="544680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Moving to Paris transformed his palette. Through brother Theo, he met </a:t>
            </a:r>
            <a:r>
              <a:rPr b="0" lang="en-US" sz="1020" spc="-1" strike="noStrike">
                <a:solidFill>
                  <a:srgbClr val="f2f2f2"/>
                </a:solidFill>
                <a:latin typeface="Quattrocento Sans"/>
                <a:ea typeface="Quattrocento Sans"/>
              </a:rPr>
              <a:t>Impressionists like Pissarro, Degas, and Seurat</a:t>
            </a:r>
            <a:r>
              <a:rPr b="0"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520" y="2514240"/>
            <a:ext cx="5382000" cy="5796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4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7720" y="2805480"/>
            <a:ext cx="5252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52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798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5280" cy="22248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5280" cy="216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636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560" y="3864600"/>
            <a:ext cx="555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680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Seeking the "Japanese" light of the South, Van Gogh created his most iconic works. The </a:t>
            </a:r>
            <a:r>
              <a:rPr b="0" lang="en-US" sz="1020" spc="-1" strike="noStrike">
                <a:solidFill>
                  <a:srgbClr val="f2f2f2"/>
                </a:solidFill>
                <a:latin typeface="Quattrocento Sans"/>
                <a:ea typeface="Quattrocento Sans"/>
              </a:rPr>
              <a:t>intense Provençal sun</a:t>
            </a:r>
            <a:r>
              <a:rPr b="0"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2000" cy="5796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4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2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293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8880" y="3658320"/>
            <a:ext cx="5705280" cy="22248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5280" cy="216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016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8440" y="3864600"/>
            <a:ext cx="5716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520" y="4155480"/>
            <a:ext cx="5446800" cy="628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During his asylum stay, Van Gogh painted </a:t>
            </a:r>
            <a:r>
              <a:rPr b="0" lang="en-US" sz="1020" spc="-1" strike="noStrike">
                <a:solidFill>
                  <a:srgbClr val="f2f2f2"/>
                </a:solidFill>
                <a:latin typeface="Quattrocento Sans"/>
                <a:ea typeface="Quattrocento Sans"/>
              </a:rPr>
              <a:t>over 150 works in one year</a:t>
            </a:r>
            <a:r>
              <a:rPr b="0"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520" y="4883400"/>
            <a:ext cx="5382000" cy="5796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4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7720" y="5174280"/>
            <a:ext cx="5252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52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6720" cy="1267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048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0440" cy="83844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1600" cy="83844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436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816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520" y="6144480"/>
            <a:ext cx="5495040" cy="57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b8b8b8"/>
                </a:solidFill>
                <a:latin typeface="Quattrocento Sans"/>
                <a:ea typeface="Quattrocento Sans"/>
              </a:rPr>
              <a:t>In his final two months, Van Gogh produced </a:t>
            </a:r>
            <a:r>
              <a:rPr b="0" lang="en-US" sz="1020" spc="-1" strike="noStrike">
                <a:solidFill>
                  <a:srgbClr val="f2f2f2"/>
                </a:solidFill>
                <a:latin typeface="Quattrocento Sans"/>
                <a:ea typeface="Quattrocento Sans"/>
              </a:rPr>
              <a:t>70+ paintings</a:t>
            </a:r>
            <a:r>
              <a:rPr b="0"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7560" cy="218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60" spc="214"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4440" cy="438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7440" cy="1584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1600" cy="35834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5200" cy="35834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38840" cy="4388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1440" cy="18144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58200" cy="291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3440" cy="953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revolutionized painting with </a:t>
            </a:r>
            <a:r>
              <a:rPr b="0" lang="en-US" sz="1160" spc="-1" strike="noStrike">
                <a:solidFill>
                  <a:srgbClr val="f2f2f2"/>
                </a:solidFill>
                <a:latin typeface="Quattrocento Sans"/>
                <a:ea typeface="Quattrocento Sans"/>
              </a:rPr>
              <a:t>impasto</a:t>
            </a:r>
            <a:r>
              <a:rPr b="0"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0000" cy="139500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899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899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899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899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899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1600" cy="16707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5200" cy="16707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38840" cy="4388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1440" cy="18144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7040" cy="291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3440" cy="71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His brushstrokes </a:t>
            </a:r>
            <a:r>
              <a:rPr b="0" lang="en-US" sz="1160" spc="-1" strike="noStrike">
                <a:solidFill>
                  <a:srgbClr val="f2f2f2"/>
                </a:solidFill>
                <a:latin typeface="Quattrocento Sans"/>
                <a:ea typeface="Quattrocento Sans"/>
              </a:rPr>
              <a:t>follow the form</a:t>
            </a:r>
            <a:r>
              <a:rPr b="0"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160" y="1452600"/>
            <a:ext cx="5601600" cy="35834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5200" cy="35834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38840" cy="4388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1440" cy="18144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3600" cy="291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8800" y="2225160"/>
            <a:ext cx="5293440" cy="71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used </a:t>
            </a:r>
            <a:r>
              <a:rPr b="0" lang="en-US" sz="1160" spc="-1" strike="noStrike">
                <a:solidFill>
                  <a:srgbClr val="f2f2f2"/>
                </a:solidFill>
                <a:latin typeface="Quattrocento Sans"/>
                <a:ea typeface="Quattrocento Sans"/>
              </a:rPr>
              <a:t>complementary colors</a:t>
            </a:r>
            <a:r>
              <a:rPr b="0"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8800" y="3089520"/>
            <a:ext cx="1661760" cy="5860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6840" cy="1447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6840" y="3089520"/>
            <a:ext cx="1661760" cy="5860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6840" cy="1447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4520" y="3089520"/>
            <a:ext cx="1661760" cy="5860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6840" cy="1447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8800" y="4045680"/>
            <a:ext cx="5220000" cy="80676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3760" cy="181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320" y="4376520"/>
            <a:ext cx="5063760" cy="365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160" y="5185800"/>
            <a:ext cx="5601600" cy="16707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5200" cy="16707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38840" cy="4388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58400" cy="18144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08640" cy="291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8800" y="5958000"/>
            <a:ext cx="5293440" cy="71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collected hundreds of </a:t>
            </a:r>
            <a:r>
              <a:rPr b="0" lang="en-US" sz="1160" spc="-1" strike="noStrike">
                <a:solidFill>
                  <a:srgbClr val="f2f2f2"/>
                </a:solidFill>
                <a:latin typeface="Quattrocento Sans"/>
                <a:ea typeface="Quattrocento Sans"/>
              </a:rPr>
              <a:t>ukiyo-e woodblock prints</a:t>
            </a:r>
            <a:r>
              <a:rPr b="0"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5720" cy="8071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464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1200" cy="464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179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82"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5000" cy="378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6320" cy="133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1200" cy="404568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3280" cy="403776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7240" cy="117216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1240" cy="117216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70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22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4720" y="1222200"/>
            <a:ext cx="6240240" cy="19976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1240" cy="19976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62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360" y="173052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Painted during his stay at </a:t>
            </a:r>
            <a:r>
              <a:rPr b="0" lang="en-US" sz="1000" spc="-1" strike="noStrike">
                <a:solidFill>
                  <a:srgbClr val="f2f2f2"/>
                </a:solidFill>
                <a:latin typeface="Quattrocento Sans"/>
                <a:ea typeface="Quattrocento Sans"/>
              </a:rPr>
              <a:t>Saint-Paul-de-Mausole asylum</a:t>
            </a:r>
            <a:r>
              <a:rPr b="0"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latin typeface="Arial"/>
            </a:endParaRPr>
          </a:p>
        </p:txBody>
      </p:sp>
      <p:sp>
        <p:nvSpPr>
          <p:cNvPr id="269" name="Text 19"/>
          <p:cNvSpPr/>
          <p:nvPr/>
        </p:nvSpPr>
        <p:spPr>
          <a:xfrm>
            <a:off x="5805360" y="244476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painting represents both his </a:t>
            </a:r>
            <a:r>
              <a:rPr b="0" lang="en-US" sz="1000" spc="-1" strike="noStrike">
                <a:solidFill>
                  <a:srgbClr val="c9a36a"/>
                </a:solidFill>
                <a:latin typeface="Quattrocento Sans"/>
                <a:ea typeface="Quattrocento Sans"/>
              </a:rPr>
              <a:t>inner turmoil</a:t>
            </a:r>
            <a:r>
              <a:rPr b="0" lang="en-US" sz="1000" spc="-1" strike="noStrike">
                <a:solidFill>
                  <a:srgbClr val="b8b8b8"/>
                </a:solidFill>
                <a:latin typeface="Quattrocento Sans"/>
                <a:ea typeface="Quattrocento Sans"/>
              </a:rPr>
              <a:t> and his </a:t>
            </a:r>
            <a:r>
              <a:rPr b="0" lang="en-US" sz="1000" spc="-1" strike="noStrike">
                <a:solidFill>
                  <a:srgbClr val="c9a36a"/>
                </a:solidFill>
                <a:latin typeface="Quattrocento Sans"/>
                <a:ea typeface="Quattrocento Sans"/>
              </a:rPr>
              <a:t>transcendent hope</a:t>
            </a:r>
            <a:r>
              <a:rPr b="0"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4720" y="3349800"/>
            <a:ext cx="6240240" cy="20772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1240" cy="20772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62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360" y="385776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In 2006, scientists analyzing the painting's swirling patterns discovered something remarkable: </a:t>
            </a:r>
            <a:r>
              <a:rPr b="0" lang="en-US" sz="1000" spc="-1" strike="noStrike">
                <a:solidFill>
                  <a:srgbClr val="f2f2f2"/>
                </a:solidFill>
                <a:latin typeface="Quattrocento Sans"/>
                <a:ea typeface="Quattrocento Sans"/>
              </a:rPr>
              <a:t>Van Gogh's turbulent brushstrokes accurately depict the physics of fluid turbulence</a:t>
            </a:r>
            <a:r>
              <a:rPr b="0"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360" y="4572000"/>
            <a:ext cx="5910840" cy="6958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58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0760" y="4857840"/>
            <a:ext cx="57758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6800" y="5560200"/>
            <a:ext cx="6244200" cy="89424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6440" cy="1562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799960" cy="41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2640" y="6167520"/>
            <a:ext cx="579168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179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82"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5000" cy="378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6320" cy="133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0240" cy="19976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1240" cy="19976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62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flowers represent </a:t>
            </a:r>
            <a:r>
              <a:rPr b="0" lang="en-US" sz="1000" spc="-1" strike="noStrike">
                <a:solidFill>
                  <a:srgbClr val="c9a36a"/>
                </a:solidFill>
                <a:latin typeface="Quattrocento Sans"/>
                <a:ea typeface="Quattrocento Sans"/>
              </a:rPr>
              <a:t>gratitude and friendship</a:t>
            </a:r>
            <a:r>
              <a:rPr b="0"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0240" cy="20772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1240" cy="20772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62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4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0840" cy="6958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58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58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4200" cy="68796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6440" cy="1562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4680" cy="20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67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1200" cy="690300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3280" cy="689508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7240" cy="129924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1240" cy="129924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70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4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67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46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5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17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128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17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588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8948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91"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2680" cy="397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0960" cy="1404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2520" cy="25142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4240" cy="116424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3920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39760" y="2658240"/>
            <a:ext cx="2890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5800" cy="405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in the asylum garden, this work showcases Van Gogh's study of color with </a:t>
            </a:r>
            <a:r>
              <a:rPr b="0" lang="en-US" sz="920" spc="-1" strike="noStrike">
                <a:solidFill>
                  <a:srgbClr val="f2f2f2"/>
                </a:solidFill>
                <a:latin typeface="Quattrocento Sans"/>
                <a:ea typeface="Quattrocento Sans"/>
              </a:rPr>
              <a:t>vibrant blues and greens</a:t>
            </a:r>
            <a:r>
              <a:rPr b="0"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7480" cy="2642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432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080" y="1320840"/>
            <a:ext cx="5672520" cy="25142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4240" cy="116424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752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5440" y="2658240"/>
            <a:ext cx="2890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600" y="2925000"/>
            <a:ext cx="5455800" cy="405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A glimpse into Van Gogh's personal space in Arles, featuring </a:t>
            </a:r>
            <a:r>
              <a:rPr b="0" lang="en-US" sz="920" spc="-1" strike="noStrike">
                <a:solidFill>
                  <a:srgbClr val="f2f2f2"/>
                </a:solidFill>
                <a:latin typeface="Quattrocento Sans"/>
                <a:ea typeface="Quattrocento Sans"/>
              </a:rPr>
              <a:t>distorted perspective</a:t>
            </a:r>
            <a:r>
              <a:rPr b="0"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600" y="3429360"/>
            <a:ext cx="5397480" cy="2642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432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2520" cy="25142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4240" cy="116424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076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320" y="5346000"/>
            <a:ext cx="29736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5800" cy="405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Often considered his final painting, this work shows </a:t>
            </a:r>
            <a:r>
              <a:rPr b="0" lang="en-US" sz="920" spc="-1" strike="noStrike">
                <a:solidFill>
                  <a:srgbClr val="f2f2f2"/>
                </a:solidFill>
                <a:latin typeface="Quattrocento Sans"/>
                <a:ea typeface="Quattrocento Sans"/>
              </a:rPr>
              <a:t>menacing skies</a:t>
            </a:r>
            <a:r>
              <a:rPr b="0"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7480" cy="2642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432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080" y="4008600"/>
            <a:ext cx="5672520" cy="25142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4240" cy="116424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252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5720" y="5346000"/>
            <a:ext cx="29736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600" y="5612760"/>
            <a:ext cx="5455800" cy="405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as a gift for his newborn nephew, this work shows </a:t>
            </a:r>
            <a:r>
              <a:rPr b="0" lang="en-US" sz="920" spc="-1" strike="noStrike">
                <a:solidFill>
                  <a:srgbClr val="f2f2f2"/>
                </a:solidFill>
                <a:latin typeface="Quattrocento Sans"/>
                <a:ea typeface="Quattrocento Sans"/>
              </a:rPr>
              <a:t>delicate branches against turquoise sky</a:t>
            </a:r>
            <a:r>
              <a:rPr b="0"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600" y="6116760"/>
            <a:ext cx="5397480" cy="2642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432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4160" cy="80712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056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1200" cy="93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15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70" spc="194"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6560" cy="402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3200" cy="1440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1920" cy="330732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2680" cy="330732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2840" cy="4028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6320" cy="16632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1856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5896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1280" cy="5716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1280" cy="5716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1280" cy="5716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1920" cy="153432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2680" cy="153432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2840" cy="4028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7560" cy="16632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1972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58960" cy="65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lang="en-US" sz="1070" spc="-1" strike="noStrike">
                <a:solidFill>
                  <a:srgbClr val="f2f2f2"/>
                </a:solidFill>
                <a:latin typeface="Quattrocento Sans"/>
                <a:ea typeface="Quattrocento Sans"/>
              </a:rPr>
              <a:t>over 150 works in one year</a:t>
            </a:r>
            <a:r>
              <a:rPr b="0"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200" y="1334160"/>
            <a:ext cx="5641920" cy="320580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2680" cy="320580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2840" cy="4028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6320" cy="16632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2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89640" y="2043360"/>
            <a:ext cx="5358960" cy="65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70" spc="-1" strike="noStrike">
                <a:solidFill>
                  <a:srgbClr val="f2f2f2"/>
                </a:solidFill>
                <a:latin typeface="Quattrocento Sans"/>
                <a:ea typeface="Quattrocento Sans"/>
              </a:rPr>
              <a:t>December 23, 1888</a:t>
            </a:r>
            <a:r>
              <a:rPr b="0" lang="en-US" sz="1070" spc="-1" strike="noStrike">
                <a:solidFill>
                  <a:srgbClr val="b8b8b8"/>
                </a:solidFill>
                <a:latin typeface="Quattrocento Sans"/>
                <a:ea typeface="Quattrocento Sans"/>
              </a:rPr>
              <a:t> — After a heated argument with Paul Gauguin in Arles, Van Gogh suffered a severe mental breakdown. He </a:t>
            </a:r>
            <a:r>
              <a:rPr b="0" lang="en-US" sz="1070" spc="-1" strike="noStrike">
                <a:solidFill>
                  <a:srgbClr val="f2f2f2"/>
                </a:solidFill>
                <a:latin typeface="Quattrocento Sans"/>
                <a:ea typeface="Quattrocento Sans"/>
              </a:rPr>
              <a:t>severed part of his left ear</a:t>
            </a:r>
            <a:r>
              <a:rPr b="0"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89640" y="2836800"/>
            <a:ext cx="5358960" cy="65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89640" y="3630600"/>
            <a:ext cx="5291280" cy="74052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480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0800" y="3934440"/>
            <a:ext cx="5148000" cy="33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560" y="4681800"/>
            <a:ext cx="5645880" cy="182952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7560" cy="25092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4160" cy="234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8880" y="5631480"/>
            <a:ext cx="5367240" cy="6559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6360" cy="80712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4924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1200" cy="464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2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82"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1040" cy="381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4600" cy="136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3760" cy="304164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1600" cy="30416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1960" cy="3819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7680" cy="15768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476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52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52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1120" cy="70236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50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5040" cy="317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3760" cy="220824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1600" cy="220824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1960" cy="3819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7520" cy="15768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089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52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52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0120" cy="377028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5840" cy="28584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6792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588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588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1800" cy="70236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57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5720" cy="317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6160" cy="147132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1600" cy="147132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380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5640" cy="1256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01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5640" cy="1256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01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5640" cy="1256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44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5640" cy="1256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284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5080" cy="80712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3280" cy="654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47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6280" cy="259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1200" cy="93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2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82"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1040" cy="381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4600" cy="136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4960" cy="304164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1600" cy="30416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1960" cy="3819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7680" cy="15768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608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64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64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2320" cy="70236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624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6240" cy="317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4960" cy="200016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1600" cy="200016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1960" cy="3819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7680" cy="15768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16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6400" cy="41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640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4960" cy="355428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1600" cy="355428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1960" cy="3819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7560" cy="15768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776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6400" cy="20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2320" cy="5421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39932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6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88320" cy="125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2320" cy="5421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41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6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88320" cy="125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2320" cy="5421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49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798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88320" cy="125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88480" cy="317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68920" cy="157572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37960" cy="23796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0520" cy="221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4680" cy="6224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4800" cy="199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94"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19440" cy="400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7800" cy="1440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0840" cy="28483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0840" cy="226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0680" cy="4006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4360" cy="16524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128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2280" cy="1089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4960" cy="73656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20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2040" cy="333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0840" cy="28483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0840" cy="226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0680" cy="4006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5240" cy="16524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576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2280" cy="125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4960" cy="5684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20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20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0840" cy="28483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0840" cy="226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0680" cy="4006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5240" cy="16524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180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2280" cy="125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4960" cy="5684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20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20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77920" cy="231480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2680" cy="231480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0680" cy="4006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7360" cy="16524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020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7200" cy="6692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46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6000" cy="131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7200" cy="6692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46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6000" cy="266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7200" cy="6692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46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6000" cy="266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7200" cy="6692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4640" cy="165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6000" cy="266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1880" cy="230652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5480" cy="29988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38520" cy="2660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5040" cy="652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89600" cy="685440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89600" cy="685440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2480" cy="43740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58480" cy="1372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480" y="2498040"/>
            <a:ext cx="146412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29440" cy="895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Vincent van Gogh's life reminds us that </a:t>
            </a:r>
            <a:r>
              <a:rPr b="0" lang="en-US" sz="1450" spc="-1" strike="noStrike">
                <a:solidFill>
                  <a:srgbClr val="f2f2f2"/>
                </a:solidFill>
                <a:latin typeface="Quattrocento Sans"/>
                <a:ea typeface="Quattrocento Sans"/>
              </a:rPr>
              <a:t>true artistic genius often comes with great personal cost</a:t>
            </a:r>
            <a:r>
              <a:rPr b="0"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29440" cy="2998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2600" cy="177588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37960" cy="27252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0080" cy="354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2720" cy="254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c9a36a"/>
                </a:solidFill>
                <a:latin typeface="Quattrocento Sans"/>
                <a:ea typeface="Quattrocento Sans"/>
              </a:rPr>
              <a:t>— </a:t>
            </a:r>
            <a:r>
              <a:rPr b="0"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0720" cy="18072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5000" cy="254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560" y="6760440"/>
            <a:ext cx="180720" cy="18072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1800" cy="254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080" y="6760440"/>
            <a:ext cx="226800" cy="18072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6000" cy="254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41</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2026-04-18T14:55:47Z</dcterms:modified>
  <cp:revision>8</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