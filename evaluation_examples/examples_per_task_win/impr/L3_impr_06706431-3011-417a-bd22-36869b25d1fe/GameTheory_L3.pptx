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8-1.jpg" ContentType="image/jpg"/>
  <Override PartName="/ppt/media/image-20-1.jpg" ContentType="image/jpg"/>
  <Override PartName="/ppt/media/image-7-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3"/>
  </p:notesMaster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Key concept: Nash Equilibrium occurs when no player can improve their payoff by unilaterally changing their strategy, given other players' strategies remain fixed.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8B"/>
        </a:solidFill>
      </p:bgPr>
    </p:bg>
    <p:spTree>
      <p:nvGrpSpPr>
        <p:cNvPr id="1" name=""/>
        <p:cNvGrpSpPr/>
        <p:nvPr/>
      </p:nvGrpSpPr>
      <p:grpSpPr>
        <a:xfrm>
          <a:off x="0" y="0"/>
          <a:ext cx="0" cy="0"/>
          <a:chOff x="0" y="0"/>
          <a:chExt cx="0" cy="0"/>
        </a:xfrm>
      </p:grpSpPr>
      <p:sp>
        <p:nvSpPr>
          <p:cNvPr id="2" name="Shape 0"/>
          <p:cNvSpPr/>
          <p:nvPr/>
        </p:nvSpPr>
        <p:spPr>
          <a:xfrm>
            <a:off x="5638726" y="2266950"/>
            <a:ext cx="914400" cy="19050"/>
          </a:xfrm>
          <a:custGeom>
            <a:avLst/>
            <a:gdLst/>
            <a:ahLst/>
            <a:cxnLst/>
            <a:rect l="l" t="t" r="r" b="b"/>
            <a:pathLst>
              <a:path w="914400" h="19050">
                <a:moveTo>
                  <a:pt x="0" y="0"/>
                </a:moveTo>
                <a:lnTo>
                  <a:pt x="914400" y="0"/>
                </a:lnTo>
                <a:lnTo>
                  <a:pt x="914400" y="19050"/>
                </a:lnTo>
                <a:lnTo>
                  <a:pt x="0" y="19050"/>
                </a:lnTo>
                <a:lnTo>
                  <a:pt x="0" y="0"/>
                </a:lnTo>
                <a:close/>
              </a:path>
            </a:pathLst>
          </a:custGeom>
          <a:solidFill>
            <a:srgbClr val="0984E3"/>
          </a:solidFill>
          <a:ln/>
        </p:spPr>
        <p:txBody>
          <a:bodyPr/>
          <a:p/>
        </p:txBody>
      </p:sp>
      <p:sp>
        <p:nvSpPr>
          <p:cNvPr id="3" name="Text 1"/>
          <p:cNvSpPr/>
          <p:nvPr/>
        </p:nvSpPr>
        <p:spPr>
          <a:xfrm>
            <a:off x="3633936" y="2514600"/>
            <a:ext cx="4924425" cy="914400"/>
          </a:xfrm>
          <a:prstGeom prst="rect">
            <a:avLst/>
          </a:prstGeom>
          <a:noFill/>
          <a:ln/>
        </p:spPr>
        <p:txBody>
          <a:bodyPr wrap="square" lIns="0" tIns="0" rIns="0" bIns="0" rtlCol="0" anchor="ctr"/>
          <a:lstStyle/>
          <a:p>
            <a:pPr algn="ctr">
              <a:lnSpc>
                <a:spcPct val="80000"/>
              </a:lnSpc>
            </a:pPr>
            <a:r>
              <a:rPr lang="en-US" sz="7200" b="1" spc="-180" kern="0" dirty="0">
                <a:solidFill>
                  <a:srgbClr val="FFFFFF"/>
                </a:solidFill>
                <a:latin typeface="Oranienbaum" pitchFamily="34" charset="0"/>
                <a:ea typeface="Oranienbaum" pitchFamily="34" charset="-122"/>
                <a:cs typeface="Oranienbaum" pitchFamily="34" charset="-120"/>
              </a:rPr>
              <a:t>Game Theory</a:t>
            </a:r>
            <a:endParaRPr lang="en-US" sz="1600" dirty="0"/>
          </a:p>
        </p:txBody>
      </p:sp>
      <p:sp>
        <p:nvSpPr>
          <p:cNvPr id="4" name="Shape 2"/>
          <p:cNvSpPr/>
          <p:nvPr/>
        </p:nvSpPr>
        <p:spPr>
          <a:xfrm>
            <a:off x="5638726" y="3657600"/>
            <a:ext cx="914400" cy="19050"/>
          </a:xfrm>
          <a:custGeom>
            <a:avLst/>
            <a:gdLst/>
            <a:ahLst/>
            <a:cxnLst/>
            <a:rect l="l" t="t" r="r" b="b"/>
            <a:pathLst>
              <a:path w="914400" h="19050">
                <a:moveTo>
                  <a:pt x="0" y="0"/>
                </a:moveTo>
                <a:lnTo>
                  <a:pt x="914400" y="0"/>
                </a:lnTo>
                <a:lnTo>
                  <a:pt x="914400" y="19050"/>
                </a:lnTo>
                <a:lnTo>
                  <a:pt x="0" y="19050"/>
                </a:lnTo>
                <a:lnTo>
                  <a:pt x="0" y="0"/>
                </a:lnTo>
                <a:close/>
              </a:path>
            </a:pathLst>
          </a:custGeom>
          <a:solidFill>
            <a:srgbClr val="0984E3"/>
          </a:solidFill>
          <a:ln/>
        </p:spPr>
        <p:txBody>
          <a:bodyPr/>
          <a:p/>
        </p:txBody>
      </p:sp>
      <p:sp>
        <p:nvSpPr>
          <p:cNvPr id="5" name="Text 3"/>
          <p:cNvSpPr/>
          <p:nvPr/>
        </p:nvSpPr>
        <p:spPr>
          <a:xfrm>
            <a:off x="3545681" y="4286250"/>
            <a:ext cx="5095875" cy="304800"/>
          </a:xfrm>
          <a:prstGeom prst="rect">
            <a:avLst/>
          </a:prstGeom>
          <a:noFill/>
          <a:ln/>
        </p:spPr>
        <p:txBody>
          <a:bodyPr wrap="square" lIns="0" tIns="0" rIns="0" bIns="0" rtlCol="0" anchor="ctr"/>
          <a:lstStyle/>
          <a:p>
            <a:pPr algn="ctr">
              <a:lnSpc>
                <a:spcPct val="110000"/>
              </a:lnSpc>
            </a:pPr>
            <a:r>
              <a:rPr lang="en-US" sz="1800" spc="45" kern="0" dirty="0" b="1">
                <a:solidFill>
                  <a:srgbClr val="FFFFFF"/>
                </a:solidFill>
                <a:latin typeface="Liter" pitchFamily="34" charset="0"/>
                <a:ea typeface="Liter" pitchFamily="34" charset="-122"/>
                <a:cs typeface="Liter" pitchFamily="34" charset="-120"/>
              </a:rPr>
              <a:t>The Mathematics of Strategic Decision-Making</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81000"/>
            <a:ext cx="11658600" cy="457200"/>
          </a:xfrm>
          <a:prstGeom prst="rect">
            <a:avLst/>
          </a:prstGeom>
          <a:noFill/>
          <a:ln/>
        </p:spPr>
        <p:txBody>
          <a:bodyPr wrap="square" lIns="0" tIns="0" rIns="0" bIns="0" rtlCol="0" anchor="ctr"/>
          <a:lstStyle/>
          <a:p>
            <a:pPr>
              <a:lnSpc>
                <a:spcPct val="80000"/>
              </a:lnSpc>
            </a:pPr>
            <a:r>
              <a:rPr lang="en-US" sz="3600" b="1" dirty="0">
                <a:solidFill>
                  <a:srgbClr val="2D3436"/>
                </a:solidFill>
                <a:latin typeface="Oranienbaum" pitchFamily="34" charset="0"/>
                <a:ea typeface="Oranienbaum" pitchFamily="34" charset="-122"/>
                <a:cs typeface="Oranienbaum" pitchFamily="34" charset="-120"/>
              </a:rPr>
              <a:t>Contents</a:t>
            </a:r>
            <a:endParaRPr lang="en-US" sz="1600" dirty="0"/>
          </a:p>
        </p:txBody>
      </p:sp>
      <p:sp>
        <p:nvSpPr>
          <p:cNvPr id="3" name="Shape 1"/>
          <p:cNvSpPr/>
          <p:nvPr/>
        </p:nvSpPr>
        <p:spPr>
          <a:xfrm>
            <a:off x="381000" y="952500"/>
            <a:ext cx="762000" cy="19050"/>
          </a:xfrm>
          <a:custGeom>
            <a:avLst/>
            <a:gdLst/>
            <a:ahLst/>
            <a:cxnLst/>
            <a:rect l="l" t="t" r="r" b="b"/>
            <a:pathLst>
              <a:path w="762000" h="19050">
                <a:moveTo>
                  <a:pt x="0" y="0"/>
                </a:moveTo>
                <a:lnTo>
                  <a:pt x="762000" y="0"/>
                </a:lnTo>
                <a:lnTo>
                  <a:pt x="762000" y="19050"/>
                </a:lnTo>
                <a:lnTo>
                  <a:pt x="0" y="19050"/>
                </a:lnTo>
                <a:lnTo>
                  <a:pt x="0" y="0"/>
                </a:lnTo>
                <a:close/>
              </a:path>
            </a:pathLst>
          </a:custGeom>
          <a:solidFill>
            <a:srgbClr val="0984E3"/>
          </a:solidFill>
          <a:ln/>
        </p:spPr>
      </p:sp>
      <p:sp>
        <p:nvSpPr>
          <p:cNvPr id="4" name="Text 2"/>
          <p:cNvSpPr/>
          <p:nvPr/>
        </p:nvSpPr>
        <p:spPr>
          <a:xfrm>
            <a:off x="381000" y="1428750"/>
            <a:ext cx="752475" cy="571500"/>
          </a:xfrm>
          <a:prstGeom prst="rect">
            <a:avLst/>
          </a:prstGeom>
          <a:noFill/>
          <a:ln/>
        </p:spPr>
        <p:txBody>
          <a:bodyPr wrap="square" lIns="0" tIns="0" rIns="0" bIns="0" rtlCol="0" anchor="ctr"/>
          <a:lstStyle/>
          <a:p>
            <a:pPr>
              <a:lnSpc>
                <a:spcPct val="80000"/>
              </a:lnSpc>
            </a:pPr>
            <a:r>
              <a:rPr lang="en-US" sz="4500" b="1" dirty="0">
                <a:solidFill>
                  <a:srgbClr val="0984E3">
                    <a:alpha val="20000"/>
                  </a:srgbClr>
                </a:solidFill>
                <a:latin typeface="Oranienbaum" pitchFamily="34" charset="0"/>
                <a:ea typeface="Oranienbaum" pitchFamily="34" charset="-122"/>
                <a:cs typeface="Oranienbaum" pitchFamily="34" charset="-120"/>
              </a:rPr>
              <a:t>01</a:t>
            </a:r>
            <a:endParaRPr lang="en-US" sz="1600" dirty="0"/>
          </a:p>
        </p:txBody>
      </p:sp>
      <p:sp>
        <p:nvSpPr>
          <p:cNvPr id="5" name="Text 3"/>
          <p:cNvSpPr/>
          <p:nvPr/>
        </p:nvSpPr>
        <p:spPr>
          <a:xfrm>
            <a:off x="1034430" y="1504950"/>
            <a:ext cx="4191000"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Introduction to Game Theory</a:t>
            </a:r>
            <a:endParaRPr lang="en-US" sz="1600" dirty="0"/>
          </a:p>
        </p:txBody>
      </p:sp>
      <p:sp>
        <p:nvSpPr>
          <p:cNvPr id="6" name="Text 4"/>
          <p:cNvSpPr/>
          <p:nvPr/>
        </p:nvSpPr>
        <p:spPr>
          <a:xfrm>
            <a:off x="1034430" y="1885950"/>
            <a:ext cx="4162425" cy="276225"/>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Defining the mathematical study of strategic interaction</a:t>
            </a:r>
            <a:endParaRPr lang="en-US" sz="1600" dirty="0"/>
          </a:p>
        </p:txBody>
      </p:sp>
      <p:sp>
        <p:nvSpPr>
          <p:cNvPr id="7" name="Text 5"/>
          <p:cNvSpPr/>
          <p:nvPr/>
        </p:nvSpPr>
        <p:spPr>
          <a:xfrm>
            <a:off x="6400800" y="1428750"/>
            <a:ext cx="857250" cy="571500"/>
          </a:xfrm>
          <a:prstGeom prst="rect">
            <a:avLst/>
          </a:prstGeom>
          <a:noFill/>
          <a:ln/>
        </p:spPr>
        <p:txBody>
          <a:bodyPr wrap="square" lIns="0" tIns="0" rIns="0" bIns="0" rtlCol="0" anchor="ctr"/>
          <a:lstStyle/>
          <a:p>
            <a:pPr>
              <a:lnSpc>
                <a:spcPct val="80000"/>
              </a:lnSpc>
            </a:pPr>
            <a:r>
              <a:rPr lang="en-US" sz="4500" b="1" dirty="0">
                <a:solidFill>
                  <a:srgbClr val="0984E3">
                    <a:alpha val="20000"/>
                  </a:srgbClr>
                </a:solidFill>
                <a:latin typeface="Oranienbaum" pitchFamily="34" charset="0"/>
                <a:ea typeface="Oranienbaum" pitchFamily="34" charset="-122"/>
                <a:cs typeface="Oranienbaum" pitchFamily="34" charset="-120"/>
              </a:rPr>
              <a:t>02</a:t>
            </a:r>
            <a:endParaRPr lang="en-US" sz="1600" dirty="0"/>
          </a:p>
        </p:txBody>
      </p:sp>
      <p:sp>
        <p:nvSpPr>
          <p:cNvPr id="8" name="Text 6"/>
          <p:cNvSpPr/>
          <p:nvPr/>
        </p:nvSpPr>
        <p:spPr>
          <a:xfrm>
            <a:off x="7159972" y="1504950"/>
            <a:ext cx="4762500"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Historical Foundations</a:t>
            </a:r>
            <a:endParaRPr lang="en-US" sz="1600" dirty="0"/>
          </a:p>
        </p:txBody>
      </p:sp>
      <p:sp>
        <p:nvSpPr>
          <p:cNvPr id="9" name="Text 7"/>
          <p:cNvSpPr/>
          <p:nvPr/>
        </p:nvSpPr>
        <p:spPr>
          <a:xfrm>
            <a:off x="7159972" y="1885950"/>
            <a:ext cx="4733925" cy="561975"/>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From von Neumann to Nash: The evolution of strategic thinking</a:t>
            </a:r>
            <a:endParaRPr lang="en-US" sz="1600" dirty="0"/>
          </a:p>
        </p:txBody>
      </p:sp>
      <p:sp>
        <p:nvSpPr>
          <p:cNvPr id="10" name="Text 8"/>
          <p:cNvSpPr/>
          <p:nvPr/>
        </p:nvSpPr>
        <p:spPr>
          <a:xfrm>
            <a:off x="381000" y="2824163"/>
            <a:ext cx="857250" cy="571500"/>
          </a:xfrm>
          <a:prstGeom prst="rect">
            <a:avLst/>
          </a:prstGeom>
          <a:noFill/>
          <a:ln/>
        </p:spPr>
        <p:txBody>
          <a:bodyPr wrap="square" lIns="0" tIns="0" rIns="0" bIns="0" rtlCol="0" anchor="ctr"/>
          <a:lstStyle/>
          <a:p>
            <a:pPr>
              <a:lnSpc>
                <a:spcPct val="80000"/>
              </a:lnSpc>
            </a:pPr>
            <a:r>
              <a:rPr lang="en-US" sz="4500" b="1" dirty="0">
                <a:solidFill>
                  <a:srgbClr val="0984E3">
                    <a:alpha val="20000"/>
                  </a:srgbClr>
                </a:solidFill>
                <a:latin typeface="Oranienbaum" pitchFamily="34" charset="0"/>
                <a:ea typeface="Oranienbaum" pitchFamily="34" charset="-122"/>
                <a:cs typeface="Oranienbaum" pitchFamily="34" charset="-120"/>
              </a:rPr>
              <a:t>03</a:t>
            </a:r>
            <a:endParaRPr lang="en-US" sz="1600" dirty="0"/>
          </a:p>
        </p:txBody>
      </p:sp>
      <p:sp>
        <p:nvSpPr>
          <p:cNvPr id="11" name="Text 9"/>
          <p:cNvSpPr/>
          <p:nvPr/>
        </p:nvSpPr>
        <p:spPr>
          <a:xfrm>
            <a:off x="1143000" y="2900363"/>
            <a:ext cx="3971925"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Core Concepts &amp; Mathematical Framework</a:t>
            </a:r>
            <a:endParaRPr lang="en-US" sz="1600" dirty="0"/>
          </a:p>
        </p:txBody>
      </p:sp>
      <p:sp>
        <p:nvSpPr>
          <p:cNvPr id="12" name="Text 10"/>
          <p:cNvSpPr/>
          <p:nvPr/>
        </p:nvSpPr>
        <p:spPr>
          <a:xfrm>
            <a:off x="1143000" y="3281363"/>
            <a:ext cx="3943350" cy="276225"/>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The essential building blocks of strategic analysis</a:t>
            </a:r>
            <a:endParaRPr lang="en-US" sz="1600" dirty="0"/>
          </a:p>
        </p:txBody>
      </p:sp>
      <p:sp>
        <p:nvSpPr>
          <p:cNvPr id="13" name="Text 11"/>
          <p:cNvSpPr/>
          <p:nvPr/>
        </p:nvSpPr>
        <p:spPr>
          <a:xfrm>
            <a:off x="6400800" y="2824163"/>
            <a:ext cx="885825" cy="571500"/>
          </a:xfrm>
          <a:prstGeom prst="rect">
            <a:avLst/>
          </a:prstGeom>
          <a:noFill/>
          <a:ln/>
        </p:spPr>
        <p:txBody>
          <a:bodyPr wrap="square" lIns="0" tIns="0" rIns="0" bIns="0" rtlCol="0" anchor="ctr"/>
          <a:lstStyle/>
          <a:p>
            <a:pPr>
              <a:lnSpc>
                <a:spcPct val="80000"/>
              </a:lnSpc>
            </a:pPr>
            <a:r>
              <a:rPr lang="en-US" sz="4500" b="1" dirty="0">
                <a:solidFill>
                  <a:srgbClr val="0984E3">
                    <a:alpha val="20000"/>
                  </a:srgbClr>
                </a:solidFill>
                <a:latin typeface="Oranienbaum" pitchFamily="34" charset="0"/>
                <a:ea typeface="Oranienbaum" pitchFamily="34" charset="-122"/>
                <a:cs typeface="Oranienbaum" pitchFamily="34" charset="-120"/>
              </a:rPr>
              <a:t>04</a:t>
            </a:r>
            <a:endParaRPr lang="en-US" sz="1600" dirty="0"/>
          </a:p>
        </p:txBody>
      </p:sp>
      <p:sp>
        <p:nvSpPr>
          <p:cNvPr id="14" name="Text 12"/>
          <p:cNvSpPr/>
          <p:nvPr/>
        </p:nvSpPr>
        <p:spPr>
          <a:xfrm>
            <a:off x="7188547" y="2900363"/>
            <a:ext cx="2476500"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Types of Games</a:t>
            </a:r>
            <a:endParaRPr lang="en-US" sz="1600" dirty="0"/>
          </a:p>
        </p:txBody>
      </p:sp>
      <p:sp>
        <p:nvSpPr>
          <p:cNvPr id="15" name="Text 13"/>
          <p:cNvSpPr/>
          <p:nvPr/>
        </p:nvSpPr>
        <p:spPr>
          <a:xfrm>
            <a:off x="7188547" y="3281363"/>
            <a:ext cx="2447925" cy="276225"/>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Classifying strategic interactions</a:t>
            </a:r>
            <a:endParaRPr lang="en-US" sz="1600" dirty="0"/>
          </a:p>
        </p:txBody>
      </p:sp>
      <p:sp>
        <p:nvSpPr>
          <p:cNvPr id="16" name="Text 14"/>
          <p:cNvSpPr/>
          <p:nvPr/>
        </p:nvSpPr>
        <p:spPr>
          <a:xfrm>
            <a:off x="381000" y="3940969"/>
            <a:ext cx="847725" cy="571500"/>
          </a:xfrm>
          <a:prstGeom prst="rect">
            <a:avLst/>
          </a:prstGeom>
          <a:noFill/>
          <a:ln/>
        </p:spPr>
        <p:txBody>
          <a:bodyPr wrap="square" lIns="0" tIns="0" rIns="0" bIns="0" rtlCol="0" anchor="ctr"/>
          <a:lstStyle/>
          <a:p>
            <a:pPr>
              <a:lnSpc>
                <a:spcPct val="80000"/>
              </a:lnSpc>
            </a:pPr>
            <a:r>
              <a:rPr lang="en-US" sz="4500" b="1" dirty="0">
                <a:solidFill>
                  <a:srgbClr val="0984E3">
                    <a:alpha val="20000"/>
                  </a:srgbClr>
                </a:solidFill>
                <a:latin typeface="Oranienbaum" pitchFamily="34" charset="0"/>
                <a:ea typeface="Oranienbaum" pitchFamily="34" charset="-122"/>
                <a:cs typeface="Oranienbaum" pitchFamily="34" charset="-120"/>
              </a:rPr>
              <a:t>05</a:t>
            </a:r>
            <a:endParaRPr lang="en-US" sz="1600" dirty="0"/>
          </a:p>
        </p:txBody>
      </p:sp>
      <p:sp>
        <p:nvSpPr>
          <p:cNvPr id="17" name="Text 15"/>
          <p:cNvSpPr/>
          <p:nvPr/>
        </p:nvSpPr>
        <p:spPr>
          <a:xfrm>
            <a:off x="1137345" y="4017169"/>
            <a:ext cx="2867025"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Classic Game Models</a:t>
            </a:r>
            <a:endParaRPr lang="en-US" sz="1600" dirty="0"/>
          </a:p>
        </p:txBody>
      </p:sp>
      <p:sp>
        <p:nvSpPr>
          <p:cNvPr id="18" name="Text 16"/>
          <p:cNvSpPr/>
          <p:nvPr/>
        </p:nvSpPr>
        <p:spPr>
          <a:xfrm>
            <a:off x="1137345" y="4398169"/>
            <a:ext cx="2838450" cy="276225"/>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Iconic examples that shaped the field</a:t>
            </a:r>
            <a:endParaRPr lang="en-US" sz="1600" dirty="0"/>
          </a:p>
        </p:txBody>
      </p:sp>
      <p:sp>
        <p:nvSpPr>
          <p:cNvPr id="19" name="Text 17"/>
          <p:cNvSpPr/>
          <p:nvPr/>
        </p:nvSpPr>
        <p:spPr>
          <a:xfrm>
            <a:off x="6400800" y="3940969"/>
            <a:ext cx="866775" cy="571500"/>
          </a:xfrm>
          <a:prstGeom prst="rect">
            <a:avLst/>
          </a:prstGeom>
          <a:noFill/>
          <a:ln/>
        </p:spPr>
        <p:txBody>
          <a:bodyPr wrap="square" lIns="0" tIns="0" rIns="0" bIns="0" rtlCol="0" anchor="ctr"/>
          <a:lstStyle/>
          <a:p>
            <a:pPr>
              <a:lnSpc>
                <a:spcPct val="80000"/>
              </a:lnSpc>
            </a:pPr>
            <a:r>
              <a:rPr lang="en-US" sz="4500" b="1" dirty="0">
                <a:solidFill>
                  <a:srgbClr val="0984E3">
                    <a:alpha val="20000"/>
                  </a:srgbClr>
                </a:solidFill>
                <a:latin typeface="Oranienbaum" pitchFamily="34" charset="0"/>
                <a:ea typeface="Oranienbaum" pitchFamily="34" charset="-122"/>
                <a:cs typeface="Oranienbaum" pitchFamily="34" charset="-120"/>
              </a:rPr>
              <a:t>06</a:t>
            </a:r>
            <a:endParaRPr lang="en-US" sz="1600" dirty="0"/>
          </a:p>
        </p:txBody>
      </p:sp>
      <p:sp>
        <p:nvSpPr>
          <p:cNvPr id="20" name="Text 18"/>
          <p:cNvSpPr/>
          <p:nvPr/>
        </p:nvSpPr>
        <p:spPr>
          <a:xfrm>
            <a:off x="7171432" y="4017169"/>
            <a:ext cx="3076575"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Real-World Applications</a:t>
            </a:r>
            <a:endParaRPr lang="en-US" sz="1600" dirty="0"/>
          </a:p>
        </p:txBody>
      </p:sp>
      <p:sp>
        <p:nvSpPr>
          <p:cNvPr id="21" name="Text 19"/>
          <p:cNvSpPr/>
          <p:nvPr/>
        </p:nvSpPr>
        <p:spPr>
          <a:xfrm>
            <a:off x="7171432" y="4398169"/>
            <a:ext cx="3048000" cy="276225"/>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Game theory in action across disciplines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1781175"/>
            <a:ext cx="12192000" cy="1219200"/>
          </a:xfrm>
          <a:prstGeom prst="rect">
            <a:avLst/>
          </a:prstGeom>
          <a:noFill/>
          <a:ln/>
        </p:spPr>
        <p:txBody>
          <a:bodyPr wrap="square" lIns="0" tIns="0" rIns="0" bIns="0" rtlCol="0" anchor="ctr"/>
          <a:lstStyle/>
          <a:p>
            <a:pPr>
              <a:lnSpc>
                <a:spcPct val="80000"/>
              </a:lnSpc>
            </a:pPr>
            <a:r>
              <a:rPr lang="en-US" sz="9600" b="1" dirty="0">
                <a:solidFill>
                  <a:srgbClr val="0984E3">
                    <a:alpha val="10000"/>
                  </a:srgbClr>
                </a:solidFill>
                <a:latin typeface="Oranienbaum" pitchFamily="34" charset="0"/>
                <a:ea typeface="Oranienbaum" pitchFamily="34" charset="-122"/>
                <a:cs typeface="Oranienbaum" pitchFamily="34" charset="-120"/>
              </a:rPr>
              <a:t>01</a:t>
            </a:r>
            <a:endParaRPr lang="en-US" sz="1600" dirty="0"/>
          </a:p>
        </p:txBody>
      </p:sp>
      <p:sp>
        <p:nvSpPr>
          <p:cNvPr id="3" name="Text 1"/>
          <p:cNvSpPr/>
          <p:nvPr/>
        </p:nvSpPr>
        <p:spPr>
          <a:xfrm>
            <a:off x="609600" y="3152775"/>
            <a:ext cx="11868150" cy="1143000"/>
          </a:xfrm>
          <a:prstGeom prst="rect">
            <a:avLst/>
          </a:prstGeom>
          <a:noFill/>
          <a:ln/>
        </p:spPr>
        <p:txBody>
          <a:bodyPr wrap="square" lIns="0" tIns="0" rIns="0" bIns="0" rtlCol="0" anchor="ctr"/>
          <a:lstStyle/>
          <a:p>
            <a:pPr>
              <a:lnSpc>
                <a:spcPct val="80000"/>
              </a:lnSpc>
            </a:pPr>
            <a:r>
              <a:rPr lang="en-US" sz="4500" b="1" dirty="0">
                <a:solidFill>
                  <a:srgbClr val="2D3436"/>
                </a:solidFill>
                <a:latin typeface="Oranienbaum" pitchFamily="34" charset="0"/>
                <a:ea typeface="Oranienbaum" pitchFamily="34" charset="-122"/>
                <a:cs typeface="Oranienbaum" pitchFamily="34" charset="-120"/>
              </a:rPr>
              <a:t>Introduction to</a:t>
            </a:r>
            <a:endParaRPr lang="en-US" sz="1600" dirty="0"/>
          </a:p>
          <a:p>
            <a:pPr>
              <a:lnSpc>
                <a:spcPct val="80000"/>
              </a:lnSpc>
            </a:pPr>
            <a:r>
              <a:rPr lang="en-US" sz="4500" b="1" dirty="0">
                <a:solidFill>
                  <a:srgbClr val="2D3436"/>
                </a:solidFill>
                <a:latin typeface="Oranienbaum" pitchFamily="34" charset="0"/>
                <a:ea typeface="Oranienbaum" pitchFamily="34" charset="-122"/>
                <a:cs typeface="Oranienbaum" pitchFamily="34" charset="-120"/>
              </a:rPr>
              <a:t>Game Theory</a:t>
            </a:r>
            <a:endParaRPr lang="en-US" sz="1600" dirty="0"/>
          </a:p>
        </p:txBody>
      </p:sp>
      <p:sp>
        <p:nvSpPr>
          <p:cNvPr id="4" name="Shape 2"/>
          <p:cNvSpPr/>
          <p:nvPr/>
        </p:nvSpPr>
        <p:spPr>
          <a:xfrm>
            <a:off x="609600" y="4524375"/>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5" name="Text 3"/>
          <p:cNvSpPr/>
          <p:nvPr/>
        </p:nvSpPr>
        <p:spPr>
          <a:xfrm>
            <a:off x="609600" y="4772025"/>
            <a:ext cx="11696700" cy="304800"/>
          </a:xfrm>
          <a:prstGeom prst="rect">
            <a:avLst/>
          </a:prstGeom>
          <a:noFill/>
          <a:ln/>
        </p:spPr>
        <p:txBody>
          <a:bodyPr wrap="square" lIns="0" tIns="0" rIns="0" bIns="0" rtlCol="0" anchor="ctr"/>
          <a:lstStyle/>
          <a:p>
            <a:pPr>
              <a:lnSpc>
                <a:spcPct val="110000"/>
              </a:lnSpc>
            </a:pPr>
            <a:r>
              <a:rPr lang="en-US" sz="1800" dirty="0">
                <a:solidFill>
                  <a:srgbClr val="636E72"/>
                </a:solidFill>
                <a:latin typeface="Liter" pitchFamily="34" charset="0"/>
                <a:ea typeface="Liter" pitchFamily="34" charset="-122"/>
                <a:cs typeface="Liter" pitchFamily="34" charset="-120"/>
              </a:rPr>
              <a:t>Defining the mathematical study of strategic interaction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i="1">
                <a:solidFill>
                  <a:srgbClr val="00008B"/>
                </a:solidFill>
                <a:latin typeface="Quattrocento Sans" pitchFamily="34" charset="0"/>
                <a:ea typeface="Quattrocento Sans" pitchFamily="34" charset="-122"/>
                <a:cs typeface="Quattrocento Sans" pitchFamily="34" charset="-120"/>
              </a:rPr>
              <a:t>INTRODUCTION</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i="1">
                <a:solidFill>
                  <a:srgbClr val="00008B"/>
                </a:solidFill>
                <a:latin typeface="Oranienbaum" pitchFamily="34" charset="0"/>
                <a:ea typeface="Oranienbaum" pitchFamily="34" charset="-122"/>
                <a:cs typeface="Oranienbaum" pitchFamily="34" charset="-120"/>
              </a:rPr>
              <a:t>What is Game Theory?</a:t>
            </a:r>
            <a:endParaRPr lang="en-US" sz="1600" dirty="0"/>
          </a:p>
        </p:txBody>
      </p:sp>
      <p:sp>
        <p:nvSpPr>
          <p:cNvPr id="4" name="Text 2"/>
          <p:cNvSpPr/>
          <p:nvPr/>
        </p:nvSpPr>
        <p:spPr>
          <a:xfrm>
            <a:off x="381000" y="1371600"/>
            <a:ext cx="6829425" cy="1238250"/>
          </a:xfrm>
          <a:prstGeom prst="rect">
            <a:avLst/>
          </a:prstGeom>
          <a:noFill/>
          <a:ln/>
        </p:spPr>
        <p:txBody>
          <a:bodyPr wrap="square" lIns="0" tIns="0" rIns="0" bIns="0" rtlCol="0" anchor="ctr"/>
          <a:lstStyle/>
          <a:p>
            <a:pPr>
              <a:lnSpc>
                <a:spcPct val="140000"/>
              </a:lnSpc>
            </a:pPr>
            <a:r>
              <a:rPr lang="en-US" sz="1500" b="1" dirty="0" i="1">
                <a:solidFill>
                  <a:srgbClr val="00008B"/>
                </a:solidFill>
                <a:latin typeface="Quattrocento Sans" pitchFamily="34" charset="0"/>
                <a:ea typeface="Quattrocento Sans" pitchFamily="34" charset="-122"/>
                <a:cs typeface="Quattrocento Sans" pitchFamily="34" charset="-120"/>
              </a:rPr>
              <a:t>Game theory is a mathematical framework for analyzing strategic interactions among rational decision-makers.</a:t>
            </a:r>
            <a:pPr>
              <a:lnSpc>
                <a:spcPct val="140000"/>
              </a:lnSpc>
            </a:pPr>
            <a:r>
              <a:rPr lang="en-US" sz="1500" dirty="0" i="1">
                <a:solidFill>
                  <a:srgbClr val="00008B"/>
                </a:solidFill>
                <a:latin typeface="Quattrocento Sans" pitchFamily="34" charset="0"/>
                <a:ea typeface="Quattrocento Sans" pitchFamily="34" charset="-122"/>
                <a:cs typeface="Quattrocento Sans" pitchFamily="34" charset="-120"/>
              </a:rPr>
              <a:t> It provides a structured approach to understanding how individuals or groups make decisions in situations where the outcome depends on the choices of multiple participants.</a:t>
            </a:r>
            <a:endParaRPr lang="en-US" sz="1600" dirty="0"/>
          </a:p>
        </p:txBody>
      </p:sp>
      <p:sp>
        <p:nvSpPr>
          <p:cNvPr id="5" name="Text 3"/>
          <p:cNvSpPr/>
          <p:nvPr/>
        </p:nvSpPr>
        <p:spPr>
          <a:xfrm>
            <a:off x="381000" y="2838450"/>
            <a:ext cx="6819900" cy="1114425"/>
          </a:xfrm>
          <a:prstGeom prst="rect">
            <a:avLst/>
          </a:prstGeom>
          <a:noFill/>
          <a:ln/>
        </p:spPr>
        <p:txBody>
          <a:bodyPr wrap="square" lIns="0" tIns="0" rIns="0" bIns="0" rtlCol="0" anchor="ctr"/>
          <a:lstStyle/>
          <a:p>
            <a:pPr>
              <a:lnSpc>
                <a:spcPct val="140000"/>
              </a:lnSpc>
            </a:pPr>
            <a:r>
              <a:rPr lang="en-US" sz="1350" dirty="0" i="1">
                <a:solidFill>
                  <a:srgbClr val="00008B"/>
                </a:solidFill>
                <a:latin typeface="Quattrocento Sans" pitchFamily="34" charset="0"/>
                <a:ea typeface="Quattrocento Sans" pitchFamily="34" charset="-122"/>
                <a:cs typeface="Quattrocento Sans" pitchFamily="34" charset="-120"/>
              </a:rPr>
              <a:t>Originally developed to investigate rational and economic behavior, game theory has evolved into a powerful tool with applications spanning economics, political science, biology, psychology, and computer science. It helps us predict behavior, design optimal strategies, and understand the dynamics of cooperation and competition.</a:t>
            </a:r>
            <a:endParaRPr lang="en-US" sz="1600" dirty="0"/>
          </a:p>
        </p:txBody>
      </p:sp>
      <p:sp>
        <p:nvSpPr>
          <p:cNvPr id="6" name="Shape 4"/>
          <p:cNvSpPr/>
          <p:nvPr/>
        </p:nvSpPr>
        <p:spPr>
          <a:xfrm>
            <a:off x="400050" y="4986338"/>
            <a:ext cx="6715125" cy="1362075"/>
          </a:xfrm>
          <a:custGeom>
            <a:avLst/>
            <a:gdLst/>
            <a:ahLst/>
            <a:cxnLst/>
            <a:rect l="l" t="t" r="r" b="b"/>
            <a:pathLst>
              <a:path w="6715125" h="1362075">
                <a:moveTo>
                  <a:pt x="0" y="0"/>
                </a:moveTo>
                <a:lnTo>
                  <a:pt x="6715125" y="0"/>
                </a:lnTo>
                <a:lnTo>
                  <a:pt x="6715125" y="1362075"/>
                </a:lnTo>
                <a:lnTo>
                  <a:pt x="0" y="1362075"/>
                </a:lnTo>
                <a:lnTo>
                  <a:pt x="0" y="0"/>
                </a:lnTo>
                <a:close/>
              </a:path>
            </a:pathLst>
          </a:custGeom>
          <a:solidFill>
            <a:srgbClr val="F8F9FA"/>
          </a:solidFill>
          <a:ln/>
        </p:spPr>
        <p:txBody>
          <a:bodyPr/>
          <a:p/>
        </p:txBody>
      </p:sp>
      <p:sp>
        <p:nvSpPr>
          <p:cNvPr id="7" name="Shape 5"/>
          <p:cNvSpPr/>
          <p:nvPr/>
        </p:nvSpPr>
        <p:spPr>
          <a:xfrm>
            <a:off x="400050" y="4986338"/>
            <a:ext cx="38100" cy="1362075"/>
          </a:xfrm>
          <a:custGeom>
            <a:avLst/>
            <a:gdLst/>
            <a:ahLst/>
            <a:cxnLst/>
            <a:rect l="l" t="t" r="r" b="b"/>
            <a:pathLst>
              <a:path w="38100" h="1362075">
                <a:moveTo>
                  <a:pt x="0" y="0"/>
                </a:moveTo>
                <a:lnTo>
                  <a:pt x="38100" y="0"/>
                </a:lnTo>
                <a:lnTo>
                  <a:pt x="38100" y="1362075"/>
                </a:lnTo>
                <a:lnTo>
                  <a:pt x="0" y="1362075"/>
                </a:lnTo>
                <a:lnTo>
                  <a:pt x="0" y="0"/>
                </a:lnTo>
                <a:close/>
              </a:path>
            </a:pathLst>
          </a:custGeom>
          <a:solidFill>
            <a:srgbClr val="0984E3"/>
          </a:solidFill>
          <a:ln/>
        </p:spPr>
        <p:txBody>
          <a:bodyPr/>
          <a:p/>
        </p:txBody>
      </p:sp>
      <p:sp>
        <p:nvSpPr>
          <p:cNvPr id="8" name="Text 6"/>
          <p:cNvSpPr/>
          <p:nvPr/>
        </p:nvSpPr>
        <p:spPr>
          <a:xfrm>
            <a:off x="647700" y="5214938"/>
            <a:ext cx="6324600" cy="561975"/>
          </a:xfrm>
          <a:prstGeom prst="rect">
            <a:avLst/>
          </a:prstGeom>
          <a:noFill/>
          <a:ln/>
        </p:spPr>
        <p:txBody>
          <a:bodyPr wrap="square" lIns="0" tIns="0" rIns="0" bIns="0" rtlCol="0" anchor="ctr"/>
          <a:lstStyle/>
          <a:p>
            <a:pPr>
              <a:lnSpc>
                <a:spcPct val="140000"/>
              </a:lnSpc>
            </a:pPr>
            <a:r>
              <a:rPr lang="en-US" sz="1350" dirty="0" i="1">
                <a:solidFill>
                  <a:srgbClr val="00008B"/>
                </a:solidFill>
                <a:latin typeface="Quattrocento Sans" pitchFamily="34" charset="0"/>
                <a:ea typeface="Quattrocento Sans" pitchFamily="34" charset="-122"/>
                <a:cs typeface="Quattrocento Sans" pitchFamily="34" charset="-120"/>
              </a:rPr>
              <a:t>"Game theory is the study of mathematical models of strategic interaction among rational decision-makers."</a:t>
            </a:r>
            <a:endParaRPr lang="en-US" sz="1600" dirty="0"/>
          </a:p>
        </p:txBody>
      </p:sp>
      <p:sp>
        <p:nvSpPr>
          <p:cNvPr id="9" name="Text 7"/>
          <p:cNvSpPr/>
          <p:nvPr/>
        </p:nvSpPr>
        <p:spPr>
          <a:xfrm>
            <a:off x="647700" y="5886450"/>
            <a:ext cx="6315075" cy="228600"/>
          </a:xfrm>
          <a:prstGeom prst="rect">
            <a:avLst/>
          </a:prstGeom>
          <a:noFill/>
          <a:ln/>
        </p:spPr>
        <p:txBody>
          <a:bodyPr wrap="square" lIns="0" tIns="0" rIns="0" bIns="0" rtlCol="0" anchor="ctr"/>
          <a:lstStyle/>
          <a:p>
            <a:pPr>
              <a:lnSpc>
                <a:spcPct val="130000"/>
              </a:lnSpc>
            </a:pPr>
            <a:r>
              <a:rPr lang="en-US" sz="1200" dirty="0" i="1">
                <a:solidFill>
                  <a:srgbClr val="00008B"/>
                </a:solidFill>
                <a:latin typeface="Quattrocento Sans" pitchFamily="34" charset="0"/>
                <a:ea typeface="Quattrocento Sans" pitchFamily="34" charset="-122"/>
                <a:cs typeface="Quattrocento Sans" pitchFamily="34" charset="-120"/>
              </a:rPr>
              <a:t>— Roger Myerson, Nobel Laureate 2007</a:t>
            </a:r>
            <a:endParaRPr lang="en-US" sz="1600" dirty="0"/>
          </a:p>
        </p:txBody>
      </p:sp>
      <p:sp>
        <p:nvSpPr>
          <p:cNvPr id="10" name="Shape 8"/>
          <p:cNvSpPr/>
          <p:nvPr/>
        </p:nvSpPr>
        <p:spPr>
          <a:xfrm>
            <a:off x="7426598" y="1376363"/>
            <a:ext cx="4381500" cy="1495425"/>
          </a:xfrm>
          <a:custGeom>
            <a:avLst/>
            <a:gdLst/>
            <a:ahLst/>
            <a:cxn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prstDash val="solid"/>
          </a:ln>
        </p:spPr>
        <p:txBody>
          <a:bodyPr/>
          <a:p/>
        </p:txBody>
      </p:sp>
      <p:sp>
        <p:nvSpPr>
          <p:cNvPr id="11" name="Shape 9"/>
          <p:cNvSpPr/>
          <p:nvPr/>
        </p:nvSpPr>
        <p:spPr>
          <a:xfrm>
            <a:off x="7659960" y="1609725"/>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0984E3"/>
          </a:solidFill>
          <a:ln/>
        </p:spPr>
        <p:txBody>
          <a:bodyPr/>
          <a:p/>
        </p:txBody>
      </p:sp>
      <p:sp>
        <p:nvSpPr>
          <p:cNvPr id="12" name="Shape 10"/>
          <p:cNvSpPr/>
          <p:nvPr/>
        </p:nvSpPr>
        <p:spPr>
          <a:xfrm>
            <a:off x="7745685" y="1714500"/>
            <a:ext cx="214313" cy="171450"/>
          </a:xfrm>
          <a:custGeom>
            <a:avLst/>
            <a:gdLst/>
            <a:ahLst/>
            <a:cxnLst/>
            <a:rect l="l" t="t" r="r" b="b"/>
            <a:pathLst>
              <a:path w="214313" h="171450">
                <a:moveTo>
                  <a:pt x="107156" y="5358"/>
                </a:moveTo>
                <a:cubicBezTo>
                  <a:pt x="126377" y="5358"/>
                  <a:pt x="141982" y="20963"/>
                  <a:pt x="141982" y="40184"/>
                </a:cubicBezTo>
                <a:cubicBezTo>
                  <a:pt x="141982" y="59404"/>
                  <a:pt x="126377" y="75009"/>
                  <a:pt x="107156" y="75009"/>
                </a:cubicBezTo>
                <a:cubicBezTo>
                  <a:pt x="87935" y="75009"/>
                  <a:pt x="72330" y="59404"/>
                  <a:pt x="72330" y="40184"/>
                </a:cubicBezTo>
                <a:cubicBezTo>
                  <a:pt x="72330" y="20963"/>
                  <a:pt x="87935" y="5358"/>
                  <a:pt x="107156" y="5358"/>
                </a:cubicBezTo>
                <a:close/>
                <a:moveTo>
                  <a:pt x="32147" y="29468"/>
                </a:moveTo>
                <a:cubicBezTo>
                  <a:pt x="45454" y="29468"/>
                  <a:pt x="56257" y="40271"/>
                  <a:pt x="56257" y="53578"/>
                </a:cubicBezTo>
                <a:cubicBezTo>
                  <a:pt x="56257" y="66885"/>
                  <a:pt x="45454" y="77688"/>
                  <a:pt x="32147" y="77688"/>
                </a:cubicBezTo>
                <a:cubicBezTo>
                  <a:pt x="18840" y="77688"/>
                  <a:pt x="8037" y="66885"/>
                  <a:pt x="8037" y="53578"/>
                </a:cubicBezTo>
                <a:cubicBezTo>
                  <a:pt x="8037" y="40271"/>
                  <a:pt x="18840" y="29468"/>
                  <a:pt x="32147" y="29468"/>
                </a:cubicBezTo>
                <a:close/>
                <a:moveTo>
                  <a:pt x="0" y="139303"/>
                </a:moveTo>
                <a:cubicBezTo>
                  <a:pt x="0" y="115628"/>
                  <a:pt x="19188" y="96441"/>
                  <a:pt x="42863" y="96441"/>
                </a:cubicBezTo>
                <a:cubicBezTo>
                  <a:pt x="47149" y="96441"/>
                  <a:pt x="51301" y="97077"/>
                  <a:pt x="55219" y="98249"/>
                </a:cubicBezTo>
                <a:cubicBezTo>
                  <a:pt x="44202" y="110572"/>
                  <a:pt x="37505" y="126846"/>
                  <a:pt x="37505" y="144661"/>
                </a:cubicBezTo>
                <a:lnTo>
                  <a:pt x="37505" y="150019"/>
                </a:lnTo>
                <a:cubicBezTo>
                  <a:pt x="37505" y="153836"/>
                  <a:pt x="38308" y="157453"/>
                  <a:pt x="39748" y="160734"/>
                </a:cubicBezTo>
                <a:lnTo>
                  <a:pt x="10716" y="160734"/>
                </a:lnTo>
                <a:cubicBezTo>
                  <a:pt x="4789" y="160734"/>
                  <a:pt x="0" y="155946"/>
                  <a:pt x="0" y="150019"/>
                </a:cubicBezTo>
                <a:lnTo>
                  <a:pt x="0" y="139303"/>
                </a:lnTo>
                <a:close/>
                <a:moveTo>
                  <a:pt x="174564" y="160734"/>
                </a:moveTo>
                <a:cubicBezTo>
                  <a:pt x="176004" y="157453"/>
                  <a:pt x="176808" y="153836"/>
                  <a:pt x="176808" y="150019"/>
                </a:cubicBezTo>
                <a:lnTo>
                  <a:pt x="176808" y="144661"/>
                </a:lnTo>
                <a:cubicBezTo>
                  <a:pt x="176808" y="126846"/>
                  <a:pt x="170111" y="110572"/>
                  <a:pt x="159094" y="98249"/>
                </a:cubicBezTo>
                <a:cubicBezTo>
                  <a:pt x="163011" y="97077"/>
                  <a:pt x="167164" y="96441"/>
                  <a:pt x="171450" y="96441"/>
                </a:cubicBezTo>
                <a:cubicBezTo>
                  <a:pt x="195125" y="96441"/>
                  <a:pt x="214313" y="115628"/>
                  <a:pt x="214313" y="139303"/>
                </a:cubicBezTo>
                <a:lnTo>
                  <a:pt x="214313" y="150019"/>
                </a:lnTo>
                <a:cubicBezTo>
                  <a:pt x="214313" y="155946"/>
                  <a:pt x="209524" y="160734"/>
                  <a:pt x="203597" y="160734"/>
                </a:cubicBezTo>
                <a:lnTo>
                  <a:pt x="174564" y="160734"/>
                </a:lnTo>
                <a:close/>
                <a:moveTo>
                  <a:pt x="158055" y="53578"/>
                </a:moveTo>
                <a:cubicBezTo>
                  <a:pt x="158055" y="40271"/>
                  <a:pt x="168859" y="29468"/>
                  <a:pt x="182166" y="29468"/>
                </a:cubicBezTo>
                <a:cubicBezTo>
                  <a:pt x="195472" y="29468"/>
                  <a:pt x="206276" y="40271"/>
                  <a:pt x="206276" y="53578"/>
                </a:cubicBezTo>
                <a:cubicBezTo>
                  <a:pt x="206276" y="66885"/>
                  <a:pt x="195472" y="77688"/>
                  <a:pt x="182166" y="77688"/>
                </a:cubicBezTo>
                <a:cubicBezTo>
                  <a:pt x="168859" y="77688"/>
                  <a:pt x="158055" y="66885"/>
                  <a:pt x="158055" y="53578"/>
                </a:cubicBezTo>
                <a:close/>
                <a:moveTo>
                  <a:pt x="53578" y="144661"/>
                </a:moveTo>
                <a:cubicBezTo>
                  <a:pt x="53578" y="115059"/>
                  <a:pt x="77554" y="91083"/>
                  <a:pt x="107156" y="91083"/>
                </a:cubicBezTo>
                <a:cubicBezTo>
                  <a:pt x="136758" y="91083"/>
                  <a:pt x="160734" y="115059"/>
                  <a:pt x="160734" y="144661"/>
                </a:cubicBezTo>
                <a:lnTo>
                  <a:pt x="160734" y="150019"/>
                </a:lnTo>
                <a:cubicBezTo>
                  <a:pt x="160734" y="155946"/>
                  <a:pt x="155946" y="160734"/>
                  <a:pt x="150019" y="160734"/>
                </a:cubicBezTo>
                <a:lnTo>
                  <a:pt x="64294" y="160734"/>
                </a:lnTo>
                <a:cubicBezTo>
                  <a:pt x="58367" y="160734"/>
                  <a:pt x="53578" y="155946"/>
                  <a:pt x="53578" y="150019"/>
                </a:cubicBezTo>
                <a:lnTo>
                  <a:pt x="53578" y="144661"/>
                </a:lnTo>
                <a:close/>
              </a:path>
            </a:pathLst>
          </a:custGeom>
          <a:solidFill>
            <a:srgbClr val="FFFFFF"/>
          </a:solidFill>
          <a:ln/>
        </p:spPr>
        <p:txBody>
          <a:bodyPr/>
          <a:p/>
        </p:txBody>
      </p:sp>
      <p:sp>
        <p:nvSpPr>
          <p:cNvPr id="13" name="Text 11"/>
          <p:cNvSpPr/>
          <p:nvPr/>
        </p:nvSpPr>
        <p:spPr>
          <a:xfrm>
            <a:off x="8155260" y="1666875"/>
            <a:ext cx="638175" cy="266700"/>
          </a:xfrm>
          <a:prstGeom prst="rect">
            <a:avLst/>
          </a:prstGeom>
          <a:noFill/>
          <a:ln/>
        </p:spPr>
        <p:txBody>
          <a:bodyPr wrap="square" lIns="0" tIns="0" rIns="0" bIns="0" rtlCol="0" anchor="ctr"/>
          <a:lstStyle/>
          <a:p>
            <a:pPr>
              <a:lnSpc>
                <a:spcPct val="120000"/>
              </a:lnSpc>
            </a:pPr>
            <a:r>
              <a:rPr lang="en-US" sz="1500" b="1" dirty="0" i="1">
                <a:solidFill>
                  <a:srgbClr val="00008B"/>
                </a:solidFill>
                <a:latin typeface="Oranienbaum" pitchFamily="34" charset="0"/>
                <a:ea typeface="Oranienbaum" pitchFamily="34" charset="-122"/>
                <a:cs typeface="Oranienbaum" pitchFamily="34" charset="-120"/>
              </a:rPr>
              <a:t>Players</a:t>
            </a:r>
            <a:endParaRPr lang="en-US" sz="1600" dirty="0"/>
          </a:p>
        </p:txBody>
      </p:sp>
      <p:sp>
        <p:nvSpPr>
          <p:cNvPr id="14" name="Text 12"/>
          <p:cNvSpPr/>
          <p:nvPr/>
        </p:nvSpPr>
        <p:spPr>
          <a:xfrm>
            <a:off x="7659960" y="2143125"/>
            <a:ext cx="3990975" cy="495300"/>
          </a:xfrm>
          <a:prstGeom prst="rect">
            <a:avLst/>
          </a:prstGeom>
          <a:noFill/>
          <a:ln/>
        </p:spPr>
        <p:txBody>
          <a:bodyPr wrap="square" lIns="0" tIns="0" rIns="0" bIns="0" rtlCol="0" anchor="ctr"/>
          <a:lstStyle/>
          <a:p>
            <a:pPr>
              <a:lnSpc>
                <a:spcPct val="140000"/>
              </a:lnSpc>
            </a:pPr>
            <a:r>
              <a:rPr lang="en-US" sz="1200" dirty="0" i="1">
                <a:solidFill>
                  <a:srgbClr val="00008B"/>
                </a:solidFill>
                <a:latin typeface="Quattrocento Sans" pitchFamily="34" charset="0"/>
                <a:ea typeface="Quattrocento Sans" pitchFamily="34" charset="-122"/>
                <a:cs typeface="Quattrocento Sans" pitchFamily="34" charset="-120"/>
              </a:rPr>
              <a:t>Decision-makers whose choices influence outcomes. Games may involve two players or many.</a:t>
            </a:r>
            <a:endParaRPr lang="en-US" sz="1600" dirty="0"/>
          </a:p>
        </p:txBody>
      </p:sp>
      <p:sp>
        <p:nvSpPr>
          <p:cNvPr id="15" name="Shape 13"/>
          <p:cNvSpPr/>
          <p:nvPr/>
        </p:nvSpPr>
        <p:spPr>
          <a:xfrm>
            <a:off x="7426598" y="3109913"/>
            <a:ext cx="4381500" cy="1495425"/>
          </a:xfrm>
          <a:custGeom>
            <a:avLst/>
            <a:gdLst/>
            <a:ahLst/>
            <a:cxn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prstDash val="solid"/>
          </a:ln>
        </p:spPr>
        <p:txBody>
          <a:bodyPr/>
          <a:p/>
        </p:txBody>
      </p:sp>
      <p:sp>
        <p:nvSpPr>
          <p:cNvPr id="16" name="Shape 14"/>
          <p:cNvSpPr/>
          <p:nvPr/>
        </p:nvSpPr>
        <p:spPr>
          <a:xfrm>
            <a:off x="7659960" y="3343275"/>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0984E3"/>
          </a:solidFill>
          <a:ln/>
        </p:spPr>
        <p:txBody>
          <a:bodyPr/>
          <a:p/>
        </p:txBody>
      </p:sp>
      <p:sp>
        <p:nvSpPr>
          <p:cNvPr id="17" name="Shape 15"/>
          <p:cNvSpPr/>
          <p:nvPr/>
        </p:nvSpPr>
        <p:spPr>
          <a:xfrm>
            <a:off x="7767117" y="3448050"/>
            <a:ext cx="171450" cy="171450"/>
          </a:xfrm>
          <a:custGeom>
            <a:avLst/>
            <a:gdLst/>
            <a:ahLst/>
            <a:cxnLst/>
            <a:rect l="l" t="t" r="r" b="b"/>
            <a:pathLst>
              <a:path w="171450" h="171450">
                <a:moveTo>
                  <a:pt x="56257" y="18752"/>
                </a:moveTo>
                <a:lnTo>
                  <a:pt x="56257" y="32147"/>
                </a:lnTo>
                <a:lnTo>
                  <a:pt x="30104" y="32147"/>
                </a:lnTo>
                <a:cubicBezTo>
                  <a:pt x="25316" y="32147"/>
                  <a:pt x="21431" y="36031"/>
                  <a:pt x="21431" y="40820"/>
                </a:cubicBezTo>
                <a:cubicBezTo>
                  <a:pt x="21431" y="42159"/>
                  <a:pt x="21733" y="43499"/>
                  <a:pt x="22335" y="44704"/>
                </a:cubicBezTo>
                <a:lnTo>
                  <a:pt x="33520" y="67073"/>
                </a:lnTo>
                <a:cubicBezTo>
                  <a:pt x="29702" y="67676"/>
                  <a:pt x="26756" y="70991"/>
                  <a:pt x="26756" y="75009"/>
                </a:cubicBezTo>
                <a:cubicBezTo>
                  <a:pt x="26756" y="79463"/>
                  <a:pt x="30339" y="83046"/>
                  <a:pt x="34792" y="83046"/>
                </a:cubicBezTo>
                <a:lnTo>
                  <a:pt x="36668" y="83046"/>
                </a:lnTo>
                <a:lnTo>
                  <a:pt x="32113" y="128588"/>
                </a:lnTo>
                <a:lnTo>
                  <a:pt x="13294" y="152128"/>
                </a:lnTo>
                <a:cubicBezTo>
                  <a:pt x="11620" y="154238"/>
                  <a:pt x="10682" y="156850"/>
                  <a:pt x="10682" y="159562"/>
                </a:cubicBezTo>
                <a:cubicBezTo>
                  <a:pt x="10682" y="166126"/>
                  <a:pt x="16006" y="171450"/>
                  <a:pt x="22570" y="171450"/>
                </a:cubicBezTo>
                <a:lnTo>
                  <a:pt x="105917" y="171450"/>
                </a:lnTo>
                <a:cubicBezTo>
                  <a:pt x="112481" y="171450"/>
                  <a:pt x="117805" y="166126"/>
                  <a:pt x="117805" y="159562"/>
                </a:cubicBezTo>
                <a:cubicBezTo>
                  <a:pt x="117805" y="156850"/>
                  <a:pt x="116901" y="154238"/>
                  <a:pt x="115193" y="152128"/>
                </a:cubicBezTo>
                <a:lnTo>
                  <a:pt x="96441" y="128588"/>
                </a:lnTo>
                <a:lnTo>
                  <a:pt x="91886" y="83046"/>
                </a:lnTo>
                <a:lnTo>
                  <a:pt x="93762" y="83046"/>
                </a:lnTo>
                <a:cubicBezTo>
                  <a:pt x="98215" y="83046"/>
                  <a:pt x="101798" y="79463"/>
                  <a:pt x="101798" y="75009"/>
                </a:cubicBezTo>
                <a:cubicBezTo>
                  <a:pt x="101798" y="71025"/>
                  <a:pt x="98885" y="67676"/>
                  <a:pt x="95034" y="67073"/>
                </a:cubicBezTo>
                <a:lnTo>
                  <a:pt x="106219" y="44704"/>
                </a:lnTo>
                <a:cubicBezTo>
                  <a:pt x="106821" y="43499"/>
                  <a:pt x="107123" y="42159"/>
                  <a:pt x="107123" y="40820"/>
                </a:cubicBezTo>
                <a:cubicBezTo>
                  <a:pt x="107123" y="36031"/>
                  <a:pt x="103238" y="32147"/>
                  <a:pt x="98450" y="32147"/>
                </a:cubicBezTo>
                <a:lnTo>
                  <a:pt x="72297" y="32147"/>
                </a:lnTo>
                <a:lnTo>
                  <a:pt x="72297" y="18752"/>
                </a:lnTo>
                <a:lnTo>
                  <a:pt x="77655" y="18752"/>
                </a:lnTo>
                <a:cubicBezTo>
                  <a:pt x="82108" y="18752"/>
                  <a:pt x="85692" y="15169"/>
                  <a:pt x="85692" y="10716"/>
                </a:cubicBezTo>
                <a:cubicBezTo>
                  <a:pt x="85692" y="6262"/>
                  <a:pt x="82142" y="2679"/>
                  <a:pt x="77688" y="2679"/>
                </a:cubicBezTo>
                <a:lnTo>
                  <a:pt x="72330" y="2679"/>
                </a:lnTo>
                <a:lnTo>
                  <a:pt x="72330" y="-2679"/>
                </a:lnTo>
                <a:cubicBezTo>
                  <a:pt x="72330" y="-7133"/>
                  <a:pt x="68747" y="-10716"/>
                  <a:pt x="64294" y="-10716"/>
                </a:cubicBezTo>
                <a:cubicBezTo>
                  <a:pt x="59840" y="-10716"/>
                  <a:pt x="56257" y="-7133"/>
                  <a:pt x="56257" y="-2679"/>
                </a:cubicBezTo>
                <a:lnTo>
                  <a:pt x="56257" y="2679"/>
                </a:lnTo>
                <a:lnTo>
                  <a:pt x="50899" y="2679"/>
                </a:lnTo>
                <a:cubicBezTo>
                  <a:pt x="46446" y="2679"/>
                  <a:pt x="42863" y="6262"/>
                  <a:pt x="42863" y="10716"/>
                </a:cubicBezTo>
                <a:cubicBezTo>
                  <a:pt x="42863" y="15169"/>
                  <a:pt x="46446" y="18752"/>
                  <a:pt x="50899" y="18752"/>
                </a:cubicBezTo>
                <a:lnTo>
                  <a:pt x="56257" y="18752"/>
                </a:lnTo>
                <a:close/>
                <a:moveTo>
                  <a:pt x="109098" y="93628"/>
                </a:moveTo>
                <a:lnTo>
                  <a:pt x="111945" y="122259"/>
                </a:lnTo>
                <a:lnTo>
                  <a:pt x="127817" y="142082"/>
                </a:lnTo>
                <a:lnTo>
                  <a:pt x="129224" y="143991"/>
                </a:lnTo>
                <a:cubicBezTo>
                  <a:pt x="132304" y="148579"/>
                  <a:pt x="133945" y="154004"/>
                  <a:pt x="133945" y="159562"/>
                </a:cubicBezTo>
                <a:cubicBezTo>
                  <a:pt x="133945" y="163815"/>
                  <a:pt x="133008" y="167867"/>
                  <a:pt x="131300" y="171450"/>
                </a:cubicBezTo>
                <a:lnTo>
                  <a:pt x="159127" y="171450"/>
                </a:lnTo>
                <a:cubicBezTo>
                  <a:pt x="165925" y="171450"/>
                  <a:pt x="171450" y="165925"/>
                  <a:pt x="171450" y="159127"/>
                </a:cubicBezTo>
                <a:cubicBezTo>
                  <a:pt x="171450" y="156683"/>
                  <a:pt x="170713" y="154305"/>
                  <a:pt x="169374" y="152296"/>
                </a:cubicBezTo>
                <a:lnTo>
                  <a:pt x="160734" y="139337"/>
                </a:lnTo>
                <a:lnTo>
                  <a:pt x="160734" y="117905"/>
                </a:lnTo>
                <a:lnTo>
                  <a:pt x="165188" y="113452"/>
                </a:lnTo>
                <a:cubicBezTo>
                  <a:pt x="169206" y="109433"/>
                  <a:pt x="171450" y="103975"/>
                  <a:pt x="171450" y="98282"/>
                </a:cubicBezTo>
                <a:lnTo>
                  <a:pt x="171450" y="64294"/>
                </a:lnTo>
                <a:cubicBezTo>
                  <a:pt x="171450" y="58367"/>
                  <a:pt x="166661" y="53578"/>
                  <a:pt x="160734" y="53578"/>
                </a:cubicBezTo>
                <a:cubicBezTo>
                  <a:pt x="154807" y="53578"/>
                  <a:pt x="150019" y="58367"/>
                  <a:pt x="150019" y="64294"/>
                </a:cubicBezTo>
                <a:lnTo>
                  <a:pt x="150019" y="69652"/>
                </a:lnTo>
                <a:lnTo>
                  <a:pt x="139303" y="69652"/>
                </a:lnTo>
                <a:lnTo>
                  <a:pt x="139303" y="64294"/>
                </a:lnTo>
                <a:cubicBezTo>
                  <a:pt x="139303" y="58367"/>
                  <a:pt x="134515" y="53578"/>
                  <a:pt x="128588" y="53578"/>
                </a:cubicBezTo>
                <a:cubicBezTo>
                  <a:pt x="122660" y="53578"/>
                  <a:pt x="117872" y="58367"/>
                  <a:pt x="117872" y="64294"/>
                </a:cubicBezTo>
                <a:lnTo>
                  <a:pt x="117872" y="75009"/>
                </a:lnTo>
                <a:cubicBezTo>
                  <a:pt x="117872" y="82510"/>
                  <a:pt x="114456" y="89208"/>
                  <a:pt x="109098" y="93628"/>
                </a:cubicBezTo>
                <a:close/>
              </a:path>
            </a:pathLst>
          </a:custGeom>
          <a:solidFill>
            <a:srgbClr val="FFFFFF"/>
          </a:solidFill>
          <a:ln/>
        </p:spPr>
        <p:txBody>
          <a:bodyPr/>
          <a:p/>
        </p:txBody>
      </p:sp>
      <p:sp>
        <p:nvSpPr>
          <p:cNvPr id="18" name="Text 16"/>
          <p:cNvSpPr/>
          <p:nvPr/>
        </p:nvSpPr>
        <p:spPr>
          <a:xfrm>
            <a:off x="8155260" y="3400425"/>
            <a:ext cx="866775" cy="266700"/>
          </a:xfrm>
          <a:prstGeom prst="rect">
            <a:avLst/>
          </a:prstGeom>
          <a:noFill/>
          <a:ln/>
        </p:spPr>
        <p:txBody>
          <a:bodyPr wrap="square" lIns="0" tIns="0" rIns="0" bIns="0" rtlCol="0" anchor="ctr"/>
          <a:lstStyle/>
          <a:p>
            <a:pPr>
              <a:lnSpc>
                <a:spcPct val="120000"/>
              </a:lnSpc>
            </a:pPr>
            <a:r>
              <a:rPr lang="en-US" sz="1500" b="1" dirty="0" i="1">
                <a:solidFill>
                  <a:srgbClr val="00008B"/>
                </a:solidFill>
                <a:latin typeface="Oranienbaum" pitchFamily="34" charset="0"/>
                <a:ea typeface="Oranienbaum" pitchFamily="34" charset="-122"/>
                <a:cs typeface="Oranienbaum" pitchFamily="34" charset="-120"/>
              </a:rPr>
              <a:t>Strategies</a:t>
            </a:r>
            <a:endParaRPr lang="en-US" sz="1600" dirty="0"/>
          </a:p>
        </p:txBody>
      </p:sp>
      <p:sp>
        <p:nvSpPr>
          <p:cNvPr id="19" name="Text 17"/>
          <p:cNvSpPr/>
          <p:nvPr/>
        </p:nvSpPr>
        <p:spPr>
          <a:xfrm>
            <a:off x="7659960" y="3876675"/>
            <a:ext cx="3990975" cy="495300"/>
          </a:xfrm>
          <a:prstGeom prst="rect">
            <a:avLst/>
          </a:prstGeom>
          <a:noFill/>
          <a:ln/>
        </p:spPr>
        <p:txBody>
          <a:bodyPr wrap="square" lIns="0" tIns="0" rIns="0" bIns="0" rtlCol="0" anchor="ctr"/>
          <a:lstStyle/>
          <a:p>
            <a:pPr>
              <a:lnSpc>
                <a:spcPct val="140000"/>
              </a:lnSpc>
            </a:pPr>
            <a:r>
              <a:rPr lang="en-US" sz="1200" dirty="0" i="1">
                <a:solidFill>
                  <a:srgbClr val="00008B"/>
                </a:solidFill>
                <a:latin typeface="Quattrocento Sans" pitchFamily="34" charset="0"/>
                <a:ea typeface="Quattrocento Sans" pitchFamily="34" charset="-122"/>
                <a:cs typeface="Quattrocento Sans" pitchFamily="34" charset="-120"/>
              </a:rPr>
              <a:t>Complete plans of action available to each player, specifying choices at every decision point.</a:t>
            </a:r>
            <a:endParaRPr lang="en-US" sz="1600" dirty="0"/>
          </a:p>
        </p:txBody>
      </p:sp>
      <p:sp>
        <p:nvSpPr>
          <p:cNvPr id="20" name="Shape 18"/>
          <p:cNvSpPr/>
          <p:nvPr/>
        </p:nvSpPr>
        <p:spPr>
          <a:xfrm>
            <a:off x="7426598" y="4843463"/>
            <a:ext cx="4381500" cy="1495425"/>
          </a:xfrm>
          <a:custGeom>
            <a:avLst/>
            <a:gdLst/>
            <a:ahLst/>
            <a:cxn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prstDash val="solid"/>
          </a:ln>
        </p:spPr>
        <p:txBody>
          <a:bodyPr/>
          <a:p/>
        </p:txBody>
      </p:sp>
      <p:sp>
        <p:nvSpPr>
          <p:cNvPr id="21" name="Shape 19"/>
          <p:cNvSpPr/>
          <p:nvPr/>
        </p:nvSpPr>
        <p:spPr>
          <a:xfrm>
            <a:off x="7659960" y="5076825"/>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0984E3"/>
          </a:solidFill>
          <a:ln/>
        </p:spPr>
        <p:txBody>
          <a:bodyPr/>
          <a:p/>
        </p:txBody>
      </p:sp>
      <p:sp>
        <p:nvSpPr>
          <p:cNvPr id="22" name="Shape 20"/>
          <p:cNvSpPr/>
          <p:nvPr/>
        </p:nvSpPr>
        <p:spPr>
          <a:xfrm>
            <a:off x="7767117" y="5181600"/>
            <a:ext cx="171450" cy="171450"/>
          </a:xfrm>
          <a:custGeom>
            <a:avLst/>
            <a:gdLst/>
            <a:ahLst/>
            <a:cxnLst/>
            <a:rect l="l" t="t" r="r" b="b"/>
            <a:pathLst>
              <a:path w="171450" h="171450">
                <a:moveTo>
                  <a:pt x="48321" y="0"/>
                </a:moveTo>
                <a:lnTo>
                  <a:pt x="123330" y="0"/>
                </a:lnTo>
                <a:cubicBezTo>
                  <a:pt x="132204" y="0"/>
                  <a:pt x="139437" y="7300"/>
                  <a:pt x="139102" y="16140"/>
                </a:cubicBezTo>
                <a:cubicBezTo>
                  <a:pt x="139035" y="17915"/>
                  <a:pt x="138968" y="19690"/>
                  <a:pt x="138868" y="21431"/>
                </a:cubicBezTo>
                <a:lnTo>
                  <a:pt x="155477" y="21431"/>
                </a:lnTo>
                <a:cubicBezTo>
                  <a:pt x="164217" y="21431"/>
                  <a:pt x="171919" y="28664"/>
                  <a:pt x="171249" y="38107"/>
                </a:cubicBezTo>
                <a:cubicBezTo>
                  <a:pt x="168738" y="72833"/>
                  <a:pt x="150990" y="91920"/>
                  <a:pt x="131735" y="101899"/>
                </a:cubicBezTo>
                <a:cubicBezTo>
                  <a:pt x="126444" y="104645"/>
                  <a:pt x="121053" y="106687"/>
                  <a:pt x="115930" y="108194"/>
                </a:cubicBezTo>
                <a:cubicBezTo>
                  <a:pt x="109165" y="117771"/>
                  <a:pt x="102133" y="122828"/>
                  <a:pt x="96541" y="125540"/>
                </a:cubicBezTo>
                <a:lnTo>
                  <a:pt x="96541" y="150019"/>
                </a:lnTo>
                <a:lnTo>
                  <a:pt x="117972" y="150019"/>
                </a:lnTo>
                <a:cubicBezTo>
                  <a:pt x="123899" y="150019"/>
                  <a:pt x="128688" y="154807"/>
                  <a:pt x="128688" y="160734"/>
                </a:cubicBezTo>
                <a:cubicBezTo>
                  <a:pt x="128688" y="166661"/>
                  <a:pt x="123899" y="171450"/>
                  <a:pt x="117972" y="171450"/>
                </a:cubicBezTo>
                <a:lnTo>
                  <a:pt x="53679" y="171450"/>
                </a:lnTo>
                <a:cubicBezTo>
                  <a:pt x="47752" y="171450"/>
                  <a:pt x="42963" y="166661"/>
                  <a:pt x="42963" y="160734"/>
                </a:cubicBezTo>
                <a:cubicBezTo>
                  <a:pt x="42963" y="154807"/>
                  <a:pt x="47752" y="150019"/>
                  <a:pt x="53679" y="150019"/>
                </a:cubicBezTo>
                <a:lnTo>
                  <a:pt x="75110" y="150019"/>
                </a:lnTo>
                <a:lnTo>
                  <a:pt x="75110" y="125540"/>
                </a:lnTo>
                <a:cubicBezTo>
                  <a:pt x="69752" y="122962"/>
                  <a:pt x="63088" y="118173"/>
                  <a:pt x="56592" y="109366"/>
                </a:cubicBezTo>
                <a:cubicBezTo>
                  <a:pt x="50430" y="107759"/>
                  <a:pt x="43733" y="105315"/>
                  <a:pt x="37203" y="101631"/>
                </a:cubicBezTo>
                <a:cubicBezTo>
                  <a:pt x="19087" y="91485"/>
                  <a:pt x="2746" y="72364"/>
                  <a:pt x="402" y="38040"/>
                </a:cubicBezTo>
                <a:cubicBezTo>
                  <a:pt x="-234" y="28631"/>
                  <a:pt x="7434" y="21398"/>
                  <a:pt x="16174" y="21398"/>
                </a:cubicBezTo>
                <a:lnTo>
                  <a:pt x="32783" y="21398"/>
                </a:lnTo>
                <a:cubicBezTo>
                  <a:pt x="32683" y="19656"/>
                  <a:pt x="32616" y="17915"/>
                  <a:pt x="32549" y="16107"/>
                </a:cubicBezTo>
                <a:cubicBezTo>
                  <a:pt x="32214" y="7233"/>
                  <a:pt x="39447" y="-33"/>
                  <a:pt x="48321" y="-33"/>
                </a:cubicBezTo>
                <a:close/>
                <a:moveTo>
                  <a:pt x="33989" y="37505"/>
                </a:moveTo>
                <a:lnTo>
                  <a:pt x="16442" y="37505"/>
                </a:lnTo>
                <a:cubicBezTo>
                  <a:pt x="18518" y="65868"/>
                  <a:pt x="31544" y="80066"/>
                  <a:pt x="44972" y="87600"/>
                </a:cubicBezTo>
                <a:cubicBezTo>
                  <a:pt x="40150" y="75110"/>
                  <a:pt x="36165" y="58802"/>
                  <a:pt x="33989" y="37505"/>
                </a:cubicBezTo>
                <a:close/>
                <a:moveTo>
                  <a:pt x="127248" y="85993"/>
                </a:moveTo>
                <a:cubicBezTo>
                  <a:pt x="140810" y="78023"/>
                  <a:pt x="153066" y="63858"/>
                  <a:pt x="155142" y="37505"/>
                </a:cubicBezTo>
                <a:lnTo>
                  <a:pt x="137629" y="37505"/>
                </a:lnTo>
                <a:cubicBezTo>
                  <a:pt x="135553" y="57898"/>
                  <a:pt x="131802" y="73737"/>
                  <a:pt x="127248" y="85993"/>
                </a:cubicBezTo>
                <a:close/>
              </a:path>
            </a:pathLst>
          </a:custGeom>
          <a:solidFill>
            <a:srgbClr val="FFFFFF"/>
          </a:solidFill>
          <a:ln/>
        </p:spPr>
        <p:txBody>
          <a:bodyPr/>
          <a:p/>
        </p:txBody>
      </p:sp>
      <p:sp>
        <p:nvSpPr>
          <p:cNvPr id="23" name="Text 21"/>
          <p:cNvSpPr/>
          <p:nvPr/>
        </p:nvSpPr>
        <p:spPr>
          <a:xfrm>
            <a:off x="8155260" y="5133975"/>
            <a:ext cx="657225" cy="266700"/>
          </a:xfrm>
          <a:prstGeom prst="rect">
            <a:avLst/>
          </a:prstGeom>
          <a:noFill/>
          <a:ln/>
        </p:spPr>
        <p:txBody>
          <a:bodyPr wrap="square" lIns="0" tIns="0" rIns="0" bIns="0" rtlCol="0" anchor="ctr"/>
          <a:lstStyle/>
          <a:p>
            <a:pPr>
              <a:lnSpc>
                <a:spcPct val="120000"/>
              </a:lnSpc>
            </a:pPr>
            <a:r>
              <a:rPr lang="en-US" sz="1500" b="1" dirty="0" i="1">
                <a:solidFill>
                  <a:srgbClr val="00008B"/>
                </a:solidFill>
                <a:latin typeface="Oranienbaum" pitchFamily="34" charset="0"/>
                <a:ea typeface="Oranienbaum" pitchFamily="34" charset="-122"/>
                <a:cs typeface="Oranienbaum" pitchFamily="34" charset="-120"/>
              </a:rPr>
              <a:t>Payoffs</a:t>
            </a:r>
            <a:endParaRPr lang="en-US" sz="1600" dirty="0"/>
          </a:p>
        </p:txBody>
      </p:sp>
      <p:sp>
        <p:nvSpPr>
          <p:cNvPr id="24" name="Text 22"/>
          <p:cNvSpPr/>
          <p:nvPr/>
        </p:nvSpPr>
        <p:spPr>
          <a:xfrm>
            <a:off x="7659960" y="5610225"/>
            <a:ext cx="3990975" cy="495300"/>
          </a:xfrm>
          <a:prstGeom prst="rect">
            <a:avLst/>
          </a:prstGeom>
          <a:noFill/>
          <a:ln/>
        </p:spPr>
        <p:txBody>
          <a:bodyPr wrap="square" lIns="0" tIns="0" rIns="0" bIns="0" rtlCol="0" anchor="ctr"/>
          <a:lstStyle/>
          <a:p>
            <a:pPr>
              <a:lnSpc>
                <a:spcPct val="140000"/>
              </a:lnSpc>
            </a:pPr>
            <a:r>
              <a:rPr lang="en-US" sz="1200" dirty="0" i="1">
                <a:solidFill>
                  <a:srgbClr val="00008B"/>
                </a:solidFill>
                <a:latin typeface="Quattrocento Sans" pitchFamily="34" charset="0"/>
                <a:ea typeface="Quattrocento Sans" pitchFamily="34" charset="-122"/>
                <a:cs typeface="Quattrocento Sans" pitchFamily="34" charset="-120"/>
              </a:rPr>
              <a:t>Numerical values representing utility or benefit received by players for each outcome.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1781175"/>
            <a:ext cx="12192000" cy="1219200"/>
          </a:xfrm>
          <a:prstGeom prst="rect">
            <a:avLst/>
          </a:prstGeom>
          <a:noFill/>
          <a:ln/>
        </p:spPr>
        <p:txBody>
          <a:bodyPr wrap="square" lIns="0" tIns="0" rIns="0" bIns="0" rtlCol="0" anchor="ctr"/>
          <a:lstStyle/>
          <a:p>
            <a:pPr>
              <a:lnSpc>
                <a:spcPct val="80000"/>
              </a:lnSpc>
            </a:pPr>
            <a:r>
              <a:rPr lang="en-US" sz="9600" b="1" dirty="0">
                <a:solidFill>
                  <a:srgbClr val="0984E3">
                    <a:alpha val="10000"/>
                  </a:srgbClr>
                </a:solidFill>
                <a:latin typeface="Oranienbaum" pitchFamily="34" charset="0"/>
                <a:ea typeface="Oranienbaum" pitchFamily="34" charset="-122"/>
                <a:cs typeface="Oranienbaum" pitchFamily="34" charset="-120"/>
              </a:rPr>
              <a:t>02</a:t>
            </a:r>
            <a:endParaRPr lang="en-US" sz="1600" dirty="0"/>
          </a:p>
        </p:txBody>
      </p:sp>
      <p:sp>
        <p:nvSpPr>
          <p:cNvPr id="3" name="Text 1"/>
          <p:cNvSpPr/>
          <p:nvPr/>
        </p:nvSpPr>
        <p:spPr>
          <a:xfrm>
            <a:off x="609600" y="3152775"/>
            <a:ext cx="11868150" cy="1143000"/>
          </a:xfrm>
          <a:prstGeom prst="rect">
            <a:avLst/>
          </a:prstGeom>
          <a:noFill/>
          <a:ln/>
        </p:spPr>
        <p:txBody>
          <a:bodyPr wrap="square" lIns="0" tIns="0" rIns="0" bIns="0" rtlCol="0" anchor="ctr"/>
          <a:lstStyle/>
          <a:p>
            <a:pPr>
              <a:lnSpc>
                <a:spcPct val="80000"/>
              </a:lnSpc>
            </a:pPr>
            <a:r>
              <a:rPr lang="en-US" sz="4500" b="1" dirty="0">
                <a:solidFill>
                  <a:srgbClr val="2D3436"/>
                </a:solidFill>
                <a:latin typeface="Oranienbaum" pitchFamily="34" charset="0"/>
                <a:ea typeface="Oranienbaum" pitchFamily="34" charset="-122"/>
                <a:cs typeface="Oranienbaum" pitchFamily="34" charset="-120"/>
              </a:rPr>
              <a:t>Historical</a:t>
            </a:r>
            <a:endParaRPr lang="en-US" sz="1600" dirty="0"/>
          </a:p>
          <a:p>
            <a:pPr>
              <a:lnSpc>
                <a:spcPct val="80000"/>
              </a:lnSpc>
            </a:pPr>
            <a:r>
              <a:rPr lang="en-US" sz="4500" b="1" dirty="0">
                <a:solidFill>
                  <a:srgbClr val="2D3436"/>
                </a:solidFill>
                <a:latin typeface="Oranienbaum" pitchFamily="34" charset="0"/>
                <a:ea typeface="Oranienbaum" pitchFamily="34" charset="-122"/>
                <a:cs typeface="Oranienbaum" pitchFamily="34" charset="-120"/>
              </a:rPr>
              <a:t>Foundations</a:t>
            </a:r>
            <a:endParaRPr lang="en-US" sz="1600" dirty="0"/>
          </a:p>
        </p:txBody>
      </p:sp>
      <p:sp>
        <p:nvSpPr>
          <p:cNvPr id="4" name="Shape 2"/>
          <p:cNvSpPr/>
          <p:nvPr/>
        </p:nvSpPr>
        <p:spPr>
          <a:xfrm>
            <a:off x="609600" y="4524375"/>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5" name="Text 3"/>
          <p:cNvSpPr/>
          <p:nvPr/>
        </p:nvSpPr>
        <p:spPr>
          <a:xfrm>
            <a:off x="609600" y="4772025"/>
            <a:ext cx="11696700" cy="304800"/>
          </a:xfrm>
          <a:prstGeom prst="rect">
            <a:avLst/>
          </a:prstGeom>
          <a:noFill/>
          <a:ln/>
        </p:spPr>
        <p:txBody>
          <a:bodyPr wrap="square" lIns="0" tIns="0" rIns="0" bIns="0" rtlCol="0" anchor="ctr"/>
          <a:lstStyle/>
          <a:p>
            <a:pPr>
              <a:lnSpc>
                <a:spcPct val="110000"/>
              </a:lnSpc>
            </a:pPr>
            <a:r>
              <a:rPr lang="en-US" sz="1800" dirty="0">
                <a:solidFill>
                  <a:srgbClr val="636E72"/>
                </a:solidFill>
                <a:latin typeface="Liter" pitchFamily="34" charset="0"/>
                <a:ea typeface="Liter" pitchFamily="34" charset="-122"/>
                <a:cs typeface="Liter" pitchFamily="34" charset="-120"/>
              </a:rPr>
              <a:t>From von Neumann to Nash: The evolution of strategic thinking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D3D3D3"/>
        </a:solidFill>
      </p:bgPr>
    </p:bg>
    <p:spTree>
      <p:nvGrpSpPr>
        <p:cNvPr id="1" name=""/>
        <p:cNvGrpSpPr/>
        <p:nvPr/>
      </p:nvGrpSpPr>
      <p:grpSpPr>
        <a:xfrm>
          <a:off x="0" y="0"/>
          <a:ext cx="0" cy="0"/>
          <a:chOff x="0" y="0"/>
          <a:chExt cx="0" cy="0"/>
        </a:xfrm>
      </p:grpSpPr>
      <p:sp>
        <p:nvSpPr>
          <p:cNvPr id="2" name="Text 0"/>
          <p:cNvSpPr/>
          <p:nvPr/>
        </p:nvSpPr>
        <p:spPr>
          <a:xfrm>
            <a:off x="324255" y="324255"/>
            <a:ext cx="11608340" cy="194553"/>
          </a:xfrm>
          <a:prstGeom prst="rect">
            <a:avLst/>
          </a:prstGeom>
          <a:noFill/>
          <a:ln/>
        </p:spPr>
        <p:txBody>
          <a:bodyPr wrap="square" lIns="0" tIns="0" rIns="0" bIns="0" rtlCol="0" anchor="ctr"/>
          <a:lstStyle/>
          <a:p>
            <a:pPr>
              <a:lnSpc>
                <a:spcPct val="130000"/>
              </a:lnSpc>
            </a:pPr>
            <a:r>
              <a:rPr lang="en-US" sz="1021" b="1" spc="51" kern="0" dirty="0">
                <a:solidFill>
                  <a:srgbClr val="0984E3"/>
                </a:solidFill>
                <a:latin typeface="Quattrocento Sans" pitchFamily="34" charset="0"/>
                <a:ea typeface="Quattrocento Sans" pitchFamily="34" charset="-122"/>
                <a:cs typeface="Quattrocento Sans" pitchFamily="34" charset="-120"/>
              </a:rPr>
              <a:t>HISTORICAL DEVELOPMENT</a:t>
            </a:r>
            <a:endParaRPr lang="en-US" sz="1600" dirty="0"/>
          </a:p>
        </p:txBody>
      </p:sp>
      <p:sp>
        <p:nvSpPr>
          <p:cNvPr id="3" name="Text 1"/>
          <p:cNvSpPr/>
          <p:nvPr/>
        </p:nvSpPr>
        <p:spPr>
          <a:xfrm>
            <a:off x="324255" y="583660"/>
            <a:ext cx="11738043" cy="389106"/>
          </a:xfrm>
          <a:prstGeom prst="rect">
            <a:avLst/>
          </a:prstGeom>
          <a:noFill/>
          <a:ln/>
        </p:spPr>
        <p:txBody>
          <a:bodyPr wrap="square" lIns="0" tIns="0" rIns="0" bIns="0" rtlCol="0" anchor="ctr"/>
          <a:lstStyle/>
          <a:p>
            <a:pPr>
              <a:lnSpc>
                <a:spcPct val="80000"/>
              </a:lnSpc>
            </a:pPr>
            <a:r>
              <a:rPr lang="en-US" sz="3064" b="1" dirty="0">
                <a:solidFill>
                  <a:srgbClr val="2D3436"/>
                </a:solidFill>
                <a:latin typeface="Oranienbaum" pitchFamily="34" charset="0"/>
                <a:ea typeface="Oranienbaum" pitchFamily="34" charset="-122"/>
                <a:cs typeface="Oranienbaum" pitchFamily="34" charset="-120"/>
              </a:rPr>
              <a:t>The Pioneers of Game Theory</a:t>
            </a:r>
            <a:endParaRPr lang="en-US" sz="1600" dirty="0"/>
          </a:p>
        </p:txBody>
      </p:sp>
      <p:sp>
        <p:nvSpPr>
          <p:cNvPr id="4" name="Shape 2"/>
          <p:cNvSpPr/>
          <p:nvPr/>
        </p:nvSpPr>
        <p:spPr>
          <a:xfrm>
            <a:off x="6096000" y="1167319"/>
            <a:ext cx="16213" cy="4977319"/>
          </a:xfrm>
          <a:custGeom>
            <a:avLst/>
            <a:gdLst/>
            <a:ahLst/>
            <a:cxnLst/>
            <a:rect l="l" t="t" r="r" b="b"/>
            <a:pathLst>
              <a:path w="16213" h="4977319">
                <a:moveTo>
                  <a:pt x="0" y="0"/>
                </a:moveTo>
                <a:lnTo>
                  <a:pt x="16213" y="0"/>
                </a:lnTo>
                <a:lnTo>
                  <a:pt x="16213" y="4977319"/>
                </a:lnTo>
                <a:lnTo>
                  <a:pt x="0" y="4977319"/>
                </a:lnTo>
                <a:lnTo>
                  <a:pt x="0" y="0"/>
                </a:lnTo>
                <a:close/>
              </a:path>
            </a:pathLst>
          </a:custGeom>
          <a:solidFill>
            <a:srgbClr val="E0E0E0"/>
          </a:solidFill>
          <a:ln/>
        </p:spPr>
      </p:sp>
      <p:sp>
        <p:nvSpPr>
          <p:cNvPr id="5" name="Shape 3"/>
          <p:cNvSpPr/>
          <p:nvPr/>
        </p:nvSpPr>
        <p:spPr>
          <a:xfrm>
            <a:off x="1637869" y="1171372"/>
            <a:ext cx="3866745" cy="721468"/>
          </a:xfrm>
          <a:custGeom>
            <a:avLst/>
            <a:gdLst/>
            <a:ahLst/>
            <a:cxnLst/>
            <a:rect l="l" t="t" r="r" b="b"/>
            <a:pathLst>
              <a:path w="3866745" h="721468">
                <a:moveTo>
                  <a:pt x="0" y="0"/>
                </a:moveTo>
                <a:lnTo>
                  <a:pt x="3866745" y="0"/>
                </a:lnTo>
                <a:lnTo>
                  <a:pt x="3866745" y="721468"/>
                </a:lnTo>
                <a:lnTo>
                  <a:pt x="0" y="721468"/>
                </a:lnTo>
                <a:lnTo>
                  <a:pt x="0" y="0"/>
                </a:lnTo>
                <a:close/>
              </a:path>
            </a:pathLst>
          </a:custGeom>
          <a:solidFill>
            <a:srgbClr val="FFFFFF"/>
          </a:solidFill>
          <a:ln w="12700">
            <a:solidFill>
              <a:srgbClr val="E0E0E0"/>
            </a:solidFill>
            <a:prstDash val="solid"/>
          </a:ln>
        </p:spPr>
      </p:sp>
      <p:sp>
        <p:nvSpPr>
          <p:cNvPr id="6" name="Text 4"/>
          <p:cNvSpPr/>
          <p:nvPr/>
        </p:nvSpPr>
        <p:spPr>
          <a:xfrm>
            <a:off x="1698667" y="1305128"/>
            <a:ext cx="3672191" cy="226979"/>
          </a:xfrm>
          <a:prstGeom prst="rect">
            <a:avLst/>
          </a:prstGeom>
          <a:noFill/>
          <a:ln/>
        </p:spPr>
        <p:txBody>
          <a:bodyPr wrap="square" lIns="0" tIns="0" rIns="0" bIns="0" rtlCol="0" anchor="ctr"/>
          <a:lstStyle/>
          <a:p>
            <a:pPr algn="r">
              <a:lnSpc>
                <a:spcPct val="130000"/>
              </a:lnSpc>
            </a:pPr>
            <a:r>
              <a:rPr lang="en-US" sz="1149" b="1" dirty="0">
                <a:solidFill>
                  <a:srgbClr val="2D3436"/>
                </a:solidFill>
                <a:latin typeface="Oranienbaum" pitchFamily="34" charset="0"/>
                <a:ea typeface="Oranienbaum" pitchFamily="34" charset="-122"/>
                <a:cs typeface="Oranienbaum" pitchFamily="34" charset="-120"/>
              </a:rPr>
              <a:t>1912 — Ernst Zermelo</a:t>
            </a:r>
            <a:endParaRPr lang="en-US" sz="1600" dirty="0"/>
          </a:p>
        </p:txBody>
      </p:sp>
      <p:sp>
        <p:nvSpPr>
          <p:cNvPr id="7" name="Text 5"/>
          <p:cNvSpPr/>
          <p:nvPr/>
        </p:nvSpPr>
        <p:spPr>
          <a:xfrm>
            <a:off x="1706774" y="1564532"/>
            <a:ext cx="3664085" cy="194553"/>
          </a:xfrm>
          <a:prstGeom prst="rect">
            <a:avLst/>
          </a:prstGeom>
          <a:noFill/>
          <a:ln/>
        </p:spPr>
        <p:txBody>
          <a:bodyPr wrap="square" lIns="0" tIns="0" rIns="0" bIns="0" rtlCol="0" anchor="ctr"/>
          <a:lstStyle/>
          <a:p>
            <a:pPr algn="r">
              <a:lnSpc>
                <a:spcPct val="130000"/>
              </a:lnSpc>
            </a:pPr>
            <a:r>
              <a:rPr lang="en-US" sz="1021" dirty="0">
                <a:solidFill>
                  <a:srgbClr val="636E72"/>
                </a:solidFill>
                <a:latin typeface="Quattrocento Sans" pitchFamily="34" charset="0"/>
                <a:ea typeface="Quattrocento Sans" pitchFamily="34" charset="-122"/>
                <a:cs typeface="Quattrocento Sans" pitchFamily="34" charset="-120"/>
              </a:rPr>
              <a:t>Proved chess is determined; laid early mathematical foundations</a:t>
            </a:r>
            <a:endParaRPr lang="en-US" sz="1600" dirty="0"/>
          </a:p>
        </p:txBody>
      </p:sp>
      <p:sp>
        <p:nvSpPr>
          <p:cNvPr id="8" name="Shape 6"/>
          <p:cNvSpPr/>
          <p:nvPr/>
        </p:nvSpPr>
        <p:spPr>
          <a:xfrm>
            <a:off x="6683713" y="2030649"/>
            <a:ext cx="3291191" cy="721468"/>
          </a:xfrm>
          <a:custGeom>
            <a:avLst/>
            <a:gdLst/>
            <a:ahLst/>
            <a:cxnLst/>
            <a:rect l="l" t="t" r="r" b="b"/>
            <a:pathLst>
              <a:path w="3291191" h="721468">
                <a:moveTo>
                  <a:pt x="0" y="0"/>
                </a:moveTo>
                <a:lnTo>
                  <a:pt x="3291191" y="0"/>
                </a:lnTo>
                <a:lnTo>
                  <a:pt x="3291191" y="721468"/>
                </a:lnTo>
                <a:lnTo>
                  <a:pt x="0" y="721468"/>
                </a:lnTo>
                <a:lnTo>
                  <a:pt x="0" y="0"/>
                </a:lnTo>
                <a:close/>
              </a:path>
            </a:pathLst>
          </a:custGeom>
          <a:solidFill>
            <a:srgbClr val="FFFFFF"/>
          </a:solidFill>
          <a:ln w="12700">
            <a:solidFill>
              <a:srgbClr val="E0E0E0"/>
            </a:solidFill>
            <a:prstDash val="solid"/>
          </a:ln>
        </p:spPr>
      </p:sp>
      <p:sp>
        <p:nvSpPr>
          <p:cNvPr id="9" name="Text 7"/>
          <p:cNvSpPr/>
          <p:nvPr/>
        </p:nvSpPr>
        <p:spPr>
          <a:xfrm>
            <a:off x="6817468" y="2164404"/>
            <a:ext cx="3096638" cy="226979"/>
          </a:xfrm>
          <a:prstGeom prst="rect">
            <a:avLst/>
          </a:prstGeom>
          <a:noFill/>
          <a:ln/>
        </p:spPr>
        <p:txBody>
          <a:bodyPr wrap="square" lIns="0" tIns="0" rIns="0" bIns="0" rtlCol="0" anchor="ctr"/>
          <a:lstStyle/>
          <a:p>
            <a:pPr>
              <a:lnSpc>
                <a:spcPct val="130000"/>
              </a:lnSpc>
            </a:pPr>
            <a:r>
              <a:rPr lang="en-US" sz="1149" b="1" dirty="0">
                <a:solidFill>
                  <a:srgbClr val="2D3436"/>
                </a:solidFill>
                <a:latin typeface="Oranienbaum" pitchFamily="34" charset="0"/>
                <a:ea typeface="Oranienbaum" pitchFamily="34" charset="-122"/>
                <a:cs typeface="Oranienbaum" pitchFamily="34" charset="-120"/>
              </a:rPr>
              <a:t>1921 — Émile Borel</a:t>
            </a:r>
            <a:endParaRPr lang="en-US" sz="1600" dirty="0"/>
          </a:p>
        </p:txBody>
      </p:sp>
      <p:sp>
        <p:nvSpPr>
          <p:cNvPr id="10" name="Text 8"/>
          <p:cNvSpPr/>
          <p:nvPr/>
        </p:nvSpPr>
        <p:spPr>
          <a:xfrm>
            <a:off x="6817468" y="2423809"/>
            <a:ext cx="3088532" cy="194553"/>
          </a:xfrm>
          <a:prstGeom prst="rect">
            <a:avLst/>
          </a:prstGeom>
          <a:noFill/>
          <a:ln/>
        </p:spPr>
        <p:txBody>
          <a:bodyPr wrap="square" lIns="0" tIns="0" rIns="0" bIns="0" rtlCol="0" anchor="ctr"/>
          <a:lstStyle/>
          <a:p>
            <a:pPr>
              <a:lnSpc>
                <a:spcPct val="130000"/>
              </a:lnSpc>
            </a:pPr>
            <a:r>
              <a:rPr lang="en-US" sz="1021" dirty="0">
                <a:solidFill>
                  <a:srgbClr val="636E72"/>
                </a:solidFill>
                <a:latin typeface="Quattrocento Sans" pitchFamily="34" charset="0"/>
                <a:ea typeface="Quattrocento Sans" pitchFamily="34" charset="-122"/>
                <a:cs typeface="Quattrocento Sans" pitchFamily="34" charset="-120"/>
              </a:rPr>
              <a:t>Posed fundamental questions about optimal strategies</a:t>
            </a:r>
            <a:endParaRPr lang="en-US" sz="1600" dirty="0"/>
          </a:p>
        </p:txBody>
      </p:sp>
      <p:sp>
        <p:nvSpPr>
          <p:cNvPr id="11" name="Shape 9"/>
          <p:cNvSpPr/>
          <p:nvPr/>
        </p:nvSpPr>
        <p:spPr>
          <a:xfrm>
            <a:off x="633754" y="2885872"/>
            <a:ext cx="4880043" cy="713362"/>
          </a:xfrm>
          <a:custGeom>
            <a:avLst/>
            <a:gdLst/>
            <a:ahLst/>
            <a:cxnLst/>
            <a:rect l="l" t="t" r="r" b="b"/>
            <a:pathLst>
              <a:path w="4880043" h="713362">
                <a:moveTo>
                  <a:pt x="0" y="0"/>
                </a:moveTo>
                <a:lnTo>
                  <a:pt x="4880043" y="0"/>
                </a:lnTo>
                <a:lnTo>
                  <a:pt x="4880043" y="713362"/>
                </a:lnTo>
                <a:lnTo>
                  <a:pt x="0" y="713362"/>
                </a:lnTo>
                <a:lnTo>
                  <a:pt x="0" y="0"/>
                </a:lnTo>
                <a:close/>
              </a:path>
            </a:pathLst>
          </a:custGeom>
          <a:solidFill>
            <a:srgbClr val="F8F9FA"/>
          </a:solidFill>
          <a:ln/>
        </p:spPr>
      </p:sp>
      <p:sp>
        <p:nvSpPr>
          <p:cNvPr id="12" name="Shape 10"/>
          <p:cNvSpPr/>
          <p:nvPr/>
        </p:nvSpPr>
        <p:spPr>
          <a:xfrm>
            <a:off x="633754" y="2885872"/>
            <a:ext cx="32426" cy="713362"/>
          </a:xfrm>
          <a:custGeom>
            <a:avLst/>
            <a:gdLst/>
            <a:ahLst/>
            <a:cxnLst/>
            <a:rect l="l" t="t" r="r" b="b"/>
            <a:pathLst>
              <a:path w="32426" h="713362">
                <a:moveTo>
                  <a:pt x="0" y="0"/>
                </a:moveTo>
                <a:lnTo>
                  <a:pt x="32426" y="0"/>
                </a:lnTo>
                <a:lnTo>
                  <a:pt x="32426" y="713362"/>
                </a:lnTo>
                <a:lnTo>
                  <a:pt x="0" y="713362"/>
                </a:lnTo>
                <a:lnTo>
                  <a:pt x="0" y="0"/>
                </a:lnTo>
                <a:close/>
              </a:path>
            </a:pathLst>
          </a:custGeom>
          <a:solidFill>
            <a:srgbClr val="0984E3"/>
          </a:solidFill>
          <a:ln/>
        </p:spPr>
      </p:sp>
      <p:sp>
        <p:nvSpPr>
          <p:cNvPr id="13" name="Text 11"/>
          <p:cNvSpPr/>
          <p:nvPr/>
        </p:nvSpPr>
        <p:spPr>
          <a:xfrm>
            <a:off x="706712" y="3015574"/>
            <a:ext cx="4677383" cy="226979"/>
          </a:xfrm>
          <a:prstGeom prst="rect">
            <a:avLst/>
          </a:prstGeom>
          <a:noFill/>
          <a:ln/>
        </p:spPr>
        <p:txBody>
          <a:bodyPr wrap="square" lIns="0" tIns="0" rIns="0" bIns="0" rtlCol="0" anchor="ctr"/>
          <a:lstStyle/>
          <a:p>
            <a:pPr algn="r">
              <a:lnSpc>
                <a:spcPct val="130000"/>
              </a:lnSpc>
            </a:pPr>
            <a:r>
              <a:rPr lang="en-US" sz="1149" b="1" dirty="0">
                <a:solidFill>
                  <a:srgbClr val="2D3436"/>
                </a:solidFill>
                <a:latin typeface="Oranienbaum" pitchFamily="34" charset="0"/>
                <a:ea typeface="Oranienbaum" pitchFamily="34" charset="-122"/>
                <a:cs typeface="Oranienbaum" pitchFamily="34" charset="-120"/>
              </a:rPr>
              <a:t>1928 — John von Neumann</a:t>
            </a:r>
            <a:endParaRPr lang="en-US" sz="1600" dirty="0"/>
          </a:p>
        </p:txBody>
      </p:sp>
      <p:sp>
        <p:nvSpPr>
          <p:cNvPr id="14" name="Text 12"/>
          <p:cNvSpPr/>
          <p:nvPr/>
        </p:nvSpPr>
        <p:spPr>
          <a:xfrm>
            <a:off x="714818" y="3274979"/>
            <a:ext cx="4669277" cy="194553"/>
          </a:xfrm>
          <a:prstGeom prst="rect">
            <a:avLst/>
          </a:prstGeom>
          <a:noFill/>
          <a:ln/>
        </p:spPr>
        <p:txBody>
          <a:bodyPr wrap="square" lIns="0" tIns="0" rIns="0" bIns="0" rtlCol="0" anchor="ctr"/>
          <a:lstStyle/>
          <a:p>
            <a:pPr algn="r">
              <a:lnSpc>
                <a:spcPct val="130000"/>
              </a:lnSpc>
            </a:pPr>
            <a:r>
              <a:rPr lang="en-US" sz="1021" b="1" dirty="0">
                <a:solidFill>
                  <a:srgbClr val="636E72"/>
                </a:solidFill>
                <a:latin typeface="Quattrocento Sans" pitchFamily="34" charset="0"/>
                <a:ea typeface="Quattrocento Sans" pitchFamily="34" charset="-122"/>
                <a:cs typeface="Quattrocento Sans" pitchFamily="34" charset="-120"/>
              </a:rPr>
              <a:t>Minimax Theorem:</a:t>
            </a:r>
            <a:pPr algn="r">
              <a:lnSpc>
                <a:spcPct val="130000"/>
              </a:lnSpc>
            </a:pPr>
            <a:r>
              <a:rPr lang="en-US" sz="1021" dirty="0">
                <a:solidFill>
                  <a:srgbClr val="636E72"/>
                </a:solidFill>
                <a:latin typeface="Quattrocento Sans" pitchFamily="34" charset="0"/>
                <a:ea typeface="Quattrocento Sans" pitchFamily="34" charset="-122"/>
                <a:cs typeface="Quattrocento Sans" pitchFamily="34" charset="-120"/>
              </a:rPr>
              <a:t> Proved all two-person zero-sum games have optimal solutions</a:t>
            </a:r>
            <a:endParaRPr lang="en-US" sz="1600" dirty="0"/>
          </a:p>
        </p:txBody>
      </p:sp>
      <p:sp>
        <p:nvSpPr>
          <p:cNvPr id="15" name="Shape 13"/>
          <p:cNvSpPr/>
          <p:nvPr/>
        </p:nvSpPr>
        <p:spPr>
          <a:xfrm>
            <a:off x="6695872" y="3728936"/>
            <a:ext cx="5017851" cy="713362"/>
          </a:xfrm>
          <a:custGeom>
            <a:avLst/>
            <a:gdLst/>
            <a:ahLst/>
            <a:cxnLst/>
            <a:rect l="l" t="t" r="r" b="b"/>
            <a:pathLst>
              <a:path w="5017851" h="713362">
                <a:moveTo>
                  <a:pt x="0" y="0"/>
                </a:moveTo>
                <a:lnTo>
                  <a:pt x="5017851" y="0"/>
                </a:lnTo>
                <a:lnTo>
                  <a:pt x="5017851" y="713362"/>
                </a:lnTo>
                <a:lnTo>
                  <a:pt x="0" y="713362"/>
                </a:lnTo>
                <a:lnTo>
                  <a:pt x="0" y="0"/>
                </a:lnTo>
                <a:close/>
              </a:path>
            </a:pathLst>
          </a:custGeom>
          <a:solidFill>
            <a:srgbClr val="F8F9FA"/>
          </a:solidFill>
          <a:ln/>
        </p:spPr>
      </p:sp>
      <p:sp>
        <p:nvSpPr>
          <p:cNvPr id="16" name="Shape 14"/>
          <p:cNvSpPr/>
          <p:nvPr/>
        </p:nvSpPr>
        <p:spPr>
          <a:xfrm>
            <a:off x="6695872" y="3728936"/>
            <a:ext cx="32426" cy="713362"/>
          </a:xfrm>
          <a:custGeom>
            <a:avLst/>
            <a:gdLst/>
            <a:ahLst/>
            <a:cxnLst/>
            <a:rect l="l" t="t" r="r" b="b"/>
            <a:pathLst>
              <a:path w="32426" h="713362">
                <a:moveTo>
                  <a:pt x="0" y="0"/>
                </a:moveTo>
                <a:lnTo>
                  <a:pt x="32426" y="0"/>
                </a:lnTo>
                <a:lnTo>
                  <a:pt x="32426" y="713362"/>
                </a:lnTo>
                <a:lnTo>
                  <a:pt x="0" y="713362"/>
                </a:lnTo>
                <a:lnTo>
                  <a:pt x="0" y="0"/>
                </a:lnTo>
                <a:close/>
              </a:path>
            </a:pathLst>
          </a:custGeom>
          <a:solidFill>
            <a:srgbClr val="0984E3"/>
          </a:solidFill>
          <a:ln/>
        </p:spPr>
      </p:sp>
      <p:sp>
        <p:nvSpPr>
          <p:cNvPr id="17" name="Text 15"/>
          <p:cNvSpPr/>
          <p:nvPr/>
        </p:nvSpPr>
        <p:spPr>
          <a:xfrm>
            <a:off x="6841787" y="3858638"/>
            <a:ext cx="4815191" cy="226979"/>
          </a:xfrm>
          <a:prstGeom prst="rect">
            <a:avLst/>
          </a:prstGeom>
          <a:noFill/>
          <a:ln/>
        </p:spPr>
        <p:txBody>
          <a:bodyPr wrap="square" lIns="0" tIns="0" rIns="0" bIns="0" rtlCol="0" anchor="ctr"/>
          <a:lstStyle/>
          <a:p>
            <a:pPr>
              <a:lnSpc>
                <a:spcPct val="130000"/>
              </a:lnSpc>
            </a:pPr>
            <a:r>
              <a:rPr lang="en-US" sz="1149" b="1" dirty="0">
                <a:solidFill>
                  <a:srgbClr val="2D3436"/>
                </a:solidFill>
                <a:latin typeface="Oranienbaum" pitchFamily="34" charset="0"/>
                <a:ea typeface="Oranienbaum" pitchFamily="34" charset="-122"/>
                <a:cs typeface="Oranienbaum" pitchFamily="34" charset="-120"/>
              </a:rPr>
              <a:t>1944 — von Neumann &amp; Morgenstern</a:t>
            </a:r>
            <a:endParaRPr lang="en-US" sz="1600" dirty="0"/>
          </a:p>
        </p:txBody>
      </p:sp>
      <p:sp>
        <p:nvSpPr>
          <p:cNvPr id="18" name="Text 16"/>
          <p:cNvSpPr/>
          <p:nvPr/>
        </p:nvSpPr>
        <p:spPr>
          <a:xfrm>
            <a:off x="6841787" y="4118043"/>
            <a:ext cx="4807085" cy="194553"/>
          </a:xfrm>
          <a:prstGeom prst="rect">
            <a:avLst/>
          </a:prstGeom>
          <a:noFill/>
          <a:ln/>
        </p:spPr>
        <p:txBody>
          <a:bodyPr wrap="square" lIns="0" tIns="0" rIns="0" bIns="0" rtlCol="0" anchor="ctr"/>
          <a:lstStyle/>
          <a:p>
            <a:pPr>
              <a:lnSpc>
                <a:spcPct val="130000"/>
              </a:lnSpc>
            </a:pPr>
            <a:r>
              <a:rPr lang="en-US" sz="1021" b="1" dirty="0">
                <a:solidFill>
                  <a:srgbClr val="636E72"/>
                </a:solidFill>
                <a:latin typeface="Quattrocento Sans" pitchFamily="34" charset="0"/>
                <a:ea typeface="Quattrocento Sans" pitchFamily="34" charset="-122"/>
                <a:cs typeface="Quattrocento Sans" pitchFamily="34" charset="-120"/>
              </a:rPr>
              <a:t>"Theory of Games and Economic Behavior"</a:t>
            </a:r>
            <a:pPr>
              <a:lnSpc>
                <a:spcPct val="130000"/>
              </a:lnSpc>
            </a:pPr>
            <a:r>
              <a:rPr lang="en-US" sz="1021" dirty="0">
                <a:solidFill>
                  <a:srgbClr val="636E72"/>
                </a:solidFill>
                <a:latin typeface="Quattrocento Sans" pitchFamily="34" charset="0"/>
                <a:ea typeface="Quattrocento Sans" pitchFamily="34" charset="-122"/>
                <a:cs typeface="Quattrocento Sans" pitchFamily="34" charset="-120"/>
              </a:rPr>
              <a:t> — established game theory as a discipline</a:t>
            </a:r>
            <a:endParaRPr lang="en-US" sz="1600" dirty="0"/>
          </a:p>
        </p:txBody>
      </p:sp>
      <p:sp>
        <p:nvSpPr>
          <p:cNvPr id="19" name="Shape 17"/>
          <p:cNvSpPr/>
          <p:nvPr/>
        </p:nvSpPr>
        <p:spPr>
          <a:xfrm>
            <a:off x="1476185" y="4572000"/>
            <a:ext cx="4036979" cy="713362"/>
          </a:xfrm>
          <a:custGeom>
            <a:avLst/>
            <a:gdLst/>
            <a:ahLst/>
            <a:cxnLst/>
            <a:rect l="l" t="t" r="r" b="b"/>
            <a:pathLst>
              <a:path w="4036979" h="713362">
                <a:moveTo>
                  <a:pt x="0" y="0"/>
                </a:moveTo>
                <a:lnTo>
                  <a:pt x="4036979" y="0"/>
                </a:lnTo>
                <a:lnTo>
                  <a:pt x="4036979" y="713362"/>
                </a:lnTo>
                <a:lnTo>
                  <a:pt x="0" y="713362"/>
                </a:lnTo>
                <a:lnTo>
                  <a:pt x="0" y="0"/>
                </a:lnTo>
                <a:close/>
              </a:path>
            </a:pathLst>
          </a:custGeom>
          <a:solidFill>
            <a:srgbClr val="2D3436"/>
          </a:solidFill>
          <a:ln/>
        </p:spPr>
      </p:sp>
      <p:sp>
        <p:nvSpPr>
          <p:cNvPr id="20" name="Text 18"/>
          <p:cNvSpPr/>
          <p:nvPr/>
        </p:nvSpPr>
        <p:spPr>
          <a:xfrm>
            <a:off x="1532930" y="4701702"/>
            <a:ext cx="3850532" cy="226979"/>
          </a:xfrm>
          <a:prstGeom prst="rect">
            <a:avLst/>
          </a:prstGeom>
          <a:noFill/>
          <a:ln/>
        </p:spPr>
        <p:txBody>
          <a:bodyPr wrap="square" lIns="0" tIns="0" rIns="0" bIns="0" rtlCol="0" anchor="ctr"/>
          <a:lstStyle/>
          <a:p>
            <a:pPr algn="r">
              <a:lnSpc>
                <a:spcPct val="130000"/>
              </a:lnSpc>
            </a:pPr>
            <a:r>
              <a:rPr lang="en-US" sz="1149" b="1" dirty="0">
                <a:solidFill>
                  <a:srgbClr val="FFFFFF"/>
                </a:solidFill>
                <a:latin typeface="Oranienbaum" pitchFamily="34" charset="0"/>
                <a:ea typeface="Oranienbaum" pitchFamily="34" charset="-122"/>
                <a:cs typeface="Oranienbaum" pitchFamily="34" charset="-120"/>
              </a:rPr>
              <a:t>1950 — John Nash</a:t>
            </a:r>
            <a:endParaRPr lang="en-US" sz="1600" dirty="0"/>
          </a:p>
        </p:txBody>
      </p:sp>
      <p:sp>
        <p:nvSpPr>
          <p:cNvPr id="21" name="Text 19"/>
          <p:cNvSpPr/>
          <p:nvPr/>
        </p:nvSpPr>
        <p:spPr>
          <a:xfrm>
            <a:off x="1541036" y="4961106"/>
            <a:ext cx="3842426" cy="194553"/>
          </a:xfrm>
          <a:prstGeom prst="rect">
            <a:avLst/>
          </a:prstGeom>
          <a:noFill/>
          <a:ln/>
        </p:spPr>
        <p:txBody>
          <a:bodyPr wrap="square" lIns="0" tIns="0" rIns="0" bIns="0" rtlCol="0" anchor="ctr"/>
          <a:lstStyle/>
          <a:p>
            <a:pPr algn="r">
              <a:lnSpc>
                <a:spcPct val="130000"/>
              </a:lnSpc>
            </a:pPr>
            <a:r>
              <a:rPr lang="en-US" sz="1021" b="1" dirty="0">
                <a:solidFill>
                  <a:srgbClr val="E0E0E0"/>
                </a:solidFill>
                <a:latin typeface="Quattrocento Sans" pitchFamily="34" charset="0"/>
                <a:ea typeface="Quattrocento Sans" pitchFamily="34" charset="-122"/>
                <a:cs typeface="Quattrocento Sans" pitchFamily="34" charset="-120"/>
              </a:rPr>
              <a:t>Nash Equilibrium:</a:t>
            </a:r>
            <a:pPr algn="r">
              <a:lnSpc>
                <a:spcPct val="130000"/>
              </a:lnSpc>
            </a:pPr>
            <a:r>
              <a:rPr lang="en-US" sz="1021" dirty="0">
                <a:solidFill>
                  <a:srgbClr val="E0E0E0"/>
                </a:solidFill>
                <a:latin typeface="Quattrocento Sans" pitchFamily="34" charset="0"/>
                <a:ea typeface="Quattrocento Sans" pitchFamily="34" charset="-122"/>
                <a:cs typeface="Quattrocento Sans" pitchFamily="34" charset="-120"/>
              </a:rPr>
              <a:t> Proved existence of equilibrium in all finite games</a:t>
            </a:r>
            <a:endParaRPr lang="en-US" sz="1600" dirty="0"/>
          </a:p>
        </p:txBody>
      </p:sp>
      <p:sp>
        <p:nvSpPr>
          <p:cNvPr id="22" name="Shape 20"/>
          <p:cNvSpPr/>
          <p:nvPr/>
        </p:nvSpPr>
        <p:spPr>
          <a:xfrm>
            <a:off x="6683713" y="5419117"/>
            <a:ext cx="3988340" cy="721468"/>
          </a:xfrm>
          <a:custGeom>
            <a:avLst/>
            <a:gdLst/>
            <a:ahLst/>
            <a:cxnLst/>
            <a:rect l="l" t="t" r="r" b="b"/>
            <a:pathLst>
              <a:path w="3988340" h="721468">
                <a:moveTo>
                  <a:pt x="0" y="0"/>
                </a:moveTo>
                <a:lnTo>
                  <a:pt x="3988340" y="0"/>
                </a:lnTo>
                <a:lnTo>
                  <a:pt x="3988340" y="721468"/>
                </a:lnTo>
                <a:lnTo>
                  <a:pt x="0" y="721468"/>
                </a:lnTo>
                <a:lnTo>
                  <a:pt x="0" y="0"/>
                </a:lnTo>
                <a:close/>
              </a:path>
            </a:pathLst>
          </a:custGeom>
          <a:solidFill>
            <a:srgbClr val="FFFFFF"/>
          </a:solidFill>
          <a:ln w="12700">
            <a:solidFill>
              <a:srgbClr val="E0E0E0"/>
            </a:solidFill>
            <a:prstDash val="solid"/>
          </a:ln>
        </p:spPr>
      </p:sp>
      <p:sp>
        <p:nvSpPr>
          <p:cNvPr id="23" name="Text 21"/>
          <p:cNvSpPr/>
          <p:nvPr/>
        </p:nvSpPr>
        <p:spPr>
          <a:xfrm>
            <a:off x="6817468" y="5552872"/>
            <a:ext cx="3793787" cy="226979"/>
          </a:xfrm>
          <a:prstGeom prst="rect">
            <a:avLst/>
          </a:prstGeom>
          <a:noFill/>
          <a:ln/>
        </p:spPr>
        <p:txBody>
          <a:bodyPr wrap="square" lIns="0" tIns="0" rIns="0" bIns="0" rtlCol="0" anchor="ctr"/>
          <a:lstStyle/>
          <a:p>
            <a:pPr>
              <a:lnSpc>
                <a:spcPct val="130000"/>
              </a:lnSpc>
            </a:pPr>
            <a:r>
              <a:rPr lang="en-US" sz="1149" b="1" dirty="0">
                <a:solidFill>
                  <a:srgbClr val="2D3436"/>
                </a:solidFill>
                <a:latin typeface="Oranienbaum" pitchFamily="34" charset="0"/>
                <a:ea typeface="Oranienbaum" pitchFamily="34" charset="-122"/>
                <a:cs typeface="Oranienbaum" pitchFamily="34" charset="-120"/>
              </a:rPr>
              <a:t>1994 — Nobel Prize</a:t>
            </a:r>
            <a:endParaRPr lang="en-US" sz="1600" dirty="0"/>
          </a:p>
        </p:txBody>
      </p:sp>
      <p:sp>
        <p:nvSpPr>
          <p:cNvPr id="24" name="Text 22"/>
          <p:cNvSpPr/>
          <p:nvPr/>
        </p:nvSpPr>
        <p:spPr>
          <a:xfrm>
            <a:off x="6817468" y="5812277"/>
            <a:ext cx="3785681" cy="194553"/>
          </a:xfrm>
          <a:prstGeom prst="rect">
            <a:avLst/>
          </a:prstGeom>
          <a:noFill/>
          <a:ln/>
        </p:spPr>
        <p:txBody>
          <a:bodyPr wrap="square" lIns="0" tIns="0" rIns="0" bIns="0" rtlCol="0" anchor="ctr"/>
          <a:lstStyle/>
          <a:p>
            <a:pPr>
              <a:lnSpc>
                <a:spcPct val="130000"/>
              </a:lnSpc>
            </a:pPr>
            <a:r>
              <a:rPr lang="en-US" sz="1021" dirty="0">
                <a:solidFill>
                  <a:srgbClr val="636E72"/>
                </a:solidFill>
                <a:latin typeface="Quattrocento Sans" pitchFamily="34" charset="0"/>
                <a:ea typeface="Quattrocento Sans" pitchFamily="34" charset="-122"/>
                <a:cs typeface="Quattrocento Sans" pitchFamily="34" charset="-120"/>
              </a:rPr>
              <a:t>Nash, Harsanyi, and Selten awarded for game theory contributions</a:t>
            </a:r>
            <a:endParaRPr lang="en-US" sz="1600" dirty="0"/>
          </a:p>
        </p:txBody>
      </p:sp>
      <p:sp>
        <p:nvSpPr>
          <p:cNvPr id="25" name="Shape 23"/>
          <p:cNvSpPr/>
          <p:nvPr/>
        </p:nvSpPr>
        <p:spPr>
          <a:xfrm>
            <a:off x="6031149" y="1467255"/>
            <a:ext cx="129702" cy="129702"/>
          </a:xfrm>
          <a:custGeom>
            <a:avLst/>
            <a:gdLst/>
            <a:ahLst/>
            <a:cxn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p:spPr>
      </p:sp>
      <p:sp>
        <p:nvSpPr>
          <p:cNvPr id="26" name="Shape 24"/>
          <p:cNvSpPr/>
          <p:nvPr/>
        </p:nvSpPr>
        <p:spPr>
          <a:xfrm>
            <a:off x="6031149" y="2326532"/>
            <a:ext cx="129702" cy="129702"/>
          </a:xfrm>
          <a:custGeom>
            <a:avLst/>
            <a:gdLst/>
            <a:ahLst/>
            <a:cxn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p:spPr>
      </p:sp>
      <p:sp>
        <p:nvSpPr>
          <p:cNvPr id="27" name="Shape 25"/>
          <p:cNvSpPr/>
          <p:nvPr/>
        </p:nvSpPr>
        <p:spPr>
          <a:xfrm>
            <a:off x="6031149" y="3177702"/>
            <a:ext cx="129702" cy="129702"/>
          </a:xfrm>
          <a:custGeom>
            <a:avLst/>
            <a:gdLst/>
            <a:ahLst/>
            <a:cxn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p:spPr>
      </p:sp>
      <p:sp>
        <p:nvSpPr>
          <p:cNvPr id="28" name="Shape 26"/>
          <p:cNvSpPr/>
          <p:nvPr/>
        </p:nvSpPr>
        <p:spPr>
          <a:xfrm>
            <a:off x="6031149" y="4020766"/>
            <a:ext cx="129702" cy="129702"/>
          </a:xfrm>
          <a:custGeom>
            <a:avLst/>
            <a:gdLst/>
            <a:ahLst/>
            <a:cxn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p:spPr>
      </p:sp>
      <p:sp>
        <p:nvSpPr>
          <p:cNvPr id="29" name="Shape 27"/>
          <p:cNvSpPr/>
          <p:nvPr/>
        </p:nvSpPr>
        <p:spPr>
          <a:xfrm>
            <a:off x="6031149" y="4863830"/>
            <a:ext cx="129702" cy="129702"/>
          </a:xfrm>
          <a:custGeom>
            <a:avLst/>
            <a:gdLst/>
            <a:ahLst/>
            <a:cxn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2D3436"/>
          </a:solidFill>
          <a:ln/>
        </p:spPr>
      </p:sp>
      <p:sp>
        <p:nvSpPr>
          <p:cNvPr id="30" name="Shape 28"/>
          <p:cNvSpPr/>
          <p:nvPr/>
        </p:nvSpPr>
        <p:spPr>
          <a:xfrm>
            <a:off x="6031149" y="5715000"/>
            <a:ext cx="129702" cy="129702"/>
          </a:xfrm>
          <a:custGeom>
            <a:avLst/>
            <a:gdLst/>
            <a:ahLst/>
            <a:cxn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984E3"/>
                </a:solidFill>
                <a:latin typeface="Quattrocento Sans" pitchFamily="34" charset="0"/>
                <a:ea typeface="Quattrocento Sans" pitchFamily="34" charset="-122"/>
                <a:cs typeface="Quattrocento Sans" pitchFamily="34" charset="-120"/>
              </a:rPr>
              <a:t>KEY FIGURE</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2D3436"/>
                </a:solidFill>
                <a:latin typeface="Oranienbaum" pitchFamily="34" charset="0"/>
                <a:ea typeface="Oranienbaum" pitchFamily="34" charset="-122"/>
                <a:cs typeface="Oranienbaum" pitchFamily="34" charset="-120"/>
              </a:rPr>
              <a:t>John Nash: A Beautiful Mind</a:t>
            </a:r>
            <a:endParaRPr lang="en-US" sz="1600" dirty="0"/>
          </a:p>
        </p:txBody>
      </p:sp>
      <p:pic>
        <p:nvPicPr>
          <p:cNvPr id="4" name="Image 0" descr="https://kimi-web-img.moonshot.cn/img/www.nobelprize.org/de8ae2a97dff022a4df09ecb0a5c4b2a28808652.jpg">    </p:cNvPr>
          <p:cNvPicPr>
            <a:picLocks noChangeAspect="1"/>
          </p:cNvPicPr>
          <p:nvPr/>
        </p:nvPicPr>
        <p:blipFill>
          <a:blip r:embed="rId1"/>
          <a:srcRect l="0" r="0" t="26862" b="26862"/>
          <a:stretch/>
        </p:blipFill>
        <p:spPr>
          <a:xfrm>
            <a:off x="381000" y="1371600"/>
            <a:ext cx="4391025" cy="3048000"/>
          </a:xfrm>
          <a:prstGeom prst="roundRect">
            <a:avLst>
              <a:gd name="adj" fmla="val 0"/>
            </a:avLst>
          </a:prstGeom>
        </p:spPr>
      </p:pic>
      <p:sp>
        <p:nvSpPr>
          <p:cNvPr id="5" name="Shape 2"/>
          <p:cNvSpPr/>
          <p:nvPr/>
        </p:nvSpPr>
        <p:spPr>
          <a:xfrm>
            <a:off x="400050" y="4648200"/>
            <a:ext cx="4371975" cy="1143000"/>
          </a:xfrm>
          <a:custGeom>
            <a:avLst/>
            <a:gdLst/>
            <a:ahLst/>
            <a:cxnLst/>
            <a:rect l="l" t="t" r="r" b="b"/>
            <a:pathLst>
              <a:path w="4371975" h="1143000">
                <a:moveTo>
                  <a:pt x="0" y="0"/>
                </a:moveTo>
                <a:lnTo>
                  <a:pt x="4371975" y="0"/>
                </a:lnTo>
                <a:lnTo>
                  <a:pt x="4371975" y="1143000"/>
                </a:lnTo>
                <a:lnTo>
                  <a:pt x="0" y="1143000"/>
                </a:lnTo>
                <a:lnTo>
                  <a:pt x="0" y="0"/>
                </a:lnTo>
                <a:close/>
              </a:path>
            </a:pathLst>
          </a:custGeom>
          <a:solidFill>
            <a:srgbClr val="F8F9FA"/>
          </a:solidFill>
          <a:ln/>
        </p:spPr>
      </p:sp>
      <p:sp>
        <p:nvSpPr>
          <p:cNvPr id="6" name="Shape 3"/>
          <p:cNvSpPr/>
          <p:nvPr/>
        </p:nvSpPr>
        <p:spPr>
          <a:xfrm>
            <a:off x="400050" y="4648200"/>
            <a:ext cx="38100" cy="1143000"/>
          </a:xfrm>
          <a:custGeom>
            <a:avLst/>
            <a:gdLst/>
            <a:ahLst/>
            <a:cxnLst/>
            <a:rect l="l" t="t" r="r" b="b"/>
            <a:pathLst>
              <a:path w="38100" h="1143000">
                <a:moveTo>
                  <a:pt x="0" y="0"/>
                </a:moveTo>
                <a:lnTo>
                  <a:pt x="38100" y="0"/>
                </a:lnTo>
                <a:lnTo>
                  <a:pt x="38100" y="1143000"/>
                </a:lnTo>
                <a:lnTo>
                  <a:pt x="0" y="1143000"/>
                </a:lnTo>
                <a:lnTo>
                  <a:pt x="0" y="0"/>
                </a:lnTo>
                <a:close/>
              </a:path>
            </a:pathLst>
          </a:custGeom>
          <a:solidFill>
            <a:srgbClr val="0984E3"/>
          </a:solidFill>
          <a:ln/>
        </p:spPr>
      </p:sp>
      <p:sp>
        <p:nvSpPr>
          <p:cNvPr id="7" name="Text 4"/>
          <p:cNvSpPr/>
          <p:nvPr/>
        </p:nvSpPr>
        <p:spPr>
          <a:xfrm>
            <a:off x="609600" y="4838700"/>
            <a:ext cx="4048125" cy="495300"/>
          </a:xfrm>
          <a:prstGeom prst="rect">
            <a:avLst/>
          </a:prstGeom>
          <a:noFill/>
          <a:ln/>
        </p:spPr>
        <p:txBody>
          <a:bodyPr wrap="square" lIns="0" tIns="0" rIns="0" bIns="0" rtlCol="0" anchor="ctr"/>
          <a:lstStyle/>
          <a:p>
            <a:pPr>
              <a:lnSpc>
                <a:spcPct val="140000"/>
              </a:lnSpc>
            </a:pPr>
            <a:r>
              <a:rPr lang="en-US" sz="1200" dirty="0">
                <a:solidFill>
                  <a:srgbClr val="1E272E"/>
                </a:solidFill>
                <a:latin typeface="Quattrocento Sans" pitchFamily="34" charset="0"/>
                <a:ea typeface="Quattrocento Sans" pitchFamily="34" charset="-122"/>
                <a:cs typeface="Quattrocento Sans" pitchFamily="34" charset="-120"/>
              </a:rPr>
              <a:t>"I was on the right track. I was doing good work. And then I became mentally disturbed."</a:t>
            </a:r>
            <a:endParaRPr lang="en-US" sz="1600" dirty="0"/>
          </a:p>
        </p:txBody>
      </p:sp>
      <p:sp>
        <p:nvSpPr>
          <p:cNvPr id="8" name="Text 5"/>
          <p:cNvSpPr/>
          <p:nvPr/>
        </p:nvSpPr>
        <p:spPr>
          <a:xfrm>
            <a:off x="609600" y="5410200"/>
            <a:ext cx="4038600" cy="190500"/>
          </a:xfrm>
          <a:prstGeom prst="rect">
            <a:avLst/>
          </a:prstGeom>
          <a:noFill/>
          <a:ln/>
        </p:spPr>
        <p:txBody>
          <a:bodyPr wrap="square" lIns="0" tIns="0" rIns="0" bIns="0" rtlCol="0" anchor="ctr"/>
          <a:lstStyle/>
          <a:p>
            <a:pPr>
              <a:lnSpc>
                <a:spcPct val="120000"/>
              </a:lnSpc>
            </a:pPr>
            <a:r>
              <a:rPr lang="en-US" sz="1050" dirty="0">
                <a:solidFill>
                  <a:srgbClr val="636E72"/>
                </a:solidFill>
                <a:latin typeface="Quattrocento Sans" pitchFamily="34" charset="0"/>
                <a:ea typeface="Quattrocento Sans" pitchFamily="34" charset="-122"/>
                <a:cs typeface="Quattrocento Sans" pitchFamily="34" charset="-120"/>
              </a:rPr>
              <a:t>— John Nash, on his recovery</a:t>
            </a:r>
            <a:endParaRPr lang="en-US" sz="1600" dirty="0"/>
          </a:p>
        </p:txBody>
      </p:sp>
      <p:sp>
        <p:nvSpPr>
          <p:cNvPr id="9" name="Text 6"/>
          <p:cNvSpPr/>
          <p:nvPr/>
        </p:nvSpPr>
        <p:spPr>
          <a:xfrm>
            <a:off x="5074890" y="1371600"/>
            <a:ext cx="6848475"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Early Brilliance</a:t>
            </a:r>
            <a:endParaRPr lang="en-US" sz="1600" dirty="0"/>
          </a:p>
        </p:txBody>
      </p:sp>
      <p:sp>
        <p:nvSpPr>
          <p:cNvPr id="10" name="Text 7"/>
          <p:cNvSpPr/>
          <p:nvPr/>
        </p:nvSpPr>
        <p:spPr>
          <a:xfrm>
            <a:off x="5074890" y="1752600"/>
            <a:ext cx="6810375" cy="990600"/>
          </a:xfrm>
          <a:prstGeom prst="rect">
            <a:avLst/>
          </a:prstGeom>
          <a:noFill/>
          <a:ln/>
        </p:spPr>
        <p:txBody>
          <a:bodyPr wrap="square" lIns="0" tIns="0" rIns="0" bIns="0" rtlCol="0" anchor="ctr"/>
          <a:lstStyle/>
          <a:p>
            <a:pPr>
              <a:lnSpc>
                <a:spcPct val="140000"/>
              </a:lnSpc>
            </a:pPr>
            <a:r>
              <a:rPr lang="en-US" sz="1200" dirty="0">
                <a:solidFill>
                  <a:srgbClr val="1E272E"/>
                </a:solidFill>
                <a:latin typeface="Quattrocento Sans" pitchFamily="34" charset="0"/>
                <a:ea typeface="Quattrocento Sans" pitchFamily="34" charset="-122"/>
                <a:cs typeface="Quattrocento Sans" pitchFamily="34" charset="-120"/>
              </a:rPr>
              <a:t>Born June 13, 1928, in Bluefield, West Virginia, Nash showed exceptional mathematical talent from an early age. His high school math teacher noted he "will really go places if you would only organize your work." He completed his undergraduate and master's degrees at Carnegie Tech in 1948, then earned his Ph.D. from Princeton in 1950 at age 21.</a:t>
            </a:r>
            <a:endParaRPr lang="en-US" sz="1600" dirty="0"/>
          </a:p>
        </p:txBody>
      </p:sp>
      <p:sp>
        <p:nvSpPr>
          <p:cNvPr id="11" name="Text 8"/>
          <p:cNvSpPr/>
          <p:nvPr/>
        </p:nvSpPr>
        <p:spPr>
          <a:xfrm>
            <a:off x="5074890" y="2895600"/>
            <a:ext cx="6848475"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The Nash Equilibrium</a:t>
            </a:r>
            <a:endParaRPr lang="en-US" sz="1600" dirty="0"/>
          </a:p>
        </p:txBody>
      </p:sp>
      <p:sp>
        <p:nvSpPr>
          <p:cNvPr id="12" name="Text 9"/>
          <p:cNvSpPr/>
          <p:nvPr/>
        </p:nvSpPr>
        <p:spPr>
          <a:xfrm>
            <a:off x="5074890" y="3276600"/>
            <a:ext cx="6810375" cy="990600"/>
          </a:xfrm>
          <a:prstGeom prst="rect">
            <a:avLst/>
          </a:prstGeom>
          <a:noFill/>
          <a:ln/>
        </p:spPr>
        <p:txBody>
          <a:bodyPr wrap="square" lIns="0" tIns="0" rIns="0" bIns="0" rtlCol="0" anchor="ctr"/>
          <a:lstStyle/>
          <a:p>
            <a:pPr>
              <a:lnSpc>
                <a:spcPct val="140000"/>
              </a:lnSpc>
            </a:pPr>
            <a:r>
              <a:rPr lang="en-US" sz="1200" dirty="0">
                <a:solidFill>
                  <a:srgbClr val="1E272E"/>
                </a:solidFill>
                <a:latin typeface="Quattrocento Sans" pitchFamily="34" charset="0"/>
                <a:ea typeface="Quattrocento Sans" pitchFamily="34" charset="-122"/>
                <a:cs typeface="Quattrocento Sans" pitchFamily="34" charset="-120"/>
              </a:rPr>
              <a:t>Nash's doctoral thesis introduced the concept that would revolutionize economics: the </a:t>
            </a:r>
            <a:pPr>
              <a:lnSpc>
                <a:spcPct val="140000"/>
              </a:lnSpc>
            </a:pPr>
            <a:r>
              <a:rPr lang="en-US" sz="1200" b="1" dirty="0">
                <a:solidFill>
                  <a:srgbClr val="1E272E"/>
                </a:solidFill>
                <a:latin typeface="Quattrocento Sans" pitchFamily="34" charset="0"/>
                <a:ea typeface="Quattrocento Sans" pitchFamily="34" charset="-122"/>
                <a:cs typeface="Quattrocento Sans" pitchFamily="34" charset="-120"/>
              </a:rPr>
              <a:t>Nash Equilibrium</a:t>
            </a:r>
            <a:pPr>
              <a:lnSpc>
                <a:spcPct val="140000"/>
              </a:lnSpc>
            </a:pPr>
            <a:r>
              <a:rPr lang="en-US" sz="1200" dirty="0">
                <a:solidFill>
                  <a:srgbClr val="1E272E"/>
                </a:solidFill>
                <a:latin typeface="Quattrocento Sans" pitchFamily="34" charset="0"/>
                <a:ea typeface="Quattrocento Sans" pitchFamily="34" charset="-122"/>
                <a:cs typeface="Quattrocento Sans" pitchFamily="34" charset="-120"/>
              </a:rPr>
              <a:t>. He proved that in any finite game, there exists at least one set of strategies where no player can benefit by unilaterally changing their strategy. This elegant solution concept became the cornerstone of non-cooperative game theory.</a:t>
            </a:r>
            <a:endParaRPr lang="en-US" sz="1600" dirty="0"/>
          </a:p>
        </p:txBody>
      </p:sp>
      <p:sp>
        <p:nvSpPr>
          <p:cNvPr id="13" name="Text 10"/>
          <p:cNvSpPr/>
          <p:nvPr/>
        </p:nvSpPr>
        <p:spPr>
          <a:xfrm>
            <a:off x="5074890" y="4419600"/>
            <a:ext cx="6848475"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Struggle and Triumph</a:t>
            </a:r>
            <a:endParaRPr lang="en-US" sz="1600" dirty="0"/>
          </a:p>
        </p:txBody>
      </p:sp>
      <p:sp>
        <p:nvSpPr>
          <p:cNvPr id="14" name="Text 11"/>
          <p:cNvSpPr/>
          <p:nvPr/>
        </p:nvSpPr>
        <p:spPr>
          <a:xfrm>
            <a:off x="5074890" y="4800600"/>
            <a:ext cx="6810375" cy="990600"/>
          </a:xfrm>
          <a:prstGeom prst="rect">
            <a:avLst/>
          </a:prstGeom>
          <a:noFill/>
          <a:ln/>
        </p:spPr>
        <p:txBody>
          <a:bodyPr wrap="square" lIns="0" tIns="0" rIns="0" bIns="0" rtlCol="0" anchor="ctr"/>
          <a:lstStyle/>
          <a:p>
            <a:pPr>
              <a:lnSpc>
                <a:spcPct val="140000"/>
              </a:lnSpc>
            </a:pPr>
            <a:r>
              <a:rPr lang="en-US" sz="1200" dirty="0">
                <a:solidFill>
                  <a:srgbClr val="1E272E"/>
                </a:solidFill>
                <a:latin typeface="Quattrocento Sans" pitchFamily="34" charset="0"/>
                <a:ea typeface="Quattrocento Sans" pitchFamily="34" charset="-122"/>
                <a:cs typeface="Quattrocento Sans" pitchFamily="34" charset="-120"/>
              </a:rPr>
              <a:t>In 1959, Nash was diagnosed with paranoid schizophrenia. For decades, he battled delusions and was hospitalized multiple times. Yet remarkably, by the 1980s, he experienced a spontaneous remission without medication. He returned to Princeton, resumed his research, and in 1994, was awarded the </a:t>
            </a:r>
            <a:pPr>
              <a:lnSpc>
                <a:spcPct val="140000"/>
              </a:lnSpc>
            </a:pPr>
            <a:r>
              <a:rPr lang="en-US" sz="1200" b="1" dirty="0">
                <a:solidFill>
                  <a:srgbClr val="1E272E"/>
                </a:solidFill>
                <a:latin typeface="Quattrocento Sans" pitchFamily="34" charset="0"/>
                <a:ea typeface="Quattrocento Sans" pitchFamily="34" charset="-122"/>
                <a:cs typeface="Quattrocento Sans" pitchFamily="34" charset="-120"/>
              </a:rPr>
              <a:t>Nobel Prize in Economic Sciences</a:t>
            </a:r>
            <a:pPr>
              <a:lnSpc>
                <a:spcPct val="140000"/>
              </a:lnSpc>
            </a:pPr>
            <a:r>
              <a:rPr lang="en-US" sz="1200" dirty="0">
                <a:solidFill>
                  <a:srgbClr val="1E272E"/>
                </a:solidFill>
                <a:latin typeface="Quattrocento Sans" pitchFamily="34" charset="0"/>
                <a:ea typeface="Quattrocento Sans" pitchFamily="34" charset="-122"/>
                <a:cs typeface="Quattrocento Sans" pitchFamily="34" charset="-120"/>
              </a:rPr>
              <a:t> for his work on game theory.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1781175"/>
            <a:ext cx="12192000" cy="1219200"/>
          </a:xfrm>
          <a:prstGeom prst="rect">
            <a:avLst/>
          </a:prstGeom>
          <a:noFill/>
          <a:ln/>
        </p:spPr>
        <p:txBody>
          <a:bodyPr wrap="square" lIns="0" tIns="0" rIns="0" bIns="0" rtlCol="0" anchor="ctr"/>
          <a:lstStyle/>
          <a:p>
            <a:pPr>
              <a:lnSpc>
                <a:spcPct val="80000"/>
              </a:lnSpc>
            </a:pPr>
            <a:r>
              <a:rPr lang="en-US" sz="9600" b="1" dirty="0">
                <a:solidFill>
                  <a:srgbClr val="0984E3">
                    <a:alpha val="10000"/>
                  </a:srgbClr>
                </a:solidFill>
                <a:latin typeface="Oranienbaum" pitchFamily="34" charset="0"/>
                <a:ea typeface="Oranienbaum" pitchFamily="34" charset="-122"/>
                <a:cs typeface="Oranienbaum" pitchFamily="34" charset="-120"/>
              </a:rPr>
              <a:t>03</a:t>
            </a:r>
            <a:endParaRPr lang="en-US" sz="1600" dirty="0"/>
          </a:p>
        </p:txBody>
      </p:sp>
      <p:sp>
        <p:nvSpPr>
          <p:cNvPr id="3" name="Text 1"/>
          <p:cNvSpPr/>
          <p:nvPr/>
        </p:nvSpPr>
        <p:spPr>
          <a:xfrm>
            <a:off x="609600" y="3152775"/>
            <a:ext cx="11868150" cy="1143000"/>
          </a:xfrm>
          <a:prstGeom prst="rect">
            <a:avLst/>
          </a:prstGeom>
          <a:noFill/>
          <a:ln/>
        </p:spPr>
        <p:txBody>
          <a:bodyPr wrap="square" lIns="0" tIns="0" rIns="0" bIns="0" rtlCol="0" anchor="ctr"/>
          <a:lstStyle/>
          <a:p>
            <a:pPr>
              <a:lnSpc>
                <a:spcPct val="80000"/>
              </a:lnSpc>
            </a:pPr>
            <a:r>
              <a:rPr lang="en-US" sz="4500" b="1" dirty="0">
                <a:solidFill>
                  <a:srgbClr val="2D3436"/>
                </a:solidFill>
                <a:latin typeface="Oranienbaum" pitchFamily="34" charset="0"/>
                <a:ea typeface="Oranienbaum" pitchFamily="34" charset="-122"/>
                <a:cs typeface="Oranienbaum" pitchFamily="34" charset="-120"/>
              </a:rPr>
              <a:t>Core Concepts &amp;</a:t>
            </a:r>
            <a:endParaRPr lang="en-US" sz="1600" dirty="0"/>
          </a:p>
          <a:p>
            <a:pPr>
              <a:lnSpc>
                <a:spcPct val="80000"/>
              </a:lnSpc>
            </a:pPr>
            <a:r>
              <a:rPr lang="en-US" sz="4500" b="1" dirty="0">
                <a:solidFill>
                  <a:srgbClr val="2D3436"/>
                </a:solidFill>
                <a:latin typeface="Oranienbaum" pitchFamily="34" charset="0"/>
                <a:ea typeface="Oranienbaum" pitchFamily="34" charset="-122"/>
                <a:cs typeface="Oranienbaum" pitchFamily="34" charset="-120"/>
              </a:rPr>
              <a:t>Mathematical Framework</a:t>
            </a:r>
            <a:endParaRPr lang="en-US" sz="1600" dirty="0"/>
          </a:p>
        </p:txBody>
      </p:sp>
      <p:sp>
        <p:nvSpPr>
          <p:cNvPr id="4" name="Shape 2"/>
          <p:cNvSpPr/>
          <p:nvPr/>
        </p:nvSpPr>
        <p:spPr>
          <a:xfrm>
            <a:off x="609600" y="4524375"/>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5" name="Text 3"/>
          <p:cNvSpPr/>
          <p:nvPr/>
        </p:nvSpPr>
        <p:spPr>
          <a:xfrm>
            <a:off x="609600" y="4772025"/>
            <a:ext cx="11696700" cy="304800"/>
          </a:xfrm>
          <a:prstGeom prst="rect">
            <a:avLst/>
          </a:prstGeom>
          <a:noFill/>
          <a:ln/>
        </p:spPr>
        <p:txBody>
          <a:bodyPr wrap="square" lIns="0" tIns="0" rIns="0" bIns="0" rtlCol="0" anchor="ctr"/>
          <a:lstStyle/>
          <a:p>
            <a:pPr>
              <a:lnSpc>
                <a:spcPct val="110000"/>
              </a:lnSpc>
            </a:pPr>
            <a:r>
              <a:rPr lang="en-US" sz="1800" dirty="0">
                <a:solidFill>
                  <a:srgbClr val="636E72"/>
                </a:solidFill>
                <a:latin typeface="Liter" pitchFamily="34" charset="0"/>
                <a:ea typeface="Liter" pitchFamily="34" charset="-122"/>
                <a:cs typeface="Liter" pitchFamily="34" charset="-120"/>
              </a:rPr>
              <a:t>The essential building blocks of strategic analysis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984E3"/>
                </a:solidFill>
                <a:latin typeface="Quattrocento Sans" pitchFamily="34" charset="0"/>
                <a:ea typeface="Quattrocento Sans" pitchFamily="34" charset="-122"/>
                <a:cs typeface="Quattrocento Sans" pitchFamily="34" charset="-120"/>
              </a:rPr>
              <a:t>MATHEMATICAL REPRESENTATION</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2D3436"/>
                </a:solidFill>
                <a:latin typeface="Oranienbaum" pitchFamily="34" charset="0"/>
                <a:ea typeface="Oranienbaum" pitchFamily="34" charset="-122"/>
                <a:cs typeface="Oranienbaum" pitchFamily="34" charset="-120"/>
              </a:rPr>
              <a:t>Payoff Matrices &amp; Strategic Representation</a:t>
            </a:r>
            <a:endParaRPr lang="en-US" sz="1600" dirty="0"/>
          </a:p>
        </p:txBody>
      </p:sp>
      <p:sp>
        <p:nvSpPr>
          <p:cNvPr id="4" name="Text 2"/>
          <p:cNvSpPr/>
          <p:nvPr/>
        </p:nvSpPr>
        <p:spPr>
          <a:xfrm>
            <a:off x="381000" y="1371600"/>
            <a:ext cx="5657850" cy="1238250"/>
          </a:xfrm>
          <a:prstGeom prst="rect">
            <a:avLst/>
          </a:prstGeom>
          <a:noFill/>
          <a:ln/>
        </p:spPr>
        <p:txBody>
          <a:bodyPr wrap="square" lIns="0" tIns="0" rIns="0" bIns="0" rtlCol="0" anchor="ctr"/>
          <a:lstStyle/>
          <a:p>
            <a:pPr>
              <a:lnSpc>
                <a:spcPct val="140000"/>
              </a:lnSpc>
            </a:pPr>
            <a:r>
              <a:rPr lang="en-US" sz="1500" b="1" dirty="0">
                <a:solidFill>
                  <a:srgbClr val="1E272E"/>
                </a:solidFill>
                <a:latin typeface="Quattrocento Sans" pitchFamily="34" charset="0"/>
                <a:ea typeface="Quattrocento Sans" pitchFamily="34" charset="-122"/>
                <a:cs typeface="Quattrocento Sans" pitchFamily="34" charset="-120"/>
              </a:rPr>
              <a:t>A payoff matrix is the fundamental tool for representing strategic interactions in game theory.</a:t>
            </a:r>
            <a:pPr>
              <a:lnSpc>
                <a:spcPct val="140000"/>
              </a:lnSpc>
            </a:pPr>
            <a:r>
              <a:rPr lang="en-US" sz="1500" dirty="0">
                <a:solidFill>
                  <a:srgbClr val="1E272E"/>
                </a:solidFill>
                <a:latin typeface="Quattrocento Sans" pitchFamily="34" charset="0"/>
                <a:ea typeface="Quattrocento Sans" pitchFamily="34" charset="-122"/>
                <a:cs typeface="Quattrocento Sans" pitchFamily="34" charset="-120"/>
              </a:rPr>
              <a:t> It organizes all possible outcomes based on the strategies chosen by each player, enabling systematic analysis of decision-making scenarios.</a:t>
            </a:r>
            <a:endParaRPr lang="en-US" sz="1600" dirty="0"/>
          </a:p>
        </p:txBody>
      </p:sp>
      <p:sp>
        <p:nvSpPr>
          <p:cNvPr id="5" name="Text 3"/>
          <p:cNvSpPr/>
          <p:nvPr/>
        </p:nvSpPr>
        <p:spPr>
          <a:xfrm>
            <a:off x="381000" y="2762250"/>
            <a:ext cx="5648325" cy="838200"/>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Each cell in the matrix shows the payoff for every player given a specific combination of strategies. By examining the matrix, we can identify dominant strategies, Nash equilibria, and predict rational behavior.</a:t>
            </a:r>
            <a:endParaRPr lang="en-US" sz="1600" dirty="0"/>
          </a:p>
        </p:txBody>
      </p:sp>
      <p:sp>
        <p:nvSpPr>
          <p:cNvPr id="6" name="Shape 4"/>
          <p:cNvSpPr/>
          <p:nvPr/>
        </p:nvSpPr>
        <p:spPr>
          <a:xfrm>
            <a:off x="400050" y="3750469"/>
            <a:ext cx="5543550" cy="1600200"/>
          </a:xfrm>
          <a:custGeom>
            <a:avLst/>
            <a:gdLst/>
            <a:ahLst/>
            <a:cxnLst/>
            <a:rect l="l" t="t" r="r" b="b"/>
            <a:pathLst>
              <a:path w="5543550" h="1600200">
                <a:moveTo>
                  <a:pt x="0" y="0"/>
                </a:moveTo>
                <a:lnTo>
                  <a:pt x="5543550" y="0"/>
                </a:lnTo>
                <a:lnTo>
                  <a:pt x="5543550" y="1600200"/>
                </a:lnTo>
                <a:lnTo>
                  <a:pt x="0" y="1600200"/>
                </a:lnTo>
                <a:lnTo>
                  <a:pt x="0" y="0"/>
                </a:lnTo>
                <a:close/>
              </a:path>
            </a:pathLst>
          </a:custGeom>
          <a:solidFill>
            <a:srgbClr val="F8F9FA"/>
          </a:solidFill>
          <a:ln/>
        </p:spPr>
      </p:sp>
      <p:sp>
        <p:nvSpPr>
          <p:cNvPr id="7" name="Shape 5"/>
          <p:cNvSpPr/>
          <p:nvPr/>
        </p:nvSpPr>
        <p:spPr>
          <a:xfrm>
            <a:off x="400050" y="3750469"/>
            <a:ext cx="38100" cy="1600200"/>
          </a:xfrm>
          <a:custGeom>
            <a:avLst/>
            <a:gdLst/>
            <a:ahLst/>
            <a:cxnLst/>
            <a:rect l="l" t="t" r="r" b="b"/>
            <a:pathLst>
              <a:path w="38100" h="1600200">
                <a:moveTo>
                  <a:pt x="0" y="0"/>
                </a:moveTo>
                <a:lnTo>
                  <a:pt x="38100" y="0"/>
                </a:lnTo>
                <a:lnTo>
                  <a:pt x="38100" y="1600200"/>
                </a:lnTo>
                <a:lnTo>
                  <a:pt x="0" y="1600200"/>
                </a:lnTo>
                <a:lnTo>
                  <a:pt x="0" y="0"/>
                </a:lnTo>
                <a:close/>
              </a:path>
            </a:pathLst>
          </a:custGeom>
          <a:solidFill>
            <a:srgbClr val="0984E3"/>
          </a:solidFill>
          <a:ln/>
        </p:spPr>
      </p:sp>
      <p:sp>
        <p:nvSpPr>
          <p:cNvPr id="8" name="Text 6"/>
          <p:cNvSpPr/>
          <p:nvPr/>
        </p:nvSpPr>
        <p:spPr>
          <a:xfrm>
            <a:off x="609600" y="3940969"/>
            <a:ext cx="5238750"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Matrix Components</a:t>
            </a:r>
            <a:endParaRPr lang="en-US" sz="1600" dirty="0"/>
          </a:p>
        </p:txBody>
      </p:sp>
      <p:sp>
        <p:nvSpPr>
          <p:cNvPr id="9" name="Text 7"/>
          <p:cNvSpPr/>
          <p:nvPr/>
        </p:nvSpPr>
        <p:spPr>
          <a:xfrm>
            <a:off x="609600" y="4321969"/>
            <a:ext cx="5219700"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Rows: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Strategies available to Player 1</a:t>
            </a:r>
            <a:endParaRPr lang="en-US" sz="1600" dirty="0"/>
          </a:p>
        </p:txBody>
      </p:sp>
      <p:sp>
        <p:nvSpPr>
          <p:cNvPr id="10" name="Text 8"/>
          <p:cNvSpPr/>
          <p:nvPr/>
        </p:nvSpPr>
        <p:spPr>
          <a:xfrm>
            <a:off x="609600" y="4626769"/>
            <a:ext cx="5219700"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Columns: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Strategies available to Player 2</a:t>
            </a:r>
            <a:endParaRPr lang="en-US" sz="1600" dirty="0"/>
          </a:p>
        </p:txBody>
      </p:sp>
      <p:sp>
        <p:nvSpPr>
          <p:cNvPr id="11" name="Text 9"/>
          <p:cNvSpPr/>
          <p:nvPr/>
        </p:nvSpPr>
        <p:spPr>
          <a:xfrm>
            <a:off x="609600" y="4931569"/>
            <a:ext cx="5219700"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Cells: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Payoffs (Player 1, Player 2)</a:t>
            </a:r>
            <a:endParaRPr lang="en-US" sz="1600" dirty="0"/>
          </a:p>
        </p:txBody>
      </p:sp>
      <p:sp>
        <p:nvSpPr>
          <p:cNvPr id="12" name="Shape 10"/>
          <p:cNvSpPr/>
          <p:nvPr/>
        </p:nvSpPr>
        <p:spPr>
          <a:xfrm>
            <a:off x="6253163" y="1618059"/>
            <a:ext cx="5553075" cy="3486150"/>
          </a:xfrm>
          <a:custGeom>
            <a:avLst/>
            <a:gdLst/>
            <a:ahLst/>
            <a:cxnLst/>
            <a:rect l="l" t="t" r="r" b="b"/>
            <a:pathLst>
              <a:path w="5553075" h="3486150">
                <a:moveTo>
                  <a:pt x="0" y="0"/>
                </a:moveTo>
                <a:lnTo>
                  <a:pt x="5553075" y="0"/>
                </a:lnTo>
                <a:lnTo>
                  <a:pt x="5553075" y="3486150"/>
                </a:lnTo>
                <a:lnTo>
                  <a:pt x="0" y="3486150"/>
                </a:lnTo>
                <a:lnTo>
                  <a:pt x="0" y="0"/>
                </a:lnTo>
                <a:close/>
              </a:path>
            </a:pathLst>
          </a:custGeom>
          <a:solidFill>
            <a:srgbClr val="FFFFFF"/>
          </a:solidFill>
          <a:ln w="12700">
            <a:solidFill>
              <a:srgbClr val="E0E0E0"/>
            </a:solidFill>
            <a:prstDash val="solid"/>
          </a:ln>
        </p:spPr>
      </p:sp>
      <p:sp>
        <p:nvSpPr>
          <p:cNvPr id="13" name="Text 11"/>
          <p:cNvSpPr/>
          <p:nvPr/>
        </p:nvSpPr>
        <p:spPr>
          <a:xfrm>
            <a:off x="6438900" y="1851422"/>
            <a:ext cx="5181600" cy="266700"/>
          </a:xfrm>
          <a:prstGeom prst="rect">
            <a:avLst/>
          </a:prstGeom>
          <a:noFill/>
          <a:ln/>
        </p:spPr>
        <p:txBody>
          <a:bodyPr wrap="square" lIns="0" tIns="0" rIns="0" bIns="0" rtlCol="0" anchor="ctr"/>
          <a:lstStyle/>
          <a:p>
            <a:pPr algn="ctr">
              <a:lnSpc>
                <a:spcPct val="120000"/>
              </a:lnSpc>
            </a:pPr>
            <a:r>
              <a:rPr lang="en-US" sz="1500" b="1" dirty="0">
                <a:solidFill>
                  <a:srgbClr val="2D3436"/>
                </a:solidFill>
                <a:latin typeface="Oranienbaum" pitchFamily="34" charset="0"/>
                <a:ea typeface="Oranienbaum" pitchFamily="34" charset="-122"/>
                <a:cs typeface="Oranienbaum" pitchFamily="34" charset="-120"/>
              </a:rPr>
              <a:t>Example: Pricing Game</a:t>
            </a:r>
            <a:endParaRPr lang="en-US" sz="1600" dirty="0"/>
          </a:p>
        </p:txBody>
      </p:sp>
      <p:sp>
        <p:nvSpPr>
          <p:cNvPr id="14" name="Text 12"/>
          <p:cNvSpPr/>
          <p:nvPr/>
        </p:nvSpPr>
        <p:spPr>
          <a:xfrm>
            <a:off x="6448425" y="2270522"/>
            <a:ext cx="5162550" cy="228600"/>
          </a:xfrm>
          <a:prstGeom prst="rect">
            <a:avLst/>
          </a:prstGeom>
          <a:noFill/>
          <a:ln/>
        </p:spPr>
        <p:txBody>
          <a:bodyPr wrap="square" lIns="0" tIns="0" rIns="0" bIns="0" rtlCol="0" anchor="ctr"/>
          <a:lstStyle/>
          <a:p>
            <a:pPr algn="ct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Two firms deciding whether to lower prices</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86525" y="2651522"/>
          <a:ext cx="5086350" cy="1409700"/>
        </p:xfrm>
        <a:graphic>
          <a:graphicData uri="http://schemas.openxmlformats.org/drawingml/2006/table">
            <a:tbl>
              <a:tblPr/>
              <a:tblGrid>
                <a:gridCol w="1749628"/>
                <a:gridCol w="1730506"/>
                <a:gridCol w="1606216"/>
              </a:tblGrid>
              <a:tr h="469900">
                <a:tc>
                  <a:txBody>
                    <a:bodyPr/>
                    <a:lstStyle/>
                    <a:p>
                      <a:pPr algn="ctr"/>
                      <a:endParaRPr lang="en-US" sz="1200" dirty="0">
                        <a:latin typeface="微软雅黑" charset="0"/>
                        <a:ea typeface="微软雅黑" charset="0"/>
                        <a:cs typeface="微软雅黑" charset="0"/>
                      </a:endParaRP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200" b="1" u="none" dirty="0">
                          <a:solidFill>
                            <a:srgbClr val="2D3436"/>
                          </a:solidFill>
                          <a:latin typeface="微软雅黑" pitchFamily="34" charset="0"/>
                          <a:ea typeface="微软雅黑" pitchFamily="34" charset="-122"/>
                          <a:cs typeface="微软雅黑" pitchFamily="34" charset="-120"/>
                        </a:rPr>
                        <a:t>Firm B: Lower</a:t>
                      </a:r>
                      <a:endParaRPr lang="en-US" sz="1200" dirty="0">
                        <a:latin typeface="微软雅黑" charset="0"/>
                        <a:ea typeface="微软雅黑" charset="0"/>
                        <a:cs typeface="微软雅黑" charset="0"/>
                      </a:endParaRP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200" b="1" u="none" dirty="0">
                          <a:solidFill>
                            <a:srgbClr val="2D3436"/>
                          </a:solidFill>
                          <a:latin typeface="微软雅黑" pitchFamily="34" charset="0"/>
                          <a:ea typeface="微软雅黑" pitchFamily="34" charset="-122"/>
                          <a:cs typeface="微软雅黑" pitchFamily="34" charset="-120"/>
                        </a:rPr>
                        <a:t>Firm B: Keep</a:t>
                      </a:r>
                      <a:endParaRPr lang="en-US" sz="1200" dirty="0">
                        <a:latin typeface="微软雅黑" charset="0"/>
                        <a:ea typeface="微软雅黑" charset="0"/>
                        <a:cs typeface="微软雅黑" charset="0"/>
                      </a:endParaRP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r>
              <a:tr h="469900">
                <a:tc>
                  <a:txBody>
                    <a:bodyPr/>
                    <a:lstStyle/>
                    <a:p>
                      <a:r>
                        <a:t>Firm A: Lower Prices</a:t>
                      </a: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r>
                        <a:t>(4, 4)</a:t>
                      </a: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c>
                  <a:txBody>
                    <a:bodyPr/>
                    <a:lstStyle/>
                    <a:p>
                      <a:r>
                        <a:t>(9, 2)</a:t>
                      </a: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r>
              <a:tr h="469900">
                <a:tc>
                  <a:txBody>
                    <a:bodyPr/>
                    <a:lstStyle/>
                    <a:p>
                      <a:r>
                        <a:rPr lang="en-US" sz="1200" b="1" u="none" dirty="0">
                          <a:solidFill>
                            <a:srgbClr val="2D3436"/>
                          </a:solidFill>
                          <a:latin typeface="微软雅黑" pitchFamily="34" charset="0"/>
                          <a:ea typeface="微软雅黑" pitchFamily="34" charset="-122"/>
                          <a:cs typeface="微软雅黑" pitchFamily="34" charset="-120"/>
                        </a:rPr>
                        <a:t>Firm A: Keep</a:t>
                      </a:r>
                      <a:endParaRPr lang="en-US" sz="1200" dirty="0">
                        <a:latin typeface="微软雅黑" charset="0"/>
                        <a:ea typeface="微软雅黑" charset="0"/>
                        <a:cs typeface="微软雅黑" charset="0"/>
                      </a:endParaRP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200" u="none" dirty="0">
                          <a:solidFill>
                            <a:srgbClr val="1E272E"/>
                          </a:solidFill>
                          <a:latin typeface="微软雅黑" pitchFamily="34" charset="0"/>
                          <a:ea typeface="微软雅黑" pitchFamily="34" charset="-122"/>
                          <a:cs typeface="微软雅黑" pitchFamily="34" charset="-120"/>
                        </a:rPr>
                        <a:t>(2, 10)</a:t>
                      </a:r>
                      <a:endParaRPr lang="en-US" sz="1200" dirty="0">
                        <a:latin typeface="微软雅黑" charset="0"/>
                        <a:ea typeface="微软雅黑" charset="0"/>
                        <a:cs typeface="微软雅黑" charset="0"/>
                      </a:endParaRP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1E272E"/>
                          </a:solidFill>
                          <a:latin typeface="微软雅黑" pitchFamily="34" charset="0"/>
                          <a:ea typeface="微软雅黑" pitchFamily="34" charset="-122"/>
                          <a:cs typeface="微软雅黑" pitchFamily="34" charset="-120"/>
                        </a:rPr>
                        <a:t>(8, 8)</a:t>
                      </a:r>
                      <a:endParaRPr lang="en-US" sz="1200" dirty="0">
                        <a:latin typeface="微软雅黑" charset="0"/>
                        <a:ea typeface="微软雅黑" charset="0"/>
                        <a:cs typeface="微软雅黑" charset="0"/>
                      </a:endParaRP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r>
            </a:tbl>
          </a:graphicData>
        </a:graphic>
      </p:graphicFrame>
      <p:sp>
        <p:nvSpPr>
          <p:cNvPr id="16" name="Shape 13"/>
          <p:cNvSpPr/>
          <p:nvPr/>
        </p:nvSpPr>
        <p:spPr>
          <a:xfrm>
            <a:off x="6486525" y="4218384"/>
            <a:ext cx="5086350" cy="9525"/>
          </a:xfrm>
          <a:custGeom>
            <a:avLst/>
            <a:gdLst/>
            <a:ahLst/>
            <a:cxnLst/>
            <a:rect l="l" t="t" r="r" b="b"/>
            <a:pathLst>
              <a:path w="5086350" h="9525">
                <a:moveTo>
                  <a:pt x="0" y="0"/>
                </a:moveTo>
                <a:lnTo>
                  <a:pt x="5086350" y="0"/>
                </a:lnTo>
                <a:lnTo>
                  <a:pt x="5086350" y="9525"/>
                </a:lnTo>
                <a:lnTo>
                  <a:pt x="0" y="9525"/>
                </a:lnTo>
                <a:lnTo>
                  <a:pt x="0" y="0"/>
                </a:lnTo>
                <a:close/>
              </a:path>
            </a:pathLst>
          </a:custGeom>
          <a:solidFill>
            <a:srgbClr val="E0E0E0"/>
          </a:solidFill>
          <a:ln/>
        </p:spPr>
      </p:sp>
      <p:sp>
        <p:nvSpPr>
          <p:cNvPr id="17" name="Text 14"/>
          <p:cNvSpPr/>
          <p:nvPr/>
        </p:nvSpPr>
        <p:spPr>
          <a:xfrm>
            <a:off x="6486525" y="4375547"/>
            <a:ext cx="5162550" cy="495300"/>
          </a:xfrm>
          <a:prstGeom prst="rect">
            <a:avLst/>
          </a:prstGeom>
          <a:noFill/>
          <a:ln/>
        </p:spPr>
        <p:txBody>
          <a:bodyPr wrap="square" lIns="0" tIns="0" rIns="0" bIns="0" rtlCol="0" anchor="ctr"/>
          <a:lstStyle/>
          <a:p>
            <a:pPr>
              <a:lnSpc>
                <a:spcPct val="140000"/>
              </a:lnSpc>
            </a:pPr>
            <a:r>
              <a:rPr lang="en-US" sz="1200" b="1" dirty="0">
                <a:solidFill>
                  <a:srgbClr val="636E72"/>
                </a:solidFill>
                <a:latin typeface="Quattrocento Sans" pitchFamily="34" charset="0"/>
                <a:ea typeface="Quattrocento Sans" pitchFamily="34" charset="-122"/>
                <a:cs typeface="Quattrocento Sans" pitchFamily="34" charset="-120"/>
              </a:rPr>
              <a:t>Interpretation:</a:t>
            </a:r>
            <a:pP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 If both firms lower prices, each earns 5. If Firm A lowers while B keeps, A captures market share and earns 10 while B earns only 2.</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984E3"/>
                </a:solidFill>
                <a:latin typeface="Quattrocento Sans" pitchFamily="34" charset="0"/>
                <a:ea typeface="Quattrocento Sans" pitchFamily="34" charset="-122"/>
                <a:cs typeface="Quattrocento Sans" pitchFamily="34" charset="-120"/>
              </a:rPr>
              <a:t>CORE CONCEPT</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2D3436"/>
                </a:solidFill>
                <a:latin typeface="Oranienbaum" pitchFamily="34" charset="0"/>
                <a:ea typeface="Oranienbaum" pitchFamily="34" charset="-122"/>
                <a:cs typeface="Oranienbaum" pitchFamily="34" charset="-120"/>
              </a:rPr>
              <a:t>Nash Equilibrium: The Cornerstone Concept</a:t>
            </a:r>
            <a:endParaRPr lang="en-US" sz="1600" dirty="0"/>
          </a:p>
        </p:txBody>
      </p:sp>
      <p:sp>
        <p:nvSpPr>
          <p:cNvPr id="4" name="Text 2"/>
          <p:cNvSpPr/>
          <p:nvPr/>
        </p:nvSpPr>
        <p:spPr>
          <a:xfrm>
            <a:off x="381000" y="1419225"/>
            <a:ext cx="5497116" cy="828675"/>
          </a:xfrm>
          <a:prstGeom prst="rect">
            <a:avLst/>
          </a:prstGeom>
          <a:noFill/>
          <a:ln/>
        </p:spPr>
        <p:txBody>
          <a:bodyPr wrap="square" lIns="0" tIns="0" rIns="0" bIns="0" rtlCol="0" anchor="ctr"/>
          <a:lstStyle/>
          <a:p>
            <a:pPr>
              <a:lnSpc>
                <a:spcPct val="140000"/>
              </a:lnSpc>
            </a:pPr>
            <a:r>
              <a:rPr lang="en-US" sz="1500" b="1" dirty="0">
                <a:solidFill>
                  <a:srgbClr val="1E272E"/>
                </a:solidFill>
                <a:latin typeface="Quattrocento Sans" pitchFamily="34" charset="0"/>
                <a:ea typeface="Quattrocento Sans" pitchFamily="34" charset="-122"/>
                <a:cs typeface="Quattrocento Sans" pitchFamily="34" charset="-120"/>
              </a:rPr>
              <a:t>A Nash Equilibrium is a set of strategies, one for each player, such that no player can improve their outcome by unilaterally changing their own strategy.</a:t>
            </a:r>
            <a:endParaRPr lang="en-US" sz="1600" dirty="0"/>
          </a:p>
        </p:txBody>
      </p:sp>
      <p:sp>
        <p:nvSpPr>
          <p:cNvPr id="5" name="Text 3"/>
          <p:cNvSpPr/>
          <p:nvPr/>
        </p:nvSpPr>
        <p:spPr>
          <a:xfrm>
            <a:off x="381000" y="2452688"/>
            <a:ext cx="5648325" cy="838200"/>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In equilibrium, each player's strategy is optimal given the strategies of all other players. This creates a stable state where everyone is doing the best they can, given what others are doing.</a:t>
            </a:r>
            <a:endParaRPr lang="en-US" sz="1600" dirty="0"/>
          </a:p>
        </p:txBody>
      </p:sp>
      <p:sp>
        <p:nvSpPr>
          <p:cNvPr id="6" name="Shape 4"/>
          <p:cNvSpPr/>
          <p:nvPr/>
        </p:nvSpPr>
        <p:spPr>
          <a:xfrm>
            <a:off x="381000" y="3867150"/>
            <a:ext cx="5562600" cy="2019300"/>
          </a:xfrm>
          <a:custGeom>
            <a:avLst/>
            <a:gdLst/>
            <a:ahLst/>
            <a:cxnLst/>
            <a:rect l="l" t="t" r="r" b="b"/>
            <a:pathLst>
              <a:path w="5562600" h="2019300">
                <a:moveTo>
                  <a:pt x="0" y="0"/>
                </a:moveTo>
                <a:lnTo>
                  <a:pt x="5562600" y="0"/>
                </a:lnTo>
                <a:lnTo>
                  <a:pt x="5562600" y="2019300"/>
                </a:lnTo>
                <a:lnTo>
                  <a:pt x="0" y="2019300"/>
                </a:lnTo>
                <a:lnTo>
                  <a:pt x="0" y="0"/>
                </a:lnTo>
                <a:close/>
              </a:path>
            </a:pathLst>
          </a:custGeom>
          <a:solidFill>
            <a:srgbClr val="2D3436"/>
          </a:solidFill>
          <a:ln/>
        </p:spPr>
      </p:sp>
      <p:sp>
        <p:nvSpPr>
          <p:cNvPr id="7" name="Text 5"/>
          <p:cNvSpPr/>
          <p:nvPr/>
        </p:nvSpPr>
        <p:spPr>
          <a:xfrm>
            <a:off x="609600" y="4095750"/>
            <a:ext cx="5200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Oranienbaum" pitchFamily="34" charset="0"/>
                <a:ea typeface="Oranienbaum" pitchFamily="34" charset="-122"/>
                <a:cs typeface="Oranienbaum" pitchFamily="34" charset="-120"/>
              </a:rPr>
              <a:t>Mathematical Definition</a:t>
            </a:r>
            <a:endParaRPr lang="en-US" sz="1600" dirty="0"/>
          </a:p>
        </p:txBody>
      </p:sp>
      <p:sp>
        <p:nvSpPr>
          <p:cNvPr id="8" name="Text 6"/>
          <p:cNvSpPr/>
          <p:nvPr/>
        </p:nvSpPr>
        <p:spPr>
          <a:xfrm>
            <a:off x="609600" y="4476750"/>
            <a:ext cx="5181600" cy="247650"/>
          </a:xfrm>
          <a:prstGeom prst="rect">
            <a:avLst/>
          </a:prstGeom>
          <a:noFill/>
          <a:ln/>
        </p:spPr>
        <p:txBody>
          <a:bodyPr wrap="square" lIns="0" tIns="0" rIns="0" bIns="0" rtlCol="0" anchor="ctr"/>
          <a:lstStyle/>
          <a:p>
            <a:pPr>
              <a:lnSpc>
                <a:spcPct val="140000"/>
              </a:lnSpc>
            </a:pPr>
            <a:r>
              <a:rPr lang="en-US" sz="1200" dirty="0">
                <a:solidFill>
                  <a:srgbClr val="E0E0E0"/>
                </a:solidFill>
                <a:latin typeface="Quattrocento Sans" pitchFamily="34" charset="0"/>
                <a:ea typeface="Quattrocento Sans" pitchFamily="34" charset="-122"/>
                <a:cs typeface="Quattrocento Sans" pitchFamily="34" charset="-120"/>
              </a:rPr>
              <a:t>For a strategy profile s * = ( s</a:t>
            </a:r>
            <a:pPr>
              <a:lnSpc>
                <a:spcPct val="140000"/>
              </a:lnSpc>
            </a:pPr>
            <a:r>
              <a:rPr lang="en-US" sz="900" dirty="0">
                <a:solidFill>
                  <a:srgbClr val="E0E0E0"/>
                </a:solidFill>
                <a:latin typeface="Quattrocento Sans" pitchFamily="34" charset="0"/>
                <a:ea typeface="Quattrocento Sans" pitchFamily="34" charset="-122"/>
                <a:cs typeface="Quattrocento Sans" pitchFamily="34" charset="-120"/>
              </a:rPr>
              <a:t>1</a:t>
            </a:r>
            <a:pPr>
              <a:lnSpc>
                <a:spcPct val="140000"/>
              </a:lnSpc>
            </a:pPr>
            <a:r>
              <a:rPr lang="en-US" sz="1200" dirty="0">
                <a:solidFill>
                  <a:srgbClr val="E0E0E0"/>
                </a:solidFill>
                <a:latin typeface="Quattrocento Sans" pitchFamily="34" charset="0"/>
                <a:ea typeface="Quattrocento Sans" pitchFamily="34" charset="-122"/>
                <a:cs typeface="Quattrocento Sans" pitchFamily="34" charset="-120"/>
              </a:rPr>
              <a:t> *, ..., s</a:t>
            </a:r>
            <a:pPr>
              <a:lnSpc>
                <a:spcPct val="140000"/>
              </a:lnSpc>
            </a:pPr>
            <a:r>
              <a:rPr lang="en-US" sz="900" dirty="0">
                <a:solidFill>
                  <a:srgbClr val="E0E0E0"/>
                </a:solidFill>
                <a:latin typeface="Quattrocento Sans" pitchFamily="34" charset="0"/>
                <a:ea typeface="Quattrocento Sans" pitchFamily="34" charset="-122"/>
                <a:cs typeface="Quattrocento Sans" pitchFamily="34" charset="-120"/>
              </a:rPr>
              <a:t>n</a:t>
            </a:r>
            <a:pPr>
              <a:lnSpc>
                <a:spcPct val="140000"/>
              </a:lnSpc>
            </a:pPr>
            <a:r>
              <a:rPr lang="en-US" sz="1200" dirty="0">
                <a:solidFill>
                  <a:srgbClr val="E0E0E0"/>
                </a:solidFill>
                <a:latin typeface="Quattrocento Sans" pitchFamily="34" charset="0"/>
                <a:ea typeface="Quattrocento Sans" pitchFamily="34" charset="-122"/>
                <a:cs typeface="Quattrocento Sans" pitchFamily="34" charset="-120"/>
              </a:rPr>
              <a:t> *) to be a Nash Equilibrium:</a:t>
            </a:r>
            <a:endParaRPr lang="en-US" sz="1600" dirty="0"/>
          </a:p>
        </p:txBody>
      </p:sp>
      <p:sp>
        <p:nvSpPr>
          <p:cNvPr id="9" name="Shape 7"/>
          <p:cNvSpPr/>
          <p:nvPr/>
        </p:nvSpPr>
        <p:spPr>
          <a:xfrm>
            <a:off x="609600" y="4838700"/>
            <a:ext cx="5105400" cy="457200"/>
          </a:xfrm>
          <a:custGeom>
            <a:avLst/>
            <a:gdLst/>
            <a:ahLst/>
            <a:cxnLst/>
            <a:rect l="l" t="t" r="r" b="b"/>
            <a:pathLst>
              <a:path w="5105400" h="457200">
                <a:moveTo>
                  <a:pt x="0" y="0"/>
                </a:moveTo>
                <a:lnTo>
                  <a:pt x="5105400" y="0"/>
                </a:lnTo>
                <a:lnTo>
                  <a:pt x="5105400" y="457200"/>
                </a:lnTo>
                <a:lnTo>
                  <a:pt x="0" y="457200"/>
                </a:lnTo>
                <a:lnTo>
                  <a:pt x="0" y="0"/>
                </a:lnTo>
                <a:close/>
              </a:path>
            </a:pathLst>
          </a:custGeom>
          <a:solidFill>
            <a:srgbClr val="1E272E"/>
          </a:solidFill>
          <a:ln/>
        </p:spPr>
      </p:sp>
      <p:sp>
        <p:nvSpPr>
          <p:cNvPr id="10" name="Text 8"/>
          <p:cNvSpPr/>
          <p:nvPr/>
        </p:nvSpPr>
        <p:spPr>
          <a:xfrm>
            <a:off x="609600" y="4838700"/>
            <a:ext cx="5181600" cy="457200"/>
          </a:xfrm>
          <a:prstGeom prst="rect">
            <a:avLst/>
          </a:prstGeom>
          <a:noFill/>
          <a:ln/>
        </p:spPr>
        <p:txBody>
          <a:bodyPr wrap="square" lIns="114300" tIns="114300" rIns="114300" bIns="114300" rtlCol="0" anchor="ctr"/>
          <a:lstStyle/>
          <a:p>
            <a:pPr>
              <a:lnSpc>
                <a:spcPct val="130000"/>
              </a:lnSpc>
            </a:pPr>
            <a:r>
              <a:rPr lang="en-US" sz="1200" dirty="0">
                <a:solidFill>
                  <a:srgbClr val="FFFFFF"/>
                </a:solidFill>
                <a:latin typeface="MiSans" pitchFamily="34" charset="0"/>
                <a:ea typeface="MiSans" pitchFamily="34" charset="-122"/>
                <a:cs typeface="MiSans" pitchFamily="34" charset="-120"/>
              </a:rPr>
              <a:t>uᵢ(sᵢ*, s₋ᵢ*) ≥ uᵢ(sᵢ, s₋ᵢ*)</a:t>
            </a:r>
            <a:endParaRPr lang="en-US" sz="1600" dirty="0"/>
          </a:p>
        </p:txBody>
      </p:sp>
      <p:sp>
        <p:nvSpPr>
          <p:cNvPr id="11" name="Text 9"/>
          <p:cNvSpPr/>
          <p:nvPr/>
        </p:nvSpPr>
        <p:spPr>
          <a:xfrm>
            <a:off x="609600" y="5410200"/>
            <a:ext cx="5181600" cy="247650"/>
          </a:xfrm>
          <a:prstGeom prst="rect">
            <a:avLst/>
          </a:prstGeom>
          <a:noFill/>
          <a:ln/>
        </p:spPr>
        <p:txBody>
          <a:bodyPr wrap="square" lIns="0" tIns="0" rIns="0" bIns="0" rtlCol="0" anchor="ctr"/>
          <a:lstStyle/>
          <a:p>
            <a:pPr>
              <a:lnSpc>
                <a:spcPct val="140000"/>
              </a:lnSpc>
            </a:pPr>
            <a:r>
              <a:rPr lang="en-US" sz="1200" dirty="0">
                <a:solidFill>
                  <a:srgbClr val="E0E0E0"/>
                </a:solidFill>
                <a:latin typeface="Quattrocento Sans" pitchFamily="34" charset="0"/>
                <a:ea typeface="Quattrocento Sans" pitchFamily="34" charset="-122"/>
                <a:cs typeface="Quattrocento Sans" pitchFamily="34" charset="-120"/>
              </a:rPr>
              <a:t>for all players i and all alternative strategies s</a:t>
            </a:r>
            <a:pPr>
              <a:lnSpc>
                <a:spcPct val="140000"/>
              </a:lnSpc>
            </a:pPr>
            <a:r>
              <a:rPr lang="en-US" sz="900" dirty="0">
                <a:solidFill>
                  <a:srgbClr val="E0E0E0"/>
                </a:solidFill>
                <a:latin typeface="Quattrocento Sans" pitchFamily="34" charset="0"/>
                <a:ea typeface="Quattrocento Sans" pitchFamily="34" charset="-122"/>
                <a:cs typeface="Quattrocento Sans" pitchFamily="34" charset="-120"/>
              </a:rPr>
              <a:t>i</a:t>
            </a:r>
            <a:pPr>
              <a:lnSpc>
                <a:spcPct val="140000"/>
              </a:lnSpc>
            </a:pPr>
            <a:r>
              <a:rPr lang="en-US" sz="1200" dirty="0">
                <a:solidFill>
                  <a:srgbClr val="E0E0E0"/>
                </a:solidFill>
                <a:latin typeface="Quattrocento Sans" pitchFamily="34" charset="0"/>
                <a:ea typeface="Quattrocento Sans" pitchFamily="34" charset="-122"/>
                <a:cs typeface="Quattrocento Sans" pitchFamily="34" charset="-120"/>
              </a:rPr>
              <a:t> .</a:t>
            </a:r>
            <a:endParaRPr lang="en-US" sz="1600" dirty="0"/>
          </a:p>
        </p:txBody>
      </p:sp>
      <p:sp>
        <p:nvSpPr>
          <p:cNvPr id="12" name="Shape 10"/>
          <p:cNvSpPr/>
          <p:nvPr/>
        </p:nvSpPr>
        <p:spPr>
          <a:xfrm>
            <a:off x="6253163" y="1376363"/>
            <a:ext cx="5553075" cy="3209925"/>
          </a:xfrm>
          <a:custGeom>
            <a:avLst/>
            <a:gdLst/>
            <a:ahLst/>
            <a:cxnLst/>
            <a:rect l="l" t="t" r="r" b="b"/>
            <a:pathLst>
              <a:path w="5553075" h="3209925">
                <a:moveTo>
                  <a:pt x="0" y="0"/>
                </a:moveTo>
                <a:lnTo>
                  <a:pt x="5553075" y="0"/>
                </a:lnTo>
                <a:lnTo>
                  <a:pt x="5553075" y="3209925"/>
                </a:lnTo>
                <a:lnTo>
                  <a:pt x="0" y="3209925"/>
                </a:lnTo>
                <a:lnTo>
                  <a:pt x="0" y="0"/>
                </a:lnTo>
                <a:close/>
              </a:path>
            </a:pathLst>
          </a:custGeom>
          <a:solidFill>
            <a:srgbClr val="FFFFFF"/>
          </a:solidFill>
          <a:ln w="12700">
            <a:solidFill>
              <a:srgbClr val="E0E0E0"/>
            </a:solidFill>
            <a:prstDash val="solid"/>
          </a:ln>
        </p:spPr>
      </p:sp>
      <p:sp>
        <p:nvSpPr>
          <p:cNvPr id="13" name="Text 11"/>
          <p:cNvSpPr/>
          <p:nvPr/>
        </p:nvSpPr>
        <p:spPr>
          <a:xfrm>
            <a:off x="6486525" y="1609725"/>
            <a:ext cx="5181600"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Key Properties</a:t>
            </a:r>
            <a:endParaRPr lang="en-US" sz="1600" dirty="0"/>
          </a:p>
        </p:txBody>
      </p:sp>
      <p:sp>
        <p:nvSpPr>
          <p:cNvPr id="14" name="Shape 12"/>
          <p:cNvSpPr/>
          <p:nvPr/>
        </p:nvSpPr>
        <p:spPr>
          <a:xfrm>
            <a:off x="6486525" y="2028825"/>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0984E3"/>
          </a:solidFill>
          <a:ln/>
        </p:spPr>
      </p:sp>
      <p:sp>
        <p:nvSpPr>
          <p:cNvPr id="15" name="Text 13"/>
          <p:cNvSpPr/>
          <p:nvPr/>
        </p:nvSpPr>
        <p:spPr>
          <a:xfrm>
            <a:off x="6453188" y="2028825"/>
            <a:ext cx="371475" cy="3048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16" name="Text 14"/>
          <p:cNvSpPr/>
          <p:nvPr/>
        </p:nvSpPr>
        <p:spPr>
          <a:xfrm>
            <a:off x="6905625" y="2028825"/>
            <a:ext cx="3067050"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Stability</a:t>
            </a:r>
            <a:endParaRPr lang="en-US" sz="1600" dirty="0"/>
          </a:p>
        </p:txBody>
      </p:sp>
      <p:sp>
        <p:nvSpPr>
          <p:cNvPr id="17" name="Text 15"/>
          <p:cNvSpPr/>
          <p:nvPr/>
        </p:nvSpPr>
        <p:spPr>
          <a:xfrm>
            <a:off x="6905625" y="2295525"/>
            <a:ext cx="3067050" cy="228600"/>
          </a:xfrm>
          <a:prstGeom prst="rect">
            <a:avLst/>
          </a:prstGeom>
          <a:noFill/>
          <a:ln/>
        </p:spPr>
        <p:txBody>
          <a:bodyPr wrap="square" lIns="0" tIns="0" rIns="0" bIns="0" rtlCol="0" anchor="ctr"/>
          <a:lstStyle/>
          <a:p>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No player has incentive to deviate unilaterally</a:t>
            </a:r>
            <a:endParaRPr lang="en-US" sz="1600" dirty="0"/>
          </a:p>
        </p:txBody>
      </p:sp>
      <p:sp>
        <p:nvSpPr>
          <p:cNvPr id="18" name="Shape 16"/>
          <p:cNvSpPr/>
          <p:nvPr/>
        </p:nvSpPr>
        <p:spPr>
          <a:xfrm>
            <a:off x="6486525" y="2638425"/>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0984E3"/>
          </a:solidFill>
          <a:ln/>
        </p:spPr>
      </p:sp>
      <p:sp>
        <p:nvSpPr>
          <p:cNvPr id="19" name="Text 17"/>
          <p:cNvSpPr/>
          <p:nvPr/>
        </p:nvSpPr>
        <p:spPr>
          <a:xfrm>
            <a:off x="6453188" y="2638425"/>
            <a:ext cx="371475" cy="3048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20" name="Text 18"/>
          <p:cNvSpPr/>
          <p:nvPr/>
        </p:nvSpPr>
        <p:spPr>
          <a:xfrm>
            <a:off x="6905625" y="2638425"/>
            <a:ext cx="3667125"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Self-Enforcing</a:t>
            </a:r>
            <a:endParaRPr lang="en-US" sz="1600" dirty="0"/>
          </a:p>
        </p:txBody>
      </p:sp>
      <p:sp>
        <p:nvSpPr>
          <p:cNvPr id="21" name="Text 19"/>
          <p:cNvSpPr/>
          <p:nvPr/>
        </p:nvSpPr>
        <p:spPr>
          <a:xfrm>
            <a:off x="6905625" y="2905125"/>
            <a:ext cx="3667125" cy="228600"/>
          </a:xfrm>
          <a:prstGeom prst="rect">
            <a:avLst/>
          </a:prstGeom>
          <a:noFill/>
          <a:ln/>
        </p:spPr>
        <p:txBody>
          <a:bodyPr wrap="square" lIns="0" tIns="0" rIns="0" bIns="0" rtlCol="0" anchor="ctr"/>
          <a:lstStyle/>
          <a:p>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Equilibrium strategies are best responses to each other</a:t>
            </a:r>
            <a:endParaRPr lang="en-US" sz="1600" dirty="0"/>
          </a:p>
        </p:txBody>
      </p:sp>
      <p:sp>
        <p:nvSpPr>
          <p:cNvPr id="22" name="Shape 20"/>
          <p:cNvSpPr/>
          <p:nvPr/>
        </p:nvSpPr>
        <p:spPr>
          <a:xfrm>
            <a:off x="6486525" y="3248025"/>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0984E3"/>
          </a:solidFill>
          <a:ln/>
        </p:spPr>
      </p:sp>
      <p:sp>
        <p:nvSpPr>
          <p:cNvPr id="23" name="Text 21"/>
          <p:cNvSpPr/>
          <p:nvPr/>
        </p:nvSpPr>
        <p:spPr>
          <a:xfrm>
            <a:off x="6453188" y="3248025"/>
            <a:ext cx="371475" cy="3048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Quattrocento Sans" pitchFamily="34" charset="0"/>
                <a:ea typeface="Quattrocento Sans" pitchFamily="34" charset="-122"/>
                <a:cs typeface="Quattrocento Sans" pitchFamily="34" charset="-120"/>
              </a:rPr>
              <a:t>3</a:t>
            </a:r>
            <a:endParaRPr lang="en-US" sz="1600" dirty="0"/>
          </a:p>
        </p:txBody>
      </p:sp>
      <p:sp>
        <p:nvSpPr>
          <p:cNvPr id="24" name="Text 22"/>
          <p:cNvSpPr/>
          <p:nvPr/>
        </p:nvSpPr>
        <p:spPr>
          <a:xfrm>
            <a:off x="6905625" y="3248025"/>
            <a:ext cx="3286125"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Existence</a:t>
            </a:r>
            <a:endParaRPr lang="en-US" sz="1600" dirty="0"/>
          </a:p>
        </p:txBody>
      </p:sp>
      <p:sp>
        <p:nvSpPr>
          <p:cNvPr id="25" name="Text 23"/>
          <p:cNvSpPr/>
          <p:nvPr/>
        </p:nvSpPr>
        <p:spPr>
          <a:xfrm>
            <a:off x="6905625" y="3514725"/>
            <a:ext cx="3286125" cy="228600"/>
          </a:xfrm>
          <a:prstGeom prst="rect">
            <a:avLst/>
          </a:prstGeom>
          <a:noFill/>
          <a:ln/>
        </p:spPr>
        <p:txBody>
          <a:bodyPr wrap="square" lIns="0" tIns="0" rIns="0" bIns="0" rtlCol="0" anchor="ctr"/>
          <a:lstStyle/>
          <a:p>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Nash proved equilibrium exists in all finite games</a:t>
            </a:r>
            <a:endParaRPr lang="en-US" sz="1600" dirty="0"/>
          </a:p>
        </p:txBody>
      </p:sp>
      <p:sp>
        <p:nvSpPr>
          <p:cNvPr id="26" name="Shape 24"/>
          <p:cNvSpPr/>
          <p:nvPr/>
        </p:nvSpPr>
        <p:spPr>
          <a:xfrm>
            <a:off x="6486525" y="3857625"/>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0984E3"/>
          </a:solidFill>
          <a:ln/>
        </p:spPr>
      </p:sp>
      <p:sp>
        <p:nvSpPr>
          <p:cNvPr id="27" name="Text 25"/>
          <p:cNvSpPr/>
          <p:nvPr/>
        </p:nvSpPr>
        <p:spPr>
          <a:xfrm>
            <a:off x="6453188" y="3857625"/>
            <a:ext cx="371475" cy="3048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Quattrocento Sans" pitchFamily="34" charset="0"/>
                <a:ea typeface="Quattrocento Sans" pitchFamily="34" charset="-122"/>
                <a:cs typeface="Quattrocento Sans" pitchFamily="34" charset="-120"/>
              </a:rPr>
              <a:t>4</a:t>
            </a:r>
            <a:endParaRPr lang="en-US" sz="1600" dirty="0"/>
          </a:p>
        </p:txBody>
      </p:sp>
      <p:sp>
        <p:nvSpPr>
          <p:cNvPr id="28" name="Text 26"/>
          <p:cNvSpPr/>
          <p:nvPr/>
        </p:nvSpPr>
        <p:spPr>
          <a:xfrm>
            <a:off x="6905625" y="3857625"/>
            <a:ext cx="4133850"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Non-Uniqueness</a:t>
            </a:r>
            <a:endParaRPr lang="en-US" sz="1600" dirty="0"/>
          </a:p>
        </p:txBody>
      </p:sp>
      <p:sp>
        <p:nvSpPr>
          <p:cNvPr id="29" name="Text 27"/>
          <p:cNvSpPr/>
          <p:nvPr/>
        </p:nvSpPr>
        <p:spPr>
          <a:xfrm>
            <a:off x="6905625" y="4124325"/>
            <a:ext cx="4133850" cy="228600"/>
          </a:xfrm>
          <a:prstGeom prst="rect">
            <a:avLst/>
          </a:prstGeom>
          <a:noFill/>
          <a:ln/>
        </p:spPr>
        <p:txBody>
          <a:bodyPr wrap="square" lIns="0" tIns="0" rIns="0" bIns="0" rtlCol="0" anchor="ctr"/>
          <a:lstStyle/>
          <a:p>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Games may have multiple equilibria or none in pure strategies</a:t>
            </a:r>
            <a:endParaRPr lang="en-US" sz="1600" dirty="0"/>
          </a:p>
        </p:txBody>
      </p:sp>
      <p:sp>
        <p:nvSpPr>
          <p:cNvPr id="30" name="Shape 28"/>
          <p:cNvSpPr/>
          <p:nvPr/>
        </p:nvSpPr>
        <p:spPr>
          <a:xfrm>
            <a:off x="6267450" y="4743450"/>
            <a:ext cx="5543550" cy="1143000"/>
          </a:xfrm>
          <a:custGeom>
            <a:avLst/>
            <a:gdLst/>
            <a:ahLst/>
            <a:cxnLst/>
            <a:rect l="l" t="t" r="r" b="b"/>
            <a:pathLst>
              <a:path w="5543550" h="1143000">
                <a:moveTo>
                  <a:pt x="0" y="0"/>
                </a:moveTo>
                <a:lnTo>
                  <a:pt x="5543550" y="0"/>
                </a:lnTo>
                <a:lnTo>
                  <a:pt x="5543550" y="1143000"/>
                </a:lnTo>
                <a:lnTo>
                  <a:pt x="0" y="1143000"/>
                </a:lnTo>
                <a:lnTo>
                  <a:pt x="0" y="0"/>
                </a:lnTo>
                <a:close/>
              </a:path>
            </a:pathLst>
          </a:custGeom>
          <a:solidFill>
            <a:srgbClr val="F8F9FA"/>
          </a:solidFill>
          <a:ln/>
        </p:spPr>
      </p:sp>
      <p:sp>
        <p:nvSpPr>
          <p:cNvPr id="31" name="Shape 29"/>
          <p:cNvSpPr/>
          <p:nvPr/>
        </p:nvSpPr>
        <p:spPr>
          <a:xfrm>
            <a:off x="6267450" y="4743450"/>
            <a:ext cx="38100" cy="1143000"/>
          </a:xfrm>
          <a:custGeom>
            <a:avLst/>
            <a:gdLst/>
            <a:ahLst/>
            <a:cxnLst/>
            <a:rect l="l" t="t" r="r" b="b"/>
            <a:pathLst>
              <a:path w="38100" h="1143000">
                <a:moveTo>
                  <a:pt x="0" y="0"/>
                </a:moveTo>
                <a:lnTo>
                  <a:pt x="38100" y="0"/>
                </a:lnTo>
                <a:lnTo>
                  <a:pt x="38100" y="1143000"/>
                </a:lnTo>
                <a:lnTo>
                  <a:pt x="0" y="1143000"/>
                </a:lnTo>
                <a:lnTo>
                  <a:pt x="0" y="0"/>
                </a:lnTo>
                <a:close/>
              </a:path>
            </a:pathLst>
          </a:custGeom>
          <a:solidFill>
            <a:srgbClr val="0984E3"/>
          </a:solidFill>
          <a:ln/>
        </p:spPr>
      </p:sp>
      <p:sp>
        <p:nvSpPr>
          <p:cNvPr id="32" name="Text 30"/>
          <p:cNvSpPr/>
          <p:nvPr/>
        </p:nvSpPr>
        <p:spPr>
          <a:xfrm>
            <a:off x="6477000" y="4933950"/>
            <a:ext cx="5219700" cy="495300"/>
          </a:xfrm>
          <a:prstGeom prst="rect">
            <a:avLst/>
          </a:prstGeom>
          <a:noFill/>
          <a:ln/>
        </p:spPr>
        <p:txBody>
          <a:bodyPr wrap="square" lIns="0" tIns="0" rIns="0" bIns="0" rtlCol="0" anchor="ctr"/>
          <a:lstStyle/>
          <a:p>
            <a:pPr>
              <a:lnSpc>
                <a:spcPct val="140000"/>
              </a:lnSpc>
            </a:pPr>
            <a:r>
              <a:rPr lang="en-US" sz="1200" dirty="0">
                <a:solidFill>
                  <a:srgbClr val="1E272E"/>
                </a:solidFill>
                <a:latin typeface="Quattrocento Sans" pitchFamily="34" charset="0"/>
                <a:ea typeface="Quattrocento Sans" pitchFamily="34" charset="-122"/>
                <a:cs typeface="Quattrocento Sans" pitchFamily="34" charset="-120"/>
              </a:rPr>
              <a:t>"In some ways it's a very rational thing to do, and in some ways it's almost crazy."</a:t>
            </a:r>
            <a:endParaRPr lang="en-US" sz="1600" dirty="0"/>
          </a:p>
        </p:txBody>
      </p:sp>
      <p:sp>
        <p:nvSpPr>
          <p:cNvPr id="33" name="Text 31"/>
          <p:cNvSpPr/>
          <p:nvPr/>
        </p:nvSpPr>
        <p:spPr>
          <a:xfrm>
            <a:off x="6477000" y="5505450"/>
            <a:ext cx="5210175" cy="190500"/>
          </a:xfrm>
          <a:prstGeom prst="rect">
            <a:avLst/>
          </a:prstGeom>
          <a:noFill/>
          <a:ln/>
        </p:spPr>
        <p:txBody>
          <a:bodyPr wrap="square" lIns="0" tIns="0" rIns="0" bIns="0" rtlCol="0" anchor="ctr"/>
          <a:lstStyle/>
          <a:p>
            <a:pPr>
              <a:lnSpc>
                <a:spcPct val="120000"/>
              </a:lnSpc>
            </a:pPr>
            <a:r>
              <a:rPr lang="en-US" sz="1050" dirty="0">
                <a:solidFill>
                  <a:srgbClr val="636E72"/>
                </a:solidFill>
                <a:latin typeface="Quattrocento Sans" pitchFamily="34" charset="0"/>
                <a:ea typeface="Quattrocento Sans" pitchFamily="34" charset="-122"/>
                <a:cs typeface="Quattrocento Sans" pitchFamily="34" charset="-120"/>
              </a:rPr>
              <a:t>— John Nash, on game theory</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79518" y="379518"/>
            <a:ext cx="11508868" cy="227711"/>
          </a:xfrm>
          <a:prstGeom prst="rect">
            <a:avLst/>
          </a:prstGeom>
          <a:noFill/>
          <a:ln/>
        </p:spPr>
        <p:txBody>
          <a:bodyPr wrap="square" lIns="0" tIns="0" rIns="0" bIns="0" rtlCol="0" anchor="ctr"/>
          <a:lstStyle/>
          <a:p>
            <a:pPr>
              <a:lnSpc>
                <a:spcPct val="130000"/>
              </a:lnSpc>
            </a:pPr>
            <a:r>
              <a:rPr lang="en-US" sz="1195" b="1" spc="60" kern="0" dirty="0">
                <a:solidFill>
                  <a:srgbClr val="0984E3"/>
                </a:solidFill>
                <a:latin typeface="Quattrocento Sans" pitchFamily="34" charset="0"/>
                <a:ea typeface="Quattrocento Sans" pitchFamily="34" charset="-122"/>
                <a:cs typeface="Quattrocento Sans" pitchFamily="34" charset="-120"/>
              </a:rPr>
              <a:t>STRATEGIC CONCEPTS</a:t>
            </a:r>
            <a:endParaRPr lang="en-US" sz="1600" dirty="0"/>
          </a:p>
        </p:txBody>
      </p:sp>
      <p:sp>
        <p:nvSpPr>
          <p:cNvPr id="3" name="Text 1"/>
          <p:cNvSpPr/>
          <p:nvPr/>
        </p:nvSpPr>
        <p:spPr>
          <a:xfrm>
            <a:off x="379518" y="683132"/>
            <a:ext cx="11660675" cy="455421"/>
          </a:xfrm>
          <a:prstGeom prst="rect">
            <a:avLst/>
          </a:prstGeom>
          <a:noFill/>
          <a:ln/>
        </p:spPr>
        <p:txBody>
          <a:bodyPr wrap="square" lIns="0" tIns="0" rIns="0" bIns="0" rtlCol="0" anchor="ctr"/>
          <a:lstStyle/>
          <a:p>
            <a:pPr>
              <a:lnSpc>
                <a:spcPct val="80000"/>
              </a:lnSpc>
            </a:pPr>
            <a:r>
              <a:rPr lang="en-US" sz="3586" b="1" dirty="0">
                <a:solidFill>
                  <a:srgbClr val="2D3436"/>
                </a:solidFill>
                <a:latin typeface="Oranienbaum" pitchFamily="34" charset="0"/>
                <a:ea typeface="Oranienbaum" pitchFamily="34" charset="-122"/>
                <a:cs typeface="Oranienbaum" pitchFamily="34" charset="-120"/>
              </a:rPr>
              <a:t>Dominant Strategies &amp; Mixed Strategies</a:t>
            </a:r>
            <a:endParaRPr lang="en-US" sz="1600" dirty="0"/>
          </a:p>
        </p:txBody>
      </p:sp>
      <p:sp>
        <p:nvSpPr>
          <p:cNvPr id="4" name="Text 2"/>
          <p:cNvSpPr/>
          <p:nvPr/>
        </p:nvSpPr>
        <p:spPr>
          <a:xfrm>
            <a:off x="379518" y="1366263"/>
            <a:ext cx="5683275" cy="303614"/>
          </a:xfrm>
          <a:prstGeom prst="rect">
            <a:avLst/>
          </a:prstGeom>
          <a:noFill/>
          <a:ln/>
        </p:spPr>
        <p:txBody>
          <a:bodyPr wrap="square" lIns="0" tIns="0" rIns="0" bIns="0" rtlCol="0" anchor="ctr"/>
          <a:lstStyle/>
          <a:p>
            <a:pPr>
              <a:lnSpc>
                <a:spcPct val="110000"/>
              </a:lnSpc>
            </a:pPr>
            <a:r>
              <a:rPr lang="en-US" sz="1793" b="1" dirty="0">
                <a:solidFill>
                  <a:srgbClr val="2D3436"/>
                </a:solidFill>
                <a:latin typeface="Oranienbaum" pitchFamily="34" charset="0"/>
                <a:ea typeface="Oranienbaum" pitchFamily="34" charset="-122"/>
                <a:cs typeface="Oranienbaum" pitchFamily="34" charset="-120"/>
              </a:rPr>
              <a:t>Dominant Strategies</a:t>
            </a:r>
            <a:endParaRPr lang="en-US" sz="1600" dirty="0"/>
          </a:p>
        </p:txBody>
      </p:sp>
      <p:sp>
        <p:nvSpPr>
          <p:cNvPr id="5" name="Text 3"/>
          <p:cNvSpPr/>
          <p:nvPr/>
        </p:nvSpPr>
        <p:spPr>
          <a:xfrm>
            <a:off x="379518" y="1826428"/>
            <a:ext cx="5097246" cy="467281"/>
          </a:xfrm>
          <a:prstGeom prst="rect">
            <a:avLst/>
          </a:prstGeom>
          <a:noFill/>
          <a:ln/>
        </p:spPr>
        <p:txBody>
          <a:bodyPr wrap="square" lIns="0" tIns="0" rIns="0" bIns="0" rtlCol="0" anchor="ctr"/>
          <a:lstStyle/>
          <a:p>
            <a:pPr>
              <a:lnSpc>
                <a:spcPct val="140000"/>
              </a:lnSpc>
            </a:pPr>
            <a:r>
              <a:rPr lang="en-US" sz="1345" b="1" dirty="0">
                <a:solidFill>
                  <a:srgbClr val="1E272E"/>
                </a:solidFill>
                <a:latin typeface="Quattrocento Sans" pitchFamily="34" charset="0"/>
                <a:ea typeface="Quattrocento Sans" pitchFamily="34" charset="-122"/>
                <a:cs typeface="Quattrocento Sans" pitchFamily="34" charset="-120"/>
              </a:rPr>
              <a:t>A dominant strategy is one that yields a higher payoff than any other strategy, regardless of what opponents choose.</a:t>
            </a:r>
            <a:endParaRPr lang="en-US" sz="1600" dirty="0"/>
          </a:p>
        </p:txBody>
      </p:sp>
      <p:sp>
        <p:nvSpPr>
          <p:cNvPr id="6" name="Text 4"/>
          <p:cNvSpPr/>
          <p:nvPr/>
        </p:nvSpPr>
        <p:spPr>
          <a:xfrm>
            <a:off x="379518" y="2452632"/>
            <a:ext cx="5645323" cy="740059"/>
          </a:xfrm>
          <a:prstGeom prst="rect">
            <a:avLst/>
          </a:prstGeom>
          <a:noFill/>
          <a:ln/>
        </p:spPr>
        <p:txBody>
          <a:bodyPr wrap="square" lIns="0" tIns="0" rIns="0" bIns="0" rtlCol="0" anchor="ctr"/>
          <a:lstStyle/>
          <a:p>
            <a:pPr>
              <a:lnSpc>
                <a:spcPct val="140000"/>
              </a:lnSpc>
            </a:pPr>
            <a:r>
              <a:rPr lang="en-US" sz="1195" dirty="0">
                <a:solidFill>
                  <a:srgbClr val="636E72"/>
                </a:solidFill>
                <a:latin typeface="Quattrocento Sans" pitchFamily="34" charset="0"/>
                <a:ea typeface="Quattrocento Sans" pitchFamily="34" charset="-122"/>
                <a:cs typeface="Quattrocento Sans" pitchFamily="34" charset="-120"/>
              </a:rPr>
              <a:t>When a player has a dominant strategy, rationality dictates they should play it. If both players have dominant strategies, their combination forms a dominant strategy equilibrium—a particularly strong solution concept.</a:t>
            </a:r>
            <a:endParaRPr lang="en-US" sz="1600" dirty="0"/>
          </a:p>
        </p:txBody>
      </p:sp>
      <p:sp>
        <p:nvSpPr>
          <p:cNvPr id="7" name="Shape 5"/>
          <p:cNvSpPr/>
          <p:nvPr/>
        </p:nvSpPr>
        <p:spPr>
          <a:xfrm>
            <a:off x="398493" y="3306546"/>
            <a:ext cx="5550444" cy="759035"/>
          </a:xfrm>
          <a:custGeom>
            <a:avLst/>
            <a:gdLst/>
            <a:ahLst/>
            <a:cxnLst/>
            <a:rect l="l" t="t" r="r" b="b"/>
            <a:pathLst>
              <a:path w="5550444" h="759035">
                <a:moveTo>
                  <a:pt x="0" y="0"/>
                </a:moveTo>
                <a:lnTo>
                  <a:pt x="5550444" y="0"/>
                </a:lnTo>
                <a:lnTo>
                  <a:pt x="5550444" y="759035"/>
                </a:lnTo>
                <a:lnTo>
                  <a:pt x="0" y="759035"/>
                </a:lnTo>
                <a:lnTo>
                  <a:pt x="0" y="0"/>
                </a:lnTo>
                <a:close/>
              </a:path>
            </a:pathLst>
          </a:custGeom>
          <a:solidFill>
            <a:srgbClr val="F8F9FA"/>
          </a:solidFill>
          <a:ln/>
        </p:spPr>
      </p:sp>
      <p:sp>
        <p:nvSpPr>
          <p:cNvPr id="8" name="Shape 6"/>
          <p:cNvSpPr/>
          <p:nvPr/>
        </p:nvSpPr>
        <p:spPr>
          <a:xfrm>
            <a:off x="398493" y="3306546"/>
            <a:ext cx="37952" cy="759035"/>
          </a:xfrm>
          <a:custGeom>
            <a:avLst/>
            <a:gdLst/>
            <a:ahLst/>
            <a:cxnLst/>
            <a:rect l="l" t="t" r="r" b="b"/>
            <a:pathLst>
              <a:path w="37952" h="759035">
                <a:moveTo>
                  <a:pt x="0" y="0"/>
                </a:moveTo>
                <a:lnTo>
                  <a:pt x="37952" y="0"/>
                </a:lnTo>
                <a:lnTo>
                  <a:pt x="37952" y="759035"/>
                </a:lnTo>
                <a:lnTo>
                  <a:pt x="0" y="759035"/>
                </a:lnTo>
                <a:lnTo>
                  <a:pt x="0" y="0"/>
                </a:lnTo>
                <a:close/>
              </a:path>
            </a:pathLst>
          </a:custGeom>
          <a:solidFill>
            <a:srgbClr val="0984E3"/>
          </a:solidFill>
          <a:ln/>
        </p:spPr>
      </p:sp>
      <p:sp>
        <p:nvSpPr>
          <p:cNvPr id="9" name="Text 7"/>
          <p:cNvSpPr/>
          <p:nvPr/>
        </p:nvSpPr>
        <p:spPr>
          <a:xfrm>
            <a:off x="569276" y="3458353"/>
            <a:ext cx="5303757" cy="455421"/>
          </a:xfrm>
          <a:prstGeom prst="rect">
            <a:avLst/>
          </a:prstGeom>
          <a:noFill/>
          <a:ln/>
        </p:spPr>
        <p:txBody>
          <a:bodyPr wrap="square" lIns="0" tIns="0" rIns="0" bIns="0" rtlCol="0" anchor="ctr"/>
          <a:lstStyle/>
          <a:p>
            <a:pPr>
              <a:lnSpc>
                <a:spcPct val="130000"/>
              </a:lnSpc>
            </a:pPr>
            <a:r>
              <a:rPr lang="en-US" sz="1195" b="1" dirty="0">
                <a:solidFill>
                  <a:srgbClr val="1E272E"/>
                </a:solidFill>
                <a:latin typeface="Quattrocento Sans" pitchFamily="34" charset="0"/>
                <a:ea typeface="Quattrocento Sans" pitchFamily="34" charset="-122"/>
                <a:cs typeface="Quattrocento Sans" pitchFamily="34" charset="-120"/>
              </a:rPr>
              <a:t>Strictly Dominant:</a:t>
            </a:r>
            <a:pPr>
              <a:lnSpc>
                <a:spcPct val="130000"/>
              </a:lnSpc>
            </a:pPr>
            <a:r>
              <a:rPr lang="en-US" sz="1195" dirty="0">
                <a:solidFill>
                  <a:srgbClr val="1E272E"/>
                </a:solidFill>
                <a:latin typeface="Quattrocento Sans" pitchFamily="34" charset="0"/>
                <a:ea typeface="Quattrocento Sans" pitchFamily="34" charset="-122"/>
                <a:cs typeface="Quattrocento Sans" pitchFamily="34" charset="-120"/>
              </a:rPr>
              <a:t> Always better than all other strategies</a:t>
            </a:r>
            <a:endParaRPr lang="en-US" sz="1600" dirty="0"/>
          </a:p>
          <a:p>
            <a:pPr>
              <a:lnSpc>
                <a:spcPct val="130000"/>
              </a:lnSpc>
            </a:pPr>
            <a:r>
              <a:rPr lang="en-US" sz="1195" b="1" dirty="0">
                <a:solidFill>
                  <a:srgbClr val="1E272E"/>
                </a:solidFill>
                <a:latin typeface="Quattrocento Sans" pitchFamily="34" charset="0"/>
                <a:ea typeface="Quattrocento Sans" pitchFamily="34" charset="-122"/>
                <a:cs typeface="Quattrocento Sans" pitchFamily="34" charset="-120"/>
              </a:rPr>
              <a:t>Weakly Dominant:</a:t>
            </a:r>
            <a:pPr>
              <a:lnSpc>
                <a:spcPct val="130000"/>
              </a:lnSpc>
            </a:pPr>
            <a:r>
              <a:rPr lang="en-US" sz="1195" dirty="0">
                <a:solidFill>
                  <a:srgbClr val="1E272E"/>
                </a:solidFill>
                <a:latin typeface="Quattrocento Sans" pitchFamily="34" charset="0"/>
                <a:ea typeface="Quattrocento Sans" pitchFamily="34" charset="-122"/>
                <a:cs typeface="Quattrocento Sans" pitchFamily="34" charset="-120"/>
              </a:rPr>
              <a:t> At least as good, and sometimes better</a:t>
            </a:r>
            <a:endParaRPr lang="en-US" sz="1600" dirty="0"/>
          </a:p>
        </p:txBody>
      </p:sp>
      <p:sp>
        <p:nvSpPr>
          <p:cNvPr id="10" name="Text 8"/>
          <p:cNvSpPr/>
          <p:nvPr/>
        </p:nvSpPr>
        <p:spPr>
          <a:xfrm>
            <a:off x="379518" y="4217388"/>
            <a:ext cx="5683275" cy="303614"/>
          </a:xfrm>
          <a:prstGeom prst="rect">
            <a:avLst/>
          </a:prstGeom>
          <a:noFill/>
          <a:ln/>
        </p:spPr>
        <p:txBody>
          <a:bodyPr wrap="square" lIns="0" tIns="0" rIns="0" bIns="0" rtlCol="0" anchor="ctr"/>
          <a:lstStyle/>
          <a:p>
            <a:pPr>
              <a:lnSpc>
                <a:spcPct val="110000"/>
              </a:lnSpc>
            </a:pPr>
            <a:r>
              <a:rPr lang="en-US" sz="1793" b="1" dirty="0">
                <a:solidFill>
                  <a:srgbClr val="2D3436"/>
                </a:solidFill>
                <a:latin typeface="Oranienbaum" pitchFamily="34" charset="0"/>
                <a:ea typeface="Oranienbaum" pitchFamily="34" charset="-122"/>
                <a:cs typeface="Oranienbaum" pitchFamily="34" charset="-120"/>
              </a:rPr>
              <a:t>Iterated Elimination</a:t>
            </a:r>
            <a:endParaRPr lang="en-US" sz="1600" dirty="0"/>
          </a:p>
        </p:txBody>
      </p:sp>
      <p:sp>
        <p:nvSpPr>
          <p:cNvPr id="11" name="Text 9"/>
          <p:cNvSpPr/>
          <p:nvPr/>
        </p:nvSpPr>
        <p:spPr>
          <a:xfrm>
            <a:off x="379518" y="4634858"/>
            <a:ext cx="5645323" cy="740059"/>
          </a:xfrm>
          <a:prstGeom prst="rect">
            <a:avLst/>
          </a:prstGeom>
          <a:noFill/>
          <a:ln/>
        </p:spPr>
        <p:txBody>
          <a:bodyPr wrap="square" lIns="0" tIns="0" rIns="0" bIns="0" rtlCol="0" anchor="ctr"/>
          <a:lstStyle/>
          <a:p>
            <a:pPr>
              <a:lnSpc>
                <a:spcPct val="140000"/>
              </a:lnSpc>
            </a:pPr>
            <a:r>
              <a:rPr lang="en-US" sz="1195" dirty="0">
                <a:solidFill>
                  <a:srgbClr val="636E72"/>
                </a:solidFill>
                <a:latin typeface="Quattrocento Sans" pitchFamily="34" charset="0"/>
                <a:ea typeface="Quattrocento Sans" pitchFamily="34" charset="-122"/>
                <a:cs typeface="Quattrocento Sans" pitchFamily="34" charset="-120"/>
              </a:rPr>
              <a:t>Players can eliminate dominated strategies (those always worse than alternatives), simplifying the game. This process, repeated iteratively, can sometimes lead to a unique equilibrium.</a:t>
            </a:r>
            <a:endParaRPr lang="en-US" sz="1600" dirty="0"/>
          </a:p>
        </p:txBody>
      </p:sp>
      <p:sp>
        <p:nvSpPr>
          <p:cNvPr id="12" name="Text 10"/>
          <p:cNvSpPr/>
          <p:nvPr/>
        </p:nvSpPr>
        <p:spPr>
          <a:xfrm>
            <a:off x="6249364" y="1366263"/>
            <a:ext cx="5683275" cy="303614"/>
          </a:xfrm>
          <a:prstGeom prst="rect">
            <a:avLst/>
          </a:prstGeom>
          <a:noFill/>
          <a:ln/>
        </p:spPr>
        <p:txBody>
          <a:bodyPr wrap="square" lIns="0" tIns="0" rIns="0" bIns="0" rtlCol="0" anchor="ctr"/>
          <a:lstStyle/>
          <a:p>
            <a:pPr>
              <a:lnSpc>
                <a:spcPct val="110000"/>
              </a:lnSpc>
            </a:pPr>
            <a:r>
              <a:rPr lang="en-US" sz="1793" b="1" dirty="0">
                <a:solidFill>
                  <a:srgbClr val="2D3436"/>
                </a:solidFill>
                <a:latin typeface="Oranienbaum" pitchFamily="34" charset="0"/>
                <a:ea typeface="Oranienbaum" pitchFamily="34" charset="-122"/>
                <a:cs typeface="Oranienbaum" pitchFamily="34" charset="-120"/>
              </a:rPr>
              <a:t>Mixed Strategies</a:t>
            </a:r>
            <a:endParaRPr lang="en-US" sz="1600" dirty="0"/>
          </a:p>
        </p:txBody>
      </p:sp>
      <p:sp>
        <p:nvSpPr>
          <p:cNvPr id="13" name="Text 11"/>
          <p:cNvSpPr/>
          <p:nvPr/>
        </p:nvSpPr>
        <p:spPr>
          <a:xfrm>
            <a:off x="6249364" y="1826428"/>
            <a:ext cx="5250610" cy="467281"/>
          </a:xfrm>
          <a:prstGeom prst="rect">
            <a:avLst/>
          </a:prstGeom>
          <a:noFill/>
          <a:ln/>
        </p:spPr>
        <p:txBody>
          <a:bodyPr wrap="square" lIns="0" tIns="0" rIns="0" bIns="0" rtlCol="0" anchor="ctr"/>
          <a:lstStyle/>
          <a:p>
            <a:pPr>
              <a:lnSpc>
                <a:spcPct val="140000"/>
              </a:lnSpc>
            </a:pPr>
            <a:r>
              <a:rPr lang="en-US" sz="1345" b="1" dirty="0">
                <a:solidFill>
                  <a:srgbClr val="1E272E"/>
                </a:solidFill>
                <a:latin typeface="Quattrocento Sans" pitchFamily="34" charset="0"/>
                <a:ea typeface="Quattrocento Sans" pitchFamily="34" charset="-122"/>
                <a:cs typeface="Quattrocento Sans" pitchFamily="34" charset="-120"/>
              </a:rPr>
              <a:t>When no pure strategy equilibrium exists, players can randomize their choices according to specific probabilities.</a:t>
            </a:r>
            <a:endParaRPr lang="en-US" sz="1600" dirty="0"/>
          </a:p>
        </p:txBody>
      </p:sp>
      <p:sp>
        <p:nvSpPr>
          <p:cNvPr id="14" name="Text 12"/>
          <p:cNvSpPr/>
          <p:nvPr/>
        </p:nvSpPr>
        <p:spPr>
          <a:xfrm>
            <a:off x="6249364" y="2452632"/>
            <a:ext cx="5645323" cy="740059"/>
          </a:xfrm>
          <a:prstGeom prst="rect">
            <a:avLst/>
          </a:prstGeom>
          <a:noFill/>
          <a:ln/>
        </p:spPr>
        <p:txBody>
          <a:bodyPr wrap="square" lIns="0" tIns="0" rIns="0" bIns="0" rtlCol="0" anchor="ctr"/>
          <a:lstStyle/>
          <a:p>
            <a:pPr>
              <a:lnSpc>
                <a:spcPct val="140000"/>
              </a:lnSpc>
            </a:pPr>
            <a:r>
              <a:rPr lang="en-US" sz="1195" dirty="0">
                <a:solidFill>
                  <a:srgbClr val="636E72"/>
                </a:solidFill>
                <a:latin typeface="Quattrocento Sans" pitchFamily="34" charset="0"/>
                <a:ea typeface="Quattrocento Sans" pitchFamily="34" charset="-122"/>
                <a:cs typeface="Quattrocento Sans" pitchFamily="34" charset="-120"/>
              </a:rPr>
              <a:t>A mixed strategy specifies the probability distribution over pure strategies. By randomizing unpredictably, players prevent opponents from exploiting predictable behavior.</a:t>
            </a:r>
            <a:endParaRPr lang="en-US" sz="1600" dirty="0"/>
          </a:p>
        </p:txBody>
      </p:sp>
      <p:sp>
        <p:nvSpPr>
          <p:cNvPr id="15" name="Shape 13"/>
          <p:cNvSpPr/>
          <p:nvPr/>
        </p:nvSpPr>
        <p:spPr>
          <a:xfrm>
            <a:off x="6249364" y="3344498"/>
            <a:ext cx="5569419" cy="2182226"/>
          </a:xfrm>
          <a:custGeom>
            <a:avLst/>
            <a:gdLst/>
            <a:ahLst/>
            <a:cxnLst/>
            <a:rect l="l" t="t" r="r" b="b"/>
            <a:pathLst>
              <a:path w="5569419" h="2182226">
                <a:moveTo>
                  <a:pt x="0" y="0"/>
                </a:moveTo>
                <a:lnTo>
                  <a:pt x="5569419" y="0"/>
                </a:lnTo>
                <a:lnTo>
                  <a:pt x="5569419" y="2182226"/>
                </a:lnTo>
                <a:lnTo>
                  <a:pt x="0" y="2182226"/>
                </a:lnTo>
                <a:lnTo>
                  <a:pt x="0" y="0"/>
                </a:lnTo>
                <a:close/>
              </a:path>
            </a:pathLst>
          </a:custGeom>
          <a:solidFill>
            <a:srgbClr val="2D3436"/>
          </a:solidFill>
          <a:ln/>
        </p:spPr>
      </p:sp>
      <p:sp>
        <p:nvSpPr>
          <p:cNvPr id="16" name="Text 14"/>
          <p:cNvSpPr/>
          <p:nvPr/>
        </p:nvSpPr>
        <p:spPr>
          <a:xfrm>
            <a:off x="6439122" y="3534257"/>
            <a:ext cx="5284781" cy="265662"/>
          </a:xfrm>
          <a:prstGeom prst="rect">
            <a:avLst/>
          </a:prstGeom>
          <a:noFill/>
          <a:ln/>
        </p:spPr>
        <p:txBody>
          <a:bodyPr wrap="square" lIns="0" tIns="0" rIns="0" bIns="0" rtlCol="0" anchor="ctr"/>
          <a:lstStyle/>
          <a:p>
            <a:pPr>
              <a:lnSpc>
                <a:spcPct val="120000"/>
              </a:lnSpc>
            </a:pPr>
            <a:r>
              <a:rPr lang="en-US" sz="1494" b="1" dirty="0">
                <a:solidFill>
                  <a:srgbClr val="FFFFFF"/>
                </a:solidFill>
                <a:latin typeface="Oranienbaum" pitchFamily="34" charset="0"/>
                <a:ea typeface="Oranienbaum" pitchFamily="34" charset="-122"/>
                <a:cs typeface="Oranienbaum" pitchFamily="34" charset="-120"/>
              </a:rPr>
              <a:t>The Minimax Theorem</a:t>
            </a:r>
            <a:endParaRPr lang="en-US" sz="1600" dirty="0"/>
          </a:p>
        </p:txBody>
      </p:sp>
      <p:sp>
        <p:nvSpPr>
          <p:cNvPr id="17" name="Text 15"/>
          <p:cNvSpPr/>
          <p:nvPr/>
        </p:nvSpPr>
        <p:spPr>
          <a:xfrm>
            <a:off x="6439122" y="3913774"/>
            <a:ext cx="5265805" cy="246686"/>
          </a:xfrm>
          <a:prstGeom prst="rect">
            <a:avLst/>
          </a:prstGeom>
          <a:noFill/>
          <a:ln/>
        </p:spPr>
        <p:txBody>
          <a:bodyPr wrap="square" lIns="0" tIns="0" rIns="0" bIns="0" rtlCol="0" anchor="ctr"/>
          <a:lstStyle/>
          <a:p>
            <a:pPr>
              <a:lnSpc>
                <a:spcPct val="140000"/>
              </a:lnSpc>
            </a:pPr>
            <a:r>
              <a:rPr lang="en-US" sz="1195" dirty="0">
                <a:solidFill>
                  <a:srgbClr val="E0E0E0"/>
                </a:solidFill>
                <a:latin typeface="Quattrocento Sans" pitchFamily="34" charset="0"/>
                <a:ea typeface="Quattrocento Sans" pitchFamily="34" charset="-122"/>
                <a:cs typeface="Quattrocento Sans" pitchFamily="34" charset="-120"/>
              </a:rPr>
              <a:t>In two-person zero-sum games, von Neumann proved that:</a:t>
            </a:r>
            <a:endParaRPr lang="en-US" sz="1600" dirty="0"/>
          </a:p>
        </p:txBody>
      </p:sp>
      <p:sp>
        <p:nvSpPr>
          <p:cNvPr id="18" name="Shape 16"/>
          <p:cNvSpPr/>
          <p:nvPr/>
        </p:nvSpPr>
        <p:spPr>
          <a:xfrm>
            <a:off x="6439122" y="4274316"/>
            <a:ext cx="5189902" cy="455421"/>
          </a:xfrm>
          <a:custGeom>
            <a:avLst/>
            <a:gdLst/>
            <a:ahLst/>
            <a:cxnLst/>
            <a:rect l="l" t="t" r="r" b="b"/>
            <a:pathLst>
              <a:path w="5189902" h="455421">
                <a:moveTo>
                  <a:pt x="0" y="0"/>
                </a:moveTo>
                <a:lnTo>
                  <a:pt x="5189902" y="0"/>
                </a:lnTo>
                <a:lnTo>
                  <a:pt x="5189902" y="455421"/>
                </a:lnTo>
                <a:lnTo>
                  <a:pt x="0" y="455421"/>
                </a:lnTo>
                <a:lnTo>
                  <a:pt x="0" y="0"/>
                </a:lnTo>
                <a:close/>
              </a:path>
            </a:pathLst>
          </a:custGeom>
          <a:solidFill>
            <a:srgbClr val="1E272E"/>
          </a:solidFill>
          <a:ln/>
        </p:spPr>
      </p:sp>
      <p:sp>
        <p:nvSpPr>
          <p:cNvPr id="19" name="Text 17"/>
          <p:cNvSpPr/>
          <p:nvPr/>
        </p:nvSpPr>
        <p:spPr>
          <a:xfrm>
            <a:off x="6439122" y="4274316"/>
            <a:ext cx="5265805" cy="455421"/>
          </a:xfrm>
          <a:prstGeom prst="rect">
            <a:avLst/>
          </a:prstGeom>
          <a:noFill/>
          <a:ln/>
        </p:spPr>
        <p:txBody>
          <a:bodyPr wrap="square" lIns="113855" tIns="113855" rIns="113855" bIns="113855" rtlCol="0" anchor="ctr"/>
          <a:lstStyle/>
          <a:p>
            <a:pPr>
              <a:lnSpc>
                <a:spcPct val="130000"/>
              </a:lnSpc>
            </a:pPr>
            <a:r>
              <a:rPr lang="en-US" sz="1195" dirty="0">
                <a:solidFill>
                  <a:srgbClr val="FFFFFF"/>
                </a:solidFill>
                <a:latin typeface="MiSans" pitchFamily="34" charset="0"/>
                <a:ea typeface="MiSans" pitchFamily="34" charset="-122"/>
                <a:cs typeface="MiSans" pitchFamily="34" charset="-120"/>
              </a:rPr>
              <a:t>maxₓ minᵧ xAyᵀ = minᵧ maxₓ xAyᵀ</a:t>
            </a:r>
            <a:endParaRPr lang="en-US" sz="1600" dirty="0"/>
          </a:p>
        </p:txBody>
      </p:sp>
      <p:sp>
        <p:nvSpPr>
          <p:cNvPr id="20" name="Text 18"/>
          <p:cNvSpPr/>
          <p:nvPr/>
        </p:nvSpPr>
        <p:spPr>
          <a:xfrm>
            <a:off x="6439122" y="4843592"/>
            <a:ext cx="5265805" cy="493373"/>
          </a:xfrm>
          <a:prstGeom prst="rect">
            <a:avLst/>
          </a:prstGeom>
          <a:noFill/>
          <a:ln/>
        </p:spPr>
        <p:txBody>
          <a:bodyPr wrap="square" lIns="0" tIns="0" rIns="0" bIns="0" rtlCol="0" anchor="ctr"/>
          <a:lstStyle/>
          <a:p>
            <a:pPr>
              <a:lnSpc>
                <a:spcPct val="140000"/>
              </a:lnSpc>
            </a:pPr>
            <a:r>
              <a:rPr lang="en-US" sz="1195" dirty="0">
                <a:solidFill>
                  <a:srgbClr val="E0E0E0"/>
                </a:solidFill>
                <a:latin typeface="Quattrocento Sans" pitchFamily="34" charset="0"/>
                <a:ea typeface="Quattrocento Sans" pitchFamily="34" charset="-122"/>
                <a:cs typeface="Quattrocento Sans" pitchFamily="34" charset="-120"/>
              </a:rPr>
              <a:t>Both players have optimal mixed strategies, and the game's value is uniquely determined.</a:t>
            </a:r>
            <a:endParaRPr lang="en-US" sz="1600" dirty="0"/>
          </a:p>
        </p:txBody>
      </p:sp>
      <p:sp>
        <p:nvSpPr>
          <p:cNvPr id="21" name="Shape 19"/>
          <p:cNvSpPr/>
          <p:nvPr/>
        </p:nvSpPr>
        <p:spPr>
          <a:xfrm>
            <a:off x="6268339" y="5678531"/>
            <a:ext cx="5550444" cy="796987"/>
          </a:xfrm>
          <a:custGeom>
            <a:avLst/>
            <a:gdLst/>
            <a:ahLst/>
            <a:cxnLst/>
            <a:rect l="l" t="t" r="r" b="b"/>
            <a:pathLst>
              <a:path w="5550444" h="796987">
                <a:moveTo>
                  <a:pt x="0" y="0"/>
                </a:moveTo>
                <a:lnTo>
                  <a:pt x="5550444" y="0"/>
                </a:lnTo>
                <a:lnTo>
                  <a:pt x="5550444" y="796987"/>
                </a:lnTo>
                <a:lnTo>
                  <a:pt x="0" y="796987"/>
                </a:lnTo>
                <a:lnTo>
                  <a:pt x="0" y="0"/>
                </a:lnTo>
                <a:close/>
              </a:path>
            </a:pathLst>
          </a:custGeom>
          <a:solidFill>
            <a:srgbClr val="F8F9FA"/>
          </a:solidFill>
          <a:ln/>
        </p:spPr>
      </p:sp>
      <p:sp>
        <p:nvSpPr>
          <p:cNvPr id="22" name="Shape 20"/>
          <p:cNvSpPr/>
          <p:nvPr/>
        </p:nvSpPr>
        <p:spPr>
          <a:xfrm>
            <a:off x="6268339" y="5678531"/>
            <a:ext cx="37952" cy="796987"/>
          </a:xfrm>
          <a:custGeom>
            <a:avLst/>
            <a:gdLst/>
            <a:ahLst/>
            <a:cxnLst/>
            <a:rect l="l" t="t" r="r" b="b"/>
            <a:pathLst>
              <a:path w="37952" h="796987">
                <a:moveTo>
                  <a:pt x="0" y="0"/>
                </a:moveTo>
                <a:lnTo>
                  <a:pt x="37952" y="0"/>
                </a:lnTo>
                <a:lnTo>
                  <a:pt x="37952" y="796987"/>
                </a:lnTo>
                <a:lnTo>
                  <a:pt x="0" y="796987"/>
                </a:lnTo>
                <a:lnTo>
                  <a:pt x="0" y="0"/>
                </a:lnTo>
                <a:close/>
              </a:path>
            </a:pathLst>
          </a:custGeom>
          <a:solidFill>
            <a:srgbClr val="0984E3"/>
          </a:solidFill>
          <a:ln/>
        </p:spPr>
      </p:sp>
      <p:sp>
        <p:nvSpPr>
          <p:cNvPr id="23" name="Text 21"/>
          <p:cNvSpPr/>
          <p:nvPr/>
        </p:nvSpPr>
        <p:spPr>
          <a:xfrm>
            <a:off x="6439122" y="5830338"/>
            <a:ext cx="5303757" cy="493373"/>
          </a:xfrm>
          <a:prstGeom prst="rect">
            <a:avLst/>
          </a:prstGeom>
          <a:noFill/>
          <a:ln/>
        </p:spPr>
        <p:txBody>
          <a:bodyPr wrap="square" lIns="0" tIns="0" rIns="0" bIns="0" rtlCol="0" anchor="ctr"/>
          <a:lstStyle/>
          <a:p>
            <a:pPr>
              <a:lnSpc>
                <a:spcPct val="140000"/>
              </a:lnSpc>
            </a:pPr>
            <a:r>
              <a:rPr lang="en-US" sz="1195" b="1" dirty="0">
                <a:solidFill>
                  <a:srgbClr val="1E272E"/>
                </a:solidFill>
                <a:latin typeface="Quattrocento Sans" pitchFamily="34" charset="0"/>
                <a:ea typeface="Quattrocento Sans" pitchFamily="34" charset="-122"/>
                <a:cs typeface="Quattrocento Sans" pitchFamily="34" charset="-120"/>
              </a:rPr>
              <a:t>Key Insight:</a:t>
            </a:r>
            <a:pPr>
              <a:lnSpc>
                <a:spcPct val="140000"/>
              </a:lnSpc>
            </a:pPr>
            <a:r>
              <a:rPr lang="en-US" sz="1195" dirty="0">
                <a:solidFill>
                  <a:srgbClr val="1E272E"/>
                </a:solidFill>
                <a:latin typeface="Quattrocento Sans" pitchFamily="34" charset="0"/>
                <a:ea typeface="Quattrocento Sans" pitchFamily="34" charset="-122"/>
                <a:cs typeface="Quattrocento Sans" pitchFamily="34" charset="-120"/>
              </a:rPr>
              <a:t> Mixed strategies make players indifferent to opponent's choices, creating equilibrium through unpredictability.</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066925"/>
            <a:ext cx="12192000" cy="1219200"/>
          </a:xfrm>
          <a:prstGeom prst="rect">
            <a:avLst/>
          </a:prstGeom>
          <a:noFill/>
          <a:ln/>
        </p:spPr>
        <p:txBody>
          <a:bodyPr wrap="square" lIns="0" tIns="0" rIns="0" bIns="0" rtlCol="0" anchor="ctr"/>
          <a:lstStyle/>
          <a:p>
            <a:pPr>
              <a:lnSpc>
                <a:spcPct val="80000"/>
              </a:lnSpc>
            </a:pPr>
            <a:r>
              <a:rPr lang="en-US" sz="9600" b="1" dirty="0">
                <a:solidFill>
                  <a:srgbClr val="0984E3">
                    <a:alpha val="10000"/>
                  </a:srgbClr>
                </a:solidFill>
                <a:latin typeface="Oranienbaum" pitchFamily="34" charset="0"/>
                <a:ea typeface="Oranienbaum" pitchFamily="34" charset="-122"/>
                <a:cs typeface="Oranienbaum" pitchFamily="34" charset="-120"/>
              </a:rPr>
              <a:t>04</a:t>
            </a:r>
            <a:endParaRPr lang="en-US" sz="1600" dirty="0"/>
          </a:p>
        </p:txBody>
      </p:sp>
      <p:sp>
        <p:nvSpPr>
          <p:cNvPr id="3" name="Text 1"/>
          <p:cNvSpPr/>
          <p:nvPr/>
        </p:nvSpPr>
        <p:spPr>
          <a:xfrm>
            <a:off x="609600" y="3438525"/>
            <a:ext cx="11868150" cy="571500"/>
          </a:xfrm>
          <a:prstGeom prst="rect">
            <a:avLst/>
          </a:prstGeom>
          <a:noFill/>
          <a:ln/>
        </p:spPr>
        <p:txBody>
          <a:bodyPr wrap="square" lIns="0" tIns="0" rIns="0" bIns="0" rtlCol="0" anchor="ctr"/>
          <a:lstStyle/>
          <a:p>
            <a:pPr>
              <a:lnSpc>
                <a:spcPct val="80000"/>
              </a:lnSpc>
            </a:pPr>
            <a:r>
              <a:rPr lang="en-US" sz="4500" b="1" dirty="0">
                <a:solidFill>
                  <a:srgbClr val="2D3436"/>
                </a:solidFill>
                <a:latin typeface="Oranienbaum" pitchFamily="34" charset="0"/>
                <a:ea typeface="Oranienbaum" pitchFamily="34" charset="-122"/>
                <a:cs typeface="Oranienbaum" pitchFamily="34" charset="-120"/>
              </a:rPr>
              <a:t>Types of Games</a:t>
            </a:r>
            <a:endParaRPr lang="en-US" sz="1600" dirty="0"/>
          </a:p>
        </p:txBody>
      </p:sp>
      <p:sp>
        <p:nvSpPr>
          <p:cNvPr id="4" name="Shape 2"/>
          <p:cNvSpPr/>
          <p:nvPr/>
        </p:nvSpPr>
        <p:spPr>
          <a:xfrm>
            <a:off x="609600" y="4238625"/>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5" name="Text 3"/>
          <p:cNvSpPr/>
          <p:nvPr/>
        </p:nvSpPr>
        <p:spPr>
          <a:xfrm>
            <a:off x="609600" y="4486275"/>
            <a:ext cx="11696700" cy="304800"/>
          </a:xfrm>
          <a:prstGeom prst="rect">
            <a:avLst/>
          </a:prstGeom>
          <a:noFill/>
          <a:ln/>
        </p:spPr>
        <p:txBody>
          <a:bodyPr wrap="square" lIns="0" tIns="0" rIns="0" bIns="0" rtlCol="0" anchor="ctr"/>
          <a:lstStyle/>
          <a:p>
            <a:pPr>
              <a:lnSpc>
                <a:spcPct val="110000"/>
              </a:lnSpc>
            </a:pPr>
            <a:r>
              <a:rPr lang="en-US" sz="1800" dirty="0">
                <a:solidFill>
                  <a:srgbClr val="636E72"/>
                </a:solidFill>
                <a:latin typeface="Liter" pitchFamily="34" charset="0"/>
                <a:ea typeface="Liter" pitchFamily="34" charset="-122"/>
                <a:cs typeface="Liter" pitchFamily="34" charset="-120"/>
              </a:rPr>
              <a:t>Classifying strategic interactions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56231" y="356231"/>
            <a:ext cx="11550785" cy="213738"/>
          </a:xfrm>
          <a:prstGeom prst="rect">
            <a:avLst/>
          </a:prstGeom>
          <a:noFill/>
          <a:ln/>
        </p:spPr>
        <p:txBody>
          <a:bodyPr wrap="square" lIns="0" tIns="0" rIns="0" bIns="0" rtlCol="0" anchor="ctr"/>
          <a:lstStyle/>
          <a:p>
            <a:pPr>
              <a:lnSpc>
                <a:spcPct val="130000"/>
              </a:lnSpc>
            </a:pPr>
            <a:r>
              <a:rPr lang="en-US" sz="1122" b="1" spc="56" kern="0" dirty="0">
                <a:solidFill>
                  <a:srgbClr val="0984E3"/>
                </a:solidFill>
                <a:latin typeface="Quattrocento Sans" pitchFamily="34" charset="0"/>
                <a:ea typeface="Quattrocento Sans" pitchFamily="34" charset="-122"/>
                <a:cs typeface="Quattrocento Sans" pitchFamily="34" charset="-120"/>
              </a:rPr>
              <a:t>CLASSIFICATION FRAMEWORK</a:t>
            </a:r>
            <a:endParaRPr lang="en-US" sz="1600" dirty="0"/>
          </a:p>
        </p:txBody>
      </p:sp>
      <p:sp>
        <p:nvSpPr>
          <p:cNvPr id="3" name="Text 1"/>
          <p:cNvSpPr/>
          <p:nvPr/>
        </p:nvSpPr>
        <p:spPr>
          <a:xfrm>
            <a:off x="356231" y="641215"/>
            <a:ext cx="11693277" cy="427477"/>
          </a:xfrm>
          <a:prstGeom prst="rect">
            <a:avLst/>
          </a:prstGeom>
          <a:noFill/>
          <a:ln/>
        </p:spPr>
        <p:txBody>
          <a:bodyPr wrap="square" lIns="0" tIns="0" rIns="0" bIns="0" rtlCol="0" anchor="ctr"/>
          <a:lstStyle/>
          <a:p>
            <a:pPr>
              <a:lnSpc>
                <a:spcPct val="80000"/>
              </a:lnSpc>
            </a:pPr>
            <a:r>
              <a:rPr lang="en-US" sz="3366" b="1" dirty="0">
                <a:solidFill>
                  <a:srgbClr val="2D3436"/>
                </a:solidFill>
                <a:latin typeface="Oranienbaum" pitchFamily="34" charset="0"/>
                <a:ea typeface="Oranienbaum" pitchFamily="34" charset="-122"/>
                <a:cs typeface="Oranienbaum" pitchFamily="34" charset="-120"/>
              </a:rPr>
              <a:t>Game Classification Framework</a:t>
            </a:r>
            <a:endParaRPr lang="en-US" sz="1600" dirty="0"/>
          </a:p>
        </p:txBody>
      </p:sp>
      <p:sp>
        <p:nvSpPr>
          <p:cNvPr id="4" name="Shape 2"/>
          <p:cNvSpPr/>
          <p:nvPr/>
        </p:nvSpPr>
        <p:spPr>
          <a:xfrm>
            <a:off x="360684" y="1286884"/>
            <a:ext cx="3695895" cy="2627202"/>
          </a:xfrm>
          <a:custGeom>
            <a:avLst/>
            <a:gdLst/>
            <a:ahLst/>
            <a:cxn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prstDash val="solid"/>
          </a:ln>
        </p:spPr>
      </p:sp>
      <p:sp>
        <p:nvSpPr>
          <p:cNvPr id="5" name="Shape 3"/>
          <p:cNvSpPr/>
          <p:nvPr/>
        </p:nvSpPr>
        <p:spPr>
          <a:xfrm>
            <a:off x="543252" y="1469452"/>
            <a:ext cx="427477" cy="427477"/>
          </a:xfrm>
          <a:custGeom>
            <a:avLst/>
            <a:gdLst/>
            <a:ahLst/>
            <a:cxnLst/>
            <a:rect l="l" t="t" r="r" b="b"/>
            <a:pathLst>
              <a:path w="427477" h="427477">
                <a:moveTo>
                  <a:pt x="0" y="0"/>
                </a:moveTo>
                <a:lnTo>
                  <a:pt x="427477" y="0"/>
                </a:lnTo>
                <a:lnTo>
                  <a:pt x="427477" y="427477"/>
                </a:lnTo>
                <a:lnTo>
                  <a:pt x="0" y="427477"/>
                </a:lnTo>
                <a:lnTo>
                  <a:pt x="0" y="0"/>
                </a:lnTo>
                <a:close/>
              </a:path>
            </a:pathLst>
          </a:custGeom>
          <a:solidFill>
            <a:srgbClr val="0984E3"/>
          </a:solidFill>
          <a:ln/>
        </p:spPr>
      </p:sp>
      <p:sp>
        <p:nvSpPr>
          <p:cNvPr id="6" name="Shape 4"/>
          <p:cNvSpPr/>
          <p:nvPr/>
        </p:nvSpPr>
        <p:spPr>
          <a:xfrm>
            <a:off x="656801" y="1594133"/>
            <a:ext cx="200380" cy="178115"/>
          </a:xfrm>
          <a:custGeom>
            <a:avLst/>
            <a:gdLst/>
            <a:ahLst/>
            <a:cxnLst/>
            <a:rect l="l" t="t" r="r" b="b"/>
            <a:pathLst>
              <a:path w="200380" h="178115">
                <a:moveTo>
                  <a:pt x="93545" y="29640"/>
                </a:moveTo>
                <a:lnTo>
                  <a:pt x="52982" y="74725"/>
                </a:lnTo>
                <a:cubicBezTo>
                  <a:pt x="51382" y="76499"/>
                  <a:pt x="51452" y="79247"/>
                  <a:pt x="53156" y="80952"/>
                </a:cubicBezTo>
                <a:cubicBezTo>
                  <a:pt x="63767" y="91562"/>
                  <a:pt x="80987" y="91562"/>
                  <a:pt x="91597" y="80952"/>
                </a:cubicBezTo>
                <a:lnTo>
                  <a:pt x="102660" y="69889"/>
                </a:lnTo>
                <a:cubicBezTo>
                  <a:pt x="104121" y="68428"/>
                  <a:pt x="105965" y="67628"/>
                  <a:pt x="107843" y="67489"/>
                </a:cubicBezTo>
                <a:cubicBezTo>
                  <a:pt x="110209" y="67280"/>
                  <a:pt x="112644" y="68080"/>
                  <a:pt x="114453" y="69889"/>
                </a:cubicBezTo>
                <a:lnTo>
                  <a:pt x="175889" y="130804"/>
                </a:lnTo>
                <a:lnTo>
                  <a:pt x="200380" y="111322"/>
                </a:lnTo>
                <a:lnTo>
                  <a:pt x="200380" y="11132"/>
                </a:lnTo>
                <a:lnTo>
                  <a:pt x="161417" y="33397"/>
                </a:lnTo>
                <a:lnTo>
                  <a:pt x="153138" y="27865"/>
                </a:lnTo>
                <a:cubicBezTo>
                  <a:pt x="147641" y="24213"/>
                  <a:pt x="141205" y="22264"/>
                  <a:pt x="134595" y="22264"/>
                </a:cubicBezTo>
                <a:lnTo>
                  <a:pt x="110105" y="22264"/>
                </a:lnTo>
                <a:cubicBezTo>
                  <a:pt x="109722" y="22264"/>
                  <a:pt x="109304" y="22264"/>
                  <a:pt x="108922" y="22299"/>
                </a:cubicBezTo>
                <a:cubicBezTo>
                  <a:pt x="103043" y="22612"/>
                  <a:pt x="97511" y="25256"/>
                  <a:pt x="93545" y="29640"/>
                </a:cubicBezTo>
                <a:close/>
                <a:moveTo>
                  <a:pt x="40563" y="63558"/>
                </a:moveTo>
                <a:lnTo>
                  <a:pt x="77717" y="22264"/>
                </a:lnTo>
                <a:lnTo>
                  <a:pt x="63941" y="22264"/>
                </a:lnTo>
                <a:cubicBezTo>
                  <a:pt x="55070" y="22264"/>
                  <a:pt x="46581" y="25778"/>
                  <a:pt x="40319" y="32040"/>
                </a:cubicBezTo>
                <a:lnTo>
                  <a:pt x="38963" y="33397"/>
                </a:lnTo>
                <a:lnTo>
                  <a:pt x="0" y="11132"/>
                </a:lnTo>
                <a:lnTo>
                  <a:pt x="0" y="111322"/>
                </a:lnTo>
                <a:lnTo>
                  <a:pt x="54409" y="156651"/>
                </a:lnTo>
                <a:cubicBezTo>
                  <a:pt x="62410" y="163330"/>
                  <a:pt x="72499" y="166983"/>
                  <a:pt x="82900" y="166983"/>
                </a:cubicBezTo>
                <a:lnTo>
                  <a:pt x="88362" y="166983"/>
                </a:lnTo>
                <a:lnTo>
                  <a:pt x="85927" y="164548"/>
                </a:lnTo>
                <a:cubicBezTo>
                  <a:pt x="82657" y="161278"/>
                  <a:pt x="82657" y="155990"/>
                  <a:pt x="85927" y="152755"/>
                </a:cubicBezTo>
                <a:cubicBezTo>
                  <a:pt x="89197" y="149520"/>
                  <a:pt x="94485" y="149485"/>
                  <a:pt x="97720" y="152755"/>
                </a:cubicBezTo>
                <a:lnTo>
                  <a:pt x="111983" y="167018"/>
                </a:lnTo>
                <a:lnTo>
                  <a:pt x="115114" y="167018"/>
                </a:lnTo>
                <a:cubicBezTo>
                  <a:pt x="121759" y="167018"/>
                  <a:pt x="128264" y="165522"/>
                  <a:pt x="134178" y="162739"/>
                </a:cubicBezTo>
                <a:lnTo>
                  <a:pt x="124890" y="153416"/>
                </a:lnTo>
                <a:cubicBezTo>
                  <a:pt x="121619" y="150146"/>
                  <a:pt x="121619" y="144858"/>
                  <a:pt x="124890" y="141623"/>
                </a:cubicBezTo>
                <a:cubicBezTo>
                  <a:pt x="128160" y="138387"/>
                  <a:pt x="133447" y="138353"/>
                  <a:pt x="136683" y="141623"/>
                </a:cubicBezTo>
                <a:lnTo>
                  <a:pt x="147815" y="152755"/>
                </a:lnTo>
                <a:lnTo>
                  <a:pt x="153903" y="146667"/>
                </a:lnTo>
                <a:cubicBezTo>
                  <a:pt x="156999" y="143571"/>
                  <a:pt x="157903" y="139083"/>
                  <a:pt x="156547" y="135152"/>
                </a:cubicBezTo>
                <a:lnTo>
                  <a:pt x="108574" y="87562"/>
                </a:lnTo>
                <a:lnTo>
                  <a:pt x="103390" y="92745"/>
                </a:lnTo>
                <a:cubicBezTo>
                  <a:pt x="86240" y="109896"/>
                  <a:pt x="58479" y="109896"/>
                  <a:pt x="41328" y="92745"/>
                </a:cubicBezTo>
                <a:cubicBezTo>
                  <a:pt x="33327" y="84744"/>
                  <a:pt x="33014" y="71907"/>
                  <a:pt x="40563" y="63523"/>
                </a:cubicBezTo>
                <a:close/>
              </a:path>
            </a:pathLst>
          </a:custGeom>
          <a:solidFill>
            <a:srgbClr val="FFFFFF"/>
          </a:solidFill>
          <a:ln/>
        </p:spPr>
      </p:sp>
      <p:sp>
        <p:nvSpPr>
          <p:cNvPr id="7" name="Text 5"/>
          <p:cNvSpPr/>
          <p:nvPr/>
        </p:nvSpPr>
        <p:spPr>
          <a:xfrm>
            <a:off x="1077598" y="1558510"/>
            <a:ext cx="2342218" cy="249362"/>
          </a:xfrm>
          <a:prstGeom prst="rect">
            <a:avLst/>
          </a:prstGeom>
          <a:noFill/>
          <a:ln/>
        </p:spPr>
        <p:txBody>
          <a:bodyPr wrap="square" lIns="0" tIns="0" rIns="0" bIns="0" rtlCol="0" anchor="ctr"/>
          <a:lstStyle/>
          <a:p>
            <a:pPr>
              <a:lnSpc>
                <a:spcPct val="120000"/>
              </a:lnSpc>
            </a:pPr>
            <a:r>
              <a:rPr lang="en-US" sz="1402" b="1" dirty="0">
                <a:solidFill>
                  <a:srgbClr val="2D3436"/>
                </a:solidFill>
                <a:latin typeface="Oranienbaum" pitchFamily="34" charset="0"/>
                <a:ea typeface="Oranienbaum" pitchFamily="34" charset="-122"/>
                <a:cs typeface="Oranienbaum" pitchFamily="34" charset="-120"/>
              </a:rPr>
              <a:t>Cooperative vs Non-Cooperative</a:t>
            </a:r>
            <a:endParaRPr lang="en-US" sz="1600" dirty="0"/>
          </a:p>
        </p:txBody>
      </p:sp>
      <p:sp>
        <p:nvSpPr>
          <p:cNvPr id="8" name="Text 6"/>
          <p:cNvSpPr/>
          <p:nvPr/>
        </p:nvSpPr>
        <p:spPr>
          <a:xfrm>
            <a:off x="543252" y="2003798"/>
            <a:ext cx="3402004" cy="694650"/>
          </a:xfrm>
          <a:prstGeom prst="rect">
            <a:avLst/>
          </a:prstGeom>
          <a:noFill/>
          <a:ln/>
        </p:spPr>
        <p:txBody>
          <a:bodyPr wrap="square" lIns="0" tIns="0" rIns="0" bIns="0" rtlCol="0" anchor="ctr"/>
          <a:lstStyle/>
          <a:p>
            <a:pPr>
              <a:lnSpc>
                <a:spcPct val="140000"/>
              </a:lnSpc>
            </a:pPr>
            <a:r>
              <a:rPr lang="en-US" sz="1122" b="1" dirty="0">
                <a:solidFill>
                  <a:srgbClr val="1E272E"/>
                </a:solidFill>
                <a:latin typeface="Quattrocento Sans" pitchFamily="34" charset="0"/>
                <a:ea typeface="Quattrocento Sans" pitchFamily="34" charset="-122"/>
                <a:cs typeface="Quattrocento Sans" pitchFamily="34" charset="-120"/>
              </a:rPr>
              <a:t>Cooperative games</a:t>
            </a:r>
            <a:pPr>
              <a:lnSpc>
                <a:spcPct val="140000"/>
              </a:lnSpc>
            </a:pPr>
            <a:r>
              <a:rPr lang="en-US" sz="1122" dirty="0">
                <a:solidFill>
                  <a:srgbClr val="1E272E"/>
                </a:solidFill>
                <a:latin typeface="Quattrocento Sans" pitchFamily="34" charset="0"/>
                <a:ea typeface="Quattrocento Sans" pitchFamily="34" charset="-122"/>
                <a:cs typeface="Quattrocento Sans" pitchFamily="34" charset="-120"/>
              </a:rPr>
              <a:t> allow binding agreements and coalition formation. Players work together to maximize collective payoff, then divide the gains.</a:t>
            </a:r>
            <a:endParaRPr lang="en-US" sz="1600" dirty="0"/>
          </a:p>
        </p:txBody>
      </p:sp>
      <p:sp>
        <p:nvSpPr>
          <p:cNvPr id="9" name="Text 7"/>
          <p:cNvSpPr/>
          <p:nvPr/>
        </p:nvSpPr>
        <p:spPr>
          <a:xfrm>
            <a:off x="543252" y="2805318"/>
            <a:ext cx="3402004" cy="926200"/>
          </a:xfrm>
          <a:prstGeom prst="rect">
            <a:avLst/>
          </a:prstGeom>
          <a:noFill/>
          <a:ln/>
        </p:spPr>
        <p:txBody>
          <a:bodyPr wrap="square" lIns="0" tIns="0" rIns="0" bIns="0" rtlCol="0" anchor="ctr"/>
          <a:lstStyle/>
          <a:p>
            <a:pPr>
              <a:lnSpc>
                <a:spcPct val="140000"/>
              </a:lnSpc>
            </a:pPr>
            <a:r>
              <a:rPr lang="en-US" sz="1122" b="1" dirty="0">
                <a:solidFill>
                  <a:srgbClr val="636E72"/>
                </a:solidFill>
                <a:latin typeface="Quattrocento Sans" pitchFamily="34" charset="0"/>
                <a:ea typeface="Quattrocento Sans" pitchFamily="34" charset="-122"/>
                <a:cs typeface="Quattrocento Sans" pitchFamily="34" charset="-120"/>
              </a:rPr>
              <a:t>Non-cooperative games</a:t>
            </a:r>
            <a:pPr>
              <a:lnSpc>
                <a:spcPct val="140000"/>
              </a:lnSpc>
            </a:pPr>
            <a:r>
              <a:rPr lang="en-US" sz="1122" dirty="0">
                <a:solidFill>
                  <a:srgbClr val="636E72"/>
                </a:solidFill>
                <a:latin typeface="Quattrocento Sans" pitchFamily="34" charset="0"/>
                <a:ea typeface="Quattrocento Sans" pitchFamily="34" charset="-122"/>
                <a:cs typeface="Quattrocento Sans" pitchFamily="34" charset="-120"/>
              </a:rPr>
              <a:t> assume independent decision-making without enforceable agreements. Each player pursues self-interest through strategic interaction.</a:t>
            </a:r>
            <a:endParaRPr lang="en-US" sz="1600" dirty="0"/>
          </a:p>
        </p:txBody>
      </p:sp>
      <p:sp>
        <p:nvSpPr>
          <p:cNvPr id="10" name="Shape 8"/>
          <p:cNvSpPr/>
          <p:nvPr/>
        </p:nvSpPr>
        <p:spPr>
          <a:xfrm>
            <a:off x="4246174" y="1286884"/>
            <a:ext cx="3695895" cy="2627202"/>
          </a:xfrm>
          <a:custGeom>
            <a:avLst/>
            <a:gdLst/>
            <a:ahLst/>
            <a:cxn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prstDash val="solid"/>
          </a:ln>
        </p:spPr>
      </p:sp>
      <p:sp>
        <p:nvSpPr>
          <p:cNvPr id="11" name="Shape 9"/>
          <p:cNvSpPr/>
          <p:nvPr/>
        </p:nvSpPr>
        <p:spPr>
          <a:xfrm>
            <a:off x="4428742" y="1469452"/>
            <a:ext cx="427477" cy="427477"/>
          </a:xfrm>
          <a:custGeom>
            <a:avLst/>
            <a:gdLst/>
            <a:ahLst/>
            <a:cxnLst/>
            <a:rect l="l" t="t" r="r" b="b"/>
            <a:pathLst>
              <a:path w="427477" h="427477">
                <a:moveTo>
                  <a:pt x="0" y="0"/>
                </a:moveTo>
                <a:lnTo>
                  <a:pt x="427477" y="0"/>
                </a:lnTo>
                <a:lnTo>
                  <a:pt x="427477" y="427477"/>
                </a:lnTo>
                <a:lnTo>
                  <a:pt x="0" y="427477"/>
                </a:lnTo>
                <a:lnTo>
                  <a:pt x="0" y="0"/>
                </a:lnTo>
                <a:close/>
              </a:path>
            </a:pathLst>
          </a:custGeom>
          <a:solidFill>
            <a:srgbClr val="0984E3"/>
          </a:solidFill>
          <a:ln/>
        </p:spPr>
      </p:sp>
      <p:sp>
        <p:nvSpPr>
          <p:cNvPr id="12" name="Shape 10"/>
          <p:cNvSpPr/>
          <p:nvPr/>
        </p:nvSpPr>
        <p:spPr>
          <a:xfrm>
            <a:off x="4542291" y="1594133"/>
            <a:ext cx="200380" cy="178115"/>
          </a:xfrm>
          <a:custGeom>
            <a:avLst/>
            <a:gdLst/>
            <a:ahLst/>
            <a:cxnLst/>
            <a:rect l="l" t="t" r="r" b="b"/>
            <a:pathLst>
              <a:path w="200380" h="178115">
                <a:moveTo>
                  <a:pt x="100190" y="11132"/>
                </a:moveTo>
                <a:cubicBezTo>
                  <a:pt x="72081" y="11132"/>
                  <a:pt x="49573" y="23934"/>
                  <a:pt x="33188" y="39171"/>
                </a:cubicBezTo>
                <a:cubicBezTo>
                  <a:pt x="16907" y="54304"/>
                  <a:pt x="6018" y="72359"/>
                  <a:pt x="835" y="84779"/>
                </a:cubicBezTo>
                <a:cubicBezTo>
                  <a:pt x="-313" y="87527"/>
                  <a:pt x="-313" y="90588"/>
                  <a:pt x="835" y="93337"/>
                </a:cubicBezTo>
                <a:cubicBezTo>
                  <a:pt x="6018" y="105756"/>
                  <a:pt x="16907" y="123846"/>
                  <a:pt x="33188" y="138944"/>
                </a:cubicBezTo>
                <a:cubicBezTo>
                  <a:pt x="49573" y="154146"/>
                  <a:pt x="72081" y="166983"/>
                  <a:pt x="100190" y="166983"/>
                </a:cubicBezTo>
                <a:cubicBezTo>
                  <a:pt x="128299" y="166983"/>
                  <a:pt x="150807" y="154181"/>
                  <a:pt x="167192" y="138944"/>
                </a:cubicBezTo>
                <a:cubicBezTo>
                  <a:pt x="183473" y="123811"/>
                  <a:pt x="194361" y="105756"/>
                  <a:pt x="199545" y="93337"/>
                </a:cubicBezTo>
                <a:cubicBezTo>
                  <a:pt x="200693" y="90588"/>
                  <a:pt x="200693" y="87527"/>
                  <a:pt x="199545" y="84779"/>
                </a:cubicBezTo>
                <a:cubicBezTo>
                  <a:pt x="194361" y="72359"/>
                  <a:pt x="183473" y="54270"/>
                  <a:pt x="167192" y="39171"/>
                </a:cubicBezTo>
                <a:cubicBezTo>
                  <a:pt x="150807" y="23969"/>
                  <a:pt x="128299" y="11132"/>
                  <a:pt x="100190" y="11132"/>
                </a:cubicBezTo>
                <a:close/>
                <a:moveTo>
                  <a:pt x="50095" y="89058"/>
                </a:moveTo>
                <a:cubicBezTo>
                  <a:pt x="50095" y="61410"/>
                  <a:pt x="72542" y="38963"/>
                  <a:pt x="100190" y="38963"/>
                </a:cubicBezTo>
                <a:cubicBezTo>
                  <a:pt x="127838" y="38963"/>
                  <a:pt x="150285" y="61410"/>
                  <a:pt x="150285" y="89058"/>
                </a:cubicBezTo>
                <a:cubicBezTo>
                  <a:pt x="150285" y="116706"/>
                  <a:pt x="127838" y="139153"/>
                  <a:pt x="100190" y="139153"/>
                </a:cubicBezTo>
                <a:cubicBezTo>
                  <a:pt x="72542" y="139153"/>
                  <a:pt x="50095" y="116706"/>
                  <a:pt x="50095" y="89058"/>
                </a:cubicBezTo>
                <a:close/>
                <a:moveTo>
                  <a:pt x="100190" y="66793"/>
                </a:moveTo>
                <a:cubicBezTo>
                  <a:pt x="100190" y="79074"/>
                  <a:pt x="90206" y="89058"/>
                  <a:pt x="77925" y="89058"/>
                </a:cubicBezTo>
                <a:cubicBezTo>
                  <a:pt x="73925" y="89058"/>
                  <a:pt x="70168" y="88014"/>
                  <a:pt x="66898" y="86136"/>
                </a:cubicBezTo>
                <a:cubicBezTo>
                  <a:pt x="66550" y="89927"/>
                  <a:pt x="66863" y="93824"/>
                  <a:pt x="67907" y="97685"/>
                </a:cubicBezTo>
                <a:cubicBezTo>
                  <a:pt x="72672" y="115497"/>
                  <a:pt x="91006" y="126072"/>
                  <a:pt x="108817" y="121306"/>
                </a:cubicBezTo>
                <a:cubicBezTo>
                  <a:pt x="126629" y="116540"/>
                  <a:pt x="137205" y="98207"/>
                  <a:pt x="132439" y="80395"/>
                </a:cubicBezTo>
                <a:cubicBezTo>
                  <a:pt x="128194" y="64497"/>
                  <a:pt x="113131" y="54374"/>
                  <a:pt x="97268" y="55765"/>
                </a:cubicBezTo>
                <a:cubicBezTo>
                  <a:pt x="99111" y="59001"/>
                  <a:pt x="100190" y="62758"/>
                  <a:pt x="100190" y="66793"/>
                </a:cubicBezTo>
                <a:close/>
              </a:path>
            </a:pathLst>
          </a:custGeom>
          <a:solidFill>
            <a:srgbClr val="FFFFFF"/>
          </a:solidFill>
          <a:ln/>
        </p:spPr>
      </p:sp>
      <p:sp>
        <p:nvSpPr>
          <p:cNvPr id="13" name="Text 11"/>
          <p:cNvSpPr/>
          <p:nvPr/>
        </p:nvSpPr>
        <p:spPr>
          <a:xfrm>
            <a:off x="4963089" y="1558510"/>
            <a:ext cx="2431275" cy="249362"/>
          </a:xfrm>
          <a:prstGeom prst="rect">
            <a:avLst/>
          </a:prstGeom>
          <a:noFill/>
          <a:ln/>
        </p:spPr>
        <p:txBody>
          <a:bodyPr wrap="square" lIns="0" tIns="0" rIns="0" bIns="0" rtlCol="0" anchor="ctr"/>
          <a:lstStyle/>
          <a:p>
            <a:pPr>
              <a:lnSpc>
                <a:spcPct val="120000"/>
              </a:lnSpc>
            </a:pPr>
            <a:r>
              <a:rPr lang="en-US" sz="1402" b="1" dirty="0">
                <a:solidFill>
                  <a:srgbClr val="2D3436"/>
                </a:solidFill>
                <a:latin typeface="Oranienbaum" pitchFamily="34" charset="0"/>
                <a:ea typeface="Oranienbaum" pitchFamily="34" charset="-122"/>
                <a:cs typeface="Oranienbaum" pitchFamily="34" charset="-120"/>
              </a:rPr>
              <a:t>Perfect vs Imperfect Information</a:t>
            </a:r>
            <a:endParaRPr lang="en-US" sz="1600" dirty="0"/>
          </a:p>
        </p:txBody>
      </p:sp>
      <p:sp>
        <p:nvSpPr>
          <p:cNvPr id="14" name="Text 12"/>
          <p:cNvSpPr/>
          <p:nvPr/>
        </p:nvSpPr>
        <p:spPr>
          <a:xfrm>
            <a:off x="4428742" y="2003798"/>
            <a:ext cx="3402004" cy="694650"/>
          </a:xfrm>
          <a:prstGeom prst="rect">
            <a:avLst/>
          </a:prstGeom>
          <a:noFill/>
          <a:ln/>
        </p:spPr>
        <p:txBody>
          <a:bodyPr wrap="square" lIns="0" tIns="0" rIns="0" bIns="0" rtlCol="0" anchor="ctr"/>
          <a:lstStyle/>
          <a:p>
            <a:pPr>
              <a:lnSpc>
                <a:spcPct val="140000"/>
              </a:lnSpc>
            </a:pPr>
            <a:r>
              <a:rPr lang="en-US" sz="1122" b="1" dirty="0">
                <a:solidFill>
                  <a:srgbClr val="1E272E"/>
                </a:solidFill>
                <a:latin typeface="Quattrocento Sans" pitchFamily="34" charset="0"/>
                <a:ea typeface="Quattrocento Sans" pitchFamily="34" charset="-122"/>
                <a:cs typeface="Quattrocento Sans" pitchFamily="34" charset="-120"/>
              </a:rPr>
              <a:t>Perfect information games</a:t>
            </a:r>
            <a:pPr>
              <a:lnSpc>
                <a:spcPct val="140000"/>
              </a:lnSpc>
            </a:pPr>
            <a:r>
              <a:rPr lang="en-US" sz="1122" dirty="0">
                <a:solidFill>
                  <a:srgbClr val="1E272E"/>
                </a:solidFill>
                <a:latin typeface="Quattrocento Sans" pitchFamily="34" charset="0"/>
                <a:ea typeface="Quattrocento Sans" pitchFamily="34" charset="-122"/>
                <a:cs typeface="Quattrocento Sans" pitchFamily="34" charset="-120"/>
              </a:rPr>
              <a:t> (e.g., chess) allow players to observe all previous moves. Each decision is made with complete knowledge of the game's history.</a:t>
            </a:r>
            <a:endParaRPr lang="en-US" sz="1600" dirty="0"/>
          </a:p>
        </p:txBody>
      </p:sp>
      <p:sp>
        <p:nvSpPr>
          <p:cNvPr id="15" name="Text 13"/>
          <p:cNvSpPr/>
          <p:nvPr/>
        </p:nvSpPr>
        <p:spPr>
          <a:xfrm>
            <a:off x="4428742" y="2805318"/>
            <a:ext cx="3402004" cy="694650"/>
          </a:xfrm>
          <a:prstGeom prst="rect">
            <a:avLst/>
          </a:prstGeom>
          <a:noFill/>
          <a:ln/>
        </p:spPr>
        <p:txBody>
          <a:bodyPr wrap="square" lIns="0" tIns="0" rIns="0" bIns="0" rtlCol="0" anchor="ctr"/>
          <a:lstStyle/>
          <a:p>
            <a:pPr>
              <a:lnSpc>
                <a:spcPct val="140000"/>
              </a:lnSpc>
            </a:pPr>
            <a:r>
              <a:rPr lang="en-US" sz="1122" b="1" dirty="0">
                <a:solidFill>
                  <a:srgbClr val="636E72"/>
                </a:solidFill>
                <a:latin typeface="Quattrocento Sans" pitchFamily="34" charset="0"/>
                <a:ea typeface="Quattrocento Sans" pitchFamily="34" charset="-122"/>
                <a:cs typeface="Quattrocento Sans" pitchFamily="34" charset="-120"/>
              </a:rPr>
              <a:t>Imperfect information games</a:t>
            </a:r>
            <a:pPr>
              <a:lnSpc>
                <a:spcPct val="140000"/>
              </a:lnSpc>
            </a:pPr>
            <a:r>
              <a:rPr lang="en-US" sz="1122" dirty="0">
                <a:solidFill>
                  <a:srgbClr val="636E72"/>
                </a:solidFill>
                <a:latin typeface="Quattrocento Sans" pitchFamily="34" charset="0"/>
                <a:ea typeface="Quattrocento Sans" pitchFamily="34" charset="-122"/>
                <a:cs typeface="Quattrocento Sans" pitchFamily="34" charset="-120"/>
              </a:rPr>
              <a:t> (e.g., poker) involve hidden information. Players must make decisions without knowing opponents' cards or actions.</a:t>
            </a:r>
            <a:endParaRPr lang="en-US" sz="1600" dirty="0"/>
          </a:p>
        </p:txBody>
      </p:sp>
      <p:sp>
        <p:nvSpPr>
          <p:cNvPr id="16" name="Shape 14"/>
          <p:cNvSpPr/>
          <p:nvPr/>
        </p:nvSpPr>
        <p:spPr>
          <a:xfrm>
            <a:off x="8131734" y="1286884"/>
            <a:ext cx="3695895" cy="2627202"/>
          </a:xfrm>
          <a:custGeom>
            <a:avLst/>
            <a:gdLst/>
            <a:ahLst/>
            <a:cxn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prstDash val="solid"/>
          </a:ln>
        </p:spPr>
      </p:sp>
      <p:sp>
        <p:nvSpPr>
          <p:cNvPr id="17" name="Shape 15"/>
          <p:cNvSpPr/>
          <p:nvPr/>
        </p:nvSpPr>
        <p:spPr>
          <a:xfrm>
            <a:off x="8314302" y="1469452"/>
            <a:ext cx="427477" cy="427477"/>
          </a:xfrm>
          <a:custGeom>
            <a:avLst/>
            <a:gdLst/>
            <a:ahLst/>
            <a:cxnLst/>
            <a:rect l="l" t="t" r="r" b="b"/>
            <a:pathLst>
              <a:path w="427477" h="427477">
                <a:moveTo>
                  <a:pt x="0" y="0"/>
                </a:moveTo>
                <a:lnTo>
                  <a:pt x="427477" y="0"/>
                </a:lnTo>
                <a:lnTo>
                  <a:pt x="427477" y="427477"/>
                </a:lnTo>
                <a:lnTo>
                  <a:pt x="0" y="427477"/>
                </a:lnTo>
                <a:lnTo>
                  <a:pt x="0" y="0"/>
                </a:lnTo>
                <a:close/>
              </a:path>
            </a:pathLst>
          </a:custGeom>
          <a:solidFill>
            <a:srgbClr val="0984E3"/>
          </a:solidFill>
          <a:ln/>
        </p:spPr>
      </p:sp>
      <p:sp>
        <p:nvSpPr>
          <p:cNvPr id="18" name="Shape 16"/>
          <p:cNvSpPr/>
          <p:nvPr/>
        </p:nvSpPr>
        <p:spPr>
          <a:xfrm>
            <a:off x="8438983" y="1594133"/>
            <a:ext cx="178115" cy="178115"/>
          </a:xfrm>
          <a:custGeom>
            <a:avLst/>
            <a:gdLst/>
            <a:ahLst/>
            <a:cxnLst/>
            <a:rect l="l" t="t" r="r" b="b"/>
            <a:pathLst>
              <a:path w="178115" h="178115">
                <a:moveTo>
                  <a:pt x="89058" y="0"/>
                </a:moveTo>
                <a:cubicBezTo>
                  <a:pt x="138210" y="0"/>
                  <a:pt x="178115" y="39905"/>
                  <a:pt x="178115" y="89058"/>
                </a:cubicBezTo>
                <a:cubicBezTo>
                  <a:pt x="178115" y="138210"/>
                  <a:pt x="138210" y="178115"/>
                  <a:pt x="89058" y="178115"/>
                </a:cubicBezTo>
                <a:cubicBezTo>
                  <a:pt x="39905" y="178115"/>
                  <a:pt x="0" y="138210"/>
                  <a:pt x="0" y="89058"/>
                </a:cubicBezTo>
                <a:cubicBezTo>
                  <a:pt x="0" y="39905"/>
                  <a:pt x="39905" y="0"/>
                  <a:pt x="89058" y="0"/>
                </a:cubicBezTo>
                <a:close/>
                <a:moveTo>
                  <a:pt x="80709" y="41746"/>
                </a:moveTo>
                <a:lnTo>
                  <a:pt x="80709" y="89058"/>
                </a:lnTo>
                <a:cubicBezTo>
                  <a:pt x="80709" y="91841"/>
                  <a:pt x="82100" y="94450"/>
                  <a:pt x="84431" y="96015"/>
                </a:cubicBezTo>
                <a:lnTo>
                  <a:pt x="117828" y="118280"/>
                </a:lnTo>
                <a:cubicBezTo>
                  <a:pt x="121654" y="120854"/>
                  <a:pt x="126838" y="119810"/>
                  <a:pt x="129412" y="115949"/>
                </a:cubicBezTo>
                <a:cubicBezTo>
                  <a:pt x="131986" y="112087"/>
                  <a:pt x="130943" y="106939"/>
                  <a:pt x="127081" y="104364"/>
                </a:cubicBezTo>
                <a:lnTo>
                  <a:pt x="97407" y="84605"/>
                </a:lnTo>
                <a:lnTo>
                  <a:pt x="97407" y="41746"/>
                </a:lnTo>
                <a:cubicBezTo>
                  <a:pt x="97407" y="37119"/>
                  <a:pt x="93685" y="33397"/>
                  <a:pt x="89058" y="33397"/>
                </a:cubicBezTo>
                <a:cubicBezTo>
                  <a:pt x="84431" y="33397"/>
                  <a:pt x="80709" y="37119"/>
                  <a:pt x="80709" y="41746"/>
                </a:cubicBezTo>
                <a:close/>
              </a:path>
            </a:pathLst>
          </a:custGeom>
          <a:solidFill>
            <a:srgbClr val="FFFFFF"/>
          </a:solidFill>
          <a:ln/>
        </p:spPr>
      </p:sp>
      <p:sp>
        <p:nvSpPr>
          <p:cNvPr id="19" name="Text 17"/>
          <p:cNvSpPr/>
          <p:nvPr/>
        </p:nvSpPr>
        <p:spPr>
          <a:xfrm>
            <a:off x="8848648" y="1558510"/>
            <a:ext cx="2039421" cy="249362"/>
          </a:xfrm>
          <a:prstGeom prst="rect">
            <a:avLst/>
          </a:prstGeom>
          <a:noFill/>
          <a:ln/>
        </p:spPr>
        <p:txBody>
          <a:bodyPr wrap="square" lIns="0" tIns="0" rIns="0" bIns="0" rtlCol="0" anchor="ctr"/>
          <a:lstStyle/>
          <a:p>
            <a:pPr>
              <a:lnSpc>
                <a:spcPct val="120000"/>
              </a:lnSpc>
            </a:pPr>
            <a:r>
              <a:rPr lang="en-US" sz="1402" b="1" dirty="0">
                <a:solidFill>
                  <a:srgbClr val="2D3436"/>
                </a:solidFill>
                <a:latin typeface="Oranienbaum" pitchFamily="34" charset="0"/>
                <a:ea typeface="Oranienbaum" pitchFamily="34" charset="-122"/>
                <a:cs typeface="Oranienbaum" pitchFamily="34" charset="-120"/>
              </a:rPr>
              <a:t>Simultaneous vs Sequential</a:t>
            </a:r>
            <a:endParaRPr lang="en-US" sz="1600" dirty="0"/>
          </a:p>
        </p:txBody>
      </p:sp>
      <p:sp>
        <p:nvSpPr>
          <p:cNvPr id="20" name="Text 18"/>
          <p:cNvSpPr/>
          <p:nvPr/>
        </p:nvSpPr>
        <p:spPr>
          <a:xfrm>
            <a:off x="8314302" y="2003798"/>
            <a:ext cx="3402004" cy="694650"/>
          </a:xfrm>
          <a:prstGeom prst="rect">
            <a:avLst/>
          </a:prstGeom>
          <a:noFill/>
          <a:ln/>
        </p:spPr>
        <p:txBody>
          <a:bodyPr wrap="square" lIns="0" tIns="0" rIns="0" bIns="0" rtlCol="0" anchor="ctr"/>
          <a:lstStyle/>
          <a:p>
            <a:pPr>
              <a:lnSpc>
                <a:spcPct val="140000"/>
              </a:lnSpc>
            </a:pPr>
            <a:r>
              <a:rPr lang="en-US" sz="1122" b="1" dirty="0">
                <a:solidFill>
                  <a:srgbClr val="1E272E"/>
                </a:solidFill>
                <a:latin typeface="Quattrocento Sans" pitchFamily="34" charset="0"/>
                <a:ea typeface="Quattrocento Sans" pitchFamily="34" charset="-122"/>
                <a:cs typeface="Quattrocento Sans" pitchFamily="34" charset="-120"/>
              </a:rPr>
              <a:t>Simultaneous games</a:t>
            </a:r>
            <a:pPr>
              <a:lnSpc>
                <a:spcPct val="140000"/>
              </a:lnSpc>
            </a:pPr>
            <a:r>
              <a:rPr lang="en-US" sz="1122" dirty="0">
                <a:solidFill>
                  <a:srgbClr val="1E272E"/>
                </a:solidFill>
                <a:latin typeface="Quattrocento Sans" pitchFamily="34" charset="0"/>
                <a:ea typeface="Quattrocento Sans" pitchFamily="34" charset="-122"/>
                <a:cs typeface="Quattrocento Sans" pitchFamily="34" charset="-120"/>
              </a:rPr>
              <a:t> require players to choose strategies without knowing others' choices. Represented by payoff matrices.</a:t>
            </a:r>
            <a:endParaRPr lang="en-US" sz="1600" dirty="0"/>
          </a:p>
        </p:txBody>
      </p:sp>
      <p:sp>
        <p:nvSpPr>
          <p:cNvPr id="21" name="Text 19"/>
          <p:cNvSpPr/>
          <p:nvPr/>
        </p:nvSpPr>
        <p:spPr>
          <a:xfrm>
            <a:off x="8314302" y="2805318"/>
            <a:ext cx="3402004" cy="694650"/>
          </a:xfrm>
          <a:prstGeom prst="rect">
            <a:avLst/>
          </a:prstGeom>
          <a:noFill/>
          <a:ln/>
        </p:spPr>
        <p:txBody>
          <a:bodyPr wrap="square" lIns="0" tIns="0" rIns="0" bIns="0" rtlCol="0" anchor="ctr"/>
          <a:lstStyle/>
          <a:p>
            <a:pPr>
              <a:lnSpc>
                <a:spcPct val="140000"/>
              </a:lnSpc>
            </a:pPr>
            <a:r>
              <a:rPr lang="en-US" sz="1122" b="1" dirty="0">
                <a:solidFill>
                  <a:srgbClr val="636E72"/>
                </a:solidFill>
                <a:latin typeface="Quattrocento Sans" pitchFamily="34" charset="0"/>
                <a:ea typeface="Quattrocento Sans" pitchFamily="34" charset="-122"/>
                <a:cs typeface="Quattrocento Sans" pitchFamily="34" charset="-120"/>
              </a:rPr>
              <a:t>Sequential games</a:t>
            </a:r>
            <a:pPr>
              <a:lnSpc>
                <a:spcPct val="140000"/>
              </a:lnSpc>
            </a:pPr>
            <a:r>
              <a:rPr lang="en-US" sz="1122" dirty="0">
                <a:solidFill>
                  <a:srgbClr val="636E72"/>
                </a:solidFill>
                <a:latin typeface="Quattrocento Sans" pitchFamily="34" charset="0"/>
                <a:ea typeface="Quattrocento Sans" pitchFamily="34" charset="-122"/>
                <a:cs typeface="Quattrocento Sans" pitchFamily="34" charset="-120"/>
              </a:rPr>
              <a:t> involve turn-taking, with later players observing earlier moves. Analyzed using game trees and backward induction.</a:t>
            </a:r>
            <a:endParaRPr lang="en-US" sz="1600" dirty="0"/>
          </a:p>
        </p:txBody>
      </p:sp>
      <p:sp>
        <p:nvSpPr>
          <p:cNvPr id="22" name="Shape 20"/>
          <p:cNvSpPr/>
          <p:nvPr/>
        </p:nvSpPr>
        <p:spPr>
          <a:xfrm>
            <a:off x="360684" y="4101107"/>
            <a:ext cx="3695895" cy="2395652"/>
          </a:xfrm>
          <a:custGeom>
            <a:avLst/>
            <a:gdLst/>
            <a:ahLst/>
            <a:cxnLst/>
            <a:rect l="l" t="t" r="r" b="b"/>
            <a:pathLst>
              <a:path w="3695895" h="2395652">
                <a:moveTo>
                  <a:pt x="0" y="0"/>
                </a:moveTo>
                <a:lnTo>
                  <a:pt x="3695895" y="0"/>
                </a:lnTo>
                <a:lnTo>
                  <a:pt x="3695895" y="2395652"/>
                </a:lnTo>
                <a:lnTo>
                  <a:pt x="0" y="2395652"/>
                </a:lnTo>
                <a:lnTo>
                  <a:pt x="0" y="0"/>
                </a:lnTo>
                <a:close/>
              </a:path>
            </a:pathLst>
          </a:custGeom>
          <a:solidFill>
            <a:srgbClr val="FFFFFF"/>
          </a:solidFill>
          <a:ln w="12700">
            <a:solidFill>
              <a:srgbClr val="E0E0E0"/>
            </a:solidFill>
            <a:prstDash val="solid"/>
          </a:ln>
        </p:spPr>
      </p:sp>
      <p:sp>
        <p:nvSpPr>
          <p:cNvPr id="23" name="Shape 21"/>
          <p:cNvSpPr/>
          <p:nvPr/>
        </p:nvSpPr>
        <p:spPr>
          <a:xfrm>
            <a:off x="543252" y="4283676"/>
            <a:ext cx="427477" cy="427477"/>
          </a:xfrm>
          <a:custGeom>
            <a:avLst/>
            <a:gdLst/>
            <a:ahLst/>
            <a:cxnLst/>
            <a:rect l="l" t="t" r="r" b="b"/>
            <a:pathLst>
              <a:path w="427477" h="427477">
                <a:moveTo>
                  <a:pt x="0" y="0"/>
                </a:moveTo>
                <a:lnTo>
                  <a:pt x="427477" y="0"/>
                </a:lnTo>
                <a:lnTo>
                  <a:pt x="427477" y="427477"/>
                </a:lnTo>
                <a:lnTo>
                  <a:pt x="0" y="427477"/>
                </a:lnTo>
                <a:lnTo>
                  <a:pt x="0" y="0"/>
                </a:lnTo>
                <a:close/>
              </a:path>
            </a:pathLst>
          </a:custGeom>
          <a:solidFill>
            <a:srgbClr val="0984E3"/>
          </a:solidFill>
          <a:ln/>
        </p:spPr>
      </p:sp>
      <p:sp>
        <p:nvSpPr>
          <p:cNvPr id="24" name="Shape 22"/>
          <p:cNvSpPr/>
          <p:nvPr/>
        </p:nvSpPr>
        <p:spPr>
          <a:xfrm>
            <a:off x="645668" y="4408356"/>
            <a:ext cx="222644" cy="178115"/>
          </a:xfrm>
          <a:custGeom>
            <a:avLst/>
            <a:gdLst/>
            <a:ahLst/>
            <a:cxnLst/>
            <a:rect l="l" t="t" r="r" b="b"/>
            <a:pathLst>
              <a:path w="222644" h="178115">
                <a:moveTo>
                  <a:pt x="133587" y="11132"/>
                </a:moveTo>
                <a:lnTo>
                  <a:pt x="178115" y="11132"/>
                </a:lnTo>
                <a:cubicBezTo>
                  <a:pt x="184273" y="11132"/>
                  <a:pt x="189248" y="16107"/>
                  <a:pt x="189248" y="22264"/>
                </a:cubicBezTo>
                <a:cubicBezTo>
                  <a:pt x="189248" y="28422"/>
                  <a:pt x="184273" y="33397"/>
                  <a:pt x="178115" y="33397"/>
                </a:cubicBezTo>
                <a:lnTo>
                  <a:pt x="138596" y="33397"/>
                </a:lnTo>
                <a:cubicBezTo>
                  <a:pt x="136787" y="42372"/>
                  <a:pt x="130630" y="49782"/>
                  <a:pt x="122454" y="53330"/>
                </a:cubicBezTo>
                <a:lnTo>
                  <a:pt x="122454" y="155851"/>
                </a:lnTo>
                <a:lnTo>
                  <a:pt x="178115" y="155851"/>
                </a:lnTo>
                <a:cubicBezTo>
                  <a:pt x="184273" y="155851"/>
                  <a:pt x="189248" y="160826"/>
                  <a:pt x="189248" y="166983"/>
                </a:cubicBezTo>
                <a:cubicBezTo>
                  <a:pt x="189248" y="173141"/>
                  <a:pt x="184273" y="178115"/>
                  <a:pt x="178115" y="178115"/>
                </a:cubicBezTo>
                <a:lnTo>
                  <a:pt x="44529" y="178115"/>
                </a:lnTo>
                <a:cubicBezTo>
                  <a:pt x="38371" y="178115"/>
                  <a:pt x="33397" y="173141"/>
                  <a:pt x="33397" y="166983"/>
                </a:cubicBezTo>
                <a:cubicBezTo>
                  <a:pt x="33397" y="160826"/>
                  <a:pt x="38371" y="155851"/>
                  <a:pt x="44529" y="155851"/>
                </a:cubicBezTo>
                <a:lnTo>
                  <a:pt x="100190" y="155851"/>
                </a:lnTo>
                <a:lnTo>
                  <a:pt x="100190" y="53330"/>
                </a:lnTo>
                <a:cubicBezTo>
                  <a:pt x="92015" y="49747"/>
                  <a:pt x="85857" y="42337"/>
                  <a:pt x="84048" y="33397"/>
                </a:cubicBezTo>
                <a:lnTo>
                  <a:pt x="44529" y="33397"/>
                </a:lnTo>
                <a:cubicBezTo>
                  <a:pt x="38371" y="33397"/>
                  <a:pt x="33397" y="28422"/>
                  <a:pt x="33397" y="22264"/>
                </a:cubicBezTo>
                <a:cubicBezTo>
                  <a:pt x="33397" y="16107"/>
                  <a:pt x="38371" y="11132"/>
                  <a:pt x="44529" y="11132"/>
                </a:cubicBezTo>
                <a:lnTo>
                  <a:pt x="89058" y="11132"/>
                </a:lnTo>
                <a:cubicBezTo>
                  <a:pt x="94137" y="4383"/>
                  <a:pt x="102208" y="0"/>
                  <a:pt x="111322" y="0"/>
                </a:cubicBezTo>
                <a:cubicBezTo>
                  <a:pt x="120437" y="0"/>
                  <a:pt x="128507" y="4383"/>
                  <a:pt x="133587" y="11132"/>
                </a:cubicBezTo>
                <a:close/>
                <a:moveTo>
                  <a:pt x="152929" y="111322"/>
                </a:moveTo>
                <a:lnTo>
                  <a:pt x="203302" y="111322"/>
                </a:lnTo>
                <a:lnTo>
                  <a:pt x="178115" y="68115"/>
                </a:lnTo>
                <a:lnTo>
                  <a:pt x="152929" y="111322"/>
                </a:lnTo>
                <a:close/>
                <a:moveTo>
                  <a:pt x="178115" y="144719"/>
                </a:moveTo>
                <a:cubicBezTo>
                  <a:pt x="156234" y="144719"/>
                  <a:pt x="138039" y="132891"/>
                  <a:pt x="134282" y="117271"/>
                </a:cubicBezTo>
                <a:cubicBezTo>
                  <a:pt x="133378" y="113444"/>
                  <a:pt x="134630" y="109513"/>
                  <a:pt x="136613" y="106104"/>
                </a:cubicBezTo>
                <a:lnTo>
                  <a:pt x="169731" y="49330"/>
                </a:lnTo>
                <a:cubicBezTo>
                  <a:pt x="171471" y="46338"/>
                  <a:pt x="174671" y="44529"/>
                  <a:pt x="178115" y="44529"/>
                </a:cubicBezTo>
                <a:cubicBezTo>
                  <a:pt x="181559" y="44529"/>
                  <a:pt x="184760" y="46373"/>
                  <a:pt x="186499" y="49330"/>
                </a:cubicBezTo>
                <a:lnTo>
                  <a:pt x="219618" y="106104"/>
                </a:lnTo>
                <a:cubicBezTo>
                  <a:pt x="221601" y="109513"/>
                  <a:pt x="222853" y="113444"/>
                  <a:pt x="221949" y="117271"/>
                </a:cubicBezTo>
                <a:cubicBezTo>
                  <a:pt x="218191" y="132856"/>
                  <a:pt x="199997" y="144719"/>
                  <a:pt x="178115" y="144719"/>
                </a:cubicBezTo>
                <a:close/>
                <a:moveTo>
                  <a:pt x="44111" y="68115"/>
                </a:moveTo>
                <a:lnTo>
                  <a:pt x="18925" y="111322"/>
                </a:lnTo>
                <a:lnTo>
                  <a:pt x="69333" y="111322"/>
                </a:lnTo>
                <a:lnTo>
                  <a:pt x="44111" y="68115"/>
                </a:lnTo>
                <a:close/>
                <a:moveTo>
                  <a:pt x="313" y="117271"/>
                </a:moveTo>
                <a:cubicBezTo>
                  <a:pt x="-591" y="113444"/>
                  <a:pt x="661" y="109513"/>
                  <a:pt x="2644" y="106104"/>
                </a:cubicBezTo>
                <a:lnTo>
                  <a:pt x="35762" y="49330"/>
                </a:lnTo>
                <a:cubicBezTo>
                  <a:pt x="37502" y="46338"/>
                  <a:pt x="40702" y="44529"/>
                  <a:pt x="44146" y="44529"/>
                </a:cubicBezTo>
                <a:cubicBezTo>
                  <a:pt x="47590" y="44529"/>
                  <a:pt x="50791" y="46373"/>
                  <a:pt x="52530" y="49330"/>
                </a:cubicBezTo>
                <a:lnTo>
                  <a:pt x="85648" y="106104"/>
                </a:lnTo>
                <a:cubicBezTo>
                  <a:pt x="87631" y="109513"/>
                  <a:pt x="88884" y="113444"/>
                  <a:pt x="87979" y="117271"/>
                </a:cubicBezTo>
                <a:cubicBezTo>
                  <a:pt x="84222" y="132856"/>
                  <a:pt x="66028" y="144719"/>
                  <a:pt x="44146" y="144719"/>
                </a:cubicBezTo>
                <a:cubicBezTo>
                  <a:pt x="22264" y="144719"/>
                  <a:pt x="4070" y="132891"/>
                  <a:pt x="313" y="117271"/>
                </a:cubicBezTo>
                <a:close/>
              </a:path>
            </a:pathLst>
          </a:custGeom>
          <a:solidFill>
            <a:srgbClr val="FFFFFF"/>
          </a:solidFill>
          <a:ln/>
        </p:spPr>
      </p:sp>
      <p:sp>
        <p:nvSpPr>
          <p:cNvPr id="25" name="Text 23"/>
          <p:cNvSpPr/>
          <p:nvPr/>
        </p:nvSpPr>
        <p:spPr>
          <a:xfrm>
            <a:off x="1077598" y="4372733"/>
            <a:ext cx="1932552" cy="249362"/>
          </a:xfrm>
          <a:prstGeom prst="rect">
            <a:avLst/>
          </a:prstGeom>
          <a:noFill/>
          <a:ln/>
        </p:spPr>
        <p:txBody>
          <a:bodyPr wrap="square" lIns="0" tIns="0" rIns="0" bIns="0" rtlCol="0" anchor="ctr"/>
          <a:lstStyle/>
          <a:p>
            <a:pPr>
              <a:lnSpc>
                <a:spcPct val="120000"/>
              </a:lnSpc>
            </a:pPr>
            <a:r>
              <a:rPr lang="en-US" sz="1402" b="1" dirty="0">
                <a:solidFill>
                  <a:srgbClr val="2D3436"/>
                </a:solidFill>
                <a:latin typeface="Oranienbaum" pitchFamily="34" charset="0"/>
                <a:ea typeface="Oranienbaum" pitchFamily="34" charset="-122"/>
                <a:cs typeface="Oranienbaum" pitchFamily="34" charset="-120"/>
              </a:rPr>
              <a:t>Symmetric vs Asymmetric</a:t>
            </a:r>
            <a:endParaRPr lang="en-US" sz="1600" dirty="0"/>
          </a:p>
        </p:txBody>
      </p:sp>
      <p:sp>
        <p:nvSpPr>
          <p:cNvPr id="26" name="Text 24"/>
          <p:cNvSpPr/>
          <p:nvPr/>
        </p:nvSpPr>
        <p:spPr>
          <a:xfrm>
            <a:off x="543252" y="4818022"/>
            <a:ext cx="3402004" cy="694650"/>
          </a:xfrm>
          <a:prstGeom prst="rect">
            <a:avLst/>
          </a:prstGeom>
          <a:noFill/>
          <a:ln/>
        </p:spPr>
        <p:txBody>
          <a:bodyPr wrap="square" lIns="0" tIns="0" rIns="0" bIns="0" rtlCol="0" anchor="ctr"/>
          <a:lstStyle/>
          <a:p>
            <a:pPr>
              <a:lnSpc>
                <a:spcPct val="140000"/>
              </a:lnSpc>
            </a:pPr>
            <a:r>
              <a:rPr lang="en-US" sz="1122" b="1" dirty="0">
                <a:solidFill>
                  <a:srgbClr val="1E272E"/>
                </a:solidFill>
                <a:latin typeface="Quattrocento Sans" pitchFamily="34" charset="0"/>
                <a:ea typeface="Quattrocento Sans" pitchFamily="34" charset="-122"/>
                <a:cs typeface="Quattrocento Sans" pitchFamily="34" charset="-120"/>
              </a:rPr>
              <a:t>Symmetric games</a:t>
            </a:r>
            <a:pPr>
              <a:lnSpc>
                <a:spcPct val="140000"/>
              </a:lnSpc>
            </a:pPr>
            <a:r>
              <a:rPr lang="en-US" sz="1122" dirty="0">
                <a:solidFill>
                  <a:srgbClr val="1E272E"/>
                </a:solidFill>
                <a:latin typeface="Quattrocento Sans" pitchFamily="34" charset="0"/>
                <a:ea typeface="Quattrocento Sans" pitchFamily="34" charset="-122"/>
                <a:cs typeface="Quattrocento Sans" pitchFamily="34" charset="-120"/>
              </a:rPr>
              <a:t> have identical strategy sets and payoff structures for all players. Players are interchangeable.</a:t>
            </a:r>
            <a:endParaRPr lang="en-US" sz="1600" dirty="0"/>
          </a:p>
        </p:txBody>
      </p:sp>
      <p:sp>
        <p:nvSpPr>
          <p:cNvPr id="27" name="Text 25"/>
          <p:cNvSpPr/>
          <p:nvPr/>
        </p:nvSpPr>
        <p:spPr>
          <a:xfrm>
            <a:off x="543252" y="5619541"/>
            <a:ext cx="3402004" cy="694650"/>
          </a:xfrm>
          <a:prstGeom prst="rect">
            <a:avLst/>
          </a:prstGeom>
          <a:noFill/>
          <a:ln/>
        </p:spPr>
        <p:txBody>
          <a:bodyPr wrap="square" lIns="0" tIns="0" rIns="0" bIns="0" rtlCol="0" anchor="ctr"/>
          <a:lstStyle/>
          <a:p>
            <a:pPr>
              <a:lnSpc>
                <a:spcPct val="140000"/>
              </a:lnSpc>
            </a:pPr>
            <a:r>
              <a:rPr lang="en-US" sz="1122" b="1" dirty="0">
                <a:solidFill>
                  <a:srgbClr val="636E72"/>
                </a:solidFill>
                <a:latin typeface="Quattrocento Sans" pitchFamily="34" charset="0"/>
                <a:ea typeface="Quattrocento Sans" pitchFamily="34" charset="-122"/>
                <a:cs typeface="Quattrocento Sans" pitchFamily="34" charset="-120"/>
              </a:rPr>
              <a:t>Asymmetric games</a:t>
            </a:r>
            <a:pPr>
              <a:lnSpc>
                <a:spcPct val="140000"/>
              </a:lnSpc>
            </a:pPr>
            <a:r>
              <a:rPr lang="en-US" sz="1122" dirty="0">
                <a:solidFill>
                  <a:srgbClr val="636E72"/>
                </a:solidFill>
                <a:latin typeface="Quattrocento Sans" pitchFamily="34" charset="0"/>
                <a:ea typeface="Quattrocento Sans" pitchFamily="34" charset="-122"/>
                <a:cs typeface="Quattrocento Sans" pitchFamily="34" charset="-120"/>
              </a:rPr>
              <a:t> feature different roles, strategies, or payoff functions. Players have distinct positions and objectives.</a:t>
            </a:r>
            <a:endParaRPr lang="en-US" sz="1600" dirty="0"/>
          </a:p>
        </p:txBody>
      </p:sp>
      <p:sp>
        <p:nvSpPr>
          <p:cNvPr id="28" name="Shape 26"/>
          <p:cNvSpPr/>
          <p:nvPr/>
        </p:nvSpPr>
        <p:spPr>
          <a:xfrm>
            <a:off x="4246174" y="4101107"/>
            <a:ext cx="7587717" cy="2395652"/>
          </a:xfrm>
          <a:custGeom>
            <a:avLst/>
            <a:gdLst/>
            <a:ahLst/>
            <a:cxnLst/>
            <a:rect l="l" t="t" r="r" b="b"/>
            <a:pathLst>
              <a:path w="7587717" h="2395652">
                <a:moveTo>
                  <a:pt x="0" y="0"/>
                </a:moveTo>
                <a:lnTo>
                  <a:pt x="7587717" y="0"/>
                </a:lnTo>
                <a:lnTo>
                  <a:pt x="7587717" y="2395652"/>
                </a:lnTo>
                <a:lnTo>
                  <a:pt x="0" y="2395652"/>
                </a:lnTo>
                <a:lnTo>
                  <a:pt x="0" y="0"/>
                </a:lnTo>
                <a:close/>
              </a:path>
            </a:pathLst>
          </a:custGeom>
          <a:solidFill>
            <a:srgbClr val="FFFFFF"/>
          </a:solidFill>
          <a:ln w="12700">
            <a:solidFill>
              <a:srgbClr val="E0E0E0"/>
            </a:solidFill>
            <a:prstDash val="solid"/>
          </a:ln>
        </p:spPr>
      </p:sp>
      <p:sp>
        <p:nvSpPr>
          <p:cNvPr id="29" name="Shape 27"/>
          <p:cNvSpPr/>
          <p:nvPr/>
        </p:nvSpPr>
        <p:spPr>
          <a:xfrm>
            <a:off x="4428742" y="4283676"/>
            <a:ext cx="427477" cy="427477"/>
          </a:xfrm>
          <a:custGeom>
            <a:avLst/>
            <a:gdLst/>
            <a:ahLst/>
            <a:cxnLst/>
            <a:rect l="l" t="t" r="r" b="b"/>
            <a:pathLst>
              <a:path w="427477" h="427477">
                <a:moveTo>
                  <a:pt x="0" y="0"/>
                </a:moveTo>
                <a:lnTo>
                  <a:pt x="427477" y="0"/>
                </a:lnTo>
                <a:lnTo>
                  <a:pt x="427477" y="427477"/>
                </a:lnTo>
                <a:lnTo>
                  <a:pt x="0" y="427477"/>
                </a:lnTo>
                <a:lnTo>
                  <a:pt x="0" y="0"/>
                </a:lnTo>
                <a:close/>
              </a:path>
            </a:pathLst>
          </a:custGeom>
          <a:solidFill>
            <a:srgbClr val="2D3436"/>
          </a:solidFill>
          <a:ln/>
        </p:spPr>
      </p:sp>
      <p:sp>
        <p:nvSpPr>
          <p:cNvPr id="30" name="Shape 28"/>
          <p:cNvSpPr/>
          <p:nvPr/>
        </p:nvSpPr>
        <p:spPr>
          <a:xfrm>
            <a:off x="4553423" y="4408356"/>
            <a:ext cx="178115" cy="178115"/>
          </a:xfrm>
          <a:custGeom>
            <a:avLst/>
            <a:gdLst/>
            <a:ahLst/>
            <a:cxnLst/>
            <a:rect l="l" t="t" r="r" b="b"/>
            <a:pathLst>
              <a:path w="178115" h="178115">
                <a:moveTo>
                  <a:pt x="22264" y="22264"/>
                </a:moveTo>
                <a:cubicBezTo>
                  <a:pt x="22264" y="16107"/>
                  <a:pt x="17290" y="11132"/>
                  <a:pt x="11132" y="11132"/>
                </a:cubicBezTo>
                <a:cubicBezTo>
                  <a:pt x="4975" y="11132"/>
                  <a:pt x="0" y="16107"/>
                  <a:pt x="0" y="22264"/>
                </a:cubicBezTo>
                <a:lnTo>
                  <a:pt x="0" y="139153"/>
                </a:lnTo>
                <a:cubicBezTo>
                  <a:pt x="0" y="154529"/>
                  <a:pt x="12454" y="166983"/>
                  <a:pt x="27831" y="166983"/>
                </a:cubicBezTo>
                <a:lnTo>
                  <a:pt x="166983" y="166983"/>
                </a:lnTo>
                <a:cubicBezTo>
                  <a:pt x="173141" y="166983"/>
                  <a:pt x="178115" y="162008"/>
                  <a:pt x="178115" y="155851"/>
                </a:cubicBezTo>
                <a:cubicBezTo>
                  <a:pt x="178115" y="149693"/>
                  <a:pt x="173141" y="144719"/>
                  <a:pt x="166983" y="144719"/>
                </a:cubicBezTo>
                <a:lnTo>
                  <a:pt x="27831" y="144719"/>
                </a:lnTo>
                <a:cubicBezTo>
                  <a:pt x="24769" y="144719"/>
                  <a:pt x="22264" y="142214"/>
                  <a:pt x="22264" y="139153"/>
                </a:cubicBezTo>
                <a:lnTo>
                  <a:pt x="22264" y="22264"/>
                </a:lnTo>
                <a:close/>
                <a:moveTo>
                  <a:pt x="163713" y="52391"/>
                </a:moveTo>
                <a:cubicBezTo>
                  <a:pt x="168062" y="48042"/>
                  <a:pt x="168062" y="40980"/>
                  <a:pt x="163713" y="36632"/>
                </a:cubicBezTo>
                <a:cubicBezTo>
                  <a:pt x="159365" y="32283"/>
                  <a:pt x="152303" y="32283"/>
                  <a:pt x="147954" y="36632"/>
                </a:cubicBezTo>
                <a:lnTo>
                  <a:pt x="111322" y="73299"/>
                </a:lnTo>
                <a:lnTo>
                  <a:pt x="91354" y="53365"/>
                </a:lnTo>
                <a:cubicBezTo>
                  <a:pt x="87005" y="49017"/>
                  <a:pt x="79943" y="49017"/>
                  <a:pt x="75595" y="53365"/>
                </a:cubicBezTo>
                <a:lnTo>
                  <a:pt x="42198" y="86762"/>
                </a:lnTo>
                <a:cubicBezTo>
                  <a:pt x="37850" y="91110"/>
                  <a:pt x="37850" y="98172"/>
                  <a:pt x="42198" y="102521"/>
                </a:cubicBezTo>
                <a:cubicBezTo>
                  <a:pt x="46547" y="106869"/>
                  <a:pt x="53609" y="106869"/>
                  <a:pt x="57957" y="102521"/>
                </a:cubicBezTo>
                <a:lnTo>
                  <a:pt x="83492" y="76986"/>
                </a:lnTo>
                <a:lnTo>
                  <a:pt x="103460" y="96955"/>
                </a:lnTo>
                <a:cubicBezTo>
                  <a:pt x="107809" y="101303"/>
                  <a:pt x="114871" y="101303"/>
                  <a:pt x="119219" y="96955"/>
                </a:cubicBezTo>
                <a:lnTo>
                  <a:pt x="163748" y="52426"/>
                </a:lnTo>
                <a:close/>
              </a:path>
            </a:pathLst>
          </a:custGeom>
          <a:solidFill>
            <a:srgbClr val="FFFFFF"/>
          </a:solidFill>
          <a:ln/>
        </p:spPr>
      </p:sp>
      <p:sp>
        <p:nvSpPr>
          <p:cNvPr id="31" name="Text 29"/>
          <p:cNvSpPr/>
          <p:nvPr/>
        </p:nvSpPr>
        <p:spPr>
          <a:xfrm>
            <a:off x="4963089" y="4372733"/>
            <a:ext cx="2048327" cy="249362"/>
          </a:xfrm>
          <a:prstGeom prst="rect">
            <a:avLst/>
          </a:prstGeom>
          <a:noFill/>
          <a:ln/>
        </p:spPr>
        <p:txBody>
          <a:bodyPr wrap="square" lIns="0" tIns="0" rIns="0" bIns="0" rtlCol="0" anchor="ctr"/>
          <a:lstStyle/>
          <a:p>
            <a:pPr>
              <a:lnSpc>
                <a:spcPct val="120000"/>
              </a:lnSpc>
            </a:pPr>
            <a:r>
              <a:rPr lang="en-US" sz="1402" b="1" dirty="0">
                <a:solidFill>
                  <a:srgbClr val="2D3436"/>
                </a:solidFill>
                <a:latin typeface="Oranienbaum" pitchFamily="34" charset="0"/>
                <a:ea typeface="Oranienbaum" pitchFamily="34" charset="-122"/>
                <a:cs typeface="Oranienbaum" pitchFamily="34" charset="-120"/>
              </a:rPr>
              <a:t>Zero-Sum vs Non-Zero-Sum</a:t>
            </a:r>
            <a:endParaRPr lang="en-US" sz="1600" dirty="0"/>
          </a:p>
        </p:txBody>
      </p:sp>
      <p:sp>
        <p:nvSpPr>
          <p:cNvPr id="32" name="Text 30"/>
          <p:cNvSpPr/>
          <p:nvPr/>
        </p:nvSpPr>
        <p:spPr>
          <a:xfrm>
            <a:off x="4428742" y="4818022"/>
            <a:ext cx="3606837" cy="694650"/>
          </a:xfrm>
          <a:prstGeom prst="rect">
            <a:avLst/>
          </a:prstGeom>
          <a:noFill/>
          <a:ln/>
        </p:spPr>
        <p:txBody>
          <a:bodyPr wrap="square" lIns="0" tIns="0" rIns="0" bIns="0" rtlCol="0" anchor="ctr"/>
          <a:lstStyle/>
          <a:p>
            <a:pPr>
              <a:lnSpc>
                <a:spcPct val="140000"/>
              </a:lnSpc>
            </a:pPr>
            <a:r>
              <a:rPr lang="en-US" sz="1122" b="1" dirty="0">
                <a:solidFill>
                  <a:srgbClr val="1E272E"/>
                </a:solidFill>
                <a:latin typeface="Quattrocento Sans" pitchFamily="34" charset="0"/>
                <a:ea typeface="Quattrocento Sans" pitchFamily="34" charset="-122"/>
                <a:cs typeface="Quattrocento Sans" pitchFamily="34" charset="-120"/>
              </a:rPr>
              <a:t>Zero-sum games</a:t>
            </a:r>
            <a:pPr>
              <a:lnSpc>
                <a:spcPct val="140000"/>
              </a:lnSpc>
            </a:pPr>
            <a:r>
              <a:rPr lang="en-US" sz="1122" dirty="0">
                <a:solidFill>
                  <a:srgbClr val="1E272E"/>
                </a:solidFill>
                <a:latin typeface="Quattrocento Sans" pitchFamily="34" charset="0"/>
                <a:ea typeface="Quattrocento Sans" pitchFamily="34" charset="-122"/>
                <a:cs typeface="Quattrocento Sans" pitchFamily="34" charset="-120"/>
              </a:rPr>
              <a:t> represent pure competition: one player's gain equals another's loss. Total payoff is constant.</a:t>
            </a:r>
            <a:endParaRPr lang="en-US" sz="1600" dirty="0"/>
          </a:p>
        </p:txBody>
      </p:sp>
      <p:sp>
        <p:nvSpPr>
          <p:cNvPr id="33" name="Text 31"/>
          <p:cNvSpPr/>
          <p:nvPr/>
        </p:nvSpPr>
        <p:spPr>
          <a:xfrm>
            <a:off x="4428742" y="5583918"/>
            <a:ext cx="3606837" cy="463100"/>
          </a:xfrm>
          <a:prstGeom prst="rect">
            <a:avLst/>
          </a:prstGeom>
          <a:noFill/>
          <a:ln/>
        </p:spPr>
        <p:txBody>
          <a:bodyPr wrap="square" lIns="0" tIns="0" rIns="0" bIns="0" rtlCol="0" anchor="ctr"/>
          <a:lstStyle/>
          <a:p>
            <a:pPr>
              <a:lnSpc>
                <a:spcPct val="140000"/>
              </a:lnSpc>
            </a:pPr>
            <a:r>
              <a:rPr lang="en-US" sz="1122" dirty="0">
                <a:solidFill>
                  <a:srgbClr val="636E72"/>
                </a:solidFill>
                <a:latin typeface="Quattrocento Sans" pitchFamily="34" charset="0"/>
                <a:ea typeface="Quattrocento Sans" pitchFamily="34" charset="-122"/>
                <a:cs typeface="Quattrocento Sans" pitchFamily="34" charset="-120"/>
              </a:rPr>
              <a:t>Examples: Poker, chess, competitive sports. Mathematically: Σpayoffs = constant</a:t>
            </a:r>
            <a:endParaRPr lang="en-US" sz="1600" dirty="0"/>
          </a:p>
        </p:txBody>
      </p:sp>
      <p:sp>
        <p:nvSpPr>
          <p:cNvPr id="34" name="Text 32"/>
          <p:cNvSpPr/>
          <p:nvPr/>
        </p:nvSpPr>
        <p:spPr>
          <a:xfrm>
            <a:off x="8109470" y="4818022"/>
            <a:ext cx="3606837" cy="694650"/>
          </a:xfrm>
          <a:prstGeom prst="rect">
            <a:avLst/>
          </a:prstGeom>
          <a:noFill/>
          <a:ln/>
        </p:spPr>
        <p:txBody>
          <a:bodyPr wrap="square" lIns="0" tIns="0" rIns="0" bIns="0" rtlCol="0" anchor="ctr"/>
          <a:lstStyle/>
          <a:p>
            <a:pPr>
              <a:lnSpc>
                <a:spcPct val="140000"/>
              </a:lnSpc>
            </a:pPr>
            <a:r>
              <a:rPr lang="en-US" sz="1122" b="1" dirty="0">
                <a:solidFill>
                  <a:srgbClr val="1E272E"/>
                </a:solidFill>
                <a:latin typeface="Quattrocento Sans" pitchFamily="34" charset="0"/>
                <a:ea typeface="Quattrocento Sans" pitchFamily="34" charset="-122"/>
                <a:cs typeface="Quattrocento Sans" pitchFamily="34" charset="-120"/>
              </a:rPr>
              <a:t>Non-zero-sum games</a:t>
            </a:r>
            <a:pPr>
              <a:lnSpc>
                <a:spcPct val="140000"/>
              </a:lnSpc>
            </a:pPr>
            <a:r>
              <a:rPr lang="en-US" sz="1122" dirty="0">
                <a:solidFill>
                  <a:srgbClr val="1E272E"/>
                </a:solidFill>
                <a:latin typeface="Quattrocento Sans" pitchFamily="34" charset="0"/>
                <a:ea typeface="Quattrocento Sans" pitchFamily="34" charset="-122"/>
                <a:cs typeface="Quattrocento Sans" pitchFamily="34" charset="-120"/>
              </a:rPr>
              <a:t> allow mutual gain or loss. Cooperation can benefit all players; conflict can harm everyone.</a:t>
            </a:r>
            <a:endParaRPr lang="en-US" sz="1600" dirty="0"/>
          </a:p>
        </p:txBody>
      </p:sp>
      <p:sp>
        <p:nvSpPr>
          <p:cNvPr id="35" name="Text 33"/>
          <p:cNvSpPr/>
          <p:nvPr/>
        </p:nvSpPr>
        <p:spPr>
          <a:xfrm>
            <a:off x="8109470" y="5583918"/>
            <a:ext cx="3606837" cy="463100"/>
          </a:xfrm>
          <a:prstGeom prst="rect">
            <a:avLst/>
          </a:prstGeom>
          <a:noFill/>
          <a:ln/>
        </p:spPr>
        <p:txBody>
          <a:bodyPr wrap="square" lIns="0" tIns="0" rIns="0" bIns="0" rtlCol="0" anchor="ctr"/>
          <a:lstStyle/>
          <a:p>
            <a:pPr>
              <a:lnSpc>
                <a:spcPct val="140000"/>
              </a:lnSpc>
            </a:pPr>
            <a:r>
              <a:rPr lang="en-US" sz="1122" dirty="0">
                <a:solidFill>
                  <a:srgbClr val="636E72"/>
                </a:solidFill>
                <a:latin typeface="Quattrocento Sans" pitchFamily="34" charset="0"/>
                <a:ea typeface="Quattrocento Sans" pitchFamily="34" charset="-122"/>
                <a:cs typeface="Quattrocento Sans" pitchFamily="34" charset="-120"/>
              </a:rPr>
              <a:t>Examples: Prisoner's Dilemma, trade negotiations, environmental agreements.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066925"/>
            <a:ext cx="12192000" cy="1219200"/>
          </a:xfrm>
          <a:prstGeom prst="rect">
            <a:avLst/>
          </a:prstGeom>
          <a:noFill/>
          <a:ln/>
        </p:spPr>
        <p:txBody>
          <a:bodyPr wrap="square" lIns="0" tIns="0" rIns="0" bIns="0" rtlCol="0" anchor="ctr"/>
          <a:lstStyle/>
          <a:p>
            <a:pPr>
              <a:lnSpc>
                <a:spcPct val="80000"/>
              </a:lnSpc>
            </a:pPr>
            <a:r>
              <a:rPr lang="en-US" sz="9600" b="1" dirty="0">
                <a:solidFill>
                  <a:srgbClr val="0984E3">
                    <a:alpha val="10000"/>
                  </a:srgbClr>
                </a:solidFill>
                <a:latin typeface="Oranienbaum" pitchFamily="34" charset="0"/>
                <a:ea typeface="Oranienbaum" pitchFamily="34" charset="-122"/>
                <a:cs typeface="Oranienbaum" pitchFamily="34" charset="-120"/>
              </a:rPr>
              <a:t>05</a:t>
            </a:r>
            <a:endParaRPr lang="en-US" sz="1600" dirty="0"/>
          </a:p>
        </p:txBody>
      </p:sp>
      <p:sp>
        <p:nvSpPr>
          <p:cNvPr id="3" name="Text 1"/>
          <p:cNvSpPr/>
          <p:nvPr/>
        </p:nvSpPr>
        <p:spPr>
          <a:xfrm>
            <a:off x="609600" y="3438525"/>
            <a:ext cx="11868150" cy="571500"/>
          </a:xfrm>
          <a:prstGeom prst="rect">
            <a:avLst/>
          </a:prstGeom>
          <a:noFill/>
          <a:ln/>
        </p:spPr>
        <p:txBody>
          <a:bodyPr wrap="square" lIns="0" tIns="0" rIns="0" bIns="0" rtlCol="0" anchor="ctr"/>
          <a:lstStyle/>
          <a:p>
            <a:pPr>
              <a:lnSpc>
                <a:spcPct val="80000"/>
              </a:lnSpc>
            </a:pPr>
            <a:r>
              <a:rPr lang="en-US" sz="4500" b="1" dirty="0">
                <a:solidFill>
                  <a:srgbClr val="2D3436"/>
                </a:solidFill>
                <a:latin typeface="Oranienbaum" pitchFamily="34" charset="0"/>
                <a:ea typeface="Oranienbaum" pitchFamily="34" charset="-122"/>
                <a:cs typeface="Oranienbaum" pitchFamily="34" charset="-120"/>
              </a:rPr>
              <a:t>Classic Game Models</a:t>
            </a:r>
            <a:endParaRPr lang="en-US" sz="1600" dirty="0"/>
          </a:p>
        </p:txBody>
      </p:sp>
      <p:sp>
        <p:nvSpPr>
          <p:cNvPr id="4" name="Shape 2"/>
          <p:cNvSpPr/>
          <p:nvPr/>
        </p:nvSpPr>
        <p:spPr>
          <a:xfrm>
            <a:off x="609600" y="4238625"/>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5" name="Text 3"/>
          <p:cNvSpPr/>
          <p:nvPr/>
        </p:nvSpPr>
        <p:spPr>
          <a:xfrm>
            <a:off x="609600" y="4486275"/>
            <a:ext cx="11696700" cy="304800"/>
          </a:xfrm>
          <a:prstGeom prst="rect">
            <a:avLst/>
          </a:prstGeom>
          <a:noFill/>
          <a:ln/>
        </p:spPr>
        <p:txBody>
          <a:bodyPr wrap="square" lIns="0" tIns="0" rIns="0" bIns="0" rtlCol="0" anchor="ctr"/>
          <a:lstStyle/>
          <a:p>
            <a:pPr>
              <a:lnSpc>
                <a:spcPct val="110000"/>
              </a:lnSpc>
            </a:pPr>
            <a:r>
              <a:rPr lang="en-US" sz="1800" dirty="0">
                <a:solidFill>
                  <a:srgbClr val="636E72"/>
                </a:solidFill>
                <a:latin typeface="Liter" pitchFamily="34" charset="0"/>
                <a:ea typeface="Liter" pitchFamily="34" charset="-122"/>
                <a:cs typeface="Liter" pitchFamily="34" charset="-120"/>
              </a:rPr>
              <a:t>Iconic examples that shaped the field</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984E3"/>
                </a:solidFill>
                <a:latin typeface="Quattrocento Sans" pitchFamily="34" charset="0"/>
                <a:ea typeface="Quattrocento Sans" pitchFamily="34" charset="-122"/>
                <a:cs typeface="Quattrocento Sans" pitchFamily="34" charset="-120"/>
              </a:rPr>
              <a:t>CLASSIC EXAMPLE</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2D3436"/>
                </a:solidFill>
                <a:latin typeface="Oranienbaum" pitchFamily="34" charset="0"/>
                <a:ea typeface="Oranienbaum" pitchFamily="34" charset="-122"/>
                <a:cs typeface="Oranienbaum" pitchFamily="34" charset="-120"/>
              </a:rPr>
              <a:t>The Prisoner's Dilemma</a:t>
            </a:r>
            <a:endParaRPr lang="en-US" sz="1600" dirty="0"/>
          </a:p>
        </p:txBody>
      </p:sp>
      <p:sp>
        <p:nvSpPr>
          <p:cNvPr id="4" name="Text 2"/>
          <p:cNvSpPr/>
          <p:nvPr/>
        </p:nvSpPr>
        <p:spPr>
          <a:xfrm>
            <a:off x="381000" y="1295400"/>
            <a:ext cx="5657850" cy="1238250"/>
          </a:xfrm>
          <a:prstGeom prst="rect">
            <a:avLst/>
          </a:prstGeom>
          <a:noFill/>
          <a:ln/>
        </p:spPr>
        <p:txBody>
          <a:bodyPr wrap="square" lIns="0" tIns="0" rIns="0" bIns="0" rtlCol="0" anchor="ctr"/>
          <a:lstStyle/>
          <a:p>
            <a:pPr>
              <a:lnSpc>
                <a:spcPct val="140000"/>
              </a:lnSpc>
            </a:pPr>
            <a:r>
              <a:rPr lang="en-US" sz="1500" b="1" dirty="0">
                <a:solidFill>
                  <a:srgbClr val="1E272E"/>
                </a:solidFill>
                <a:latin typeface="Quattrocento Sans" pitchFamily="34" charset="0"/>
                <a:ea typeface="Quattrocento Sans" pitchFamily="34" charset="-122"/>
                <a:cs typeface="Quattrocento Sans" pitchFamily="34" charset="-120"/>
              </a:rPr>
              <a:t>Two suspects are arrested and interrogated separately.</a:t>
            </a:r>
            <a:pPr>
              <a:lnSpc>
                <a:spcPct val="140000"/>
              </a:lnSpc>
            </a:pPr>
            <a:r>
              <a:rPr lang="en-US" sz="1500" dirty="0">
                <a:solidFill>
                  <a:srgbClr val="1E272E"/>
                </a:solidFill>
                <a:latin typeface="Quattrocento Sans" pitchFamily="34" charset="0"/>
                <a:ea typeface="Quattrocento Sans" pitchFamily="34" charset="-122"/>
                <a:cs typeface="Quattrocento Sans" pitchFamily="34" charset="-120"/>
              </a:rPr>
              <a:t> Each must choose: confess (defect) or remain silent (cooperate). The dilemma reveals the tension between individual rationality and collective optimality.</a:t>
            </a:r>
            <a:endParaRPr lang="en-US" sz="1600" dirty="0"/>
          </a:p>
        </p:txBody>
      </p:sp>
      <p:sp>
        <p:nvSpPr>
          <p:cNvPr id="5" name="Text 3"/>
          <p:cNvSpPr/>
          <p:nvPr/>
        </p:nvSpPr>
        <p:spPr>
          <a:xfrm>
            <a:off x="381000" y="2647950"/>
            <a:ext cx="5638800" cy="742950"/>
          </a:xfrm>
          <a:prstGeom prst="rect">
            <a:avLst/>
          </a:prstGeom>
          <a:noFill/>
          <a:ln/>
        </p:spPr>
        <p:txBody>
          <a:bodyPr wrap="square" lIns="0" tIns="0" rIns="0" bIns="0" rtlCol="0" anchor="ctr"/>
          <a:lstStyle/>
          <a:p>
            <a:pP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The paradox: rational self-interest leads both to confess, resulting in worse outcomes for both than if they had cooperated. This illustrates how individual incentives can undermine collective welfare.</a:t>
            </a:r>
            <a:endParaRPr lang="en-US" sz="1600" dirty="0"/>
          </a:p>
        </p:txBody>
      </p:sp>
      <p:sp>
        <p:nvSpPr>
          <p:cNvPr id="6" name="Shape 4"/>
          <p:cNvSpPr/>
          <p:nvPr/>
        </p:nvSpPr>
        <p:spPr>
          <a:xfrm>
            <a:off x="385763" y="3548063"/>
            <a:ext cx="5553075" cy="2028825"/>
          </a:xfrm>
          <a:custGeom>
            <a:avLst/>
            <a:gdLst/>
            <a:ahLst/>
            <a:cxnLst/>
            <a:rect l="l" t="t" r="r" b="b"/>
            <a:pathLst>
              <a:path w="5553075" h="2028825">
                <a:moveTo>
                  <a:pt x="0" y="0"/>
                </a:moveTo>
                <a:lnTo>
                  <a:pt x="5553075" y="0"/>
                </a:lnTo>
                <a:lnTo>
                  <a:pt x="5553075" y="2028825"/>
                </a:lnTo>
                <a:lnTo>
                  <a:pt x="0" y="2028825"/>
                </a:lnTo>
                <a:lnTo>
                  <a:pt x="0" y="0"/>
                </a:lnTo>
                <a:close/>
              </a:path>
            </a:pathLst>
          </a:custGeom>
          <a:solidFill>
            <a:srgbClr val="FFFFFF"/>
          </a:solidFill>
          <a:ln w="12700">
            <a:solidFill>
              <a:srgbClr val="E0E0E0"/>
            </a:solidFill>
            <a:prstDash val="solid"/>
          </a:ln>
        </p:spPr>
      </p:sp>
      <p:sp>
        <p:nvSpPr>
          <p:cNvPr id="7" name="Text 5"/>
          <p:cNvSpPr/>
          <p:nvPr/>
        </p:nvSpPr>
        <p:spPr>
          <a:xfrm>
            <a:off x="495300" y="3705225"/>
            <a:ext cx="5334000" cy="266700"/>
          </a:xfrm>
          <a:prstGeom prst="rect">
            <a:avLst/>
          </a:prstGeom>
          <a:noFill/>
          <a:ln/>
        </p:spPr>
        <p:txBody>
          <a:bodyPr wrap="square" lIns="0" tIns="0" rIns="0" bIns="0" rtlCol="0" anchor="ctr"/>
          <a:lstStyle/>
          <a:p>
            <a:pPr algn="ctr">
              <a:lnSpc>
                <a:spcPct val="120000"/>
              </a:lnSpc>
            </a:pPr>
            <a:r>
              <a:rPr lang="en-US" sz="1500" b="1" dirty="0">
                <a:solidFill>
                  <a:srgbClr val="2D3436"/>
                </a:solidFill>
                <a:latin typeface="Oranienbaum" pitchFamily="34" charset="0"/>
                <a:ea typeface="Oranienbaum" pitchFamily="34" charset="-122"/>
                <a:cs typeface="Oranienbaum" pitchFamily="34" charset="-120"/>
              </a:rPr>
              <a:t>Payoff Matrix (Years in Prison)</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2925" y="4086225"/>
          <a:ext cx="5238750" cy="1066800"/>
        </p:xfrm>
        <a:graphic>
          <a:graphicData uri="http://schemas.openxmlformats.org/drawingml/2006/table">
            <a:tbl>
              <a:tblPr/>
              <a:tblGrid>
                <a:gridCol w="1879843"/>
                <a:gridCol w="1507691"/>
                <a:gridCol w="1851216"/>
              </a:tblGrid>
              <a:tr h="355600">
                <a:tc>
                  <a:txBody>
                    <a:bodyPr/>
                    <a:lstStyle/>
                    <a:p>
                      <a:pPr algn="ct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000" b="1" u="none" dirty="0">
                          <a:solidFill>
                            <a:srgbClr val="2D3436"/>
                          </a:solidFill>
                          <a:latin typeface="微软雅黑" pitchFamily="34" charset="0"/>
                          <a:ea typeface="微软雅黑" pitchFamily="34" charset="-122"/>
                          <a:cs typeface="微软雅黑" pitchFamily="34" charset="-120"/>
                        </a:rPr>
                        <a:t>B: Silent</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000" b="1" u="none" dirty="0">
                          <a:solidFill>
                            <a:srgbClr val="2D3436"/>
                          </a:solidFill>
                          <a:latin typeface="微软雅黑" pitchFamily="34" charset="0"/>
                          <a:ea typeface="微软雅黑" pitchFamily="34" charset="-122"/>
                          <a:cs typeface="微软雅黑" pitchFamily="34" charset="-120"/>
                        </a:rPr>
                        <a:t>B: Confess</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r>
              <a:tr h="355600">
                <a:tc>
                  <a:txBody>
                    <a:bodyPr/>
                    <a:lstStyle/>
                    <a:p>
                      <a:r>
                        <a:rPr lang="en-US" sz="1000" b="1" u="none" dirty="0">
                          <a:solidFill>
                            <a:srgbClr val="2D3436"/>
                          </a:solidFill>
                          <a:latin typeface="微软雅黑" pitchFamily="34" charset="0"/>
                          <a:ea typeface="微软雅黑" pitchFamily="34" charset="-122"/>
                          <a:cs typeface="微软雅黑" pitchFamily="34" charset="-120"/>
                        </a:rPr>
                        <a:t>A: Silent</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000" u="none" dirty="0">
                          <a:solidFill>
                            <a:srgbClr val="1E272E"/>
                          </a:solidFill>
                          <a:latin typeface="微软雅黑" pitchFamily="34" charset="0"/>
                          <a:ea typeface="微软雅黑" pitchFamily="34" charset="-122"/>
                          <a:cs typeface="微软雅黑" pitchFamily="34" charset="-120"/>
                        </a:rPr>
                        <a:t>(-1, -1)</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1E272E"/>
                          </a:solidFill>
                          <a:latin typeface="微软雅黑" pitchFamily="34" charset="0"/>
                          <a:ea typeface="微软雅黑" pitchFamily="34" charset="-122"/>
                          <a:cs typeface="微软雅黑" pitchFamily="34" charset="-120"/>
                        </a:rPr>
                        <a:t>(-10, 0)</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r>
              <a:tr h="355600">
                <a:tc>
                  <a:txBody>
                    <a:bodyPr/>
                    <a:lstStyle/>
                    <a:p>
                      <a:r>
                        <a:rPr lang="en-US" sz="1000" b="1" u="none" dirty="0">
                          <a:solidFill>
                            <a:srgbClr val="2D3436"/>
                          </a:solidFill>
                          <a:latin typeface="微软雅黑" pitchFamily="34" charset="0"/>
                          <a:ea typeface="微软雅黑" pitchFamily="34" charset="-122"/>
                          <a:cs typeface="微软雅黑" pitchFamily="34" charset="-120"/>
                        </a:rPr>
                        <a:t>A: Confess</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000" u="none" dirty="0">
                          <a:solidFill>
                            <a:srgbClr val="1E272E"/>
                          </a:solidFill>
                          <a:latin typeface="微软雅黑" pitchFamily="34" charset="0"/>
                          <a:ea typeface="微软雅黑" pitchFamily="34" charset="-122"/>
                          <a:cs typeface="微软雅黑" pitchFamily="34" charset="-120"/>
                        </a:rPr>
                        <a:t>(0, -10)</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1E272E"/>
                          </a:solidFill>
                          <a:latin typeface="微软雅黑" pitchFamily="34" charset="0"/>
                          <a:ea typeface="微软雅黑" pitchFamily="34" charset="-122"/>
                          <a:cs typeface="微软雅黑" pitchFamily="34" charset="-120"/>
                        </a:rPr>
                        <a:t>(-5, -5)</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984E3"/>
                    </a:solidFill>
                  </a:tcPr>
                </a:tc>
              </a:tr>
            </a:tbl>
          </a:graphicData>
        </a:graphic>
      </p:graphicFrame>
      <p:sp>
        <p:nvSpPr>
          <p:cNvPr id="9" name="Text 6"/>
          <p:cNvSpPr/>
          <p:nvPr/>
        </p:nvSpPr>
        <p:spPr>
          <a:xfrm>
            <a:off x="509587" y="5229225"/>
            <a:ext cx="5305425" cy="190500"/>
          </a:xfrm>
          <a:prstGeom prst="rect">
            <a:avLst/>
          </a:prstGeom>
          <a:noFill/>
          <a:ln/>
        </p:spPr>
        <p:txBody>
          <a:bodyPr wrap="square" lIns="0" tIns="0" rIns="0" bIns="0" rtlCol="0" anchor="ctr"/>
          <a:lstStyle/>
          <a:p>
            <a:pPr algn="ctr">
              <a:lnSpc>
                <a:spcPct val="120000"/>
              </a:lnSpc>
            </a:pPr>
            <a:r>
              <a:rPr lang="en-US" sz="1050" dirty="0">
                <a:solidFill>
                  <a:srgbClr val="636E72"/>
                </a:solidFill>
                <a:latin typeface="Quattrocento Sans" pitchFamily="34" charset="0"/>
                <a:ea typeface="Quattrocento Sans" pitchFamily="34" charset="-122"/>
                <a:cs typeface="Quattrocento Sans" pitchFamily="34" charset="-120"/>
              </a:rPr>
              <a:t>Nash Equilibrium highlighted in blue</a:t>
            </a:r>
            <a:endParaRPr lang="en-US" sz="1600" dirty="0"/>
          </a:p>
        </p:txBody>
      </p:sp>
      <p:sp>
        <p:nvSpPr>
          <p:cNvPr id="10" name="Shape 7"/>
          <p:cNvSpPr/>
          <p:nvPr/>
        </p:nvSpPr>
        <p:spPr>
          <a:xfrm>
            <a:off x="6253163" y="1300163"/>
            <a:ext cx="5553075" cy="1609725"/>
          </a:xfrm>
          <a:custGeom>
            <a:avLst/>
            <a:gdLst/>
            <a:ahLst/>
            <a:cxnLst/>
            <a:rect l="l" t="t" r="r" b="b"/>
            <a:pathLst>
              <a:path w="5553075" h="1609725">
                <a:moveTo>
                  <a:pt x="0" y="0"/>
                </a:moveTo>
                <a:lnTo>
                  <a:pt x="5553075" y="0"/>
                </a:lnTo>
                <a:lnTo>
                  <a:pt x="5553075" y="1609725"/>
                </a:lnTo>
                <a:lnTo>
                  <a:pt x="0" y="1609725"/>
                </a:lnTo>
                <a:lnTo>
                  <a:pt x="0" y="0"/>
                </a:lnTo>
                <a:close/>
              </a:path>
            </a:pathLst>
          </a:custGeom>
          <a:solidFill>
            <a:srgbClr val="FFFFFF"/>
          </a:solidFill>
          <a:ln w="12700">
            <a:solidFill>
              <a:srgbClr val="E0E0E0"/>
            </a:solidFill>
            <a:prstDash val="solid"/>
          </a:ln>
        </p:spPr>
      </p:sp>
      <p:sp>
        <p:nvSpPr>
          <p:cNvPr id="11" name="Text 8"/>
          <p:cNvSpPr/>
          <p:nvPr/>
        </p:nvSpPr>
        <p:spPr>
          <a:xfrm>
            <a:off x="6448425" y="1495425"/>
            <a:ext cx="5257800"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Why Confession is Dominant</a:t>
            </a:r>
            <a:endParaRPr lang="en-US" sz="1600" dirty="0"/>
          </a:p>
        </p:txBody>
      </p:sp>
      <p:sp>
        <p:nvSpPr>
          <p:cNvPr id="12" name="Text 9"/>
          <p:cNvSpPr/>
          <p:nvPr/>
        </p:nvSpPr>
        <p:spPr>
          <a:xfrm>
            <a:off x="6448425" y="1876425"/>
            <a:ext cx="5238750"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If B is silent:</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A gets 0 years (confess) vs. -1 year (silent) → Confess better</a:t>
            </a:r>
            <a:endParaRPr lang="en-US" sz="1600" dirty="0"/>
          </a:p>
        </p:txBody>
      </p:sp>
      <p:sp>
        <p:nvSpPr>
          <p:cNvPr id="13" name="Text 10"/>
          <p:cNvSpPr/>
          <p:nvPr/>
        </p:nvSpPr>
        <p:spPr>
          <a:xfrm>
            <a:off x="6448425" y="2181225"/>
            <a:ext cx="5238750"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If B confesses: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A gets -5 years (confess) vs. -10 years (silent) → Confess better</a:t>
            </a:r>
            <a:endParaRPr lang="en-US" sz="1600" dirty="0"/>
          </a:p>
        </p:txBody>
      </p:sp>
      <p:sp>
        <p:nvSpPr>
          <p:cNvPr id="14" name="Text 11"/>
          <p:cNvSpPr/>
          <p:nvPr/>
        </p:nvSpPr>
        <p:spPr>
          <a:xfrm>
            <a:off x="6448425" y="2486025"/>
            <a:ext cx="5238750" cy="228600"/>
          </a:xfrm>
          <a:prstGeom prst="rect">
            <a:avLst/>
          </a:prstGeom>
          <a:noFill/>
          <a:ln/>
        </p:spPr>
        <p:txBody>
          <a:bodyPr wrap="square" lIns="0" tIns="0" rIns="0" bIns="0" rtlCol="0" anchor="ctr"/>
          <a:lstStyle/>
          <a:p>
            <a:pPr>
              <a:lnSpc>
                <a:spcPct val="130000"/>
              </a:lnSpc>
            </a:pPr>
            <a:r>
              <a:rPr lang="en-US" sz="1200" b="1" dirty="0">
                <a:solidFill>
                  <a:srgbClr val="0984E3"/>
                </a:solidFill>
                <a:latin typeface="Quattrocento Sans" pitchFamily="34" charset="0"/>
                <a:ea typeface="Quattrocento Sans" pitchFamily="34" charset="-122"/>
                <a:cs typeface="Quattrocento Sans" pitchFamily="34" charset="-120"/>
              </a:rPr>
              <a:t>Confessing is always better, regardless of B's choice</a:t>
            </a:r>
            <a:endParaRPr lang="en-US" sz="1600" dirty="0"/>
          </a:p>
        </p:txBody>
      </p:sp>
      <p:sp>
        <p:nvSpPr>
          <p:cNvPr id="15" name="Shape 12"/>
          <p:cNvSpPr/>
          <p:nvPr/>
        </p:nvSpPr>
        <p:spPr>
          <a:xfrm>
            <a:off x="6267450" y="3067050"/>
            <a:ext cx="5543550" cy="2133600"/>
          </a:xfrm>
          <a:custGeom>
            <a:avLst/>
            <a:gdLst/>
            <a:ahLst/>
            <a:cxnLst/>
            <a:rect l="l" t="t" r="r" b="b"/>
            <a:pathLst>
              <a:path w="5543550" h="2133600">
                <a:moveTo>
                  <a:pt x="0" y="0"/>
                </a:moveTo>
                <a:lnTo>
                  <a:pt x="5543550" y="0"/>
                </a:lnTo>
                <a:lnTo>
                  <a:pt x="5543550" y="2133600"/>
                </a:lnTo>
                <a:lnTo>
                  <a:pt x="0" y="2133600"/>
                </a:lnTo>
                <a:lnTo>
                  <a:pt x="0" y="0"/>
                </a:lnTo>
                <a:close/>
              </a:path>
            </a:pathLst>
          </a:custGeom>
          <a:solidFill>
            <a:srgbClr val="F8F9FA"/>
          </a:solidFill>
          <a:ln/>
        </p:spPr>
      </p:sp>
      <p:sp>
        <p:nvSpPr>
          <p:cNvPr id="16" name="Shape 13"/>
          <p:cNvSpPr/>
          <p:nvPr/>
        </p:nvSpPr>
        <p:spPr>
          <a:xfrm>
            <a:off x="6267450" y="3067050"/>
            <a:ext cx="38100" cy="2133600"/>
          </a:xfrm>
          <a:custGeom>
            <a:avLst/>
            <a:gdLst/>
            <a:ahLst/>
            <a:cxnLst/>
            <a:rect l="l" t="t" r="r" b="b"/>
            <a:pathLst>
              <a:path w="38100" h="2133600">
                <a:moveTo>
                  <a:pt x="0" y="0"/>
                </a:moveTo>
                <a:lnTo>
                  <a:pt x="38100" y="0"/>
                </a:lnTo>
                <a:lnTo>
                  <a:pt x="38100" y="2133600"/>
                </a:lnTo>
                <a:lnTo>
                  <a:pt x="0" y="2133600"/>
                </a:lnTo>
                <a:lnTo>
                  <a:pt x="0" y="0"/>
                </a:lnTo>
                <a:close/>
              </a:path>
            </a:pathLst>
          </a:custGeom>
          <a:solidFill>
            <a:srgbClr val="0984E3"/>
          </a:solidFill>
          <a:ln/>
        </p:spPr>
      </p:sp>
      <p:sp>
        <p:nvSpPr>
          <p:cNvPr id="17" name="Text 14"/>
          <p:cNvSpPr/>
          <p:nvPr/>
        </p:nvSpPr>
        <p:spPr>
          <a:xfrm>
            <a:off x="6477000" y="3257550"/>
            <a:ext cx="5238750"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Real-World Applications</a:t>
            </a:r>
            <a:endParaRPr lang="en-US" sz="1600" dirty="0"/>
          </a:p>
        </p:txBody>
      </p:sp>
      <p:sp>
        <p:nvSpPr>
          <p:cNvPr id="18" name="Shape 15"/>
          <p:cNvSpPr/>
          <p:nvPr/>
        </p:nvSpPr>
        <p:spPr>
          <a:xfrm>
            <a:off x="6496050" y="3671888"/>
            <a:ext cx="152400" cy="152400"/>
          </a:xfrm>
          <a:custGeom>
            <a:avLst/>
            <a:gdLst/>
            <a:ahLst/>
            <a:cxnLst/>
            <a:rect l="l" t="t" r="r" b="b"/>
            <a:pathLst>
              <a:path w="152400" h="152400">
                <a:moveTo>
                  <a:pt x="38100" y="95250"/>
                </a:moveTo>
                <a:lnTo>
                  <a:pt x="7293" y="95250"/>
                </a:lnTo>
                <a:cubicBezTo>
                  <a:pt x="-119" y="95250"/>
                  <a:pt x="-4673" y="87184"/>
                  <a:pt x="-863" y="80814"/>
                </a:cubicBezTo>
                <a:lnTo>
                  <a:pt x="14883" y="54560"/>
                </a:lnTo>
                <a:cubicBezTo>
                  <a:pt x="17472" y="50244"/>
                  <a:pt x="22116" y="47625"/>
                  <a:pt x="27146" y="47625"/>
                </a:cubicBezTo>
                <a:lnTo>
                  <a:pt x="55424" y="47625"/>
                </a:lnTo>
                <a:cubicBezTo>
                  <a:pt x="78075" y="9257"/>
                  <a:pt x="111859" y="7322"/>
                  <a:pt x="134451" y="10626"/>
                </a:cubicBezTo>
                <a:cubicBezTo>
                  <a:pt x="138261" y="11192"/>
                  <a:pt x="141238" y="14168"/>
                  <a:pt x="141774" y="17949"/>
                </a:cubicBezTo>
                <a:cubicBezTo>
                  <a:pt x="145078" y="40541"/>
                  <a:pt x="143143" y="74325"/>
                  <a:pt x="104775" y="96976"/>
                </a:cubicBezTo>
                <a:lnTo>
                  <a:pt x="104775" y="125254"/>
                </a:lnTo>
                <a:cubicBezTo>
                  <a:pt x="104775" y="130284"/>
                  <a:pt x="102156" y="134928"/>
                  <a:pt x="97840" y="137517"/>
                </a:cubicBezTo>
                <a:lnTo>
                  <a:pt x="71586" y="153263"/>
                </a:lnTo>
                <a:cubicBezTo>
                  <a:pt x="65246" y="157073"/>
                  <a:pt x="57150" y="152489"/>
                  <a:pt x="57150" y="145107"/>
                </a:cubicBezTo>
                <a:lnTo>
                  <a:pt x="57150" y="114300"/>
                </a:lnTo>
                <a:cubicBezTo>
                  <a:pt x="57150" y="103793"/>
                  <a:pt x="48607" y="95250"/>
                  <a:pt x="38100" y="95250"/>
                </a:cubicBezTo>
                <a:lnTo>
                  <a:pt x="38070" y="95250"/>
                </a:lnTo>
                <a:close/>
                <a:moveTo>
                  <a:pt x="119062" y="47625"/>
                </a:moveTo>
                <a:cubicBezTo>
                  <a:pt x="119062" y="39740"/>
                  <a:pt x="112660" y="33338"/>
                  <a:pt x="104775" y="33338"/>
                </a:cubicBezTo>
                <a:cubicBezTo>
                  <a:pt x="96890" y="33338"/>
                  <a:pt x="90488" y="39740"/>
                  <a:pt x="90488" y="47625"/>
                </a:cubicBezTo>
                <a:cubicBezTo>
                  <a:pt x="90488" y="55510"/>
                  <a:pt x="96890" y="61912"/>
                  <a:pt x="104775" y="61912"/>
                </a:cubicBezTo>
                <a:cubicBezTo>
                  <a:pt x="112660" y="61912"/>
                  <a:pt x="119062" y="55510"/>
                  <a:pt x="119062" y="47625"/>
                </a:cubicBezTo>
                <a:close/>
              </a:path>
            </a:pathLst>
          </a:custGeom>
          <a:solidFill>
            <a:srgbClr val="0984E3"/>
          </a:solidFill>
          <a:ln/>
        </p:spPr>
      </p:sp>
      <p:sp>
        <p:nvSpPr>
          <p:cNvPr id="19" name="Text 16"/>
          <p:cNvSpPr/>
          <p:nvPr/>
        </p:nvSpPr>
        <p:spPr>
          <a:xfrm>
            <a:off x="6724650" y="3638550"/>
            <a:ext cx="4972050" cy="4572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Arms Races: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Nations build weapons despite mutual disarmament being preferable</a:t>
            </a:r>
            <a:endParaRPr lang="en-US" sz="1600" dirty="0"/>
          </a:p>
        </p:txBody>
      </p:sp>
      <p:sp>
        <p:nvSpPr>
          <p:cNvPr id="20" name="Shape 17"/>
          <p:cNvSpPr/>
          <p:nvPr/>
        </p:nvSpPr>
        <p:spPr>
          <a:xfrm>
            <a:off x="6496050" y="4205288"/>
            <a:ext cx="152400" cy="152400"/>
          </a:xfrm>
          <a:custGeom>
            <a:avLst/>
            <a:gdLst/>
            <a:ahLst/>
            <a:cxnLst/>
            <a:rect l="l" t="t" r="r" b="b"/>
            <a:pathLst>
              <a:path w="152400" h="152400">
                <a:moveTo>
                  <a:pt x="140285" y="1994"/>
                </a:moveTo>
                <a:cubicBezTo>
                  <a:pt x="142190" y="179"/>
                  <a:pt x="144959" y="-476"/>
                  <a:pt x="147518" y="357"/>
                </a:cubicBezTo>
                <a:cubicBezTo>
                  <a:pt x="150435" y="1339"/>
                  <a:pt x="152400" y="4078"/>
                  <a:pt x="152400" y="7144"/>
                </a:cubicBezTo>
                <a:lnTo>
                  <a:pt x="152400" y="62776"/>
                </a:lnTo>
                <a:cubicBezTo>
                  <a:pt x="152400" y="101828"/>
                  <a:pt x="120223" y="133350"/>
                  <a:pt x="81320" y="133350"/>
                </a:cubicBezTo>
                <a:cubicBezTo>
                  <a:pt x="58400" y="133350"/>
                  <a:pt x="38636" y="118616"/>
                  <a:pt x="31462" y="98018"/>
                </a:cubicBezTo>
                <a:cubicBezTo>
                  <a:pt x="20925" y="107186"/>
                  <a:pt x="14287" y="120670"/>
                  <a:pt x="14287" y="135731"/>
                </a:cubicBezTo>
                <a:cubicBezTo>
                  <a:pt x="14287" y="139690"/>
                  <a:pt x="11103" y="142875"/>
                  <a:pt x="7144" y="142875"/>
                </a:cubicBezTo>
                <a:cubicBezTo>
                  <a:pt x="3185" y="142875"/>
                  <a:pt x="0" y="139690"/>
                  <a:pt x="0" y="135731"/>
                </a:cubicBezTo>
                <a:cubicBezTo>
                  <a:pt x="0" y="113437"/>
                  <a:pt x="11370" y="93791"/>
                  <a:pt x="28605" y="82242"/>
                </a:cubicBezTo>
                <a:cubicBezTo>
                  <a:pt x="39112" y="75218"/>
                  <a:pt x="51643" y="71438"/>
                  <a:pt x="64294" y="71438"/>
                </a:cubicBezTo>
                <a:lnTo>
                  <a:pt x="88106" y="71438"/>
                </a:lnTo>
                <a:cubicBezTo>
                  <a:pt x="92065" y="71438"/>
                  <a:pt x="95250" y="68253"/>
                  <a:pt x="95250" y="64294"/>
                </a:cubicBezTo>
                <a:cubicBezTo>
                  <a:pt x="95250" y="60335"/>
                  <a:pt x="92065" y="57150"/>
                  <a:pt x="88106" y="57150"/>
                </a:cubicBezTo>
                <a:lnTo>
                  <a:pt x="64294" y="57150"/>
                </a:lnTo>
                <a:cubicBezTo>
                  <a:pt x="52477" y="57150"/>
                  <a:pt x="41285" y="59769"/>
                  <a:pt x="31254" y="64443"/>
                </a:cubicBezTo>
                <a:cubicBezTo>
                  <a:pt x="38189" y="43607"/>
                  <a:pt x="57805" y="28575"/>
                  <a:pt x="80962" y="28575"/>
                </a:cubicBezTo>
                <a:cubicBezTo>
                  <a:pt x="100727" y="28575"/>
                  <a:pt x="115431" y="21997"/>
                  <a:pt x="125224" y="15478"/>
                </a:cubicBezTo>
                <a:cubicBezTo>
                  <a:pt x="130939" y="11668"/>
                  <a:pt x="135791" y="7114"/>
                  <a:pt x="140315" y="1994"/>
                </a:cubicBezTo>
                <a:close/>
              </a:path>
            </a:pathLst>
          </a:custGeom>
          <a:solidFill>
            <a:srgbClr val="0984E3"/>
          </a:solidFill>
          <a:ln/>
        </p:spPr>
      </p:sp>
      <p:sp>
        <p:nvSpPr>
          <p:cNvPr id="21" name="Text 18"/>
          <p:cNvSpPr/>
          <p:nvPr/>
        </p:nvSpPr>
        <p:spPr>
          <a:xfrm>
            <a:off x="6724650" y="4171950"/>
            <a:ext cx="4972050" cy="2286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Environment:</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Overfishing and pollution despite collective harm</a:t>
            </a:r>
            <a:endParaRPr lang="en-US" sz="1600" dirty="0"/>
          </a:p>
        </p:txBody>
      </p:sp>
      <p:sp>
        <p:nvSpPr>
          <p:cNvPr id="22" name="Shape 19"/>
          <p:cNvSpPr/>
          <p:nvPr/>
        </p:nvSpPr>
        <p:spPr>
          <a:xfrm>
            <a:off x="6515100" y="4510088"/>
            <a:ext cx="114300" cy="152400"/>
          </a:xfrm>
          <a:custGeom>
            <a:avLst/>
            <a:gdLst/>
            <a:ahLst/>
            <a:cxnLst/>
            <a:rect l="l" t="t" r="r" b="b"/>
            <a:pathLst>
              <a:path w="114300" h="152400">
                <a:moveTo>
                  <a:pt x="19050" y="0"/>
                </a:moveTo>
                <a:cubicBezTo>
                  <a:pt x="8543" y="0"/>
                  <a:pt x="0" y="8543"/>
                  <a:pt x="0" y="19050"/>
                </a:cubicBezTo>
                <a:lnTo>
                  <a:pt x="0" y="133350"/>
                </a:lnTo>
                <a:cubicBezTo>
                  <a:pt x="0" y="143857"/>
                  <a:pt x="8543" y="152400"/>
                  <a:pt x="19050" y="152400"/>
                </a:cubicBezTo>
                <a:lnTo>
                  <a:pt x="95250" y="152400"/>
                </a:lnTo>
                <a:cubicBezTo>
                  <a:pt x="105757" y="152400"/>
                  <a:pt x="114300" y="143857"/>
                  <a:pt x="114300" y="133350"/>
                </a:cubicBezTo>
                <a:lnTo>
                  <a:pt x="114300" y="19050"/>
                </a:lnTo>
                <a:cubicBezTo>
                  <a:pt x="114300" y="8543"/>
                  <a:pt x="105757" y="0"/>
                  <a:pt x="95250" y="0"/>
                </a:cubicBezTo>
                <a:lnTo>
                  <a:pt x="19050" y="0"/>
                </a:lnTo>
                <a:close/>
                <a:moveTo>
                  <a:pt x="52388" y="104775"/>
                </a:moveTo>
                <a:lnTo>
                  <a:pt x="61912" y="104775"/>
                </a:lnTo>
                <a:cubicBezTo>
                  <a:pt x="67181" y="104775"/>
                  <a:pt x="71438" y="109031"/>
                  <a:pt x="71438" y="114300"/>
                </a:cubicBezTo>
                <a:lnTo>
                  <a:pt x="71438" y="138113"/>
                </a:lnTo>
                <a:lnTo>
                  <a:pt x="42863" y="138113"/>
                </a:lnTo>
                <a:lnTo>
                  <a:pt x="42863" y="114300"/>
                </a:lnTo>
                <a:cubicBezTo>
                  <a:pt x="42863" y="109031"/>
                  <a:pt x="47119" y="104775"/>
                  <a:pt x="52388" y="104775"/>
                </a:cubicBezTo>
                <a:close/>
                <a:moveTo>
                  <a:pt x="28575" y="33338"/>
                </a:moveTo>
                <a:cubicBezTo>
                  <a:pt x="28575" y="30718"/>
                  <a:pt x="30718" y="28575"/>
                  <a:pt x="33338" y="28575"/>
                </a:cubicBezTo>
                <a:lnTo>
                  <a:pt x="42863" y="28575"/>
                </a:lnTo>
                <a:cubicBezTo>
                  <a:pt x="45482" y="28575"/>
                  <a:pt x="47625" y="30718"/>
                  <a:pt x="47625" y="33338"/>
                </a:cubicBezTo>
                <a:lnTo>
                  <a:pt x="47625" y="42863"/>
                </a:lnTo>
                <a:cubicBezTo>
                  <a:pt x="47625" y="45482"/>
                  <a:pt x="45482" y="47625"/>
                  <a:pt x="42863" y="47625"/>
                </a:cubicBezTo>
                <a:lnTo>
                  <a:pt x="33338" y="47625"/>
                </a:lnTo>
                <a:cubicBezTo>
                  <a:pt x="30718" y="47625"/>
                  <a:pt x="28575" y="45482"/>
                  <a:pt x="28575" y="42863"/>
                </a:cubicBezTo>
                <a:lnTo>
                  <a:pt x="28575" y="33338"/>
                </a:lnTo>
                <a:close/>
                <a:moveTo>
                  <a:pt x="71438" y="28575"/>
                </a:moveTo>
                <a:lnTo>
                  <a:pt x="80962" y="28575"/>
                </a:lnTo>
                <a:cubicBezTo>
                  <a:pt x="83582" y="28575"/>
                  <a:pt x="85725" y="30718"/>
                  <a:pt x="85725" y="33338"/>
                </a:cubicBezTo>
                <a:lnTo>
                  <a:pt x="85725" y="42863"/>
                </a:lnTo>
                <a:cubicBezTo>
                  <a:pt x="85725" y="45482"/>
                  <a:pt x="83582" y="47625"/>
                  <a:pt x="80962" y="47625"/>
                </a:cubicBezTo>
                <a:lnTo>
                  <a:pt x="71438" y="47625"/>
                </a:lnTo>
                <a:cubicBezTo>
                  <a:pt x="68818" y="47625"/>
                  <a:pt x="66675" y="45482"/>
                  <a:pt x="66675" y="42863"/>
                </a:cubicBezTo>
                <a:lnTo>
                  <a:pt x="66675" y="33338"/>
                </a:lnTo>
                <a:cubicBezTo>
                  <a:pt x="66675" y="30718"/>
                  <a:pt x="68818" y="28575"/>
                  <a:pt x="71438" y="28575"/>
                </a:cubicBezTo>
                <a:close/>
                <a:moveTo>
                  <a:pt x="28575" y="71438"/>
                </a:moveTo>
                <a:cubicBezTo>
                  <a:pt x="28575" y="68818"/>
                  <a:pt x="30718" y="66675"/>
                  <a:pt x="33338" y="66675"/>
                </a:cubicBezTo>
                <a:lnTo>
                  <a:pt x="42863" y="66675"/>
                </a:lnTo>
                <a:cubicBezTo>
                  <a:pt x="45482" y="66675"/>
                  <a:pt x="47625" y="68818"/>
                  <a:pt x="47625" y="71438"/>
                </a:cubicBezTo>
                <a:lnTo>
                  <a:pt x="47625" y="80962"/>
                </a:lnTo>
                <a:cubicBezTo>
                  <a:pt x="47625" y="83582"/>
                  <a:pt x="45482" y="85725"/>
                  <a:pt x="42863" y="85725"/>
                </a:cubicBezTo>
                <a:lnTo>
                  <a:pt x="33338" y="85725"/>
                </a:lnTo>
                <a:cubicBezTo>
                  <a:pt x="30718" y="85725"/>
                  <a:pt x="28575" y="83582"/>
                  <a:pt x="28575" y="80962"/>
                </a:cubicBezTo>
                <a:lnTo>
                  <a:pt x="28575" y="71438"/>
                </a:lnTo>
                <a:close/>
                <a:moveTo>
                  <a:pt x="71438" y="66675"/>
                </a:moveTo>
                <a:lnTo>
                  <a:pt x="80962" y="66675"/>
                </a:lnTo>
                <a:cubicBezTo>
                  <a:pt x="83582" y="66675"/>
                  <a:pt x="85725" y="68818"/>
                  <a:pt x="85725" y="71438"/>
                </a:cubicBezTo>
                <a:lnTo>
                  <a:pt x="85725" y="80962"/>
                </a:lnTo>
                <a:cubicBezTo>
                  <a:pt x="85725" y="83582"/>
                  <a:pt x="83582" y="85725"/>
                  <a:pt x="80962" y="85725"/>
                </a:cubicBezTo>
                <a:lnTo>
                  <a:pt x="71438" y="85725"/>
                </a:lnTo>
                <a:cubicBezTo>
                  <a:pt x="68818" y="85725"/>
                  <a:pt x="66675" y="83582"/>
                  <a:pt x="66675" y="80962"/>
                </a:cubicBezTo>
                <a:lnTo>
                  <a:pt x="66675" y="71438"/>
                </a:lnTo>
                <a:cubicBezTo>
                  <a:pt x="66675" y="68818"/>
                  <a:pt x="68818" y="66675"/>
                  <a:pt x="71438" y="66675"/>
                </a:cubicBezTo>
                <a:close/>
              </a:path>
            </a:pathLst>
          </a:custGeom>
          <a:solidFill>
            <a:srgbClr val="0984E3"/>
          </a:solidFill>
          <a:ln/>
        </p:spPr>
      </p:sp>
      <p:sp>
        <p:nvSpPr>
          <p:cNvPr id="23" name="Text 20"/>
          <p:cNvSpPr/>
          <p:nvPr/>
        </p:nvSpPr>
        <p:spPr>
          <a:xfrm>
            <a:off x="6724650" y="4476750"/>
            <a:ext cx="4972050" cy="2286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Business: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Price wars that reduce profits for all competitors</a:t>
            </a:r>
            <a:endParaRPr lang="en-US" sz="1600" dirty="0"/>
          </a:p>
        </p:txBody>
      </p:sp>
      <p:sp>
        <p:nvSpPr>
          <p:cNvPr id="24" name="Shape 21"/>
          <p:cNvSpPr/>
          <p:nvPr/>
        </p:nvSpPr>
        <p:spPr>
          <a:xfrm>
            <a:off x="6486525" y="4814888"/>
            <a:ext cx="171450" cy="152400"/>
          </a:xfrm>
          <a:custGeom>
            <a:avLst/>
            <a:gdLst/>
            <a:ahLst/>
            <a:cxnLst/>
            <a:rect l="l" t="t" r="r" b="b"/>
            <a:pathLst>
              <a:path w="171450" h="152400">
                <a:moveTo>
                  <a:pt x="85725" y="-4762"/>
                </a:moveTo>
                <a:cubicBezTo>
                  <a:pt x="81766" y="-4762"/>
                  <a:pt x="78581" y="-1578"/>
                  <a:pt x="78581" y="2381"/>
                </a:cubicBezTo>
                <a:lnTo>
                  <a:pt x="78581" y="5953"/>
                </a:lnTo>
                <a:lnTo>
                  <a:pt x="78045" y="5953"/>
                </a:lnTo>
                <a:cubicBezTo>
                  <a:pt x="67151" y="5953"/>
                  <a:pt x="58341" y="14794"/>
                  <a:pt x="58341" y="25658"/>
                </a:cubicBezTo>
                <a:cubicBezTo>
                  <a:pt x="58341" y="35600"/>
                  <a:pt x="65752" y="43994"/>
                  <a:pt x="75605" y="45214"/>
                </a:cubicBezTo>
                <a:lnTo>
                  <a:pt x="93762" y="47476"/>
                </a:lnTo>
                <a:cubicBezTo>
                  <a:pt x="95280" y="47655"/>
                  <a:pt x="96441" y="48964"/>
                  <a:pt x="96441" y="50512"/>
                </a:cubicBezTo>
                <a:cubicBezTo>
                  <a:pt x="96441" y="52209"/>
                  <a:pt x="95071" y="53548"/>
                  <a:pt x="93405" y="53548"/>
                </a:cubicBezTo>
                <a:lnTo>
                  <a:pt x="71438" y="53578"/>
                </a:lnTo>
                <a:cubicBezTo>
                  <a:pt x="66824" y="53578"/>
                  <a:pt x="63103" y="57299"/>
                  <a:pt x="63103" y="61912"/>
                </a:cubicBezTo>
                <a:cubicBezTo>
                  <a:pt x="63103" y="66526"/>
                  <a:pt x="66824" y="70247"/>
                  <a:pt x="71438" y="70247"/>
                </a:cubicBezTo>
                <a:lnTo>
                  <a:pt x="78581" y="70247"/>
                </a:lnTo>
                <a:lnTo>
                  <a:pt x="78581" y="73819"/>
                </a:lnTo>
                <a:cubicBezTo>
                  <a:pt x="78581" y="77778"/>
                  <a:pt x="81766" y="80962"/>
                  <a:pt x="85725" y="80962"/>
                </a:cubicBezTo>
                <a:cubicBezTo>
                  <a:pt x="89684" y="80962"/>
                  <a:pt x="92869" y="77778"/>
                  <a:pt x="92869" y="73819"/>
                </a:cubicBezTo>
                <a:lnTo>
                  <a:pt x="92869" y="70247"/>
                </a:lnTo>
                <a:lnTo>
                  <a:pt x="93405" y="70247"/>
                </a:lnTo>
                <a:cubicBezTo>
                  <a:pt x="104299" y="70247"/>
                  <a:pt x="113109" y="61406"/>
                  <a:pt x="113109" y="50542"/>
                </a:cubicBezTo>
                <a:cubicBezTo>
                  <a:pt x="113109" y="40600"/>
                  <a:pt x="105698" y="32206"/>
                  <a:pt x="95845" y="30986"/>
                </a:cubicBezTo>
                <a:lnTo>
                  <a:pt x="77688" y="28724"/>
                </a:lnTo>
                <a:cubicBezTo>
                  <a:pt x="76170" y="28545"/>
                  <a:pt x="75009" y="27236"/>
                  <a:pt x="75009" y="25688"/>
                </a:cubicBezTo>
                <a:cubicBezTo>
                  <a:pt x="75009" y="23991"/>
                  <a:pt x="76379" y="22652"/>
                  <a:pt x="78045" y="22652"/>
                </a:cubicBezTo>
                <a:lnTo>
                  <a:pt x="97631" y="22622"/>
                </a:lnTo>
                <a:cubicBezTo>
                  <a:pt x="102245" y="22622"/>
                  <a:pt x="105966" y="18901"/>
                  <a:pt x="105966" y="14288"/>
                </a:cubicBezTo>
                <a:cubicBezTo>
                  <a:pt x="105966" y="9674"/>
                  <a:pt x="102245" y="5953"/>
                  <a:pt x="97631" y="5953"/>
                </a:cubicBezTo>
                <a:lnTo>
                  <a:pt x="92869" y="5953"/>
                </a:lnTo>
                <a:lnTo>
                  <a:pt x="92869" y="2381"/>
                </a:lnTo>
                <a:cubicBezTo>
                  <a:pt x="92869" y="-1578"/>
                  <a:pt x="89684" y="-4762"/>
                  <a:pt x="85725" y="-4762"/>
                </a:cubicBezTo>
                <a:close/>
                <a:moveTo>
                  <a:pt x="32534" y="101650"/>
                </a:moveTo>
                <a:lnTo>
                  <a:pt x="19854" y="114300"/>
                </a:lnTo>
                <a:lnTo>
                  <a:pt x="9525" y="114300"/>
                </a:lnTo>
                <a:cubicBezTo>
                  <a:pt x="4256" y="114300"/>
                  <a:pt x="0" y="118556"/>
                  <a:pt x="0" y="123825"/>
                </a:cubicBezTo>
                <a:lnTo>
                  <a:pt x="0" y="142875"/>
                </a:lnTo>
                <a:cubicBezTo>
                  <a:pt x="0" y="148144"/>
                  <a:pt x="4256" y="152400"/>
                  <a:pt x="9525" y="152400"/>
                </a:cubicBezTo>
                <a:lnTo>
                  <a:pt x="104924" y="152400"/>
                </a:lnTo>
                <a:cubicBezTo>
                  <a:pt x="113556" y="152400"/>
                  <a:pt x="121980" y="149632"/>
                  <a:pt x="128945" y="144512"/>
                </a:cubicBezTo>
                <a:lnTo>
                  <a:pt x="166628" y="116741"/>
                </a:lnTo>
                <a:cubicBezTo>
                  <a:pt x="171926" y="112841"/>
                  <a:pt x="173057" y="105400"/>
                  <a:pt x="169158" y="100102"/>
                </a:cubicBezTo>
                <a:cubicBezTo>
                  <a:pt x="165259" y="94804"/>
                  <a:pt x="157817" y="93672"/>
                  <a:pt x="152519" y="97572"/>
                </a:cubicBezTo>
                <a:lnTo>
                  <a:pt x="116860" y="123825"/>
                </a:lnTo>
                <a:lnTo>
                  <a:pt x="83344" y="123825"/>
                </a:lnTo>
                <a:cubicBezTo>
                  <a:pt x="79385" y="123825"/>
                  <a:pt x="76200" y="120640"/>
                  <a:pt x="76200" y="116681"/>
                </a:cubicBezTo>
                <a:cubicBezTo>
                  <a:pt x="76200" y="112722"/>
                  <a:pt x="79385" y="109537"/>
                  <a:pt x="83344" y="109537"/>
                </a:cubicBezTo>
                <a:lnTo>
                  <a:pt x="104775" y="109537"/>
                </a:lnTo>
                <a:cubicBezTo>
                  <a:pt x="110044" y="109537"/>
                  <a:pt x="114300" y="105281"/>
                  <a:pt x="114300" y="100013"/>
                </a:cubicBezTo>
                <a:cubicBezTo>
                  <a:pt x="114300" y="94744"/>
                  <a:pt x="110044" y="90488"/>
                  <a:pt x="104775" y="90488"/>
                </a:cubicBezTo>
                <a:lnTo>
                  <a:pt x="59472" y="90488"/>
                </a:lnTo>
                <a:cubicBezTo>
                  <a:pt x="49381" y="90488"/>
                  <a:pt x="39678" y="94506"/>
                  <a:pt x="32534" y="101650"/>
                </a:cubicBezTo>
                <a:close/>
              </a:path>
            </a:pathLst>
          </a:custGeom>
          <a:solidFill>
            <a:srgbClr val="0984E3"/>
          </a:solidFill>
          <a:ln/>
        </p:spPr>
      </p:sp>
      <p:sp>
        <p:nvSpPr>
          <p:cNvPr id="25" name="Text 22"/>
          <p:cNvSpPr/>
          <p:nvPr/>
        </p:nvSpPr>
        <p:spPr>
          <a:xfrm>
            <a:off x="6724650" y="4781550"/>
            <a:ext cx="4972050" cy="2286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Public Goods: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Free-riding on contributions to shared resources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58588" y="358588"/>
            <a:ext cx="11546541" cy="215153"/>
          </a:xfrm>
          <a:prstGeom prst="rect">
            <a:avLst/>
          </a:prstGeom>
          <a:noFill/>
          <a:ln/>
        </p:spPr>
        <p:txBody>
          <a:bodyPr wrap="square" lIns="0" tIns="0" rIns="0" bIns="0" rtlCol="0" anchor="ctr"/>
          <a:lstStyle/>
          <a:p>
            <a:pPr>
              <a:lnSpc>
                <a:spcPct val="120000"/>
              </a:lnSpc>
            </a:pPr>
            <a:r>
              <a:rPr lang="en-US" sz="1129" b="1" spc="56" kern="0" dirty="0">
                <a:solidFill>
                  <a:srgbClr val="0984E3"/>
                </a:solidFill>
                <a:latin typeface="Quattrocento Sans" pitchFamily="34" charset="0"/>
                <a:ea typeface="Quattrocento Sans" pitchFamily="34" charset="-122"/>
                <a:cs typeface="Quattrocento Sans" pitchFamily="34" charset="-120"/>
              </a:rPr>
              <a:t>COORDINATION &amp; CONFRONTATION</a:t>
            </a:r>
            <a:endParaRPr lang="en-US" sz="1600" dirty="0"/>
          </a:p>
        </p:txBody>
      </p:sp>
      <p:sp>
        <p:nvSpPr>
          <p:cNvPr id="3" name="Text 1"/>
          <p:cNvSpPr/>
          <p:nvPr/>
        </p:nvSpPr>
        <p:spPr>
          <a:xfrm>
            <a:off x="358588" y="645459"/>
            <a:ext cx="11689976" cy="430306"/>
          </a:xfrm>
          <a:prstGeom prst="rect">
            <a:avLst/>
          </a:prstGeom>
          <a:noFill/>
          <a:ln/>
        </p:spPr>
        <p:txBody>
          <a:bodyPr wrap="square" lIns="0" tIns="0" rIns="0" bIns="0" rtlCol="0" anchor="ctr"/>
          <a:lstStyle/>
          <a:p>
            <a:pPr>
              <a:lnSpc>
                <a:spcPct val="80000"/>
              </a:lnSpc>
            </a:pPr>
            <a:r>
              <a:rPr lang="en-US" sz="3388" b="1" dirty="0">
                <a:solidFill>
                  <a:srgbClr val="2D3436"/>
                </a:solidFill>
                <a:latin typeface="Oranienbaum" pitchFamily="34" charset="0"/>
                <a:ea typeface="Oranienbaum" pitchFamily="34" charset="-122"/>
                <a:cs typeface="Oranienbaum" pitchFamily="34" charset="-120"/>
              </a:rPr>
              <a:t>Battle of the Sexes &amp; Chicken Game</a:t>
            </a:r>
            <a:endParaRPr lang="en-US" sz="1600" dirty="0"/>
          </a:p>
        </p:txBody>
      </p:sp>
      <p:sp>
        <p:nvSpPr>
          <p:cNvPr id="4" name="Text 2"/>
          <p:cNvSpPr/>
          <p:nvPr/>
        </p:nvSpPr>
        <p:spPr>
          <a:xfrm>
            <a:off x="358588" y="1290918"/>
            <a:ext cx="5701553" cy="286871"/>
          </a:xfrm>
          <a:prstGeom prst="rect">
            <a:avLst/>
          </a:prstGeom>
          <a:noFill/>
          <a:ln/>
        </p:spPr>
        <p:txBody>
          <a:bodyPr wrap="square" lIns="0" tIns="0" rIns="0" bIns="0" rtlCol="0" anchor="ctr"/>
          <a:lstStyle/>
          <a:p>
            <a:pPr>
              <a:lnSpc>
                <a:spcPct val="110000"/>
              </a:lnSpc>
            </a:pPr>
            <a:r>
              <a:rPr lang="en-US" sz="1694" b="1" dirty="0">
                <a:solidFill>
                  <a:srgbClr val="2D3436"/>
                </a:solidFill>
                <a:latin typeface="Oranienbaum" pitchFamily="34" charset="0"/>
                <a:ea typeface="Oranienbaum" pitchFamily="34" charset="-122"/>
                <a:cs typeface="Oranienbaum" pitchFamily="34" charset="-120"/>
              </a:rPr>
              <a:t>Battle of the Sexes</a:t>
            </a:r>
            <a:endParaRPr lang="en-US" sz="1600" dirty="0"/>
          </a:p>
        </p:txBody>
      </p:sp>
      <p:sp>
        <p:nvSpPr>
          <p:cNvPr id="5" name="Text 3"/>
          <p:cNvSpPr/>
          <p:nvPr/>
        </p:nvSpPr>
        <p:spPr>
          <a:xfrm>
            <a:off x="358588" y="1725706"/>
            <a:ext cx="5474494" cy="441512"/>
          </a:xfrm>
          <a:prstGeom prst="rect">
            <a:avLst/>
          </a:prstGeom>
          <a:noFill/>
          <a:ln/>
        </p:spPr>
        <p:txBody>
          <a:bodyPr wrap="square" lIns="0" tIns="0" rIns="0" bIns="0" rtlCol="0" anchor="ctr"/>
          <a:lstStyle/>
          <a:p>
            <a:pPr>
              <a:lnSpc>
                <a:spcPct val="140000"/>
              </a:lnSpc>
            </a:pPr>
            <a:r>
              <a:rPr lang="en-US" sz="1271" b="1" dirty="0">
                <a:solidFill>
                  <a:srgbClr val="1E272E"/>
                </a:solidFill>
                <a:latin typeface="Quattrocento Sans" pitchFamily="34" charset="0"/>
                <a:ea typeface="Quattrocento Sans" pitchFamily="34" charset="-122"/>
                <a:cs typeface="Quattrocento Sans" pitchFamily="34" charset="-120"/>
              </a:rPr>
              <a:t>A coordination game where two players prefer to be together but disagree on the preferred activity.</a:t>
            </a:r>
            <a:endParaRPr lang="en-US" sz="1600" dirty="0"/>
          </a:p>
        </p:txBody>
      </p:sp>
      <p:sp>
        <p:nvSpPr>
          <p:cNvPr id="6" name="Text 4"/>
          <p:cNvSpPr/>
          <p:nvPr/>
        </p:nvSpPr>
        <p:spPr>
          <a:xfrm>
            <a:off x="358588" y="2317376"/>
            <a:ext cx="5665694" cy="466165"/>
          </a:xfrm>
          <a:prstGeom prst="rect">
            <a:avLst/>
          </a:prstGeom>
          <a:noFill/>
          <a:ln/>
        </p:spPr>
        <p:txBody>
          <a:bodyPr wrap="square" lIns="0" tIns="0" rIns="0" bIns="0" rtlCol="0" anchor="ctr"/>
          <a:lstStyle/>
          <a:p>
            <a:pPr>
              <a:lnSpc>
                <a:spcPct val="140000"/>
              </a:lnSpc>
            </a:pPr>
            <a:r>
              <a:rPr lang="en-US" sz="1129" dirty="0">
                <a:solidFill>
                  <a:srgbClr val="636E72"/>
                </a:solidFill>
                <a:latin typeface="Quattrocento Sans" pitchFamily="34" charset="0"/>
                <a:ea typeface="Quattrocento Sans" pitchFamily="34" charset="-122"/>
                <a:cs typeface="Quattrocento Sans" pitchFamily="34" charset="-120"/>
              </a:rPr>
              <a:t>Classic scenario: Alice prefers ballet, Bob prefers boxing, but both prefer being together over being apart. The challenge is achieving coordination when preferences diverge.</a:t>
            </a:r>
            <a:endParaRPr lang="en-US" sz="1600" dirty="0"/>
          </a:p>
        </p:txBody>
      </p:sp>
      <p:sp>
        <p:nvSpPr>
          <p:cNvPr id="7" name="Shape 5"/>
          <p:cNvSpPr/>
          <p:nvPr/>
        </p:nvSpPr>
        <p:spPr>
          <a:xfrm>
            <a:off x="363071" y="2931459"/>
            <a:ext cx="5585012" cy="1873624"/>
          </a:xfrm>
          <a:custGeom>
            <a:avLst/>
            <a:gdLst/>
            <a:ahLst/>
            <a:cxnLst/>
            <a:rect l="l" t="t" r="r" b="b"/>
            <a:pathLst>
              <a:path w="5585012" h="1873624">
                <a:moveTo>
                  <a:pt x="0" y="0"/>
                </a:moveTo>
                <a:lnTo>
                  <a:pt x="5585012" y="0"/>
                </a:lnTo>
                <a:lnTo>
                  <a:pt x="5585012" y="1873624"/>
                </a:lnTo>
                <a:lnTo>
                  <a:pt x="0" y="1873624"/>
                </a:lnTo>
                <a:lnTo>
                  <a:pt x="0" y="0"/>
                </a:lnTo>
                <a:close/>
              </a:path>
            </a:pathLst>
          </a:custGeom>
          <a:solidFill>
            <a:srgbClr val="FFFFFF"/>
          </a:solidFill>
          <a:ln w="12700">
            <a:solidFill>
              <a:srgbClr val="E0E0E0"/>
            </a:solidFill>
            <a:prstDash val="solid"/>
          </a:ln>
        </p:spPr>
      </p:sp>
      <p:sp>
        <p:nvSpPr>
          <p:cNvPr id="8" name="Text 6"/>
          <p:cNvSpPr/>
          <p:nvPr/>
        </p:nvSpPr>
        <p:spPr>
          <a:xfrm>
            <a:off x="470647" y="3079376"/>
            <a:ext cx="5369859" cy="251012"/>
          </a:xfrm>
          <a:prstGeom prst="rect">
            <a:avLst/>
          </a:prstGeom>
          <a:noFill/>
          <a:ln/>
        </p:spPr>
        <p:txBody>
          <a:bodyPr wrap="square" lIns="0" tIns="0" rIns="0" bIns="0" rtlCol="0" anchor="ctr"/>
          <a:lstStyle/>
          <a:p>
            <a:pPr algn="ctr">
              <a:lnSpc>
                <a:spcPct val="130000"/>
              </a:lnSpc>
            </a:pPr>
            <a:r>
              <a:rPr lang="en-US" sz="1271" b="1" dirty="0">
                <a:solidFill>
                  <a:srgbClr val="2D3436"/>
                </a:solidFill>
                <a:latin typeface="Oranienbaum" pitchFamily="34" charset="0"/>
                <a:ea typeface="Oranienbaum" pitchFamily="34" charset="-122"/>
                <a:cs typeface="Oranienbaum" pitchFamily="34" charset="-120"/>
              </a:rPr>
              <a:t>Payoff Matrix</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10988" y="3402106"/>
          <a:ext cx="5289176" cy="1004047"/>
        </p:xfrm>
        <a:graphic>
          <a:graphicData uri="http://schemas.openxmlformats.org/drawingml/2006/table">
            <a:tbl>
              <a:tblPr/>
              <a:tblGrid>
                <a:gridCol w="1894764"/>
                <a:gridCol w="1616387"/>
                <a:gridCol w="1778025"/>
              </a:tblGrid>
              <a:tr h="334682">
                <a:tc>
                  <a:txBody>
                    <a:bodyPr/>
                    <a:lstStyle/>
                    <a:p>
                      <a:pPr algn="ct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b="1" u="none" dirty="0">
                          <a:solidFill>
                            <a:srgbClr val="2D3436"/>
                          </a:solidFill>
                          <a:latin typeface="微软雅黑" pitchFamily="34" charset="0"/>
                          <a:ea typeface="微软雅黑" pitchFamily="34" charset="-122"/>
                          <a:cs typeface="微软雅黑" pitchFamily="34" charset="-120"/>
                        </a:rPr>
                        <a:t>Bob: Ballet</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b="1" u="none" dirty="0">
                          <a:solidFill>
                            <a:srgbClr val="2D3436"/>
                          </a:solidFill>
                          <a:latin typeface="微软雅黑" pitchFamily="34" charset="0"/>
                          <a:ea typeface="微软雅黑" pitchFamily="34" charset="-122"/>
                          <a:cs typeface="微软雅黑" pitchFamily="34" charset="-120"/>
                        </a:rPr>
                        <a:t>Bob: Boxing</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r>
              <a:tr h="334682">
                <a:tc>
                  <a:txBody>
                    <a:bodyPr/>
                    <a:lstStyle/>
                    <a:p>
                      <a:r>
                        <a:rPr lang="en-US" sz="900" b="1" u="none" dirty="0">
                          <a:solidFill>
                            <a:srgbClr val="2D3436"/>
                          </a:solidFill>
                          <a:latin typeface="微软雅黑" pitchFamily="34" charset="0"/>
                          <a:ea typeface="微软雅黑" pitchFamily="34" charset="-122"/>
                          <a:cs typeface="微软雅黑" pitchFamily="34" charset="-120"/>
                        </a:rPr>
                        <a:t>Alice: Ballet</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(3, 2)</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984E3"/>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(0, 0)</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r>
              <a:tr h="334682">
                <a:tc>
                  <a:txBody>
                    <a:bodyPr/>
                    <a:lstStyle/>
                    <a:p>
                      <a:r>
                        <a:rPr lang="en-US" sz="900" b="1" u="none" dirty="0">
                          <a:solidFill>
                            <a:srgbClr val="2D3436"/>
                          </a:solidFill>
                          <a:latin typeface="微软雅黑" pitchFamily="34" charset="0"/>
                          <a:ea typeface="微软雅黑" pitchFamily="34" charset="-122"/>
                          <a:cs typeface="微软雅黑" pitchFamily="34" charset="-120"/>
                        </a:rPr>
                        <a:t>Alice: Boxing</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(0, 0)</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(2, 3)</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984E3"/>
                    </a:solidFill>
                  </a:tcPr>
                </a:tc>
              </a:tr>
            </a:tbl>
          </a:graphicData>
        </a:graphic>
      </p:graphicFrame>
      <p:sp>
        <p:nvSpPr>
          <p:cNvPr id="10" name="Text 7"/>
          <p:cNvSpPr/>
          <p:nvPr/>
        </p:nvSpPr>
        <p:spPr>
          <a:xfrm>
            <a:off x="479612" y="4477871"/>
            <a:ext cx="5351929" cy="179294"/>
          </a:xfrm>
          <a:prstGeom prst="rect">
            <a:avLst/>
          </a:prstGeom>
          <a:noFill/>
          <a:ln/>
        </p:spPr>
        <p:txBody>
          <a:bodyPr wrap="square" lIns="0" tIns="0" rIns="0" bIns="0" rtlCol="0" anchor="ctr"/>
          <a:lstStyle/>
          <a:p>
            <a:pPr algn="ctr">
              <a:lnSpc>
                <a:spcPct val="120000"/>
              </a:lnSpc>
            </a:pPr>
            <a:r>
              <a:rPr lang="en-US" sz="988" dirty="0">
                <a:solidFill>
                  <a:srgbClr val="636E72"/>
                </a:solidFill>
                <a:latin typeface="Quattrocento Sans" pitchFamily="34" charset="0"/>
                <a:ea typeface="Quattrocento Sans" pitchFamily="34" charset="-122"/>
                <a:cs typeface="Quattrocento Sans" pitchFamily="34" charset="-120"/>
              </a:rPr>
              <a:t>Two pure-strategy Nash equilibria (highlighted)</a:t>
            </a:r>
            <a:endParaRPr lang="en-US" sz="1600" dirty="0"/>
          </a:p>
        </p:txBody>
      </p:sp>
      <p:sp>
        <p:nvSpPr>
          <p:cNvPr id="11" name="Shape 8"/>
          <p:cNvSpPr/>
          <p:nvPr/>
        </p:nvSpPr>
        <p:spPr>
          <a:xfrm>
            <a:off x="376518" y="4953000"/>
            <a:ext cx="5576047" cy="753035"/>
          </a:xfrm>
          <a:custGeom>
            <a:avLst/>
            <a:gdLst/>
            <a:ahLst/>
            <a:cxnLst/>
            <a:rect l="l" t="t" r="r" b="b"/>
            <a:pathLst>
              <a:path w="5576047" h="753035">
                <a:moveTo>
                  <a:pt x="0" y="0"/>
                </a:moveTo>
                <a:lnTo>
                  <a:pt x="5576047" y="0"/>
                </a:lnTo>
                <a:lnTo>
                  <a:pt x="5576047" y="753035"/>
                </a:lnTo>
                <a:lnTo>
                  <a:pt x="0" y="753035"/>
                </a:lnTo>
                <a:lnTo>
                  <a:pt x="0" y="0"/>
                </a:lnTo>
                <a:close/>
              </a:path>
            </a:pathLst>
          </a:custGeom>
          <a:solidFill>
            <a:srgbClr val="F8F9FA"/>
          </a:solidFill>
          <a:ln/>
        </p:spPr>
      </p:sp>
      <p:sp>
        <p:nvSpPr>
          <p:cNvPr id="12" name="Shape 9"/>
          <p:cNvSpPr/>
          <p:nvPr/>
        </p:nvSpPr>
        <p:spPr>
          <a:xfrm>
            <a:off x="376518" y="4953000"/>
            <a:ext cx="35859" cy="753035"/>
          </a:xfrm>
          <a:custGeom>
            <a:avLst/>
            <a:gdLst/>
            <a:ahLst/>
            <a:cxnLst/>
            <a:rect l="l" t="t" r="r" b="b"/>
            <a:pathLst>
              <a:path w="35859" h="753035">
                <a:moveTo>
                  <a:pt x="0" y="0"/>
                </a:moveTo>
                <a:lnTo>
                  <a:pt x="35859" y="0"/>
                </a:lnTo>
                <a:lnTo>
                  <a:pt x="35859" y="753035"/>
                </a:lnTo>
                <a:lnTo>
                  <a:pt x="0" y="753035"/>
                </a:lnTo>
                <a:lnTo>
                  <a:pt x="0" y="0"/>
                </a:lnTo>
                <a:close/>
              </a:path>
            </a:pathLst>
          </a:custGeom>
          <a:solidFill>
            <a:srgbClr val="0984E3"/>
          </a:solidFill>
          <a:ln/>
        </p:spPr>
      </p:sp>
      <p:sp>
        <p:nvSpPr>
          <p:cNvPr id="13" name="Text 10"/>
          <p:cNvSpPr/>
          <p:nvPr/>
        </p:nvSpPr>
        <p:spPr>
          <a:xfrm>
            <a:off x="537882" y="5096435"/>
            <a:ext cx="5342965" cy="466165"/>
          </a:xfrm>
          <a:prstGeom prst="rect">
            <a:avLst/>
          </a:prstGeom>
          <a:noFill/>
          <a:ln/>
        </p:spPr>
        <p:txBody>
          <a:bodyPr wrap="square" lIns="0" tIns="0" rIns="0" bIns="0" rtlCol="0" anchor="ctr"/>
          <a:lstStyle/>
          <a:p>
            <a:pPr>
              <a:lnSpc>
                <a:spcPct val="140000"/>
              </a:lnSpc>
            </a:pPr>
            <a:r>
              <a:rPr lang="en-US" sz="1129" b="1" dirty="0">
                <a:solidFill>
                  <a:srgbClr val="1E272E"/>
                </a:solidFill>
                <a:latin typeface="Quattrocento Sans" pitchFamily="34" charset="0"/>
                <a:ea typeface="Quattrocento Sans" pitchFamily="34" charset="-122"/>
                <a:cs typeface="Quattrocento Sans" pitchFamily="34" charset="-120"/>
              </a:rPr>
              <a:t>Key Challenge:</a:t>
            </a:r>
            <a:pPr>
              <a:lnSpc>
                <a:spcPct val="140000"/>
              </a:lnSpc>
            </a:pPr>
            <a:r>
              <a:rPr lang="en-US" sz="1129" dirty="0">
                <a:solidFill>
                  <a:srgbClr val="1E272E"/>
                </a:solidFill>
                <a:latin typeface="Quattrocento Sans" pitchFamily="34" charset="0"/>
                <a:ea typeface="Quattrocento Sans" pitchFamily="34" charset="-122"/>
                <a:cs typeface="Quattrocento Sans" pitchFamily="34" charset="-120"/>
              </a:rPr>
              <a:t> Multiple equilibria create coordination problems. Players need mechanisms (communication, conventions, focal points) to select among equilibria.</a:t>
            </a:r>
            <a:endParaRPr lang="en-US" sz="1600" dirty="0"/>
          </a:p>
        </p:txBody>
      </p:sp>
      <p:sp>
        <p:nvSpPr>
          <p:cNvPr id="14" name="Text 11"/>
          <p:cNvSpPr/>
          <p:nvPr/>
        </p:nvSpPr>
        <p:spPr>
          <a:xfrm>
            <a:off x="6239435" y="1290918"/>
            <a:ext cx="5701553" cy="286871"/>
          </a:xfrm>
          <a:prstGeom prst="rect">
            <a:avLst/>
          </a:prstGeom>
          <a:noFill/>
          <a:ln/>
        </p:spPr>
        <p:txBody>
          <a:bodyPr wrap="square" lIns="0" tIns="0" rIns="0" bIns="0" rtlCol="0" anchor="ctr"/>
          <a:lstStyle/>
          <a:p>
            <a:pPr>
              <a:lnSpc>
                <a:spcPct val="110000"/>
              </a:lnSpc>
            </a:pPr>
            <a:r>
              <a:rPr lang="en-US" sz="1694" b="1" dirty="0">
                <a:solidFill>
                  <a:srgbClr val="2D3436"/>
                </a:solidFill>
                <a:latin typeface="Oranienbaum" pitchFamily="34" charset="0"/>
                <a:ea typeface="Oranienbaum" pitchFamily="34" charset="-122"/>
                <a:cs typeface="Oranienbaum" pitchFamily="34" charset="-120"/>
              </a:rPr>
              <a:t>Chicken Game</a:t>
            </a:r>
            <a:endParaRPr lang="en-US" sz="1600" dirty="0"/>
          </a:p>
        </p:txBody>
      </p:sp>
      <p:sp>
        <p:nvSpPr>
          <p:cNvPr id="15" name="Text 12"/>
          <p:cNvSpPr/>
          <p:nvPr/>
        </p:nvSpPr>
        <p:spPr>
          <a:xfrm>
            <a:off x="6239435" y="1685365"/>
            <a:ext cx="5674659" cy="528918"/>
          </a:xfrm>
          <a:prstGeom prst="rect">
            <a:avLst/>
          </a:prstGeom>
          <a:noFill/>
          <a:ln/>
        </p:spPr>
        <p:txBody>
          <a:bodyPr wrap="square" lIns="0" tIns="0" rIns="0" bIns="0" rtlCol="0" anchor="ctr"/>
          <a:lstStyle/>
          <a:p>
            <a:pPr>
              <a:lnSpc>
                <a:spcPct val="140000"/>
              </a:lnSpc>
            </a:pPr>
            <a:r>
              <a:rPr lang="en-US" sz="1271" b="1" dirty="0">
                <a:solidFill>
                  <a:srgbClr val="1E272E"/>
                </a:solidFill>
                <a:latin typeface="Quattrocento Sans" pitchFamily="34" charset="0"/>
                <a:ea typeface="Quattrocento Sans" pitchFamily="34" charset="-122"/>
                <a:cs typeface="Quattrocento Sans" pitchFamily="34" charset="-120"/>
              </a:rPr>
              <a:t>Two drivers head toward each other; the first to swerve is "chicken."</a:t>
            </a:r>
            <a:pPr>
              <a:lnSpc>
                <a:spcPct val="140000"/>
              </a:lnSpc>
            </a:pPr>
            <a:r>
              <a:rPr lang="en-US" sz="1271" dirty="0">
                <a:solidFill>
                  <a:srgbClr val="1E272E"/>
                </a:solidFill>
                <a:latin typeface="Quattrocento Sans" pitchFamily="34" charset="0"/>
                <a:ea typeface="Quattrocento Sans" pitchFamily="34" charset="-122"/>
                <a:cs typeface="Quattrocento Sans" pitchFamily="34" charset="-120"/>
              </a:rPr>
              <a:t> Mutual destruction occurs if neither swerves.</a:t>
            </a:r>
            <a:endParaRPr lang="en-US" sz="1600" dirty="0"/>
          </a:p>
        </p:txBody>
      </p:sp>
      <p:sp>
        <p:nvSpPr>
          <p:cNvPr id="16" name="Text 13"/>
          <p:cNvSpPr/>
          <p:nvPr/>
        </p:nvSpPr>
        <p:spPr>
          <a:xfrm>
            <a:off x="6239435" y="2317376"/>
            <a:ext cx="5665694" cy="699247"/>
          </a:xfrm>
          <a:prstGeom prst="rect">
            <a:avLst/>
          </a:prstGeom>
          <a:noFill/>
          <a:ln/>
        </p:spPr>
        <p:txBody>
          <a:bodyPr wrap="square" lIns="0" tIns="0" rIns="0" bIns="0" rtlCol="0" anchor="ctr"/>
          <a:lstStyle/>
          <a:p>
            <a:pPr>
              <a:lnSpc>
                <a:spcPct val="140000"/>
              </a:lnSpc>
            </a:pPr>
            <a:r>
              <a:rPr lang="en-US" sz="1129" dirty="0">
                <a:solidFill>
                  <a:srgbClr val="636E72"/>
                </a:solidFill>
                <a:latin typeface="Quattrocento Sans" pitchFamily="34" charset="0"/>
                <a:ea typeface="Quattrocento Sans" pitchFamily="34" charset="-122"/>
                <a:cs typeface="Quattrocento Sans" pitchFamily="34" charset="-120"/>
              </a:rPr>
              <a:t>This game models brinkmanship—pushing situations to the edge of disaster to force opponent concession. It has profound implications for nuclear strategy and conflict resolution.</a:t>
            </a:r>
            <a:endParaRPr lang="en-US" sz="1600" dirty="0"/>
          </a:p>
        </p:txBody>
      </p:sp>
      <p:sp>
        <p:nvSpPr>
          <p:cNvPr id="17" name="Shape 14"/>
          <p:cNvSpPr/>
          <p:nvPr/>
        </p:nvSpPr>
        <p:spPr>
          <a:xfrm>
            <a:off x="6243918" y="3164541"/>
            <a:ext cx="5585012" cy="1873624"/>
          </a:xfrm>
          <a:custGeom>
            <a:avLst/>
            <a:gdLst/>
            <a:ahLst/>
            <a:cxnLst/>
            <a:rect l="l" t="t" r="r" b="b"/>
            <a:pathLst>
              <a:path w="5585012" h="1873624">
                <a:moveTo>
                  <a:pt x="0" y="0"/>
                </a:moveTo>
                <a:lnTo>
                  <a:pt x="5585012" y="0"/>
                </a:lnTo>
                <a:lnTo>
                  <a:pt x="5585012" y="1873624"/>
                </a:lnTo>
                <a:lnTo>
                  <a:pt x="0" y="1873624"/>
                </a:lnTo>
                <a:lnTo>
                  <a:pt x="0" y="0"/>
                </a:lnTo>
                <a:close/>
              </a:path>
            </a:pathLst>
          </a:custGeom>
          <a:solidFill>
            <a:srgbClr val="FFFFFF"/>
          </a:solidFill>
          <a:ln w="12700">
            <a:solidFill>
              <a:srgbClr val="E0E0E0"/>
            </a:solidFill>
            <a:prstDash val="solid"/>
          </a:ln>
        </p:spPr>
      </p:sp>
      <p:sp>
        <p:nvSpPr>
          <p:cNvPr id="18" name="Text 15"/>
          <p:cNvSpPr/>
          <p:nvPr/>
        </p:nvSpPr>
        <p:spPr>
          <a:xfrm>
            <a:off x="6351494" y="3312459"/>
            <a:ext cx="5369859" cy="251012"/>
          </a:xfrm>
          <a:prstGeom prst="rect">
            <a:avLst/>
          </a:prstGeom>
          <a:noFill/>
          <a:ln/>
        </p:spPr>
        <p:txBody>
          <a:bodyPr wrap="square" lIns="0" tIns="0" rIns="0" bIns="0" rtlCol="0" anchor="ctr"/>
          <a:lstStyle/>
          <a:p>
            <a:pPr algn="ctr">
              <a:lnSpc>
                <a:spcPct val="130000"/>
              </a:lnSpc>
            </a:pPr>
            <a:r>
              <a:rPr lang="en-US" sz="1271" b="1" dirty="0">
                <a:solidFill>
                  <a:srgbClr val="2D3436"/>
                </a:solidFill>
                <a:latin typeface="Oranienbaum" pitchFamily="34" charset="0"/>
                <a:ea typeface="Oranienbaum" pitchFamily="34" charset="-122"/>
                <a:cs typeface="Oranienbaum" pitchFamily="34" charset="-120"/>
              </a:rPr>
              <a:t>Payoff Matrix</a:t>
            </a:r>
            <a:endParaRPr lang="en-US" sz="160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391835" y="3635188"/>
          <a:ext cx="5289176" cy="1004047"/>
        </p:xfrm>
        <a:graphic>
          <a:graphicData uri="http://schemas.openxmlformats.org/drawingml/2006/table">
            <a:tbl>
              <a:tblPr/>
              <a:tblGrid>
                <a:gridCol w="1778025"/>
                <a:gridCol w="1751086"/>
                <a:gridCol w="1760066"/>
              </a:tblGrid>
              <a:tr h="334682">
                <a:tc>
                  <a:txBody>
                    <a:bodyPr/>
                    <a:lstStyle/>
                    <a:p>
                      <a:pPr algn="ct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b="1" u="none" dirty="0">
                          <a:solidFill>
                            <a:srgbClr val="2D3436"/>
                          </a:solidFill>
                          <a:latin typeface="微软雅黑" pitchFamily="34" charset="0"/>
                          <a:ea typeface="微软雅黑" pitchFamily="34" charset="-122"/>
                          <a:cs typeface="微软雅黑" pitchFamily="34" charset="-120"/>
                        </a:rPr>
                        <a:t>Driver B: Swerve</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b="1" u="none" dirty="0">
                          <a:solidFill>
                            <a:srgbClr val="2D3436"/>
                          </a:solidFill>
                          <a:latin typeface="微软雅黑" pitchFamily="34" charset="0"/>
                          <a:ea typeface="微软雅黑" pitchFamily="34" charset="-122"/>
                          <a:cs typeface="微软雅黑" pitchFamily="34" charset="-120"/>
                        </a:rPr>
                        <a:t>Driver B: Straight</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r>
              <a:tr h="334682">
                <a:tc>
                  <a:txBody>
                    <a:bodyPr/>
                    <a:lstStyle/>
                    <a:p>
                      <a:r>
                        <a:rPr lang="en-US" sz="900" b="1" u="none" dirty="0">
                          <a:solidFill>
                            <a:srgbClr val="2D3436"/>
                          </a:solidFill>
                          <a:latin typeface="微软雅黑" pitchFamily="34" charset="0"/>
                          <a:ea typeface="微软雅黑" pitchFamily="34" charset="-122"/>
                          <a:cs typeface="微软雅黑" pitchFamily="34" charset="-120"/>
                        </a:rPr>
                        <a:t>Driver A: Swerve</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(0, 0)</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(-1, 2)</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r>
              <a:tr h="334682">
                <a:tc>
                  <a:txBody>
                    <a:bodyPr/>
                    <a:lstStyle/>
                    <a:p>
                      <a:r>
                        <a:rPr lang="en-US" sz="900" b="1" u="none" dirty="0">
                          <a:solidFill>
                            <a:srgbClr val="2D3436"/>
                          </a:solidFill>
                          <a:latin typeface="微软雅黑" pitchFamily="34" charset="0"/>
                          <a:ea typeface="微软雅黑" pitchFamily="34" charset="-122"/>
                          <a:cs typeface="微软雅黑" pitchFamily="34" charset="-120"/>
                        </a:rPr>
                        <a:t>Driver A: Straight</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(2, -1)</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(-10, -10)</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B2C36"/>
                    </a:solidFill>
                  </a:tcPr>
                </a:tc>
              </a:tr>
            </a:tbl>
          </a:graphicData>
        </a:graphic>
      </p:graphicFrame>
      <p:sp>
        <p:nvSpPr>
          <p:cNvPr id="20" name="Text 16"/>
          <p:cNvSpPr/>
          <p:nvPr/>
        </p:nvSpPr>
        <p:spPr>
          <a:xfrm>
            <a:off x="6360459" y="4710953"/>
            <a:ext cx="5351929" cy="179294"/>
          </a:xfrm>
          <a:prstGeom prst="rect">
            <a:avLst/>
          </a:prstGeom>
          <a:noFill/>
          <a:ln/>
        </p:spPr>
        <p:txBody>
          <a:bodyPr wrap="square" lIns="0" tIns="0" rIns="0" bIns="0" rtlCol="0" anchor="ctr"/>
          <a:lstStyle/>
          <a:p>
            <a:pPr algn="ctr">
              <a:lnSpc>
                <a:spcPct val="120000"/>
              </a:lnSpc>
            </a:pPr>
            <a:r>
              <a:rPr lang="en-US" sz="988" dirty="0">
                <a:solidFill>
                  <a:srgbClr val="636E72"/>
                </a:solidFill>
                <a:latin typeface="Quattrocento Sans" pitchFamily="34" charset="0"/>
                <a:ea typeface="Quattrocento Sans" pitchFamily="34" charset="-122"/>
                <a:cs typeface="Quattrocento Sans" pitchFamily="34" charset="-120"/>
              </a:rPr>
              <a:t>Mutual destruction (highlighted in red) is the worst outcome</a:t>
            </a:r>
            <a:endParaRPr lang="en-US" sz="1600" dirty="0"/>
          </a:p>
        </p:txBody>
      </p:sp>
      <p:sp>
        <p:nvSpPr>
          <p:cNvPr id="21" name="Shape 17"/>
          <p:cNvSpPr/>
          <p:nvPr/>
        </p:nvSpPr>
        <p:spPr>
          <a:xfrm>
            <a:off x="6239435" y="5186082"/>
            <a:ext cx="5593976" cy="1308847"/>
          </a:xfrm>
          <a:custGeom>
            <a:avLst/>
            <a:gdLst/>
            <a:ahLst/>
            <a:cxnLst/>
            <a:rect l="l" t="t" r="r" b="b"/>
            <a:pathLst>
              <a:path w="5593976" h="1308847">
                <a:moveTo>
                  <a:pt x="0" y="0"/>
                </a:moveTo>
                <a:lnTo>
                  <a:pt x="5593976" y="0"/>
                </a:lnTo>
                <a:lnTo>
                  <a:pt x="5593976" y="1308847"/>
                </a:lnTo>
                <a:lnTo>
                  <a:pt x="0" y="1308847"/>
                </a:lnTo>
                <a:lnTo>
                  <a:pt x="0" y="0"/>
                </a:lnTo>
                <a:close/>
              </a:path>
            </a:pathLst>
          </a:custGeom>
          <a:solidFill>
            <a:srgbClr val="2D3436"/>
          </a:solidFill>
          <a:ln/>
        </p:spPr>
      </p:sp>
      <p:sp>
        <p:nvSpPr>
          <p:cNvPr id="22" name="Text 18"/>
          <p:cNvSpPr/>
          <p:nvPr/>
        </p:nvSpPr>
        <p:spPr>
          <a:xfrm>
            <a:off x="6382871" y="5329518"/>
            <a:ext cx="5387788" cy="251012"/>
          </a:xfrm>
          <a:prstGeom prst="rect">
            <a:avLst/>
          </a:prstGeom>
          <a:noFill/>
          <a:ln/>
        </p:spPr>
        <p:txBody>
          <a:bodyPr wrap="square" lIns="0" tIns="0" rIns="0" bIns="0" rtlCol="0" anchor="ctr"/>
          <a:lstStyle/>
          <a:p>
            <a:pPr>
              <a:lnSpc>
                <a:spcPct val="130000"/>
              </a:lnSpc>
            </a:pPr>
            <a:r>
              <a:rPr lang="en-US" sz="1271" b="1" dirty="0">
                <a:solidFill>
                  <a:srgbClr val="FFFFFF"/>
                </a:solidFill>
                <a:latin typeface="Oranienbaum" pitchFamily="34" charset="0"/>
                <a:ea typeface="Oranienbaum" pitchFamily="34" charset="-122"/>
                <a:cs typeface="Oranienbaum" pitchFamily="34" charset="-120"/>
              </a:rPr>
              <a:t>Nuclear Deterrence Application</a:t>
            </a:r>
            <a:endParaRPr lang="en-US" sz="1600" dirty="0"/>
          </a:p>
        </p:txBody>
      </p:sp>
      <p:sp>
        <p:nvSpPr>
          <p:cNvPr id="23" name="Text 19"/>
          <p:cNvSpPr/>
          <p:nvPr/>
        </p:nvSpPr>
        <p:spPr>
          <a:xfrm>
            <a:off x="6382871" y="5652247"/>
            <a:ext cx="5378824" cy="699247"/>
          </a:xfrm>
          <a:prstGeom prst="rect">
            <a:avLst/>
          </a:prstGeom>
          <a:noFill/>
          <a:ln/>
        </p:spPr>
        <p:txBody>
          <a:bodyPr wrap="square" lIns="0" tIns="0" rIns="0" bIns="0" rtlCol="0" anchor="ctr"/>
          <a:lstStyle/>
          <a:p>
            <a:pPr>
              <a:lnSpc>
                <a:spcPct val="140000"/>
              </a:lnSpc>
            </a:pPr>
            <a:r>
              <a:rPr lang="en-US" sz="1129" dirty="0">
                <a:solidFill>
                  <a:srgbClr val="E0E0E0"/>
                </a:solidFill>
                <a:latin typeface="Quattrocento Sans" pitchFamily="34" charset="0"/>
                <a:ea typeface="Quattrocento Sans" pitchFamily="34" charset="-122"/>
                <a:cs typeface="Quattrocento Sans" pitchFamily="34" charset="-120"/>
              </a:rPr>
              <a:t>During the Cold War, the Chicken Game modeled nuclear brinkmanship. Both superpowers threatened mutual assured destruction (MAD) to deter first strikes. The key was making threats credible while avoiding actual catastrophe.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1781175"/>
            <a:ext cx="12192000" cy="1219200"/>
          </a:xfrm>
          <a:prstGeom prst="rect">
            <a:avLst/>
          </a:prstGeom>
          <a:noFill/>
          <a:ln/>
        </p:spPr>
        <p:txBody>
          <a:bodyPr wrap="square" lIns="0" tIns="0" rIns="0" bIns="0" rtlCol="0" anchor="ctr"/>
          <a:lstStyle/>
          <a:p>
            <a:pPr>
              <a:lnSpc>
                <a:spcPct val="80000"/>
              </a:lnSpc>
            </a:pPr>
            <a:r>
              <a:rPr lang="en-US" sz="9600" b="1" dirty="0">
                <a:solidFill>
                  <a:srgbClr val="0984E3">
                    <a:alpha val="10000"/>
                  </a:srgbClr>
                </a:solidFill>
                <a:latin typeface="Oranienbaum" pitchFamily="34" charset="0"/>
                <a:ea typeface="Oranienbaum" pitchFamily="34" charset="-122"/>
                <a:cs typeface="Oranienbaum" pitchFamily="34" charset="-120"/>
              </a:rPr>
              <a:t>06</a:t>
            </a:r>
            <a:endParaRPr lang="en-US" sz="1600" dirty="0"/>
          </a:p>
        </p:txBody>
      </p:sp>
      <p:sp>
        <p:nvSpPr>
          <p:cNvPr id="3" name="Text 1"/>
          <p:cNvSpPr/>
          <p:nvPr/>
        </p:nvSpPr>
        <p:spPr>
          <a:xfrm>
            <a:off x="609600" y="3152775"/>
            <a:ext cx="11868150" cy="1143000"/>
          </a:xfrm>
          <a:prstGeom prst="rect">
            <a:avLst/>
          </a:prstGeom>
          <a:noFill/>
          <a:ln/>
        </p:spPr>
        <p:txBody>
          <a:bodyPr wrap="square" lIns="0" tIns="0" rIns="0" bIns="0" rtlCol="0" anchor="ctr"/>
          <a:lstStyle/>
          <a:p>
            <a:pPr>
              <a:lnSpc>
                <a:spcPct val="80000"/>
              </a:lnSpc>
            </a:pPr>
            <a:r>
              <a:rPr lang="en-US" sz="4500" b="1" dirty="0">
                <a:solidFill>
                  <a:srgbClr val="2D3436"/>
                </a:solidFill>
                <a:latin typeface="Oranienbaum" pitchFamily="34" charset="0"/>
                <a:ea typeface="Oranienbaum" pitchFamily="34" charset="-122"/>
                <a:cs typeface="Oranienbaum" pitchFamily="34" charset="-120"/>
              </a:rPr>
              <a:t>Real-World</a:t>
            </a:r>
            <a:endParaRPr lang="en-US" sz="1600" dirty="0"/>
          </a:p>
          <a:p>
            <a:pPr>
              <a:lnSpc>
                <a:spcPct val="80000"/>
              </a:lnSpc>
            </a:pPr>
            <a:r>
              <a:rPr lang="en-US" sz="4500" b="1" dirty="0">
                <a:solidFill>
                  <a:srgbClr val="2D3436"/>
                </a:solidFill>
                <a:latin typeface="Oranienbaum" pitchFamily="34" charset="0"/>
                <a:ea typeface="Oranienbaum" pitchFamily="34" charset="-122"/>
                <a:cs typeface="Oranienbaum" pitchFamily="34" charset="-120"/>
              </a:rPr>
              <a:t>Applications</a:t>
            </a:r>
            <a:endParaRPr lang="en-US" sz="1600" dirty="0"/>
          </a:p>
        </p:txBody>
      </p:sp>
      <p:sp>
        <p:nvSpPr>
          <p:cNvPr id="4" name="Shape 2"/>
          <p:cNvSpPr/>
          <p:nvPr/>
        </p:nvSpPr>
        <p:spPr>
          <a:xfrm>
            <a:off x="609600" y="4524375"/>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5" name="Text 3"/>
          <p:cNvSpPr/>
          <p:nvPr/>
        </p:nvSpPr>
        <p:spPr>
          <a:xfrm>
            <a:off x="609600" y="4772025"/>
            <a:ext cx="11696700" cy="304800"/>
          </a:xfrm>
          <a:prstGeom prst="rect">
            <a:avLst/>
          </a:prstGeom>
          <a:noFill/>
          <a:ln/>
        </p:spPr>
        <p:txBody>
          <a:bodyPr wrap="square" lIns="0" tIns="0" rIns="0" bIns="0" rtlCol="0" anchor="ctr"/>
          <a:lstStyle/>
          <a:p>
            <a:pPr>
              <a:lnSpc>
                <a:spcPct val="110000"/>
              </a:lnSpc>
            </a:pPr>
            <a:r>
              <a:rPr lang="en-US" sz="1800" dirty="0">
                <a:solidFill>
                  <a:srgbClr val="636E72"/>
                </a:solidFill>
                <a:latin typeface="Liter" pitchFamily="34" charset="0"/>
                <a:ea typeface="Liter" pitchFamily="34" charset="-122"/>
                <a:cs typeface="Liter" pitchFamily="34" charset="-120"/>
              </a:rPr>
              <a:t>Game theory in action across disciplines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984E3"/>
                </a:solidFill>
                <a:latin typeface="Quattrocento Sans" pitchFamily="34" charset="0"/>
                <a:ea typeface="Quattrocento Sans" pitchFamily="34" charset="-122"/>
                <a:cs typeface="Quattrocento Sans" pitchFamily="34" charset="-120"/>
              </a:rPr>
              <a:t>APPLICATION DOMAIN</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2D3436"/>
                </a:solidFill>
                <a:latin typeface="Oranienbaum" pitchFamily="34" charset="0"/>
                <a:ea typeface="Oranienbaum" pitchFamily="34" charset="-122"/>
                <a:cs typeface="Oranienbaum" pitchFamily="34" charset="-120"/>
              </a:rPr>
              <a:t>Economics &amp; Business Strategy</a:t>
            </a:r>
            <a:endParaRPr lang="en-US" sz="1600" dirty="0"/>
          </a:p>
        </p:txBody>
      </p:sp>
      <p:sp>
        <p:nvSpPr>
          <p:cNvPr id="4" name="Text 2"/>
          <p:cNvSpPr/>
          <p:nvPr/>
        </p:nvSpPr>
        <p:spPr>
          <a:xfrm>
            <a:off x="381000" y="1295400"/>
            <a:ext cx="7648575" cy="933450"/>
          </a:xfrm>
          <a:prstGeom prst="rect">
            <a:avLst/>
          </a:prstGeom>
          <a:noFill/>
          <a:ln/>
        </p:spPr>
        <p:txBody>
          <a:bodyPr wrap="square" lIns="0" tIns="0" rIns="0" bIns="0" rtlCol="0" anchor="ctr"/>
          <a:lstStyle/>
          <a:p>
            <a:pPr>
              <a:lnSpc>
                <a:spcPct val="140000"/>
              </a:lnSpc>
            </a:pPr>
            <a:r>
              <a:rPr lang="en-US" sz="1500" b="1" dirty="0">
                <a:solidFill>
                  <a:srgbClr val="1E272E"/>
                </a:solidFill>
                <a:latin typeface="Quattrocento Sans" pitchFamily="34" charset="0"/>
                <a:ea typeface="Quattrocento Sans" pitchFamily="34" charset="-122"/>
                <a:cs typeface="Quattrocento Sans" pitchFamily="34" charset="-120"/>
              </a:rPr>
              <a:t>Game theory revolutionized economics by providing rigorous tools to model strategic interactions among firms, consumers, and market participants.</a:t>
            </a:r>
            <a:pPr>
              <a:lnSpc>
                <a:spcPct val="140000"/>
              </a:lnSpc>
            </a:pPr>
            <a:r>
              <a:rPr lang="en-US" sz="1500" dirty="0">
                <a:solidFill>
                  <a:srgbClr val="1E272E"/>
                </a:solidFill>
                <a:latin typeface="Quattrocento Sans" pitchFamily="34" charset="0"/>
                <a:ea typeface="Quattrocento Sans" pitchFamily="34" charset="-122"/>
                <a:cs typeface="Quattrocento Sans" pitchFamily="34" charset="-120"/>
              </a:rPr>
              <a:t> It enables prediction of competitor behavior and optimization of strategic decisions.</a:t>
            </a:r>
            <a:endParaRPr lang="en-US" sz="1600" dirty="0"/>
          </a:p>
        </p:txBody>
      </p:sp>
      <p:sp>
        <p:nvSpPr>
          <p:cNvPr id="5" name="Shape 3"/>
          <p:cNvSpPr/>
          <p:nvPr/>
        </p:nvSpPr>
        <p:spPr>
          <a:xfrm>
            <a:off x="385763" y="2381250"/>
            <a:ext cx="3695700" cy="1724025"/>
          </a:xfrm>
          <a:custGeom>
            <a:avLst/>
            <a:gdLst/>
            <a:ahLst/>
            <a:cxnLst/>
            <a:rect l="l" t="t" r="r" b="b"/>
            <a:pathLst>
              <a:path w="3695700" h="1724025">
                <a:moveTo>
                  <a:pt x="0" y="0"/>
                </a:moveTo>
                <a:lnTo>
                  <a:pt x="3695700" y="0"/>
                </a:lnTo>
                <a:lnTo>
                  <a:pt x="3695700" y="1724025"/>
                </a:lnTo>
                <a:lnTo>
                  <a:pt x="0" y="1724025"/>
                </a:lnTo>
                <a:lnTo>
                  <a:pt x="0" y="0"/>
                </a:lnTo>
                <a:close/>
              </a:path>
            </a:pathLst>
          </a:custGeom>
          <a:solidFill>
            <a:srgbClr val="FFFFFF"/>
          </a:solidFill>
          <a:ln w="12700">
            <a:solidFill>
              <a:srgbClr val="E0E0E0"/>
            </a:solidFill>
            <a:prstDash val="solid"/>
          </a:ln>
        </p:spPr>
      </p:sp>
      <p:sp>
        <p:nvSpPr>
          <p:cNvPr id="6" name="Text 4"/>
          <p:cNvSpPr/>
          <p:nvPr/>
        </p:nvSpPr>
        <p:spPr>
          <a:xfrm>
            <a:off x="542925" y="2538413"/>
            <a:ext cx="3476625"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Oligopoly Competition</a:t>
            </a:r>
            <a:endParaRPr lang="en-US" sz="1600" dirty="0"/>
          </a:p>
        </p:txBody>
      </p:sp>
      <p:sp>
        <p:nvSpPr>
          <p:cNvPr id="7" name="Text 5"/>
          <p:cNvSpPr/>
          <p:nvPr/>
        </p:nvSpPr>
        <p:spPr>
          <a:xfrm>
            <a:off x="542925" y="2881313"/>
            <a:ext cx="3457575" cy="495300"/>
          </a:xfrm>
          <a:prstGeom prst="rect">
            <a:avLst/>
          </a:prstGeom>
          <a:noFill/>
          <a:ln/>
        </p:spPr>
        <p:txBody>
          <a:bodyPr wrap="square" lIns="0" tIns="0" rIns="0" bIns="0" rtlCol="0" anchor="ctr"/>
          <a:lstStyle/>
          <a:p>
            <a:pPr>
              <a:lnSpc>
                <a:spcPct val="140000"/>
              </a:lnSpc>
            </a:pPr>
            <a:r>
              <a:rPr lang="en-US" sz="1200" b="1" dirty="0">
                <a:solidFill>
                  <a:srgbClr val="636E72"/>
                </a:solidFill>
                <a:latin typeface="Quattrocento Sans" pitchFamily="34" charset="0"/>
                <a:ea typeface="Quattrocento Sans" pitchFamily="34" charset="-122"/>
                <a:cs typeface="Quattrocento Sans" pitchFamily="34" charset="-120"/>
              </a:rPr>
              <a:t>Cournot Model:</a:t>
            </a:r>
            <a:pP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 Firms compete by choosing quantities simultaneously.</a:t>
            </a:r>
            <a:endParaRPr lang="en-US" sz="1600" dirty="0"/>
          </a:p>
        </p:txBody>
      </p:sp>
      <p:sp>
        <p:nvSpPr>
          <p:cNvPr id="8" name="Text 6"/>
          <p:cNvSpPr/>
          <p:nvPr/>
        </p:nvSpPr>
        <p:spPr>
          <a:xfrm>
            <a:off x="542925" y="3452813"/>
            <a:ext cx="3457575" cy="495300"/>
          </a:xfrm>
          <a:prstGeom prst="rect">
            <a:avLst/>
          </a:prstGeom>
          <a:noFill/>
          <a:ln/>
        </p:spPr>
        <p:txBody>
          <a:bodyPr wrap="square" lIns="0" tIns="0" rIns="0" bIns="0" rtlCol="0" anchor="ctr"/>
          <a:lstStyle/>
          <a:p>
            <a:pPr>
              <a:lnSpc>
                <a:spcPct val="140000"/>
              </a:lnSpc>
            </a:pPr>
            <a:r>
              <a:rPr lang="en-US" sz="1200" b="1" dirty="0">
                <a:solidFill>
                  <a:srgbClr val="636E72"/>
                </a:solidFill>
                <a:latin typeface="Quattrocento Sans" pitchFamily="34" charset="0"/>
                <a:ea typeface="Quattrocento Sans" pitchFamily="34" charset="-122"/>
                <a:cs typeface="Quattrocento Sans" pitchFamily="34" charset="-120"/>
              </a:rPr>
              <a:t>Bertrand Model:</a:t>
            </a:r>
            <a:pP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 Firms compete by setting prices, undercutting rivals.</a:t>
            </a:r>
            <a:endParaRPr lang="en-US" sz="1600" dirty="0"/>
          </a:p>
        </p:txBody>
      </p:sp>
      <p:sp>
        <p:nvSpPr>
          <p:cNvPr id="9" name="Shape 7"/>
          <p:cNvSpPr/>
          <p:nvPr/>
        </p:nvSpPr>
        <p:spPr>
          <a:xfrm>
            <a:off x="4240188" y="2381250"/>
            <a:ext cx="3695700" cy="1724025"/>
          </a:xfrm>
          <a:custGeom>
            <a:avLst/>
            <a:gdLst/>
            <a:ahLst/>
            <a:cxnLst/>
            <a:rect l="l" t="t" r="r" b="b"/>
            <a:pathLst>
              <a:path w="3695700" h="1724025">
                <a:moveTo>
                  <a:pt x="0" y="0"/>
                </a:moveTo>
                <a:lnTo>
                  <a:pt x="3695700" y="0"/>
                </a:lnTo>
                <a:lnTo>
                  <a:pt x="3695700" y="1724025"/>
                </a:lnTo>
                <a:lnTo>
                  <a:pt x="0" y="1724025"/>
                </a:lnTo>
                <a:lnTo>
                  <a:pt x="0" y="0"/>
                </a:lnTo>
                <a:close/>
              </a:path>
            </a:pathLst>
          </a:custGeom>
          <a:solidFill>
            <a:srgbClr val="FFFFFF"/>
          </a:solidFill>
          <a:ln w="12700">
            <a:solidFill>
              <a:srgbClr val="E0E0E0"/>
            </a:solidFill>
            <a:prstDash val="solid"/>
          </a:ln>
        </p:spPr>
      </p:sp>
      <p:sp>
        <p:nvSpPr>
          <p:cNvPr id="10" name="Text 8"/>
          <p:cNvSpPr/>
          <p:nvPr/>
        </p:nvSpPr>
        <p:spPr>
          <a:xfrm>
            <a:off x="4397350" y="2538413"/>
            <a:ext cx="3476625"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Auction Design</a:t>
            </a:r>
            <a:endParaRPr lang="en-US" sz="1600" dirty="0"/>
          </a:p>
        </p:txBody>
      </p:sp>
      <p:sp>
        <p:nvSpPr>
          <p:cNvPr id="11" name="Text 9"/>
          <p:cNvSpPr/>
          <p:nvPr/>
        </p:nvSpPr>
        <p:spPr>
          <a:xfrm>
            <a:off x="4397350" y="2881313"/>
            <a:ext cx="3457575" cy="495300"/>
          </a:xfrm>
          <a:prstGeom prst="rect">
            <a:avLst/>
          </a:prstGeom>
          <a:noFill/>
          <a:ln/>
        </p:spPr>
        <p:txBody>
          <a:bodyPr wrap="square" lIns="0" tIns="0" rIns="0" bIns="0" rtlCol="0" anchor="ctr"/>
          <a:lstStyle/>
          <a:p>
            <a:pPr>
              <a:lnSpc>
                <a:spcPct val="140000"/>
              </a:lnSpc>
            </a:pPr>
            <a:r>
              <a:rPr lang="en-US" sz="1200" b="1" dirty="0">
                <a:solidFill>
                  <a:srgbClr val="636E72"/>
                </a:solidFill>
                <a:latin typeface="Quattrocento Sans" pitchFamily="34" charset="0"/>
                <a:ea typeface="Quattrocento Sans" pitchFamily="34" charset="-122"/>
                <a:cs typeface="Quattrocento Sans" pitchFamily="34" charset="-120"/>
              </a:rPr>
              <a:t>Mechanism Design:</a:t>
            </a:r>
            <a:pP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 Creating rules to achieve efficient outcomes.</a:t>
            </a:r>
            <a:endParaRPr lang="en-US" sz="1600" dirty="0"/>
          </a:p>
        </p:txBody>
      </p:sp>
      <p:sp>
        <p:nvSpPr>
          <p:cNvPr id="12" name="Text 10"/>
          <p:cNvSpPr/>
          <p:nvPr/>
        </p:nvSpPr>
        <p:spPr>
          <a:xfrm>
            <a:off x="4397350" y="3452813"/>
            <a:ext cx="3457575" cy="495300"/>
          </a:xfrm>
          <a:prstGeom prst="rect">
            <a:avLst/>
          </a:prstGeom>
          <a:noFill/>
          <a:ln/>
        </p:spPr>
        <p:txBody>
          <a:bodyPr wrap="square" lIns="0" tIns="0" rIns="0" bIns="0" rtlCol="0" anchor="ctr"/>
          <a:lstStyle/>
          <a:p>
            <a:pPr>
              <a:lnSpc>
                <a:spcPct val="140000"/>
              </a:lnSpc>
            </a:pPr>
            <a:r>
              <a:rPr lang="en-US" sz="1200" b="1" dirty="0">
                <a:solidFill>
                  <a:srgbClr val="636E72"/>
                </a:solidFill>
                <a:latin typeface="Quattrocento Sans" pitchFamily="34" charset="0"/>
                <a:ea typeface="Quattrocento Sans" pitchFamily="34" charset="-122"/>
                <a:cs typeface="Quattrocento Sans" pitchFamily="34" charset="-120"/>
              </a:rPr>
              <a:t>Bidding Strategies:</a:t>
            </a:r>
            <a:pP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 Analyzing optimal behavior in different auction formats.</a:t>
            </a:r>
            <a:endParaRPr lang="en-US" sz="1600" dirty="0"/>
          </a:p>
        </p:txBody>
      </p:sp>
      <p:sp>
        <p:nvSpPr>
          <p:cNvPr id="13" name="Shape 11"/>
          <p:cNvSpPr/>
          <p:nvPr/>
        </p:nvSpPr>
        <p:spPr>
          <a:xfrm>
            <a:off x="400050" y="4262438"/>
            <a:ext cx="7534275" cy="1638300"/>
          </a:xfrm>
          <a:custGeom>
            <a:avLst/>
            <a:gdLst/>
            <a:ahLst/>
            <a:cxnLst/>
            <a:rect l="l" t="t" r="r" b="b"/>
            <a:pathLst>
              <a:path w="7534275" h="1638300">
                <a:moveTo>
                  <a:pt x="0" y="0"/>
                </a:moveTo>
                <a:lnTo>
                  <a:pt x="7534275" y="0"/>
                </a:lnTo>
                <a:lnTo>
                  <a:pt x="7534275" y="1638300"/>
                </a:lnTo>
                <a:lnTo>
                  <a:pt x="0" y="1638300"/>
                </a:lnTo>
                <a:lnTo>
                  <a:pt x="0" y="0"/>
                </a:lnTo>
                <a:close/>
              </a:path>
            </a:pathLst>
          </a:custGeom>
          <a:solidFill>
            <a:srgbClr val="F8F9FA"/>
          </a:solidFill>
          <a:ln/>
        </p:spPr>
      </p:sp>
      <p:sp>
        <p:nvSpPr>
          <p:cNvPr id="14" name="Shape 12"/>
          <p:cNvSpPr/>
          <p:nvPr/>
        </p:nvSpPr>
        <p:spPr>
          <a:xfrm>
            <a:off x="400050" y="4262438"/>
            <a:ext cx="38100" cy="1638300"/>
          </a:xfrm>
          <a:custGeom>
            <a:avLst/>
            <a:gdLst/>
            <a:ahLst/>
            <a:cxnLst/>
            <a:rect l="l" t="t" r="r" b="b"/>
            <a:pathLst>
              <a:path w="38100" h="1638300">
                <a:moveTo>
                  <a:pt x="0" y="0"/>
                </a:moveTo>
                <a:lnTo>
                  <a:pt x="38100" y="0"/>
                </a:lnTo>
                <a:lnTo>
                  <a:pt x="38100" y="1638300"/>
                </a:lnTo>
                <a:lnTo>
                  <a:pt x="0" y="1638300"/>
                </a:lnTo>
                <a:lnTo>
                  <a:pt x="0" y="0"/>
                </a:lnTo>
                <a:close/>
              </a:path>
            </a:pathLst>
          </a:custGeom>
          <a:solidFill>
            <a:srgbClr val="0984E3"/>
          </a:solidFill>
          <a:ln/>
        </p:spPr>
      </p:sp>
      <p:sp>
        <p:nvSpPr>
          <p:cNvPr id="15" name="Text 13"/>
          <p:cNvSpPr/>
          <p:nvPr/>
        </p:nvSpPr>
        <p:spPr>
          <a:xfrm>
            <a:off x="571500" y="4414838"/>
            <a:ext cx="7305675"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Strategic Business Decisions</a:t>
            </a:r>
            <a:endParaRPr lang="en-US" sz="1600" dirty="0"/>
          </a:p>
        </p:txBody>
      </p:sp>
      <p:sp>
        <p:nvSpPr>
          <p:cNvPr id="16" name="Shape 14"/>
          <p:cNvSpPr/>
          <p:nvPr/>
        </p:nvSpPr>
        <p:spPr>
          <a:xfrm>
            <a:off x="619125" y="4791075"/>
            <a:ext cx="95250" cy="152400"/>
          </a:xfrm>
          <a:custGeom>
            <a:avLst/>
            <a:gdLst/>
            <a:ahLst/>
            <a:cxnLst/>
            <a:rect l="l" t="t" r="r" b="b"/>
            <a:pathLst>
              <a:path w="95250" h="152400">
                <a:moveTo>
                  <a:pt x="40481" y="7144"/>
                </a:moveTo>
                <a:cubicBezTo>
                  <a:pt x="40481" y="3185"/>
                  <a:pt x="43666" y="0"/>
                  <a:pt x="47625" y="0"/>
                </a:cubicBezTo>
                <a:cubicBezTo>
                  <a:pt x="51584" y="0"/>
                  <a:pt x="54769" y="3185"/>
                  <a:pt x="54769" y="7144"/>
                </a:cubicBezTo>
                <a:lnTo>
                  <a:pt x="54769" y="19050"/>
                </a:lnTo>
                <a:lnTo>
                  <a:pt x="71438" y="19050"/>
                </a:lnTo>
                <a:cubicBezTo>
                  <a:pt x="76706" y="19050"/>
                  <a:pt x="80962" y="23306"/>
                  <a:pt x="80962" y="28575"/>
                </a:cubicBezTo>
                <a:cubicBezTo>
                  <a:pt x="80962" y="33844"/>
                  <a:pt x="76706" y="38100"/>
                  <a:pt x="71438" y="38100"/>
                </a:cubicBezTo>
                <a:lnTo>
                  <a:pt x="37237" y="38100"/>
                </a:lnTo>
                <a:cubicBezTo>
                  <a:pt x="29825" y="38100"/>
                  <a:pt x="23813" y="44113"/>
                  <a:pt x="23813" y="51524"/>
                </a:cubicBezTo>
                <a:cubicBezTo>
                  <a:pt x="23813" y="58222"/>
                  <a:pt x="28724" y="63877"/>
                  <a:pt x="35332" y="64830"/>
                </a:cubicBezTo>
                <a:lnTo>
                  <a:pt x="62597" y="68729"/>
                </a:lnTo>
                <a:cubicBezTo>
                  <a:pt x="78611" y="71021"/>
                  <a:pt x="90488" y="84713"/>
                  <a:pt x="90488" y="100876"/>
                </a:cubicBezTo>
                <a:cubicBezTo>
                  <a:pt x="90488" y="118824"/>
                  <a:pt x="75932" y="133350"/>
                  <a:pt x="58013" y="133350"/>
                </a:cubicBezTo>
                <a:lnTo>
                  <a:pt x="54769" y="133350"/>
                </a:lnTo>
                <a:lnTo>
                  <a:pt x="54769" y="145256"/>
                </a:lnTo>
                <a:cubicBezTo>
                  <a:pt x="54769" y="149215"/>
                  <a:pt x="51584" y="152400"/>
                  <a:pt x="47625" y="152400"/>
                </a:cubicBezTo>
                <a:cubicBezTo>
                  <a:pt x="43666" y="152400"/>
                  <a:pt x="40481" y="149215"/>
                  <a:pt x="40481" y="145256"/>
                </a:cubicBezTo>
                <a:lnTo>
                  <a:pt x="40481" y="133350"/>
                </a:lnTo>
                <a:lnTo>
                  <a:pt x="19050" y="133350"/>
                </a:lnTo>
                <a:cubicBezTo>
                  <a:pt x="13781" y="133350"/>
                  <a:pt x="9525" y="129094"/>
                  <a:pt x="9525" y="123825"/>
                </a:cubicBezTo>
                <a:cubicBezTo>
                  <a:pt x="9525" y="118556"/>
                  <a:pt x="13781" y="114300"/>
                  <a:pt x="19050" y="114300"/>
                </a:cubicBezTo>
                <a:lnTo>
                  <a:pt x="58013" y="114300"/>
                </a:lnTo>
                <a:cubicBezTo>
                  <a:pt x="65425" y="114300"/>
                  <a:pt x="71438" y="108287"/>
                  <a:pt x="71438" y="100876"/>
                </a:cubicBezTo>
                <a:cubicBezTo>
                  <a:pt x="71438" y="94178"/>
                  <a:pt x="66526" y="88523"/>
                  <a:pt x="59918" y="87570"/>
                </a:cubicBezTo>
                <a:lnTo>
                  <a:pt x="32653" y="83671"/>
                </a:lnTo>
                <a:cubicBezTo>
                  <a:pt x="16639" y="81409"/>
                  <a:pt x="4763" y="67687"/>
                  <a:pt x="4763" y="51524"/>
                </a:cubicBezTo>
                <a:cubicBezTo>
                  <a:pt x="4763" y="33605"/>
                  <a:pt x="19318" y="19050"/>
                  <a:pt x="37237" y="19050"/>
                </a:cubicBezTo>
                <a:lnTo>
                  <a:pt x="40481" y="19050"/>
                </a:lnTo>
                <a:lnTo>
                  <a:pt x="40481" y="7144"/>
                </a:lnTo>
                <a:close/>
              </a:path>
            </a:pathLst>
          </a:custGeom>
          <a:solidFill>
            <a:srgbClr val="0984E3"/>
          </a:solidFill>
          <a:ln/>
        </p:spPr>
      </p:sp>
      <p:sp>
        <p:nvSpPr>
          <p:cNvPr id="17" name="Text 15"/>
          <p:cNvSpPr/>
          <p:nvPr/>
        </p:nvSpPr>
        <p:spPr>
          <a:xfrm>
            <a:off x="819150" y="4757738"/>
            <a:ext cx="3362325" cy="4572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Pricing:</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Optimal pricing under competitive pressure</a:t>
            </a:r>
            <a:endParaRPr lang="en-US" sz="1600" dirty="0"/>
          </a:p>
        </p:txBody>
      </p:sp>
      <p:sp>
        <p:nvSpPr>
          <p:cNvPr id="18" name="Shape 16"/>
          <p:cNvSpPr/>
          <p:nvPr/>
        </p:nvSpPr>
        <p:spPr>
          <a:xfrm>
            <a:off x="4283050" y="4791075"/>
            <a:ext cx="133350" cy="152400"/>
          </a:xfrm>
          <a:custGeom>
            <a:avLst/>
            <a:gdLst/>
            <a:ahLst/>
            <a:cxnLst/>
            <a:rect l="l" t="t" r="r" b="b"/>
            <a:pathLst>
              <a:path w="133350" h="152400">
                <a:moveTo>
                  <a:pt x="85725" y="0"/>
                </a:moveTo>
                <a:lnTo>
                  <a:pt x="38100" y="0"/>
                </a:lnTo>
                <a:cubicBezTo>
                  <a:pt x="32831" y="0"/>
                  <a:pt x="28575" y="4256"/>
                  <a:pt x="28575" y="9525"/>
                </a:cubicBezTo>
                <a:cubicBezTo>
                  <a:pt x="28575" y="14794"/>
                  <a:pt x="32831" y="19050"/>
                  <a:pt x="38100" y="19050"/>
                </a:cubicBezTo>
                <a:lnTo>
                  <a:pt x="38100" y="64145"/>
                </a:lnTo>
                <a:lnTo>
                  <a:pt x="2232" y="126891"/>
                </a:lnTo>
                <a:cubicBezTo>
                  <a:pt x="774" y="129480"/>
                  <a:pt x="0" y="132368"/>
                  <a:pt x="0" y="135344"/>
                </a:cubicBezTo>
                <a:cubicBezTo>
                  <a:pt x="0" y="144780"/>
                  <a:pt x="7620" y="152400"/>
                  <a:pt x="17056" y="152400"/>
                </a:cubicBezTo>
                <a:lnTo>
                  <a:pt x="116294" y="152400"/>
                </a:lnTo>
                <a:cubicBezTo>
                  <a:pt x="125700" y="152400"/>
                  <a:pt x="133350" y="144780"/>
                  <a:pt x="133350" y="135344"/>
                </a:cubicBezTo>
                <a:cubicBezTo>
                  <a:pt x="133350" y="132368"/>
                  <a:pt x="132576" y="129451"/>
                  <a:pt x="131118" y="126891"/>
                </a:cubicBezTo>
                <a:lnTo>
                  <a:pt x="95250" y="64145"/>
                </a:lnTo>
                <a:lnTo>
                  <a:pt x="95250" y="19050"/>
                </a:lnTo>
                <a:cubicBezTo>
                  <a:pt x="100519" y="19050"/>
                  <a:pt x="104775" y="14794"/>
                  <a:pt x="104775" y="9525"/>
                </a:cubicBezTo>
                <a:cubicBezTo>
                  <a:pt x="104775" y="4256"/>
                  <a:pt x="100519" y="0"/>
                  <a:pt x="95250" y="0"/>
                </a:cubicBezTo>
                <a:lnTo>
                  <a:pt x="85725" y="0"/>
                </a:lnTo>
                <a:close/>
                <a:moveTo>
                  <a:pt x="57150" y="64145"/>
                </a:moveTo>
                <a:lnTo>
                  <a:pt x="57150" y="19050"/>
                </a:lnTo>
                <a:lnTo>
                  <a:pt x="76200" y="19050"/>
                </a:lnTo>
                <a:lnTo>
                  <a:pt x="76200" y="64145"/>
                </a:lnTo>
                <a:cubicBezTo>
                  <a:pt x="76200" y="67449"/>
                  <a:pt x="77063" y="70723"/>
                  <a:pt x="78700" y="73610"/>
                </a:cubicBezTo>
                <a:lnTo>
                  <a:pt x="91083" y="95250"/>
                </a:lnTo>
                <a:lnTo>
                  <a:pt x="42267" y="95250"/>
                </a:lnTo>
                <a:lnTo>
                  <a:pt x="54650" y="73610"/>
                </a:lnTo>
                <a:cubicBezTo>
                  <a:pt x="56287" y="70723"/>
                  <a:pt x="57150" y="67479"/>
                  <a:pt x="57150" y="64145"/>
                </a:cubicBezTo>
                <a:close/>
              </a:path>
            </a:pathLst>
          </a:custGeom>
          <a:solidFill>
            <a:srgbClr val="0984E3"/>
          </a:solidFill>
          <a:ln/>
        </p:spPr>
      </p:sp>
      <p:sp>
        <p:nvSpPr>
          <p:cNvPr id="19" name="Text 17"/>
          <p:cNvSpPr/>
          <p:nvPr/>
        </p:nvSpPr>
        <p:spPr>
          <a:xfrm>
            <a:off x="4502125" y="4757738"/>
            <a:ext cx="3362325" cy="4572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R&amp;D:</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Innovation races and patent strategies</a:t>
            </a:r>
            <a:endParaRPr lang="en-US" sz="1600" dirty="0"/>
          </a:p>
        </p:txBody>
      </p:sp>
      <p:sp>
        <p:nvSpPr>
          <p:cNvPr id="20" name="Shape 18"/>
          <p:cNvSpPr/>
          <p:nvPr/>
        </p:nvSpPr>
        <p:spPr>
          <a:xfrm>
            <a:off x="590550" y="5324475"/>
            <a:ext cx="152400" cy="152400"/>
          </a:xfrm>
          <a:custGeom>
            <a:avLst/>
            <a:gdLst/>
            <a:ahLst/>
            <a:cxnLst/>
            <a:rect l="l" t="t" r="r" b="b"/>
            <a:pathLst>
              <a:path w="152400" h="152400">
                <a:moveTo>
                  <a:pt x="19050" y="19050"/>
                </a:moveTo>
                <a:cubicBezTo>
                  <a:pt x="8543" y="19050"/>
                  <a:pt x="0" y="27593"/>
                  <a:pt x="0" y="38100"/>
                </a:cubicBezTo>
                <a:lnTo>
                  <a:pt x="0" y="114300"/>
                </a:lnTo>
                <a:cubicBezTo>
                  <a:pt x="0" y="124807"/>
                  <a:pt x="8543" y="133350"/>
                  <a:pt x="19050" y="133350"/>
                </a:cubicBezTo>
                <a:lnTo>
                  <a:pt x="133350" y="133350"/>
                </a:lnTo>
                <a:cubicBezTo>
                  <a:pt x="143857" y="133350"/>
                  <a:pt x="152400" y="124807"/>
                  <a:pt x="152400" y="114300"/>
                </a:cubicBezTo>
                <a:lnTo>
                  <a:pt x="152400" y="38100"/>
                </a:lnTo>
                <a:cubicBezTo>
                  <a:pt x="152400" y="27593"/>
                  <a:pt x="143857" y="19050"/>
                  <a:pt x="133350" y="19050"/>
                </a:cubicBezTo>
                <a:lnTo>
                  <a:pt x="19050" y="19050"/>
                </a:lnTo>
                <a:close/>
                <a:moveTo>
                  <a:pt x="123825" y="54769"/>
                </a:moveTo>
                <a:lnTo>
                  <a:pt x="123825" y="97631"/>
                </a:lnTo>
                <a:cubicBezTo>
                  <a:pt x="123825" y="101590"/>
                  <a:pt x="120640" y="104775"/>
                  <a:pt x="116681" y="104775"/>
                </a:cubicBezTo>
                <a:cubicBezTo>
                  <a:pt x="114568" y="104775"/>
                  <a:pt x="112663" y="103852"/>
                  <a:pt x="111353" y="102394"/>
                </a:cubicBezTo>
                <a:cubicBezTo>
                  <a:pt x="108317" y="103912"/>
                  <a:pt x="104864" y="104775"/>
                  <a:pt x="101203" y="104775"/>
                </a:cubicBezTo>
                <a:cubicBezTo>
                  <a:pt x="88702" y="104775"/>
                  <a:pt x="78581" y="94655"/>
                  <a:pt x="78581" y="82153"/>
                </a:cubicBezTo>
                <a:cubicBezTo>
                  <a:pt x="78581" y="69652"/>
                  <a:pt x="88702" y="59531"/>
                  <a:pt x="101203" y="59531"/>
                </a:cubicBezTo>
                <a:cubicBezTo>
                  <a:pt x="104150" y="59531"/>
                  <a:pt x="106948" y="60097"/>
                  <a:pt x="109537" y="61109"/>
                </a:cubicBezTo>
                <a:lnTo>
                  <a:pt x="109537" y="54769"/>
                </a:lnTo>
                <a:cubicBezTo>
                  <a:pt x="109537" y="50810"/>
                  <a:pt x="112722" y="47625"/>
                  <a:pt x="116681" y="47625"/>
                </a:cubicBezTo>
                <a:cubicBezTo>
                  <a:pt x="120640" y="47625"/>
                  <a:pt x="123825" y="50810"/>
                  <a:pt x="123825" y="54769"/>
                </a:cubicBezTo>
                <a:close/>
                <a:moveTo>
                  <a:pt x="109537" y="82153"/>
                </a:moveTo>
                <a:cubicBezTo>
                  <a:pt x="109537" y="77553"/>
                  <a:pt x="105803" y="73819"/>
                  <a:pt x="101203" y="73819"/>
                </a:cubicBezTo>
                <a:cubicBezTo>
                  <a:pt x="96603" y="73819"/>
                  <a:pt x="92869" y="77553"/>
                  <a:pt x="92869" y="82153"/>
                </a:cubicBezTo>
                <a:cubicBezTo>
                  <a:pt x="92869" y="86753"/>
                  <a:pt x="96603" y="90488"/>
                  <a:pt x="101203" y="90488"/>
                </a:cubicBezTo>
                <a:cubicBezTo>
                  <a:pt x="105803" y="90488"/>
                  <a:pt x="109537" y="86753"/>
                  <a:pt x="109537" y="82153"/>
                </a:cubicBezTo>
                <a:close/>
                <a:moveTo>
                  <a:pt x="47625" y="61912"/>
                </a:moveTo>
                <a:cubicBezTo>
                  <a:pt x="45006" y="61912"/>
                  <a:pt x="42863" y="64056"/>
                  <a:pt x="42863" y="66675"/>
                </a:cubicBezTo>
                <a:lnTo>
                  <a:pt x="42863" y="76200"/>
                </a:lnTo>
                <a:lnTo>
                  <a:pt x="57150" y="76200"/>
                </a:lnTo>
                <a:lnTo>
                  <a:pt x="57150" y="66675"/>
                </a:lnTo>
                <a:cubicBezTo>
                  <a:pt x="57150" y="64056"/>
                  <a:pt x="55007" y="61912"/>
                  <a:pt x="52388" y="61912"/>
                </a:cubicBezTo>
                <a:lnTo>
                  <a:pt x="47625" y="61912"/>
                </a:lnTo>
                <a:close/>
                <a:moveTo>
                  <a:pt x="57150" y="90488"/>
                </a:moveTo>
                <a:lnTo>
                  <a:pt x="42863" y="90488"/>
                </a:lnTo>
                <a:lnTo>
                  <a:pt x="42863" y="97631"/>
                </a:lnTo>
                <a:cubicBezTo>
                  <a:pt x="42863" y="101590"/>
                  <a:pt x="39678" y="104775"/>
                  <a:pt x="35719" y="104775"/>
                </a:cubicBezTo>
                <a:cubicBezTo>
                  <a:pt x="31760" y="104775"/>
                  <a:pt x="28575" y="101590"/>
                  <a:pt x="28575" y="97631"/>
                </a:cubicBezTo>
                <a:lnTo>
                  <a:pt x="28575" y="66675"/>
                </a:lnTo>
                <a:cubicBezTo>
                  <a:pt x="28575" y="56168"/>
                  <a:pt x="37118" y="47625"/>
                  <a:pt x="47625" y="47625"/>
                </a:cubicBezTo>
                <a:lnTo>
                  <a:pt x="52388" y="47625"/>
                </a:lnTo>
                <a:cubicBezTo>
                  <a:pt x="62895" y="47625"/>
                  <a:pt x="71438" y="56168"/>
                  <a:pt x="71438" y="66675"/>
                </a:cubicBezTo>
                <a:lnTo>
                  <a:pt x="71438" y="97631"/>
                </a:lnTo>
                <a:cubicBezTo>
                  <a:pt x="71438" y="101590"/>
                  <a:pt x="68253" y="104775"/>
                  <a:pt x="64294" y="104775"/>
                </a:cubicBezTo>
                <a:cubicBezTo>
                  <a:pt x="60335" y="104775"/>
                  <a:pt x="57150" y="101590"/>
                  <a:pt x="57150" y="97631"/>
                </a:cubicBezTo>
                <a:lnTo>
                  <a:pt x="57150" y="90488"/>
                </a:lnTo>
                <a:close/>
              </a:path>
            </a:pathLst>
          </a:custGeom>
          <a:solidFill>
            <a:srgbClr val="0984E3"/>
          </a:solidFill>
          <a:ln/>
        </p:spPr>
      </p:sp>
      <p:sp>
        <p:nvSpPr>
          <p:cNvPr id="21" name="Text 19"/>
          <p:cNvSpPr/>
          <p:nvPr/>
        </p:nvSpPr>
        <p:spPr>
          <a:xfrm>
            <a:off x="819150" y="5291138"/>
            <a:ext cx="3362325" cy="4572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Marketing:</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Advertising campaigns and market positioning</a:t>
            </a:r>
            <a:endParaRPr lang="en-US" sz="1600" dirty="0"/>
          </a:p>
        </p:txBody>
      </p:sp>
      <p:sp>
        <p:nvSpPr>
          <p:cNvPr id="22" name="Shape 20"/>
          <p:cNvSpPr/>
          <p:nvPr/>
        </p:nvSpPr>
        <p:spPr>
          <a:xfrm>
            <a:off x="4264000" y="5324475"/>
            <a:ext cx="171450" cy="152400"/>
          </a:xfrm>
          <a:custGeom>
            <a:avLst/>
            <a:gdLst/>
            <a:ahLst/>
            <a:cxnLst/>
            <a:rect l="l" t="t" r="r" b="b"/>
            <a:pathLst>
              <a:path w="171450" h="152400">
                <a:moveTo>
                  <a:pt x="80040" y="25360"/>
                </a:moveTo>
                <a:lnTo>
                  <a:pt x="45333" y="63937"/>
                </a:lnTo>
                <a:cubicBezTo>
                  <a:pt x="43964" y="65455"/>
                  <a:pt x="44023" y="67806"/>
                  <a:pt x="45482" y="69265"/>
                </a:cubicBezTo>
                <a:cubicBezTo>
                  <a:pt x="54560" y="78343"/>
                  <a:pt x="69294" y="78343"/>
                  <a:pt x="78373" y="69265"/>
                </a:cubicBezTo>
                <a:lnTo>
                  <a:pt x="87838" y="59799"/>
                </a:lnTo>
                <a:cubicBezTo>
                  <a:pt x="89089" y="58549"/>
                  <a:pt x="90666" y="57864"/>
                  <a:pt x="92273" y="57745"/>
                </a:cubicBezTo>
                <a:cubicBezTo>
                  <a:pt x="94298" y="57567"/>
                  <a:pt x="96381" y="58251"/>
                  <a:pt x="97929" y="59799"/>
                </a:cubicBezTo>
                <a:lnTo>
                  <a:pt x="150495" y="111919"/>
                </a:lnTo>
                <a:lnTo>
                  <a:pt x="171450" y="95250"/>
                </a:lnTo>
                <a:lnTo>
                  <a:pt x="171450" y="9525"/>
                </a:lnTo>
                <a:lnTo>
                  <a:pt x="138113" y="28575"/>
                </a:lnTo>
                <a:lnTo>
                  <a:pt x="131028" y="23842"/>
                </a:lnTo>
                <a:cubicBezTo>
                  <a:pt x="126325" y="20717"/>
                  <a:pt x="120819" y="19050"/>
                  <a:pt x="115163" y="19050"/>
                </a:cubicBezTo>
                <a:lnTo>
                  <a:pt x="94208" y="19050"/>
                </a:lnTo>
                <a:cubicBezTo>
                  <a:pt x="93881" y="19050"/>
                  <a:pt x="93524" y="19050"/>
                  <a:pt x="93196" y="19080"/>
                </a:cubicBezTo>
                <a:cubicBezTo>
                  <a:pt x="88166" y="19348"/>
                  <a:pt x="83433" y="21610"/>
                  <a:pt x="80040" y="25360"/>
                </a:cubicBezTo>
                <a:close/>
                <a:moveTo>
                  <a:pt x="34707" y="54382"/>
                </a:moveTo>
                <a:lnTo>
                  <a:pt x="66496" y="19050"/>
                </a:lnTo>
                <a:lnTo>
                  <a:pt x="54709" y="19050"/>
                </a:lnTo>
                <a:cubicBezTo>
                  <a:pt x="47119" y="19050"/>
                  <a:pt x="39856" y="22056"/>
                  <a:pt x="34498" y="27414"/>
                </a:cubicBezTo>
                <a:lnTo>
                  <a:pt x="33338" y="28575"/>
                </a:lnTo>
                <a:lnTo>
                  <a:pt x="0" y="9525"/>
                </a:lnTo>
                <a:lnTo>
                  <a:pt x="0" y="95250"/>
                </a:lnTo>
                <a:lnTo>
                  <a:pt x="46553" y="134035"/>
                </a:lnTo>
                <a:cubicBezTo>
                  <a:pt x="53400" y="139750"/>
                  <a:pt x="62032" y="142875"/>
                  <a:pt x="70931" y="142875"/>
                </a:cubicBezTo>
                <a:lnTo>
                  <a:pt x="75605" y="142875"/>
                </a:lnTo>
                <a:lnTo>
                  <a:pt x="73521" y="140791"/>
                </a:lnTo>
                <a:cubicBezTo>
                  <a:pt x="70723" y="137993"/>
                  <a:pt x="70723" y="133469"/>
                  <a:pt x="73521" y="130701"/>
                </a:cubicBezTo>
                <a:cubicBezTo>
                  <a:pt x="76319" y="127933"/>
                  <a:pt x="80843" y="127903"/>
                  <a:pt x="83612" y="130701"/>
                </a:cubicBezTo>
                <a:lnTo>
                  <a:pt x="95816" y="142905"/>
                </a:lnTo>
                <a:lnTo>
                  <a:pt x="98494" y="142905"/>
                </a:lnTo>
                <a:cubicBezTo>
                  <a:pt x="104180" y="142905"/>
                  <a:pt x="109746" y="141625"/>
                  <a:pt x="114806" y="139244"/>
                </a:cubicBezTo>
                <a:lnTo>
                  <a:pt x="106859" y="131266"/>
                </a:lnTo>
                <a:cubicBezTo>
                  <a:pt x="104061" y="128468"/>
                  <a:pt x="104061" y="123944"/>
                  <a:pt x="106859" y="121176"/>
                </a:cubicBezTo>
                <a:cubicBezTo>
                  <a:pt x="109657" y="118408"/>
                  <a:pt x="114181" y="118378"/>
                  <a:pt x="116949" y="121176"/>
                </a:cubicBezTo>
                <a:lnTo>
                  <a:pt x="126474" y="130701"/>
                </a:lnTo>
                <a:lnTo>
                  <a:pt x="131683" y="125492"/>
                </a:lnTo>
                <a:cubicBezTo>
                  <a:pt x="134332" y="122843"/>
                  <a:pt x="135106" y="119003"/>
                  <a:pt x="133945" y="115639"/>
                </a:cubicBezTo>
                <a:lnTo>
                  <a:pt x="92899" y="74920"/>
                </a:lnTo>
                <a:lnTo>
                  <a:pt x="88463" y="79355"/>
                </a:lnTo>
                <a:cubicBezTo>
                  <a:pt x="73789" y="94030"/>
                  <a:pt x="50036" y="94030"/>
                  <a:pt x="35362" y="79355"/>
                </a:cubicBezTo>
                <a:cubicBezTo>
                  <a:pt x="28515" y="72509"/>
                  <a:pt x="28248" y="61526"/>
                  <a:pt x="34707" y="54352"/>
                </a:cubicBezTo>
                <a:close/>
              </a:path>
            </a:pathLst>
          </a:custGeom>
          <a:solidFill>
            <a:srgbClr val="0984E3"/>
          </a:solidFill>
          <a:ln/>
        </p:spPr>
      </p:sp>
      <p:sp>
        <p:nvSpPr>
          <p:cNvPr id="23" name="Text 21"/>
          <p:cNvSpPr/>
          <p:nvPr/>
        </p:nvSpPr>
        <p:spPr>
          <a:xfrm>
            <a:off x="4502125" y="5291138"/>
            <a:ext cx="3362325" cy="4572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Mergers: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Strategic acquisitions and antitrust analysis</a:t>
            </a:r>
            <a:endParaRPr lang="en-US" sz="1600" dirty="0"/>
          </a:p>
        </p:txBody>
      </p:sp>
      <p:sp>
        <p:nvSpPr>
          <p:cNvPr id="24" name="Shape 22"/>
          <p:cNvSpPr/>
          <p:nvPr/>
        </p:nvSpPr>
        <p:spPr>
          <a:xfrm>
            <a:off x="8132713" y="1300163"/>
            <a:ext cx="3676650" cy="2638425"/>
          </a:xfrm>
          <a:custGeom>
            <a:avLst/>
            <a:gdLst/>
            <a:ahLst/>
            <a:cxnLst/>
            <a:rect l="l" t="t" r="r" b="b"/>
            <a:pathLst>
              <a:path w="3676650" h="2638425">
                <a:moveTo>
                  <a:pt x="0" y="0"/>
                </a:moveTo>
                <a:lnTo>
                  <a:pt x="3676650" y="0"/>
                </a:lnTo>
                <a:lnTo>
                  <a:pt x="3676650" y="2638425"/>
                </a:lnTo>
                <a:lnTo>
                  <a:pt x="0" y="2638425"/>
                </a:lnTo>
                <a:lnTo>
                  <a:pt x="0" y="0"/>
                </a:lnTo>
                <a:close/>
              </a:path>
            </a:pathLst>
          </a:custGeom>
          <a:solidFill>
            <a:srgbClr val="FFFFFF"/>
          </a:solidFill>
          <a:ln w="12700">
            <a:solidFill>
              <a:srgbClr val="E0E0E0"/>
            </a:solidFill>
            <a:prstDash val="solid"/>
          </a:ln>
        </p:spPr>
      </p:sp>
      <p:sp>
        <p:nvSpPr>
          <p:cNvPr id="25" name="Text 23"/>
          <p:cNvSpPr/>
          <p:nvPr/>
        </p:nvSpPr>
        <p:spPr>
          <a:xfrm>
            <a:off x="8242250" y="1457325"/>
            <a:ext cx="3457575" cy="266700"/>
          </a:xfrm>
          <a:prstGeom prst="rect">
            <a:avLst/>
          </a:prstGeom>
          <a:noFill/>
          <a:ln/>
        </p:spPr>
        <p:txBody>
          <a:bodyPr wrap="square" lIns="0" tIns="0" rIns="0" bIns="0" rtlCol="0" anchor="ctr"/>
          <a:lstStyle/>
          <a:p>
            <a:pPr algn="ctr">
              <a:lnSpc>
                <a:spcPct val="120000"/>
              </a:lnSpc>
            </a:pPr>
            <a:r>
              <a:rPr lang="en-US" sz="1500" b="1" dirty="0">
                <a:solidFill>
                  <a:srgbClr val="2D3436"/>
                </a:solidFill>
                <a:latin typeface="Oranienbaum" pitchFamily="34" charset="0"/>
                <a:ea typeface="Oranienbaum" pitchFamily="34" charset="-122"/>
                <a:cs typeface="Oranienbaum" pitchFamily="34" charset="-120"/>
              </a:rPr>
              <a:t>Competitive Dynamics</a:t>
            </a:r>
            <a:endParaRPr lang="en-US" sz="1600" dirty="0"/>
          </a:p>
        </p:txBody>
      </p:sp>
      <p:pic>
        <p:nvPicPr>
          <p:cNvPr id="26" name="Image 0" descr="https://kimi-web-img.moonshot.cn/img/www.strategy-business.com/62dd758fab9070507bb20738503e83b9db3de3b5.jpg">    </p:cNvPr>
          <p:cNvPicPr>
            <a:picLocks noChangeAspect="1"/>
          </p:cNvPicPr>
          <p:nvPr/>
        </p:nvPicPr>
        <p:blipFill>
          <a:blip r:embed="rId1"/>
          <a:srcRect l="0" r="0" t="10340" b="10340"/>
          <a:stretch/>
        </p:blipFill>
        <p:spPr>
          <a:xfrm>
            <a:off x="8289875" y="1838325"/>
            <a:ext cx="3362325" cy="1333500"/>
          </a:xfrm>
          <a:prstGeom prst="roundRect">
            <a:avLst>
              <a:gd name="adj" fmla="val 0"/>
            </a:avLst>
          </a:prstGeom>
        </p:spPr>
      </p:pic>
      <p:sp>
        <p:nvSpPr>
          <p:cNvPr id="27" name="Text 24"/>
          <p:cNvSpPr/>
          <p:nvPr/>
        </p:nvSpPr>
        <p:spPr>
          <a:xfrm>
            <a:off x="8251775" y="3286125"/>
            <a:ext cx="3438525" cy="495300"/>
          </a:xfrm>
          <a:prstGeom prst="rect">
            <a:avLst/>
          </a:prstGeom>
          <a:noFill/>
          <a:ln/>
        </p:spPr>
        <p:txBody>
          <a:bodyPr wrap="square" lIns="0" tIns="0" rIns="0" bIns="0" rtlCol="0" anchor="ctr"/>
          <a:lstStyle/>
          <a:p>
            <a:pPr algn="ct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Firms form strategic networks, competing and cooperating in complex ecosystems.</a:t>
            </a:r>
            <a:endParaRPr lang="en-US" sz="1600" dirty="0"/>
          </a:p>
        </p:txBody>
      </p:sp>
      <p:sp>
        <p:nvSpPr>
          <p:cNvPr id="28" name="Shape 25"/>
          <p:cNvSpPr/>
          <p:nvPr/>
        </p:nvSpPr>
        <p:spPr>
          <a:xfrm>
            <a:off x="8127950" y="4095750"/>
            <a:ext cx="3686175" cy="1638300"/>
          </a:xfrm>
          <a:custGeom>
            <a:avLst/>
            <a:gdLst/>
            <a:ahLst/>
            <a:cxnLst/>
            <a:rect l="l" t="t" r="r" b="b"/>
            <a:pathLst>
              <a:path w="3686175" h="1638300">
                <a:moveTo>
                  <a:pt x="0" y="0"/>
                </a:moveTo>
                <a:lnTo>
                  <a:pt x="3686175" y="0"/>
                </a:lnTo>
                <a:lnTo>
                  <a:pt x="3686175" y="1638300"/>
                </a:lnTo>
                <a:lnTo>
                  <a:pt x="0" y="1638300"/>
                </a:lnTo>
                <a:lnTo>
                  <a:pt x="0" y="0"/>
                </a:lnTo>
                <a:close/>
              </a:path>
            </a:pathLst>
          </a:custGeom>
          <a:solidFill>
            <a:srgbClr val="2D3436"/>
          </a:solidFill>
          <a:ln/>
        </p:spPr>
      </p:sp>
      <p:sp>
        <p:nvSpPr>
          <p:cNvPr id="29" name="Text 26"/>
          <p:cNvSpPr/>
          <p:nvPr/>
        </p:nvSpPr>
        <p:spPr>
          <a:xfrm>
            <a:off x="8280350" y="4248150"/>
            <a:ext cx="346710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Oranienbaum" pitchFamily="34" charset="0"/>
                <a:ea typeface="Oranienbaum" pitchFamily="34" charset="-122"/>
                <a:cs typeface="Oranienbaum" pitchFamily="34" charset="-120"/>
              </a:rPr>
              <a:t>Case Study: Airline Pricing</a:t>
            </a:r>
            <a:endParaRPr lang="en-US" sz="1600" dirty="0"/>
          </a:p>
        </p:txBody>
      </p:sp>
      <p:sp>
        <p:nvSpPr>
          <p:cNvPr id="30" name="Text 27"/>
          <p:cNvSpPr/>
          <p:nvPr/>
        </p:nvSpPr>
        <p:spPr>
          <a:xfrm>
            <a:off x="8280350" y="4591050"/>
            <a:ext cx="3457575" cy="990600"/>
          </a:xfrm>
          <a:prstGeom prst="rect">
            <a:avLst/>
          </a:prstGeom>
          <a:noFill/>
          <a:ln/>
        </p:spPr>
        <p:txBody>
          <a:bodyPr wrap="square" lIns="0" tIns="0" rIns="0" bIns="0" rtlCol="0" anchor="ctr"/>
          <a:lstStyle/>
          <a:p>
            <a:pPr>
              <a:lnSpc>
                <a:spcPct val="140000"/>
              </a:lnSpc>
            </a:pPr>
            <a:r>
              <a:rPr lang="en-US" sz="1200" dirty="0">
                <a:solidFill>
                  <a:srgbClr val="E0E0E0"/>
                </a:solidFill>
                <a:latin typeface="Quattrocento Sans" pitchFamily="34" charset="0"/>
                <a:ea typeface="Quattrocento Sans" pitchFamily="34" charset="-122"/>
                <a:cs typeface="Quattrocento Sans" pitchFamily="34" charset="-120"/>
              </a:rPr>
              <a:t>Airlines use game theory to set fares, anticipating competitor responses to price changes. This explains why fares often move in lockstep and why price wars erupt.</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70578" y="370578"/>
            <a:ext cx="11524960" cy="222347"/>
          </a:xfrm>
          <a:prstGeom prst="rect">
            <a:avLst/>
          </a:prstGeom>
          <a:noFill/>
          <a:ln/>
        </p:spPr>
        <p:txBody>
          <a:bodyPr wrap="square" lIns="0" tIns="0" rIns="0" bIns="0" rtlCol="0" anchor="ctr"/>
          <a:lstStyle/>
          <a:p>
            <a:pPr>
              <a:lnSpc>
                <a:spcPct val="130000"/>
              </a:lnSpc>
            </a:pPr>
            <a:r>
              <a:rPr lang="en-US" sz="1167" b="1" spc="58" kern="0" dirty="0">
                <a:solidFill>
                  <a:srgbClr val="0984E3"/>
                </a:solidFill>
                <a:latin typeface="Quattrocento Sans" pitchFamily="34" charset="0"/>
                <a:ea typeface="Quattrocento Sans" pitchFamily="34" charset="-122"/>
                <a:cs typeface="Quattrocento Sans" pitchFamily="34" charset="-120"/>
              </a:rPr>
              <a:t>APPLICATION DOMAIN</a:t>
            </a:r>
            <a:endParaRPr lang="en-US" sz="1600" dirty="0"/>
          </a:p>
        </p:txBody>
      </p:sp>
      <p:sp>
        <p:nvSpPr>
          <p:cNvPr id="3" name="Text 1"/>
          <p:cNvSpPr/>
          <p:nvPr/>
        </p:nvSpPr>
        <p:spPr>
          <a:xfrm>
            <a:off x="370578" y="667040"/>
            <a:ext cx="11673191" cy="444693"/>
          </a:xfrm>
          <a:prstGeom prst="rect">
            <a:avLst/>
          </a:prstGeom>
          <a:noFill/>
          <a:ln/>
        </p:spPr>
        <p:txBody>
          <a:bodyPr wrap="square" lIns="0" tIns="0" rIns="0" bIns="0" rtlCol="0" anchor="ctr"/>
          <a:lstStyle/>
          <a:p>
            <a:pPr>
              <a:lnSpc>
                <a:spcPct val="80000"/>
              </a:lnSpc>
            </a:pPr>
            <a:r>
              <a:rPr lang="en-US" sz="3502" b="1" dirty="0">
                <a:solidFill>
                  <a:srgbClr val="2D3436"/>
                </a:solidFill>
                <a:latin typeface="Oranienbaum" pitchFamily="34" charset="0"/>
                <a:ea typeface="Oranienbaum" pitchFamily="34" charset="-122"/>
                <a:cs typeface="Oranienbaum" pitchFamily="34" charset="-120"/>
              </a:rPr>
              <a:t>Political Science &amp; International Relations</a:t>
            </a:r>
            <a:endParaRPr lang="en-US" sz="1600" dirty="0"/>
          </a:p>
        </p:txBody>
      </p:sp>
      <p:sp>
        <p:nvSpPr>
          <p:cNvPr id="4" name="Text 2"/>
          <p:cNvSpPr/>
          <p:nvPr/>
        </p:nvSpPr>
        <p:spPr>
          <a:xfrm>
            <a:off x="370578" y="1334079"/>
            <a:ext cx="5669836" cy="1204377"/>
          </a:xfrm>
          <a:prstGeom prst="rect">
            <a:avLst/>
          </a:prstGeom>
          <a:noFill/>
          <a:ln/>
        </p:spPr>
        <p:txBody>
          <a:bodyPr wrap="square" lIns="0" tIns="0" rIns="0" bIns="0" rtlCol="0" anchor="ctr"/>
          <a:lstStyle/>
          <a:p>
            <a:pPr>
              <a:lnSpc>
                <a:spcPct val="140000"/>
              </a:lnSpc>
            </a:pPr>
            <a:r>
              <a:rPr lang="en-US" sz="1459" b="1" dirty="0">
                <a:solidFill>
                  <a:srgbClr val="1E272E"/>
                </a:solidFill>
                <a:latin typeface="Quattrocento Sans" pitchFamily="34" charset="0"/>
                <a:ea typeface="Quattrocento Sans" pitchFamily="34" charset="-122"/>
                <a:cs typeface="Quattrocento Sans" pitchFamily="34" charset="-120"/>
              </a:rPr>
              <a:t>Game theory provides essential frameworks for understanding political behavior, from voting systems to international conflicts.</a:t>
            </a:r>
            <a:pPr>
              <a:lnSpc>
                <a:spcPct val="140000"/>
              </a:lnSpc>
            </a:pPr>
            <a:r>
              <a:rPr lang="en-US" sz="1459" dirty="0">
                <a:solidFill>
                  <a:srgbClr val="1E272E"/>
                </a:solidFill>
                <a:latin typeface="Quattrocento Sans" pitchFamily="34" charset="0"/>
                <a:ea typeface="Quattrocento Sans" pitchFamily="34" charset="-122"/>
                <a:cs typeface="Quattrocento Sans" pitchFamily="34" charset="-120"/>
              </a:rPr>
              <a:t> It illuminates why nations cooperate or compete and how institutions shape strategic interactions.</a:t>
            </a:r>
            <a:endParaRPr lang="en-US" sz="1600" dirty="0"/>
          </a:p>
        </p:txBody>
      </p:sp>
      <p:sp>
        <p:nvSpPr>
          <p:cNvPr id="5" name="Shape 3"/>
          <p:cNvSpPr/>
          <p:nvPr/>
        </p:nvSpPr>
        <p:spPr>
          <a:xfrm>
            <a:off x="375210" y="2691319"/>
            <a:ext cx="5567927" cy="2158614"/>
          </a:xfrm>
          <a:custGeom>
            <a:avLst/>
            <a:gdLst/>
            <a:ahLst/>
            <a:cxnLst/>
            <a:rect l="l" t="t" r="r" b="b"/>
            <a:pathLst>
              <a:path w="5567927" h="2158614">
                <a:moveTo>
                  <a:pt x="0" y="0"/>
                </a:moveTo>
                <a:lnTo>
                  <a:pt x="5567927" y="0"/>
                </a:lnTo>
                <a:lnTo>
                  <a:pt x="5567927" y="2158614"/>
                </a:lnTo>
                <a:lnTo>
                  <a:pt x="0" y="2158614"/>
                </a:lnTo>
                <a:lnTo>
                  <a:pt x="0" y="0"/>
                </a:lnTo>
                <a:close/>
              </a:path>
            </a:pathLst>
          </a:custGeom>
          <a:solidFill>
            <a:srgbClr val="FFFFFF"/>
          </a:solidFill>
          <a:ln w="12700">
            <a:solidFill>
              <a:srgbClr val="E0E0E0"/>
            </a:solidFill>
            <a:prstDash val="solid"/>
          </a:ln>
        </p:spPr>
      </p:sp>
      <p:sp>
        <p:nvSpPr>
          <p:cNvPr id="6" name="Text 4"/>
          <p:cNvSpPr/>
          <p:nvPr/>
        </p:nvSpPr>
        <p:spPr>
          <a:xfrm>
            <a:off x="565131" y="2881240"/>
            <a:ext cx="5280729" cy="259404"/>
          </a:xfrm>
          <a:prstGeom prst="rect">
            <a:avLst/>
          </a:prstGeom>
          <a:noFill/>
          <a:ln/>
        </p:spPr>
        <p:txBody>
          <a:bodyPr wrap="square" lIns="0" tIns="0" rIns="0" bIns="0" rtlCol="0" anchor="ctr"/>
          <a:lstStyle/>
          <a:p>
            <a:pPr>
              <a:lnSpc>
                <a:spcPct val="120000"/>
              </a:lnSpc>
            </a:pPr>
            <a:r>
              <a:rPr lang="en-US" sz="1459" b="1" dirty="0">
                <a:solidFill>
                  <a:srgbClr val="2D3436"/>
                </a:solidFill>
                <a:latin typeface="Oranienbaum" pitchFamily="34" charset="0"/>
                <a:ea typeface="Oranienbaum" pitchFamily="34" charset="-122"/>
                <a:cs typeface="Oranienbaum" pitchFamily="34" charset="-120"/>
              </a:rPr>
              <a:t>Voting Systems &amp; Elections</a:t>
            </a:r>
            <a:endParaRPr lang="en-US" sz="1600" dirty="0"/>
          </a:p>
        </p:txBody>
      </p:sp>
      <p:sp>
        <p:nvSpPr>
          <p:cNvPr id="7" name="Text 5"/>
          <p:cNvSpPr/>
          <p:nvPr/>
        </p:nvSpPr>
        <p:spPr>
          <a:xfrm>
            <a:off x="565131" y="3251818"/>
            <a:ext cx="5262201" cy="481751"/>
          </a:xfrm>
          <a:prstGeom prst="rect">
            <a:avLst/>
          </a:prstGeom>
          <a:noFill/>
          <a:ln/>
        </p:spPr>
        <p:txBody>
          <a:bodyPr wrap="square" lIns="0" tIns="0" rIns="0" bIns="0" rtlCol="0" anchor="ctr"/>
          <a:lstStyle/>
          <a:p>
            <a:pPr>
              <a:lnSpc>
                <a:spcPct val="140000"/>
              </a:lnSpc>
            </a:pPr>
            <a:r>
              <a:rPr lang="en-US" sz="1167" dirty="0">
                <a:solidFill>
                  <a:srgbClr val="636E72"/>
                </a:solidFill>
                <a:latin typeface="Quattrocento Sans" pitchFamily="34" charset="0"/>
                <a:ea typeface="Quattrocento Sans" pitchFamily="34" charset="-122"/>
                <a:cs typeface="Quattrocento Sans" pitchFamily="34" charset="-120"/>
              </a:rPr>
              <a:t>Game theory analyzes strategic voting, where voters may not choose their true preference to avoid "wasting" votes. It explains:</a:t>
            </a:r>
            <a:endParaRPr lang="en-US" sz="1600" dirty="0"/>
          </a:p>
        </p:txBody>
      </p:sp>
      <p:sp>
        <p:nvSpPr>
          <p:cNvPr id="8" name="Shape 6"/>
          <p:cNvSpPr/>
          <p:nvPr/>
        </p:nvSpPr>
        <p:spPr>
          <a:xfrm>
            <a:off x="592924" y="3877167"/>
            <a:ext cx="129702" cy="148231"/>
          </a:xfrm>
          <a:custGeom>
            <a:avLst/>
            <a:gdLst/>
            <a:ahLst/>
            <a:cxn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0984E3"/>
          </a:solidFill>
          <a:ln/>
        </p:spPr>
      </p:sp>
      <p:sp>
        <p:nvSpPr>
          <p:cNvPr id="9" name="Text 7"/>
          <p:cNvSpPr/>
          <p:nvPr/>
        </p:nvSpPr>
        <p:spPr>
          <a:xfrm>
            <a:off x="804485" y="3844742"/>
            <a:ext cx="5022846" cy="222347"/>
          </a:xfrm>
          <a:prstGeom prst="rect">
            <a:avLst/>
          </a:prstGeom>
          <a:noFill/>
          <a:ln/>
        </p:spPr>
        <p:txBody>
          <a:bodyPr wrap="square" lIns="0" tIns="0" rIns="0" bIns="0" rtlCol="0" anchor="ctr"/>
          <a:lstStyle/>
          <a:p>
            <a:pPr>
              <a:lnSpc>
                <a:spcPct val="130000"/>
              </a:lnSpc>
            </a:pPr>
            <a:r>
              <a:rPr lang="en-US" sz="1167" dirty="0">
                <a:solidFill>
                  <a:srgbClr val="636E72"/>
                </a:solidFill>
                <a:latin typeface="Quattrocento Sans" pitchFamily="34" charset="0"/>
                <a:ea typeface="Quattrocento Sans" pitchFamily="34" charset="-122"/>
                <a:cs typeface="Quattrocento Sans" pitchFamily="34" charset="-120"/>
              </a:rPr>
              <a:t>Why two-party systems dominate under plurality voting</a:t>
            </a:r>
            <a:endParaRPr lang="en-US" sz="1600" dirty="0"/>
          </a:p>
        </p:txBody>
      </p:sp>
      <p:sp>
        <p:nvSpPr>
          <p:cNvPr id="10" name="Shape 8"/>
          <p:cNvSpPr/>
          <p:nvPr/>
        </p:nvSpPr>
        <p:spPr>
          <a:xfrm>
            <a:off x="592924" y="4173629"/>
            <a:ext cx="129702" cy="148231"/>
          </a:xfrm>
          <a:custGeom>
            <a:avLst/>
            <a:gdLst/>
            <a:ahLst/>
            <a:cxn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0984E3"/>
          </a:solidFill>
          <a:ln/>
        </p:spPr>
      </p:sp>
      <p:sp>
        <p:nvSpPr>
          <p:cNvPr id="11" name="Text 9"/>
          <p:cNvSpPr/>
          <p:nvPr/>
        </p:nvSpPr>
        <p:spPr>
          <a:xfrm>
            <a:off x="804485" y="4141204"/>
            <a:ext cx="5022846" cy="222347"/>
          </a:xfrm>
          <a:prstGeom prst="rect">
            <a:avLst/>
          </a:prstGeom>
          <a:noFill/>
          <a:ln/>
        </p:spPr>
        <p:txBody>
          <a:bodyPr wrap="square" lIns="0" tIns="0" rIns="0" bIns="0" rtlCol="0" anchor="ctr"/>
          <a:lstStyle/>
          <a:p>
            <a:pPr>
              <a:lnSpc>
                <a:spcPct val="130000"/>
              </a:lnSpc>
            </a:pPr>
            <a:r>
              <a:rPr lang="en-US" sz="1167" dirty="0">
                <a:solidFill>
                  <a:srgbClr val="636E72"/>
                </a:solidFill>
                <a:latin typeface="Quattrocento Sans" pitchFamily="34" charset="0"/>
                <a:ea typeface="Quattrocento Sans" pitchFamily="34" charset="-122"/>
                <a:cs typeface="Quattrocento Sans" pitchFamily="34" charset="-120"/>
              </a:rPr>
              <a:t>Strategic candidate positioning (median voter theorem)</a:t>
            </a:r>
            <a:endParaRPr lang="en-US" sz="1600" dirty="0"/>
          </a:p>
        </p:txBody>
      </p:sp>
      <p:sp>
        <p:nvSpPr>
          <p:cNvPr id="12" name="Shape 10"/>
          <p:cNvSpPr/>
          <p:nvPr/>
        </p:nvSpPr>
        <p:spPr>
          <a:xfrm>
            <a:off x="592924" y="4470091"/>
            <a:ext cx="129702" cy="148231"/>
          </a:xfrm>
          <a:custGeom>
            <a:avLst/>
            <a:gdLst/>
            <a:ahLst/>
            <a:cxn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0984E3"/>
          </a:solidFill>
          <a:ln/>
        </p:spPr>
      </p:sp>
      <p:sp>
        <p:nvSpPr>
          <p:cNvPr id="13" name="Text 11"/>
          <p:cNvSpPr/>
          <p:nvPr/>
        </p:nvSpPr>
        <p:spPr>
          <a:xfrm>
            <a:off x="804485" y="4437666"/>
            <a:ext cx="5022846" cy="222347"/>
          </a:xfrm>
          <a:prstGeom prst="rect">
            <a:avLst/>
          </a:prstGeom>
          <a:noFill/>
          <a:ln/>
        </p:spPr>
        <p:txBody>
          <a:bodyPr wrap="square" lIns="0" tIns="0" rIns="0" bIns="0" rtlCol="0" anchor="ctr"/>
          <a:lstStyle/>
          <a:p>
            <a:pPr>
              <a:lnSpc>
                <a:spcPct val="130000"/>
              </a:lnSpc>
            </a:pPr>
            <a:r>
              <a:rPr lang="en-US" sz="1167" dirty="0">
                <a:solidFill>
                  <a:srgbClr val="636E72"/>
                </a:solidFill>
                <a:latin typeface="Quattrocento Sans" pitchFamily="34" charset="0"/>
                <a:ea typeface="Quattrocento Sans" pitchFamily="34" charset="-122"/>
                <a:cs typeface="Quattrocento Sans" pitchFamily="34" charset="-120"/>
              </a:rPr>
              <a:t>Coalition formation in parliamentary systems</a:t>
            </a:r>
            <a:endParaRPr lang="en-US" sz="1600" dirty="0"/>
          </a:p>
        </p:txBody>
      </p:sp>
      <p:sp>
        <p:nvSpPr>
          <p:cNvPr id="14" name="Shape 12"/>
          <p:cNvSpPr/>
          <p:nvPr/>
        </p:nvSpPr>
        <p:spPr>
          <a:xfrm>
            <a:off x="375210" y="5007429"/>
            <a:ext cx="5567927" cy="1473046"/>
          </a:xfrm>
          <a:custGeom>
            <a:avLst/>
            <a:gdLst/>
            <a:ahLst/>
            <a:cxnLst/>
            <a:rect l="l" t="t" r="r" b="b"/>
            <a:pathLst>
              <a:path w="5567927" h="1473046">
                <a:moveTo>
                  <a:pt x="0" y="0"/>
                </a:moveTo>
                <a:lnTo>
                  <a:pt x="5567927" y="0"/>
                </a:lnTo>
                <a:lnTo>
                  <a:pt x="5567927" y="1473046"/>
                </a:lnTo>
                <a:lnTo>
                  <a:pt x="0" y="1473046"/>
                </a:lnTo>
                <a:lnTo>
                  <a:pt x="0" y="0"/>
                </a:lnTo>
                <a:close/>
              </a:path>
            </a:pathLst>
          </a:custGeom>
          <a:solidFill>
            <a:srgbClr val="FFFFFF"/>
          </a:solidFill>
          <a:ln w="12700">
            <a:solidFill>
              <a:srgbClr val="E0E0E0"/>
            </a:solidFill>
            <a:prstDash val="solid"/>
          </a:ln>
        </p:spPr>
      </p:sp>
      <p:sp>
        <p:nvSpPr>
          <p:cNvPr id="15" name="Text 13"/>
          <p:cNvSpPr/>
          <p:nvPr/>
        </p:nvSpPr>
        <p:spPr>
          <a:xfrm>
            <a:off x="565131" y="5197350"/>
            <a:ext cx="5280729" cy="259404"/>
          </a:xfrm>
          <a:prstGeom prst="rect">
            <a:avLst/>
          </a:prstGeom>
          <a:noFill/>
          <a:ln/>
        </p:spPr>
        <p:txBody>
          <a:bodyPr wrap="square" lIns="0" tIns="0" rIns="0" bIns="0" rtlCol="0" anchor="ctr"/>
          <a:lstStyle/>
          <a:p>
            <a:pPr>
              <a:lnSpc>
                <a:spcPct val="120000"/>
              </a:lnSpc>
            </a:pPr>
            <a:r>
              <a:rPr lang="en-US" sz="1459" b="1" dirty="0">
                <a:solidFill>
                  <a:srgbClr val="2D3436"/>
                </a:solidFill>
                <a:latin typeface="Oranienbaum" pitchFamily="34" charset="0"/>
                <a:ea typeface="Oranienbaum" pitchFamily="34" charset="-122"/>
                <a:cs typeface="Oranienbaum" pitchFamily="34" charset="-120"/>
              </a:rPr>
              <a:t>International Negotiations</a:t>
            </a:r>
            <a:endParaRPr lang="en-US" sz="1600" dirty="0"/>
          </a:p>
        </p:txBody>
      </p:sp>
      <p:sp>
        <p:nvSpPr>
          <p:cNvPr id="16" name="Text 14"/>
          <p:cNvSpPr/>
          <p:nvPr/>
        </p:nvSpPr>
        <p:spPr>
          <a:xfrm>
            <a:off x="565131" y="5567927"/>
            <a:ext cx="5262201" cy="722626"/>
          </a:xfrm>
          <a:prstGeom prst="rect">
            <a:avLst/>
          </a:prstGeom>
          <a:noFill/>
          <a:ln/>
        </p:spPr>
        <p:txBody>
          <a:bodyPr wrap="square" lIns="0" tIns="0" rIns="0" bIns="0" rtlCol="0" anchor="ctr"/>
          <a:lstStyle/>
          <a:p>
            <a:pPr>
              <a:lnSpc>
                <a:spcPct val="140000"/>
              </a:lnSpc>
            </a:pPr>
            <a:r>
              <a:rPr lang="en-US" sz="1167" dirty="0">
                <a:solidFill>
                  <a:srgbClr val="636E72"/>
                </a:solidFill>
                <a:latin typeface="Quattrocento Sans" pitchFamily="34" charset="0"/>
                <a:ea typeface="Quattrocento Sans" pitchFamily="34" charset="-122"/>
                <a:cs typeface="Quattrocento Sans" pitchFamily="34" charset="-120"/>
              </a:rPr>
              <a:t>Trade agreements, climate treaties, and arms control all involve strategic bargaining. Game theory reveals why enforceable commitments and repeated interactions foster cooperation.</a:t>
            </a:r>
            <a:endParaRPr lang="en-US" sz="1600" dirty="0"/>
          </a:p>
        </p:txBody>
      </p:sp>
      <p:sp>
        <p:nvSpPr>
          <p:cNvPr id="17" name="Shape 15"/>
          <p:cNvSpPr/>
          <p:nvPr/>
        </p:nvSpPr>
        <p:spPr>
          <a:xfrm>
            <a:off x="6242132" y="1334079"/>
            <a:ext cx="5577191" cy="2844182"/>
          </a:xfrm>
          <a:custGeom>
            <a:avLst/>
            <a:gdLst/>
            <a:ahLst/>
            <a:cxnLst/>
            <a:rect l="l" t="t" r="r" b="b"/>
            <a:pathLst>
              <a:path w="5577191" h="2844182">
                <a:moveTo>
                  <a:pt x="0" y="0"/>
                </a:moveTo>
                <a:lnTo>
                  <a:pt x="5577191" y="0"/>
                </a:lnTo>
                <a:lnTo>
                  <a:pt x="5577191" y="2844182"/>
                </a:lnTo>
                <a:lnTo>
                  <a:pt x="0" y="2844182"/>
                </a:lnTo>
                <a:lnTo>
                  <a:pt x="0" y="0"/>
                </a:lnTo>
                <a:close/>
              </a:path>
            </a:pathLst>
          </a:custGeom>
          <a:solidFill>
            <a:srgbClr val="2D3436"/>
          </a:solidFill>
          <a:ln/>
        </p:spPr>
      </p:sp>
      <p:sp>
        <p:nvSpPr>
          <p:cNvPr id="18" name="Text 16"/>
          <p:cNvSpPr/>
          <p:nvPr/>
        </p:nvSpPr>
        <p:spPr>
          <a:xfrm>
            <a:off x="6427421" y="1519368"/>
            <a:ext cx="5317787" cy="296462"/>
          </a:xfrm>
          <a:prstGeom prst="rect">
            <a:avLst/>
          </a:prstGeom>
          <a:noFill/>
          <a:ln/>
        </p:spPr>
        <p:txBody>
          <a:bodyPr wrap="square" lIns="0" tIns="0" rIns="0" bIns="0" rtlCol="0" anchor="ctr"/>
          <a:lstStyle/>
          <a:p>
            <a:pPr>
              <a:lnSpc>
                <a:spcPct val="110000"/>
              </a:lnSpc>
            </a:pPr>
            <a:r>
              <a:rPr lang="en-US" sz="1751" b="1" dirty="0">
                <a:solidFill>
                  <a:srgbClr val="FFFFFF"/>
                </a:solidFill>
                <a:latin typeface="Oranienbaum" pitchFamily="34" charset="0"/>
                <a:ea typeface="Oranienbaum" pitchFamily="34" charset="-122"/>
                <a:cs typeface="Oranienbaum" pitchFamily="34" charset="-120"/>
              </a:rPr>
              <a:t>Nuclear Deterrence Theory</a:t>
            </a:r>
            <a:endParaRPr lang="en-US" sz="1600" dirty="0"/>
          </a:p>
        </p:txBody>
      </p:sp>
      <p:sp>
        <p:nvSpPr>
          <p:cNvPr id="19" name="Text 17"/>
          <p:cNvSpPr/>
          <p:nvPr/>
        </p:nvSpPr>
        <p:spPr>
          <a:xfrm>
            <a:off x="6427421" y="1968693"/>
            <a:ext cx="5146395" cy="456274"/>
          </a:xfrm>
          <a:prstGeom prst="rect">
            <a:avLst/>
          </a:prstGeom>
          <a:noFill/>
          <a:ln/>
        </p:spPr>
        <p:txBody>
          <a:bodyPr wrap="square" lIns="0" tIns="0" rIns="0" bIns="0" rtlCol="0" anchor="ctr"/>
          <a:lstStyle/>
          <a:p>
            <a:pPr>
              <a:lnSpc>
                <a:spcPct val="140000"/>
              </a:lnSpc>
            </a:pPr>
            <a:r>
              <a:rPr lang="en-US" sz="1313" b="1" dirty="0">
                <a:solidFill>
                  <a:srgbClr val="E0E0E0"/>
                </a:solidFill>
                <a:latin typeface="Quattrocento Sans" pitchFamily="34" charset="0"/>
                <a:ea typeface="Quattrocento Sans" pitchFamily="34" charset="-122"/>
                <a:cs typeface="Quattrocento Sans" pitchFamily="34" charset="-120"/>
              </a:rPr>
              <a:t>The Cold War's most critical strategic problem was preventing nuclear war while maintaining credible deterrence.</a:t>
            </a:r>
            <a:endParaRPr lang="en-US" sz="1600" dirty="0"/>
          </a:p>
        </p:txBody>
      </p:sp>
      <p:sp>
        <p:nvSpPr>
          <p:cNvPr id="20" name="Text 18"/>
          <p:cNvSpPr/>
          <p:nvPr/>
        </p:nvSpPr>
        <p:spPr>
          <a:xfrm>
            <a:off x="6427421" y="2580146"/>
            <a:ext cx="5280729" cy="481751"/>
          </a:xfrm>
          <a:prstGeom prst="rect">
            <a:avLst/>
          </a:prstGeom>
          <a:noFill/>
          <a:ln/>
        </p:spPr>
        <p:txBody>
          <a:bodyPr wrap="square" lIns="0" tIns="0" rIns="0" bIns="0" rtlCol="0" anchor="ctr"/>
          <a:lstStyle/>
          <a:p>
            <a:pPr>
              <a:lnSpc>
                <a:spcPct val="140000"/>
              </a:lnSpc>
            </a:pPr>
            <a:r>
              <a:rPr lang="en-US" sz="1167" dirty="0">
                <a:solidFill>
                  <a:srgbClr val="E0E0E0"/>
                </a:solidFill>
                <a:latin typeface="Quattrocento Sans" pitchFamily="34" charset="0"/>
                <a:ea typeface="Quattrocento Sans" pitchFamily="34" charset="-122"/>
                <a:cs typeface="Quattrocento Sans" pitchFamily="34" charset="-120"/>
              </a:rPr>
              <a:t>Game theorists like Thomas Schelling applied the Chicken Game to model nuclear brinkmanship. Key insights:</a:t>
            </a:r>
            <a:endParaRPr lang="en-US" sz="1600" dirty="0"/>
          </a:p>
        </p:txBody>
      </p:sp>
      <p:sp>
        <p:nvSpPr>
          <p:cNvPr id="21" name="Shape 19"/>
          <p:cNvSpPr/>
          <p:nvPr/>
        </p:nvSpPr>
        <p:spPr>
          <a:xfrm>
            <a:off x="6436685" y="3205495"/>
            <a:ext cx="166760" cy="148231"/>
          </a:xfrm>
          <a:custGeom>
            <a:avLst/>
            <a:gdLst/>
            <a:ahLst/>
            <a:cxnLst/>
            <a:rect l="l" t="t" r="r" b="b"/>
            <a:pathLst>
              <a:path w="166760" h="148231">
                <a:moveTo>
                  <a:pt x="138967" y="-4632"/>
                </a:moveTo>
                <a:cubicBezTo>
                  <a:pt x="140964" y="-4632"/>
                  <a:pt x="142730" y="-3358"/>
                  <a:pt x="143367" y="-1477"/>
                </a:cubicBezTo>
                <a:lnTo>
                  <a:pt x="147276" y="10220"/>
                </a:lnTo>
                <a:lnTo>
                  <a:pt x="158972" y="14128"/>
                </a:lnTo>
                <a:cubicBezTo>
                  <a:pt x="160854" y="14765"/>
                  <a:pt x="162128" y="16531"/>
                  <a:pt x="162128" y="18529"/>
                </a:cubicBezTo>
                <a:cubicBezTo>
                  <a:pt x="162128" y="20527"/>
                  <a:pt x="160854" y="22293"/>
                  <a:pt x="158972" y="22929"/>
                </a:cubicBezTo>
                <a:lnTo>
                  <a:pt x="147276" y="26838"/>
                </a:lnTo>
                <a:lnTo>
                  <a:pt x="143367" y="38534"/>
                </a:lnTo>
                <a:cubicBezTo>
                  <a:pt x="142730" y="40416"/>
                  <a:pt x="140964" y="41690"/>
                  <a:pt x="138967" y="41690"/>
                </a:cubicBezTo>
                <a:cubicBezTo>
                  <a:pt x="136969" y="41690"/>
                  <a:pt x="135203" y="40416"/>
                  <a:pt x="134566" y="38534"/>
                </a:cubicBezTo>
                <a:lnTo>
                  <a:pt x="130658" y="26838"/>
                </a:lnTo>
                <a:lnTo>
                  <a:pt x="118961" y="22929"/>
                </a:lnTo>
                <a:cubicBezTo>
                  <a:pt x="117079" y="22293"/>
                  <a:pt x="115805" y="20527"/>
                  <a:pt x="115805" y="18529"/>
                </a:cubicBezTo>
                <a:cubicBezTo>
                  <a:pt x="115805" y="16531"/>
                  <a:pt x="117079" y="14765"/>
                  <a:pt x="118961" y="14128"/>
                </a:cubicBezTo>
                <a:lnTo>
                  <a:pt x="130658" y="10220"/>
                </a:lnTo>
                <a:lnTo>
                  <a:pt x="134566" y="-1477"/>
                </a:lnTo>
                <a:cubicBezTo>
                  <a:pt x="135203" y="-3358"/>
                  <a:pt x="136969" y="-4632"/>
                  <a:pt x="138967" y="-4632"/>
                </a:cubicBezTo>
                <a:close/>
                <a:moveTo>
                  <a:pt x="93050" y="28199"/>
                </a:moveTo>
                <a:cubicBezTo>
                  <a:pt x="96669" y="24580"/>
                  <a:pt x="102546" y="24580"/>
                  <a:pt x="106165" y="28199"/>
                </a:cubicBezTo>
                <a:lnTo>
                  <a:pt x="129326" y="51360"/>
                </a:lnTo>
                <a:cubicBezTo>
                  <a:pt x="132945" y="54979"/>
                  <a:pt x="132945" y="60856"/>
                  <a:pt x="129326" y="64475"/>
                </a:cubicBezTo>
                <a:lnTo>
                  <a:pt x="126170" y="67630"/>
                </a:lnTo>
                <a:cubicBezTo>
                  <a:pt x="128457" y="74000"/>
                  <a:pt x="129702" y="80861"/>
                  <a:pt x="129702" y="88041"/>
                </a:cubicBezTo>
                <a:cubicBezTo>
                  <a:pt x="129702" y="121306"/>
                  <a:pt x="102748" y="148260"/>
                  <a:pt x="69483" y="148260"/>
                </a:cubicBezTo>
                <a:cubicBezTo>
                  <a:pt x="36218" y="148260"/>
                  <a:pt x="9264" y="121277"/>
                  <a:pt x="9264" y="88012"/>
                </a:cubicBezTo>
                <a:cubicBezTo>
                  <a:pt x="9264" y="54747"/>
                  <a:pt x="36218" y="27793"/>
                  <a:pt x="69483" y="27793"/>
                </a:cubicBezTo>
                <a:cubicBezTo>
                  <a:pt x="76634" y="27793"/>
                  <a:pt x="83525" y="29038"/>
                  <a:pt x="89894" y="31354"/>
                </a:cubicBezTo>
                <a:lnTo>
                  <a:pt x="93050" y="28199"/>
                </a:lnTo>
                <a:close/>
                <a:moveTo>
                  <a:pt x="41690" y="88012"/>
                </a:moveTo>
                <a:cubicBezTo>
                  <a:pt x="41690" y="72668"/>
                  <a:pt x="54139" y="60219"/>
                  <a:pt x="69483" y="60219"/>
                </a:cubicBezTo>
                <a:cubicBezTo>
                  <a:pt x="73334" y="60219"/>
                  <a:pt x="76432" y="57121"/>
                  <a:pt x="76432" y="53271"/>
                </a:cubicBezTo>
                <a:cubicBezTo>
                  <a:pt x="76432" y="49420"/>
                  <a:pt x="73334" y="46322"/>
                  <a:pt x="69483" y="46322"/>
                </a:cubicBezTo>
                <a:cubicBezTo>
                  <a:pt x="46467" y="46322"/>
                  <a:pt x="27793" y="64996"/>
                  <a:pt x="27793" y="88012"/>
                </a:cubicBezTo>
                <a:cubicBezTo>
                  <a:pt x="27793" y="91863"/>
                  <a:pt x="30891" y="94960"/>
                  <a:pt x="34742" y="94960"/>
                </a:cubicBezTo>
                <a:cubicBezTo>
                  <a:pt x="38592" y="94960"/>
                  <a:pt x="41690" y="91863"/>
                  <a:pt x="41690" y="88012"/>
                </a:cubicBezTo>
                <a:close/>
              </a:path>
            </a:pathLst>
          </a:custGeom>
          <a:solidFill>
            <a:srgbClr val="0984E3"/>
          </a:solidFill>
          <a:ln/>
        </p:spPr>
      </p:sp>
      <p:sp>
        <p:nvSpPr>
          <p:cNvPr id="22" name="Text 20"/>
          <p:cNvSpPr/>
          <p:nvPr/>
        </p:nvSpPr>
        <p:spPr>
          <a:xfrm>
            <a:off x="6666776" y="3173070"/>
            <a:ext cx="5041375" cy="222347"/>
          </a:xfrm>
          <a:prstGeom prst="rect">
            <a:avLst/>
          </a:prstGeom>
          <a:noFill/>
          <a:ln/>
        </p:spPr>
        <p:txBody>
          <a:bodyPr wrap="square" lIns="0" tIns="0" rIns="0" bIns="0" rtlCol="0" anchor="ctr"/>
          <a:lstStyle/>
          <a:p>
            <a:pPr>
              <a:lnSpc>
                <a:spcPct val="130000"/>
              </a:lnSpc>
            </a:pPr>
            <a:r>
              <a:rPr lang="en-US" sz="1167" b="1" dirty="0">
                <a:solidFill>
                  <a:srgbClr val="E0E0E0"/>
                </a:solidFill>
                <a:latin typeface="Quattrocento Sans" pitchFamily="34" charset="0"/>
                <a:ea typeface="Quattrocento Sans" pitchFamily="34" charset="-122"/>
                <a:cs typeface="Quattrocento Sans" pitchFamily="34" charset="-120"/>
              </a:rPr>
              <a:t>Credible Threats:</a:t>
            </a:r>
            <a:pPr>
              <a:lnSpc>
                <a:spcPct val="130000"/>
              </a:lnSpc>
            </a:pPr>
            <a:r>
              <a:rPr lang="en-US" sz="1167" dirty="0">
                <a:solidFill>
                  <a:srgbClr val="E0E0E0"/>
                </a:solidFill>
                <a:latin typeface="Quattrocento Sans" pitchFamily="34" charset="0"/>
                <a:ea typeface="Quattrocento Sans" pitchFamily="34" charset="-122"/>
                <a:cs typeface="Quattrocento Sans" pitchFamily="34" charset="-120"/>
              </a:rPr>
              <a:t> Making retaliation automatic (doomsday devices)</a:t>
            </a:r>
            <a:endParaRPr lang="en-US" sz="1600" dirty="0"/>
          </a:p>
        </p:txBody>
      </p:sp>
      <p:sp>
        <p:nvSpPr>
          <p:cNvPr id="23" name="Shape 21"/>
          <p:cNvSpPr/>
          <p:nvPr/>
        </p:nvSpPr>
        <p:spPr>
          <a:xfrm>
            <a:off x="6445950" y="3501957"/>
            <a:ext cx="148231" cy="148231"/>
          </a:xfrm>
          <a:custGeom>
            <a:avLst/>
            <a:gdLst/>
            <a:ahLst/>
            <a:cxnLst/>
            <a:rect l="l" t="t" r="r" b="b"/>
            <a:pathLst>
              <a:path w="148231" h="148231">
                <a:moveTo>
                  <a:pt x="83380" y="9264"/>
                </a:moveTo>
                <a:cubicBezTo>
                  <a:pt x="83380" y="4140"/>
                  <a:pt x="79240" y="0"/>
                  <a:pt x="74116" y="0"/>
                </a:cubicBezTo>
                <a:cubicBezTo>
                  <a:pt x="68991" y="0"/>
                  <a:pt x="64851" y="4140"/>
                  <a:pt x="64851" y="9264"/>
                </a:cubicBezTo>
                <a:lnTo>
                  <a:pt x="64851" y="69483"/>
                </a:lnTo>
                <a:cubicBezTo>
                  <a:pt x="64851" y="72031"/>
                  <a:pt x="62767" y="74116"/>
                  <a:pt x="60219" y="74116"/>
                </a:cubicBezTo>
                <a:cubicBezTo>
                  <a:pt x="57671" y="74116"/>
                  <a:pt x="55587" y="72031"/>
                  <a:pt x="55587" y="69483"/>
                </a:cubicBezTo>
                <a:lnTo>
                  <a:pt x="55587" y="18529"/>
                </a:lnTo>
                <a:cubicBezTo>
                  <a:pt x="55587" y="13404"/>
                  <a:pt x="51447" y="9264"/>
                  <a:pt x="46322" y="9264"/>
                </a:cubicBezTo>
                <a:cubicBezTo>
                  <a:pt x="41198" y="9264"/>
                  <a:pt x="37058" y="13404"/>
                  <a:pt x="37058" y="18529"/>
                </a:cubicBezTo>
                <a:lnTo>
                  <a:pt x="37058" y="97277"/>
                </a:lnTo>
                <a:cubicBezTo>
                  <a:pt x="37058" y="97711"/>
                  <a:pt x="37058" y="98174"/>
                  <a:pt x="37087" y="98608"/>
                </a:cubicBezTo>
                <a:lnTo>
                  <a:pt x="19571" y="81932"/>
                </a:lnTo>
                <a:cubicBezTo>
                  <a:pt x="14939" y="77532"/>
                  <a:pt x="7614" y="77705"/>
                  <a:pt x="3185" y="82338"/>
                </a:cubicBezTo>
                <a:cubicBezTo>
                  <a:pt x="-1245" y="86970"/>
                  <a:pt x="-1042" y="94295"/>
                  <a:pt x="3590" y="98724"/>
                </a:cubicBezTo>
                <a:lnTo>
                  <a:pt x="36131" y="129702"/>
                </a:lnTo>
                <a:cubicBezTo>
                  <a:pt x="48609" y="141601"/>
                  <a:pt x="65198" y="148231"/>
                  <a:pt x="82453" y="148231"/>
                </a:cubicBezTo>
                <a:lnTo>
                  <a:pt x="88012" y="148231"/>
                </a:lnTo>
                <a:cubicBezTo>
                  <a:pt x="116153" y="148231"/>
                  <a:pt x="138967" y="125417"/>
                  <a:pt x="138967" y="97277"/>
                </a:cubicBezTo>
                <a:lnTo>
                  <a:pt x="138967" y="37058"/>
                </a:lnTo>
                <a:cubicBezTo>
                  <a:pt x="138967" y="31933"/>
                  <a:pt x="134827" y="27793"/>
                  <a:pt x="129702" y="27793"/>
                </a:cubicBezTo>
                <a:cubicBezTo>
                  <a:pt x="124578" y="27793"/>
                  <a:pt x="120438" y="31933"/>
                  <a:pt x="120438" y="37058"/>
                </a:cubicBezTo>
                <a:lnTo>
                  <a:pt x="120438" y="69483"/>
                </a:lnTo>
                <a:cubicBezTo>
                  <a:pt x="120438" y="72031"/>
                  <a:pt x="118353" y="74116"/>
                  <a:pt x="115805" y="74116"/>
                </a:cubicBezTo>
                <a:cubicBezTo>
                  <a:pt x="113258" y="74116"/>
                  <a:pt x="111173" y="72031"/>
                  <a:pt x="111173" y="69483"/>
                </a:cubicBezTo>
                <a:lnTo>
                  <a:pt x="111173" y="18529"/>
                </a:lnTo>
                <a:cubicBezTo>
                  <a:pt x="111173" y="13404"/>
                  <a:pt x="107033" y="9264"/>
                  <a:pt x="101909" y="9264"/>
                </a:cubicBezTo>
                <a:cubicBezTo>
                  <a:pt x="96784" y="9264"/>
                  <a:pt x="92644" y="13404"/>
                  <a:pt x="92644" y="18529"/>
                </a:cubicBezTo>
                <a:lnTo>
                  <a:pt x="92644" y="69483"/>
                </a:lnTo>
                <a:cubicBezTo>
                  <a:pt x="92644" y="72031"/>
                  <a:pt x="90560" y="74116"/>
                  <a:pt x="88012" y="74116"/>
                </a:cubicBezTo>
                <a:cubicBezTo>
                  <a:pt x="85464" y="74116"/>
                  <a:pt x="83380" y="72031"/>
                  <a:pt x="83380" y="69483"/>
                </a:cubicBezTo>
                <a:lnTo>
                  <a:pt x="83380" y="9264"/>
                </a:lnTo>
                <a:close/>
              </a:path>
            </a:pathLst>
          </a:custGeom>
          <a:solidFill>
            <a:srgbClr val="0984E3"/>
          </a:solidFill>
          <a:ln/>
        </p:spPr>
      </p:sp>
      <p:sp>
        <p:nvSpPr>
          <p:cNvPr id="24" name="Text 22"/>
          <p:cNvSpPr/>
          <p:nvPr/>
        </p:nvSpPr>
        <p:spPr>
          <a:xfrm>
            <a:off x="6666776" y="3469532"/>
            <a:ext cx="5041375" cy="222347"/>
          </a:xfrm>
          <a:prstGeom prst="rect">
            <a:avLst/>
          </a:prstGeom>
          <a:noFill/>
          <a:ln/>
        </p:spPr>
        <p:txBody>
          <a:bodyPr wrap="square" lIns="0" tIns="0" rIns="0" bIns="0" rtlCol="0" anchor="ctr"/>
          <a:lstStyle/>
          <a:p>
            <a:pPr>
              <a:lnSpc>
                <a:spcPct val="130000"/>
              </a:lnSpc>
            </a:pPr>
            <a:r>
              <a:rPr lang="en-US" sz="1167" b="1" dirty="0">
                <a:solidFill>
                  <a:srgbClr val="E0E0E0"/>
                </a:solidFill>
                <a:latin typeface="Quattrocento Sans" pitchFamily="34" charset="0"/>
                <a:ea typeface="Quattrocento Sans" pitchFamily="34" charset="-122"/>
                <a:cs typeface="Quattrocento Sans" pitchFamily="34" charset="-120"/>
              </a:rPr>
              <a:t>Brinkmanship:</a:t>
            </a:r>
            <a:pPr>
              <a:lnSpc>
                <a:spcPct val="130000"/>
              </a:lnSpc>
            </a:pPr>
            <a:r>
              <a:rPr lang="en-US" sz="1167" dirty="0">
                <a:solidFill>
                  <a:srgbClr val="E0E0E0"/>
                </a:solidFill>
                <a:latin typeface="Quattrocento Sans" pitchFamily="34" charset="0"/>
                <a:ea typeface="Quattrocento Sans" pitchFamily="34" charset="-122"/>
                <a:cs typeface="Quattrocento Sans" pitchFamily="34" charset="-120"/>
              </a:rPr>
              <a:t> Deliberately creating risk to force concessions</a:t>
            </a:r>
            <a:endParaRPr lang="en-US" sz="1600" dirty="0"/>
          </a:p>
        </p:txBody>
      </p:sp>
      <p:sp>
        <p:nvSpPr>
          <p:cNvPr id="25" name="Shape 23"/>
          <p:cNvSpPr/>
          <p:nvPr/>
        </p:nvSpPr>
        <p:spPr>
          <a:xfrm>
            <a:off x="6427421" y="3798419"/>
            <a:ext cx="185289" cy="148231"/>
          </a:xfrm>
          <a:custGeom>
            <a:avLst/>
            <a:gdLst/>
            <a:ahLst/>
            <a:cxnLst/>
            <a:rect l="l" t="t" r="r" b="b"/>
            <a:pathLst>
              <a:path w="185289" h="148231">
                <a:moveTo>
                  <a:pt x="111173" y="9264"/>
                </a:moveTo>
                <a:lnTo>
                  <a:pt x="148231" y="9264"/>
                </a:lnTo>
                <a:cubicBezTo>
                  <a:pt x="153355" y="9264"/>
                  <a:pt x="157495" y="13404"/>
                  <a:pt x="157495" y="18529"/>
                </a:cubicBezTo>
                <a:cubicBezTo>
                  <a:pt x="157495" y="23653"/>
                  <a:pt x="153355" y="27793"/>
                  <a:pt x="148231" y="27793"/>
                </a:cubicBezTo>
                <a:lnTo>
                  <a:pt x="115342" y="27793"/>
                </a:lnTo>
                <a:cubicBezTo>
                  <a:pt x="113837" y="35263"/>
                  <a:pt x="108712" y="41429"/>
                  <a:pt x="101909" y="44382"/>
                </a:cubicBezTo>
                <a:lnTo>
                  <a:pt x="101909" y="129702"/>
                </a:lnTo>
                <a:lnTo>
                  <a:pt x="148231" y="129702"/>
                </a:lnTo>
                <a:cubicBezTo>
                  <a:pt x="153355" y="129702"/>
                  <a:pt x="157495" y="133842"/>
                  <a:pt x="157495" y="138967"/>
                </a:cubicBezTo>
                <a:cubicBezTo>
                  <a:pt x="157495" y="144091"/>
                  <a:pt x="153355" y="148231"/>
                  <a:pt x="148231" y="148231"/>
                </a:cubicBezTo>
                <a:lnTo>
                  <a:pt x="37058" y="148231"/>
                </a:lnTo>
                <a:cubicBezTo>
                  <a:pt x="31933" y="148231"/>
                  <a:pt x="27793" y="144091"/>
                  <a:pt x="27793" y="138967"/>
                </a:cubicBezTo>
                <a:cubicBezTo>
                  <a:pt x="27793" y="133842"/>
                  <a:pt x="31933" y="129702"/>
                  <a:pt x="37058" y="129702"/>
                </a:cubicBezTo>
                <a:lnTo>
                  <a:pt x="83380" y="129702"/>
                </a:lnTo>
                <a:lnTo>
                  <a:pt x="83380" y="44382"/>
                </a:lnTo>
                <a:cubicBezTo>
                  <a:pt x="76576" y="41400"/>
                  <a:pt x="71452" y="35234"/>
                  <a:pt x="69947" y="27793"/>
                </a:cubicBezTo>
                <a:lnTo>
                  <a:pt x="37058" y="27793"/>
                </a:lnTo>
                <a:cubicBezTo>
                  <a:pt x="31933" y="27793"/>
                  <a:pt x="27793" y="23653"/>
                  <a:pt x="27793" y="18529"/>
                </a:cubicBezTo>
                <a:cubicBezTo>
                  <a:pt x="27793" y="13404"/>
                  <a:pt x="31933" y="9264"/>
                  <a:pt x="37058" y="9264"/>
                </a:cubicBezTo>
                <a:lnTo>
                  <a:pt x="74116" y="9264"/>
                </a:lnTo>
                <a:cubicBezTo>
                  <a:pt x="78342" y="3648"/>
                  <a:pt x="85059" y="0"/>
                  <a:pt x="92644" y="0"/>
                </a:cubicBezTo>
                <a:cubicBezTo>
                  <a:pt x="100230" y="0"/>
                  <a:pt x="106946" y="3648"/>
                  <a:pt x="111173" y="9264"/>
                </a:cubicBezTo>
                <a:close/>
                <a:moveTo>
                  <a:pt x="127270" y="92644"/>
                </a:moveTo>
                <a:lnTo>
                  <a:pt x="169192" y="92644"/>
                </a:lnTo>
                <a:lnTo>
                  <a:pt x="148231" y="56687"/>
                </a:lnTo>
                <a:lnTo>
                  <a:pt x="127270" y="92644"/>
                </a:lnTo>
                <a:close/>
                <a:moveTo>
                  <a:pt x="148231" y="120438"/>
                </a:moveTo>
                <a:cubicBezTo>
                  <a:pt x="130021" y="120438"/>
                  <a:pt x="114879" y="110594"/>
                  <a:pt x="111752" y="97595"/>
                </a:cubicBezTo>
                <a:cubicBezTo>
                  <a:pt x="111000" y="94410"/>
                  <a:pt x="112042" y="91139"/>
                  <a:pt x="113692" y="88302"/>
                </a:cubicBezTo>
                <a:lnTo>
                  <a:pt x="141254" y="41053"/>
                </a:lnTo>
                <a:cubicBezTo>
                  <a:pt x="142701" y="38563"/>
                  <a:pt x="145365" y="37058"/>
                  <a:pt x="148231" y="37058"/>
                </a:cubicBezTo>
                <a:cubicBezTo>
                  <a:pt x="151097" y="37058"/>
                  <a:pt x="153761" y="38592"/>
                  <a:pt x="155208" y="41053"/>
                </a:cubicBezTo>
                <a:lnTo>
                  <a:pt x="182770" y="88302"/>
                </a:lnTo>
                <a:cubicBezTo>
                  <a:pt x="184420" y="91139"/>
                  <a:pt x="185462" y="94410"/>
                  <a:pt x="184710" y="97595"/>
                </a:cubicBezTo>
                <a:cubicBezTo>
                  <a:pt x="181583" y="110565"/>
                  <a:pt x="166441" y="120438"/>
                  <a:pt x="148231" y="120438"/>
                </a:cubicBezTo>
                <a:close/>
                <a:moveTo>
                  <a:pt x="36710" y="56687"/>
                </a:moveTo>
                <a:lnTo>
                  <a:pt x="15750" y="92644"/>
                </a:lnTo>
                <a:lnTo>
                  <a:pt x="57700" y="92644"/>
                </a:lnTo>
                <a:lnTo>
                  <a:pt x="36710" y="56687"/>
                </a:lnTo>
                <a:close/>
                <a:moveTo>
                  <a:pt x="261" y="97595"/>
                </a:moveTo>
                <a:cubicBezTo>
                  <a:pt x="-492" y="94410"/>
                  <a:pt x="550" y="91139"/>
                  <a:pt x="2200" y="88302"/>
                </a:cubicBezTo>
                <a:lnTo>
                  <a:pt x="29762" y="41053"/>
                </a:lnTo>
                <a:cubicBezTo>
                  <a:pt x="31210" y="38563"/>
                  <a:pt x="33873" y="37058"/>
                  <a:pt x="36739" y="37058"/>
                </a:cubicBezTo>
                <a:cubicBezTo>
                  <a:pt x="39605" y="37058"/>
                  <a:pt x="42269" y="38592"/>
                  <a:pt x="43717" y="41053"/>
                </a:cubicBezTo>
                <a:lnTo>
                  <a:pt x="71278" y="88302"/>
                </a:lnTo>
                <a:cubicBezTo>
                  <a:pt x="72928" y="91139"/>
                  <a:pt x="73971" y="94410"/>
                  <a:pt x="73218" y="97595"/>
                </a:cubicBezTo>
                <a:cubicBezTo>
                  <a:pt x="70091" y="110565"/>
                  <a:pt x="54950" y="120438"/>
                  <a:pt x="36739" y="120438"/>
                </a:cubicBezTo>
                <a:cubicBezTo>
                  <a:pt x="18529" y="120438"/>
                  <a:pt x="3387" y="110594"/>
                  <a:pt x="261" y="97595"/>
                </a:cubicBezTo>
                <a:close/>
              </a:path>
            </a:pathLst>
          </a:custGeom>
          <a:solidFill>
            <a:srgbClr val="0984E3"/>
          </a:solidFill>
          <a:ln/>
        </p:spPr>
      </p:sp>
      <p:sp>
        <p:nvSpPr>
          <p:cNvPr id="26" name="Text 24"/>
          <p:cNvSpPr/>
          <p:nvPr/>
        </p:nvSpPr>
        <p:spPr>
          <a:xfrm>
            <a:off x="6666776" y="3765994"/>
            <a:ext cx="5041375" cy="222347"/>
          </a:xfrm>
          <a:prstGeom prst="rect">
            <a:avLst/>
          </a:prstGeom>
          <a:noFill/>
          <a:ln/>
        </p:spPr>
        <p:txBody>
          <a:bodyPr wrap="square" lIns="0" tIns="0" rIns="0" bIns="0" rtlCol="0" anchor="ctr"/>
          <a:lstStyle/>
          <a:p>
            <a:pPr>
              <a:lnSpc>
                <a:spcPct val="130000"/>
              </a:lnSpc>
            </a:pPr>
            <a:r>
              <a:rPr lang="en-US" sz="1167" b="1" dirty="0">
                <a:solidFill>
                  <a:srgbClr val="E0E0E0"/>
                </a:solidFill>
                <a:latin typeface="Quattrocento Sans" pitchFamily="34" charset="0"/>
                <a:ea typeface="Quattrocento Sans" pitchFamily="34" charset="-122"/>
                <a:cs typeface="Quattrocento Sans" pitchFamily="34" charset="-120"/>
              </a:rPr>
              <a:t>MAD Doctrine:</a:t>
            </a:r>
            <a:pPr>
              <a:lnSpc>
                <a:spcPct val="130000"/>
              </a:lnSpc>
            </a:pPr>
            <a:r>
              <a:rPr lang="en-US" sz="1167" dirty="0">
                <a:solidFill>
                  <a:srgbClr val="E0E0E0"/>
                </a:solidFill>
                <a:latin typeface="Quattrocento Sans" pitchFamily="34" charset="0"/>
                <a:ea typeface="Quattrocento Sans" pitchFamily="34" charset="-122"/>
                <a:cs typeface="Quattrocento Sans" pitchFamily="34" charset="-120"/>
              </a:rPr>
              <a:t> Mutual Assured Destruction as deterrent</a:t>
            </a:r>
            <a:endParaRPr lang="en-US" sz="1600" dirty="0"/>
          </a:p>
        </p:txBody>
      </p:sp>
      <p:sp>
        <p:nvSpPr>
          <p:cNvPr id="27" name="Shape 25"/>
          <p:cNvSpPr/>
          <p:nvPr/>
        </p:nvSpPr>
        <p:spPr>
          <a:xfrm>
            <a:off x="6260661" y="4321860"/>
            <a:ext cx="5558663" cy="870857"/>
          </a:xfrm>
          <a:custGeom>
            <a:avLst/>
            <a:gdLst/>
            <a:ahLst/>
            <a:cxnLst/>
            <a:rect l="l" t="t" r="r" b="b"/>
            <a:pathLst>
              <a:path w="5558663" h="870857">
                <a:moveTo>
                  <a:pt x="0" y="0"/>
                </a:moveTo>
                <a:lnTo>
                  <a:pt x="5558663" y="0"/>
                </a:lnTo>
                <a:lnTo>
                  <a:pt x="5558663" y="870857"/>
                </a:lnTo>
                <a:lnTo>
                  <a:pt x="0" y="870857"/>
                </a:lnTo>
                <a:lnTo>
                  <a:pt x="0" y="0"/>
                </a:lnTo>
                <a:close/>
              </a:path>
            </a:pathLst>
          </a:custGeom>
          <a:solidFill>
            <a:srgbClr val="F8F9FA"/>
          </a:solidFill>
          <a:ln/>
        </p:spPr>
      </p:sp>
      <p:sp>
        <p:nvSpPr>
          <p:cNvPr id="28" name="Shape 26"/>
          <p:cNvSpPr/>
          <p:nvPr/>
        </p:nvSpPr>
        <p:spPr>
          <a:xfrm>
            <a:off x="6260661" y="4321860"/>
            <a:ext cx="37058" cy="870857"/>
          </a:xfrm>
          <a:custGeom>
            <a:avLst/>
            <a:gdLst/>
            <a:ahLst/>
            <a:cxnLst/>
            <a:rect l="l" t="t" r="r" b="b"/>
            <a:pathLst>
              <a:path w="37058" h="870857">
                <a:moveTo>
                  <a:pt x="0" y="0"/>
                </a:moveTo>
                <a:lnTo>
                  <a:pt x="37058" y="0"/>
                </a:lnTo>
                <a:lnTo>
                  <a:pt x="37058" y="870857"/>
                </a:lnTo>
                <a:lnTo>
                  <a:pt x="0" y="870857"/>
                </a:lnTo>
                <a:lnTo>
                  <a:pt x="0" y="0"/>
                </a:lnTo>
                <a:close/>
              </a:path>
            </a:pathLst>
          </a:custGeom>
          <a:solidFill>
            <a:srgbClr val="0984E3"/>
          </a:solidFill>
          <a:ln/>
        </p:spPr>
      </p:sp>
      <p:sp>
        <p:nvSpPr>
          <p:cNvPr id="29" name="Text 27"/>
          <p:cNvSpPr/>
          <p:nvPr/>
        </p:nvSpPr>
        <p:spPr>
          <a:xfrm>
            <a:off x="6464479" y="4507149"/>
            <a:ext cx="5243672" cy="240875"/>
          </a:xfrm>
          <a:prstGeom prst="rect">
            <a:avLst/>
          </a:prstGeom>
          <a:noFill/>
          <a:ln/>
        </p:spPr>
        <p:txBody>
          <a:bodyPr wrap="square" lIns="0" tIns="0" rIns="0" bIns="0" rtlCol="0" anchor="ctr"/>
          <a:lstStyle/>
          <a:p>
            <a:pPr>
              <a:lnSpc>
                <a:spcPct val="140000"/>
              </a:lnSpc>
            </a:pPr>
            <a:r>
              <a:rPr lang="en-US" sz="1167" dirty="0">
                <a:solidFill>
                  <a:srgbClr val="1E272E"/>
                </a:solidFill>
                <a:latin typeface="Quattrocento Sans" pitchFamily="34" charset="0"/>
                <a:ea typeface="Quattrocento Sans" pitchFamily="34" charset="-122"/>
                <a:cs typeface="Quattrocento Sans" pitchFamily="34" charset="-120"/>
              </a:rPr>
              <a:t>"The power to constrain an adversary depends upon the power to bind oneself."</a:t>
            </a:r>
            <a:endParaRPr lang="en-US" sz="1600" dirty="0"/>
          </a:p>
        </p:txBody>
      </p:sp>
      <p:sp>
        <p:nvSpPr>
          <p:cNvPr id="30" name="Text 28"/>
          <p:cNvSpPr/>
          <p:nvPr/>
        </p:nvSpPr>
        <p:spPr>
          <a:xfrm>
            <a:off x="6464479" y="4822140"/>
            <a:ext cx="5234407" cy="185289"/>
          </a:xfrm>
          <a:prstGeom prst="rect">
            <a:avLst/>
          </a:prstGeom>
          <a:noFill/>
          <a:ln/>
        </p:spPr>
        <p:txBody>
          <a:bodyPr wrap="square" lIns="0" tIns="0" rIns="0" bIns="0" rtlCol="0" anchor="ctr"/>
          <a:lstStyle/>
          <a:p>
            <a:pPr>
              <a:lnSpc>
                <a:spcPct val="120000"/>
              </a:lnSpc>
            </a:pPr>
            <a:r>
              <a:rPr lang="en-US" sz="1021" dirty="0">
                <a:solidFill>
                  <a:srgbClr val="636E72"/>
                </a:solidFill>
                <a:latin typeface="Quattrocento Sans" pitchFamily="34" charset="0"/>
                <a:ea typeface="Quattrocento Sans" pitchFamily="34" charset="-122"/>
                <a:cs typeface="Quattrocento Sans" pitchFamily="34" charset="-120"/>
              </a:rPr>
              <a:t>— Thomas Schelling, Nobel Laureate 2005</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35868" y="335868"/>
            <a:ext cx="11587438" cy="201521"/>
          </a:xfrm>
          <a:prstGeom prst="rect">
            <a:avLst/>
          </a:prstGeom>
          <a:noFill/>
          <a:ln/>
        </p:spPr>
        <p:txBody>
          <a:bodyPr wrap="square" lIns="0" tIns="0" rIns="0" bIns="0" rtlCol="0" anchor="ctr"/>
          <a:lstStyle/>
          <a:p>
            <a:pPr>
              <a:lnSpc>
                <a:spcPct val="130000"/>
              </a:lnSpc>
            </a:pPr>
            <a:r>
              <a:rPr lang="en-US" sz="1058" b="1" spc="53" kern="0" dirty="0">
                <a:solidFill>
                  <a:srgbClr val="0984E3"/>
                </a:solidFill>
                <a:latin typeface="Quattrocento Sans" pitchFamily="34" charset="0"/>
                <a:ea typeface="Quattrocento Sans" pitchFamily="34" charset="-122"/>
                <a:cs typeface="Quattrocento Sans" pitchFamily="34" charset="-120"/>
              </a:rPr>
              <a:t>APPLICATION DOMAIN</a:t>
            </a:r>
            <a:endParaRPr lang="en-US" sz="1600" dirty="0"/>
          </a:p>
        </p:txBody>
      </p:sp>
      <p:sp>
        <p:nvSpPr>
          <p:cNvPr id="3" name="Text 1"/>
          <p:cNvSpPr/>
          <p:nvPr/>
        </p:nvSpPr>
        <p:spPr>
          <a:xfrm>
            <a:off x="335868" y="604562"/>
            <a:ext cx="11721785" cy="403041"/>
          </a:xfrm>
          <a:prstGeom prst="rect">
            <a:avLst/>
          </a:prstGeom>
          <a:noFill/>
          <a:ln/>
        </p:spPr>
        <p:txBody>
          <a:bodyPr wrap="square" lIns="0" tIns="0" rIns="0" bIns="0" rtlCol="0" anchor="ctr"/>
          <a:lstStyle/>
          <a:p>
            <a:pPr>
              <a:lnSpc>
                <a:spcPct val="80000"/>
              </a:lnSpc>
            </a:pPr>
            <a:r>
              <a:rPr lang="en-US" sz="3174" b="1" dirty="0">
                <a:solidFill>
                  <a:srgbClr val="2D3436"/>
                </a:solidFill>
                <a:latin typeface="Oranienbaum" pitchFamily="34" charset="0"/>
                <a:ea typeface="Oranienbaum" pitchFamily="34" charset="-122"/>
                <a:cs typeface="Oranienbaum" pitchFamily="34" charset="-120"/>
              </a:rPr>
              <a:t>Biology &amp; Evolutionary Game Theory</a:t>
            </a:r>
            <a:endParaRPr lang="en-US" sz="1600" dirty="0"/>
          </a:p>
        </p:txBody>
      </p:sp>
      <p:sp>
        <p:nvSpPr>
          <p:cNvPr id="4" name="Text 2"/>
          <p:cNvSpPr/>
          <p:nvPr/>
        </p:nvSpPr>
        <p:spPr>
          <a:xfrm>
            <a:off x="335868" y="1251107"/>
            <a:ext cx="5996092" cy="457620"/>
          </a:xfrm>
          <a:prstGeom prst="rect">
            <a:avLst/>
          </a:prstGeom>
          <a:noFill/>
          <a:ln/>
        </p:spPr>
        <p:txBody>
          <a:bodyPr wrap="square" lIns="0" tIns="0" rIns="0" bIns="0" rtlCol="0" anchor="ctr"/>
          <a:lstStyle/>
          <a:p>
            <a:pPr>
              <a:lnSpc>
                <a:spcPct val="140000"/>
              </a:lnSpc>
            </a:pPr>
            <a:r>
              <a:rPr lang="en-US" sz="1322" b="1" dirty="0">
                <a:solidFill>
                  <a:srgbClr val="1E272E"/>
                </a:solidFill>
                <a:latin typeface="Quattrocento Sans" pitchFamily="34" charset="0"/>
                <a:ea typeface="Quattrocento Sans" pitchFamily="34" charset="-122"/>
                <a:cs typeface="Quattrocento Sans" pitchFamily="34" charset="-120"/>
              </a:rPr>
              <a:t>In 1973, John Maynard Smith and George Price introduced game theory to biology, revolutionizing our understanding of animal behavior and evolution.</a:t>
            </a:r>
            <a:endParaRPr lang="en-US" sz="1600" dirty="0"/>
          </a:p>
        </p:txBody>
      </p:sp>
      <p:sp>
        <p:nvSpPr>
          <p:cNvPr id="5" name="Text 3"/>
          <p:cNvSpPr/>
          <p:nvPr/>
        </p:nvSpPr>
        <p:spPr>
          <a:xfrm>
            <a:off x="335868" y="1889256"/>
            <a:ext cx="6876893" cy="654942"/>
          </a:xfrm>
          <a:prstGeom prst="rect">
            <a:avLst/>
          </a:prstGeom>
          <a:noFill/>
          <a:ln/>
        </p:spPr>
        <p:txBody>
          <a:bodyPr wrap="square" lIns="0" tIns="0" rIns="0" bIns="0" rtlCol="0" anchor="ctr"/>
          <a:lstStyle/>
          <a:p>
            <a:pPr>
              <a:lnSpc>
                <a:spcPct val="140000"/>
              </a:lnSpc>
            </a:pPr>
            <a:r>
              <a:rPr lang="en-US" sz="1058" dirty="0">
                <a:solidFill>
                  <a:srgbClr val="636E72"/>
                </a:solidFill>
                <a:latin typeface="Quattrocento Sans" pitchFamily="34" charset="0"/>
                <a:ea typeface="Quattrocento Sans" pitchFamily="34" charset="-122"/>
                <a:cs typeface="Quattrocento Sans" pitchFamily="34" charset="-120"/>
              </a:rPr>
              <a:t>Evolutionary game theory applies strategic concepts to populations where successful strategies spread through natural selection. Unlike classical game theory, it doesn't assume rationality—only that successful strategies reproduce.</a:t>
            </a:r>
            <a:endParaRPr lang="en-US" sz="1600" dirty="0"/>
          </a:p>
        </p:txBody>
      </p:sp>
      <p:sp>
        <p:nvSpPr>
          <p:cNvPr id="6" name="Shape 4"/>
          <p:cNvSpPr/>
          <p:nvPr/>
        </p:nvSpPr>
        <p:spPr>
          <a:xfrm>
            <a:off x="340066" y="2682744"/>
            <a:ext cx="6801322" cy="1956430"/>
          </a:xfrm>
          <a:custGeom>
            <a:avLst/>
            <a:gdLst/>
            <a:ahLst/>
            <a:cxnLst/>
            <a:rect l="l" t="t" r="r" b="b"/>
            <a:pathLst>
              <a:path w="6801322" h="1956430">
                <a:moveTo>
                  <a:pt x="0" y="0"/>
                </a:moveTo>
                <a:lnTo>
                  <a:pt x="6801322" y="0"/>
                </a:lnTo>
                <a:lnTo>
                  <a:pt x="6801322" y="1956430"/>
                </a:lnTo>
                <a:lnTo>
                  <a:pt x="0" y="1956430"/>
                </a:lnTo>
                <a:lnTo>
                  <a:pt x="0" y="0"/>
                </a:lnTo>
                <a:close/>
              </a:path>
            </a:pathLst>
          </a:custGeom>
          <a:solidFill>
            <a:srgbClr val="FFFFFF"/>
          </a:solidFill>
          <a:ln w="12700">
            <a:solidFill>
              <a:srgbClr val="E0E0E0"/>
            </a:solidFill>
            <a:prstDash val="solid"/>
          </a:ln>
        </p:spPr>
      </p:sp>
      <p:sp>
        <p:nvSpPr>
          <p:cNvPr id="7" name="Text 5"/>
          <p:cNvSpPr/>
          <p:nvPr/>
        </p:nvSpPr>
        <p:spPr>
          <a:xfrm>
            <a:off x="512198" y="2854876"/>
            <a:ext cx="6541025" cy="235107"/>
          </a:xfrm>
          <a:prstGeom prst="rect">
            <a:avLst/>
          </a:prstGeom>
          <a:noFill/>
          <a:ln/>
        </p:spPr>
        <p:txBody>
          <a:bodyPr wrap="square" lIns="0" tIns="0" rIns="0" bIns="0" rtlCol="0" anchor="ctr"/>
          <a:lstStyle/>
          <a:p>
            <a:pPr>
              <a:lnSpc>
                <a:spcPct val="120000"/>
              </a:lnSpc>
            </a:pPr>
            <a:r>
              <a:rPr lang="en-US" sz="1322" b="1" dirty="0">
                <a:solidFill>
                  <a:srgbClr val="2D3436"/>
                </a:solidFill>
                <a:latin typeface="Oranienbaum" pitchFamily="34" charset="0"/>
                <a:ea typeface="Oranienbaum" pitchFamily="34" charset="-122"/>
                <a:cs typeface="Oranienbaum" pitchFamily="34" charset="-120"/>
              </a:rPr>
              <a:t>Evolutionarily Stable Strategy (ESS)</a:t>
            </a:r>
            <a:endParaRPr lang="en-US" sz="1600" dirty="0"/>
          </a:p>
        </p:txBody>
      </p:sp>
      <p:sp>
        <p:nvSpPr>
          <p:cNvPr id="8" name="Text 6"/>
          <p:cNvSpPr/>
          <p:nvPr/>
        </p:nvSpPr>
        <p:spPr>
          <a:xfrm>
            <a:off x="512198" y="3190744"/>
            <a:ext cx="6524231" cy="218314"/>
          </a:xfrm>
          <a:prstGeom prst="rect">
            <a:avLst/>
          </a:prstGeom>
          <a:noFill/>
          <a:ln/>
        </p:spPr>
        <p:txBody>
          <a:bodyPr wrap="square" lIns="0" tIns="0" rIns="0" bIns="0" rtlCol="0" anchor="ctr"/>
          <a:lstStyle/>
          <a:p>
            <a:pPr>
              <a:lnSpc>
                <a:spcPct val="140000"/>
              </a:lnSpc>
            </a:pPr>
            <a:r>
              <a:rPr lang="en-US" sz="1058" dirty="0">
                <a:solidFill>
                  <a:srgbClr val="1E272E"/>
                </a:solidFill>
                <a:latin typeface="Quattrocento Sans" pitchFamily="34" charset="0"/>
                <a:ea typeface="Quattrocento Sans" pitchFamily="34" charset="-122"/>
                <a:cs typeface="Quattrocento Sans" pitchFamily="34" charset="-120"/>
              </a:rPr>
              <a:t>An ESS is a strategy that, if adopted by a population, cannot be invaded by any alternative strategy. It satisfies:</a:t>
            </a:r>
            <a:endParaRPr lang="en-US" sz="1600" dirty="0"/>
          </a:p>
        </p:txBody>
      </p:sp>
      <p:sp>
        <p:nvSpPr>
          <p:cNvPr id="9" name="Shape 7"/>
          <p:cNvSpPr/>
          <p:nvPr/>
        </p:nvSpPr>
        <p:spPr>
          <a:xfrm>
            <a:off x="512198" y="3509818"/>
            <a:ext cx="6457058" cy="638149"/>
          </a:xfrm>
          <a:custGeom>
            <a:avLst/>
            <a:gdLst/>
            <a:ahLst/>
            <a:cxnLst/>
            <a:rect l="l" t="t" r="r" b="b"/>
            <a:pathLst>
              <a:path w="6457058" h="638149">
                <a:moveTo>
                  <a:pt x="0" y="0"/>
                </a:moveTo>
                <a:lnTo>
                  <a:pt x="6457058" y="0"/>
                </a:lnTo>
                <a:lnTo>
                  <a:pt x="6457058" y="638149"/>
                </a:lnTo>
                <a:lnTo>
                  <a:pt x="0" y="638149"/>
                </a:lnTo>
                <a:lnTo>
                  <a:pt x="0" y="0"/>
                </a:lnTo>
                <a:close/>
              </a:path>
            </a:pathLst>
          </a:custGeom>
          <a:solidFill>
            <a:srgbClr val="F8F9FA"/>
          </a:solidFill>
          <a:ln/>
        </p:spPr>
      </p:sp>
      <p:sp>
        <p:nvSpPr>
          <p:cNvPr id="10" name="Text 8"/>
          <p:cNvSpPr/>
          <p:nvPr/>
        </p:nvSpPr>
        <p:spPr>
          <a:xfrm>
            <a:off x="612959" y="3610579"/>
            <a:ext cx="6322711" cy="201521"/>
          </a:xfrm>
          <a:prstGeom prst="rect">
            <a:avLst/>
          </a:prstGeom>
          <a:noFill/>
          <a:ln/>
        </p:spPr>
        <p:txBody>
          <a:bodyPr wrap="square" lIns="0" tIns="0" rIns="0" bIns="0" rtlCol="0" anchor="ctr"/>
          <a:lstStyle/>
          <a:p>
            <a:pPr>
              <a:lnSpc>
                <a:spcPct val="130000"/>
              </a:lnSpc>
            </a:pPr>
            <a:r>
              <a:rPr lang="en-US" sz="1058" dirty="0">
                <a:solidFill>
                  <a:srgbClr val="636E72"/>
                </a:solidFill>
                <a:latin typeface="MiSans" pitchFamily="34" charset="0"/>
                <a:ea typeface="MiSans" pitchFamily="34" charset="-122"/>
                <a:cs typeface="MiSans" pitchFamily="34" charset="-120"/>
              </a:rPr>
              <a:t>u(ESS, ESS) ≥ u(Mutant, ESS)</a:t>
            </a:r>
            <a:endParaRPr lang="en-US" sz="1600" dirty="0"/>
          </a:p>
        </p:txBody>
      </p:sp>
      <p:sp>
        <p:nvSpPr>
          <p:cNvPr id="11" name="Text 9"/>
          <p:cNvSpPr/>
          <p:nvPr/>
        </p:nvSpPr>
        <p:spPr>
          <a:xfrm>
            <a:off x="612959" y="3845686"/>
            <a:ext cx="6322711" cy="201521"/>
          </a:xfrm>
          <a:prstGeom prst="rect">
            <a:avLst/>
          </a:prstGeom>
          <a:noFill/>
          <a:ln/>
        </p:spPr>
        <p:txBody>
          <a:bodyPr wrap="square" lIns="0" tIns="0" rIns="0" bIns="0" rtlCol="0" anchor="ctr"/>
          <a:lstStyle/>
          <a:p>
            <a:pPr>
              <a:lnSpc>
                <a:spcPct val="130000"/>
              </a:lnSpc>
            </a:pPr>
            <a:r>
              <a:rPr lang="en-US" sz="1058" dirty="0">
                <a:solidFill>
                  <a:srgbClr val="636E72"/>
                </a:solidFill>
                <a:latin typeface="MiSans" pitchFamily="34" charset="0"/>
                <a:ea typeface="MiSans" pitchFamily="34" charset="-122"/>
                <a:cs typeface="MiSans" pitchFamily="34" charset="-120"/>
              </a:rPr>
              <a:t>If equal: u(ESS, Mutant) &gt; u(Mutant, Mutant)</a:t>
            </a:r>
            <a:endParaRPr lang="en-US" sz="1600" dirty="0"/>
          </a:p>
        </p:txBody>
      </p:sp>
      <p:sp>
        <p:nvSpPr>
          <p:cNvPr id="12" name="Text 10"/>
          <p:cNvSpPr/>
          <p:nvPr/>
        </p:nvSpPr>
        <p:spPr>
          <a:xfrm>
            <a:off x="512198" y="4248727"/>
            <a:ext cx="6524231" cy="218314"/>
          </a:xfrm>
          <a:prstGeom prst="rect">
            <a:avLst/>
          </a:prstGeom>
          <a:noFill/>
          <a:ln/>
        </p:spPr>
        <p:txBody>
          <a:bodyPr wrap="square" lIns="0" tIns="0" rIns="0" bIns="0" rtlCol="0" anchor="ctr"/>
          <a:lstStyle/>
          <a:p>
            <a:pPr>
              <a:lnSpc>
                <a:spcPct val="140000"/>
              </a:lnSpc>
            </a:pPr>
            <a:r>
              <a:rPr lang="en-US" sz="1058" dirty="0">
                <a:solidFill>
                  <a:srgbClr val="636E72"/>
                </a:solidFill>
                <a:latin typeface="Quattrocento Sans" pitchFamily="34" charset="0"/>
                <a:ea typeface="Quattrocento Sans" pitchFamily="34" charset="-122"/>
                <a:cs typeface="Quattrocento Sans" pitchFamily="34" charset="-120"/>
              </a:rPr>
              <a:t>An ESS is a refined Nash Equilibrium that is robust to evolutionary pressures.</a:t>
            </a:r>
            <a:endParaRPr lang="en-US" sz="1600" dirty="0"/>
          </a:p>
        </p:txBody>
      </p:sp>
      <p:sp>
        <p:nvSpPr>
          <p:cNvPr id="13" name="Shape 11"/>
          <p:cNvSpPr/>
          <p:nvPr/>
        </p:nvSpPr>
        <p:spPr>
          <a:xfrm>
            <a:off x="352661" y="4777719"/>
            <a:ext cx="6792926" cy="1528198"/>
          </a:xfrm>
          <a:custGeom>
            <a:avLst/>
            <a:gdLst/>
            <a:ahLst/>
            <a:cxnLst/>
            <a:rect l="l" t="t" r="r" b="b"/>
            <a:pathLst>
              <a:path w="6792926" h="1528198">
                <a:moveTo>
                  <a:pt x="0" y="0"/>
                </a:moveTo>
                <a:lnTo>
                  <a:pt x="6792926" y="0"/>
                </a:lnTo>
                <a:lnTo>
                  <a:pt x="6792926" y="1528198"/>
                </a:lnTo>
                <a:lnTo>
                  <a:pt x="0" y="1528198"/>
                </a:lnTo>
                <a:lnTo>
                  <a:pt x="0" y="0"/>
                </a:lnTo>
                <a:close/>
              </a:path>
            </a:pathLst>
          </a:custGeom>
          <a:solidFill>
            <a:srgbClr val="F8F9FA"/>
          </a:solidFill>
          <a:ln/>
        </p:spPr>
      </p:sp>
      <p:sp>
        <p:nvSpPr>
          <p:cNvPr id="14" name="Shape 12"/>
          <p:cNvSpPr/>
          <p:nvPr/>
        </p:nvSpPr>
        <p:spPr>
          <a:xfrm>
            <a:off x="352661" y="4777719"/>
            <a:ext cx="33587" cy="1528198"/>
          </a:xfrm>
          <a:custGeom>
            <a:avLst/>
            <a:gdLst/>
            <a:ahLst/>
            <a:cxnLst/>
            <a:rect l="l" t="t" r="r" b="b"/>
            <a:pathLst>
              <a:path w="33587" h="1528198">
                <a:moveTo>
                  <a:pt x="0" y="0"/>
                </a:moveTo>
                <a:lnTo>
                  <a:pt x="33587" y="0"/>
                </a:lnTo>
                <a:lnTo>
                  <a:pt x="33587" y="1528198"/>
                </a:lnTo>
                <a:lnTo>
                  <a:pt x="0" y="1528198"/>
                </a:lnTo>
                <a:lnTo>
                  <a:pt x="0" y="0"/>
                </a:lnTo>
                <a:close/>
              </a:path>
            </a:pathLst>
          </a:custGeom>
          <a:solidFill>
            <a:srgbClr val="0984E3"/>
          </a:solidFill>
          <a:ln/>
        </p:spPr>
      </p:sp>
      <p:sp>
        <p:nvSpPr>
          <p:cNvPr id="15" name="Text 13"/>
          <p:cNvSpPr/>
          <p:nvPr/>
        </p:nvSpPr>
        <p:spPr>
          <a:xfrm>
            <a:off x="537388" y="4945653"/>
            <a:ext cx="6524231" cy="235107"/>
          </a:xfrm>
          <a:prstGeom prst="rect">
            <a:avLst/>
          </a:prstGeom>
          <a:noFill/>
          <a:ln/>
        </p:spPr>
        <p:txBody>
          <a:bodyPr wrap="square" lIns="0" tIns="0" rIns="0" bIns="0" rtlCol="0" anchor="ctr"/>
          <a:lstStyle/>
          <a:p>
            <a:pPr>
              <a:lnSpc>
                <a:spcPct val="120000"/>
              </a:lnSpc>
            </a:pPr>
            <a:r>
              <a:rPr lang="en-US" sz="1322" b="1" dirty="0">
                <a:solidFill>
                  <a:srgbClr val="2D3436"/>
                </a:solidFill>
                <a:latin typeface="Oranienbaum" pitchFamily="34" charset="0"/>
                <a:ea typeface="Oranienbaum" pitchFamily="34" charset="-122"/>
                <a:cs typeface="Oranienbaum" pitchFamily="34" charset="-120"/>
              </a:rPr>
              <a:t>The Hawk-Dove Game</a:t>
            </a:r>
            <a:endParaRPr lang="en-US" sz="1600" dirty="0"/>
          </a:p>
        </p:txBody>
      </p:sp>
      <p:sp>
        <p:nvSpPr>
          <p:cNvPr id="16" name="Text 14"/>
          <p:cNvSpPr/>
          <p:nvPr/>
        </p:nvSpPr>
        <p:spPr>
          <a:xfrm>
            <a:off x="537388" y="5281521"/>
            <a:ext cx="6507438" cy="218314"/>
          </a:xfrm>
          <a:prstGeom prst="rect">
            <a:avLst/>
          </a:prstGeom>
          <a:noFill/>
          <a:ln/>
        </p:spPr>
        <p:txBody>
          <a:bodyPr wrap="square" lIns="0" tIns="0" rIns="0" bIns="0" rtlCol="0" anchor="ctr"/>
          <a:lstStyle/>
          <a:p>
            <a:pPr>
              <a:lnSpc>
                <a:spcPct val="140000"/>
              </a:lnSpc>
            </a:pPr>
            <a:r>
              <a:rPr lang="en-US" sz="1058" dirty="0">
                <a:solidFill>
                  <a:srgbClr val="636E72"/>
                </a:solidFill>
                <a:latin typeface="Quattrocento Sans" pitchFamily="34" charset="0"/>
                <a:ea typeface="Quattrocento Sans" pitchFamily="34" charset="-122"/>
                <a:cs typeface="Quattrocento Sans" pitchFamily="34" charset="-120"/>
              </a:rPr>
              <a:t>Models conflict over resources between aggressive (Hawk) and peaceful (Dove) strategies:</a:t>
            </a:r>
            <a:endParaRPr lang="en-US" sz="1600" dirty="0"/>
          </a:p>
        </p:txBody>
      </p:sp>
      <p:sp>
        <p:nvSpPr>
          <p:cNvPr id="17" name="Text 15"/>
          <p:cNvSpPr/>
          <p:nvPr/>
        </p:nvSpPr>
        <p:spPr>
          <a:xfrm>
            <a:off x="537388" y="5600595"/>
            <a:ext cx="3215934" cy="201521"/>
          </a:xfrm>
          <a:prstGeom prst="rect">
            <a:avLst/>
          </a:prstGeom>
          <a:noFill/>
          <a:ln/>
        </p:spPr>
        <p:txBody>
          <a:bodyPr wrap="square" lIns="0" tIns="0" rIns="0" bIns="0" rtlCol="0" anchor="ctr"/>
          <a:lstStyle/>
          <a:p>
            <a:pPr>
              <a:lnSpc>
                <a:spcPct val="130000"/>
              </a:lnSpc>
            </a:pPr>
            <a:r>
              <a:rPr lang="en-US" sz="1058" b="1" dirty="0">
                <a:solidFill>
                  <a:srgbClr val="2D3436"/>
                </a:solidFill>
                <a:latin typeface="Quattrocento Sans" pitchFamily="34" charset="0"/>
                <a:ea typeface="Quattrocento Sans" pitchFamily="34" charset="-122"/>
                <a:cs typeface="Quattrocento Sans" pitchFamily="34" charset="-120"/>
              </a:rPr>
              <a:t>Hawk vs. Hawk:</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Fight, high cost</a:t>
            </a:r>
            <a:endParaRPr lang="en-US" sz="1600" dirty="0"/>
          </a:p>
        </p:txBody>
      </p:sp>
      <p:sp>
        <p:nvSpPr>
          <p:cNvPr id="18" name="Text 16"/>
          <p:cNvSpPr/>
          <p:nvPr/>
        </p:nvSpPr>
        <p:spPr>
          <a:xfrm>
            <a:off x="3823251" y="5600595"/>
            <a:ext cx="3215934" cy="201521"/>
          </a:xfrm>
          <a:prstGeom prst="rect">
            <a:avLst/>
          </a:prstGeom>
          <a:noFill/>
          <a:ln/>
        </p:spPr>
        <p:txBody>
          <a:bodyPr wrap="square" lIns="0" tIns="0" rIns="0" bIns="0" rtlCol="0" anchor="ctr"/>
          <a:lstStyle/>
          <a:p>
            <a:pPr>
              <a:lnSpc>
                <a:spcPct val="130000"/>
              </a:lnSpc>
            </a:pPr>
            <a:r>
              <a:rPr lang="en-US" sz="1058" b="1" dirty="0">
                <a:solidFill>
                  <a:srgbClr val="2D3436"/>
                </a:solidFill>
                <a:latin typeface="Quattrocento Sans" pitchFamily="34" charset="0"/>
                <a:ea typeface="Quattrocento Sans" pitchFamily="34" charset="-122"/>
                <a:cs typeface="Quattrocento Sans" pitchFamily="34" charset="-120"/>
              </a:rPr>
              <a:t>Hawk vs. Dove:</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Hawk takes all</a:t>
            </a:r>
            <a:endParaRPr lang="en-US" sz="1600" dirty="0"/>
          </a:p>
        </p:txBody>
      </p:sp>
      <p:sp>
        <p:nvSpPr>
          <p:cNvPr id="19" name="Text 17"/>
          <p:cNvSpPr/>
          <p:nvPr/>
        </p:nvSpPr>
        <p:spPr>
          <a:xfrm>
            <a:off x="537388" y="5936463"/>
            <a:ext cx="3215934" cy="201521"/>
          </a:xfrm>
          <a:prstGeom prst="rect">
            <a:avLst/>
          </a:prstGeom>
          <a:noFill/>
          <a:ln/>
        </p:spPr>
        <p:txBody>
          <a:bodyPr wrap="square" lIns="0" tIns="0" rIns="0" bIns="0" rtlCol="0" anchor="ctr"/>
          <a:lstStyle/>
          <a:p>
            <a:pPr>
              <a:lnSpc>
                <a:spcPct val="130000"/>
              </a:lnSpc>
            </a:pPr>
            <a:r>
              <a:rPr lang="en-US" sz="1058" b="1" dirty="0">
                <a:solidFill>
                  <a:srgbClr val="2D3436"/>
                </a:solidFill>
                <a:latin typeface="Quattrocento Sans" pitchFamily="34" charset="0"/>
                <a:ea typeface="Quattrocento Sans" pitchFamily="34" charset="-122"/>
                <a:cs typeface="Quattrocento Sans" pitchFamily="34" charset="-120"/>
              </a:rPr>
              <a:t>Dove vs. Dove:</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Share peacefully</a:t>
            </a:r>
            <a:endParaRPr lang="en-US" sz="1600" dirty="0"/>
          </a:p>
        </p:txBody>
      </p:sp>
      <p:sp>
        <p:nvSpPr>
          <p:cNvPr id="20" name="Text 18"/>
          <p:cNvSpPr/>
          <p:nvPr/>
        </p:nvSpPr>
        <p:spPr>
          <a:xfrm>
            <a:off x="3823251" y="5936463"/>
            <a:ext cx="3215934" cy="201521"/>
          </a:xfrm>
          <a:prstGeom prst="rect">
            <a:avLst/>
          </a:prstGeom>
          <a:noFill/>
          <a:ln/>
        </p:spPr>
        <p:txBody>
          <a:bodyPr wrap="square" lIns="0" tIns="0" rIns="0" bIns="0" rtlCol="0" anchor="ctr"/>
          <a:lstStyle/>
          <a:p>
            <a:pPr>
              <a:lnSpc>
                <a:spcPct val="130000"/>
              </a:lnSpc>
            </a:pPr>
            <a:r>
              <a:rPr lang="en-US" sz="1058" b="1" dirty="0">
                <a:solidFill>
                  <a:srgbClr val="0984E3"/>
                </a:solidFill>
                <a:latin typeface="Quattrocento Sans" pitchFamily="34" charset="0"/>
                <a:ea typeface="Quattrocento Sans" pitchFamily="34" charset="-122"/>
                <a:cs typeface="Quattrocento Sans" pitchFamily="34" charset="-120"/>
              </a:rPr>
              <a:t>ESS:</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Mixed population</a:t>
            </a:r>
            <a:endParaRPr lang="en-US" sz="1600" dirty="0"/>
          </a:p>
        </p:txBody>
      </p:sp>
      <p:sp>
        <p:nvSpPr>
          <p:cNvPr id="21" name="Shape 19"/>
          <p:cNvSpPr/>
          <p:nvPr/>
        </p:nvSpPr>
        <p:spPr>
          <a:xfrm>
            <a:off x="7415593" y="1213322"/>
            <a:ext cx="4441851" cy="3501421"/>
          </a:xfrm>
          <a:custGeom>
            <a:avLst/>
            <a:gdLst/>
            <a:ahLst/>
            <a:cxnLst/>
            <a:rect l="l" t="t" r="r" b="b"/>
            <a:pathLst>
              <a:path w="4441851" h="3501421">
                <a:moveTo>
                  <a:pt x="0" y="0"/>
                </a:moveTo>
                <a:lnTo>
                  <a:pt x="4441851" y="0"/>
                </a:lnTo>
                <a:lnTo>
                  <a:pt x="4441851" y="3501421"/>
                </a:lnTo>
                <a:lnTo>
                  <a:pt x="0" y="3501421"/>
                </a:lnTo>
                <a:lnTo>
                  <a:pt x="0" y="0"/>
                </a:lnTo>
                <a:close/>
              </a:path>
            </a:pathLst>
          </a:custGeom>
          <a:solidFill>
            <a:srgbClr val="FFFFFF"/>
          </a:solidFill>
          <a:ln w="12700">
            <a:solidFill>
              <a:srgbClr val="E0E0E0"/>
            </a:solidFill>
            <a:prstDash val="solid"/>
          </a:ln>
        </p:spPr>
      </p:sp>
      <p:pic>
        <p:nvPicPr>
          <p:cNvPr id="22" name="Image 0" descr="https://kimi-web-img.moonshot.cn/img/images.stockcake.com/5c4c6a9244608e44d4cdc47c5d5db9e3cb6b6222.jpg">    </p:cNvPr>
          <p:cNvPicPr>
            <a:picLocks noChangeAspect="1"/>
          </p:cNvPicPr>
          <p:nvPr/>
        </p:nvPicPr>
        <p:blipFill>
          <a:blip r:embed="rId1"/>
          <a:srcRect l="0" r="0" t="38290" b="38290"/>
          <a:stretch/>
        </p:blipFill>
        <p:spPr>
          <a:xfrm>
            <a:off x="7587725" y="1385455"/>
            <a:ext cx="4097587" cy="1679339"/>
          </a:xfrm>
          <a:prstGeom prst="roundRect">
            <a:avLst>
              <a:gd name="adj" fmla="val 0"/>
            </a:avLst>
          </a:prstGeom>
        </p:spPr>
      </p:pic>
      <p:sp>
        <p:nvSpPr>
          <p:cNvPr id="23" name="Text 20"/>
          <p:cNvSpPr/>
          <p:nvPr/>
        </p:nvSpPr>
        <p:spPr>
          <a:xfrm>
            <a:off x="7545742" y="3199140"/>
            <a:ext cx="4181554" cy="235107"/>
          </a:xfrm>
          <a:prstGeom prst="rect">
            <a:avLst/>
          </a:prstGeom>
          <a:noFill/>
          <a:ln/>
        </p:spPr>
        <p:txBody>
          <a:bodyPr wrap="square" lIns="0" tIns="0" rIns="0" bIns="0" rtlCol="0" anchor="ctr"/>
          <a:lstStyle/>
          <a:p>
            <a:pPr algn="ctr">
              <a:lnSpc>
                <a:spcPct val="120000"/>
              </a:lnSpc>
            </a:pPr>
            <a:r>
              <a:rPr lang="en-US" sz="1322" b="1" dirty="0">
                <a:solidFill>
                  <a:srgbClr val="2D3436"/>
                </a:solidFill>
                <a:latin typeface="Oranienbaum" pitchFamily="34" charset="0"/>
                <a:ea typeface="Oranienbaum" pitchFamily="34" charset="-122"/>
                <a:cs typeface="Oranienbaum" pitchFamily="34" charset="-120"/>
              </a:rPr>
              <a:t>Applications in Biology</a:t>
            </a:r>
            <a:endParaRPr lang="en-US" sz="1600" dirty="0"/>
          </a:p>
        </p:txBody>
      </p:sp>
      <p:sp>
        <p:nvSpPr>
          <p:cNvPr id="24" name="Shape 21"/>
          <p:cNvSpPr/>
          <p:nvPr/>
        </p:nvSpPr>
        <p:spPr>
          <a:xfrm>
            <a:off x="7621312" y="3564397"/>
            <a:ext cx="100760" cy="134347"/>
          </a:xfrm>
          <a:custGeom>
            <a:avLst/>
            <a:gdLst/>
            <a:ahLst/>
            <a:cxnLst/>
            <a:rect l="l" t="t" r="r" b="b"/>
            <a:pathLst>
              <a:path w="100760" h="134347">
                <a:moveTo>
                  <a:pt x="92364" y="0"/>
                </a:moveTo>
                <a:cubicBezTo>
                  <a:pt x="97008" y="0"/>
                  <a:pt x="100760" y="3752"/>
                  <a:pt x="100760" y="8397"/>
                </a:cubicBezTo>
                <a:cubicBezTo>
                  <a:pt x="100760" y="23563"/>
                  <a:pt x="94358" y="35896"/>
                  <a:pt x="85699" y="46313"/>
                </a:cubicBezTo>
                <a:cubicBezTo>
                  <a:pt x="79375" y="53896"/>
                  <a:pt x="71582" y="60771"/>
                  <a:pt x="63762" y="67174"/>
                </a:cubicBezTo>
                <a:cubicBezTo>
                  <a:pt x="71582" y="73602"/>
                  <a:pt x="79375" y="80451"/>
                  <a:pt x="85699" y="88034"/>
                </a:cubicBezTo>
                <a:cubicBezTo>
                  <a:pt x="94358" y="98425"/>
                  <a:pt x="100760" y="110784"/>
                  <a:pt x="100760" y="125950"/>
                </a:cubicBezTo>
                <a:cubicBezTo>
                  <a:pt x="100760" y="130595"/>
                  <a:pt x="97008" y="134347"/>
                  <a:pt x="92364" y="134347"/>
                </a:cubicBezTo>
                <a:cubicBezTo>
                  <a:pt x="87719" y="134347"/>
                  <a:pt x="83967" y="130595"/>
                  <a:pt x="83967" y="125950"/>
                </a:cubicBezTo>
                <a:lnTo>
                  <a:pt x="16793" y="125950"/>
                </a:lnTo>
                <a:cubicBezTo>
                  <a:pt x="16793" y="130595"/>
                  <a:pt x="13041" y="134347"/>
                  <a:pt x="8397" y="134347"/>
                </a:cubicBezTo>
                <a:cubicBezTo>
                  <a:pt x="3752" y="134347"/>
                  <a:pt x="0" y="130595"/>
                  <a:pt x="0" y="125950"/>
                </a:cubicBezTo>
                <a:cubicBezTo>
                  <a:pt x="0" y="110784"/>
                  <a:pt x="6402" y="98451"/>
                  <a:pt x="15062" y="88034"/>
                </a:cubicBezTo>
                <a:cubicBezTo>
                  <a:pt x="21385" y="80451"/>
                  <a:pt x="29179" y="73602"/>
                  <a:pt x="36998" y="67174"/>
                </a:cubicBezTo>
                <a:cubicBezTo>
                  <a:pt x="29179" y="60745"/>
                  <a:pt x="21385" y="53896"/>
                  <a:pt x="15062" y="46313"/>
                </a:cubicBezTo>
                <a:cubicBezTo>
                  <a:pt x="6402" y="35896"/>
                  <a:pt x="0" y="23563"/>
                  <a:pt x="0" y="8397"/>
                </a:cubicBezTo>
                <a:cubicBezTo>
                  <a:pt x="0" y="3752"/>
                  <a:pt x="3752" y="0"/>
                  <a:pt x="8397" y="0"/>
                </a:cubicBezTo>
                <a:cubicBezTo>
                  <a:pt x="13041" y="0"/>
                  <a:pt x="16793" y="3752"/>
                  <a:pt x="16793" y="8397"/>
                </a:cubicBezTo>
                <a:lnTo>
                  <a:pt x="83967" y="8397"/>
                </a:lnTo>
                <a:cubicBezTo>
                  <a:pt x="83967" y="3752"/>
                  <a:pt x="87719" y="0"/>
                  <a:pt x="92364" y="0"/>
                </a:cubicBezTo>
                <a:close/>
                <a:moveTo>
                  <a:pt x="74389" y="100760"/>
                </a:moveTo>
                <a:lnTo>
                  <a:pt x="26397" y="100760"/>
                </a:lnTo>
                <a:cubicBezTo>
                  <a:pt x="24245" y="103515"/>
                  <a:pt x="22435" y="106297"/>
                  <a:pt x="20992" y="109157"/>
                </a:cubicBezTo>
                <a:lnTo>
                  <a:pt x="79821" y="109157"/>
                </a:lnTo>
                <a:cubicBezTo>
                  <a:pt x="78352" y="106297"/>
                  <a:pt x="76541" y="103515"/>
                  <a:pt x="74416" y="100760"/>
                </a:cubicBezTo>
                <a:close/>
                <a:moveTo>
                  <a:pt x="62450" y="88165"/>
                </a:moveTo>
                <a:cubicBezTo>
                  <a:pt x="58698" y="84754"/>
                  <a:pt x="54631" y="81395"/>
                  <a:pt x="50380" y="77932"/>
                </a:cubicBezTo>
                <a:cubicBezTo>
                  <a:pt x="46129" y="81369"/>
                  <a:pt x="42062" y="84754"/>
                  <a:pt x="38310" y="88165"/>
                </a:cubicBezTo>
                <a:lnTo>
                  <a:pt x="62450" y="88165"/>
                </a:lnTo>
                <a:close/>
                <a:moveTo>
                  <a:pt x="26371" y="33587"/>
                </a:moveTo>
                <a:lnTo>
                  <a:pt x="74363" y="33587"/>
                </a:lnTo>
                <a:cubicBezTo>
                  <a:pt x="76515" y="30832"/>
                  <a:pt x="78325" y="28050"/>
                  <a:pt x="79769" y="25190"/>
                </a:cubicBezTo>
                <a:lnTo>
                  <a:pt x="20965" y="25190"/>
                </a:lnTo>
                <a:cubicBezTo>
                  <a:pt x="22435" y="28050"/>
                  <a:pt x="24245" y="30832"/>
                  <a:pt x="26371" y="33587"/>
                </a:cubicBezTo>
                <a:close/>
                <a:moveTo>
                  <a:pt x="38310" y="46182"/>
                </a:moveTo>
                <a:cubicBezTo>
                  <a:pt x="42062" y="49593"/>
                  <a:pt x="46129" y="52952"/>
                  <a:pt x="50380" y="56415"/>
                </a:cubicBezTo>
                <a:cubicBezTo>
                  <a:pt x="54631" y="52978"/>
                  <a:pt x="58698" y="49593"/>
                  <a:pt x="62450" y="46182"/>
                </a:cubicBezTo>
                <a:lnTo>
                  <a:pt x="38310" y="46182"/>
                </a:lnTo>
                <a:close/>
              </a:path>
            </a:pathLst>
          </a:custGeom>
          <a:solidFill>
            <a:srgbClr val="0984E3"/>
          </a:solidFill>
          <a:ln/>
        </p:spPr>
      </p:sp>
      <p:sp>
        <p:nvSpPr>
          <p:cNvPr id="25" name="Text 22"/>
          <p:cNvSpPr/>
          <p:nvPr/>
        </p:nvSpPr>
        <p:spPr>
          <a:xfrm>
            <a:off x="7800071" y="3535008"/>
            <a:ext cx="3952414" cy="201521"/>
          </a:xfrm>
          <a:prstGeom prst="rect">
            <a:avLst/>
          </a:prstGeom>
          <a:noFill/>
          <a:ln/>
        </p:spPr>
        <p:txBody>
          <a:bodyPr wrap="square" lIns="0" tIns="0" rIns="0" bIns="0" rtlCol="0" anchor="ctr"/>
          <a:lstStyle/>
          <a:p>
            <a:pPr>
              <a:lnSpc>
                <a:spcPct val="130000"/>
              </a:lnSpc>
            </a:pPr>
            <a:r>
              <a:rPr lang="en-US" sz="1058" b="1" dirty="0">
                <a:solidFill>
                  <a:srgbClr val="636E72"/>
                </a:solidFill>
                <a:latin typeface="Quattrocento Sans" pitchFamily="34" charset="0"/>
                <a:ea typeface="Quattrocento Sans" pitchFamily="34" charset="-122"/>
                <a:cs typeface="Quattrocento Sans" pitchFamily="34" charset="-120"/>
              </a:rPr>
              <a:t>Animal Behavior:</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Mating rituals, territorial disputes</a:t>
            </a:r>
            <a:endParaRPr lang="en-US" sz="1600" dirty="0"/>
          </a:p>
        </p:txBody>
      </p:sp>
      <p:sp>
        <p:nvSpPr>
          <p:cNvPr id="26" name="Shape 23"/>
          <p:cNvSpPr/>
          <p:nvPr/>
        </p:nvSpPr>
        <p:spPr>
          <a:xfrm>
            <a:off x="7604519" y="3833091"/>
            <a:ext cx="134347" cy="134347"/>
          </a:xfrm>
          <a:custGeom>
            <a:avLst/>
            <a:gdLst/>
            <a:ahLst/>
            <a:cxnLst/>
            <a:rect l="l" t="t" r="r" b="b"/>
            <a:pathLst>
              <a:path w="134347" h="134347">
                <a:moveTo>
                  <a:pt x="77669" y="10496"/>
                </a:moveTo>
                <a:cubicBezTo>
                  <a:pt x="77669" y="4697"/>
                  <a:pt x="72973" y="0"/>
                  <a:pt x="67174" y="0"/>
                </a:cubicBezTo>
                <a:cubicBezTo>
                  <a:pt x="61375" y="0"/>
                  <a:pt x="56678" y="4697"/>
                  <a:pt x="56678" y="10496"/>
                </a:cubicBezTo>
                <a:cubicBezTo>
                  <a:pt x="56678" y="22068"/>
                  <a:pt x="42692" y="27840"/>
                  <a:pt x="34505" y="19680"/>
                </a:cubicBezTo>
                <a:cubicBezTo>
                  <a:pt x="30412" y="15586"/>
                  <a:pt x="23773" y="15586"/>
                  <a:pt x="19654" y="19680"/>
                </a:cubicBezTo>
                <a:cubicBezTo>
                  <a:pt x="15534" y="23773"/>
                  <a:pt x="15560" y="30412"/>
                  <a:pt x="19654" y="34531"/>
                </a:cubicBezTo>
                <a:cubicBezTo>
                  <a:pt x="27840" y="42718"/>
                  <a:pt x="22041" y="56704"/>
                  <a:pt x="10470" y="56704"/>
                </a:cubicBezTo>
                <a:cubicBezTo>
                  <a:pt x="4671" y="56704"/>
                  <a:pt x="-26" y="61401"/>
                  <a:pt x="-26" y="67200"/>
                </a:cubicBezTo>
                <a:cubicBezTo>
                  <a:pt x="-26" y="72999"/>
                  <a:pt x="4671" y="77696"/>
                  <a:pt x="10470" y="77696"/>
                </a:cubicBezTo>
                <a:cubicBezTo>
                  <a:pt x="22041" y="77696"/>
                  <a:pt x="27814" y="91681"/>
                  <a:pt x="19654" y="99868"/>
                </a:cubicBezTo>
                <a:cubicBezTo>
                  <a:pt x="15560" y="103962"/>
                  <a:pt x="15560" y="110600"/>
                  <a:pt x="19654" y="114720"/>
                </a:cubicBezTo>
                <a:cubicBezTo>
                  <a:pt x="23747" y="118839"/>
                  <a:pt x="30386" y="118813"/>
                  <a:pt x="34505" y="114720"/>
                </a:cubicBezTo>
                <a:cubicBezTo>
                  <a:pt x="42692" y="106533"/>
                  <a:pt x="56678" y="112332"/>
                  <a:pt x="56678" y="123904"/>
                </a:cubicBezTo>
                <a:cubicBezTo>
                  <a:pt x="56678" y="129703"/>
                  <a:pt x="61375" y="134400"/>
                  <a:pt x="67174" y="134400"/>
                </a:cubicBezTo>
                <a:cubicBezTo>
                  <a:pt x="72973" y="134400"/>
                  <a:pt x="77669" y="129703"/>
                  <a:pt x="77669" y="123904"/>
                </a:cubicBezTo>
                <a:cubicBezTo>
                  <a:pt x="77669" y="112332"/>
                  <a:pt x="91655" y="106559"/>
                  <a:pt x="99842" y="114720"/>
                </a:cubicBezTo>
                <a:cubicBezTo>
                  <a:pt x="103935" y="118813"/>
                  <a:pt x="110574" y="118813"/>
                  <a:pt x="114694" y="114720"/>
                </a:cubicBezTo>
                <a:cubicBezTo>
                  <a:pt x="118813" y="110626"/>
                  <a:pt x="118787" y="103988"/>
                  <a:pt x="114694" y="99868"/>
                </a:cubicBezTo>
                <a:cubicBezTo>
                  <a:pt x="106507" y="91681"/>
                  <a:pt x="112306" y="77696"/>
                  <a:pt x="123877" y="77696"/>
                </a:cubicBezTo>
                <a:cubicBezTo>
                  <a:pt x="129676" y="77696"/>
                  <a:pt x="134373" y="72999"/>
                  <a:pt x="134373" y="67200"/>
                </a:cubicBezTo>
                <a:cubicBezTo>
                  <a:pt x="134373" y="61401"/>
                  <a:pt x="129676" y="56704"/>
                  <a:pt x="123877" y="56704"/>
                </a:cubicBezTo>
                <a:cubicBezTo>
                  <a:pt x="112306" y="56704"/>
                  <a:pt x="106533" y="42718"/>
                  <a:pt x="114694" y="34531"/>
                </a:cubicBezTo>
                <a:cubicBezTo>
                  <a:pt x="118787" y="30438"/>
                  <a:pt x="118787" y="23799"/>
                  <a:pt x="114694" y="19680"/>
                </a:cubicBezTo>
                <a:cubicBezTo>
                  <a:pt x="110600" y="15560"/>
                  <a:pt x="103962" y="15586"/>
                  <a:pt x="99842" y="19680"/>
                </a:cubicBezTo>
                <a:cubicBezTo>
                  <a:pt x="91655" y="27840"/>
                  <a:pt x="77669" y="22068"/>
                  <a:pt x="77669" y="10496"/>
                </a:cubicBezTo>
                <a:close/>
                <a:moveTo>
                  <a:pt x="41983" y="58777"/>
                </a:moveTo>
                <a:cubicBezTo>
                  <a:pt x="41983" y="54143"/>
                  <a:pt x="45746" y="50380"/>
                  <a:pt x="50380" y="50380"/>
                </a:cubicBezTo>
                <a:cubicBezTo>
                  <a:pt x="55014" y="50380"/>
                  <a:pt x="58777" y="54143"/>
                  <a:pt x="58777" y="58777"/>
                </a:cubicBezTo>
                <a:cubicBezTo>
                  <a:pt x="58777" y="63411"/>
                  <a:pt x="55014" y="67174"/>
                  <a:pt x="50380" y="67174"/>
                </a:cubicBezTo>
                <a:cubicBezTo>
                  <a:pt x="45746" y="67174"/>
                  <a:pt x="41983" y="63411"/>
                  <a:pt x="41983" y="58777"/>
                </a:cubicBezTo>
                <a:close/>
                <a:moveTo>
                  <a:pt x="83967" y="67174"/>
                </a:moveTo>
                <a:cubicBezTo>
                  <a:pt x="88601" y="67174"/>
                  <a:pt x="92364" y="70936"/>
                  <a:pt x="92364" y="75570"/>
                </a:cubicBezTo>
                <a:cubicBezTo>
                  <a:pt x="92364" y="80205"/>
                  <a:pt x="88601" y="83967"/>
                  <a:pt x="83967" y="83967"/>
                </a:cubicBezTo>
                <a:cubicBezTo>
                  <a:pt x="79333" y="83967"/>
                  <a:pt x="75570" y="80205"/>
                  <a:pt x="75570" y="75570"/>
                </a:cubicBezTo>
                <a:cubicBezTo>
                  <a:pt x="75570" y="70936"/>
                  <a:pt x="79333" y="67174"/>
                  <a:pt x="83967" y="67174"/>
                </a:cubicBezTo>
                <a:close/>
              </a:path>
            </a:pathLst>
          </a:custGeom>
          <a:solidFill>
            <a:srgbClr val="0984E3"/>
          </a:solidFill>
          <a:ln/>
        </p:spPr>
      </p:sp>
      <p:sp>
        <p:nvSpPr>
          <p:cNvPr id="27" name="Text 24"/>
          <p:cNvSpPr/>
          <p:nvPr/>
        </p:nvSpPr>
        <p:spPr>
          <a:xfrm>
            <a:off x="7800071" y="3803702"/>
            <a:ext cx="3952414" cy="201521"/>
          </a:xfrm>
          <a:prstGeom prst="rect">
            <a:avLst/>
          </a:prstGeom>
          <a:noFill/>
          <a:ln/>
        </p:spPr>
        <p:txBody>
          <a:bodyPr wrap="square" lIns="0" tIns="0" rIns="0" bIns="0" rtlCol="0" anchor="ctr"/>
          <a:lstStyle/>
          <a:p>
            <a:pPr>
              <a:lnSpc>
                <a:spcPct val="130000"/>
              </a:lnSpc>
            </a:pPr>
            <a:r>
              <a:rPr lang="en-US" sz="1058" b="1" dirty="0">
                <a:solidFill>
                  <a:srgbClr val="636E72"/>
                </a:solidFill>
                <a:latin typeface="Quattrocento Sans" pitchFamily="34" charset="0"/>
                <a:ea typeface="Quattrocento Sans" pitchFamily="34" charset="-122"/>
                <a:cs typeface="Quattrocento Sans" pitchFamily="34" charset="-120"/>
              </a:rPr>
              <a:t>Pathogen Evolution:</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Virulence and transmission strategies</a:t>
            </a:r>
            <a:endParaRPr lang="en-US" sz="1600" dirty="0"/>
          </a:p>
        </p:txBody>
      </p:sp>
      <p:sp>
        <p:nvSpPr>
          <p:cNvPr id="28" name="Shape 25"/>
          <p:cNvSpPr/>
          <p:nvPr/>
        </p:nvSpPr>
        <p:spPr>
          <a:xfrm>
            <a:off x="7604519" y="4101785"/>
            <a:ext cx="134347" cy="134347"/>
          </a:xfrm>
          <a:custGeom>
            <a:avLst/>
            <a:gdLst/>
            <a:ahLst/>
            <a:cxnLst/>
            <a:rect l="l" t="t" r="r" b="b"/>
            <a:pathLst>
              <a:path w="134347" h="134347">
                <a:moveTo>
                  <a:pt x="67174" y="28313"/>
                </a:moveTo>
                <a:lnTo>
                  <a:pt x="63238" y="22855"/>
                </a:lnTo>
                <a:cubicBezTo>
                  <a:pt x="56678" y="13776"/>
                  <a:pt x="46156" y="8397"/>
                  <a:pt x="34925" y="8397"/>
                </a:cubicBezTo>
                <a:cubicBezTo>
                  <a:pt x="15639" y="8397"/>
                  <a:pt x="0" y="24036"/>
                  <a:pt x="0" y="43322"/>
                </a:cubicBezTo>
                <a:lnTo>
                  <a:pt x="0" y="44004"/>
                </a:lnTo>
                <a:cubicBezTo>
                  <a:pt x="0" y="50196"/>
                  <a:pt x="1627" y="56599"/>
                  <a:pt x="4356" y="62975"/>
                </a:cubicBezTo>
                <a:lnTo>
                  <a:pt x="32170" y="62975"/>
                </a:lnTo>
                <a:cubicBezTo>
                  <a:pt x="33010" y="62975"/>
                  <a:pt x="33770" y="62477"/>
                  <a:pt x="34112" y="61689"/>
                </a:cubicBezTo>
                <a:lnTo>
                  <a:pt x="42456" y="41669"/>
                </a:lnTo>
                <a:cubicBezTo>
                  <a:pt x="43427" y="39360"/>
                  <a:pt x="45683" y="37838"/>
                  <a:pt x="48176" y="37785"/>
                </a:cubicBezTo>
                <a:cubicBezTo>
                  <a:pt x="50669" y="37733"/>
                  <a:pt x="52978" y="39202"/>
                  <a:pt x="54001" y="41485"/>
                </a:cubicBezTo>
                <a:lnTo>
                  <a:pt x="67462" y="71372"/>
                </a:lnTo>
                <a:lnTo>
                  <a:pt x="78325" y="49645"/>
                </a:lnTo>
                <a:cubicBezTo>
                  <a:pt x="79401" y="47520"/>
                  <a:pt x="81579" y="46156"/>
                  <a:pt x="83967" y="46156"/>
                </a:cubicBezTo>
                <a:cubicBezTo>
                  <a:pt x="86355" y="46156"/>
                  <a:pt x="88533" y="47494"/>
                  <a:pt x="89608" y="49645"/>
                </a:cubicBezTo>
                <a:lnTo>
                  <a:pt x="95696" y="61794"/>
                </a:lnTo>
                <a:cubicBezTo>
                  <a:pt x="96063" y="62503"/>
                  <a:pt x="96772" y="62949"/>
                  <a:pt x="97585" y="62949"/>
                </a:cubicBezTo>
                <a:lnTo>
                  <a:pt x="130018" y="62949"/>
                </a:lnTo>
                <a:cubicBezTo>
                  <a:pt x="132773" y="56573"/>
                  <a:pt x="134373" y="50170"/>
                  <a:pt x="134373" y="43978"/>
                </a:cubicBezTo>
                <a:lnTo>
                  <a:pt x="134373" y="43295"/>
                </a:lnTo>
                <a:cubicBezTo>
                  <a:pt x="134347" y="24036"/>
                  <a:pt x="118708" y="8397"/>
                  <a:pt x="99422" y="8397"/>
                </a:cubicBezTo>
                <a:cubicBezTo>
                  <a:pt x="88218" y="8397"/>
                  <a:pt x="77669" y="13776"/>
                  <a:pt x="71110" y="22855"/>
                </a:cubicBezTo>
                <a:lnTo>
                  <a:pt x="67174" y="28286"/>
                </a:lnTo>
                <a:close/>
                <a:moveTo>
                  <a:pt x="123221" y="75570"/>
                </a:moveTo>
                <a:lnTo>
                  <a:pt x="97559" y="75570"/>
                </a:lnTo>
                <a:cubicBezTo>
                  <a:pt x="91996" y="75570"/>
                  <a:pt x="86906" y="72421"/>
                  <a:pt x="84413" y="67436"/>
                </a:cubicBezTo>
                <a:lnTo>
                  <a:pt x="83967" y="66544"/>
                </a:lnTo>
                <a:lnTo>
                  <a:pt x="72815" y="88874"/>
                </a:lnTo>
                <a:cubicBezTo>
                  <a:pt x="71739" y="91052"/>
                  <a:pt x="69483" y="92416"/>
                  <a:pt x="67042" y="92364"/>
                </a:cubicBezTo>
                <a:cubicBezTo>
                  <a:pt x="64602" y="92311"/>
                  <a:pt x="62424" y="90868"/>
                  <a:pt x="61427" y="88664"/>
                </a:cubicBezTo>
                <a:lnTo>
                  <a:pt x="48491" y="59931"/>
                </a:lnTo>
                <a:lnTo>
                  <a:pt x="45736" y="66544"/>
                </a:lnTo>
                <a:cubicBezTo>
                  <a:pt x="43453" y="72028"/>
                  <a:pt x="38100" y="75596"/>
                  <a:pt x="32170" y="75596"/>
                </a:cubicBezTo>
                <a:lnTo>
                  <a:pt x="11126" y="75596"/>
                </a:lnTo>
                <a:cubicBezTo>
                  <a:pt x="23511" y="94961"/>
                  <a:pt x="43400" y="112778"/>
                  <a:pt x="55838" y="122277"/>
                </a:cubicBezTo>
                <a:cubicBezTo>
                  <a:pt x="59092" y="124743"/>
                  <a:pt x="63080" y="125977"/>
                  <a:pt x="67147" y="125977"/>
                </a:cubicBezTo>
                <a:cubicBezTo>
                  <a:pt x="71214" y="125977"/>
                  <a:pt x="75229" y="124770"/>
                  <a:pt x="78457" y="122277"/>
                </a:cubicBezTo>
                <a:cubicBezTo>
                  <a:pt x="90947" y="112752"/>
                  <a:pt x="110836" y="94935"/>
                  <a:pt x="123221" y="75570"/>
                </a:cubicBezTo>
                <a:close/>
              </a:path>
            </a:pathLst>
          </a:custGeom>
          <a:solidFill>
            <a:srgbClr val="0984E3"/>
          </a:solidFill>
          <a:ln/>
        </p:spPr>
      </p:sp>
      <p:sp>
        <p:nvSpPr>
          <p:cNvPr id="29" name="Text 26"/>
          <p:cNvSpPr/>
          <p:nvPr/>
        </p:nvSpPr>
        <p:spPr>
          <a:xfrm>
            <a:off x="7800071" y="4072397"/>
            <a:ext cx="3952414" cy="201521"/>
          </a:xfrm>
          <a:prstGeom prst="rect">
            <a:avLst/>
          </a:prstGeom>
          <a:noFill/>
          <a:ln/>
        </p:spPr>
        <p:txBody>
          <a:bodyPr wrap="square" lIns="0" tIns="0" rIns="0" bIns="0" rtlCol="0" anchor="ctr"/>
          <a:lstStyle/>
          <a:p>
            <a:pPr>
              <a:lnSpc>
                <a:spcPct val="130000"/>
              </a:lnSpc>
            </a:pPr>
            <a:r>
              <a:rPr lang="en-US" sz="1058" b="1" dirty="0">
                <a:solidFill>
                  <a:srgbClr val="636E72"/>
                </a:solidFill>
                <a:latin typeface="Quattrocento Sans" pitchFamily="34" charset="0"/>
                <a:ea typeface="Quattrocento Sans" pitchFamily="34" charset="-122"/>
                <a:cs typeface="Quattrocento Sans" pitchFamily="34" charset="-120"/>
              </a:rPr>
              <a:t>Cancer Therapy:</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Treatment resistance evolution</a:t>
            </a:r>
            <a:endParaRPr lang="en-US" sz="1600" dirty="0"/>
          </a:p>
        </p:txBody>
      </p:sp>
      <p:sp>
        <p:nvSpPr>
          <p:cNvPr id="30" name="Shape 27"/>
          <p:cNvSpPr/>
          <p:nvPr/>
        </p:nvSpPr>
        <p:spPr>
          <a:xfrm>
            <a:off x="7587725" y="4370479"/>
            <a:ext cx="167934" cy="134347"/>
          </a:xfrm>
          <a:custGeom>
            <a:avLst/>
            <a:gdLst/>
            <a:ahLst/>
            <a:cxnLst/>
            <a:rect l="l" t="t" r="r" b="b"/>
            <a:pathLst>
              <a:path w="167934" h="134347">
                <a:moveTo>
                  <a:pt x="83967" y="4198"/>
                </a:moveTo>
                <a:cubicBezTo>
                  <a:pt x="99028" y="4198"/>
                  <a:pt x="111256" y="16426"/>
                  <a:pt x="111256" y="31488"/>
                </a:cubicBezTo>
                <a:cubicBezTo>
                  <a:pt x="111256" y="46549"/>
                  <a:pt x="99028" y="58777"/>
                  <a:pt x="83967" y="58777"/>
                </a:cubicBezTo>
                <a:cubicBezTo>
                  <a:pt x="68906" y="58777"/>
                  <a:pt x="56678" y="46549"/>
                  <a:pt x="56678" y="31488"/>
                </a:cubicBezTo>
                <a:cubicBezTo>
                  <a:pt x="56678" y="16426"/>
                  <a:pt x="68906" y="4198"/>
                  <a:pt x="83967" y="4198"/>
                </a:cubicBezTo>
                <a:close/>
                <a:moveTo>
                  <a:pt x="25190" y="23091"/>
                </a:moveTo>
                <a:cubicBezTo>
                  <a:pt x="35617" y="23091"/>
                  <a:pt x="44083" y="31556"/>
                  <a:pt x="44083" y="41983"/>
                </a:cubicBezTo>
                <a:cubicBezTo>
                  <a:pt x="44083" y="52411"/>
                  <a:pt x="35617" y="60876"/>
                  <a:pt x="25190" y="60876"/>
                </a:cubicBezTo>
                <a:cubicBezTo>
                  <a:pt x="14763" y="60876"/>
                  <a:pt x="6298" y="52411"/>
                  <a:pt x="6298" y="41983"/>
                </a:cubicBezTo>
                <a:cubicBezTo>
                  <a:pt x="6298" y="31556"/>
                  <a:pt x="14763" y="23091"/>
                  <a:pt x="25190" y="23091"/>
                </a:cubicBezTo>
                <a:close/>
                <a:moveTo>
                  <a:pt x="0" y="109157"/>
                </a:moveTo>
                <a:cubicBezTo>
                  <a:pt x="0" y="90606"/>
                  <a:pt x="15035" y="75570"/>
                  <a:pt x="33587" y="75570"/>
                </a:cubicBezTo>
                <a:cubicBezTo>
                  <a:pt x="36945" y="75570"/>
                  <a:pt x="40199" y="76069"/>
                  <a:pt x="43269" y="76987"/>
                </a:cubicBezTo>
                <a:cubicBezTo>
                  <a:pt x="34636" y="86643"/>
                  <a:pt x="29388" y="99396"/>
                  <a:pt x="29388" y="113355"/>
                </a:cubicBezTo>
                <a:lnTo>
                  <a:pt x="29388" y="117554"/>
                </a:lnTo>
                <a:cubicBezTo>
                  <a:pt x="29388" y="120545"/>
                  <a:pt x="30018" y="123379"/>
                  <a:pt x="31146" y="125950"/>
                </a:cubicBezTo>
                <a:lnTo>
                  <a:pt x="8397" y="125950"/>
                </a:lnTo>
                <a:cubicBezTo>
                  <a:pt x="3752" y="125950"/>
                  <a:pt x="0" y="122198"/>
                  <a:pt x="0" y="117554"/>
                </a:cubicBezTo>
                <a:lnTo>
                  <a:pt x="0" y="109157"/>
                </a:lnTo>
                <a:close/>
                <a:moveTo>
                  <a:pt x="136787" y="125950"/>
                </a:moveTo>
                <a:cubicBezTo>
                  <a:pt x="137916" y="123379"/>
                  <a:pt x="138545" y="120545"/>
                  <a:pt x="138545" y="117554"/>
                </a:cubicBezTo>
                <a:lnTo>
                  <a:pt x="138545" y="113355"/>
                </a:lnTo>
                <a:cubicBezTo>
                  <a:pt x="138545" y="99396"/>
                  <a:pt x="133298" y="86643"/>
                  <a:pt x="124665" y="76987"/>
                </a:cubicBezTo>
                <a:cubicBezTo>
                  <a:pt x="127735" y="76069"/>
                  <a:pt x="130988" y="75570"/>
                  <a:pt x="134347" y="75570"/>
                </a:cubicBezTo>
                <a:cubicBezTo>
                  <a:pt x="152899" y="75570"/>
                  <a:pt x="167934" y="90606"/>
                  <a:pt x="167934" y="109157"/>
                </a:cubicBezTo>
                <a:lnTo>
                  <a:pt x="167934" y="117554"/>
                </a:lnTo>
                <a:cubicBezTo>
                  <a:pt x="167934" y="122198"/>
                  <a:pt x="164182" y="125950"/>
                  <a:pt x="159537" y="125950"/>
                </a:cubicBezTo>
                <a:lnTo>
                  <a:pt x="136787" y="125950"/>
                </a:lnTo>
                <a:close/>
                <a:moveTo>
                  <a:pt x="123851" y="41983"/>
                </a:moveTo>
                <a:cubicBezTo>
                  <a:pt x="123851" y="31556"/>
                  <a:pt x="132317" y="23091"/>
                  <a:pt x="142744" y="23091"/>
                </a:cubicBezTo>
                <a:cubicBezTo>
                  <a:pt x="153171" y="23091"/>
                  <a:pt x="161636" y="31556"/>
                  <a:pt x="161636" y="41983"/>
                </a:cubicBezTo>
                <a:cubicBezTo>
                  <a:pt x="161636" y="52411"/>
                  <a:pt x="153171" y="60876"/>
                  <a:pt x="142744" y="60876"/>
                </a:cubicBezTo>
                <a:cubicBezTo>
                  <a:pt x="132317" y="60876"/>
                  <a:pt x="123851" y="52411"/>
                  <a:pt x="123851" y="41983"/>
                </a:cubicBezTo>
                <a:close/>
                <a:moveTo>
                  <a:pt x="41983" y="113355"/>
                </a:moveTo>
                <a:cubicBezTo>
                  <a:pt x="41983" y="90160"/>
                  <a:pt x="60771" y="71372"/>
                  <a:pt x="83967" y="71372"/>
                </a:cubicBezTo>
                <a:cubicBezTo>
                  <a:pt x="107163" y="71372"/>
                  <a:pt x="125950" y="90160"/>
                  <a:pt x="125950" y="113355"/>
                </a:cubicBezTo>
                <a:lnTo>
                  <a:pt x="125950" y="117554"/>
                </a:lnTo>
                <a:cubicBezTo>
                  <a:pt x="125950" y="122198"/>
                  <a:pt x="122198" y="125950"/>
                  <a:pt x="117554" y="125950"/>
                </a:cubicBezTo>
                <a:lnTo>
                  <a:pt x="50380" y="125950"/>
                </a:lnTo>
                <a:cubicBezTo>
                  <a:pt x="45736" y="125950"/>
                  <a:pt x="41983" y="122198"/>
                  <a:pt x="41983" y="117554"/>
                </a:cubicBezTo>
                <a:lnTo>
                  <a:pt x="41983" y="113355"/>
                </a:lnTo>
                <a:close/>
              </a:path>
            </a:pathLst>
          </a:custGeom>
          <a:solidFill>
            <a:srgbClr val="0984E3"/>
          </a:solidFill>
          <a:ln/>
        </p:spPr>
      </p:sp>
      <p:sp>
        <p:nvSpPr>
          <p:cNvPr id="31" name="Text 28"/>
          <p:cNvSpPr/>
          <p:nvPr/>
        </p:nvSpPr>
        <p:spPr>
          <a:xfrm>
            <a:off x="7800071" y="4341091"/>
            <a:ext cx="3952414" cy="201521"/>
          </a:xfrm>
          <a:prstGeom prst="rect">
            <a:avLst/>
          </a:prstGeom>
          <a:noFill/>
          <a:ln/>
        </p:spPr>
        <p:txBody>
          <a:bodyPr wrap="square" lIns="0" tIns="0" rIns="0" bIns="0" rtlCol="0" anchor="ctr"/>
          <a:lstStyle/>
          <a:p>
            <a:pPr>
              <a:lnSpc>
                <a:spcPct val="130000"/>
              </a:lnSpc>
            </a:pPr>
            <a:r>
              <a:rPr lang="en-US" sz="1058" b="1" dirty="0">
                <a:solidFill>
                  <a:srgbClr val="636E72"/>
                </a:solidFill>
                <a:latin typeface="Quattrocento Sans" pitchFamily="34" charset="0"/>
                <a:ea typeface="Quattrocento Sans" pitchFamily="34" charset="-122"/>
                <a:cs typeface="Quattrocento Sans" pitchFamily="34" charset="-120"/>
              </a:rPr>
              <a:t>Social Behavior:</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Altruism and cooperation evolution</a:t>
            </a:r>
            <a:endParaRPr lang="en-US" sz="1600" dirty="0"/>
          </a:p>
        </p:txBody>
      </p:sp>
      <p:sp>
        <p:nvSpPr>
          <p:cNvPr id="32" name="Shape 29"/>
          <p:cNvSpPr/>
          <p:nvPr/>
        </p:nvSpPr>
        <p:spPr>
          <a:xfrm>
            <a:off x="7411395" y="4853289"/>
            <a:ext cx="4450248" cy="1293091"/>
          </a:xfrm>
          <a:custGeom>
            <a:avLst/>
            <a:gdLst/>
            <a:ahLst/>
            <a:cxnLst/>
            <a:rect l="l" t="t" r="r" b="b"/>
            <a:pathLst>
              <a:path w="4450248" h="1293091">
                <a:moveTo>
                  <a:pt x="0" y="0"/>
                </a:moveTo>
                <a:lnTo>
                  <a:pt x="4450248" y="0"/>
                </a:lnTo>
                <a:lnTo>
                  <a:pt x="4450248" y="1293091"/>
                </a:lnTo>
                <a:lnTo>
                  <a:pt x="0" y="1293091"/>
                </a:lnTo>
                <a:lnTo>
                  <a:pt x="0" y="0"/>
                </a:lnTo>
                <a:close/>
              </a:path>
            </a:pathLst>
          </a:custGeom>
          <a:solidFill>
            <a:srgbClr val="2D3436"/>
          </a:solidFill>
          <a:ln/>
        </p:spPr>
      </p:sp>
      <p:sp>
        <p:nvSpPr>
          <p:cNvPr id="33" name="Text 30"/>
          <p:cNvSpPr/>
          <p:nvPr/>
        </p:nvSpPr>
        <p:spPr>
          <a:xfrm>
            <a:off x="7579329" y="5021223"/>
            <a:ext cx="4189950" cy="235107"/>
          </a:xfrm>
          <a:prstGeom prst="rect">
            <a:avLst/>
          </a:prstGeom>
          <a:noFill/>
          <a:ln/>
        </p:spPr>
        <p:txBody>
          <a:bodyPr wrap="square" lIns="0" tIns="0" rIns="0" bIns="0" rtlCol="0" anchor="ctr"/>
          <a:lstStyle/>
          <a:p>
            <a:pPr>
              <a:lnSpc>
                <a:spcPct val="130000"/>
              </a:lnSpc>
            </a:pPr>
            <a:r>
              <a:rPr lang="en-US" sz="1190" b="1" dirty="0">
                <a:solidFill>
                  <a:srgbClr val="FFFFFF"/>
                </a:solidFill>
                <a:latin typeface="Oranienbaum" pitchFamily="34" charset="0"/>
                <a:ea typeface="Oranienbaum" pitchFamily="34" charset="-122"/>
                <a:cs typeface="Oranienbaum" pitchFamily="34" charset="-120"/>
              </a:rPr>
              <a:t>Evolution of Cooperation</a:t>
            </a:r>
            <a:endParaRPr lang="en-US" sz="1600" dirty="0"/>
          </a:p>
        </p:txBody>
      </p:sp>
      <p:sp>
        <p:nvSpPr>
          <p:cNvPr id="34" name="Text 31"/>
          <p:cNvSpPr/>
          <p:nvPr/>
        </p:nvSpPr>
        <p:spPr>
          <a:xfrm>
            <a:off x="7579329" y="5323504"/>
            <a:ext cx="4181554" cy="654942"/>
          </a:xfrm>
          <a:prstGeom prst="rect">
            <a:avLst/>
          </a:prstGeom>
          <a:noFill/>
          <a:ln/>
        </p:spPr>
        <p:txBody>
          <a:bodyPr wrap="square" lIns="0" tIns="0" rIns="0" bIns="0" rtlCol="0" anchor="ctr"/>
          <a:lstStyle/>
          <a:p>
            <a:pPr>
              <a:lnSpc>
                <a:spcPct val="140000"/>
              </a:lnSpc>
            </a:pPr>
            <a:r>
              <a:rPr lang="en-US" sz="1058" dirty="0">
                <a:solidFill>
                  <a:srgbClr val="E0E0E0"/>
                </a:solidFill>
                <a:latin typeface="Quattrocento Sans" pitchFamily="34" charset="0"/>
                <a:ea typeface="Quattrocento Sans" pitchFamily="34" charset="-122"/>
                <a:cs typeface="Quattrocento Sans" pitchFamily="34" charset="-120"/>
              </a:rPr>
              <a:t>Despite individual incentives to defect, cooperation evolves through mechanisms like reciprocity, kin selection, and group selection—explaining altruism across species.</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326" y="585788"/>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3" name="Text 1"/>
          <p:cNvSpPr/>
          <p:nvPr/>
        </p:nvSpPr>
        <p:spPr>
          <a:xfrm>
            <a:off x="3664223" y="909638"/>
            <a:ext cx="4867275" cy="1428750"/>
          </a:xfrm>
          <a:prstGeom prst="rect">
            <a:avLst/>
          </a:prstGeom>
          <a:noFill/>
          <a:ln/>
        </p:spPr>
        <p:txBody>
          <a:bodyPr wrap="square" lIns="0" tIns="0" rIns="0" bIns="0" rtlCol="0" anchor="ctr"/>
          <a:lstStyle/>
          <a:p>
            <a:pPr algn="ctr">
              <a:lnSpc>
                <a:spcPct val="100000"/>
              </a:lnSpc>
            </a:pPr>
            <a:r>
              <a:rPr lang="en-US" sz="4500" b="1" dirty="0">
                <a:solidFill>
                  <a:srgbClr val="2D3436"/>
                </a:solidFill>
                <a:latin typeface="Oranienbaum" pitchFamily="34" charset="0"/>
                <a:ea typeface="Oranienbaum" pitchFamily="34" charset="-122"/>
                <a:cs typeface="Oranienbaum" pitchFamily="34" charset="-120"/>
              </a:rPr>
              <a:t>The Enduring Power</a:t>
            </a:r>
            <a:endParaRPr lang="en-US" sz="1600" dirty="0"/>
          </a:p>
          <a:p>
            <a:pPr algn="ctr">
              <a:lnSpc>
                <a:spcPct val="100000"/>
              </a:lnSpc>
            </a:pPr>
            <a:r>
              <a:rPr lang="en-US" sz="4500" b="1" dirty="0">
                <a:solidFill>
                  <a:srgbClr val="2D3436"/>
                </a:solidFill>
                <a:latin typeface="Oranienbaum" pitchFamily="34" charset="0"/>
                <a:ea typeface="Oranienbaum" pitchFamily="34" charset="-122"/>
                <a:cs typeface="Oranienbaum" pitchFamily="34" charset="-120"/>
              </a:rPr>
              <a:t>of Game Theory</a:t>
            </a:r>
            <a:endParaRPr lang="en-US" sz="1600" dirty="0"/>
          </a:p>
        </p:txBody>
      </p:sp>
      <p:sp>
        <p:nvSpPr>
          <p:cNvPr id="4" name="Shape 2"/>
          <p:cNvSpPr/>
          <p:nvPr/>
        </p:nvSpPr>
        <p:spPr>
          <a:xfrm>
            <a:off x="5486326" y="2643188"/>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5" name="Text 3"/>
          <p:cNvSpPr/>
          <p:nvPr/>
        </p:nvSpPr>
        <p:spPr>
          <a:xfrm>
            <a:off x="1771650" y="2967038"/>
            <a:ext cx="8648700" cy="1114425"/>
          </a:xfrm>
          <a:prstGeom prst="rect">
            <a:avLst/>
          </a:prstGeom>
          <a:noFill/>
          <a:ln/>
        </p:spPr>
        <p:txBody>
          <a:bodyPr wrap="square" lIns="0" tIns="0" rIns="0" bIns="0" rtlCol="0" anchor="ctr"/>
          <a:lstStyle/>
          <a:p>
            <a:pPr algn="ctr">
              <a:lnSpc>
                <a:spcPct val="140000"/>
              </a:lnSpc>
            </a:pPr>
            <a:r>
              <a:rPr lang="en-US" sz="1800" dirty="0">
                <a:solidFill>
                  <a:srgbClr val="1E272E"/>
                </a:solidFill>
                <a:latin typeface="Quattrocento Sans" pitchFamily="34" charset="0"/>
                <a:ea typeface="Quattrocento Sans" pitchFamily="34" charset="-122"/>
                <a:cs typeface="Quattrocento Sans" pitchFamily="34" charset="-120"/>
              </a:rPr>
              <a:t>Game theory transforms our understanding of strategic interaction across all domains of life. From economics to biology, from politics to everyday decisions, its mathematical precision reveals the hidden logic of competition and cooperation.</a:t>
            </a:r>
            <a:endParaRPr lang="en-US" sz="1600" dirty="0"/>
          </a:p>
        </p:txBody>
      </p:sp>
      <p:sp>
        <p:nvSpPr>
          <p:cNvPr id="6" name="Text 4"/>
          <p:cNvSpPr/>
          <p:nvPr/>
        </p:nvSpPr>
        <p:spPr>
          <a:xfrm>
            <a:off x="1781175" y="4310063"/>
            <a:ext cx="8629650" cy="1238250"/>
          </a:xfrm>
          <a:prstGeom prst="rect">
            <a:avLst/>
          </a:prstGeom>
          <a:noFill/>
          <a:ln/>
        </p:spPr>
        <p:txBody>
          <a:bodyPr wrap="square" lIns="0" tIns="0" rIns="0" bIns="0" rtlCol="0" anchor="ctr"/>
          <a:lstStyle/>
          <a:p>
            <a:pPr algn="ctr">
              <a:lnSpc>
                <a:spcPct val="140000"/>
              </a:lnSpc>
            </a:pPr>
            <a:r>
              <a:rPr lang="en-US" sz="1500" dirty="0">
                <a:solidFill>
                  <a:srgbClr val="636E72"/>
                </a:solidFill>
                <a:latin typeface="Quattrocento Sans" pitchFamily="34" charset="0"/>
                <a:ea typeface="Quattrocento Sans" pitchFamily="34" charset="-122"/>
                <a:cs typeface="Quattrocento Sans" pitchFamily="34" charset="-120"/>
              </a:rPr>
              <a:t>As we face increasingly complex global challenges—climate change, pandemics, technological disruption—the insights of game theory become more vital than ever. By understanding the strategic structures that shape our world, we become better equipped to design institutions, craft policies, and make decisions that lead to better outcomes for all.</a:t>
            </a:r>
            <a:endParaRPr lang="en-US" sz="1600" dirty="0"/>
          </a:p>
        </p:txBody>
      </p:sp>
      <p:sp>
        <p:nvSpPr>
          <p:cNvPr id="7" name="Text 5"/>
          <p:cNvSpPr/>
          <p:nvPr/>
        </p:nvSpPr>
        <p:spPr>
          <a:xfrm>
            <a:off x="2615357" y="6005513"/>
            <a:ext cx="6962775" cy="266700"/>
          </a:xfrm>
          <a:prstGeom prst="rect">
            <a:avLst/>
          </a:prstGeom>
          <a:noFill/>
          <a:ln/>
        </p:spPr>
        <p:txBody>
          <a:bodyPr wrap="square" lIns="0" tIns="0" rIns="0" bIns="0" rtlCol="0" anchor="ctr"/>
          <a:lstStyle/>
          <a:p>
            <a:pPr algn="ctr">
              <a:lnSpc>
                <a:spcPct val="130000"/>
              </a:lnSpc>
            </a:pPr>
            <a:r>
              <a:rPr lang="en-US" sz="1350" dirty="0">
                <a:solidFill>
                  <a:srgbClr val="636E72"/>
                </a:solidFill>
                <a:latin typeface="Liter" pitchFamily="34" charset="0"/>
                <a:ea typeface="Liter" pitchFamily="34" charset="-122"/>
                <a:cs typeface="Liter" pitchFamily="34" charset="-120"/>
              </a:rPr>
              <a:t>"In the long run, we're all dead. But game theory helps us navigate the short run more wisely."</a:t>
            </a:r>
            <a:endParaRPr lang="en-US" sz="1600" dirty="0"/>
          </a:p>
        </p:txBody>
      </p:sp>
    </p:spTree>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Theory</dc:title>
  <dc:subject>Game Theory</dc:subject>
  <dc:creator>Kimi</dc:creator>
  <cp:lastModifiedBy>Kimi</cp:lastModifiedBy>
  <cp:revision>1</cp:revision>
  <dcterms:created xsi:type="dcterms:W3CDTF">2026-03-18T11:54:39Z</dcterms:created>
  <dcterms:modified xsi:type="dcterms:W3CDTF">2026-03-18T11:54:39Z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{"Label":"Game Theory","ContentProducer":"001191110108MACG2KBH8F10000","ProduceID":"19d00906-6002-88af-8000-00001a6b51f9","ReservedCode1":"","ContentPropagator":"001191110108MACG2KBH8F20000","PropagateID":"19d00906-6002-88af-8000-00001a6b51f9","ReservedCode2":""}</vt:lpwstr>
  </property>
</Properties>
</file>