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birthday paradox illustrates how human intuition about probability often fails when dealing with combinatorial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41565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1000" y="1663303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 i="1" b="1">
                <a:solidFill>
                  <a:srgbClr val="FFFFFF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Probability Theory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311003"/>
            <a:ext cx="661035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spc="-225" kern="0" dirty="0" i="1" b="1">
                <a:solidFill>
                  <a:srgbClr val="FFFFFF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The Birthday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000" spc="-225" kern="0" dirty="0" i="1" b="1">
                <a:solidFill>
                  <a:srgbClr val="FFFFFF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Paradox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787503"/>
            <a:ext cx="42672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 i="1" b="1">
                <a:solidFill>
                  <a:srgbClr val="FFFFFF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When Probability Defies Intuition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244" y="62960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32147" y="21431"/>
                </a:moveTo>
                <a:lnTo>
                  <a:pt x="96441" y="21431"/>
                </a:lnTo>
                <a:cubicBezTo>
                  <a:pt x="102368" y="21431"/>
                  <a:pt x="107156" y="26220"/>
                  <a:pt x="107156" y="32147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32147" y="53578"/>
                </a:lnTo>
                <a:cubicBezTo>
                  <a:pt x="26220" y="53578"/>
                  <a:pt x="21431" y="48790"/>
                  <a:pt x="21431" y="42863"/>
                </a:cubicBezTo>
                <a:lnTo>
                  <a:pt x="21431" y="32147"/>
                </a:lnTo>
                <a:cubicBezTo>
                  <a:pt x="21431" y="26220"/>
                  <a:pt x="26220" y="21431"/>
                  <a:pt x="32147" y="21431"/>
                </a:cubicBezTo>
                <a:close/>
                <a:moveTo>
                  <a:pt x="37505" y="77688"/>
                </a:moveTo>
                <a:cubicBezTo>
                  <a:pt x="37505" y="82124"/>
                  <a:pt x="33904" y="85725"/>
                  <a:pt x="29468" y="85725"/>
                </a:cubicBezTo>
                <a:cubicBezTo>
                  <a:pt x="25032" y="85725"/>
                  <a:pt x="21431" y="82124"/>
                  <a:pt x="21431" y="77688"/>
                </a:cubicBezTo>
                <a:cubicBezTo>
                  <a:pt x="21431" y="73253"/>
                  <a:pt x="25032" y="69652"/>
                  <a:pt x="29468" y="69652"/>
                </a:cubicBezTo>
                <a:cubicBezTo>
                  <a:pt x="33904" y="69652"/>
                  <a:pt x="37505" y="73253"/>
                  <a:pt x="37505" y="77688"/>
                </a:cubicBezTo>
                <a:close/>
                <a:moveTo>
                  <a:pt x="64294" y="85725"/>
                </a:moveTo>
                <a:cubicBezTo>
                  <a:pt x="59858" y="85725"/>
                  <a:pt x="56257" y="82124"/>
                  <a:pt x="56257" y="77688"/>
                </a:cubicBezTo>
                <a:cubicBezTo>
                  <a:pt x="56257" y="73253"/>
                  <a:pt x="59858" y="69652"/>
                  <a:pt x="64294" y="69652"/>
                </a:cubicBezTo>
                <a:cubicBezTo>
                  <a:pt x="68729" y="69652"/>
                  <a:pt x="72330" y="73253"/>
                  <a:pt x="72330" y="77688"/>
                </a:cubicBezTo>
                <a:cubicBezTo>
                  <a:pt x="72330" y="82124"/>
                  <a:pt x="68729" y="85725"/>
                  <a:pt x="64294" y="85725"/>
                </a:cubicBezTo>
                <a:close/>
                <a:moveTo>
                  <a:pt x="107156" y="77688"/>
                </a:moveTo>
                <a:cubicBezTo>
                  <a:pt x="107156" y="82124"/>
                  <a:pt x="103555" y="85725"/>
                  <a:pt x="99120" y="85725"/>
                </a:cubicBezTo>
                <a:cubicBezTo>
                  <a:pt x="94684" y="85725"/>
                  <a:pt x="91083" y="82124"/>
                  <a:pt x="91083" y="77688"/>
                </a:cubicBezTo>
                <a:cubicBezTo>
                  <a:pt x="91083" y="73253"/>
                  <a:pt x="94684" y="69652"/>
                  <a:pt x="99120" y="69652"/>
                </a:cubicBezTo>
                <a:cubicBezTo>
                  <a:pt x="103555" y="69652"/>
                  <a:pt x="107156" y="73253"/>
                  <a:pt x="107156" y="77688"/>
                </a:cubicBezTo>
                <a:close/>
                <a:moveTo>
                  <a:pt x="29468" y="117872"/>
                </a:moveTo>
                <a:cubicBezTo>
                  <a:pt x="25032" y="117872"/>
                  <a:pt x="21431" y="114271"/>
                  <a:pt x="21431" y="109835"/>
                </a:cubicBezTo>
                <a:cubicBezTo>
                  <a:pt x="21431" y="105400"/>
                  <a:pt x="25032" y="101798"/>
                  <a:pt x="29468" y="101798"/>
                </a:cubicBezTo>
                <a:cubicBezTo>
                  <a:pt x="33904" y="101798"/>
                  <a:pt x="37505" y="105400"/>
                  <a:pt x="37505" y="109835"/>
                </a:cubicBezTo>
                <a:cubicBezTo>
                  <a:pt x="37505" y="114271"/>
                  <a:pt x="33904" y="117872"/>
                  <a:pt x="29468" y="117872"/>
                </a:cubicBezTo>
                <a:close/>
                <a:moveTo>
                  <a:pt x="72330" y="109835"/>
                </a:moveTo>
                <a:cubicBezTo>
                  <a:pt x="72330" y="114271"/>
                  <a:pt x="68729" y="117872"/>
                  <a:pt x="64294" y="117872"/>
                </a:cubicBezTo>
                <a:cubicBezTo>
                  <a:pt x="59858" y="117872"/>
                  <a:pt x="56257" y="114271"/>
                  <a:pt x="56257" y="109835"/>
                </a:cubicBezTo>
                <a:cubicBezTo>
                  <a:pt x="56257" y="105400"/>
                  <a:pt x="59858" y="101798"/>
                  <a:pt x="64294" y="101798"/>
                </a:cubicBezTo>
                <a:cubicBezTo>
                  <a:pt x="68729" y="101798"/>
                  <a:pt x="72330" y="105400"/>
                  <a:pt x="72330" y="109835"/>
                </a:cubicBezTo>
                <a:close/>
                <a:moveTo>
                  <a:pt x="99120" y="117872"/>
                </a:moveTo>
                <a:cubicBezTo>
                  <a:pt x="94684" y="117872"/>
                  <a:pt x="91083" y="114271"/>
                  <a:pt x="91083" y="109835"/>
                </a:cubicBezTo>
                <a:cubicBezTo>
                  <a:pt x="91083" y="105400"/>
                  <a:pt x="94684" y="101798"/>
                  <a:pt x="99120" y="101798"/>
                </a:cubicBezTo>
                <a:cubicBezTo>
                  <a:pt x="103555" y="101798"/>
                  <a:pt x="107156" y="105400"/>
                  <a:pt x="107156" y="109835"/>
                </a:cubicBezTo>
                <a:cubicBezTo>
                  <a:pt x="107156" y="114271"/>
                  <a:pt x="103555" y="117872"/>
                  <a:pt x="99120" y="117872"/>
                </a:cubicBezTo>
                <a:close/>
                <a:moveTo>
                  <a:pt x="21431" y="141982"/>
                </a:moveTo>
                <a:cubicBezTo>
                  <a:pt x="21431" y="137528"/>
                  <a:pt x="25014" y="133945"/>
                  <a:pt x="29468" y="133945"/>
                </a:cubicBezTo>
                <a:lnTo>
                  <a:pt x="66973" y="133945"/>
                </a:lnTo>
                <a:cubicBezTo>
                  <a:pt x="71426" y="133945"/>
                  <a:pt x="75009" y="137528"/>
                  <a:pt x="75009" y="141982"/>
                </a:cubicBezTo>
                <a:cubicBezTo>
                  <a:pt x="75009" y="146436"/>
                  <a:pt x="71426" y="150019"/>
                  <a:pt x="66973" y="150019"/>
                </a:cubicBezTo>
                <a:lnTo>
                  <a:pt x="29468" y="150019"/>
                </a:lnTo>
                <a:cubicBezTo>
                  <a:pt x="25014" y="150019"/>
                  <a:pt x="21431" y="146436"/>
                  <a:pt x="21431" y="141982"/>
                </a:cubicBezTo>
                <a:close/>
                <a:moveTo>
                  <a:pt x="99120" y="133945"/>
                </a:moveTo>
                <a:cubicBezTo>
                  <a:pt x="103573" y="133945"/>
                  <a:pt x="107156" y="137528"/>
                  <a:pt x="107156" y="141982"/>
                </a:cubicBezTo>
                <a:cubicBezTo>
                  <a:pt x="107156" y="146436"/>
                  <a:pt x="103573" y="150019"/>
                  <a:pt x="99120" y="150019"/>
                </a:cubicBezTo>
                <a:cubicBezTo>
                  <a:pt x="94666" y="150019"/>
                  <a:pt x="91083" y="146436"/>
                  <a:pt x="91083" y="141982"/>
                </a:cubicBezTo>
                <a:cubicBezTo>
                  <a:pt x="91083" y="137528"/>
                  <a:pt x="94666" y="133945"/>
                  <a:pt x="99120" y="133945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9613" y="62865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i="1" b="1">
                <a:solidFill>
                  <a:srgbClr val="FFFFFF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Mathematical Exploration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89250" y="6296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94050" y="62865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i="1" b="1">
                <a:solidFill>
                  <a:srgbClr val="FFFFFF"/>
                </a:solidFill>
                <a:latin typeface="Times New Roman" pitchFamily="34" charset="0"/>
                <a:ea typeface="Liter" pitchFamily="34" charset="-122"/>
                <a:cs typeface="Liter" pitchFamily="34" charset="-120"/>
              </a:rPr>
              <a:t>Probability &amp; Statistics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7145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2829" y="1790700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Birthday Paradox?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2829" y="22098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counterintuitive probability phenomenon that challenges our intuition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0" y="1714500"/>
            <a:ext cx="981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2264" y="1790700"/>
            <a:ext cx="452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Mathematics Behind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2264" y="2209800"/>
            <a:ext cx="4486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probability is calculated step by step using complementary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432435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11473" y="4400550"/>
            <a:ext cx="451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Our Intuition Fails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1473" y="481965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psychological traps and cognitive biases at play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4324350"/>
            <a:ext cx="990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878" y="4400550"/>
            <a:ext cx="451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878" y="4819650"/>
            <a:ext cx="4476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the birthday paradox matters in cryptography and beyond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665015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1988865"/>
            <a:ext cx="951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407965"/>
            <a:ext cx="99060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Birthday Paradox?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450035"/>
            <a:ext cx="5600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counterintuitive probability phenomenon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33595" y="2476500"/>
            <a:ext cx="29337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Question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Surprising Question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824038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many people must be in a room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there to be a greater than 50% chance that at least two of them share the same birthday?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3338513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57663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Guess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919537"/>
            <a:ext cx="1838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~180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91097" y="42862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757738"/>
            <a:ext cx="5562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people assume you need about half the days in a year—seems logical, right?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4600" y="3338513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0" y="0"/>
                </a:moveTo>
                <a:lnTo>
                  <a:pt x="5486400" y="0"/>
                </a:lnTo>
                <a:lnTo>
                  <a:pt x="5486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324600" y="357663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Answer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600" y="3919537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1977" y="42862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4600" y="4757738"/>
            <a:ext cx="5562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 23 people gives you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50.7%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probability of a shared birthday. This is why it's called a paradox.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6015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19100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paradox: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result seems wrong but is mathematically proven true.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Distribution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Probability Milestones</a:t>
            </a:r>
            <a:endParaRPr lang="en-US" sz="1600" dirty="0"/>
          </a:p>
        </p:txBody>
      </p:sp>
      <p:pic>
        <p:nvPicPr>
          <p:cNvPr id="4" name="Image 0" descr="https://kimi-img.moonshot.cn/pub/slides/26-03-18-15:50:06-d6t5ibkchmthi8jl2q0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1219200"/>
            <a:ext cx="6115050" cy="52578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814170" y="1504950"/>
            <a:ext cx="19050" cy="990600"/>
          </a:xfrm>
          <a:custGeom>
            <a:avLst/>
            <a:gdLst/>
            <a:ahLst/>
            <a:cxn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014195" y="15049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30033" y="1614488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14195" y="1924050"/>
            <a:ext cx="4943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50.7%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14195" y="23050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50-50 threshold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14170" y="26479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014195" y="26479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79432" y="27479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14195" y="30289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70.6%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14170" y="35242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14195" y="35242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75413" y="36242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14195" y="39052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97.0%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14170" y="4400550"/>
            <a:ext cx="19050" cy="723900"/>
          </a:xfrm>
          <a:custGeom>
            <a:avLst/>
            <a:gdLst/>
            <a:ahLst/>
            <a:cxnLst/>
            <a:rect l="l" t="t" r="r" b="b"/>
            <a:pathLst>
              <a:path w="19050" h="723900">
                <a:moveTo>
                  <a:pt x="0" y="0"/>
                </a:moveTo>
                <a:lnTo>
                  <a:pt x="19050" y="0"/>
                </a:lnTo>
                <a:lnTo>
                  <a:pt x="1905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014195" y="4400550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81739" y="45005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14195" y="47815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99.2%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14170" y="5276850"/>
            <a:ext cx="19050" cy="914400"/>
          </a:xfrm>
          <a:custGeom>
            <a:avLst/>
            <a:gdLst/>
            <a:ahLst/>
            <a:cxnLst/>
            <a:rect l="l" t="t" r="r" b="b"/>
            <a:pathLst>
              <a:path w="19050" h="914400">
                <a:moveTo>
                  <a:pt x="0" y="0"/>
                </a:moveTo>
                <a:lnTo>
                  <a:pt x="19050" y="0"/>
                </a:lnTo>
                <a:lnTo>
                  <a:pt x="190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14195" y="527685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39397" y="537686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14195" y="565785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14195" y="6000750"/>
            <a:ext cx="486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i="1">
                <a:solidFill>
                  <a:srgbClr val="0000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Virtually guaranteed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3D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7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631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Mathematics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Behind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probability is calculated step by step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88760" y="2476500"/>
            <a:ext cx="3276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Complementary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52625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Instead of calculating the probability of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least one match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directly, we calculate the probability of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matches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subtract from 1.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805113"/>
            <a:ext cx="4029075" cy="809625"/>
          </a:xfrm>
          <a:custGeom>
            <a:avLst/>
            <a:gdLst/>
            <a:ahLst/>
            <a:cxnLst/>
            <a:rect l="l" t="t" r="r" b="b"/>
            <a:pathLst>
              <a:path w="4029075" h="809625">
                <a:moveTo>
                  <a:pt x="0" y="0"/>
                </a:moveTo>
                <a:lnTo>
                  <a:pt x="4029075" y="0"/>
                </a:lnTo>
                <a:lnTo>
                  <a:pt x="40290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5325" y="3038475"/>
            <a:ext cx="3552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P(match) = 1 − P(no match)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4000500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3434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are only two possibilities: either at least two people share a birthday, or everyone has unique birthdays.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991100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are complementary events, so their probabilities must sum to 1 (or 100%).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86500" y="4000500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Advantage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86500" y="4343400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Calculating "no matches" is much easier because we can build it step by step, person by person.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86500" y="4991100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sequential approach makes the complex problem tractable.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6129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6286500"/>
            <a:ext cx="1126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complementary approach is a fundamental technique in probability theory.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Calculation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5763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375" y="15716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15335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person enters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18383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unique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365/365 =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22621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375" y="22574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2193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 person enters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25241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364/365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29479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375" y="29432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29051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Third person enters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" y="32099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363/365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956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375" y="35909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...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368617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continues...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5763" y="424338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375" y="4238625"/>
            <a:ext cx="53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" y="4200525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23rd person enters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4505325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of different birthday: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343/365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497205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" y="5210175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Formula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1000" y="551497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P(no match) = (365/365) × (364/365) × (363/365) × ... × (343/365)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1000" y="589597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P(at least one match) = 1 − 0.493 =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0.507 (50.7%)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Key Insight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Power of Combinations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95487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23 people, we're not making 23 comparisons. We're making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comparisons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—every possible pair of people.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786063"/>
            <a:ext cx="5514975" cy="1419225"/>
          </a:xfrm>
          <a:custGeom>
            <a:avLst/>
            <a:gdLst/>
            <a:ahLst/>
            <a:cxnLst/>
            <a:rect l="l" t="t" r="r" b="b"/>
            <a:pathLst>
              <a:path w="5514975" h="1419225">
                <a:moveTo>
                  <a:pt x="0" y="0"/>
                </a:moveTo>
                <a:lnTo>
                  <a:pt x="5514975" y="0"/>
                </a:lnTo>
                <a:lnTo>
                  <a:pt x="5514975" y="1419225"/>
                </a:lnTo>
                <a:lnTo>
                  <a:pt x="0" y="14192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3019425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 of Pairs Formula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9125" y="3324225"/>
            <a:ext cx="5191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C(n,2) = n × (n−1) /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37433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n = 23: 23 × 22 / 2 = 253 pairs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6025" y="1995487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496050" y="1995487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6964" y="20955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6050" y="2376488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pairs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6025" y="2833688"/>
            <a:ext cx="19050" cy="990600"/>
          </a:xfrm>
          <a:custGeom>
            <a:avLst/>
            <a:gdLst/>
            <a:ahLst/>
            <a:cxnLst/>
            <a:rect l="l" t="t" r="r" b="b"/>
            <a:pathLst>
              <a:path w="19050" h="990600">
                <a:moveTo>
                  <a:pt x="0" y="0"/>
                </a:moveTo>
                <a:lnTo>
                  <a:pt x="19050" y="0"/>
                </a:lnTo>
                <a:lnTo>
                  <a:pt x="190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050" y="2833688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1888" y="2943225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6050" y="3252788"/>
            <a:ext cx="5457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pairs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6050" y="3633788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than half the days in a year!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96025" y="3976687"/>
            <a:ext cx="19050" cy="685800"/>
          </a:xfrm>
          <a:custGeom>
            <a:avLst/>
            <a:gdLst/>
            <a:ahLst/>
            <a:cxnLst/>
            <a:rect l="l" t="t" r="r" b="b"/>
            <a:pathLst>
              <a:path w="19050" h="685800">
                <a:moveTo>
                  <a:pt x="0" y="0"/>
                </a:moveTo>
                <a:lnTo>
                  <a:pt x="19050" y="0"/>
                </a:lnTo>
                <a:lnTo>
                  <a:pt x="190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6050" y="3976687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7268" y="40767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6050" y="4357688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1,225 pairs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49720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390525" y="52530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628650" y="5205413"/>
            <a:ext cx="11258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crucial 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While the probability for any single pair is low (1/365 ≈ 0.27%), having 253 chances makes a match likely. This is why combinations grow quadratically (n²), not linearly.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5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4405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Our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Intuition Fails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psychological traps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71645" y="2476500"/>
            <a:ext cx="32956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Bias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Self-Reference Trap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019300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naturally think about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"someone sharing MY birthday"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"any two people sharing a birthday."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subtle shift in perspective completely changes the mathematics.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3028950"/>
            <a:ext cx="5524500" cy="19050"/>
          </a:xfrm>
          <a:custGeom>
            <a:avLst/>
            <a:gdLst/>
            <a:ahLst/>
            <a:cxn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267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A: Matching YOUR Birthday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609975"/>
            <a:ext cx="575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people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" y="4143375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needed for 50% probability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45243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person has a 1/365 chance of matching your specific birthday.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488632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what our intuition expects—and it feels right.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0" y="3028950"/>
            <a:ext cx="5524500" cy="19050"/>
          </a:xfrm>
          <a:custGeom>
            <a:avLst/>
            <a:gdLst/>
            <a:ahLst/>
            <a:cxnLst/>
            <a:rect l="l" t="t" r="r" b="b"/>
            <a:pathLst>
              <a:path w="5524500" h="19050">
                <a:moveTo>
                  <a:pt x="0" y="0"/>
                </a:moveTo>
                <a:lnTo>
                  <a:pt x="5524500" y="0"/>
                </a:lnTo>
                <a:lnTo>
                  <a:pt x="55245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0" y="3267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B: Any Two People Match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6500" y="3609975"/>
            <a:ext cx="575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6500" y="4143375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needed for 50% probability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86500" y="45243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23 people, there are 253 unique pairs, each a potential match.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0" y="488632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the actual birthday paradox—and it feels wrong.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psychological trap: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We're wired to think about ourselves as the reference point, not the entire group's pairwise combinations.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Limitation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Exponential Growth vs. Linear Thinking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962150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brains struggle with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exponential growth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expect probabilities to scale linearly, but combinations grow quadratically (n²).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886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We Think (Linear)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228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people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47800" y="33051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3305175"/>
            <a:ext cx="895350" cy="76200"/>
          </a:xfrm>
          <a:custGeom>
            <a:avLst/>
            <a:gdLst/>
            <a:ahLst/>
            <a:cxnLst/>
            <a:rect l="l" t="t" r="r" b="b"/>
            <a:pathLst>
              <a:path w="895350" h="76200">
                <a:moveTo>
                  <a:pt x="0" y="0"/>
                </a:moveTo>
                <a:lnTo>
                  <a:pt x="895350" y="0"/>
                </a:lnTo>
                <a:lnTo>
                  <a:pt x="8953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9" name="Text 7"/>
          <p:cNvSpPr/>
          <p:nvPr/>
        </p:nvSpPr>
        <p:spPr>
          <a:xfrm>
            <a:off x="381000" y="35718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people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47800" y="36480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3648075"/>
            <a:ext cx="1781175" cy="76200"/>
          </a:xfrm>
          <a:custGeom>
            <a:avLst/>
            <a:gdLst/>
            <a:ahLst/>
            <a:cxnLst/>
            <a:rect l="l" t="t" r="r" b="b"/>
            <a:pathLst>
              <a:path w="1781175" h="76200">
                <a:moveTo>
                  <a:pt x="0" y="0"/>
                </a:moveTo>
                <a:lnTo>
                  <a:pt x="1781175" y="0"/>
                </a:lnTo>
                <a:lnTo>
                  <a:pt x="17811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2" name="Text 10"/>
          <p:cNvSpPr/>
          <p:nvPr/>
        </p:nvSpPr>
        <p:spPr>
          <a:xfrm>
            <a:off x="381000" y="39147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people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47800" y="3990975"/>
            <a:ext cx="4457700" cy="76200"/>
          </a:xfrm>
          <a:custGeom>
            <a:avLst/>
            <a:gdLst/>
            <a:ahLst/>
            <a:cxnLst/>
            <a:rect l="l" t="t" r="r" b="b"/>
            <a:pathLst>
              <a:path w="4457700" h="76200">
                <a:moveTo>
                  <a:pt x="0" y="0"/>
                </a:moveTo>
                <a:lnTo>
                  <a:pt x="4457700" y="0"/>
                </a:lnTo>
                <a:lnTo>
                  <a:pt x="4457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3990975"/>
            <a:ext cx="2676525" cy="76200"/>
          </a:xfrm>
          <a:custGeom>
            <a:avLst/>
            <a:gdLst/>
            <a:ahLst/>
            <a:cxnLst/>
            <a:rect l="l" t="t" r="r" b="b"/>
            <a:pathLst>
              <a:path w="2676525" h="76200">
                <a:moveTo>
                  <a:pt x="0" y="0"/>
                </a:moveTo>
                <a:lnTo>
                  <a:pt x="2676525" y="0"/>
                </a:lnTo>
                <a:lnTo>
                  <a:pt x="267652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5" name="Text 13"/>
          <p:cNvSpPr/>
          <p:nvPr/>
        </p:nvSpPr>
        <p:spPr>
          <a:xfrm>
            <a:off x="381000" y="42957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intuition expects probability to increase proportionally with group size.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500" y="2886075"/>
            <a:ext cx="559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Actually Works (Quadratic)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86500" y="3228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people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3300" y="33051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3300" y="3305175"/>
            <a:ext cx="447675" cy="76200"/>
          </a:xfrm>
          <a:custGeom>
            <a:avLst/>
            <a:gdLst/>
            <a:ahLst/>
            <a:cxnLst/>
            <a:rect l="l" t="t" r="r" b="b"/>
            <a:pathLst>
              <a:path w="447675" h="76200">
                <a:moveTo>
                  <a:pt x="0" y="0"/>
                </a:moveTo>
                <a:lnTo>
                  <a:pt x="447675" y="0"/>
                </a:lnTo>
                <a:lnTo>
                  <a:pt x="4476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0" name="Text 18"/>
          <p:cNvSpPr/>
          <p:nvPr/>
        </p:nvSpPr>
        <p:spPr>
          <a:xfrm>
            <a:off x="11201400" y="32480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pairs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500" y="35718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53300" y="36480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3300" y="3648075"/>
            <a:ext cx="1847850" cy="76200"/>
          </a:xfrm>
          <a:custGeom>
            <a:avLst/>
            <a:gdLst/>
            <a:ahLst/>
            <a:cxnLst/>
            <a:rect l="l" t="t" r="r" b="b"/>
            <a:pathLst>
              <a:path w="1847850" h="76200">
                <a:moveTo>
                  <a:pt x="0" y="0"/>
                </a:moveTo>
                <a:lnTo>
                  <a:pt x="1847850" y="0"/>
                </a:lnTo>
                <a:lnTo>
                  <a:pt x="1847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11201400" y="35909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253 pairs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6500" y="39909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 people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53300" y="4067175"/>
            <a:ext cx="3695700" cy="76200"/>
          </a:xfrm>
          <a:custGeom>
            <a:avLst/>
            <a:gdLst/>
            <a:ahLst/>
            <a:cxnLst/>
            <a:rect l="l" t="t" r="r" b="b"/>
            <a:pathLst>
              <a:path w="3695700" h="76200">
                <a:moveTo>
                  <a:pt x="0" y="0"/>
                </a:moveTo>
                <a:lnTo>
                  <a:pt x="3695700" y="0"/>
                </a:lnTo>
                <a:lnTo>
                  <a:pt x="3695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7" name="Shape 25"/>
          <p:cNvSpPr/>
          <p:nvPr/>
        </p:nvSpPr>
        <p:spPr>
          <a:xfrm>
            <a:off x="7353300" y="4067175"/>
            <a:ext cx="3581400" cy="76200"/>
          </a:xfrm>
          <a:custGeom>
            <a:avLst/>
            <a:gdLst/>
            <a:ahLst/>
            <a:cxnLst/>
            <a:rect l="l" t="t" r="r" b="b"/>
            <a:pathLst>
              <a:path w="3581400" h="76200">
                <a:moveTo>
                  <a:pt x="0" y="0"/>
                </a:moveTo>
                <a:lnTo>
                  <a:pt x="3581400" y="0"/>
                </a:lnTo>
                <a:lnTo>
                  <a:pt x="3581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11201400" y="3914775"/>
            <a:ext cx="676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1,225 pairs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86500" y="4448175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number of pairs explodes quadratically, making matches inevitable.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00538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00050" y="5286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2" name="Text 30"/>
          <p:cNvSpPr/>
          <p:nvPr/>
        </p:nvSpPr>
        <p:spPr>
          <a:xfrm>
            <a:off x="628650" y="5238750"/>
            <a:ext cx="11258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compounding effect: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new person doesn't just add one comparison—they add comparisons with everyone already in the room. This is why the probability curve rises so steeply.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850752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2174602"/>
            <a:ext cx="916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593702"/>
            <a:ext cx="9553575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4635773"/>
            <a:ext cx="5600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the birthday paradox matters in practice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73505" y="2476500"/>
            <a:ext cx="3286125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5000" dirty="0">
                <a:solidFill>
                  <a:srgbClr val="E5E5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Cryptography: The Birthday Attack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849041"/>
            <a:ext cx="5610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birthday paradox isn't just a mathematical curiosity—it has serious implications for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security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596753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functions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used to verify data integrity. Finding two inputs that produce the same hash (a collision) follows the same mathematics as the birthday paradox.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244453"/>
            <a:ext cx="5600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vulnerability is exploited in "birthday attacks" to forge digital signatures and compromise security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96025" y="18490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6496050" y="18490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MD5 (128-bit)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6050" y="21157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2^64 attempts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6050" y="24586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96025" y="28015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6050" y="28015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SHA-1 (160-bit)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6050" y="30682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2^80 attempts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6050" y="34111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96025" y="3754041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0" y="0"/>
                </a:moveTo>
                <a:lnTo>
                  <a:pt x="19050" y="0"/>
                </a:lnTo>
                <a:lnTo>
                  <a:pt x="1905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6050" y="37540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SHA-256 (256-bit)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6050" y="4020741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2^128 attempts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6050" y="436364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50% collision chance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78750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381000" y="5020866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21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36376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57150" y="38100"/>
                </a:moveTo>
                <a:cubicBezTo>
                  <a:pt x="57150" y="32831"/>
                  <a:pt x="61406" y="28575"/>
                  <a:pt x="66675" y="28575"/>
                </a:cubicBezTo>
                <a:cubicBezTo>
                  <a:pt x="71944" y="28575"/>
                  <a:pt x="76200" y="32831"/>
                  <a:pt x="76200" y="38100"/>
                </a:cubicBezTo>
                <a:lnTo>
                  <a:pt x="76200" y="40422"/>
                </a:lnTo>
                <a:cubicBezTo>
                  <a:pt x="76200" y="48667"/>
                  <a:pt x="75486" y="56882"/>
                  <a:pt x="74087" y="64978"/>
                </a:cubicBezTo>
                <a:lnTo>
                  <a:pt x="48964" y="72509"/>
                </a:lnTo>
                <a:cubicBezTo>
                  <a:pt x="36880" y="76140"/>
                  <a:pt x="28605" y="87273"/>
                  <a:pt x="28605" y="99893"/>
                </a:cubicBezTo>
                <a:lnTo>
                  <a:pt x="28605" y="109537"/>
                </a:lnTo>
                <a:lnTo>
                  <a:pt x="7174" y="109537"/>
                </a:lnTo>
                <a:cubicBezTo>
                  <a:pt x="3215" y="109537"/>
                  <a:pt x="30" y="112722"/>
                  <a:pt x="30" y="116681"/>
                </a:cubicBezTo>
                <a:cubicBezTo>
                  <a:pt x="30" y="120640"/>
                  <a:pt x="3215" y="123825"/>
                  <a:pt x="7174" y="123825"/>
                </a:cubicBezTo>
                <a:lnTo>
                  <a:pt x="28754" y="123825"/>
                </a:lnTo>
                <a:cubicBezTo>
                  <a:pt x="30004" y="134541"/>
                  <a:pt x="39112" y="142875"/>
                  <a:pt x="50185" y="142875"/>
                </a:cubicBezTo>
                <a:cubicBezTo>
                  <a:pt x="57924" y="142875"/>
                  <a:pt x="65068" y="138738"/>
                  <a:pt x="68907" y="132011"/>
                </a:cubicBezTo>
                <a:lnTo>
                  <a:pt x="73045" y="124777"/>
                </a:lnTo>
                <a:cubicBezTo>
                  <a:pt x="81022" y="110788"/>
                  <a:pt x="86886" y="95696"/>
                  <a:pt x="90428" y="79980"/>
                </a:cubicBezTo>
                <a:lnTo>
                  <a:pt x="118527" y="71557"/>
                </a:lnTo>
                <a:lnTo>
                  <a:pt x="114806" y="82719"/>
                </a:lnTo>
                <a:cubicBezTo>
                  <a:pt x="113824" y="85636"/>
                  <a:pt x="114330" y="88821"/>
                  <a:pt x="116116" y="91291"/>
                </a:cubicBezTo>
                <a:cubicBezTo>
                  <a:pt x="117902" y="93762"/>
                  <a:pt x="120759" y="95250"/>
                  <a:pt x="123825" y="95250"/>
                </a:cubicBezTo>
                <a:lnTo>
                  <a:pt x="161925" y="95250"/>
                </a:lnTo>
                <a:cubicBezTo>
                  <a:pt x="167194" y="95250"/>
                  <a:pt x="171450" y="90994"/>
                  <a:pt x="171450" y="85725"/>
                </a:cubicBezTo>
                <a:cubicBezTo>
                  <a:pt x="171450" y="80456"/>
                  <a:pt x="167194" y="76200"/>
                  <a:pt x="161925" y="76200"/>
                </a:cubicBezTo>
                <a:lnTo>
                  <a:pt x="137041" y="76200"/>
                </a:lnTo>
                <a:lnTo>
                  <a:pt x="142399" y="60156"/>
                </a:lnTo>
                <a:cubicBezTo>
                  <a:pt x="143530" y="56793"/>
                  <a:pt x="142667" y="53072"/>
                  <a:pt x="140196" y="50512"/>
                </a:cubicBezTo>
                <a:cubicBezTo>
                  <a:pt x="137726" y="47952"/>
                  <a:pt x="134035" y="47000"/>
                  <a:pt x="130612" y="48012"/>
                </a:cubicBezTo>
                <a:lnTo>
                  <a:pt x="94178" y="58966"/>
                </a:lnTo>
                <a:cubicBezTo>
                  <a:pt x="94893" y="52804"/>
                  <a:pt x="95250" y="46643"/>
                  <a:pt x="95250" y="40422"/>
                </a:cubicBezTo>
                <a:lnTo>
                  <a:pt x="95250" y="38100"/>
                </a:lnTo>
                <a:cubicBezTo>
                  <a:pt x="95250" y="22324"/>
                  <a:pt x="82451" y="9525"/>
                  <a:pt x="66675" y="9525"/>
                </a:cubicBezTo>
                <a:cubicBezTo>
                  <a:pt x="50899" y="9525"/>
                  <a:pt x="38100" y="22324"/>
                  <a:pt x="38100" y="38100"/>
                </a:cubicBezTo>
                <a:lnTo>
                  <a:pt x="38100" y="47625"/>
                </a:lnTo>
                <a:cubicBezTo>
                  <a:pt x="38100" y="52894"/>
                  <a:pt x="42356" y="57150"/>
                  <a:pt x="47625" y="57150"/>
                </a:cubicBezTo>
                <a:cubicBezTo>
                  <a:pt x="52894" y="57150"/>
                  <a:pt x="57150" y="52894"/>
                  <a:pt x="57150" y="47625"/>
                </a:cubicBezTo>
                <a:lnTo>
                  <a:pt x="57150" y="38100"/>
                </a:lnTo>
                <a:close/>
                <a:moveTo>
                  <a:pt x="54412" y="90785"/>
                </a:moveTo>
                <a:lnTo>
                  <a:pt x="68997" y="86410"/>
                </a:lnTo>
                <a:cubicBezTo>
                  <a:pt x="65901" y="96470"/>
                  <a:pt x="61704" y="106174"/>
                  <a:pt x="56465" y="115342"/>
                </a:cubicBezTo>
                <a:lnTo>
                  <a:pt x="52328" y="122575"/>
                </a:lnTo>
                <a:cubicBezTo>
                  <a:pt x="51881" y="123349"/>
                  <a:pt x="51048" y="123855"/>
                  <a:pt x="50125" y="123855"/>
                </a:cubicBezTo>
                <a:cubicBezTo>
                  <a:pt x="48726" y="123855"/>
                  <a:pt x="47595" y="122724"/>
                  <a:pt x="47595" y="121325"/>
                </a:cubicBezTo>
                <a:lnTo>
                  <a:pt x="47595" y="99923"/>
                </a:lnTo>
                <a:cubicBezTo>
                  <a:pt x="47595" y="95726"/>
                  <a:pt x="50363" y="92006"/>
                  <a:pt x="54382" y="90785"/>
                </a:cubicBezTo>
                <a:close/>
                <a:moveTo>
                  <a:pt x="183356" y="123825"/>
                </a:moveTo>
                <a:cubicBezTo>
                  <a:pt x="187315" y="123825"/>
                  <a:pt x="190500" y="120640"/>
                  <a:pt x="190500" y="116681"/>
                </a:cubicBezTo>
                <a:cubicBezTo>
                  <a:pt x="190500" y="112722"/>
                  <a:pt x="187315" y="109537"/>
                  <a:pt x="183356" y="109537"/>
                </a:cubicBezTo>
                <a:lnTo>
                  <a:pt x="96173" y="109537"/>
                </a:lnTo>
                <a:cubicBezTo>
                  <a:pt x="94238" y="114389"/>
                  <a:pt x="92095" y="119152"/>
                  <a:pt x="89743" y="123825"/>
                </a:cubicBezTo>
                <a:lnTo>
                  <a:pt x="183356" y="12382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6286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Signatures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Attackers can forge signatures by finding colliding documents.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86250" y="53637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45148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672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Malicious data can be substituted without detection.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2450" y="53637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6"/>
          <p:cNvSpPr/>
          <p:nvPr/>
        </p:nvSpPr>
        <p:spPr>
          <a:xfrm>
            <a:off x="8401050" y="532566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Design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53400" y="5630466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Hash functions need twice the expected bit length for security.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270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Broader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Practical Applications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20812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-14287"/>
                </a:moveTo>
                <a:cubicBezTo>
                  <a:pt x="122203" y="-14287"/>
                  <a:pt x="128588" y="-7903"/>
                  <a:pt x="128588" y="0"/>
                </a:cubicBezTo>
                <a:lnTo>
                  <a:pt x="128588" y="893"/>
                </a:lnTo>
                <a:cubicBezTo>
                  <a:pt x="184978" y="7903"/>
                  <a:pt x="228600" y="56034"/>
                  <a:pt x="228600" y="114300"/>
                </a:cubicBezTo>
                <a:cubicBezTo>
                  <a:pt x="228600" y="115997"/>
                  <a:pt x="228555" y="117649"/>
                  <a:pt x="228511" y="119345"/>
                </a:cubicBezTo>
                <a:cubicBezTo>
                  <a:pt x="228377" y="122426"/>
                  <a:pt x="226278" y="125060"/>
                  <a:pt x="223287" y="125909"/>
                </a:cubicBezTo>
                <a:cubicBezTo>
                  <a:pt x="220295" y="126757"/>
                  <a:pt x="217125" y="125596"/>
                  <a:pt x="215429" y="123006"/>
                </a:cubicBezTo>
                <a:cubicBezTo>
                  <a:pt x="208999" y="113452"/>
                  <a:pt x="198105" y="107156"/>
                  <a:pt x="185738" y="107156"/>
                </a:cubicBezTo>
                <a:cubicBezTo>
                  <a:pt x="172656" y="107156"/>
                  <a:pt x="161226" y="114166"/>
                  <a:pt x="154975" y="124703"/>
                </a:cubicBezTo>
                <a:cubicBezTo>
                  <a:pt x="153769" y="126757"/>
                  <a:pt x="151581" y="128096"/>
                  <a:pt x="149170" y="128186"/>
                </a:cubicBezTo>
                <a:cubicBezTo>
                  <a:pt x="146759" y="128275"/>
                  <a:pt x="144482" y="127203"/>
                  <a:pt x="143054" y="125284"/>
                </a:cubicBezTo>
                <a:cubicBezTo>
                  <a:pt x="136535" y="116443"/>
                  <a:pt x="126087" y="110728"/>
                  <a:pt x="114255" y="110728"/>
                </a:cubicBezTo>
                <a:cubicBezTo>
                  <a:pt x="102424" y="110728"/>
                  <a:pt x="91976" y="116443"/>
                  <a:pt x="85457" y="125284"/>
                </a:cubicBezTo>
                <a:cubicBezTo>
                  <a:pt x="84028" y="127203"/>
                  <a:pt x="81751" y="128320"/>
                  <a:pt x="79340" y="128186"/>
                </a:cubicBezTo>
                <a:cubicBezTo>
                  <a:pt x="76929" y="128052"/>
                  <a:pt x="74786" y="126757"/>
                  <a:pt x="73536" y="124703"/>
                </a:cubicBezTo>
                <a:cubicBezTo>
                  <a:pt x="67285" y="114166"/>
                  <a:pt x="55855" y="107156"/>
                  <a:pt x="42773" y="107156"/>
                </a:cubicBezTo>
                <a:cubicBezTo>
                  <a:pt x="30406" y="107156"/>
                  <a:pt x="19511" y="113452"/>
                  <a:pt x="13082" y="123006"/>
                </a:cubicBezTo>
                <a:cubicBezTo>
                  <a:pt x="11341" y="125551"/>
                  <a:pt x="8171" y="126757"/>
                  <a:pt x="5224" y="125909"/>
                </a:cubicBezTo>
                <a:cubicBezTo>
                  <a:pt x="2277" y="125060"/>
                  <a:pt x="223" y="122426"/>
                  <a:pt x="89" y="119345"/>
                </a:cubicBezTo>
                <a:cubicBezTo>
                  <a:pt x="45" y="117649"/>
                  <a:pt x="0" y="115997"/>
                  <a:pt x="0" y="114300"/>
                </a:cubicBezTo>
                <a:cubicBezTo>
                  <a:pt x="0" y="56034"/>
                  <a:pt x="43622" y="7903"/>
                  <a:pt x="100013" y="893"/>
                </a:cubicBezTo>
                <a:lnTo>
                  <a:pt x="100013" y="0"/>
                </a:lnTo>
                <a:cubicBezTo>
                  <a:pt x="100013" y="-7903"/>
                  <a:pt x="106397" y="-14287"/>
                  <a:pt x="114300" y="-14287"/>
                </a:cubicBezTo>
                <a:close/>
                <a:moveTo>
                  <a:pt x="128588" y="146447"/>
                </a:moveTo>
                <a:lnTo>
                  <a:pt x="128588" y="192256"/>
                </a:lnTo>
                <a:cubicBezTo>
                  <a:pt x="128588" y="212348"/>
                  <a:pt x="112291" y="228600"/>
                  <a:pt x="92244" y="228600"/>
                </a:cubicBezTo>
                <a:cubicBezTo>
                  <a:pt x="78492" y="228600"/>
                  <a:pt x="65901" y="220831"/>
                  <a:pt x="59740" y="208508"/>
                </a:cubicBezTo>
                <a:lnTo>
                  <a:pt x="58713" y="206410"/>
                </a:lnTo>
                <a:cubicBezTo>
                  <a:pt x="55185" y="199355"/>
                  <a:pt x="58043" y="190783"/>
                  <a:pt x="65097" y="187256"/>
                </a:cubicBezTo>
                <a:cubicBezTo>
                  <a:pt x="72152" y="183728"/>
                  <a:pt x="80724" y="186586"/>
                  <a:pt x="84252" y="193640"/>
                </a:cubicBezTo>
                <a:lnTo>
                  <a:pt x="85279" y="195739"/>
                </a:lnTo>
                <a:cubicBezTo>
                  <a:pt x="86618" y="198373"/>
                  <a:pt x="89297" y="200025"/>
                  <a:pt x="92244" y="200025"/>
                </a:cubicBezTo>
                <a:cubicBezTo>
                  <a:pt x="96530" y="200025"/>
                  <a:pt x="100013" y="196542"/>
                  <a:pt x="100013" y="192256"/>
                </a:cubicBezTo>
                <a:lnTo>
                  <a:pt x="100013" y="146447"/>
                </a:lnTo>
                <a:cubicBezTo>
                  <a:pt x="100013" y="138544"/>
                  <a:pt x="106397" y="132159"/>
                  <a:pt x="114300" y="132159"/>
                </a:cubicBezTo>
                <a:cubicBezTo>
                  <a:pt x="122203" y="132159"/>
                  <a:pt x="128588" y="138544"/>
                  <a:pt x="128588" y="14644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&amp; Risk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Actuaries use similar probability models to assess risk pools and calculate premiums for group policies.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2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9" name="Shape 7"/>
          <p:cNvSpPr/>
          <p:nvPr/>
        </p:nvSpPr>
        <p:spPr>
          <a:xfrm>
            <a:off x="4324350" y="208121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42672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Coincidences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672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Helps explain why seemingly improbable coincidences happen more often than we expect in daily life.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3400" y="1885950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1975" y="208121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185738" y="82153"/>
                </a:moveTo>
                <a:lnTo>
                  <a:pt x="185738" y="146447"/>
                </a:lnTo>
                <a:cubicBezTo>
                  <a:pt x="185738" y="152385"/>
                  <a:pt x="180960" y="157163"/>
                  <a:pt x="175022" y="157163"/>
                </a:cubicBezTo>
                <a:cubicBezTo>
                  <a:pt x="171852" y="157163"/>
                  <a:pt x="168994" y="155778"/>
                  <a:pt x="167030" y="153591"/>
                </a:cubicBezTo>
                <a:cubicBezTo>
                  <a:pt x="162476" y="155868"/>
                  <a:pt x="157296" y="157163"/>
                  <a:pt x="151805" y="157163"/>
                </a:cubicBezTo>
                <a:cubicBezTo>
                  <a:pt x="133052" y="157163"/>
                  <a:pt x="117872" y="141982"/>
                  <a:pt x="117872" y="123230"/>
                </a:cubicBezTo>
                <a:cubicBezTo>
                  <a:pt x="117872" y="104477"/>
                  <a:pt x="133052" y="89297"/>
                  <a:pt x="151805" y="89297"/>
                </a:cubicBezTo>
                <a:cubicBezTo>
                  <a:pt x="156225" y="89297"/>
                  <a:pt x="160422" y="90145"/>
                  <a:pt x="164306" y="91663"/>
                </a:cubicBezTo>
                <a:lnTo>
                  <a:pt x="164306" y="82153"/>
                </a:lnTo>
                <a:cubicBezTo>
                  <a:pt x="164306" y="76215"/>
                  <a:pt x="169084" y="71438"/>
                  <a:pt x="175022" y="71438"/>
                </a:cubicBezTo>
                <a:cubicBezTo>
                  <a:pt x="180960" y="71438"/>
                  <a:pt x="185738" y="76215"/>
                  <a:pt x="185738" y="82153"/>
                </a:cubicBezTo>
                <a:close/>
                <a:moveTo>
                  <a:pt x="164306" y="123230"/>
                </a:moveTo>
                <a:cubicBezTo>
                  <a:pt x="164306" y="116330"/>
                  <a:pt x="158704" y="110728"/>
                  <a:pt x="151805" y="110728"/>
                </a:cubicBezTo>
                <a:cubicBezTo>
                  <a:pt x="144905" y="110728"/>
                  <a:pt x="139303" y="116330"/>
                  <a:pt x="139303" y="123230"/>
                </a:cubicBezTo>
                <a:cubicBezTo>
                  <a:pt x="139303" y="130129"/>
                  <a:pt x="144905" y="135731"/>
                  <a:pt x="151805" y="135731"/>
                </a:cubicBezTo>
                <a:cubicBezTo>
                  <a:pt x="158704" y="135731"/>
                  <a:pt x="164306" y="130129"/>
                  <a:pt x="164306" y="123230"/>
                </a:cubicBezTo>
                <a:close/>
                <a:moveTo>
                  <a:pt x="71438" y="92869"/>
                </a:moveTo>
                <a:cubicBezTo>
                  <a:pt x="67508" y="92869"/>
                  <a:pt x="64294" y="96083"/>
                  <a:pt x="64294" y="100013"/>
                </a:cubicBezTo>
                <a:lnTo>
                  <a:pt x="64294" y="114300"/>
                </a:lnTo>
                <a:lnTo>
                  <a:pt x="85725" y="114300"/>
                </a:lnTo>
                <a:lnTo>
                  <a:pt x="85725" y="100013"/>
                </a:lnTo>
                <a:cubicBezTo>
                  <a:pt x="85725" y="96083"/>
                  <a:pt x="82510" y="92869"/>
                  <a:pt x="78581" y="92869"/>
                </a:cubicBezTo>
                <a:lnTo>
                  <a:pt x="71438" y="92869"/>
                </a:lnTo>
                <a:close/>
                <a:moveTo>
                  <a:pt x="85725" y="135731"/>
                </a:moveTo>
                <a:lnTo>
                  <a:pt x="64294" y="135731"/>
                </a:lnTo>
                <a:lnTo>
                  <a:pt x="64294" y="146447"/>
                </a:lnTo>
                <a:cubicBezTo>
                  <a:pt x="64294" y="152385"/>
                  <a:pt x="59516" y="157163"/>
                  <a:pt x="53578" y="157163"/>
                </a:cubicBezTo>
                <a:cubicBezTo>
                  <a:pt x="47640" y="157163"/>
                  <a:pt x="42863" y="152385"/>
                  <a:pt x="42863" y="146447"/>
                </a:cubicBezTo>
                <a:lnTo>
                  <a:pt x="42863" y="100013"/>
                </a:lnTo>
                <a:cubicBezTo>
                  <a:pt x="42863" y="84252"/>
                  <a:pt x="55677" y="71438"/>
                  <a:pt x="71438" y="71438"/>
                </a:cubicBezTo>
                <a:lnTo>
                  <a:pt x="78581" y="71438"/>
                </a:lnTo>
                <a:cubicBezTo>
                  <a:pt x="94342" y="71438"/>
                  <a:pt x="107156" y="84252"/>
                  <a:pt x="107156" y="100013"/>
                </a:cubicBezTo>
                <a:lnTo>
                  <a:pt x="107156" y="146447"/>
                </a:lnTo>
                <a:cubicBezTo>
                  <a:pt x="107156" y="152385"/>
                  <a:pt x="102379" y="157163"/>
                  <a:pt x="96441" y="157163"/>
                </a:cubicBezTo>
                <a:cubicBezTo>
                  <a:pt x="90502" y="157163"/>
                  <a:pt x="85725" y="152385"/>
                  <a:pt x="85725" y="146447"/>
                </a:cubicBezTo>
                <a:lnTo>
                  <a:pt x="85725" y="13573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8153400" y="2424113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3400" y="2843213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to analyze audience overlap and optimize ad targeting across different platforms and campaigns.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381000" y="37671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3810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Networks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" y="4529138"/>
            <a:ext cx="3733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Powers friend suggestion algorithms by calculating the probability of shared connections in large networks.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72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1" name="Shape 19"/>
          <p:cNvSpPr/>
          <p:nvPr/>
        </p:nvSpPr>
        <p:spPr>
          <a:xfrm>
            <a:off x="4324350" y="37671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2" name="Text 20"/>
          <p:cNvSpPr/>
          <p:nvPr/>
        </p:nvSpPr>
        <p:spPr>
          <a:xfrm>
            <a:off x="42672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DNA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67200" y="4529138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in forensic science to calculate the probability of DNA profile matches in large databases.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3400" y="3571875"/>
            <a:ext cx="3657600" cy="9525"/>
          </a:xfrm>
          <a:custGeom>
            <a:avLst/>
            <a:gdLst/>
            <a:ahLst/>
            <a:cxnLst/>
            <a:rect l="l" t="t" r="r" b="b"/>
            <a:pathLst>
              <a:path w="3657600" h="9525">
                <a:moveTo>
                  <a:pt x="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1975" y="3767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4"/>
          <p:cNvSpPr/>
          <p:nvPr/>
        </p:nvSpPr>
        <p:spPr>
          <a:xfrm>
            <a:off x="8153400" y="4110038"/>
            <a:ext cx="3752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Sampling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53400" y="4529138"/>
            <a:ext cx="3733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Informs the design of statistical sampling methods and quality control processes in manufacturing.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6286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principle: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mathematics of the birthday paradox appears wherever we need to understand collision probabilities in large sets.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62865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315" kern="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715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27146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138" y="2709863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09863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Surprising Number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52763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 people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needed for a 50.7% chance of a shared birthday—far fewer than intuition suggests.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9363" y="27146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738" y="2709863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709863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Culprit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052763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paradox arises from counting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possible pairs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(253 with 23 people), not just comparing to one person.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7814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138" y="3776662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76662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Intuition's Blind Spot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119562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brains think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but combinations grow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quadratically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underestimate exponential growth.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9363" y="3781425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0" y="0"/>
                </a:moveTo>
                <a:lnTo>
                  <a:pt x="371475" y="0"/>
                </a:lnTo>
                <a:lnTo>
                  <a:pt x="371475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738" y="3776662"/>
            <a:ext cx="4476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3776662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4119562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mathematics underlies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birthday attacks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cryptography, affecting digital security worldwide.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634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</p:sp>
      <p:sp>
        <p:nvSpPr>
          <p:cNvPr id="22" name="Text 20"/>
          <p:cNvSpPr/>
          <p:nvPr/>
        </p:nvSpPr>
        <p:spPr>
          <a:xfrm>
            <a:off x="381000" y="5867400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birthday paradox reminds us that intuition is a poor guide to probability."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1000" y="6248400"/>
            <a:ext cx="773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A lesson in mathematical thinking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64279" y="59817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Birthday Paradox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73804" y="6210300"/>
            <a:ext cx="1733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 Theory &amp; Applications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Birthday Paradox</dc:title>
  <dc:subject>The Birthday Paradox</dc:subject>
  <dc:creator>Kimi</dc:creator>
  <cp:lastModifiedBy>Kimi</cp:lastModifiedBy>
  <cp:revision>1</cp:revision>
  <dcterms:created xsi:type="dcterms:W3CDTF">2026-03-18T07:50:35Z</dcterms:created>
  <dcterms:modified xsi:type="dcterms:W3CDTF">2026-03-18T07:50:35Z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Birthday Paradox","ContentProducer":"001191110108MACG2KBH8F10000","ProduceID":"19cffea4-4fe2-8fa2-8000-0000145c2f53","ReservedCode1":"","ContentPropagator":"001191110108MACG2KBH8F20000","PropagateID":"19cffea4-4fe2-8fa2-8000-0000145c2f53","ReservedCode2":""}</vt:lpwstr>
  </property>
</Properties>
</file>