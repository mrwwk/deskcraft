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0-1.jpg" ContentType="image/jpg"/>
  <Override PartName="/ppt/media/image-11-1.jpg" ContentType="image/jpg"/>
  <Override PartName="/ppt/media/image-11-2.jpg" ContentType="image/jpg"/>
  <Override PartName="/ppt/media/image-11-3.webp" ContentType="image/webp"/>
  <Override PartName="/ppt/media/image-11-4.jpg" ContentType="image/jpg"/>
  <Override PartName="/ppt/media/image-12-1.jpg" ContentType="image/jpg"/>
  <Override PartName="/ppt/media/image-14-1.jpg" ContentType="image/jpg"/>
  <Override PartName="/ppt/media/image-16-1.jpg" ContentType="image/jpg"/>
  <Override PartName="/ppt/media/image-1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webp"/><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wikimedia.org/2a76e887bbbc41542f357db36c5477fb94cd15f0.jpg">    </p:cNvPr>
          <p:cNvPicPr>
            <a:picLocks noChangeAspect="1"/>
          </p:cNvPicPr>
          <p:nvPr/>
        </p:nvPicPr>
        <p:blipFill>
          <a:blip r:embed="rId1">
            <a:alphaModFix amt="40000"/>
          </a:blip>
          <a:srcRect l="0" r="0" t="14497" b="1449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alpha val="80000"/>
                </a:srgbClr>
              </a:gs>
              <a:gs pos="50000">
                <a:srgbClr val="111111">
                  <a:alpha val="60000"/>
                </a:srgbClr>
              </a:gs>
              <a:gs pos="100000">
                <a:srgbClr val="000000">
                  <a:alpha val="0"/>
                </a:srgbClr>
              </a:gs>
            </a:gsLst>
            <a:lin ang="2700000" scaled="1"/>
          </a:gradFill>
          <a:ln/>
        </p:spPr>
      </p:sp>
      <p:sp>
        <p:nvSpPr>
          <p:cNvPr id="4" name="Shape 1"/>
          <p:cNvSpPr/>
          <p:nvPr/>
        </p:nvSpPr>
        <p:spPr>
          <a:xfrm>
            <a:off x="385763" y="763935"/>
            <a:ext cx="2819400" cy="390525"/>
          </a:xfrm>
          <a:custGeom>
            <a:avLst/>
            <a:gdLst/>
            <a:ahLst/>
            <a:cxn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581025" y="844897"/>
            <a:ext cx="2505075" cy="228600"/>
          </a:xfrm>
          <a:prstGeom prst="rect">
            <a:avLst/>
          </a:prstGeom>
          <a:noFill/>
          <a:ln/>
        </p:spPr>
        <p:txBody>
          <a:bodyPr wrap="square" lIns="0" tIns="0" rIns="0" bIns="0" rtlCol="0" anchor="ctr"/>
          <a:lstStyle/>
          <a:p>
            <a:pPr>
              <a:lnSpc>
                <a:spcPct val="130000"/>
              </a:lnSpc>
            </a:pPr>
            <a:r>
              <a:rPr lang="en-US" sz="1200" b="1" spc="360" kern="0" dirty="0">
                <a:solidFill>
                  <a:srgbClr val="C9A36A"/>
                </a:solidFill>
                <a:latin typeface="Quattrocento Sans" pitchFamily="34" charset="0"/>
                <a:ea typeface="Quattrocento Sans" pitchFamily="34" charset="-122"/>
                <a:cs typeface="Quattrocento Sans" pitchFamily="34" charset="-120"/>
              </a:rPr>
              <a:t>Art History Lecture</a:t>
            </a:r>
            <a:endParaRPr lang="en-US" sz="1600" dirty="0"/>
          </a:p>
        </p:txBody>
      </p:sp>
      <p:sp>
        <p:nvSpPr>
          <p:cNvPr id="6" name="Text 3"/>
          <p:cNvSpPr/>
          <p:nvPr/>
        </p:nvSpPr>
        <p:spPr>
          <a:xfrm>
            <a:off x="381000" y="1387822"/>
            <a:ext cx="6953250" cy="2609850"/>
          </a:xfrm>
          <a:prstGeom prst="rect">
            <a:avLst/>
          </a:prstGeom>
          <a:noFill/>
          <a:ln/>
        </p:spPr>
        <p:txBody>
          <a:bodyPr wrap="square" lIns="0" tIns="0" rIns="0" bIns="0" rtlCol="0" anchor="ctr"/>
          <a:lstStyle/>
          <a:p>
            <a:pPr>
              <a:lnSpc>
                <a:spcPct val="80000"/>
              </a:lnSpc>
            </a:pPr>
            <a:r>
              <a:rPr lang="en-US" sz="7200" b="1" dirty="0">
                <a:solidFill>
                  <a:srgbClr val="F2F2F2"/>
                </a:solidFill>
                <a:latin typeface="Oranienbaum" pitchFamily="34" charset="0"/>
                <a:ea typeface="Oranienbaum" pitchFamily="34" charset="-122"/>
                <a:cs typeface="Oranienbaum" pitchFamily="34" charset="-120"/>
              </a:rPr>
              <a:t>Vincent van Gogh:</a:t>
            </a:r>
            <a:endParaRPr lang="en-US" sz="1600" dirty="0"/>
          </a:p>
          <a:p>
            <a:pPr>
              <a:lnSpc>
                <a:spcPct val="80000"/>
              </a:lnSpc>
            </a:pPr>
            <a:r>
              <a:rPr lang="en-US" sz="7200" b="1" dirty="0">
                <a:solidFill>
                  <a:srgbClr val="C9A36A"/>
                </a:solidFill>
                <a:latin typeface="Oranienbaum" pitchFamily="34" charset="0"/>
                <a:ea typeface="Oranienbaum" pitchFamily="34" charset="-122"/>
                <a:cs typeface="Oranienbaum" pitchFamily="34" charset="-120"/>
              </a:rPr>
              <a:t>A Life of Passionand Color</a:t>
            </a:r>
            <a:endParaRPr lang="en-US" sz="1600" dirty="0"/>
          </a:p>
        </p:txBody>
      </p:sp>
      <p:sp>
        <p:nvSpPr>
          <p:cNvPr id="7" name="Shape 4"/>
          <p:cNvSpPr/>
          <p:nvPr/>
        </p:nvSpPr>
        <p:spPr>
          <a:xfrm>
            <a:off x="381000" y="4298528"/>
            <a:ext cx="1524000" cy="28575"/>
          </a:xfrm>
          <a:custGeom>
            <a:avLst/>
            <a:gdLst/>
            <a:ahLst/>
            <a:cxnLst/>
            <a:rect l="l" t="t" r="r" b="b"/>
            <a:pathLst>
              <a:path w="1524000" h="28575">
                <a:moveTo>
                  <a:pt x="0" y="0"/>
                </a:moveTo>
                <a:lnTo>
                  <a:pt x="1524000" y="0"/>
                </a:lnTo>
                <a:lnTo>
                  <a:pt x="1524000" y="28575"/>
                </a:lnTo>
                <a:lnTo>
                  <a:pt x="0" y="28575"/>
                </a:lnTo>
                <a:lnTo>
                  <a:pt x="0" y="0"/>
                </a:lnTo>
                <a:close/>
              </a:path>
            </a:pathLst>
          </a:custGeom>
          <a:solidFill>
            <a:srgbClr val="C9A36A"/>
          </a:solidFill>
          <a:ln/>
        </p:spPr>
      </p:sp>
      <p:sp>
        <p:nvSpPr>
          <p:cNvPr id="8" name="Text 5"/>
          <p:cNvSpPr/>
          <p:nvPr/>
        </p:nvSpPr>
        <p:spPr>
          <a:xfrm>
            <a:off x="381000" y="4631903"/>
            <a:ext cx="6515100" cy="742950"/>
          </a:xfrm>
          <a:prstGeom prst="rect">
            <a:avLst/>
          </a:prstGeom>
          <a:noFill/>
          <a:ln/>
        </p:spPr>
        <p:txBody>
          <a:bodyPr wrap="square" lIns="0" tIns="0" rIns="0" bIns="0" rtlCol="0" anchor="ctr"/>
          <a:lstStyle/>
          <a:p>
            <a:pPr>
              <a:lnSpc>
                <a:spcPct val="140000"/>
              </a:lnSpc>
            </a:pPr>
            <a:r>
              <a:rPr lang="en-US" sz="1800" dirty="0">
                <a:solidFill>
                  <a:srgbClr val="B8B8B8"/>
                </a:solidFill>
                <a:latin typeface="Quattrocento Sans" pitchFamily="34" charset="0"/>
                <a:ea typeface="Quattrocento Sans" pitchFamily="34" charset="-122"/>
                <a:cs typeface="Quattrocento Sans" pitchFamily="34" charset="-120"/>
              </a:rPr>
              <a:t>Exploring the Art, Struggles, and Legacy of a Post-Impressionist Master</a:t>
            </a:r>
            <a:endParaRPr lang="en-US" sz="1600" dirty="0"/>
          </a:p>
        </p:txBody>
      </p:sp>
      <p:sp>
        <p:nvSpPr>
          <p:cNvPr id="9" name="Shape 6"/>
          <p:cNvSpPr/>
          <p:nvPr/>
        </p:nvSpPr>
        <p:spPr>
          <a:xfrm>
            <a:off x="416719" y="5870153"/>
            <a:ext cx="166688" cy="190500"/>
          </a:xfrm>
          <a:custGeom>
            <a:avLst/>
            <a:gdLst/>
            <a:ahLst/>
            <a:cxn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p:spPr>
      </p:sp>
      <p:sp>
        <p:nvSpPr>
          <p:cNvPr id="10" name="Text 7"/>
          <p:cNvSpPr/>
          <p:nvPr/>
        </p:nvSpPr>
        <p:spPr>
          <a:xfrm>
            <a:off x="733425" y="5832053"/>
            <a:ext cx="942975" cy="266700"/>
          </a:xfrm>
          <a:prstGeom prst="rect">
            <a:avLst/>
          </a:prstGeom>
          <a:noFill/>
          <a:ln/>
        </p:spPr>
        <p:txBody>
          <a:bodyPr wrap="square" lIns="0" tIns="0" rIns="0" bIns="0" rtlCol="0" anchor="ctr"/>
          <a:lstStyle/>
          <a:p>
            <a:pPr>
              <a:lnSpc>
                <a:spcPct val="130000"/>
              </a:lnSpc>
            </a:pPr>
            <a:r>
              <a:rPr lang="en-US" sz="1350" dirty="0">
                <a:solidFill>
                  <a:srgbClr val="A3A3A3"/>
                </a:solidFill>
                <a:latin typeface="Quattrocento Sans" pitchFamily="34" charset="0"/>
                <a:ea typeface="Quattrocento Sans" pitchFamily="34" charset="-122"/>
                <a:cs typeface="Quattrocento Sans" pitchFamily="34" charset="-120"/>
              </a:rPr>
              <a:t>1853 - 1890</a:t>
            </a:r>
            <a:endParaRPr lang="en-US" sz="1600" dirty="0"/>
          </a:p>
        </p:txBody>
      </p:sp>
      <p:sp>
        <p:nvSpPr>
          <p:cNvPr id="11" name="Shape 8"/>
          <p:cNvSpPr/>
          <p:nvPr/>
        </p:nvSpPr>
        <p:spPr>
          <a:xfrm>
            <a:off x="1919288" y="5870153"/>
            <a:ext cx="190500" cy="190500"/>
          </a:xfrm>
          <a:custGeom>
            <a:avLst/>
            <a:gdLst/>
            <a:ahLst/>
            <a:cxn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p:spPr>
      </p:sp>
      <p:sp>
        <p:nvSpPr>
          <p:cNvPr id="12" name="Text 9"/>
          <p:cNvSpPr/>
          <p:nvPr/>
        </p:nvSpPr>
        <p:spPr>
          <a:xfrm>
            <a:off x="2247900" y="5832053"/>
            <a:ext cx="1419225" cy="266700"/>
          </a:xfrm>
          <a:prstGeom prst="rect">
            <a:avLst/>
          </a:prstGeom>
          <a:noFill/>
          <a:ln/>
        </p:spPr>
        <p:txBody>
          <a:bodyPr wrap="square" lIns="0" tIns="0" rIns="0" bIns="0" rtlCol="0" anchor="ctr"/>
          <a:lstStyle/>
          <a:p>
            <a:pPr>
              <a:lnSpc>
                <a:spcPct val="130000"/>
              </a:lnSpc>
            </a:pPr>
            <a:r>
              <a:rPr lang="en-US" sz="1350" dirty="0">
                <a:solidFill>
                  <a:srgbClr val="A3A3A3"/>
                </a:solidFill>
                <a:latin typeface="Quattrocento Sans" pitchFamily="34" charset="0"/>
                <a:ea typeface="Quattrocento Sans" pitchFamily="34" charset="-122"/>
                <a:cs typeface="Quattrocento Sans" pitchFamily="34" charset="-120"/>
              </a:rPr>
              <a:t>860+ Oil Paintings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300" kern="0" dirty="0">
                <a:solidFill>
                  <a:srgbClr val="C9A36A"/>
                </a:solidFill>
                <a:latin typeface="Quattrocento Sans" pitchFamily="34" charset="0"/>
                <a:ea typeface="Quattrocento Sans" pitchFamily="34" charset="-122"/>
                <a:cs typeface="Quattrocento Sans" pitchFamily="34" charset="-120"/>
              </a:rPr>
              <a:t>Lecture Overview</a:t>
            </a:r>
            <a:endParaRPr lang="en-US" sz="1600" dirty="0"/>
          </a:p>
        </p:txBody>
      </p:sp>
      <p:sp>
        <p:nvSpPr>
          <p:cNvPr id="3" name="Text 1"/>
          <p:cNvSpPr/>
          <p:nvPr/>
        </p:nvSpPr>
        <p:spPr>
          <a:xfrm>
            <a:off x="381000" y="723900"/>
            <a:ext cx="11715750" cy="571500"/>
          </a:xfrm>
          <a:prstGeom prst="rect">
            <a:avLst/>
          </a:prstGeom>
          <a:noFill/>
          <a:ln/>
        </p:spPr>
        <p:txBody>
          <a:bodyPr wrap="square" lIns="0" tIns="0" rIns="0" bIns="0" rtlCol="0" anchor="ctr"/>
          <a:lstStyle/>
          <a:p>
            <a:pPr>
              <a:lnSpc>
                <a:spcPct val="80000"/>
              </a:lnSpc>
            </a:pPr>
            <a:r>
              <a:rPr lang="en-US" sz="4500" b="1" dirty="0">
                <a:solidFill>
                  <a:srgbClr val="F2F2F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381000" y="1485900"/>
            <a:ext cx="1219200" cy="28575"/>
          </a:xfrm>
          <a:custGeom>
            <a:avLst/>
            <a:gdLst/>
            <a:ahLst/>
            <a:cxnLst/>
            <a:rect l="l" t="t" r="r" b="b"/>
            <a:pathLst>
              <a:path w="1219200" h="28575">
                <a:moveTo>
                  <a:pt x="0" y="0"/>
                </a:moveTo>
                <a:lnTo>
                  <a:pt x="1219200" y="0"/>
                </a:lnTo>
                <a:lnTo>
                  <a:pt x="1219200" y="28575"/>
                </a:lnTo>
                <a:lnTo>
                  <a:pt x="0" y="28575"/>
                </a:lnTo>
                <a:lnTo>
                  <a:pt x="0" y="0"/>
                </a:lnTo>
                <a:close/>
              </a:path>
            </a:pathLst>
          </a:custGeom>
          <a:solidFill>
            <a:srgbClr val="C9A36A"/>
          </a:solidFill>
          <a:ln/>
        </p:spPr>
      </p:sp>
      <p:sp>
        <p:nvSpPr>
          <p:cNvPr id="5" name="Shape 3"/>
          <p:cNvSpPr/>
          <p:nvPr/>
        </p:nvSpPr>
        <p:spPr>
          <a:xfrm>
            <a:off x="4000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6" name="Shape 4"/>
          <p:cNvSpPr/>
          <p:nvPr/>
        </p:nvSpPr>
        <p:spPr>
          <a:xfrm>
            <a:off x="4000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7" name="Shape 5"/>
          <p:cNvSpPr/>
          <p:nvPr/>
        </p:nvSpPr>
        <p:spPr>
          <a:xfrm>
            <a:off x="6477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8" name="Text 6"/>
          <p:cNvSpPr/>
          <p:nvPr/>
        </p:nvSpPr>
        <p:spPr>
          <a:xfrm>
            <a:off x="798612" y="2143125"/>
            <a:ext cx="37147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9" name="Text 7"/>
          <p:cNvSpPr/>
          <p:nvPr/>
        </p:nvSpPr>
        <p:spPr>
          <a:xfrm>
            <a:off x="13716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Early Life and Artistic Beginnings</a:t>
            </a:r>
            <a:endParaRPr lang="en-US" sz="1600" dirty="0"/>
          </a:p>
        </p:txBody>
      </p:sp>
      <p:sp>
        <p:nvSpPr>
          <p:cNvPr id="10" name="Text 8"/>
          <p:cNvSpPr/>
          <p:nvPr/>
        </p:nvSpPr>
        <p:spPr>
          <a:xfrm>
            <a:off x="13716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
        <p:nvSpPr>
          <p:cNvPr id="11" name="Shape 9"/>
          <p:cNvSpPr/>
          <p:nvPr/>
        </p:nvSpPr>
        <p:spPr>
          <a:xfrm>
            <a:off x="62674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2" name="Shape 10"/>
          <p:cNvSpPr/>
          <p:nvPr/>
        </p:nvSpPr>
        <p:spPr>
          <a:xfrm>
            <a:off x="62674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3" name="Shape 11"/>
          <p:cNvSpPr/>
          <p:nvPr/>
        </p:nvSpPr>
        <p:spPr>
          <a:xfrm>
            <a:off x="65151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14" name="Text 12"/>
          <p:cNvSpPr/>
          <p:nvPr/>
        </p:nvSpPr>
        <p:spPr>
          <a:xfrm>
            <a:off x="6639595" y="214312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15" name="Text 13"/>
          <p:cNvSpPr/>
          <p:nvPr/>
        </p:nvSpPr>
        <p:spPr>
          <a:xfrm>
            <a:off x="72390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Evolution of Style</a:t>
            </a:r>
            <a:endParaRPr lang="en-US" sz="1600" dirty="0"/>
          </a:p>
        </p:txBody>
      </p:sp>
      <p:sp>
        <p:nvSpPr>
          <p:cNvPr id="16" name="Text 14"/>
          <p:cNvSpPr/>
          <p:nvPr/>
        </p:nvSpPr>
        <p:spPr>
          <a:xfrm>
            <a:off x="72390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dark realism to vibrant expression across five periods</a:t>
            </a:r>
            <a:endParaRPr lang="en-US" sz="1600" dirty="0"/>
          </a:p>
        </p:txBody>
      </p:sp>
      <p:sp>
        <p:nvSpPr>
          <p:cNvPr id="17" name="Shape 15"/>
          <p:cNvSpPr/>
          <p:nvPr/>
        </p:nvSpPr>
        <p:spPr>
          <a:xfrm>
            <a:off x="4000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8" name="Shape 16"/>
          <p:cNvSpPr/>
          <p:nvPr/>
        </p:nvSpPr>
        <p:spPr>
          <a:xfrm>
            <a:off x="4000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9" name="Shape 17"/>
          <p:cNvSpPr/>
          <p:nvPr/>
        </p:nvSpPr>
        <p:spPr>
          <a:xfrm>
            <a:off x="6477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0" name="Text 18"/>
          <p:cNvSpPr/>
          <p:nvPr/>
        </p:nvSpPr>
        <p:spPr>
          <a:xfrm>
            <a:off x="771525" y="3676650"/>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21" name="Text 19"/>
          <p:cNvSpPr/>
          <p:nvPr/>
        </p:nvSpPr>
        <p:spPr>
          <a:xfrm>
            <a:off x="13716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Masterpieces That Define an Era</a:t>
            </a:r>
            <a:endParaRPr lang="en-US" sz="1600" dirty="0"/>
          </a:p>
        </p:txBody>
      </p:sp>
      <p:sp>
        <p:nvSpPr>
          <p:cNvPr id="22" name="Text 20"/>
          <p:cNvSpPr/>
          <p:nvPr/>
        </p:nvSpPr>
        <p:spPr>
          <a:xfrm>
            <a:off x="13716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
        <p:nvSpPr>
          <p:cNvPr id="23" name="Shape 21"/>
          <p:cNvSpPr/>
          <p:nvPr/>
        </p:nvSpPr>
        <p:spPr>
          <a:xfrm>
            <a:off x="62674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24" name="Shape 22"/>
          <p:cNvSpPr/>
          <p:nvPr/>
        </p:nvSpPr>
        <p:spPr>
          <a:xfrm>
            <a:off x="62674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25" name="Shape 23"/>
          <p:cNvSpPr/>
          <p:nvPr/>
        </p:nvSpPr>
        <p:spPr>
          <a:xfrm>
            <a:off x="65151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6" name="Text 24"/>
          <p:cNvSpPr/>
          <p:nvPr/>
        </p:nvSpPr>
        <p:spPr>
          <a:xfrm>
            <a:off x="6632451" y="3676650"/>
            <a:ext cx="438150"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27" name="Text 25"/>
          <p:cNvSpPr/>
          <p:nvPr/>
        </p:nvSpPr>
        <p:spPr>
          <a:xfrm>
            <a:off x="72390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Mental Health and the Price of Genius</a:t>
            </a:r>
            <a:endParaRPr lang="en-US" sz="1600" dirty="0"/>
          </a:p>
        </p:txBody>
      </p:sp>
      <p:sp>
        <p:nvSpPr>
          <p:cNvPr id="28" name="Text 26"/>
          <p:cNvSpPr/>
          <p:nvPr/>
        </p:nvSpPr>
        <p:spPr>
          <a:xfrm>
            <a:off x="72390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complex relationship between creativity and struggle</a:t>
            </a:r>
            <a:endParaRPr lang="en-US" sz="1600" dirty="0"/>
          </a:p>
        </p:txBody>
      </p:sp>
      <p:sp>
        <p:nvSpPr>
          <p:cNvPr id="29" name="Shape 27"/>
          <p:cNvSpPr/>
          <p:nvPr/>
        </p:nvSpPr>
        <p:spPr>
          <a:xfrm>
            <a:off x="4000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0" name="Shape 28"/>
          <p:cNvSpPr/>
          <p:nvPr/>
        </p:nvSpPr>
        <p:spPr>
          <a:xfrm>
            <a:off x="4000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1" name="Shape 29"/>
          <p:cNvSpPr/>
          <p:nvPr/>
        </p:nvSpPr>
        <p:spPr>
          <a:xfrm>
            <a:off x="6477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2" name="Text 30"/>
          <p:cNvSpPr/>
          <p:nvPr/>
        </p:nvSpPr>
        <p:spPr>
          <a:xfrm>
            <a:off x="772939"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33" name="Text 31"/>
          <p:cNvSpPr/>
          <p:nvPr/>
        </p:nvSpPr>
        <p:spPr>
          <a:xfrm>
            <a:off x="13716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Unbreakable Bond</a:t>
            </a:r>
            <a:endParaRPr lang="en-US" sz="1600" dirty="0"/>
          </a:p>
        </p:txBody>
      </p:sp>
      <p:sp>
        <p:nvSpPr>
          <p:cNvPr id="34" name="Text 32"/>
          <p:cNvSpPr/>
          <p:nvPr/>
        </p:nvSpPr>
        <p:spPr>
          <a:xfrm>
            <a:off x="1371600" y="549592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Vincent and Theo: A brotherhood that sustained genius</a:t>
            </a:r>
            <a:endParaRPr lang="en-US" sz="1600" dirty="0"/>
          </a:p>
        </p:txBody>
      </p:sp>
      <p:sp>
        <p:nvSpPr>
          <p:cNvPr id="35" name="Shape 33"/>
          <p:cNvSpPr/>
          <p:nvPr/>
        </p:nvSpPr>
        <p:spPr>
          <a:xfrm>
            <a:off x="62674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6" name="Shape 34"/>
          <p:cNvSpPr/>
          <p:nvPr/>
        </p:nvSpPr>
        <p:spPr>
          <a:xfrm>
            <a:off x="62674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7" name="Shape 35"/>
          <p:cNvSpPr/>
          <p:nvPr/>
        </p:nvSpPr>
        <p:spPr>
          <a:xfrm>
            <a:off x="65151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8" name="Text 36"/>
          <p:cNvSpPr/>
          <p:nvPr/>
        </p:nvSpPr>
        <p:spPr>
          <a:xfrm>
            <a:off x="6636767"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39" name="Text 37"/>
          <p:cNvSpPr/>
          <p:nvPr/>
        </p:nvSpPr>
        <p:spPr>
          <a:xfrm>
            <a:off x="72390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Enduring Legacy and Influence</a:t>
            </a:r>
            <a:endParaRPr lang="en-US" sz="1600" dirty="0"/>
          </a:p>
        </p:txBody>
      </p:sp>
      <p:sp>
        <p:nvSpPr>
          <p:cNvPr id="40" name="Text 38"/>
          <p:cNvSpPr/>
          <p:nvPr/>
        </p:nvSpPr>
        <p:spPr>
          <a:xfrm>
            <a:off x="7239000" y="5495925"/>
            <a:ext cx="4419600"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vangoghmuseum.nl/48d599e70a23c6110746497e2c7ace361dc7178c">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933450" cy="809625"/>
          </a:xfrm>
          <a:custGeom>
            <a:avLst/>
            <a:gdLst/>
            <a:ahLst/>
            <a:cxn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74868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Early Life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Artistic Beginnings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53391" y="353391"/>
            <a:ext cx="11555896" cy="212035"/>
          </a:xfrm>
          <a:prstGeom prst="rect">
            <a:avLst/>
          </a:prstGeom>
          <a:noFill/>
          <a:ln/>
        </p:spPr>
        <p:txBody>
          <a:bodyPr wrap="square" lIns="0" tIns="0" rIns="0" bIns="0" rtlCol="0" anchor="ctr"/>
          <a:lstStyle/>
          <a:p>
            <a:pPr>
              <a:lnSpc>
                <a:spcPct val="130000"/>
              </a:lnSpc>
            </a:pPr>
            <a:r>
              <a:rPr lang="en-US" sz="1113" b="1" spc="223" kern="0" dirty="0">
                <a:solidFill>
                  <a:srgbClr val="C9A36A"/>
                </a:solidFill>
                <a:latin typeface="Quattrocento Sans" pitchFamily="34" charset="0"/>
                <a:ea typeface="Quattrocento Sans" pitchFamily="34" charset="-122"/>
                <a:cs typeface="Quattrocento Sans" pitchFamily="34" charset="-120"/>
              </a:rPr>
              <a:t>Chapter 01</a:t>
            </a:r>
            <a:endParaRPr lang="en-US" sz="1600" dirty="0"/>
          </a:p>
        </p:txBody>
      </p:sp>
      <p:sp>
        <p:nvSpPr>
          <p:cNvPr id="3" name="Text 1"/>
          <p:cNvSpPr/>
          <p:nvPr/>
        </p:nvSpPr>
        <p:spPr>
          <a:xfrm>
            <a:off x="353391" y="636104"/>
            <a:ext cx="11697252" cy="424070"/>
          </a:xfrm>
          <a:prstGeom prst="rect">
            <a:avLst/>
          </a:prstGeom>
          <a:noFill/>
          <a:ln/>
        </p:spPr>
        <p:txBody>
          <a:bodyPr wrap="square" lIns="0" tIns="0" rIns="0" bIns="0" rtlCol="0" anchor="ctr"/>
          <a:lstStyle/>
          <a:p>
            <a:pPr>
              <a:lnSpc>
                <a:spcPct val="80000"/>
              </a:lnSpc>
            </a:pPr>
            <a:r>
              <a:rPr lang="en-US" sz="3339" b="1" dirty="0">
                <a:solidFill>
                  <a:srgbClr val="F2F2F2"/>
                </a:solidFill>
                <a:latin typeface="Oranienbaum" pitchFamily="34" charset="0"/>
                <a:ea typeface="Oranienbaum" pitchFamily="34" charset="-122"/>
                <a:cs typeface="Oranienbaum" pitchFamily="34" charset="-120"/>
              </a:rPr>
              <a:t>From Zundert to the Canvas</a:t>
            </a:r>
            <a:endParaRPr lang="en-US" sz="1600" dirty="0"/>
          </a:p>
        </p:txBody>
      </p:sp>
      <p:sp>
        <p:nvSpPr>
          <p:cNvPr id="4" name="Shape 2"/>
          <p:cNvSpPr/>
          <p:nvPr/>
        </p:nvSpPr>
        <p:spPr>
          <a:xfrm>
            <a:off x="353391" y="1201530"/>
            <a:ext cx="989496" cy="17670"/>
          </a:xfrm>
          <a:custGeom>
            <a:avLst/>
            <a:gdLst/>
            <a:ahLst/>
            <a:cxnLst/>
            <a:rect l="l" t="t" r="r" b="b"/>
            <a:pathLst>
              <a:path w="989496" h="17670">
                <a:moveTo>
                  <a:pt x="0" y="0"/>
                </a:moveTo>
                <a:lnTo>
                  <a:pt x="989496" y="0"/>
                </a:lnTo>
                <a:lnTo>
                  <a:pt x="989496" y="17670"/>
                </a:lnTo>
                <a:lnTo>
                  <a:pt x="0" y="17670"/>
                </a:lnTo>
                <a:lnTo>
                  <a:pt x="0" y="0"/>
                </a:lnTo>
                <a:close/>
              </a:path>
            </a:pathLst>
          </a:custGeom>
          <a:solidFill>
            <a:srgbClr val="C9A36A"/>
          </a:solidFill>
          <a:ln/>
        </p:spPr>
      </p:sp>
      <p:sp>
        <p:nvSpPr>
          <p:cNvPr id="5" name="Shape 3"/>
          <p:cNvSpPr/>
          <p:nvPr/>
        </p:nvSpPr>
        <p:spPr>
          <a:xfrm>
            <a:off x="366643" y="1431235"/>
            <a:ext cx="6188765" cy="1766957"/>
          </a:xfrm>
          <a:custGeom>
            <a:avLst/>
            <a:gdLst/>
            <a:ahLst/>
            <a:cxn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p:spPr>
      </p:sp>
      <p:sp>
        <p:nvSpPr>
          <p:cNvPr id="6" name="Shape 4"/>
          <p:cNvSpPr/>
          <p:nvPr/>
        </p:nvSpPr>
        <p:spPr>
          <a:xfrm>
            <a:off x="366643" y="1431235"/>
            <a:ext cx="26504" cy="1766957"/>
          </a:xfrm>
          <a:custGeom>
            <a:avLst/>
            <a:gdLst/>
            <a:ahLst/>
            <a:cxn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p:spPr>
      </p:sp>
      <p:sp>
        <p:nvSpPr>
          <p:cNvPr id="7" name="Shape 5"/>
          <p:cNvSpPr/>
          <p:nvPr/>
        </p:nvSpPr>
        <p:spPr>
          <a:xfrm>
            <a:off x="644939" y="1678609"/>
            <a:ext cx="159026" cy="212035"/>
          </a:xfrm>
          <a:custGeom>
            <a:avLst/>
            <a:gdLst/>
            <a:ahLst/>
            <a:cxn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p:spPr>
      </p:sp>
      <p:sp>
        <p:nvSpPr>
          <p:cNvPr id="8" name="Text 6"/>
          <p:cNvSpPr/>
          <p:nvPr/>
        </p:nvSpPr>
        <p:spPr>
          <a:xfrm>
            <a:off x="962991" y="1643270"/>
            <a:ext cx="1784626"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Birth and Childhood</a:t>
            </a:r>
            <a:endParaRPr lang="en-US" sz="1600" dirty="0"/>
          </a:p>
        </p:txBody>
      </p:sp>
      <p:sp>
        <p:nvSpPr>
          <p:cNvPr id="9" name="Text 7"/>
          <p:cNvSpPr/>
          <p:nvPr/>
        </p:nvSpPr>
        <p:spPr>
          <a:xfrm>
            <a:off x="591930" y="2067339"/>
            <a:ext cx="5822122" cy="918817"/>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March 30, 1853</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lang="en-US" sz="1600" dirty="0"/>
          </a:p>
        </p:txBody>
      </p:sp>
      <p:sp>
        <p:nvSpPr>
          <p:cNvPr id="10" name="Shape 8"/>
          <p:cNvSpPr/>
          <p:nvPr/>
        </p:nvSpPr>
        <p:spPr>
          <a:xfrm>
            <a:off x="366643" y="3374887"/>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1" name="Shape 9"/>
          <p:cNvSpPr/>
          <p:nvPr/>
        </p:nvSpPr>
        <p:spPr>
          <a:xfrm>
            <a:off x="366643" y="3374887"/>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2" name="Shape 10"/>
          <p:cNvSpPr/>
          <p:nvPr/>
        </p:nvSpPr>
        <p:spPr>
          <a:xfrm>
            <a:off x="618435" y="3622261"/>
            <a:ext cx="212035" cy="212035"/>
          </a:xfrm>
          <a:custGeom>
            <a:avLst/>
            <a:gdLst/>
            <a:ahLst/>
            <a:cxn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p:spPr>
      </p:sp>
      <p:sp>
        <p:nvSpPr>
          <p:cNvPr id="13" name="Text 11"/>
          <p:cNvSpPr/>
          <p:nvPr/>
        </p:nvSpPr>
        <p:spPr>
          <a:xfrm>
            <a:off x="962991" y="3586922"/>
            <a:ext cx="1501913"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Career Struggles</a:t>
            </a:r>
            <a:endParaRPr lang="en-US" sz="1600" dirty="0"/>
          </a:p>
        </p:txBody>
      </p:sp>
      <p:sp>
        <p:nvSpPr>
          <p:cNvPr id="14" name="Text 12"/>
          <p:cNvSpPr/>
          <p:nvPr/>
        </p:nvSpPr>
        <p:spPr>
          <a:xfrm>
            <a:off x="591930" y="4010991"/>
            <a:ext cx="5822122" cy="689113"/>
          </a:xfrm>
          <a:prstGeom prst="rect">
            <a:avLst/>
          </a:prstGeom>
          <a:noFill/>
          <a:ln/>
        </p:spPr>
        <p:txBody>
          <a:bodyPr wrap="square" lIns="0" tIns="0" rIns="0" bIns="0" rtlCol="0" anchor="ctr"/>
          <a:lstStyle/>
          <a:p>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Before becoming an artist, Van Gogh tried multiple careers: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art dealer at Goupil &amp; Cie</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(The Hague, London, Paris),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teacher in England</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preacher among poor miners in Belgium</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Each attempt ended in failure or dismissal, deepening his sense of isolation and purposelessness.</a:t>
            </a:r>
            <a:endParaRPr lang="en-US" sz="1600" dirty="0"/>
          </a:p>
        </p:txBody>
      </p:sp>
      <p:sp>
        <p:nvSpPr>
          <p:cNvPr id="15" name="Shape 13"/>
          <p:cNvSpPr/>
          <p:nvPr/>
        </p:nvSpPr>
        <p:spPr>
          <a:xfrm>
            <a:off x="366643" y="5088835"/>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6" name="Shape 14"/>
          <p:cNvSpPr/>
          <p:nvPr/>
        </p:nvSpPr>
        <p:spPr>
          <a:xfrm>
            <a:off x="366643" y="5088835"/>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7" name="Shape 15"/>
          <p:cNvSpPr/>
          <p:nvPr/>
        </p:nvSpPr>
        <p:spPr>
          <a:xfrm>
            <a:off x="605183" y="5336209"/>
            <a:ext cx="238539" cy="212035"/>
          </a:xfrm>
          <a:custGeom>
            <a:avLst/>
            <a:gdLst/>
            <a:ahLst/>
            <a:cxn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p:spPr>
      </p:sp>
      <p:sp>
        <p:nvSpPr>
          <p:cNvPr id="18" name="Text 16"/>
          <p:cNvSpPr/>
          <p:nvPr/>
        </p:nvSpPr>
        <p:spPr>
          <a:xfrm>
            <a:off x="962991" y="5300870"/>
            <a:ext cx="1625600"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The Turning Point</a:t>
            </a:r>
            <a:endParaRPr lang="en-US" sz="1600" dirty="0"/>
          </a:p>
        </p:txBody>
      </p:sp>
      <p:sp>
        <p:nvSpPr>
          <p:cNvPr id="19" name="Text 17"/>
          <p:cNvSpPr/>
          <p:nvPr/>
        </p:nvSpPr>
        <p:spPr>
          <a:xfrm>
            <a:off x="591930" y="5724939"/>
            <a:ext cx="5822122" cy="689113"/>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1880, Age 27</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After years of wandering and despair, Van Gogh finally committed himself to art. This late start meant he had only </a:t>
            </a:r>
            <a:pPr>
              <a:lnSpc>
                <a:spcPct val="140000"/>
              </a:lnSpc>
            </a:pPr>
            <a:r>
              <a:rPr lang="en-US" sz="1113" b="1" dirty="0">
                <a:solidFill>
                  <a:srgbClr val="C9A36A"/>
                </a:solidFill>
                <a:latin typeface="Quattrocento Sans" pitchFamily="34" charset="0"/>
                <a:ea typeface="Quattrocento Sans" pitchFamily="34" charset="-122"/>
                <a:cs typeface="Quattrocento Sans" pitchFamily="34" charset="-120"/>
              </a:rPr>
              <a:t>ten years</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to create his entire body of work, making his subsequent productivity all the more remarkable.</a:t>
            </a:r>
            <a:endParaRPr lang="en-US" sz="1600" dirty="0"/>
          </a:p>
        </p:txBody>
      </p:sp>
      <p:sp>
        <p:nvSpPr>
          <p:cNvPr id="20" name="Shape 18"/>
          <p:cNvSpPr/>
          <p:nvPr/>
        </p:nvSpPr>
        <p:spPr>
          <a:xfrm>
            <a:off x="6763509" y="1431235"/>
            <a:ext cx="5071165" cy="2685774"/>
          </a:xfrm>
          <a:custGeom>
            <a:avLst/>
            <a:gdLst/>
            <a:ahLst/>
            <a:cxn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p:spPr>
      </p:sp>
      <p:sp>
        <p:nvSpPr>
          <p:cNvPr id="21" name="Text 19"/>
          <p:cNvSpPr/>
          <p:nvPr/>
        </p:nvSpPr>
        <p:spPr>
          <a:xfrm>
            <a:off x="6975544" y="1643270"/>
            <a:ext cx="4735443" cy="247374"/>
          </a:xfrm>
          <a:prstGeom prst="rect">
            <a:avLst/>
          </a:prstGeom>
          <a:noFill/>
          <a:ln/>
        </p:spPr>
        <p:txBody>
          <a:bodyPr wrap="square" lIns="0" tIns="0" rIns="0" bIns="0" rtlCol="0" anchor="ctr"/>
          <a:lstStyle/>
          <a:p>
            <a:pPr>
              <a:lnSpc>
                <a:spcPct val="120000"/>
              </a:lnSpc>
            </a:pPr>
            <a:r>
              <a:rPr lang="en-US" sz="1391" b="1" dirty="0">
                <a:solidFill>
                  <a:srgbClr val="C9A36A"/>
                </a:solidFill>
                <a:latin typeface="Oranienbaum" pitchFamily="34" charset="0"/>
                <a:ea typeface="Oranienbaum" pitchFamily="34" charset="-122"/>
                <a:cs typeface="Oranienbaum" pitchFamily="34" charset="-120"/>
              </a:rPr>
              <a:t>Key Timeline</a:t>
            </a:r>
            <a:endParaRPr lang="en-US" sz="1600" dirty="0"/>
          </a:p>
        </p:txBody>
      </p:sp>
      <p:sp>
        <p:nvSpPr>
          <p:cNvPr id="22" name="Shape 20"/>
          <p:cNvSpPr/>
          <p:nvPr/>
        </p:nvSpPr>
        <p:spPr>
          <a:xfrm>
            <a:off x="6975544" y="2102678"/>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3" name="Text 21"/>
          <p:cNvSpPr/>
          <p:nvPr/>
        </p:nvSpPr>
        <p:spPr>
          <a:xfrm>
            <a:off x="7152240" y="2032000"/>
            <a:ext cx="16079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1853</a:t>
            </a:r>
            <a:endParaRPr lang="en-US" sz="1600" dirty="0"/>
          </a:p>
        </p:txBody>
      </p:sp>
      <p:sp>
        <p:nvSpPr>
          <p:cNvPr id="24" name="Text 22"/>
          <p:cNvSpPr/>
          <p:nvPr/>
        </p:nvSpPr>
        <p:spPr>
          <a:xfrm>
            <a:off x="7152240" y="2244035"/>
            <a:ext cx="15990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Born in Zundert, Netherlands</a:t>
            </a:r>
            <a:endParaRPr lang="en-US" sz="1600" dirty="0"/>
          </a:p>
        </p:txBody>
      </p:sp>
      <p:sp>
        <p:nvSpPr>
          <p:cNvPr id="25" name="Shape 23"/>
          <p:cNvSpPr/>
          <p:nvPr/>
        </p:nvSpPr>
        <p:spPr>
          <a:xfrm>
            <a:off x="6975544" y="2597426"/>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6" name="Text 24"/>
          <p:cNvSpPr/>
          <p:nvPr/>
        </p:nvSpPr>
        <p:spPr>
          <a:xfrm>
            <a:off x="7152240" y="2526748"/>
            <a:ext cx="14047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1869</a:t>
            </a:r>
            <a:endParaRPr lang="en-US" sz="1600" dirty="0"/>
          </a:p>
        </p:txBody>
      </p:sp>
      <p:sp>
        <p:nvSpPr>
          <p:cNvPr id="27" name="Text 25"/>
          <p:cNvSpPr/>
          <p:nvPr/>
        </p:nvSpPr>
        <p:spPr>
          <a:xfrm>
            <a:off x="7152240" y="2738783"/>
            <a:ext cx="13958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Begins work as art dealer</a:t>
            </a:r>
            <a:endParaRPr lang="en-US" sz="1600" dirty="0"/>
          </a:p>
        </p:txBody>
      </p:sp>
      <p:sp>
        <p:nvSpPr>
          <p:cNvPr id="28" name="Shape 26"/>
          <p:cNvSpPr/>
          <p:nvPr/>
        </p:nvSpPr>
        <p:spPr>
          <a:xfrm>
            <a:off x="6975544" y="3092174"/>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9" name="Text 27"/>
          <p:cNvSpPr/>
          <p:nvPr/>
        </p:nvSpPr>
        <p:spPr>
          <a:xfrm>
            <a:off x="7152240" y="3021496"/>
            <a:ext cx="1272209"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1879</a:t>
            </a:r>
            <a:endParaRPr lang="en-US" sz="1600" dirty="0"/>
          </a:p>
        </p:txBody>
      </p:sp>
      <p:sp>
        <p:nvSpPr>
          <p:cNvPr id="30" name="Text 28"/>
          <p:cNvSpPr/>
          <p:nvPr/>
        </p:nvSpPr>
        <p:spPr>
          <a:xfrm>
            <a:off x="7152240" y="3233530"/>
            <a:ext cx="1263374"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Dismissed as preacher</a:t>
            </a:r>
            <a:endParaRPr lang="en-US" sz="1600" dirty="0"/>
          </a:p>
        </p:txBody>
      </p:sp>
      <p:sp>
        <p:nvSpPr>
          <p:cNvPr id="31" name="Shape 29"/>
          <p:cNvSpPr/>
          <p:nvPr/>
        </p:nvSpPr>
        <p:spPr>
          <a:xfrm>
            <a:off x="6975544" y="3586922"/>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32" name="Text 30"/>
          <p:cNvSpPr/>
          <p:nvPr/>
        </p:nvSpPr>
        <p:spPr>
          <a:xfrm>
            <a:off x="7152240" y="3516243"/>
            <a:ext cx="1369391"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1880</a:t>
            </a:r>
            <a:endParaRPr lang="en-US" sz="1600" dirty="0"/>
          </a:p>
        </p:txBody>
      </p:sp>
      <p:sp>
        <p:nvSpPr>
          <p:cNvPr id="33" name="Text 31"/>
          <p:cNvSpPr/>
          <p:nvPr/>
        </p:nvSpPr>
        <p:spPr>
          <a:xfrm>
            <a:off x="7152240" y="3728278"/>
            <a:ext cx="1360557"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Commits to art at age 27</a:t>
            </a:r>
            <a:endParaRPr lang="en-US" sz="1600" dirty="0"/>
          </a:p>
        </p:txBody>
      </p:sp>
      <p:sp>
        <p:nvSpPr>
          <p:cNvPr id="34" name="Shape 32"/>
          <p:cNvSpPr/>
          <p:nvPr/>
        </p:nvSpPr>
        <p:spPr>
          <a:xfrm>
            <a:off x="6767927" y="4298122"/>
            <a:ext cx="5062330" cy="2323548"/>
          </a:xfrm>
          <a:custGeom>
            <a:avLst/>
            <a:gdLst/>
            <a:ahLst/>
            <a:cxn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5" name="Shape 33"/>
          <p:cNvSpPr/>
          <p:nvPr/>
        </p:nvSpPr>
        <p:spPr>
          <a:xfrm>
            <a:off x="9185344" y="4936435"/>
            <a:ext cx="231913" cy="265043"/>
          </a:xfrm>
          <a:custGeom>
            <a:avLst/>
            <a:gdLst/>
            <a:ahLst/>
            <a:cxn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p:spPr>
      </p:sp>
      <p:sp>
        <p:nvSpPr>
          <p:cNvPr id="36" name="Text 34"/>
          <p:cNvSpPr/>
          <p:nvPr/>
        </p:nvSpPr>
        <p:spPr>
          <a:xfrm>
            <a:off x="6940205" y="5342835"/>
            <a:ext cx="4717774" cy="291548"/>
          </a:xfrm>
          <a:prstGeom prst="rect">
            <a:avLst/>
          </a:prstGeom>
          <a:noFill/>
          <a:ln/>
        </p:spPr>
        <p:txBody>
          <a:bodyPr wrap="square" lIns="0" tIns="0" rIns="0" bIns="0" rtlCol="0" anchor="ctr"/>
          <a:lstStyle/>
          <a:p>
            <a:pPr algn="ctr">
              <a:lnSpc>
                <a:spcPct val="140000"/>
              </a:lnSpc>
            </a:pPr>
            <a:r>
              <a:rPr lang="en-US" sz="1391" dirty="0">
                <a:solidFill>
                  <a:srgbClr val="F2F2F2"/>
                </a:solidFill>
                <a:latin typeface="Quattrocento Sans" pitchFamily="34" charset="0"/>
                <a:ea typeface="Quattrocento Sans" pitchFamily="34" charset="-122"/>
                <a:cs typeface="Quattrocento Sans" pitchFamily="34" charset="-120"/>
              </a:rPr>
              <a:t>"I am seeking, I am striving, I am in it with all my heart."</a:t>
            </a:r>
            <a:endParaRPr lang="en-US" sz="1600" dirty="0"/>
          </a:p>
        </p:txBody>
      </p:sp>
      <p:sp>
        <p:nvSpPr>
          <p:cNvPr id="37" name="Text 35"/>
          <p:cNvSpPr/>
          <p:nvPr/>
        </p:nvSpPr>
        <p:spPr>
          <a:xfrm>
            <a:off x="6949040" y="5771322"/>
            <a:ext cx="4700104" cy="212035"/>
          </a:xfrm>
          <a:prstGeom prst="rect">
            <a:avLst/>
          </a:prstGeom>
          <a:noFill/>
          <a:ln/>
        </p:spPr>
        <p:txBody>
          <a:bodyPr wrap="square" lIns="0" tIns="0" rIns="0" bIns="0" rtlCol="0" anchor="ctr"/>
          <a:lstStyle/>
          <a:p>
            <a:pPr algn="ctr">
              <a:lnSpc>
                <a:spcPct val="130000"/>
              </a:lnSpc>
            </a:pPr>
            <a:r>
              <a:rPr lang="en-US" sz="1113"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bulgarihotels.com/073d061c919dfa0767023631cc6ebbf85d59334d">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54422"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Evolution</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of Style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A decade of transformation across five distinct artistic periods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3395" y="323395"/>
            <a:ext cx="11609889" cy="194037"/>
          </a:xfrm>
          <a:prstGeom prst="rect">
            <a:avLst/>
          </a:prstGeom>
          <a:noFill/>
          <a:ln/>
        </p:spPr>
        <p:txBody>
          <a:bodyPr wrap="square" lIns="0" tIns="0" rIns="0" bIns="0" rtlCol="0" anchor="ctr"/>
          <a:lstStyle/>
          <a:p>
            <a:pPr>
              <a:lnSpc>
                <a:spcPct val="130000"/>
              </a:lnSpc>
            </a:pPr>
            <a:r>
              <a:rPr lang="en-US" sz="1019" b="1" spc="204"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23395" y="582111"/>
            <a:ext cx="11739247" cy="388074"/>
          </a:xfrm>
          <a:prstGeom prst="rect">
            <a:avLst/>
          </a:prstGeom>
          <a:noFill/>
          <a:ln/>
        </p:spPr>
        <p:txBody>
          <a:bodyPr wrap="square" lIns="0" tIns="0" rIns="0" bIns="0" rtlCol="0" anchor="ctr"/>
          <a:lstStyle/>
          <a:p>
            <a:pPr>
              <a:lnSpc>
                <a:spcPct val="80000"/>
              </a:lnSpc>
            </a:pPr>
            <a:r>
              <a:rPr lang="en-US" sz="3056" b="1" dirty="0">
                <a:solidFill>
                  <a:srgbClr val="F2F2F2"/>
                </a:solidFill>
                <a:latin typeface="Oranienbaum" pitchFamily="34" charset="0"/>
                <a:ea typeface="Oranienbaum" pitchFamily="34" charset="-122"/>
                <a:cs typeface="Oranienbaum" pitchFamily="34" charset="-120"/>
              </a:rPr>
              <a:t>Five Periods of Artistic Revolution</a:t>
            </a:r>
            <a:endParaRPr lang="en-US" sz="1600" dirty="0"/>
          </a:p>
        </p:txBody>
      </p:sp>
      <p:sp>
        <p:nvSpPr>
          <p:cNvPr id="4" name="Shape 2"/>
          <p:cNvSpPr/>
          <p:nvPr/>
        </p:nvSpPr>
        <p:spPr>
          <a:xfrm>
            <a:off x="323395" y="1099544"/>
            <a:ext cx="905507" cy="16170"/>
          </a:xfrm>
          <a:custGeom>
            <a:avLst/>
            <a:gdLst/>
            <a:ahLst/>
            <a:cxnLst/>
            <a:rect l="l" t="t" r="r" b="b"/>
            <a:pathLst>
              <a:path w="905507" h="16170">
                <a:moveTo>
                  <a:pt x="0" y="0"/>
                </a:moveTo>
                <a:lnTo>
                  <a:pt x="905507" y="0"/>
                </a:lnTo>
                <a:lnTo>
                  <a:pt x="905507" y="16170"/>
                </a:lnTo>
                <a:lnTo>
                  <a:pt x="0" y="16170"/>
                </a:lnTo>
                <a:lnTo>
                  <a:pt x="0" y="0"/>
                </a:lnTo>
                <a:close/>
              </a:path>
            </a:pathLst>
          </a:custGeom>
          <a:solidFill>
            <a:srgbClr val="C9A36A"/>
          </a:solidFill>
          <a:ln/>
        </p:spPr>
      </p:sp>
      <p:sp>
        <p:nvSpPr>
          <p:cNvPr id="5" name="Shape 3"/>
          <p:cNvSpPr/>
          <p:nvPr/>
        </p:nvSpPr>
        <p:spPr>
          <a:xfrm>
            <a:off x="323395"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6" name="Shape 4"/>
          <p:cNvSpPr/>
          <p:nvPr/>
        </p:nvSpPr>
        <p:spPr>
          <a:xfrm>
            <a:off x="323395"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7" name="Text 5"/>
          <p:cNvSpPr/>
          <p:nvPr/>
        </p:nvSpPr>
        <p:spPr>
          <a:xfrm>
            <a:off x="485093" y="1463363"/>
            <a:ext cx="1390599"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The Hague / Nuenen</a:t>
            </a:r>
            <a:endParaRPr lang="en-US" sz="1600" dirty="0"/>
          </a:p>
        </p:txBody>
      </p:sp>
      <p:sp>
        <p:nvSpPr>
          <p:cNvPr id="8" name="Text 6"/>
          <p:cNvSpPr/>
          <p:nvPr/>
        </p:nvSpPr>
        <p:spPr>
          <a:xfrm>
            <a:off x="5352507" y="149570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1880-1886</a:t>
            </a:r>
            <a:endParaRPr lang="en-US" sz="1600" dirty="0"/>
          </a:p>
        </p:txBody>
      </p:sp>
      <p:sp>
        <p:nvSpPr>
          <p:cNvPr id="9" name="Text 7"/>
          <p:cNvSpPr/>
          <p:nvPr/>
        </p:nvSpPr>
        <p:spPr>
          <a:xfrm>
            <a:off x="485093"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Van Gogh's early period was characterized by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dark, earthy tones</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and a focus on peasant life. Influenced by Dutch Realism and artists like Millet, he depicted the harsh realities of rural existence with rough textures and somber colors.</a:t>
            </a:r>
            <a:endParaRPr lang="en-US" sz="1600" dirty="0"/>
          </a:p>
        </p:txBody>
      </p:sp>
      <p:sp>
        <p:nvSpPr>
          <p:cNvPr id="10" name="Shape 8"/>
          <p:cNvSpPr/>
          <p:nvPr/>
        </p:nvSpPr>
        <p:spPr>
          <a:xfrm>
            <a:off x="485093"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11" name="Text 9"/>
          <p:cNvSpPr/>
          <p:nvPr/>
        </p:nvSpPr>
        <p:spPr>
          <a:xfrm>
            <a:off x="582111"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12" name="Text 10"/>
          <p:cNvSpPr/>
          <p:nvPr/>
        </p:nvSpPr>
        <p:spPr>
          <a:xfrm>
            <a:off x="582111"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Potato Eaters (1885)</a:t>
            </a:r>
            <a:endParaRPr lang="en-US" sz="1600" dirty="0"/>
          </a:p>
        </p:txBody>
      </p:sp>
      <p:sp>
        <p:nvSpPr>
          <p:cNvPr id="13" name="Shape 11"/>
          <p:cNvSpPr/>
          <p:nvPr/>
        </p:nvSpPr>
        <p:spPr>
          <a:xfrm>
            <a:off x="485093"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p:spPr>
      </p:sp>
      <p:sp>
        <p:nvSpPr>
          <p:cNvPr id="14" name="Shape 12"/>
          <p:cNvSpPr/>
          <p:nvPr/>
        </p:nvSpPr>
        <p:spPr>
          <a:xfrm>
            <a:off x="679130"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p:spPr>
      </p:sp>
      <p:sp>
        <p:nvSpPr>
          <p:cNvPr id="15" name="Shape 13"/>
          <p:cNvSpPr/>
          <p:nvPr/>
        </p:nvSpPr>
        <p:spPr>
          <a:xfrm>
            <a:off x="873167"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p:spPr>
      </p:sp>
      <p:sp>
        <p:nvSpPr>
          <p:cNvPr id="16" name="Text 14"/>
          <p:cNvSpPr/>
          <p:nvPr/>
        </p:nvSpPr>
        <p:spPr>
          <a:xfrm>
            <a:off x="1131883" y="3193528"/>
            <a:ext cx="929761"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Dark Earth Palette</a:t>
            </a:r>
            <a:endParaRPr lang="en-US" sz="1600" dirty="0"/>
          </a:p>
        </p:txBody>
      </p:sp>
      <p:sp>
        <p:nvSpPr>
          <p:cNvPr id="17" name="Shape 15"/>
          <p:cNvSpPr/>
          <p:nvPr/>
        </p:nvSpPr>
        <p:spPr>
          <a:xfrm>
            <a:off x="6158847"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18" name="Shape 16"/>
          <p:cNvSpPr/>
          <p:nvPr/>
        </p:nvSpPr>
        <p:spPr>
          <a:xfrm>
            <a:off x="6158847"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19" name="Text 17"/>
          <p:cNvSpPr/>
          <p:nvPr/>
        </p:nvSpPr>
        <p:spPr>
          <a:xfrm>
            <a:off x="6320545" y="1463363"/>
            <a:ext cx="856997"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Paris Period</a:t>
            </a:r>
            <a:endParaRPr lang="en-US" sz="1600" dirty="0"/>
          </a:p>
        </p:txBody>
      </p:sp>
      <p:sp>
        <p:nvSpPr>
          <p:cNvPr id="20" name="Text 18"/>
          <p:cNvSpPr/>
          <p:nvPr/>
        </p:nvSpPr>
        <p:spPr>
          <a:xfrm>
            <a:off x="11198318" y="149570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1886-1888</a:t>
            </a:r>
            <a:endParaRPr lang="en-US" sz="1600" dirty="0"/>
          </a:p>
        </p:txBody>
      </p:sp>
      <p:sp>
        <p:nvSpPr>
          <p:cNvPr id="21" name="Text 19"/>
          <p:cNvSpPr/>
          <p:nvPr/>
        </p:nvSpPr>
        <p:spPr>
          <a:xfrm>
            <a:off x="6320545"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Moving to Paris transformed his palette. Through brother Theo, he met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Impressionists like Pissarro, Degas, and Seurat</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embracing brighter colors, broken brushwork, and the influence of Japanese ukiyo-e prints.</a:t>
            </a:r>
            <a:endParaRPr lang="en-US" sz="1600" dirty="0"/>
          </a:p>
        </p:txBody>
      </p:sp>
      <p:sp>
        <p:nvSpPr>
          <p:cNvPr id="22" name="Shape 20"/>
          <p:cNvSpPr/>
          <p:nvPr/>
        </p:nvSpPr>
        <p:spPr>
          <a:xfrm>
            <a:off x="6320545"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23" name="Text 21"/>
          <p:cNvSpPr/>
          <p:nvPr/>
        </p:nvSpPr>
        <p:spPr>
          <a:xfrm>
            <a:off x="6417563"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Key Development:</a:t>
            </a:r>
            <a:endParaRPr lang="en-US" sz="1600" dirty="0"/>
          </a:p>
        </p:txBody>
      </p:sp>
      <p:sp>
        <p:nvSpPr>
          <p:cNvPr id="24" name="Text 22"/>
          <p:cNvSpPr/>
          <p:nvPr/>
        </p:nvSpPr>
        <p:spPr>
          <a:xfrm>
            <a:off x="6417563"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Discovery of pure color</a:t>
            </a:r>
            <a:endParaRPr lang="en-US" sz="1600" dirty="0"/>
          </a:p>
        </p:txBody>
      </p:sp>
      <p:sp>
        <p:nvSpPr>
          <p:cNvPr id="25" name="Shape 23"/>
          <p:cNvSpPr/>
          <p:nvPr/>
        </p:nvSpPr>
        <p:spPr>
          <a:xfrm>
            <a:off x="6320545"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26" name="Shape 24"/>
          <p:cNvSpPr/>
          <p:nvPr/>
        </p:nvSpPr>
        <p:spPr>
          <a:xfrm>
            <a:off x="6514582"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p:spPr>
      </p:sp>
      <p:sp>
        <p:nvSpPr>
          <p:cNvPr id="27" name="Shape 25"/>
          <p:cNvSpPr/>
          <p:nvPr/>
        </p:nvSpPr>
        <p:spPr>
          <a:xfrm>
            <a:off x="6708619"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p:spPr>
      </p:sp>
      <p:sp>
        <p:nvSpPr>
          <p:cNvPr id="28" name="Text 26"/>
          <p:cNvSpPr/>
          <p:nvPr/>
        </p:nvSpPr>
        <p:spPr>
          <a:xfrm>
            <a:off x="6967335" y="3193528"/>
            <a:ext cx="1382515"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Bright Impressionist Palette</a:t>
            </a:r>
            <a:endParaRPr lang="en-US" sz="1600" dirty="0"/>
          </a:p>
        </p:txBody>
      </p:sp>
      <p:sp>
        <p:nvSpPr>
          <p:cNvPr id="29" name="Shape 27"/>
          <p:cNvSpPr/>
          <p:nvPr/>
        </p:nvSpPr>
        <p:spPr>
          <a:xfrm>
            <a:off x="323395"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30" name="Shape 28"/>
          <p:cNvSpPr/>
          <p:nvPr/>
        </p:nvSpPr>
        <p:spPr>
          <a:xfrm>
            <a:off x="323395"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31" name="Text 29"/>
          <p:cNvSpPr/>
          <p:nvPr/>
        </p:nvSpPr>
        <p:spPr>
          <a:xfrm>
            <a:off x="485093" y="3832233"/>
            <a:ext cx="848912"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Arles Period</a:t>
            </a:r>
            <a:endParaRPr lang="en-US" sz="1600" dirty="0"/>
          </a:p>
        </p:txBody>
      </p:sp>
      <p:sp>
        <p:nvSpPr>
          <p:cNvPr id="32" name="Text 30"/>
          <p:cNvSpPr/>
          <p:nvPr/>
        </p:nvSpPr>
        <p:spPr>
          <a:xfrm>
            <a:off x="5362739" y="386457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1888-1889</a:t>
            </a:r>
            <a:endParaRPr lang="en-US" sz="1600" dirty="0"/>
          </a:p>
        </p:txBody>
      </p:sp>
      <p:sp>
        <p:nvSpPr>
          <p:cNvPr id="33" name="Text 31"/>
          <p:cNvSpPr/>
          <p:nvPr/>
        </p:nvSpPr>
        <p:spPr>
          <a:xfrm>
            <a:off x="485093"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Seeking the "Japanese" light of the South, Van Gogh created his most iconic works. The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intense Provençal sun</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pushed his colors to pure saturation, developing his signature bold brushwork and emotional expression.</a:t>
            </a:r>
            <a:endParaRPr lang="en-US" sz="1600" dirty="0"/>
          </a:p>
        </p:txBody>
      </p:sp>
      <p:sp>
        <p:nvSpPr>
          <p:cNvPr id="34" name="Shape 32"/>
          <p:cNvSpPr/>
          <p:nvPr/>
        </p:nvSpPr>
        <p:spPr>
          <a:xfrm>
            <a:off x="485093"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35" name="Text 33"/>
          <p:cNvSpPr/>
          <p:nvPr/>
        </p:nvSpPr>
        <p:spPr>
          <a:xfrm>
            <a:off x="582111"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Masterpieces:</a:t>
            </a:r>
            <a:endParaRPr lang="en-US" sz="1600" dirty="0"/>
          </a:p>
        </p:txBody>
      </p:sp>
      <p:sp>
        <p:nvSpPr>
          <p:cNvPr id="36" name="Text 34"/>
          <p:cNvSpPr/>
          <p:nvPr/>
        </p:nvSpPr>
        <p:spPr>
          <a:xfrm>
            <a:off x="582111"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Sunflowers, The Bedroom</a:t>
            </a:r>
            <a:endParaRPr lang="en-US" sz="1600" dirty="0"/>
          </a:p>
        </p:txBody>
      </p:sp>
      <p:sp>
        <p:nvSpPr>
          <p:cNvPr id="37" name="Shape 35"/>
          <p:cNvSpPr/>
          <p:nvPr/>
        </p:nvSpPr>
        <p:spPr>
          <a:xfrm>
            <a:off x="485093"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38" name="Shape 36"/>
          <p:cNvSpPr/>
          <p:nvPr/>
        </p:nvSpPr>
        <p:spPr>
          <a:xfrm>
            <a:off x="679130"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p:spPr>
      </p:sp>
      <p:sp>
        <p:nvSpPr>
          <p:cNvPr id="39" name="Shape 37"/>
          <p:cNvSpPr/>
          <p:nvPr/>
        </p:nvSpPr>
        <p:spPr>
          <a:xfrm>
            <a:off x="873167"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p:spPr>
      </p:sp>
      <p:sp>
        <p:nvSpPr>
          <p:cNvPr id="40" name="Text 38"/>
          <p:cNvSpPr/>
          <p:nvPr/>
        </p:nvSpPr>
        <p:spPr>
          <a:xfrm>
            <a:off x="1131883" y="5562398"/>
            <a:ext cx="1131883"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Pure Color Expression</a:t>
            </a:r>
            <a:endParaRPr lang="en-US" sz="1600" dirty="0"/>
          </a:p>
        </p:txBody>
      </p:sp>
      <p:sp>
        <p:nvSpPr>
          <p:cNvPr id="41" name="Shape 39"/>
          <p:cNvSpPr/>
          <p:nvPr/>
        </p:nvSpPr>
        <p:spPr>
          <a:xfrm>
            <a:off x="6158847"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42" name="Shape 40"/>
          <p:cNvSpPr/>
          <p:nvPr/>
        </p:nvSpPr>
        <p:spPr>
          <a:xfrm>
            <a:off x="6158847"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43" name="Text 41"/>
          <p:cNvSpPr/>
          <p:nvPr/>
        </p:nvSpPr>
        <p:spPr>
          <a:xfrm>
            <a:off x="6320545" y="3832233"/>
            <a:ext cx="832743"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Saint-Rémy</a:t>
            </a:r>
            <a:endParaRPr lang="en-US" sz="1600" dirty="0"/>
          </a:p>
        </p:txBody>
      </p:sp>
      <p:sp>
        <p:nvSpPr>
          <p:cNvPr id="44" name="Text 42"/>
          <p:cNvSpPr/>
          <p:nvPr/>
        </p:nvSpPr>
        <p:spPr>
          <a:xfrm>
            <a:off x="11188591" y="386457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1889-1890</a:t>
            </a:r>
            <a:endParaRPr lang="en-US" sz="1600" dirty="0"/>
          </a:p>
        </p:txBody>
      </p:sp>
      <p:sp>
        <p:nvSpPr>
          <p:cNvPr id="45" name="Text 43"/>
          <p:cNvSpPr/>
          <p:nvPr/>
        </p:nvSpPr>
        <p:spPr>
          <a:xfrm>
            <a:off x="6320545"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During his asylum stay, Van Gogh painted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Confined but prolific, he created swirling, visionary masterpieces that channeled his inner turmoil into transcendent beauty.</a:t>
            </a:r>
            <a:endParaRPr lang="en-US" sz="1600" dirty="0"/>
          </a:p>
        </p:txBody>
      </p:sp>
      <p:sp>
        <p:nvSpPr>
          <p:cNvPr id="46" name="Shape 44"/>
          <p:cNvSpPr/>
          <p:nvPr/>
        </p:nvSpPr>
        <p:spPr>
          <a:xfrm>
            <a:off x="6320545"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47" name="Text 45"/>
          <p:cNvSpPr/>
          <p:nvPr/>
        </p:nvSpPr>
        <p:spPr>
          <a:xfrm>
            <a:off x="6417563"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48" name="Text 46"/>
          <p:cNvSpPr/>
          <p:nvPr/>
        </p:nvSpPr>
        <p:spPr>
          <a:xfrm>
            <a:off x="6417563"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Starry Night (1889)</a:t>
            </a:r>
            <a:endParaRPr lang="en-US" sz="1600" dirty="0"/>
          </a:p>
        </p:txBody>
      </p:sp>
      <p:sp>
        <p:nvSpPr>
          <p:cNvPr id="49" name="Shape 47"/>
          <p:cNvSpPr/>
          <p:nvPr/>
        </p:nvSpPr>
        <p:spPr>
          <a:xfrm>
            <a:off x="6320545"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p:spPr>
      </p:sp>
      <p:sp>
        <p:nvSpPr>
          <p:cNvPr id="50" name="Shape 48"/>
          <p:cNvSpPr/>
          <p:nvPr/>
        </p:nvSpPr>
        <p:spPr>
          <a:xfrm>
            <a:off x="6514582"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51" name="Shape 49"/>
          <p:cNvSpPr/>
          <p:nvPr/>
        </p:nvSpPr>
        <p:spPr>
          <a:xfrm>
            <a:off x="6708619"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p:spPr>
      </p:sp>
      <p:sp>
        <p:nvSpPr>
          <p:cNvPr id="52" name="Text 50"/>
          <p:cNvSpPr/>
          <p:nvPr/>
        </p:nvSpPr>
        <p:spPr>
          <a:xfrm>
            <a:off x="6967335" y="5562398"/>
            <a:ext cx="873167"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Visionary Palette</a:t>
            </a:r>
            <a:endParaRPr lang="en-US" sz="1600" dirty="0"/>
          </a:p>
        </p:txBody>
      </p:sp>
      <p:sp>
        <p:nvSpPr>
          <p:cNvPr id="53" name="Shape 51"/>
          <p:cNvSpPr/>
          <p:nvPr/>
        </p:nvSpPr>
        <p:spPr>
          <a:xfrm>
            <a:off x="335523" y="6015151"/>
            <a:ext cx="11533082" cy="840828"/>
          </a:xfrm>
          <a:custGeom>
            <a:avLst/>
            <a:gdLst/>
            <a:ahLst/>
            <a:cxn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p:spPr>
      </p:sp>
      <p:sp>
        <p:nvSpPr>
          <p:cNvPr id="54" name="Shape 52"/>
          <p:cNvSpPr/>
          <p:nvPr/>
        </p:nvSpPr>
        <p:spPr>
          <a:xfrm>
            <a:off x="335523" y="6015151"/>
            <a:ext cx="24255" cy="840828"/>
          </a:xfrm>
          <a:custGeom>
            <a:avLst/>
            <a:gdLst/>
            <a:ahLst/>
            <a:cxn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p:spPr>
      </p:sp>
      <p:sp>
        <p:nvSpPr>
          <p:cNvPr id="55" name="Text 53"/>
          <p:cNvSpPr/>
          <p:nvPr/>
        </p:nvSpPr>
        <p:spPr>
          <a:xfrm>
            <a:off x="477008" y="6241528"/>
            <a:ext cx="1406769" cy="226377"/>
          </a:xfrm>
          <a:prstGeom prst="rect">
            <a:avLst/>
          </a:prstGeom>
          <a:noFill/>
          <a:ln/>
        </p:spPr>
        <p:txBody>
          <a:bodyPr wrap="square" lIns="0" tIns="0" rIns="0" bIns="0" rtlCol="0" anchor="ctr"/>
          <a:lstStyle/>
          <a:p>
            <a:pPr>
              <a:lnSpc>
                <a:spcPct val="130000"/>
              </a:lnSpc>
            </a:pPr>
            <a:r>
              <a:rPr lang="en-US" sz="1146" b="1" dirty="0">
                <a:solidFill>
                  <a:srgbClr val="F2F2F2"/>
                </a:solidFill>
                <a:latin typeface="Oranienbaum" pitchFamily="34" charset="0"/>
                <a:ea typeface="Oranienbaum" pitchFamily="34" charset="-122"/>
                <a:cs typeface="Oranienbaum" pitchFamily="34" charset="-120"/>
              </a:rPr>
              <a:t>Auvers-sur-Oise Period</a:t>
            </a:r>
            <a:endParaRPr lang="en-US" sz="1600" dirty="0"/>
          </a:p>
        </p:txBody>
      </p:sp>
      <p:sp>
        <p:nvSpPr>
          <p:cNvPr id="56" name="Text 54"/>
          <p:cNvSpPr/>
          <p:nvPr/>
        </p:nvSpPr>
        <p:spPr>
          <a:xfrm>
            <a:off x="477008" y="6467905"/>
            <a:ext cx="1390599" cy="161698"/>
          </a:xfrm>
          <a:prstGeom prst="rect">
            <a:avLst/>
          </a:prstGeom>
          <a:noFill/>
          <a:ln/>
        </p:spPr>
        <p:txBody>
          <a:bodyPr wrap="square" lIns="0" tIns="0" rIns="0" bIns="0" rtlCol="0" anchor="ctr"/>
          <a:lstStyle/>
          <a:p>
            <a:pPr>
              <a:lnSpc>
                <a:spcPct val="120000"/>
              </a:lnSpc>
            </a:pPr>
            <a:r>
              <a:rPr lang="en-US" sz="891" dirty="0">
                <a:solidFill>
                  <a:srgbClr val="C9A36A"/>
                </a:solidFill>
                <a:latin typeface="Quattrocento Sans" pitchFamily="34" charset="0"/>
                <a:ea typeface="Quattrocento Sans" pitchFamily="34" charset="-122"/>
                <a:cs typeface="Quattrocento Sans" pitchFamily="34" charset="-120"/>
              </a:rPr>
              <a:t>1890 • Final Months</a:t>
            </a:r>
            <a:endParaRPr lang="en-US" sz="1600" dirty="0"/>
          </a:p>
        </p:txBody>
      </p:sp>
      <p:sp>
        <p:nvSpPr>
          <p:cNvPr id="57" name="Text 55"/>
          <p:cNvSpPr/>
          <p:nvPr/>
        </p:nvSpPr>
        <p:spPr>
          <a:xfrm>
            <a:off x="6302607" y="6144509"/>
            <a:ext cx="5497719" cy="582111"/>
          </a:xfrm>
          <a:prstGeom prst="rect">
            <a:avLst/>
          </a:prstGeom>
          <a:noFill/>
          <a:ln/>
        </p:spPr>
        <p:txBody>
          <a:bodyPr wrap="square" lIns="0" tIns="0" rIns="0" bIns="0" rtlCol="0" anchor="ctr"/>
          <a:lstStyle/>
          <a:p>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In his final two months, Van Gogh produced </a:t>
            </a:r>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70+ paintings</a:t>
            </a:r>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 with urgent, dramatic brushwork. Works like "Wheatfield with Crows" show heightened emotional intensity and a sense of impending tragedy.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7783" y="367783"/>
            <a:ext cx="11529991" cy="220670"/>
          </a:xfrm>
          <a:prstGeom prst="rect">
            <a:avLst/>
          </a:prstGeom>
          <a:noFill/>
          <a:ln/>
        </p:spPr>
        <p:txBody>
          <a:bodyPr wrap="square" lIns="0" tIns="0" rIns="0" bIns="0" rtlCol="0" anchor="ctr"/>
          <a:lstStyle/>
          <a:p>
            <a:pPr>
              <a:lnSpc>
                <a:spcPct val="120000"/>
              </a:lnSpc>
            </a:pPr>
            <a:r>
              <a:rPr lang="en-US" sz="1158" b="1" spc="232"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67783" y="662009"/>
            <a:ext cx="11677104" cy="441339"/>
          </a:xfrm>
          <a:prstGeom prst="rect">
            <a:avLst/>
          </a:prstGeom>
          <a:noFill/>
          <a:ln/>
        </p:spPr>
        <p:txBody>
          <a:bodyPr wrap="square" lIns="0" tIns="0" rIns="0" bIns="0" rtlCol="0" anchor="ctr"/>
          <a:lstStyle/>
          <a:p>
            <a:pPr>
              <a:lnSpc>
                <a:spcPct val="80000"/>
              </a:lnSpc>
            </a:pPr>
            <a:r>
              <a:rPr lang="en-US" sz="3475" b="1" dirty="0">
                <a:solidFill>
                  <a:srgbClr val="F2F2F2"/>
                </a:solidFill>
                <a:latin typeface="Oranienbaum" pitchFamily="34" charset="0"/>
                <a:ea typeface="Oranienbaum" pitchFamily="34" charset="-122"/>
                <a:cs typeface="Oranienbaum" pitchFamily="34" charset="-120"/>
              </a:rPr>
              <a:t>Signature Techniques: Impasto and Expressive Brushwork</a:t>
            </a:r>
            <a:endParaRPr lang="en-US" sz="1600" dirty="0"/>
          </a:p>
        </p:txBody>
      </p:sp>
      <p:sp>
        <p:nvSpPr>
          <p:cNvPr id="4" name="Shape 2"/>
          <p:cNvSpPr/>
          <p:nvPr/>
        </p:nvSpPr>
        <p:spPr>
          <a:xfrm>
            <a:off x="367783" y="1250462"/>
            <a:ext cx="1029792" cy="18389"/>
          </a:xfrm>
          <a:custGeom>
            <a:avLst/>
            <a:gdLst/>
            <a:ahLst/>
            <a:cxnLst/>
            <a:rect l="l" t="t" r="r" b="b"/>
            <a:pathLst>
              <a:path w="1029792" h="18389">
                <a:moveTo>
                  <a:pt x="0" y="0"/>
                </a:moveTo>
                <a:lnTo>
                  <a:pt x="1029792" y="0"/>
                </a:lnTo>
                <a:lnTo>
                  <a:pt x="1029792" y="18389"/>
                </a:lnTo>
                <a:lnTo>
                  <a:pt x="0" y="18389"/>
                </a:lnTo>
                <a:lnTo>
                  <a:pt x="0" y="0"/>
                </a:lnTo>
                <a:close/>
              </a:path>
            </a:pathLst>
          </a:custGeom>
          <a:solidFill>
            <a:srgbClr val="C9A36A"/>
          </a:solidFill>
          <a:ln/>
        </p:spPr>
      </p:sp>
      <p:sp>
        <p:nvSpPr>
          <p:cNvPr id="5" name="Shape 3"/>
          <p:cNvSpPr/>
          <p:nvPr/>
        </p:nvSpPr>
        <p:spPr>
          <a:xfrm>
            <a:off x="381575"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6" name="Shape 4"/>
          <p:cNvSpPr/>
          <p:nvPr/>
        </p:nvSpPr>
        <p:spPr>
          <a:xfrm>
            <a:off x="381575"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7" name="Shape 5"/>
          <p:cNvSpPr/>
          <p:nvPr/>
        </p:nvSpPr>
        <p:spPr>
          <a:xfrm>
            <a:off x="579258"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8" name="Shape 6"/>
          <p:cNvSpPr/>
          <p:nvPr/>
        </p:nvSpPr>
        <p:spPr>
          <a:xfrm>
            <a:off x="707982" y="1765357"/>
            <a:ext cx="183891" cy="183891"/>
          </a:xfrm>
          <a:custGeom>
            <a:avLst/>
            <a:gdLst/>
            <a:ahLst/>
            <a:cxn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p:spPr>
      </p:sp>
      <p:sp>
        <p:nvSpPr>
          <p:cNvPr id="9" name="Text 7"/>
          <p:cNvSpPr/>
          <p:nvPr/>
        </p:nvSpPr>
        <p:spPr>
          <a:xfrm>
            <a:off x="1130932" y="1710190"/>
            <a:ext cx="216072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The Impasto Technique</a:t>
            </a:r>
            <a:endParaRPr lang="en-US" sz="1600" dirty="0"/>
          </a:p>
        </p:txBody>
      </p:sp>
      <p:sp>
        <p:nvSpPr>
          <p:cNvPr id="10" name="Text 8"/>
          <p:cNvSpPr/>
          <p:nvPr/>
        </p:nvSpPr>
        <p:spPr>
          <a:xfrm>
            <a:off x="579258" y="2225086"/>
            <a:ext cx="5296072" cy="956235"/>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revolutionized painting with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impasto</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—applying paint so thickly that brush or palette knife strokes remain visible, creating a textured, three-dimensional surface. This technique transformed paint from mere color into physical matter with its own presence.</a:t>
            </a:r>
            <a:endParaRPr lang="en-US" sz="1600" dirty="0"/>
          </a:p>
        </p:txBody>
      </p:sp>
      <p:sp>
        <p:nvSpPr>
          <p:cNvPr id="11" name="Shape 9"/>
          <p:cNvSpPr/>
          <p:nvPr/>
        </p:nvSpPr>
        <p:spPr>
          <a:xfrm>
            <a:off x="579258" y="3328434"/>
            <a:ext cx="5222516" cy="1397575"/>
          </a:xfrm>
          <a:custGeom>
            <a:avLst/>
            <a:gdLst/>
            <a:ahLst/>
            <a:cxn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p:spPr>
      </p:sp>
      <p:sp>
        <p:nvSpPr>
          <p:cNvPr id="12" name="Text 10"/>
          <p:cNvSpPr/>
          <p:nvPr/>
        </p:nvSpPr>
        <p:spPr>
          <a:xfrm>
            <a:off x="726371" y="3475548"/>
            <a:ext cx="4992652"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Technical Characteristics:</a:t>
            </a:r>
            <a:endParaRPr lang="en-US" sz="1600" dirty="0"/>
          </a:p>
        </p:txBody>
      </p:sp>
      <p:sp>
        <p:nvSpPr>
          <p:cNvPr id="13" name="Text 11"/>
          <p:cNvSpPr/>
          <p:nvPr/>
        </p:nvSpPr>
        <p:spPr>
          <a:xfrm>
            <a:off x="726371" y="373299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Paint applied straight from tubes without pre-mixing</a:t>
            </a:r>
            <a:endParaRPr lang="en-US" sz="1600" dirty="0"/>
          </a:p>
        </p:txBody>
      </p:sp>
      <p:sp>
        <p:nvSpPr>
          <p:cNvPr id="14" name="Text 12"/>
          <p:cNvSpPr/>
          <p:nvPr/>
        </p:nvSpPr>
        <p:spPr>
          <a:xfrm>
            <a:off x="726371" y="395366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Thick ridges and valleys catch light dynamically</a:t>
            </a:r>
            <a:endParaRPr lang="en-US" sz="1600" dirty="0"/>
          </a:p>
        </p:txBody>
      </p:sp>
      <p:sp>
        <p:nvSpPr>
          <p:cNvPr id="15" name="Text 13"/>
          <p:cNvSpPr/>
          <p:nvPr/>
        </p:nvSpPr>
        <p:spPr>
          <a:xfrm>
            <a:off x="726371" y="417433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Creates tactile, sculptural quality on canvas</a:t>
            </a:r>
            <a:endParaRPr lang="en-US" sz="1600" dirty="0"/>
          </a:p>
        </p:txBody>
      </p:sp>
      <p:sp>
        <p:nvSpPr>
          <p:cNvPr id="16" name="Text 14"/>
          <p:cNvSpPr/>
          <p:nvPr/>
        </p:nvSpPr>
        <p:spPr>
          <a:xfrm>
            <a:off x="726371" y="439500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Enhances emotional intensity through physical texture</a:t>
            </a:r>
            <a:endParaRPr lang="en-US" sz="1600" dirty="0"/>
          </a:p>
        </p:txBody>
      </p:sp>
      <p:sp>
        <p:nvSpPr>
          <p:cNvPr id="17" name="Shape 15"/>
          <p:cNvSpPr/>
          <p:nvPr/>
        </p:nvSpPr>
        <p:spPr>
          <a:xfrm>
            <a:off x="381575"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18" name="Shape 16"/>
          <p:cNvSpPr/>
          <p:nvPr/>
        </p:nvSpPr>
        <p:spPr>
          <a:xfrm>
            <a:off x="381575"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19" name="Shape 17"/>
          <p:cNvSpPr/>
          <p:nvPr/>
        </p:nvSpPr>
        <p:spPr>
          <a:xfrm>
            <a:off x="579258"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0" name="Shape 18"/>
          <p:cNvSpPr/>
          <p:nvPr/>
        </p:nvSpPr>
        <p:spPr>
          <a:xfrm>
            <a:off x="707982" y="5498353"/>
            <a:ext cx="183891" cy="183891"/>
          </a:xfrm>
          <a:custGeom>
            <a:avLst/>
            <a:gdLst/>
            <a:ahLst/>
            <a:cxn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p:spPr>
      </p:sp>
      <p:sp>
        <p:nvSpPr>
          <p:cNvPr id="21" name="Text 19"/>
          <p:cNvSpPr/>
          <p:nvPr/>
        </p:nvSpPr>
        <p:spPr>
          <a:xfrm>
            <a:off x="1130932" y="5443186"/>
            <a:ext cx="205958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Directional Brushwork</a:t>
            </a:r>
            <a:endParaRPr lang="en-US" sz="1600" dirty="0"/>
          </a:p>
        </p:txBody>
      </p:sp>
      <p:sp>
        <p:nvSpPr>
          <p:cNvPr id="22" name="Text 20"/>
          <p:cNvSpPr/>
          <p:nvPr/>
        </p:nvSpPr>
        <p:spPr>
          <a:xfrm>
            <a:off x="579258"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His brushstrokes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follow the form</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of what he painted—radiating like sunlight, undulating like earth, swirling like wind. This creates visual movement that makes static paintings feel alive with energy.</a:t>
            </a:r>
            <a:endParaRPr lang="en-US" sz="1600" dirty="0"/>
          </a:p>
        </p:txBody>
      </p:sp>
      <p:sp>
        <p:nvSpPr>
          <p:cNvPr id="23" name="Shape 21"/>
          <p:cNvSpPr/>
          <p:nvPr/>
        </p:nvSpPr>
        <p:spPr>
          <a:xfrm>
            <a:off x="6221132"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24" name="Shape 22"/>
          <p:cNvSpPr/>
          <p:nvPr/>
        </p:nvSpPr>
        <p:spPr>
          <a:xfrm>
            <a:off x="6221132"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25" name="Shape 23"/>
          <p:cNvSpPr/>
          <p:nvPr/>
        </p:nvSpPr>
        <p:spPr>
          <a:xfrm>
            <a:off x="6418816"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6" name="Shape 24"/>
          <p:cNvSpPr/>
          <p:nvPr/>
        </p:nvSpPr>
        <p:spPr>
          <a:xfrm>
            <a:off x="6547540" y="1765357"/>
            <a:ext cx="183891" cy="183891"/>
          </a:xfrm>
          <a:custGeom>
            <a:avLst/>
            <a:gdLst/>
            <a:ahLst/>
            <a:cxn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p:spPr>
      </p:sp>
      <p:sp>
        <p:nvSpPr>
          <p:cNvPr id="27" name="Text 25"/>
          <p:cNvSpPr/>
          <p:nvPr/>
        </p:nvSpPr>
        <p:spPr>
          <a:xfrm>
            <a:off x="6970490" y="1710190"/>
            <a:ext cx="1986027"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Color Theory Mastery</a:t>
            </a:r>
            <a:endParaRPr lang="en-US" sz="1600" dirty="0"/>
          </a:p>
        </p:txBody>
      </p:sp>
      <p:sp>
        <p:nvSpPr>
          <p:cNvPr id="28" name="Text 26"/>
          <p:cNvSpPr/>
          <p:nvPr/>
        </p:nvSpPr>
        <p:spPr>
          <a:xfrm>
            <a:off x="6418816" y="2225086"/>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used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complementary colors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(blue-orange, yellow-purple, red-green) in bold contrasts to create visual vibration and emotional intensity. He painted not what he saw, but what he felt.</a:t>
            </a:r>
            <a:endParaRPr lang="en-US" sz="1600" dirty="0"/>
          </a:p>
        </p:txBody>
      </p:sp>
      <p:sp>
        <p:nvSpPr>
          <p:cNvPr id="29" name="Shape 27"/>
          <p:cNvSpPr/>
          <p:nvPr/>
        </p:nvSpPr>
        <p:spPr>
          <a:xfrm>
            <a:off x="6418816"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4169E1"/>
              </a:gs>
              <a:gs pos="100000">
                <a:srgbClr val="FFD700"/>
              </a:gs>
            </a:gsLst>
            <a:lin ang="2700000" scaled="1"/>
          </a:gradFill>
          <a:ln/>
        </p:spPr>
      </p:sp>
      <p:sp>
        <p:nvSpPr>
          <p:cNvPr id="30" name="Text 28"/>
          <p:cNvSpPr/>
          <p:nvPr/>
        </p:nvSpPr>
        <p:spPr>
          <a:xfrm>
            <a:off x="6391232"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Blue/Yellow</a:t>
            </a:r>
            <a:endParaRPr lang="en-US" sz="1600" dirty="0"/>
          </a:p>
        </p:txBody>
      </p:sp>
      <p:sp>
        <p:nvSpPr>
          <p:cNvPr id="31" name="Shape 29"/>
          <p:cNvSpPr/>
          <p:nvPr/>
        </p:nvSpPr>
        <p:spPr>
          <a:xfrm>
            <a:off x="8196744"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FF6347"/>
              </a:gs>
              <a:gs pos="100000">
                <a:srgbClr val="40E0D0"/>
              </a:gs>
            </a:gsLst>
            <a:lin ang="2700000" scaled="1"/>
          </a:gradFill>
          <a:ln/>
        </p:spPr>
      </p:sp>
      <p:sp>
        <p:nvSpPr>
          <p:cNvPr id="32" name="Text 30"/>
          <p:cNvSpPr/>
          <p:nvPr/>
        </p:nvSpPr>
        <p:spPr>
          <a:xfrm>
            <a:off x="8169160"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Red/Cyan</a:t>
            </a:r>
            <a:endParaRPr lang="en-US" sz="1600" dirty="0"/>
          </a:p>
        </p:txBody>
      </p:sp>
      <p:sp>
        <p:nvSpPr>
          <p:cNvPr id="33" name="Shape 31"/>
          <p:cNvSpPr/>
          <p:nvPr/>
        </p:nvSpPr>
        <p:spPr>
          <a:xfrm>
            <a:off x="9974672"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8B4513"/>
              </a:gs>
              <a:gs pos="100000">
                <a:srgbClr val="87CEEB"/>
              </a:gs>
            </a:gsLst>
            <a:lin ang="2700000" scaled="1"/>
          </a:gradFill>
          <a:ln/>
        </p:spPr>
      </p:sp>
      <p:sp>
        <p:nvSpPr>
          <p:cNvPr id="34" name="Text 32"/>
          <p:cNvSpPr/>
          <p:nvPr/>
        </p:nvSpPr>
        <p:spPr>
          <a:xfrm>
            <a:off x="9947088"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Brown/Sky</a:t>
            </a:r>
            <a:endParaRPr lang="en-US" sz="1600" dirty="0"/>
          </a:p>
        </p:txBody>
      </p:sp>
      <p:sp>
        <p:nvSpPr>
          <p:cNvPr id="35" name="Shape 33"/>
          <p:cNvSpPr/>
          <p:nvPr/>
        </p:nvSpPr>
        <p:spPr>
          <a:xfrm>
            <a:off x="6418816" y="4045611"/>
            <a:ext cx="5222516" cy="809122"/>
          </a:xfrm>
          <a:custGeom>
            <a:avLst/>
            <a:gdLst/>
            <a:ahLst/>
            <a:cxn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p:spPr>
      </p:sp>
      <p:sp>
        <p:nvSpPr>
          <p:cNvPr id="36" name="Text 34"/>
          <p:cNvSpPr/>
          <p:nvPr/>
        </p:nvSpPr>
        <p:spPr>
          <a:xfrm>
            <a:off x="6529150" y="4155946"/>
            <a:ext cx="5066208"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Philosophy:</a:t>
            </a:r>
            <a:endParaRPr lang="en-US" sz="1600" dirty="0"/>
          </a:p>
        </p:txBody>
      </p:sp>
      <p:sp>
        <p:nvSpPr>
          <p:cNvPr id="37" name="Text 35"/>
          <p:cNvSpPr/>
          <p:nvPr/>
        </p:nvSpPr>
        <p:spPr>
          <a:xfrm>
            <a:off x="6529150" y="4376615"/>
            <a:ext cx="5066208" cy="367783"/>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"Color expresses something in itself... I use color arbitrarily to express myself more forcefully."</a:t>
            </a:r>
            <a:endParaRPr lang="en-US" sz="1600" dirty="0"/>
          </a:p>
        </p:txBody>
      </p:sp>
      <p:sp>
        <p:nvSpPr>
          <p:cNvPr id="38" name="Shape 36"/>
          <p:cNvSpPr/>
          <p:nvPr/>
        </p:nvSpPr>
        <p:spPr>
          <a:xfrm>
            <a:off x="6221132"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39" name="Shape 37"/>
          <p:cNvSpPr/>
          <p:nvPr/>
        </p:nvSpPr>
        <p:spPr>
          <a:xfrm>
            <a:off x="6221132"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40" name="Shape 38"/>
          <p:cNvSpPr/>
          <p:nvPr/>
        </p:nvSpPr>
        <p:spPr>
          <a:xfrm>
            <a:off x="6418816"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41" name="Shape 39"/>
          <p:cNvSpPr/>
          <p:nvPr/>
        </p:nvSpPr>
        <p:spPr>
          <a:xfrm>
            <a:off x="6559033" y="5498353"/>
            <a:ext cx="160905" cy="183891"/>
          </a:xfrm>
          <a:custGeom>
            <a:avLst/>
            <a:gdLst/>
            <a:ahLst/>
            <a:cxn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p:spPr>
      </p:sp>
      <p:sp>
        <p:nvSpPr>
          <p:cNvPr id="42" name="Text 40"/>
          <p:cNvSpPr/>
          <p:nvPr/>
        </p:nvSpPr>
        <p:spPr>
          <a:xfrm>
            <a:off x="6970490" y="5443186"/>
            <a:ext cx="1811330"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Japanese Influence</a:t>
            </a:r>
            <a:endParaRPr lang="en-US" sz="1600" dirty="0"/>
          </a:p>
        </p:txBody>
      </p:sp>
      <p:sp>
        <p:nvSpPr>
          <p:cNvPr id="43" name="Text 41"/>
          <p:cNvSpPr/>
          <p:nvPr/>
        </p:nvSpPr>
        <p:spPr>
          <a:xfrm>
            <a:off x="6418816"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collected hundreds of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ukiyo-e woodblock prints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which influenced his use of bold outlines, flat areas of color, cropped compositions, and decorative patterning—liberating him from Western academic conventions.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pic>
        <p:nvPicPr>
          <p:cNvPr id="2" name="Image 0" descr="https://kimi-web-img.moonshot.cn/img/shop.getty.edu/b81876162f29e37875b241e9fd9df763d9372e5d.jpeg">    </p:cNvPr>
          <p:cNvPicPr>
            <a:picLocks noChangeAspect="1"/>
          </p:cNvPicPr>
          <p:nvPr/>
        </p:nvPicPr>
        <p:blipFill>
          <a:blip r:embed="rId1">
            <a:alphaModFix amt="30000"/>
          </a:blip>
          <a:srcRect l="0" r="0" t="14248" b="1424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725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Masterpieces That</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Define an Era</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The Starry Night: A Visionary Masterpiece</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1469" y="1226344"/>
            <a:ext cx="5103813" cy="4048125"/>
          </a:xfrm>
          <a:custGeom>
            <a:avLst/>
            <a:gdLst/>
            <a:ahLst/>
            <a:cxn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prstDash val="solid"/>
          </a:ln>
        </p:spPr>
      </p:sp>
      <p:pic>
        <p:nvPicPr>
          <p:cNvPr id="6" name="Image 0" descr="https://kimi-web-img.moonshot.cn/img/upload.wikimedia.org/2a76e887bbbc41542f357db36c5477fb94cd15f0.jpg">    </p:cNvPr>
          <p:cNvPicPr>
            <a:picLocks noChangeAspect="1"/>
          </p:cNvPicPr>
          <p:nvPr/>
        </p:nvPicPr>
        <p:blipFill>
          <a:blip r:embed="rId1"/>
          <a:srcRect l="41" r="41" t="0" b="0"/>
          <a:stretch/>
        </p:blipFill>
        <p:spPr>
          <a:xfrm>
            <a:off x="325438" y="1230313"/>
            <a:ext cx="5095875" cy="4040188"/>
          </a:xfrm>
          <a:prstGeom prst="roundRect">
            <a:avLst>
              <a:gd name="adj" fmla="val 1572"/>
            </a:avLst>
          </a:prstGeom>
        </p:spPr>
      </p:pic>
      <p:sp>
        <p:nvSpPr>
          <p:cNvPr id="7" name="Shape 4"/>
          <p:cNvSpPr/>
          <p:nvPr/>
        </p:nvSpPr>
        <p:spPr>
          <a:xfrm>
            <a:off x="329406" y="5404631"/>
            <a:ext cx="5099844" cy="1174750"/>
          </a:xfrm>
          <a:custGeom>
            <a:avLst/>
            <a:gdLst/>
            <a:ahLst/>
            <a:cxn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p:spPr>
      </p:sp>
      <p:sp>
        <p:nvSpPr>
          <p:cNvPr id="8" name="Shape 5"/>
          <p:cNvSpPr/>
          <p:nvPr/>
        </p:nvSpPr>
        <p:spPr>
          <a:xfrm>
            <a:off x="329406" y="5404631"/>
            <a:ext cx="23813" cy="1174750"/>
          </a:xfrm>
          <a:custGeom>
            <a:avLst/>
            <a:gdLst/>
            <a:ahLst/>
            <a:cxn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p:spPr>
      </p:sp>
      <p:sp>
        <p:nvSpPr>
          <p:cNvPr id="9" name="Text 6"/>
          <p:cNvSpPr/>
          <p:nvPr/>
        </p:nvSpPr>
        <p:spPr>
          <a:xfrm>
            <a:off x="468313" y="5531631"/>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Painting Details</a:t>
            </a:r>
            <a:endParaRPr lang="en-US" sz="1600" dirty="0"/>
          </a:p>
        </p:txBody>
      </p:sp>
      <p:sp>
        <p:nvSpPr>
          <p:cNvPr id="10" name="Text 7"/>
          <p:cNvSpPr/>
          <p:nvPr/>
        </p:nvSpPr>
        <p:spPr>
          <a:xfrm>
            <a:off x="468313" y="5753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Year</a:t>
            </a:r>
            <a:endParaRPr lang="en-US" sz="1600" dirty="0"/>
          </a:p>
        </p:txBody>
      </p:sp>
      <p:sp>
        <p:nvSpPr>
          <p:cNvPr id="11" name="Text 8"/>
          <p:cNvSpPr/>
          <p:nvPr/>
        </p:nvSpPr>
        <p:spPr>
          <a:xfrm>
            <a:off x="468313" y="5912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June 1889</a:t>
            </a:r>
            <a:endParaRPr lang="en-US" sz="1600" dirty="0"/>
          </a:p>
        </p:txBody>
      </p:sp>
      <p:sp>
        <p:nvSpPr>
          <p:cNvPr id="12" name="Text 9"/>
          <p:cNvSpPr/>
          <p:nvPr/>
        </p:nvSpPr>
        <p:spPr>
          <a:xfrm>
            <a:off x="2918582" y="5753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Medium</a:t>
            </a:r>
            <a:endParaRPr lang="en-US" sz="1600" dirty="0"/>
          </a:p>
        </p:txBody>
      </p:sp>
      <p:sp>
        <p:nvSpPr>
          <p:cNvPr id="13" name="Text 10"/>
          <p:cNvSpPr/>
          <p:nvPr/>
        </p:nvSpPr>
        <p:spPr>
          <a:xfrm>
            <a:off x="2918582" y="5912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Oil on canvas</a:t>
            </a:r>
            <a:endParaRPr lang="en-US" sz="1600" dirty="0"/>
          </a:p>
        </p:txBody>
      </p:sp>
      <p:sp>
        <p:nvSpPr>
          <p:cNvPr id="14" name="Text 11"/>
          <p:cNvSpPr/>
          <p:nvPr/>
        </p:nvSpPr>
        <p:spPr>
          <a:xfrm>
            <a:off x="468313" y="6134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Dimensions</a:t>
            </a:r>
            <a:endParaRPr lang="en-US" sz="1600" dirty="0"/>
          </a:p>
        </p:txBody>
      </p:sp>
      <p:sp>
        <p:nvSpPr>
          <p:cNvPr id="15" name="Text 12"/>
          <p:cNvSpPr/>
          <p:nvPr/>
        </p:nvSpPr>
        <p:spPr>
          <a:xfrm>
            <a:off x="468313" y="6293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73.7 × 92.1 cm</a:t>
            </a:r>
            <a:endParaRPr lang="en-US" sz="1600" dirty="0"/>
          </a:p>
        </p:txBody>
      </p:sp>
      <p:sp>
        <p:nvSpPr>
          <p:cNvPr id="16" name="Text 13"/>
          <p:cNvSpPr/>
          <p:nvPr/>
        </p:nvSpPr>
        <p:spPr>
          <a:xfrm>
            <a:off x="2918582" y="6134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Location</a:t>
            </a:r>
            <a:endParaRPr lang="en-US" sz="1600" dirty="0"/>
          </a:p>
        </p:txBody>
      </p:sp>
      <p:sp>
        <p:nvSpPr>
          <p:cNvPr id="17" name="Text 14"/>
          <p:cNvSpPr/>
          <p:nvPr/>
        </p:nvSpPr>
        <p:spPr>
          <a:xfrm>
            <a:off x="2918582" y="6293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MoMA, New York</a:t>
            </a:r>
            <a:endParaRPr lang="en-US" sz="1600" dirty="0"/>
          </a:p>
        </p:txBody>
      </p:sp>
      <p:sp>
        <p:nvSpPr>
          <p:cNvPr id="18" name="Shape 15"/>
          <p:cNvSpPr/>
          <p:nvPr/>
        </p:nvSpPr>
        <p:spPr>
          <a:xfrm>
            <a:off x="5634819"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19" name="Shape 16"/>
          <p:cNvSpPr/>
          <p:nvPr/>
        </p:nvSpPr>
        <p:spPr>
          <a:xfrm>
            <a:off x="5634819"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20" name="Text 17"/>
          <p:cNvSpPr/>
          <p:nvPr/>
        </p:nvSpPr>
        <p:spPr>
          <a:xfrm>
            <a:off x="5805475"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View from the Asylum</a:t>
            </a:r>
            <a:endParaRPr lang="en-US" sz="1600" dirty="0"/>
          </a:p>
        </p:txBody>
      </p:sp>
      <p:sp>
        <p:nvSpPr>
          <p:cNvPr id="21" name="Text 18"/>
          <p:cNvSpPr/>
          <p:nvPr/>
        </p:nvSpPr>
        <p:spPr>
          <a:xfrm>
            <a:off x="5805475" y="173037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Painted during his stay at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Saint-Paul-de-Mausole asylum</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in Saint-Rémy-de-Provence, "The Starry Night" depicts the view from his bedroom window just before sunrise. However, Van Gogh painted this masterpiece from memory during the day, transforming observation into visionary experience.</a:t>
            </a:r>
            <a:endParaRPr lang="en-US" sz="1600" dirty="0"/>
          </a:p>
        </p:txBody>
      </p:sp>
      <p:sp>
        <p:nvSpPr>
          <p:cNvPr id="22" name="Text 19"/>
          <p:cNvSpPr/>
          <p:nvPr/>
        </p:nvSpPr>
        <p:spPr>
          <a:xfrm>
            <a:off x="5805475"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painting represents both his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inner turmoil</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and his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transcendent hope</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swirling chaos of the sky contrasted with the peaceful village below, suggesting that even in madness, beauty and meaning can be found.</a:t>
            </a:r>
            <a:endParaRPr lang="en-US" sz="1600" dirty="0"/>
          </a:p>
        </p:txBody>
      </p:sp>
      <p:sp>
        <p:nvSpPr>
          <p:cNvPr id="23" name="Shape 20"/>
          <p:cNvSpPr/>
          <p:nvPr/>
        </p:nvSpPr>
        <p:spPr>
          <a:xfrm>
            <a:off x="5634819"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24" name="Shape 21"/>
          <p:cNvSpPr/>
          <p:nvPr/>
        </p:nvSpPr>
        <p:spPr>
          <a:xfrm>
            <a:off x="5634819"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25" name="Text 22"/>
          <p:cNvSpPr/>
          <p:nvPr/>
        </p:nvSpPr>
        <p:spPr>
          <a:xfrm>
            <a:off x="5805475"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Scientific Revelation</a:t>
            </a:r>
            <a:endParaRPr lang="en-US" sz="1600" dirty="0"/>
          </a:p>
        </p:txBody>
      </p:sp>
      <p:sp>
        <p:nvSpPr>
          <p:cNvPr id="26" name="Text 23"/>
          <p:cNvSpPr/>
          <p:nvPr/>
        </p:nvSpPr>
        <p:spPr>
          <a:xfrm>
            <a:off x="5805475"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In 2006, scientists analyzing the painting's swirling patterns discovered something remarkable: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Van Gogh's turbulent brushstrokes accurately depict the physics of fluid turbulence</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—mathematical patterns that scientists wouldn't fully understand until decades after his death.</a:t>
            </a:r>
            <a:endParaRPr lang="en-US" sz="1600" dirty="0"/>
          </a:p>
        </p:txBody>
      </p:sp>
      <p:sp>
        <p:nvSpPr>
          <p:cNvPr id="27" name="Shape 24"/>
          <p:cNvSpPr/>
          <p:nvPr/>
        </p:nvSpPr>
        <p:spPr>
          <a:xfrm>
            <a:off x="5805475"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28" name="Text 25"/>
          <p:cNvSpPr/>
          <p:nvPr/>
        </p:nvSpPr>
        <p:spPr>
          <a:xfrm>
            <a:off x="5900725"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Key Insight:</a:t>
            </a:r>
            <a:endParaRPr lang="en-US" sz="1600" dirty="0"/>
          </a:p>
        </p:txBody>
      </p:sp>
      <p:sp>
        <p:nvSpPr>
          <p:cNvPr id="29" name="Text 26"/>
          <p:cNvSpPr/>
          <p:nvPr/>
        </p:nvSpPr>
        <p:spPr>
          <a:xfrm>
            <a:off x="5900725" y="4857750"/>
            <a:ext cx="5778500" cy="31750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The spiral patterns in "The Starry Night" follow Kolmogorov's theory of turbulence, showing Van Gogh's intuitive grasp of natural phenomena that science would later formalize.</a:t>
            </a:r>
            <a:endParaRPr lang="en-US" sz="1600" dirty="0"/>
          </a:p>
        </p:txBody>
      </p:sp>
      <p:sp>
        <p:nvSpPr>
          <p:cNvPr id="30" name="Shape 27"/>
          <p:cNvSpPr/>
          <p:nvPr/>
        </p:nvSpPr>
        <p:spPr>
          <a:xfrm>
            <a:off x="5626881" y="5560219"/>
            <a:ext cx="6246813" cy="896938"/>
          </a:xfrm>
          <a:custGeom>
            <a:avLst/>
            <a:gdLst/>
            <a:ahLst/>
            <a:cxn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1" name="Shape 28"/>
          <p:cNvSpPr/>
          <p:nvPr/>
        </p:nvSpPr>
        <p:spPr>
          <a:xfrm>
            <a:off x="57638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32" name="Text 29"/>
          <p:cNvSpPr/>
          <p:nvPr/>
        </p:nvSpPr>
        <p:spPr>
          <a:xfrm>
            <a:off x="6002486" y="5691188"/>
            <a:ext cx="5802313" cy="412750"/>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"This morning I saw the countryside from my window a long time before sunrise, with nothing but the morning star, which looked very big."</a:t>
            </a:r>
            <a:endParaRPr lang="en-US" sz="1600" dirty="0"/>
          </a:p>
        </p:txBody>
      </p:sp>
      <p:sp>
        <p:nvSpPr>
          <p:cNvPr id="33" name="Text 30"/>
          <p:cNvSpPr/>
          <p:nvPr/>
        </p:nvSpPr>
        <p:spPr>
          <a:xfrm>
            <a:off x="6002486" y="6167438"/>
            <a:ext cx="579437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Letter to Theo, June 1889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Sunflowers: The Celebration of Color and Light</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9406"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6" name="Shape 4"/>
          <p:cNvSpPr/>
          <p:nvPr/>
        </p:nvSpPr>
        <p:spPr>
          <a:xfrm>
            <a:off x="329406"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7" name="Text 5"/>
          <p:cNvSpPr/>
          <p:nvPr/>
        </p:nvSpPr>
        <p:spPr>
          <a:xfrm>
            <a:off x="500063"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Series of Joy</a:t>
            </a:r>
            <a:endParaRPr lang="en-US" sz="1600" dirty="0"/>
          </a:p>
        </p:txBody>
      </p:sp>
      <p:sp>
        <p:nvSpPr>
          <p:cNvPr id="8" name="Text 6"/>
          <p:cNvSpPr/>
          <p:nvPr/>
        </p:nvSpPr>
        <p:spPr>
          <a:xfrm>
            <a:off x="500063" y="173037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Van Gogh painted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five versions of sunflowers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in Arles between 1888-1889, using only three shades of yellow and nothing else. This deliberate limitation was an artistic challenge—to create variety and depth using a single color family.</a:t>
            </a:r>
            <a:endParaRPr lang="en-US" sz="1600" dirty="0"/>
          </a:p>
        </p:txBody>
      </p:sp>
      <p:sp>
        <p:nvSpPr>
          <p:cNvPr id="9" name="Text 7"/>
          <p:cNvSpPr/>
          <p:nvPr/>
        </p:nvSpPr>
        <p:spPr>
          <a:xfrm>
            <a:off x="500063"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flowers represent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gratitude and friendship</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Van Gogh painted them to decorate the room where his friend Paul Gauguin would stay, hoping to create an artist's colony in the Yellow House. The series embodies his search for joy and connection.</a:t>
            </a:r>
            <a:endParaRPr lang="en-US" sz="1600" dirty="0"/>
          </a:p>
        </p:txBody>
      </p:sp>
      <p:sp>
        <p:nvSpPr>
          <p:cNvPr id="10" name="Shape 8"/>
          <p:cNvSpPr/>
          <p:nvPr/>
        </p:nvSpPr>
        <p:spPr>
          <a:xfrm>
            <a:off x="329406"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11" name="Shape 9"/>
          <p:cNvSpPr/>
          <p:nvPr/>
        </p:nvSpPr>
        <p:spPr>
          <a:xfrm>
            <a:off x="329406"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12" name="Text 10"/>
          <p:cNvSpPr/>
          <p:nvPr/>
        </p:nvSpPr>
        <p:spPr>
          <a:xfrm>
            <a:off x="500063"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Color as Emotion</a:t>
            </a:r>
            <a:endParaRPr lang="en-US" sz="1600" dirty="0"/>
          </a:p>
        </p:txBody>
      </p:sp>
      <p:sp>
        <p:nvSpPr>
          <p:cNvPr id="13" name="Text 11"/>
          <p:cNvSpPr/>
          <p:nvPr/>
        </p:nvSpPr>
        <p:spPr>
          <a:xfrm>
            <a:off x="500063"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vibrant yellows were revolutionary. Van Gogh used newly developed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chrome yellow pigments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that were more intense than any previously available. The thick impasto technique makes the petals feel almost three-dimensional, as if reaching toward the viewer.</a:t>
            </a:r>
            <a:endParaRPr lang="en-US" sz="1600" dirty="0"/>
          </a:p>
        </p:txBody>
      </p:sp>
      <p:sp>
        <p:nvSpPr>
          <p:cNvPr id="14" name="Shape 12"/>
          <p:cNvSpPr/>
          <p:nvPr/>
        </p:nvSpPr>
        <p:spPr>
          <a:xfrm>
            <a:off x="500063"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15" name="Text 13"/>
          <p:cNvSpPr/>
          <p:nvPr/>
        </p:nvSpPr>
        <p:spPr>
          <a:xfrm>
            <a:off x="595313"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Symbolic Meaning:</a:t>
            </a:r>
            <a:endParaRPr lang="en-US" sz="1600" dirty="0"/>
          </a:p>
        </p:txBody>
      </p:sp>
      <p:sp>
        <p:nvSpPr>
          <p:cNvPr id="16" name="Text 14"/>
          <p:cNvSpPr/>
          <p:nvPr/>
        </p:nvSpPr>
        <p:spPr>
          <a:xfrm>
            <a:off x="595313" y="4857750"/>
            <a:ext cx="5778500" cy="31750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Sunflowers follow the sun—turning their faces toward light. For Van Gogh, they represented faith, adoration, and the pursuit of light even in darkness.</a:t>
            </a:r>
            <a:endParaRPr lang="en-US" sz="1600" dirty="0"/>
          </a:p>
        </p:txBody>
      </p:sp>
      <p:sp>
        <p:nvSpPr>
          <p:cNvPr id="17" name="Shape 15"/>
          <p:cNvSpPr/>
          <p:nvPr/>
        </p:nvSpPr>
        <p:spPr>
          <a:xfrm>
            <a:off x="321469" y="5560219"/>
            <a:ext cx="6246813" cy="690563"/>
          </a:xfrm>
          <a:custGeom>
            <a:avLst/>
            <a:gdLst/>
            <a:ahLst/>
            <a:cxn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8" name="Shape 16"/>
          <p:cNvSpPr/>
          <p:nvPr/>
        </p:nvSpPr>
        <p:spPr>
          <a:xfrm>
            <a:off x="4822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19" name="Text 17"/>
          <p:cNvSpPr/>
          <p:nvPr/>
        </p:nvSpPr>
        <p:spPr>
          <a:xfrm>
            <a:off x="746125" y="5691188"/>
            <a:ext cx="1897063" cy="206375"/>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"The sunflower is mine, in a way."</a:t>
            </a:r>
            <a:endParaRPr lang="en-US" sz="1600" dirty="0"/>
          </a:p>
        </p:txBody>
      </p:sp>
      <p:sp>
        <p:nvSpPr>
          <p:cNvPr id="20" name="Text 18"/>
          <p:cNvSpPr/>
          <p:nvPr/>
        </p:nvSpPr>
        <p:spPr>
          <a:xfrm>
            <a:off x="746125" y="5961063"/>
            <a:ext cx="188912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21" name="Shape 19"/>
          <p:cNvSpPr/>
          <p:nvPr/>
        </p:nvSpPr>
        <p:spPr>
          <a:xfrm>
            <a:off x="6763556" y="1226344"/>
            <a:ext cx="5103813" cy="6905625"/>
          </a:xfrm>
          <a:custGeom>
            <a:avLst/>
            <a:gdLst/>
            <a:ahLst/>
            <a:cxn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prstDash val="solid"/>
          </a:ln>
        </p:spPr>
      </p:sp>
      <p:pic>
        <p:nvPicPr>
          <p:cNvPr id="22" name="Image 0" descr="https://kimi-web-img.moonshot.cn/img/c8.alamy.com/4f9d9130455f4d43c482b3a73624e14e2617f7f6.jpg">    </p:cNvPr>
          <p:cNvPicPr>
            <a:picLocks noChangeAspect="1"/>
          </p:cNvPicPr>
          <p:nvPr/>
        </p:nvPicPr>
        <p:blipFill>
          <a:blip r:embed="rId1"/>
          <a:srcRect l="53" r="53" t="0" b="0"/>
          <a:stretch/>
        </p:blipFill>
        <p:spPr>
          <a:xfrm>
            <a:off x="6767525" y="1230313"/>
            <a:ext cx="5095875" cy="6897688"/>
          </a:xfrm>
          <a:prstGeom prst="roundRect">
            <a:avLst>
              <a:gd name="adj" fmla="val 1246"/>
            </a:avLst>
          </a:prstGeom>
        </p:spPr>
      </p:pic>
      <p:sp>
        <p:nvSpPr>
          <p:cNvPr id="23" name="Shape 20"/>
          <p:cNvSpPr/>
          <p:nvPr/>
        </p:nvSpPr>
        <p:spPr>
          <a:xfrm>
            <a:off x="6771494" y="8259837"/>
            <a:ext cx="5099844" cy="1301750"/>
          </a:xfrm>
          <a:custGeom>
            <a:avLst/>
            <a:gdLst/>
            <a:ahLst/>
            <a:cxn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p:spPr>
      </p:sp>
      <p:sp>
        <p:nvSpPr>
          <p:cNvPr id="24" name="Shape 21"/>
          <p:cNvSpPr/>
          <p:nvPr/>
        </p:nvSpPr>
        <p:spPr>
          <a:xfrm>
            <a:off x="6771494" y="8259837"/>
            <a:ext cx="23813" cy="1301750"/>
          </a:xfrm>
          <a:custGeom>
            <a:avLst/>
            <a:gdLst/>
            <a:ahLst/>
            <a:cxn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p:spPr>
      </p:sp>
      <p:sp>
        <p:nvSpPr>
          <p:cNvPr id="25" name="Text 22"/>
          <p:cNvSpPr/>
          <p:nvPr/>
        </p:nvSpPr>
        <p:spPr>
          <a:xfrm>
            <a:off x="6910400" y="8386837"/>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Series Overview</a:t>
            </a:r>
            <a:endParaRPr lang="en-US" sz="1600" dirty="0"/>
          </a:p>
        </p:txBody>
      </p:sp>
      <p:sp>
        <p:nvSpPr>
          <p:cNvPr id="26" name="Text 23"/>
          <p:cNvSpPr/>
          <p:nvPr/>
        </p:nvSpPr>
        <p:spPr>
          <a:xfrm>
            <a:off x="6910400" y="8609087"/>
            <a:ext cx="857250"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Versions Painted</a:t>
            </a:r>
            <a:endParaRPr lang="en-US" sz="1600" dirty="0"/>
          </a:p>
        </p:txBody>
      </p:sp>
      <p:sp>
        <p:nvSpPr>
          <p:cNvPr id="27" name="Text 24"/>
          <p:cNvSpPr/>
          <p:nvPr/>
        </p:nvSpPr>
        <p:spPr>
          <a:xfrm>
            <a:off x="10954246" y="8609087"/>
            <a:ext cx="849313"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5 major versions</a:t>
            </a:r>
            <a:endParaRPr lang="en-US" sz="1600" dirty="0"/>
          </a:p>
        </p:txBody>
      </p:sp>
      <p:sp>
        <p:nvSpPr>
          <p:cNvPr id="28" name="Text 25"/>
          <p:cNvSpPr/>
          <p:nvPr/>
        </p:nvSpPr>
        <p:spPr>
          <a:xfrm>
            <a:off x="6910400" y="8831337"/>
            <a:ext cx="627063"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Time Period</a:t>
            </a:r>
            <a:endParaRPr lang="en-US" sz="1600" dirty="0"/>
          </a:p>
        </p:txBody>
      </p:sp>
      <p:sp>
        <p:nvSpPr>
          <p:cNvPr id="29" name="Text 26"/>
          <p:cNvSpPr/>
          <p:nvPr/>
        </p:nvSpPr>
        <p:spPr>
          <a:xfrm>
            <a:off x="11251654" y="8831337"/>
            <a:ext cx="547688"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1888-1889</a:t>
            </a:r>
            <a:endParaRPr lang="en-US" sz="1600" dirty="0"/>
          </a:p>
        </p:txBody>
      </p:sp>
      <p:sp>
        <p:nvSpPr>
          <p:cNvPr id="30" name="Text 27"/>
          <p:cNvSpPr/>
          <p:nvPr/>
        </p:nvSpPr>
        <p:spPr>
          <a:xfrm>
            <a:off x="6910400" y="905358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Primary Color</a:t>
            </a:r>
            <a:endParaRPr lang="en-US" sz="1600" dirty="0"/>
          </a:p>
        </p:txBody>
      </p:sp>
      <p:sp>
        <p:nvSpPr>
          <p:cNvPr id="31" name="Text 28"/>
          <p:cNvSpPr/>
          <p:nvPr/>
        </p:nvSpPr>
        <p:spPr>
          <a:xfrm>
            <a:off x="11006460" y="9053587"/>
            <a:ext cx="793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Chrome Yellow</a:t>
            </a:r>
            <a:endParaRPr lang="en-US" sz="1600" dirty="0"/>
          </a:p>
        </p:txBody>
      </p:sp>
      <p:sp>
        <p:nvSpPr>
          <p:cNvPr id="32" name="Text 29"/>
          <p:cNvSpPr/>
          <p:nvPr/>
        </p:nvSpPr>
        <p:spPr>
          <a:xfrm>
            <a:off x="6910400" y="927583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Current Value</a:t>
            </a:r>
            <a:endParaRPr lang="en-US" sz="1600" dirty="0"/>
          </a:p>
        </p:txBody>
      </p:sp>
      <p:sp>
        <p:nvSpPr>
          <p:cNvPr id="33" name="Text 30"/>
          <p:cNvSpPr/>
          <p:nvPr/>
        </p:nvSpPr>
        <p:spPr>
          <a:xfrm>
            <a:off x="11105307" y="9275837"/>
            <a:ext cx="69850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3342" y="333342"/>
            <a:ext cx="11591984" cy="200005"/>
          </a:xfrm>
          <a:prstGeom prst="rect">
            <a:avLst/>
          </a:prstGeom>
          <a:noFill/>
          <a:ln/>
        </p:spPr>
        <p:txBody>
          <a:bodyPr wrap="square" lIns="0" tIns="0" rIns="0" bIns="0" rtlCol="0" anchor="ctr"/>
          <a:lstStyle/>
          <a:p>
            <a:pPr>
              <a:lnSpc>
                <a:spcPct val="130000"/>
              </a:lnSpc>
            </a:pPr>
            <a:r>
              <a:rPr lang="en-US" sz="1050" b="1" spc="210" kern="0" dirty="0">
                <a:solidFill>
                  <a:srgbClr val="C9A36A"/>
                </a:solidFill>
                <a:latin typeface="Quattrocento Sans" pitchFamily="34" charset="0"/>
                <a:ea typeface="Quattrocento Sans" pitchFamily="34" charset="-122"/>
                <a:cs typeface="Quattrocento Sans" pitchFamily="34" charset="-120"/>
              </a:rPr>
              <a:t>Chapter 03</a:t>
            </a:r>
            <a:endParaRPr lang="en-US" sz="1600" dirty="0"/>
          </a:p>
        </p:txBody>
      </p:sp>
      <p:sp>
        <p:nvSpPr>
          <p:cNvPr id="3" name="Text 1"/>
          <p:cNvSpPr/>
          <p:nvPr/>
        </p:nvSpPr>
        <p:spPr>
          <a:xfrm>
            <a:off x="333342" y="600016"/>
            <a:ext cx="11725321" cy="400011"/>
          </a:xfrm>
          <a:prstGeom prst="rect">
            <a:avLst/>
          </a:prstGeom>
          <a:noFill/>
          <a:ln/>
        </p:spPr>
        <p:txBody>
          <a:bodyPr wrap="square" lIns="0" tIns="0" rIns="0" bIns="0" rtlCol="0" anchor="ctr"/>
          <a:lstStyle/>
          <a:p>
            <a:pPr>
              <a:lnSpc>
                <a:spcPct val="80000"/>
              </a:lnSpc>
            </a:pPr>
            <a:r>
              <a:rPr lang="en-US" sz="3150" b="1" dirty="0">
                <a:solidFill>
                  <a:srgbClr val="F2F2F2"/>
                </a:solidFill>
                <a:latin typeface="Oranienbaum" pitchFamily="34" charset="0"/>
                <a:ea typeface="Oranienbaum" pitchFamily="34" charset="-122"/>
                <a:cs typeface="Oranienbaum" pitchFamily="34" charset="-120"/>
              </a:rPr>
              <a:t>Other Iconic Works: From Irises to Wheatfields</a:t>
            </a:r>
            <a:endParaRPr lang="en-US" sz="1600" dirty="0"/>
          </a:p>
        </p:txBody>
      </p:sp>
      <p:sp>
        <p:nvSpPr>
          <p:cNvPr id="4" name="Shape 2"/>
          <p:cNvSpPr/>
          <p:nvPr/>
        </p:nvSpPr>
        <p:spPr>
          <a:xfrm>
            <a:off x="333342" y="1133364"/>
            <a:ext cx="933359" cy="16667"/>
          </a:xfrm>
          <a:custGeom>
            <a:avLst/>
            <a:gdLst/>
            <a:ahLst/>
            <a:cxnLst/>
            <a:rect l="l" t="t" r="r" b="b"/>
            <a:pathLst>
              <a:path w="933359" h="16667">
                <a:moveTo>
                  <a:pt x="0" y="0"/>
                </a:moveTo>
                <a:lnTo>
                  <a:pt x="933359" y="0"/>
                </a:lnTo>
                <a:lnTo>
                  <a:pt x="933359" y="16667"/>
                </a:lnTo>
                <a:lnTo>
                  <a:pt x="0" y="16667"/>
                </a:lnTo>
                <a:lnTo>
                  <a:pt x="0" y="0"/>
                </a:lnTo>
                <a:close/>
              </a:path>
            </a:pathLst>
          </a:custGeom>
          <a:solidFill>
            <a:srgbClr val="C9A36A"/>
          </a:solidFill>
          <a:ln/>
        </p:spPr>
      </p:sp>
      <p:sp>
        <p:nvSpPr>
          <p:cNvPr id="5" name="Shape 3"/>
          <p:cNvSpPr/>
          <p:nvPr/>
        </p:nvSpPr>
        <p:spPr>
          <a:xfrm>
            <a:off x="337509"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6" name="Image 0" descr="https://kimi-web-img.moonshot.cn/img/sites.create-cdn.net/9b48a0616a011fe838b47170408fbdf8ef2abe7f.jpg">    </p:cNvPr>
          <p:cNvPicPr>
            <a:picLocks noChangeAspect="1"/>
          </p:cNvPicPr>
          <p:nvPr/>
        </p:nvPicPr>
        <p:blipFill>
          <a:blip r:embed="rId1"/>
          <a:srcRect l="0" r="0" t="39706" b="39706"/>
          <a:stretch/>
        </p:blipFill>
        <p:spPr>
          <a:xfrm>
            <a:off x="341676" y="1325036"/>
            <a:ext cx="5666822" cy="1166699"/>
          </a:xfrm>
          <a:prstGeom prst="roundRect">
            <a:avLst>
              <a:gd name="adj" fmla="val 0"/>
            </a:avLst>
          </a:prstGeom>
        </p:spPr>
      </p:pic>
      <p:sp>
        <p:nvSpPr>
          <p:cNvPr id="7" name="Text 4"/>
          <p:cNvSpPr/>
          <p:nvPr/>
        </p:nvSpPr>
        <p:spPr>
          <a:xfrm>
            <a:off x="475013" y="2625072"/>
            <a:ext cx="441679"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Irises</a:t>
            </a:r>
            <a:endParaRPr lang="en-US" sz="1600" dirty="0"/>
          </a:p>
        </p:txBody>
      </p:sp>
      <p:sp>
        <p:nvSpPr>
          <p:cNvPr id="8" name="Text 5"/>
          <p:cNvSpPr/>
          <p:nvPr/>
        </p:nvSpPr>
        <p:spPr>
          <a:xfrm>
            <a:off x="5639803"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1889</a:t>
            </a:r>
            <a:endParaRPr lang="en-US" sz="1600" dirty="0"/>
          </a:p>
        </p:txBody>
      </p:sp>
      <p:sp>
        <p:nvSpPr>
          <p:cNvPr id="9" name="Text 6"/>
          <p:cNvSpPr/>
          <p:nvPr/>
        </p:nvSpPr>
        <p:spPr>
          <a:xfrm>
            <a:off x="475013"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in the asylum garden, this work showcases Van Gogh's study of color with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vibrant blues and greens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Originally the irises were purple, but the pigment faded over time to cobalt blue.</a:t>
            </a:r>
            <a:endParaRPr lang="en-US" sz="1600" dirty="0"/>
          </a:p>
        </p:txBody>
      </p:sp>
      <p:sp>
        <p:nvSpPr>
          <p:cNvPr id="10" name="Shape 7"/>
          <p:cNvSpPr/>
          <p:nvPr/>
        </p:nvSpPr>
        <p:spPr>
          <a:xfrm>
            <a:off x="475013"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1" name="Text 8"/>
          <p:cNvSpPr/>
          <p:nvPr/>
        </p:nvSpPr>
        <p:spPr>
          <a:xfrm>
            <a:off x="541681"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Getty Center, Los Angeles</a:t>
            </a:r>
            <a:endParaRPr lang="en-US" sz="1600" dirty="0"/>
          </a:p>
        </p:txBody>
      </p:sp>
      <p:sp>
        <p:nvSpPr>
          <p:cNvPr id="12" name="Shape 9"/>
          <p:cNvSpPr/>
          <p:nvPr/>
        </p:nvSpPr>
        <p:spPr>
          <a:xfrm>
            <a:off x="6183958"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13" name="Image 1" descr="https://kimi-web-img.moonshot.cn/img/upload.wikimedia.org/6ceecfefe8b56c93a073ab498d2451d76d158791.jpg">    </p:cNvPr>
          <p:cNvPicPr>
            <a:picLocks noChangeAspect="1"/>
          </p:cNvPicPr>
          <p:nvPr/>
        </p:nvPicPr>
        <p:blipFill>
          <a:blip r:embed="rId2"/>
          <a:srcRect l="0" r="0" t="37560" b="37560"/>
          <a:stretch/>
        </p:blipFill>
        <p:spPr>
          <a:xfrm>
            <a:off x="6188125" y="1325036"/>
            <a:ext cx="5666822" cy="1166699"/>
          </a:xfrm>
          <a:prstGeom prst="roundRect">
            <a:avLst>
              <a:gd name="adj" fmla="val 0"/>
            </a:avLst>
          </a:prstGeom>
        </p:spPr>
      </p:pic>
      <p:sp>
        <p:nvSpPr>
          <p:cNvPr id="14" name="Text 10"/>
          <p:cNvSpPr/>
          <p:nvPr/>
        </p:nvSpPr>
        <p:spPr>
          <a:xfrm>
            <a:off x="6321462" y="2625072"/>
            <a:ext cx="950026"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The Bedroom</a:t>
            </a:r>
            <a:endParaRPr lang="en-US" sz="1600" dirty="0"/>
          </a:p>
        </p:txBody>
      </p:sp>
      <p:sp>
        <p:nvSpPr>
          <p:cNvPr id="15" name="Text 11"/>
          <p:cNvSpPr/>
          <p:nvPr/>
        </p:nvSpPr>
        <p:spPr>
          <a:xfrm>
            <a:off x="11485600"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1888</a:t>
            </a:r>
            <a:endParaRPr lang="en-US" sz="1600" dirty="0"/>
          </a:p>
        </p:txBody>
      </p:sp>
      <p:sp>
        <p:nvSpPr>
          <p:cNvPr id="16" name="Text 12"/>
          <p:cNvSpPr/>
          <p:nvPr/>
        </p:nvSpPr>
        <p:spPr>
          <a:xfrm>
            <a:off x="6321462"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A glimpse into Van Gogh's personal space in Arles, featuring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distorted perspective</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and bold colors. The painting reflects his desire for tranquility and simplicity.</a:t>
            </a:r>
            <a:endParaRPr lang="en-US" sz="1600" dirty="0"/>
          </a:p>
        </p:txBody>
      </p:sp>
      <p:sp>
        <p:nvSpPr>
          <p:cNvPr id="17" name="Shape 13"/>
          <p:cNvSpPr/>
          <p:nvPr/>
        </p:nvSpPr>
        <p:spPr>
          <a:xfrm>
            <a:off x="6321462"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8" name="Text 14"/>
          <p:cNvSpPr/>
          <p:nvPr/>
        </p:nvSpPr>
        <p:spPr>
          <a:xfrm>
            <a:off x="6388130"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19" name="Shape 15"/>
          <p:cNvSpPr/>
          <p:nvPr/>
        </p:nvSpPr>
        <p:spPr>
          <a:xfrm>
            <a:off x="337509"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0" name="Image 2" descr="https://kimi-web-img.moonshot.cn/img/www.heritage-print.com/9f552bae75a4fe49264fbcc65f9c2da141a58ddc.webp">    </p:cNvPr>
          <p:cNvPicPr>
            <a:picLocks noChangeAspect="1"/>
          </p:cNvPicPr>
          <p:nvPr/>
        </p:nvPicPr>
        <p:blipFill>
          <a:blip r:embed="rId3"/>
          <a:srcRect l="0" r="0" t="43206" b="43206"/>
          <a:stretch/>
        </p:blipFill>
        <p:spPr>
          <a:xfrm>
            <a:off x="341676" y="4012610"/>
            <a:ext cx="5666822" cy="1166699"/>
          </a:xfrm>
          <a:prstGeom prst="roundRect">
            <a:avLst>
              <a:gd name="adj" fmla="val 0"/>
            </a:avLst>
          </a:prstGeom>
        </p:spPr>
      </p:pic>
      <p:sp>
        <p:nvSpPr>
          <p:cNvPr id="21" name="Text 16"/>
          <p:cNvSpPr/>
          <p:nvPr/>
        </p:nvSpPr>
        <p:spPr>
          <a:xfrm>
            <a:off x="475013" y="5312645"/>
            <a:ext cx="1583377"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Wheatfield with Crows</a:t>
            </a:r>
            <a:endParaRPr lang="en-US" sz="1600" dirty="0"/>
          </a:p>
        </p:txBody>
      </p:sp>
      <p:sp>
        <p:nvSpPr>
          <p:cNvPr id="22" name="Text 17"/>
          <p:cNvSpPr/>
          <p:nvPr/>
        </p:nvSpPr>
        <p:spPr>
          <a:xfrm>
            <a:off x="5629190"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23" name="Text 18"/>
          <p:cNvSpPr/>
          <p:nvPr/>
        </p:nvSpPr>
        <p:spPr>
          <a:xfrm>
            <a:off x="475013"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Often considered his final painting,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menacing skies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dark crows, and a dead-end path—interpreted as expressing his emotional turmoil and foreshadowing his death.</a:t>
            </a:r>
            <a:endParaRPr lang="en-US" sz="1600" dirty="0"/>
          </a:p>
        </p:txBody>
      </p:sp>
      <p:sp>
        <p:nvSpPr>
          <p:cNvPr id="24" name="Shape 19"/>
          <p:cNvSpPr/>
          <p:nvPr/>
        </p:nvSpPr>
        <p:spPr>
          <a:xfrm>
            <a:off x="475013"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25" name="Text 20"/>
          <p:cNvSpPr/>
          <p:nvPr/>
        </p:nvSpPr>
        <p:spPr>
          <a:xfrm>
            <a:off x="541681"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26" name="Shape 21"/>
          <p:cNvSpPr/>
          <p:nvPr/>
        </p:nvSpPr>
        <p:spPr>
          <a:xfrm>
            <a:off x="6183958"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7" name="Image 3" descr="https://kimi-web-img.moonshot.cn/img/uploads6.wikiart.org/e198c367c7c66fc80e9e20d02a0d73fc80dee568.jpg">    </p:cNvPr>
          <p:cNvPicPr>
            <a:picLocks noChangeAspect="1"/>
          </p:cNvPicPr>
          <p:nvPr/>
        </p:nvPicPr>
        <p:blipFill>
          <a:blip r:embed="rId4"/>
          <a:srcRect l="0" r="0" t="35937" b="35937"/>
          <a:stretch/>
        </p:blipFill>
        <p:spPr>
          <a:xfrm>
            <a:off x="6188125" y="4012610"/>
            <a:ext cx="5666822" cy="1166699"/>
          </a:xfrm>
          <a:prstGeom prst="roundRect">
            <a:avLst>
              <a:gd name="adj" fmla="val 0"/>
            </a:avLst>
          </a:prstGeom>
        </p:spPr>
      </p:pic>
      <p:sp>
        <p:nvSpPr>
          <p:cNvPr id="28" name="Text 22"/>
          <p:cNvSpPr/>
          <p:nvPr/>
        </p:nvSpPr>
        <p:spPr>
          <a:xfrm>
            <a:off x="6321462" y="5312645"/>
            <a:ext cx="1175032"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Almond Blossom</a:t>
            </a:r>
            <a:endParaRPr lang="en-US" sz="1600" dirty="0"/>
          </a:p>
        </p:txBody>
      </p:sp>
      <p:sp>
        <p:nvSpPr>
          <p:cNvPr id="29" name="Text 23"/>
          <p:cNvSpPr/>
          <p:nvPr/>
        </p:nvSpPr>
        <p:spPr>
          <a:xfrm>
            <a:off x="11475639"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30" name="Text 24"/>
          <p:cNvSpPr/>
          <p:nvPr/>
        </p:nvSpPr>
        <p:spPr>
          <a:xfrm>
            <a:off x="6321462"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as a gift for his newborn nephew,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delicate branches against turquoise sky</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It represents new life and hope, heavily influenced by Japanese prints.</a:t>
            </a:r>
            <a:endParaRPr lang="en-US" sz="1600" dirty="0"/>
          </a:p>
        </p:txBody>
      </p:sp>
      <p:sp>
        <p:nvSpPr>
          <p:cNvPr id="31" name="Shape 25"/>
          <p:cNvSpPr/>
          <p:nvPr/>
        </p:nvSpPr>
        <p:spPr>
          <a:xfrm>
            <a:off x="6321462"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32" name="Text 26"/>
          <p:cNvSpPr/>
          <p:nvPr/>
        </p:nvSpPr>
        <p:spPr>
          <a:xfrm>
            <a:off x="6388130"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pic>
        <p:nvPicPr>
          <p:cNvPr id="2" name="Image 0" descr="https://kimi-web-img.moonshot.cn/img/i.ebayimg.com/08bccc0dd267205a28a7ec6381bc55ac6cebafa5.jpg">    </p:cNvPr>
          <p:cNvPicPr>
            <a:picLocks noChangeAspect="1"/>
          </p:cNvPicPr>
          <p:nvPr/>
        </p:nvPicPr>
        <p:blipFill>
          <a:blip r:embed="rId1">
            <a:alphaModFix amt="30000"/>
          </a:blip>
          <a:srcRect l="0" r="0" t="15875" b="15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66800" cy="809625"/>
          </a:xfrm>
          <a:custGeom>
            <a:avLst/>
            <a:gdLst/>
            <a:ahLst/>
            <a:cxn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82997"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Mental Health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Price of Genius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complex relationship between creativity and psychological struggle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7729" y="337729"/>
            <a:ext cx="11584089" cy="202637"/>
          </a:xfrm>
          <a:prstGeom prst="rect">
            <a:avLst/>
          </a:prstGeom>
          <a:noFill/>
          <a:ln/>
        </p:spPr>
        <p:txBody>
          <a:bodyPr wrap="square" lIns="0" tIns="0" rIns="0" bIns="0" rtlCol="0" anchor="ctr"/>
          <a:lstStyle/>
          <a:p>
            <a:pPr>
              <a:lnSpc>
                <a:spcPct val="130000"/>
              </a:lnSpc>
            </a:pPr>
            <a:r>
              <a:rPr lang="en-US" sz="1064" b="1" spc="213" kern="0" dirty="0">
                <a:solidFill>
                  <a:srgbClr val="C9A36A"/>
                </a:solidFill>
                <a:latin typeface="Quattrocento Sans" pitchFamily="34" charset="0"/>
                <a:ea typeface="Quattrocento Sans" pitchFamily="34" charset="-122"/>
                <a:cs typeface="Quattrocento Sans" pitchFamily="34" charset="-120"/>
              </a:rPr>
              <a:t>Chapter 04</a:t>
            </a:r>
            <a:endParaRPr lang="en-US" sz="1600" dirty="0"/>
          </a:p>
        </p:txBody>
      </p:sp>
      <p:sp>
        <p:nvSpPr>
          <p:cNvPr id="3" name="Text 1"/>
          <p:cNvSpPr/>
          <p:nvPr/>
        </p:nvSpPr>
        <p:spPr>
          <a:xfrm>
            <a:off x="337729" y="607911"/>
            <a:ext cx="11719180" cy="405274"/>
          </a:xfrm>
          <a:prstGeom prst="rect">
            <a:avLst/>
          </a:prstGeom>
          <a:noFill/>
          <a:ln/>
        </p:spPr>
        <p:txBody>
          <a:bodyPr wrap="square" lIns="0" tIns="0" rIns="0" bIns="0" rtlCol="0" anchor="ctr"/>
          <a:lstStyle/>
          <a:p>
            <a:pPr>
              <a:lnSpc>
                <a:spcPct val="80000"/>
              </a:lnSpc>
            </a:pPr>
            <a:r>
              <a:rPr lang="en-US" sz="3191" b="1" dirty="0">
                <a:solidFill>
                  <a:srgbClr val="F2F2F2"/>
                </a:solidFill>
                <a:latin typeface="Oranienbaum" pitchFamily="34" charset="0"/>
                <a:ea typeface="Oranienbaum" pitchFamily="34" charset="-122"/>
                <a:cs typeface="Oranienbaum" pitchFamily="34" charset="-120"/>
              </a:rPr>
              <a:t>The Struggle Within: Mental Health and Artistic Creation</a:t>
            </a:r>
            <a:endParaRPr lang="en-US" sz="1600" dirty="0"/>
          </a:p>
        </p:txBody>
      </p:sp>
      <p:sp>
        <p:nvSpPr>
          <p:cNvPr id="4" name="Shape 2"/>
          <p:cNvSpPr/>
          <p:nvPr/>
        </p:nvSpPr>
        <p:spPr>
          <a:xfrm>
            <a:off x="337729" y="1148277"/>
            <a:ext cx="945640" cy="16886"/>
          </a:xfrm>
          <a:custGeom>
            <a:avLst/>
            <a:gdLst/>
            <a:ahLst/>
            <a:cxnLst/>
            <a:rect l="l" t="t" r="r" b="b"/>
            <a:pathLst>
              <a:path w="945640" h="16886">
                <a:moveTo>
                  <a:pt x="0" y="0"/>
                </a:moveTo>
                <a:lnTo>
                  <a:pt x="945640" y="0"/>
                </a:lnTo>
                <a:lnTo>
                  <a:pt x="945640" y="16886"/>
                </a:lnTo>
                <a:lnTo>
                  <a:pt x="0" y="16886"/>
                </a:lnTo>
                <a:lnTo>
                  <a:pt x="0" y="0"/>
                </a:lnTo>
                <a:close/>
              </a:path>
            </a:pathLst>
          </a:custGeom>
          <a:solidFill>
            <a:srgbClr val="C9A36A"/>
          </a:solidFill>
          <a:ln/>
        </p:spPr>
      </p:sp>
      <p:sp>
        <p:nvSpPr>
          <p:cNvPr id="5" name="Shape 3"/>
          <p:cNvSpPr/>
          <p:nvPr/>
        </p:nvSpPr>
        <p:spPr>
          <a:xfrm>
            <a:off x="350393" y="1334028"/>
            <a:ext cx="5644288" cy="3309740"/>
          </a:xfrm>
          <a:custGeom>
            <a:avLst/>
            <a:gdLst/>
            <a:ahLst/>
            <a:cxn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p:spPr>
      </p:sp>
      <p:sp>
        <p:nvSpPr>
          <p:cNvPr id="6" name="Shape 4"/>
          <p:cNvSpPr/>
          <p:nvPr/>
        </p:nvSpPr>
        <p:spPr>
          <a:xfrm>
            <a:off x="350393" y="1334028"/>
            <a:ext cx="25330" cy="3309740"/>
          </a:xfrm>
          <a:custGeom>
            <a:avLst/>
            <a:gdLst/>
            <a:ahLst/>
            <a:cxn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p:spPr>
      </p:sp>
      <p:sp>
        <p:nvSpPr>
          <p:cNvPr id="7" name="Shape 5"/>
          <p:cNvSpPr/>
          <p:nvPr/>
        </p:nvSpPr>
        <p:spPr>
          <a:xfrm>
            <a:off x="531922"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8" name="Shape 6"/>
          <p:cNvSpPr/>
          <p:nvPr/>
        </p:nvSpPr>
        <p:spPr>
          <a:xfrm>
            <a:off x="650127" y="1621097"/>
            <a:ext cx="168864" cy="168864"/>
          </a:xfrm>
          <a:custGeom>
            <a:avLst/>
            <a:gdLst/>
            <a:ahLst/>
            <a:cxn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p:spPr>
      </p:sp>
      <p:sp>
        <p:nvSpPr>
          <p:cNvPr id="9" name="Text 7"/>
          <p:cNvSpPr/>
          <p:nvPr/>
        </p:nvSpPr>
        <p:spPr>
          <a:xfrm>
            <a:off x="1038515" y="1570438"/>
            <a:ext cx="1621097"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Possible Diagnoses</a:t>
            </a:r>
            <a:endParaRPr lang="en-US" sz="1600" dirty="0"/>
          </a:p>
        </p:txBody>
      </p:sp>
      <p:sp>
        <p:nvSpPr>
          <p:cNvPr id="10" name="Text 8"/>
          <p:cNvSpPr/>
          <p:nvPr/>
        </p:nvSpPr>
        <p:spPr>
          <a:xfrm>
            <a:off x="531922" y="2043258"/>
            <a:ext cx="5361440" cy="439047"/>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Modern psychiatrists have proposed various diagnoses for Van Gogh's condition, though no consensus exists. The leading theories include:</a:t>
            </a:r>
            <a:endParaRPr lang="en-US" sz="1600" dirty="0"/>
          </a:p>
        </p:txBody>
      </p:sp>
      <p:sp>
        <p:nvSpPr>
          <p:cNvPr id="11" name="Shape 9"/>
          <p:cNvSpPr/>
          <p:nvPr/>
        </p:nvSpPr>
        <p:spPr>
          <a:xfrm>
            <a:off x="531922" y="2617396"/>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2" name="Text 10"/>
          <p:cNvSpPr/>
          <p:nvPr/>
        </p:nvSpPr>
        <p:spPr>
          <a:xfrm>
            <a:off x="633241" y="2718715"/>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Bipolar Disorder</a:t>
            </a:r>
            <a:endParaRPr lang="en-US" sz="1600" dirty="0"/>
          </a:p>
        </p:txBody>
      </p:sp>
      <p:sp>
        <p:nvSpPr>
          <p:cNvPr id="13" name="Text 11"/>
          <p:cNvSpPr/>
          <p:nvPr/>
        </p:nvSpPr>
        <p:spPr>
          <a:xfrm>
            <a:off x="633241" y="2921352"/>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Cycles of intense creativity and deep depression match his productive patterns</a:t>
            </a:r>
            <a:endParaRPr lang="en-US" sz="1600" dirty="0"/>
          </a:p>
        </p:txBody>
      </p:sp>
      <p:sp>
        <p:nvSpPr>
          <p:cNvPr id="14" name="Shape 12"/>
          <p:cNvSpPr/>
          <p:nvPr/>
        </p:nvSpPr>
        <p:spPr>
          <a:xfrm>
            <a:off x="531922" y="3259080"/>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5" name="Text 13"/>
          <p:cNvSpPr/>
          <p:nvPr/>
        </p:nvSpPr>
        <p:spPr>
          <a:xfrm>
            <a:off x="633241" y="3360399"/>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Temporal Lobe Epilepsy</a:t>
            </a:r>
            <a:endParaRPr lang="en-US" sz="1600" dirty="0"/>
          </a:p>
        </p:txBody>
      </p:sp>
      <p:sp>
        <p:nvSpPr>
          <p:cNvPr id="16" name="Text 14"/>
          <p:cNvSpPr/>
          <p:nvPr/>
        </p:nvSpPr>
        <p:spPr>
          <a:xfrm>
            <a:off x="633241" y="3563036"/>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Could explain his religious fervor, altered perceptions, and aura experiences</a:t>
            </a:r>
            <a:endParaRPr lang="en-US" sz="1600" dirty="0"/>
          </a:p>
        </p:txBody>
      </p:sp>
      <p:sp>
        <p:nvSpPr>
          <p:cNvPr id="17" name="Shape 15"/>
          <p:cNvSpPr/>
          <p:nvPr/>
        </p:nvSpPr>
        <p:spPr>
          <a:xfrm>
            <a:off x="531922" y="3900765"/>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8" name="Text 16"/>
          <p:cNvSpPr/>
          <p:nvPr/>
        </p:nvSpPr>
        <p:spPr>
          <a:xfrm>
            <a:off x="633241" y="4002083"/>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Schizophrenia</a:t>
            </a:r>
            <a:endParaRPr lang="en-US" sz="1600" dirty="0"/>
          </a:p>
        </p:txBody>
      </p:sp>
      <p:sp>
        <p:nvSpPr>
          <p:cNvPr id="19" name="Text 17"/>
          <p:cNvSpPr/>
          <p:nvPr/>
        </p:nvSpPr>
        <p:spPr>
          <a:xfrm>
            <a:off x="633241" y="4204720"/>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His psychotic episodes, paranoia, and hallucinations support this theory</a:t>
            </a:r>
            <a:endParaRPr lang="en-US" sz="1600" dirty="0"/>
          </a:p>
        </p:txBody>
      </p:sp>
      <p:sp>
        <p:nvSpPr>
          <p:cNvPr id="20" name="Shape 18"/>
          <p:cNvSpPr/>
          <p:nvPr/>
        </p:nvSpPr>
        <p:spPr>
          <a:xfrm>
            <a:off x="350393" y="4778859"/>
            <a:ext cx="5644288" cy="1536665"/>
          </a:xfrm>
          <a:custGeom>
            <a:avLst/>
            <a:gdLst/>
            <a:ahLst/>
            <a:cxn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p:spPr>
      </p:sp>
      <p:sp>
        <p:nvSpPr>
          <p:cNvPr id="21" name="Shape 19"/>
          <p:cNvSpPr/>
          <p:nvPr/>
        </p:nvSpPr>
        <p:spPr>
          <a:xfrm>
            <a:off x="350393" y="4778859"/>
            <a:ext cx="25330" cy="1536665"/>
          </a:xfrm>
          <a:custGeom>
            <a:avLst/>
            <a:gdLst/>
            <a:ahLst/>
            <a:cxn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p:spPr>
      </p:sp>
      <p:sp>
        <p:nvSpPr>
          <p:cNvPr id="22" name="Shape 20"/>
          <p:cNvSpPr/>
          <p:nvPr/>
        </p:nvSpPr>
        <p:spPr>
          <a:xfrm>
            <a:off x="531922" y="4947723"/>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3" name="Shape 21"/>
          <p:cNvSpPr/>
          <p:nvPr/>
        </p:nvSpPr>
        <p:spPr>
          <a:xfrm>
            <a:off x="639573" y="5065928"/>
            <a:ext cx="189972" cy="168864"/>
          </a:xfrm>
          <a:custGeom>
            <a:avLst/>
            <a:gdLst/>
            <a:ahLst/>
            <a:cxn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p:spPr>
      </p:sp>
      <p:sp>
        <p:nvSpPr>
          <p:cNvPr id="24" name="Text 22"/>
          <p:cNvSpPr/>
          <p:nvPr/>
        </p:nvSpPr>
        <p:spPr>
          <a:xfrm>
            <a:off x="1038515" y="5015269"/>
            <a:ext cx="172241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Asylum Productivity</a:t>
            </a:r>
            <a:endParaRPr lang="en-US" sz="1600" dirty="0"/>
          </a:p>
        </p:txBody>
      </p:sp>
      <p:sp>
        <p:nvSpPr>
          <p:cNvPr id="25" name="Text 23"/>
          <p:cNvSpPr/>
          <p:nvPr/>
        </p:nvSpPr>
        <p:spPr>
          <a:xfrm>
            <a:off x="531922" y="5488089"/>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Paradoxically, his time at Saint-Rémy was one of his most productive periods. Despite confinement and mental anguish, he created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including "The Starry Night" and "Irises." His art became both therapy and transcendence.</a:t>
            </a:r>
            <a:endParaRPr lang="en-US" sz="1600" dirty="0"/>
          </a:p>
        </p:txBody>
      </p:sp>
      <p:sp>
        <p:nvSpPr>
          <p:cNvPr id="26" name="Shape 24"/>
          <p:cNvSpPr/>
          <p:nvPr/>
        </p:nvSpPr>
        <p:spPr>
          <a:xfrm>
            <a:off x="6208070" y="1334028"/>
            <a:ext cx="5644288" cy="3208421"/>
          </a:xfrm>
          <a:custGeom>
            <a:avLst/>
            <a:gdLst/>
            <a:ahLst/>
            <a:cxn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p:spPr>
      </p:sp>
      <p:sp>
        <p:nvSpPr>
          <p:cNvPr id="27" name="Shape 25"/>
          <p:cNvSpPr/>
          <p:nvPr/>
        </p:nvSpPr>
        <p:spPr>
          <a:xfrm>
            <a:off x="6208070" y="1334028"/>
            <a:ext cx="25330" cy="3208421"/>
          </a:xfrm>
          <a:custGeom>
            <a:avLst/>
            <a:gdLst/>
            <a:ahLst/>
            <a:cxn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p:spPr>
      </p:sp>
      <p:sp>
        <p:nvSpPr>
          <p:cNvPr id="28" name="Shape 26"/>
          <p:cNvSpPr/>
          <p:nvPr/>
        </p:nvSpPr>
        <p:spPr>
          <a:xfrm>
            <a:off x="6389600"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9" name="Shape 27"/>
          <p:cNvSpPr/>
          <p:nvPr/>
        </p:nvSpPr>
        <p:spPr>
          <a:xfrm>
            <a:off x="6507805" y="1621097"/>
            <a:ext cx="168864" cy="168864"/>
          </a:xfrm>
          <a:custGeom>
            <a:avLst/>
            <a:gdLst/>
            <a:ahLst/>
            <a:cxn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p:spPr>
      </p:sp>
      <p:sp>
        <p:nvSpPr>
          <p:cNvPr id="30" name="Text 28"/>
          <p:cNvSpPr/>
          <p:nvPr/>
        </p:nvSpPr>
        <p:spPr>
          <a:xfrm>
            <a:off x="6896192" y="1570438"/>
            <a:ext cx="143534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The Ear Incident</a:t>
            </a:r>
            <a:endParaRPr lang="en-US" sz="1600" dirty="0"/>
          </a:p>
        </p:txBody>
      </p:sp>
      <p:sp>
        <p:nvSpPr>
          <p:cNvPr id="31" name="Text 29"/>
          <p:cNvSpPr/>
          <p:nvPr/>
        </p:nvSpPr>
        <p:spPr>
          <a:xfrm>
            <a:off x="6389600" y="2043258"/>
            <a:ext cx="5361440" cy="658571"/>
          </a:xfrm>
          <a:prstGeom prst="rect">
            <a:avLst/>
          </a:prstGeom>
          <a:noFill/>
          <a:ln/>
        </p:spPr>
        <p:txBody>
          <a:bodyPr wrap="square" lIns="0" tIns="0" rIns="0" bIns="0" rtlCol="0" anchor="ctr"/>
          <a:lstStyle/>
          <a:p>
            <a:pPr>
              <a:lnSpc>
                <a:spcPct val="140000"/>
              </a:lnSpc>
            </a:pPr>
            <a:r>
              <a:rPr lang="en-US" sz="1064" b="1" dirty="0">
                <a:solidFill>
                  <a:srgbClr val="F2F2F2"/>
                </a:solidFill>
                <a:latin typeface="Quattrocento Sans" pitchFamily="34" charset="0"/>
                <a:ea typeface="Quattrocento Sans" pitchFamily="34" charset="-122"/>
                <a:cs typeface="Quattrocento Sans" pitchFamily="34" charset="-120"/>
              </a:rPr>
              <a:t>December 23, 1888</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 After a heated argument with Paul Gauguin in Arles, Van Gogh suffered a severe mental breakdown. He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severed part of his left 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with a razor, wrapped it in paper, and delivered it to a woman at a nearby brothel.</a:t>
            </a:r>
            <a:endParaRPr lang="en-US" sz="1600" dirty="0"/>
          </a:p>
        </p:txBody>
      </p:sp>
      <p:sp>
        <p:nvSpPr>
          <p:cNvPr id="32" name="Text 30"/>
          <p:cNvSpPr/>
          <p:nvPr/>
        </p:nvSpPr>
        <p:spPr>
          <a:xfrm>
            <a:off x="6389600" y="2836920"/>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The incident marked a turning point. Gauguin left Arles permanently, and Van Gogh was hospitalized. The exact circumstances remain debated—some theories suggest Gauguin may have been involved, while others attribute it solely to Van Gogh's psychosis.</a:t>
            </a:r>
            <a:endParaRPr lang="en-US" sz="1600" dirty="0"/>
          </a:p>
        </p:txBody>
      </p:sp>
      <p:sp>
        <p:nvSpPr>
          <p:cNvPr id="33" name="Shape 31"/>
          <p:cNvSpPr/>
          <p:nvPr/>
        </p:nvSpPr>
        <p:spPr>
          <a:xfrm>
            <a:off x="6389600" y="3630582"/>
            <a:ext cx="5293895" cy="743003"/>
          </a:xfrm>
          <a:custGeom>
            <a:avLst/>
            <a:gdLst/>
            <a:ahLst/>
            <a:cxn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p:spPr>
      </p:sp>
      <p:sp>
        <p:nvSpPr>
          <p:cNvPr id="34" name="Text 32"/>
          <p:cNvSpPr/>
          <p:nvPr/>
        </p:nvSpPr>
        <p:spPr>
          <a:xfrm>
            <a:off x="6490918" y="3731900"/>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Aftermath:</a:t>
            </a:r>
            <a:endParaRPr lang="en-US" sz="1600" dirty="0"/>
          </a:p>
        </p:txBody>
      </p:sp>
      <p:sp>
        <p:nvSpPr>
          <p:cNvPr id="35" name="Text 33"/>
          <p:cNvSpPr/>
          <p:nvPr/>
        </p:nvSpPr>
        <p:spPr>
          <a:xfrm>
            <a:off x="6490918" y="3934537"/>
            <a:ext cx="5150360" cy="337729"/>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Van Gogh painted "Self-Portrait with Bandaged Ear" (1889) as both documentation and artistic transformation of trauma.</a:t>
            </a:r>
            <a:endParaRPr lang="en-US" sz="1600" dirty="0"/>
          </a:p>
        </p:txBody>
      </p:sp>
      <p:sp>
        <p:nvSpPr>
          <p:cNvPr id="36" name="Shape 34"/>
          <p:cNvSpPr/>
          <p:nvPr/>
        </p:nvSpPr>
        <p:spPr>
          <a:xfrm>
            <a:off x="6199627" y="4681762"/>
            <a:ext cx="5648510" cy="1832177"/>
          </a:xfrm>
          <a:custGeom>
            <a:avLst/>
            <a:gdLst/>
            <a:ahLst/>
            <a:cxn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7" name="Shape 35"/>
          <p:cNvSpPr/>
          <p:nvPr/>
        </p:nvSpPr>
        <p:spPr>
          <a:xfrm>
            <a:off x="8930083" y="4905507"/>
            <a:ext cx="189972" cy="253296"/>
          </a:xfrm>
          <a:custGeom>
            <a:avLst/>
            <a:gdLst/>
            <a:ahLst/>
            <a:cxn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p:spPr>
      </p:sp>
      <p:sp>
        <p:nvSpPr>
          <p:cNvPr id="38" name="Text 36"/>
          <p:cNvSpPr/>
          <p:nvPr/>
        </p:nvSpPr>
        <p:spPr>
          <a:xfrm>
            <a:off x="6330497" y="5293895"/>
            <a:ext cx="5386770" cy="236410"/>
          </a:xfrm>
          <a:prstGeom prst="rect">
            <a:avLst/>
          </a:prstGeom>
          <a:noFill/>
          <a:ln/>
        </p:spPr>
        <p:txBody>
          <a:bodyPr wrap="square" lIns="0" tIns="0" rIns="0" bIns="0" rtlCol="0" anchor="ctr"/>
          <a:lstStyle/>
          <a:p>
            <a:pPr algn="ctr">
              <a:lnSpc>
                <a:spcPct val="120000"/>
              </a:lnSpc>
            </a:pPr>
            <a:r>
              <a:rPr lang="en-US" sz="1330" b="1" dirty="0">
                <a:solidFill>
                  <a:srgbClr val="F2F2F2"/>
                </a:solidFill>
                <a:latin typeface="Oranienbaum" pitchFamily="34" charset="0"/>
                <a:ea typeface="Oranienbaum" pitchFamily="34" charset="-122"/>
                <a:cs typeface="Oranienbaum" pitchFamily="34" charset="-120"/>
              </a:rPr>
              <a:t>The Paradox of Creativity</a:t>
            </a:r>
            <a:endParaRPr lang="en-US" sz="1600" dirty="0"/>
          </a:p>
        </p:txBody>
      </p:sp>
      <p:sp>
        <p:nvSpPr>
          <p:cNvPr id="39" name="Text 37"/>
          <p:cNvSpPr/>
          <p:nvPr/>
        </p:nvSpPr>
        <p:spPr>
          <a:xfrm>
            <a:off x="6338940" y="5631623"/>
            <a:ext cx="5369884" cy="658571"/>
          </a:xfrm>
          <a:prstGeom prst="rect">
            <a:avLst/>
          </a:prstGeom>
          <a:noFill/>
          <a:ln/>
        </p:spPr>
        <p:txBody>
          <a:bodyPr wrap="square" lIns="0" tIns="0" rIns="0" bIns="0" rtlCol="0" anchor="ctr"/>
          <a:lstStyle/>
          <a:p>
            <a:pPr algn="ct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s8.wikiart.org/39849e7c9be0c2a673ff1ee95a77a3d5eeec3e8f.jpg">    </p:cNvPr>
          <p:cNvPicPr>
            <a:picLocks noChangeAspect="1"/>
          </p:cNvPicPr>
          <p:nvPr/>
        </p:nvPicPr>
        <p:blipFill>
          <a:blip r:embed="rId1">
            <a:alphaModFix amt="30000"/>
          </a:blip>
          <a:srcRect l="0" r="0" t="14608" b="1460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28700" cy="809625"/>
          </a:xfrm>
          <a:custGeom>
            <a:avLst/>
            <a:gdLst/>
            <a:ahLst/>
            <a:cxn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1595"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Unbreakable</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Bond: Vincent and Theo</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A brotherhood that sustained an artistic genius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05</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Theo van Gogh: The Brother Behind the Artist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6236184" cy="3043995"/>
          </a:xfrm>
          <a:custGeom>
            <a:avLst/>
            <a:gdLst/>
            <a:ahLst/>
            <a:cxn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p:spPr>
      </p:sp>
      <p:sp>
        <p:nvSpPr>
          <p:cNvPr id="9" name="Text 7"/>
          <p:cNvSpPr/>
          <p:nvPr/>
        </p:nvSpPr>
        <p:spPr>
          <a:xfrm>
            <a:off x="985293" y="1489955"/>
            <a:ext cx="2627448"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600+ Letters: A Lifelong Dialogue</a:t>
            </a:r>
            <a:endParaRPr lang="en-US" sz="1600" dirty="0"/>
          </a:p>
        </p:txBody>
      </p:sp>
      <p:sp>
        <p:nvSpPr>
          <p:cNvPr id="10" name="Text 8"/>
          <p:cNvSpPr/>
          <p:nvPr/>
        </p:nvSpPr>
        <p:spPr>
          <a:xfrm>
            <a:off x="504662" y="1938544"/>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Vincent and Theo maintained an extraordinary correspondence throughout their lives. These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600+ letters</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provide unparalleled insight into Vincent's artistic process, philosophical thoughts, daily struggles, and emotional states.</a:t>
            </a:r>
            <a:endParaRPr lang="en-US" sz="1600" dirty="0"/>
          </a:p>
        </p:txBody>
      </p:sp>
      <p:sp>
        <p:nvSpPr>
          <p:cNvPr id="11" name="Text 9"/>
          <p:cNvSpPr/>
          <p:nvPr/>
        </p:nvSpPr>
        <p:spPr>
          <a:xfrm>
            <a:off x="504662" y="2691532"/>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letters reveal Vincent's theories on color, his admiration for other artists, his religious doubts, his mental health battles, and his unwavering commitment to art. They form one of the most important documents in art history.</a:t>
            </a:r>
            <a:endParaRPr lang="en-US" sz="1600" dirty="0"/>
          </a:p>
        </p:txBody>
      </p:sp>
      <p:sp>
        <p:nvSpPr>
          <p:cNvPr id="12" name="Shape 10"/>
          <p:cNvSpPr/>
          <p:nvPr/>
        </p:nvSpPr>
        <p:spPr>
          <a:xfrm>
            <a:off x="504662" y="3444520"/>
            <a:ext cx="5903748" cy="704925"/>
          </a:xfrm>
          <a:custGeom>
            <a:avLst/>
            <a:gdLst/>
            <a:ahLst/>
            <a:cxn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76756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Historical Value:</a:t>
            </a:r>
            <a:endParaRPr lang="en-US" sz="1600" dirty="0"/>
          </a:p>
        </p:txBody>
      </p:sp>
      <p:sp>
        <p:nvSpPr>
          <p:cNvPr id="14" name="Text 12"/>
          <p:cNvSpPr/>
          <p:nvPr/>
        </p:nvSpPr>
        <p:spPr>
          <a:xfrm>
            <a:off x="600788" y="3732899"/>
            <a:ext cx="5767569"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Published as "The Letters of Vincent van Gogh," these documents are essential reading for understanding his life and work.</a:t>
            </a:r>
            <a:endParaRPr lang="en-US" sz="1600" dirty="0"/>
          </a:p>
        </p:txBody>
      </p:sp>
      <p:sp>
        <p:nvSpPr>
          <p:cNvPr id="15" name="Shape 13"/>
          <p:cNvSpPr/>
          <p:nvPr/>
        </p:nvSpPr>
        <p:spPr>
          <a:xfrm>
            <a:off x="332436" y="4437824"/>
            <a:ext cx="6236184" cy="2210901"/>
          </a:xfrm>
          <a:custGeom>
            <a:avLst/>
            <a:gdLst/>
            <a:ahLst/>
            <a:cxn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210901"/>
          </a:xfrm>
          <a:custGeom>
            <a:avLst/>
            <a:gdLst/>
            <a:ahLst/>
            <a:cxn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26823" y="4710181"/>
            <a:ext cx="140184" cy="160210"/>
          </a:xfrm>
          <a:custGeom>
            <a:avLst/>
            <a:gdLst/>
            <a:ahLst/>
            <a:cxn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p:spPr>
      </p:sp>
      <p:sp>
        <p:nvSpPr>
          <p:cNvPr id="19" name="Text 17"/>
          <p:cNvSpPr/>
          <p:nvPr/>
        </p:nvSpPr>
        <p:spPr>
          <a:xfrm>
            <a:off x="985293" y="4662118"/>
            <a:ext cx="261142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Financial and Emotional Support</a:t>
            </a:r>
            <a:endParaRPr lang="en-US" sz="1600" dirty="0"/>
          </a:p>
        </p:txBody>
      </p:sp>
      <p:sp>
        <p:nvSpPr>
          <p:cNvPr id="20" name="Text 18"/>
          <p:cNvSpPr/>
          <p:nvPr/>
        </p:nvSpPr>
        <p:spPr>
          <a:xfrm>
            <a:off x="504662" y="5110707"/>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an art dealer at Goupil &amp; Cie in Paris, provided Vincent with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monthly financial support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throughout his career—approximately 150 francs per month, enough for basic living expenses and art supplies. Without this support, Vincent could not have devoted himself fully to painting.</a:t>
            </a:r>
            <a:endParaRPr lang="en-US" sz="1600" dirty="0"/>
          </a:p>
        </p:txBody>
      </p:sp>
      <p:sp>
        <p:nvSpPr>
          <p:cNvPr id="21" name="Text 19"/>
          <p:cNvSpPr/>
          <p:nvPr/>
        </p:nvSpPr>
        <p:spPr>
          <a:xfrm>
            <a:off x="504662" y="5863695"/>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Beyond money, Theo offered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unwavering emotional encouragement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He believed in Vincent's talent when no one else did, defended him against critics, and promoted his work to galleries and collectors, though with little success during Vincent's lifetime.</a:t>
            </a:r>
            <a:endParaRPr lang="en-US" sz="1600" dirty="0"/>
          </a:p>
        </p:txBody>
      </p:sp>
      <p:sp>
        <p:nvSpPr>
          <p:cNvPr id="22" name="Shape 20"/>
          <p:cNvSpPr/>
          <p:nvPr/>
        </p:nvSpPr>
        <p:spPr>
          <a:xfrm>
            <a:off x="6763063" y="1269666"/>
            <a:ext cx="5102696" cy="3772951"/>
          </a:xfrm>
          <a:custGeom>
            <a:avLst/>
            <a:gdLst/>
            <a:ahLst/>
            <a:cxn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23" name="Shape 21"/>
          <p:cNvSpPr/>
          <p:nvPr/>
        </p:nvSpPr>
        <p:spPr>
          <a:xfrm>
            <a:off x="9170222" y="1433882"/>
            <a:ext cx="288378" cy="288378"/>
          </a:xfrm>
          <a:custGeom>
            <a:avLst/>
            <a:gdLst/>
            <a:ahLst/>
            <a:cxn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p:spPr>
      </p:sp>
      <p:sp>
        <p:nvSpPr>
          <p:cNvPr id="24" name="Text 22"/>
          <p:cNvSpPr/>
          <p:nvPr/>
        </p:nvSpPr>
        <p:spPr>
          <a:xfrm>
            <a:off x="6879215" y="1818386"/>
            <a:ext cx="4870392" cy="256336"/>
          </a:xfrm>
          <a:prstGeom prst="rect">
            <a:avLst/>
          </a:prstGeom>
          <a:noFill/>
          <a:ln/>
        </p:spPr>
        <p:txBody>
          <a:bodyPr wrap="square" lIns="0" tIns="0" rIns="0" bIns="0" rtlCol="0" anchor="ctr"/>
          <a:lstStyle/>
          <a:p>
            <a:pPr algn="ctr">
              <a:lnSpc>
                <a:spcPct val="110000"/>
              </a:lnSpc>
            </a:pPr>
            <a:r>
              <a:rPr lang="en-US" sz="1514" b="1" dirty="0">
                <a:solidFill>
                  <a:srgbClr val="F2F2F2"/>
                </a:solidFill>
                <a:latin typeface="Oranienbaum" pitchFamily="34" charset="0"/>
                <a:ea typeface="Oranienbaum" pitchFamily="34" charset="-122"/>
                <a:cs typeface="Oranienbaum" pitchFamily="34" charset="-120"/>
              </a:rPr>
              <a:t>A Tragic End</a:t>
            </a:r>
            <a:endParaRPr lang="en-US" sz="1600" dirty="0"/>
          </a:p>
        </p:txBody>
      </p:sp>
      <p:sp>
        <p:nvSpPr>
          <p:cNvPr id="25" name="Text 23"/>
          <p:cNvSpPr/>
          <p:nvPr/>
        </p:nvSpPr>
        <p:spPr>
          <a:xfrm>
            <a:off x="6927278" y="2202891"/>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bond between the brothers was so profound that Theo's health declined rapidly after Vincent's death.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Just six months later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on January 25, 1891, Theo died at age 33, likely from complications of syphilis and dementia paralytica.</a:t>
            </a:r>
            <a:endParaRPr lang="en-US" sz="1600" dirty="0"/>
          </a:p>
        </p:txBody>
      </p:sp>
      <p:sp>
        <p:nvSpPr>
          <p:cNvPr id="26" name="Text 24"/>
          <p:cNvSpPr/>
          <p:nvPr/>
        </p:nvSpPr>
        <p:spPr>
          <a:xfrm>
            <a:off x="6927278" y="2955879"/>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was buried in Utrecht, but in 1914, his remains were exhumed and reinterred beside Vincent's grave in Auvers-sur-Oise, fulfilling their wish to be together in death as they were in life.</a:t>
            </a:r>
            <a:endParaRPr lang="en-US" sz="1600" dirty="0"/>
          </a:p>
        </p:txBody>
      </p:sp>
      <p:sp>
        <p:nvSpPr>
          <p:cNvPr id="27" name="Shape 25"/>
          <p:cNvSpPr/>
          <p:nvPr/>
        </p:nvSpPr>
        <p:spPr>
          <a:xfrm>
            <a:off x="6927278" y="3708867"/>
            <a:ext cx="4774265" cy="704925"/>
          </a:xfrm>
          <a:custGeom>
            <a:avLst/>
            <a:gdLst/>
            <a:ahLst/>
            <a:cxn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28" name="Text 26"/>
          <p:cNvSpPr/>
          <p:nvPr/>
        </p:nvSpPr>
        <p:spPr>
          <a:xfrm>
            <a:off x="7023405" y="3804993"/>
            <a:ext cx="4638087"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Jo van Gogh-Bonger's Role:</a:t>
            </a:r>
            <a:endParaRPr lang="en-US" sz="1600" dirty="0"/>
          </a:p>
        </p:txBody>
      </p:sp>
      <p:sp>
        <p:nvSpPr>
          <p:cNvPr id="29" name="Text 27"/>
          <p:cNvSpPr/>
          <p:nvPr/>
        </p:nvSpPr>
        <p:spPr>
          <a:xfrm>
            <a:off x="7023405" y="3997246"/>
            <a:ext cx="4638087"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Theo's widow Johanna dedicated her life to promoting Vincent's work, organizing exhibitions and publishing his letters, ensuring his posthumous recognition.</a:t>
            </a:r>
            <a:endParaRPr lang="en-US" sz="1600" dirty="0"/>
          </a:p>
        </p:txBody>
      </p:sp>
      <p:sp>
        <p:nvSpPr>
          <p:cNvPr id="30" name="Shape 28"/>
          <p:cNvSpPr/>
          <p:nvPr/>
        </p:nvSpPr>
        <p:spPr>
          <a:xfrm>
            <a:off x="6771073" y="5174791"/>
            <a:ext cx="5098691" cy="1473934"/>
          </a:xfrm>
          <a:custGeom>
            <a:avLst/>
            <a:gdLst/>
            <a:ahLst/>
            <a:cxn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p:spPr>
      </p:sp>
      <p:sp>
        <p:nvSpPr>
          <p:cNvPr id="31" name="Shape 29"/>
          <p:cNvSpPr/>
          <p:nvPr/>
        </p:nvSpPr>
        <p:spPr>
          <a:xfrm>
            <a:off x="6771073" y="5174791"/>
            <a:ext cx="24032" cy="1473934"/>
          </a:xfrm>
          <a:custGeom>
            <a:avLst/>
            <a:gdLst/>
            <a:ahLst/>
            <a:cxn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p:spPr>
      </p:sp>
      <p:sp>
        <p:nvSpPr>
          <p:cNvPr id="32" name="Text 30"/>
          <p:cNvSpPr/>
          <p:nvPr/>
        </p:nvSpPr>
        <p:spPr>
          <a:xfrm>
            <a:off x="6943299" y="5335001"/>
            <a:ext cx="4846360" cy="224294"/>
          </a:xfrm>
          <a:prstGeom prst="rect">
            <a:avLst/>
          </a:prstGeom>
          <a:noFill/>
          <a:ln/>
        </p:spPr>
        <p:txBody>
          <a:bodyPr wrap="square" lIns="0" tIns="0" rIns="0" bIns="0" rtlCol="0" anchor="ctr"/>
          <a:lstStyle/>
          <a:p>
            <a:pPr>
              <a:lnSpc>
                <a:spcPct val="120000"/>
              </a:lnSpc>
            </a:pPr>
            <a:r>
              <a:rPr lang="en-US" sz="1262" b="1" dirty="0">
                <a:solidFill>
                  <a:srgbClr val="F2F2F2"/>
                </a:solidFill>
                <a:latin typeface="Oranienbaum" pitchFamily="34" charset="0"/>
                <a:ea typeface="Oranienbaum" pitchFamily="34" charset="-122"/>
                <a:cs typeface="Oranienbaum" pitchFamily="34" charset="-120"/>
              </a:rPr>
              <a:t>Theo's Legacy</a:t>
            </a:r>
            <a:endParaRPr lang="en-US" sz="1600" dirty="0"/>
          </a:p>
        </p:txBody>
      </p:sp>
      <p:sp>
        <p:nvSpPr>
          <p:cNvPr id="33" name="Shape 31"/>
          <p:cNvSpPr/>
          <p:nvPr/>
        </p:nvSpPr>
        <p:spPr>
          <a:xfrm>
            <a:off x="6959320" y="5687464"/>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4" name="Text 32"/>
          <p:cNvSpPr/>
          <p:nvPr/>
        </p:nvSpPr>
        <p:spPr>
          <a:xfrm>
            <a:off x="7167594" y="5655422"/>
            <a:ext cx="2042681"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Enabled Vincent to create 860+ paintings</a:t>
            </a:r>
            <a:endParaRPr lang="en-US" sz="1600" dirty="0"/>
          </a:p>
        </p:txBody>
      </p:sp>
      <p:sp>
        <p:nvSpPr>
          <p:cNvPr id="35" name="Shape 33"/>
          <p:cNvSpPr/>
          <p:nvPr/>
        </p:nvSpPr>
        <p:spPr>
          <a:xfrm>
            <a:off x="6959320" y="5911758"/>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6" name="Text 34"/>
          <p:cNvSpPr/>
          <p:nvPr/>
        </p:nvSpPr>
        <p:spPr>
          <a:xfrm>
            <a:off x="7167594" y="5879716"/>
            <a:ext cx="2002628"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Preserved Vincent's letters and artworks</a:t>
            </a:r>
            <a:endParaRPr lang="en-US" sz="1600" dirty="0"/>
          </a:p>
        </p:txBody>
      </p:sp>
      <p:sp>
        <p:nvSpPr>
          <p:cNvPr id="37" name="Shape 35"/>
          <p:cNvSpPr/>
          <p:nvPr/>
        </p:nvSpPr>
        <p:spPr>
          <a:xfrm>
            <a:off x="6959320" y="6136053"/>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8" name="Text 36"/>
          <p:cNvSpPr/>
          <p:nvPr/>
        </p:nvSpPr>
        <p:spPr>
          <a:xfrm>
            <a:off x="7167594" y="6104011"/>
            <a:ext cx="2226922"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Laid foundation for Van Gogh Museum (1973)</a:t>
            </a:r>
            <a:endParaRPr lang="en-US" sz="1600" dirty="0"/>
          </a:p>
        </p:txBody>
      </p:sp>
      <p:sp>
        <p:nvSpPr>
          <p:cNvPr id="39" name="Shape 37"/>
          <p:cNvSpPr/>
          <p:nvPr/>
        </p:nvSpPr>
        <p:spPr>
          <a:xfrm>
            <a:off x="6959320" y="6360347"/>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40" name="Text 38"/>
          <p:cNvSpPr/>
          <p:nvPr/>
        </p:nvSpPr>
        <p:spPr>
          <a:xfrm>
            <a:off x="7167594" y="6328305"/>
            <a:ext cx="2331059"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Symbol of artistic patronage and brotherly love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pic>
        <p:nvPicPr>
          <p:cNvPr id="2" name="Image 0" descr="https://kimi-web-img.moonshot.cn/img/c4.wallpaperflare.com/457c938cd175c38cffbd33357f67a9ceaf467afb.jpg">    </p:cNvPr>
          <p:cNvPicPr>
            <a:picLocks noChangeAspect="1"/>
          </p:cNvPicPr>
          <p:nvPr/>
        </p:nvPicPr>
        <p:blipFill>
          <a:blip r:embed="rId1">
            <a:alphaModFix amt="30000"/>
          </a:blip>
          <a:srcRect l="0" r="0" t="61" b="6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47750" cy="809625"/>
          </a:xfrm>
          <a:custGeom>
            <a:avLst/>
            <a:gdLst/>
            <a:ahLst/>
            <a:cxn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65882"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Enduring Legacy</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and Influence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Posthumous Recognition and Global Impact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5667438" cy="3043995"/>
          </a:xfrm>
          <a:custGeom>
            <a:avLst/>
            <a:gdLst/>
            <a:ahLst/>
            <a:cxn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p:spPr>
      </p:sp>
      <p:sp>
        <p:nvSpPr>
          <p:cNvPr id="9" name="Text 7"/>
          <p:cNvSpPr/>
          <p:nvPr/>
        </p:nvSpPr>
        <p:spPr>
          <a:xfrm>
            <a:off x="985293" y="1489955"/>
            <a:ext cx="1938544"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From Obscurity to Fame</a:t>
            </a:r>
            <a:endParaRPr lang="en-US" sz="1600" dirty="0"/>
          </a:p>
        </p:txBody>
      </p:sp>
      <p:sp>
        <p:nvSpPr>
          <p:cNvPr id="10" name="Text 8"/>
          <p:cNvSpPr/>
          <p:nvPr/>
        </p:nvSpPr>
        <p:spPr>
          <a:xfrm>
            <a:off x="504662" y="1938544"/>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During his lifetime, Van Gogh sold only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one painting</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Red Vineyard" (1890), purchased by Belgian artist Anna Boch for 400 francs. He died in poverty and relative obscurity, considered a madman and failure by most.</a:t>
            </a:r>
            <a:endParaRPr lang="en-US" sz="1600" dirty="0"/>
          </a:p>
        </p:txBody>
      </p:sp>
      <p:sp>
        <p:nvSpPr>
          <p:cNvPr id="11" name="Text 9"/>
          <p:cNvSpPr/>
          <p:nvPr/>
        </p:nvSpPr>
        <p:spPr>
          <a:xfrm>
            <a:off x="504662" y="269153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After his death, Theo and later Theo's widow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Johanna van Gogh-Bonger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worked tirelessly to promote his work. Johanna organized exhibitions across Europe, published his letters, and built relationships with collectors and critics who gradually recognized his genius.</a:t>
            </a:r>
            <a:endParaRPr lang="en-US" sz="1600" dirty="0"/>
          </a:p>
        </p:txBody>
      </p:sp>
      <p:sp>
        <p:nvSpPr>
          <p:cNvPr id="12" name="Shape 10"/>
          <p:cNvSpPr/>
          <p:nvPr/>
        </p:nvSpPr>
        <p:spPr>
          <a:xfrm>
            <a:off x="504662" y="3444520"/>
            <a:ext cx="5335001" cy="704925"/>
          </a:xfrm>
          <a:custGeom>
            <a:avLst/>
            <a:gdLst/>
            <a:ahLst/>
            <a:cxn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198823"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Turning Point:</a:t>
            </a:r>
            <a:endParaRPr lang="en-US" sz="1600" dirty="0"/>
          </a:p>
        </p:txBody>
      </p:sp>
      <p:sp>
        <p:nvSpPr>
          <p:cNvPr id="14" name="Text 12"/>
          <p:cNvSpPr/>
          <p:nvPr/>
        </p:nvSpPr>
        <p:spPr>
          <a:xfrm>
            <a:off x="600788" y="3732899"/>
            <a:ext cx="5198823"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A 1901 retrospective in Paris brought Van Gogh to the attention of the avant-garde, sparking his posthumous rise to fame.</a:t>
            </a:r>
            <a:endParaRPr lang="en-US" sz="1600" dirty="0"/>
          </a:p>
        </p:txBody>
      </p:sp>
      <p:sp>
        <p:nvSpPr>
          <p:cNvPr id="15" name="Shape 13"/>
          <p:cNvSpPr/>
          <p:nvPr/>
        </p:nvSpPr>
        <p:spPr>
          <a:xfrm>
            <a:off x="332436" y="4437824"/>
            <a:ext cx="5667438" cy="2002628"/>
          </a:xfrm>
          <a:custGeom>
            <a:avLst/>
            <a:gdLst/>
            <a:ahLst/>
            <a:cxn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002628"/>
          </a:xfrm>
          <a:custGeom>
            <a:avLst/>
            <a:gdLst/>
            <a:ahLst/>
            <a:cxn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16809" y="4710181"/>
            <a:ext cx="160210" cy="160210"/>
          </a:xfrm>
          <a:custGeom>
            <a:avLst/>
            <a:gdLst/>
            <a:ahLst/>
            <a:cxn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p:spPr>
      </p:sp>
      <p:sp>
        <p:nvSpPr>
          <p:cNvPr id="19" name="Text 17"/>
          <p:cNvSpPr/>
          <p:nvPr/>
        </p:nvSpPr>
        <p:spPr>
          <a:xfrm>
            <a:off x="985293" y="4662118"/>
            <a:ext cx="151398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Van Gogh Museum</a:t>
            </a:r>
            <a:endParaRPr lang="en-US" sz="1600" dirty="0"/>
          </a:p>
        </p:txBody>
      </p:sp>
      <p:sp>
        <p:nvSpPr>
          <p:cNvPr id="20" name="Text 18"/>
          <p:cNvSpPr/>
          <p:nvPr/>
        </p:nvSpPr>
        <p:spPr>
          <a:xfrm>
            <a:off x="504662" y="5110707"/>
            <a:ext cx="5399085" cy="416547"/>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Established in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1973</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in Amsterdam's Museumplein, the Van Gogh Museum houses the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world's largest collection</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of his works—over 200 paintings, 500 drawings, and 700 letters.</a:t>
            </a:r>
            <a:endParaRPr lang="en-US" sz="1600" dirty="0"/>
          </a:p>
        </p:txBody>
      </p:sp>
      <p:sp>
        <p:nvSpPr>
          <p:cNvPr id="21" name="Text 19"/>
          <p:cNvSpPr/>
          <p:nvPr/>
        </p:nvSpPr>
        <p:spPr>
          <a:xfrm>
            <a:off x="504662" y="565542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museum, founded by Vincent's nephew Vincent Willem van Gogh, attracts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2+ million visitors annually</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making it one of the world's most popular art museums and a testament to his enduring appeal.</a:t>
            </a:r>
            <a:endParaRPr lang="en-US" sz="1600" dirty="0"/>
          </a:p>
        </p:txBody>
      </p:sp>
      <p:sp>
        <p:nvSpPr>
          <p:cNvPr id="22" name="Shape 20"/>
          <p:cNvSpPr/>
          <p:nvPr/>
        </p:nvSpPr>
        <p:spPr>
          <a:xfrm>
            <a:off x="6203203" y="1265661"/>
            <a:ext cx="5667438" cy="3556668"/>
          </a:xfrm>
          <a:custGeom>
            <a:avLst/>
            <a:gdLst/>
            <a:ahLst/>
            <a:cxn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p:spPr>
      </p:sp>
      <p:sp>
        <p:nvSpPr>
          <p:cNvPr id="23" name="Shape 21"/>
          <p:cNvSpPr/>
          <p:nvPr/>
        </p:nvSpPr>
        <p:spPr>
          <a:xfrm>
            <a:off x="6203203" y="1265661"/>
            <a:ext cx="24032" cy="3556668"/>
          </a:xfrm>
          <a:custGeom>
            <a:avLst/>
            <a:gdLst/>
            <a:ahLst/>
            <a:cxn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p:spPr>
      </p:sp>
      <p:sp>
        <p:nvSpPr>
          <p:cNvPr id="24" name="Shape 22"/>
          <p:cNvSpPr/>
          <p:nvPr/>
        </p:nvSpPr>
        <p:spPr>
          <a:xfrm>
            <a:off x="6375429"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25" name="Shape 23"/>
          <p:cNvSpPr/>
          <p:nvPr/>
        </p:nvSpPr>
        <p:spPr>
          <a:xfrm>
            <a:off x="6517616" y="1538018"/>
            <a:ext cx="100131" cy="160210"/>
          </a:xfrm>
          <a:custGeom>
            <a:avLst/>
            <a:gdLst/>
            <a:ahLst/>
            <a:cxn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p:spPr>
      </p:sp>
      <p:sp>
        <p:nvSpPr>
          <p:cNvPr id="26" name="Text 24"/>
          <p:cNvSpPr/>
          <p:nvPr/>
        </p:nvSpPr>
        <p:spPr>
          <a:xfrm>
            <a:off x="6856060" y="1489955"/>
            <a:ext cx="1610113"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Market Value Today</a:t>
            </a:r>
            <a:endParaRPr lang="en-US" sz="1600" dirty="0"/>
          </a:p>
        </p:txBody>
      </p:sp>
      <p:sp>
        <p:nvSpPr>
          <p:cNvPr id="27" name="Text 25"/>
          <p:cNvSpPr/>
          <p:nvPr/>
        </p:nvSpPr>
        <p:spPr>
          <a:xfrm>
            <a:off x="6375429" y="1938544"/>
            <a:ext cx="5399085" cy="208273"/>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Gogh's works now command some of the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highest prices in the art market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t>
            </a:r>
            <a:endParaRPr lang="en-US" sz="1600" dirty="0"/>
          </a:p>
        </p:txBody>
      </p:sp>
      <p:sp>
        <p:nvSpPr>
          <p:cNvPr id="28" name="Shape 26"/>
          <p:cNvSpPr/>
          <p:nvPr/>
        </p:nvSpPr>
        <p:spPr>
          <a:xfrm>
            <a:off x="6375429" y="2274986"/>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29" name="Text 27"/>
          <p:cNvSpPr/>
          <p:nvPr/>
        </p:nvSpPr>
        <p:spPr>
          <a:xfrm>
            <a:off x="6471555" y="2387133"/>
            <a:ext cx="140184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Portrait of Dr. Gachet (1990)</a:t>
            </a:r>
            <a:endParaRPr lang="en-US" sz="1600" dirty="0"/>
          </a:p>
        </p:txBody>
      </p:sp>
      <p:sp>
        <p:nvSpPr>
          <p:cNvPr id="30" name="Text 28"/>
          <p:cNvSpPr/>
          <p:nvPr/>
        </p:nvSpPr>
        <p:spPr>
          <a:xfrm>
            <a:off x="10907564" y="2371112"/>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$82.5 million</a:t>
            </a:r>
            <a:endParaRPr lang="en-US" sz="1600" dirty="0"/>
          </a:p>
        </p:txBody>
      </p:sp>
      <p:sp>
        <p:nvSpPr>
          <p:cNvPr id="31" name="Text 29"/>
          <p:cNvSpPr/>
          <p:nvPr/>
        </p:nvSpPr>
        <p:spPr>
          <a:xfrm>
            <a:off x="6471555" y="2595406"/>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Held record for most expensive painting for 16 years</a:t>
            </a:r>
            <a:endParaRPr lang="en-US" sz="1600" dirty="0"/>
          </a:p>
        </p:txBody>
      </p:sp>
      <p:sp>
        <p:nvSpPr>
          <p:cNvPr id="32" name="Shape 30"/>
          <p:cNvSpPr/>
          <p:nvPr/>
        </p:nvSpPr>
        <p:spPr>
          <a:xfrm>
            <a:off x="6375429" y="2915827"/>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3" name="Text 31"/>
          <p:cNvSpPr/>
          <p:nvPr/>
        </p:nvSpPr>
        <p:spPr>
          <a:xfrm>
            <a:off x="6471555" y="3027974"/>
            <a:ext cx="61680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Irises (1987)</a:t>
            </a:r>
            <a:endParaRPr lang="en-US" sz="1600" dirty="0"/>
          </a:p>
        </p:txBody>
      </p:sp>
      <p:sp>
        <p:nvSpPr>
          <p:cNvPr id="34" name="Text 32"/>
          <p:cNvSpPr/>
          <p:nvPr/>
        </p:nvSpPr>
        <p:spPr>
          <a:xfrm>
            <a:off x="10904999" y="3011953"/>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$53.9 million</a:t>
            </a:r>
            <a:endParaRPr lang="en-US" sz="1600" dirty="0"/>
          </a:p>
        </p:txBody>
      </p:sp>
      <p:sp>
        <p:nvSpPr>
          <p:cNvPr id="35" name="Text 33"/>
          <p:cNvSpPr/>
          <p:nvPr/>
        </p:nvSpPr>
        <p:spPr>
          <a:xfrm>
            <a:off x="6471555" y="3236247"/>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Set record at the time; now worth $100+ million</a:t>
            </a:r>
            <a:endParaRPr lang="en-US" sz="1600" dirty="0"/>
          </a:p>
        </p:txBody>
      </p:sp>
      <p:sp>
        <p:nvSpPr>
          <p:cNvPr id="36" name="Shape 34"/>
          <p:cNvSpPr/>
          <p:nvPr/>
        </p:nvSpPr>
        <p:spPr>
          <a:xfrm>
            <a:off x="6375429" y="3556668"/>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7" name="Text 35"/>
          <p:cNvSpPr/>
          <p:nvPr/>
        </p:nvSpPr>
        <p:spPr>
          <a:xfrm>
            <a:off x="6471555" y="3668815"/>
            <a:ext cx="125765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Sunflowers (private sale)</a:t>
            </a:r>
            <a:endParaRPr lang="en-US" sz="1600" dirty="0"/>
          </a:p>
        </p:txBody>
      </p:sp>
      <p:sp>
        <p:nvSpPr>
          <p:cNvPr id="38" name="Text 36"/>
          <p:cNvSpPr/>
          <p:nvPr/>
        </p:nvSpPr>
        <p:spPr>
          <a:xfrm>
            <a:off x="10872706" y="3652794"/>
            <a:ext cx="801051"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
        <p:nvSpPr>
          <p:cNvPr id="39" name="Text 37"/>
          <p:cNvSpPr/>
          <p:nvPr/>
        </p:nvSpPr>
        <p:spPr>
          <a:xfrm>
            <a:off x="6471555" y="3877088"/>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Estimated value if sold today</a:t>
            </a:r>
            <a:endParaRPr lang="en-US" sz="1600" dirty="0"/>
          </a:p>
        </p:txBody>
      </p:sp>
      <p:sp>
        <p:nvSpPr>
          <p:cNvPr id="40" name="Text 38"/>
          <p:cNvSpPr/>
          <p:nvPr/>
        </p:nvSpPr>
        <p:spPr>
          <a:xfrm>
            <a:off x="6375429" y="4229551"/>
            <a:ext cx="5391075"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 dramatic contrast between his poverty in life and the value of his work today symbolizes the tragedy of unrecognized genius.</a:t>
            </a:r>
            <a:endParaRPr lang="en-US" sz="1600" dirty="0"/>
          </a:p>
        </p:txBody>
      </p:sp>
      <p:sp>
        <p:nvSpPr>
          <p:cNvPr id="41" name="Shape 39"/>
          <p:cNvSpPr/>
          <p:nvPr/>
        </p:nvSpPr>
        <p:spPr>
          <a:xfrm>
            <a:off x="6195193" y="4954502"/>
            <a:ext cx="5671443" cy="1578071"/>
          </a:xfrm>
          <a:custGeom>
            <a:avLst/>
            <a:gdLst/>
            <a:ahLst/>
            <a:cxn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42" name="Shape 40"/>
          <p:cNvSpPr/>
          <p:nvPr/>
        </p:nvSpPr>
        <p:spPr>
          <a:xfrm>
            <a:off x="8912321" y="5118717"/>
            <a:ext cx="240315" cy="240315"/>
          </a:xfrm>
          <a:custGeom>
            <a:avLst/>
            <a:gdLst/>
            <a:ahLst/>
            <a:cxn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p:spPr>
      </p:sp>
      <p:sp>
        <p:nvSpPr>
          <p:cNvPr id="43" name="Text 41"/>
          <p:cNvSpPr/>
          <p:nvPr/>
        </p:nvSpPr>
        <p:spPr>
          <a:xfrm>
            <a:off x="6319356" y="5455159"/>
            <a:ext cx="5423117" cy="224294"/>
          </a:xfrm>
          <a:prstGeom prst="rect">
            <a:avLst/>
          </a:prstGeom>
          <a:noFill/>
          <a:ln/>
        </p:spPr>
        <p:txBody>
          <a:bodyPr wrap="square" lIns="0" tIns="0" rIns="0" bIns="0" rtlCol="0" anchor="ctr"/>
          <a:lstStyle/>
          <a:p>
            <a:pPr algn="ctr">
              <a:lnSpc>
                <a:spcPct val="120000"/>
              </a:lnSpc>
            </a:pPr>
            <a:r>
              <a:rPr lang="en-US" sz="1262" b="1" dirty="0">
                <a:solidFill>
                  <a:srgbClr val="F2F2F2"/>
                </a:solidFill>
                <a:latin typeface="Oranienbaum" pitchFamily="34" charset="0"/>
                <a:ea typeface="Oranienbaum" pitchFamily="34" charset="-122"/>
                <a:cs typeface="Oranienbaum" pitchFamily="34" charset="-120"/>
              </a:rPr>
              <a:t>Global Recognition</a:t>
            </a:r>
            <a:endParaRPr lang="en-US" sz="1600" dirty="0"/>
          </a:p>
        </p:txBody>
      </p:sp>
      <p:sp>
        <p:nvSpPr>
          <p:cNvPr id="44" name="Text 42"/>
          <p:cNvSpPr/>
          <p:nvPr/>
        </p:nvSpPr>
        <p:spPr>
          <a:xfrm>
            <a:off x="6327366" y="5743537"/>
            <a:ext cx="5407096" cy="624820"/>
          </a:xfrm>
          <a:prstGeom prst="rect">
            <a:avLst/>
          </a:prstGeom>
          <a:noFill/>
          <a:ln/>
        </p:spPr>
        <p:txBody>
          <a:bodyPr wrap="square" lIns="0" tIns="0" rIns="0" bIns="0" rtlCol="0" anchor="ctr"/>
          <a:lstStyle/>
          <a:p>
            <a:pPr algn="ct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 is now one of the most recognized artists worldwide. His works are housed in major museums across the globe, from the MoMA in New York to the Musée d'Orsay in Paris, attracting millions of admirers annually.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21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F2F2F2"/>
                </a:solidFill>
                <a:latin typeface="Oranienbaum" pitchFamily="34" charset="0"/>
                <a:ea typeface="Oranienbaum" pitchFamily="34" charset="-122"/>
                <a:cs typeface="Oranienbaum" pitchFamily="34" charset="-120"/>
              </a:rPr>
              <a:t>Inspiring Generations: Van Gogh's Artistic Descendants</a:t>
            </a:r>
            <a:endParaRPr lang="en-US" sz="1600" dirty="0"/>
          </a:p>
        </p:txBody>
      </p:sp>
      <p:sp>
        <p:nvSpPr>
          <p:cNvPr id="4" name="Shape 2"/>
          <p:cNvSpPr/>
          <p:nvPr/>
        </p:nvSpPr>
        <p:spPr>
          <a:xfrm>
            <a:off x="335868" y="1141950"/>
            <a:ext cx="940430" cy="16793"/>
          </a:xfrm>
          <a:custGeom>
            <a:avLst/>
            <a:gdLst/>
            <a:ahLst/>
            <a:cxnLst/>
            <a:rect l="l" t="t" r="r" b="b"/>
            <a:pathLst>
              <a:path w="940430" h="16793">
                <a:moveTo>
                  <a:pt x="0" y="0"/>
                </a:moveTo>
                <a:lnTo>
                  <a:pt x="940430" y="0"/>
                </a:lnTo>
                <a:lnTo>
                  <a:pt x="940430" y="16793"/>
                </a:lnTo>
                <a:lnTo>
                  <a:pt x="0" y="16793"/>
                </a:lnTo>
                <a:lnTo>
                  <a:pt x="0" y="0"/>
                </a:lnTo>
                <a:close/>
              </a:path>
            </a:pathLst>
          </a:custGeom>
          <a:solidFill>
            <a:srgbClr val="C9A36A"/>
          </a:solidFill>
          <a:ln/>
        </p:spPr>
      </p:sp>
      <p:sp>
        <p:nvSpPr>
          <p:cNvPr id="5" name="Shape 3"/>
          <p:cNvSpPr/>
          <p:nvPr/>
        </p:nvSpPr>
        <p:spPr>
          <a:xfrm>
            <a:off x="33586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6" name="Shape 4"/>
          <p:cNvSpPr/>
          <p:nvPr/>
        </p:nvSpPr>
        <p:spPr>
          <a:xfrm>
            <a:off x="33586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7" name="Shape 5"/>
          <p:cNvSpPr/>
          <p:nvPr/>
        </p:nvSpPr>
        <p:spPr>
          <a:xfrm>
            <a:off x="50380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8" name="Shape 6"/>
          <p:cNvSpPr/>
          <p:nvPr/>
        </p:nvSpPr>
        <p:spPr>
          <a:xfrm>
            <a:off x="631851" y="1637355"/>
            <a:ext cx="146942" cy="167934"/>
          </a:xfrm>
          <a:custGeom>
            <a:avLst/>
            <a:gdLst/>
            <a:ahLst/>
            <a:cxn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p:spPr>
      </p:sp>
      <p:sp>
        <p:nvSpPr>
          <p:cNvPr id="9" name="Text 7"/>
          <p:cNvSpPr/>
          <p:nvPr/>
        </p:nvSpPr>
        <p:spPr>
          <a:xfrm>
            <a:off x="1007603" y="1603769"/>
            <a:ext cx="160376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German Expressionism</a:t>
            </a:r>
            <a:endParaRPr lang="en-US" sz="1600" dirty="0"/>
          </a:p>
        </p:txBody>
      </p:sp>
      <p:sp>
        <p:nvSpPr>
          <p:cNvPr id="10" name="Text 8"/>
          <p:cNvSpPr/>
          <p:nvPr/>
        </p:nvSpPr>
        <p:spPr>
          <a:xfrm>
            <a:off x="503802" y="2057190"/>
            <a:ext cx="3484628" cy="1091570"/>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Artists of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Die Brücke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Bridge) and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Der Blaue Reiter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Blue Rider) movements saw Van Gogh as their spiritual predecessor.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Ernst Ludwig Kirchner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Erich Heckel</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Karl Schmidt-Rottluff</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adopted his raw emotional intensity, bold colors, and distorted forms.</a:t>
            </a:r>
            <a:endParaRPr lang="en-US" sz="1600" dirty="0"/>
          </a:p>
        </p:txBody>
      </p:sp>
      <p:sp>
        <p:nvSpPr>
          <p:cNvPr id="11" name="Shape 9"/>
          <p:cNvSpPr/>
          <p:nvPr/>
        </p:nvSpPr>
        <p:spPr>
          <a:xfrm>
            <a:off x="503802" y="3283107"/>
            <a:ext cx="3417455" cy="738909"/>
          </a:xfrm>
          <a:custGeom>
            <a:avLst/>
            <a:gdLst/>
            <a:ahLst/>
            <a:cxn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p:spPr>
      </p:sp>
      <p:sp>
        <p:nvSpPr>
          <p:cNvPr id="12" name="Text 10"/>
          <p:cNvSpPr/>
          <p:nvPr/>
        </p:nvSpPr>
        <p:spPr>
          <a:xfrm>
            <a:off x="604562" y="3383868"/>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13" name="Text 11"/>
          <p:cNvSpPr/>
          <p:nvPr/>
        </p:nvSpPr>
        <p:spPr>
          <a:xfrm>
            <a:off x="604562" y="3585388"/>
            <a:ext cx="3274711" cy="335868"/>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use of color to express inner states became central to Expressionist philosophy</a:t>
            </a:r>
            <a:endParaRPr lang="en-US" sz="1600" dirty="0"/>
          </a:p>
        </p:txBody>
      </p:sp>
      <p:sp>
        <p:nvSpPr>
          <p:cNvPr id="14" name="Shape 12"/>
          <p:cNvSpPr/>
          <p:nvPr/>
        </p:nvSpPr>
        <p:spPr>
          <a:xfrm>
            <a:off x="4221963"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15" name="Shape 13"/>
          <p:cNvSpPr/>
          <p:nvPr/>
        </p:nvSpPr>
        <p:spPr>
          <a:xfrm>
            <a:off x="4221963"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16" name="Shape 14"/>
          <p:cNvSpPr/>
          <p:nvPr/>
        </p:nvSpPr>
        <p:spPr>
          <a:xfrm>
            <a:off x="4389897"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17" name="Shape 15"/>
          <p:cNvSpPr/>
          <p:nvPr/>
        </p:nvSpPr>
        <p:spPr>
          <a:xfrm>
            <a:off x="4507450" y="1637355"/>
            <a:ext cx="167934" cy="167934"/>
          </a:xfrm>
          <a:custGeom>
            <a:avLst/>
            <a:gdLst/>
            <a:ahLst/>
            <a:cxn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p:spPr>
      </p:sp>
      <p:sp>
        <p:nvSpPr>
          <p:cNvPr id="18" name="Text 16"/>
          <p:cNvSpPr/>
          <p:nvPr/>
        </p:nvSpPr>
        <p:spPr>
          <a:xfrm>
            <a:off x="4893698" y="1603769"/>
            <a:ext cx="63814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Fauvism</a:t>
            </a:r>
            <a:endParaRPr lang="en-US" sz="1600" dirty="0"/>
          </a:p>
        </p:txBody>
      </p:sp>
      <p:sp>
        <p:nvSpPr>
          <p:cNvPr id="19" name="Text 17"/>
          <p:cNvSpPr/>
          <p:nvPr/>
        </p:nvSpPr>
        <p:spPr>
          <a:xfrm>
            <a:off x="4389897"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The Fauves—</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Henri Matisse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André Derain</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Maurice de Vlaminck</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—pushed Van Gogh's chromatic freedom even further. They liberated color from descriptive representation, using pure, saturated hues for emotional impact, directly following Van Gogh's example.</a:t>
            </a:r>
            <a:endParaRPr lang="en-US" sz="1600" dirty="0"/>
          </a:p>
        </p:txBody>
      </p:sp>
      <p:sp>
        <p:nvSpPr>
          <p:cNvPr id="20" name="Shape 18"/>
          <p:cNvSpPr/>
          <p:nvPr/>
        </p:nvSpPr>
        <p:spPr>
          <a:xfrm>
            <a:off x="4389897"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21" name="Text 19"/>
          <p:cNvSpPr/>
          <p:nvPr/>
        </p:nvSpPr>
        <p:spPr>
          <a:xfrm>
            <a:off x="4490657"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22" name="Text 20"/>
          <p:cNvSpPr/>
          <p:nvPr/>
        </p:nvSpPr>
        <p:spPr>
          <a:xfrm>
            <a:off x="4490657"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arbitrary color choices validated their wild palette</a:t>
            </a:r>
            <a:endParaRPr lang="en-US" sz="1600" dirty="0"/>
          </a:p>
        </p:txBody>
      </p:sp>
      <p:sp>
        <p:nvSpPr>
          <p:cNvPr id="23" name="Shape 21"/>
          <p:cNvSpPr/>
          <p:nvPr/>
        </p:nvSpPr>
        <p:spPr>
          <a:xfrm>
            <a:off x="810805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24" name="Shape 22"/>
          <p:cNvSpPr/>
          <p:nvPr/>
        </p:nvSpPr>
        <p:spPr>
          <a:xfrm>
            <a:off x="810805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25" name="Shape 23"/>
          <p:cNvSpPr/>
          <p:nvPr/>
        </p:nvSpPr>
        <p:spPr>
          <a:xfrm>
            <a:off x="827599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26" name="Shape 24"/>
          <p:cNvSpPr/>
          <p:nvPr/>
        </p:nvSpPr>
        <p:spPr>
          <a:xfrm>
            <a:off x="8393545" y="1637355"/>
            <a:ext cx="167934" cy="167934"/>
          </a:xfrm>
          <a:custGeom>
            <a:avLst/>
            <a:gdLst/>
            <a:ahLst/>
            <a:cxn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p:spPr>
      </p:sp>
      <p:sp>
        <p:nvSpPr>
          <p:cNvPr id="27" name="Text 25"/>
          <p:cNvSpPr/>
          <p:nvPr/>
        </p:nvSpPr>
        <p:spPr>
          <a:xfrm>
            <a:off x="8779793" y="1603769"/>
            <a:ext cx="81447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Symbolism</a:t>
            </a:r>
            <a:endParaRPr lang="en-US" sz="1600" dirty="0"/>
          </a:p>
        </p:txBody>
      </p:sp>
      <p:sp>
        <p:nvSpPr>
          <p:cNvPr id="28" name="Text 26"/>
          <p:cNvSpPr/>
          <p:nvPr/>
        </p:nvSpPr>
        <p:spPr>
          <a:xfrm>
            <a:off x="8275992"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Symbolist artists found in Van Gogh's landscapes and night skies a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visual translation of spiritual and emotional states</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His ability to imbue nature with psychological meaning resonated with their desire to express the ineffable.</a:t>
            </a:r>
            <a:endParaRPr lang="en-US" sz="1600" dirty="0"/>
          </a:p>
        </p:txBody>
      </p:sp>
      <p:sp>
        <p:nvSpPr>
          <p:cNvPr id="29" name="Shape 27"/>
          <p:cNvSpPr/>
          <p:nvPr/>
        </p:nvSpPr>
        <p:spPr>
          <a:xfrm>
            <a:off x="8275992"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30" name="Text 28"/>
          <p:cNvSpPr/>
          <p:nvPr/>
        </p:nvSpPr>
        <p:spPr>
          <a:xfrm>
            <a:off x="8376752"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31" name="Text 29"/>
          <p:cNvSpPr/>
          <p:nvPr/>
        </p:nvSpPr>
        <p:spPr>
          <a:xfrm>
            <a:off x="8376752"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symbolic use of cypresses, stars, and wheatfields</a:t>
            </a:r>
            <a:endParaRPr lang="en-US" sz="1600" dirty="0"/>
          </a:p>
        </p:txBody>
      </p:sp>
      <p:sp>
        <p:nvSpPr>
          <p:cNvPr id="32" name="Shape 30"/>
          <p:cNvSpPr/>
          <p:nvPr/>
        </p:nvSpPr>
        <p:spPr>
          <a:xfrm>
            <a:off x="348463" y="4324298"/>
            <a:ext cx="5680364" cy="2317488"/>
          </a:xfrm>
          <a:custGeom>
            <a:avLst/>
            <a:gdLst/>
            <a:ahLst/>
            <a:cxn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p:spPr>
      </p:sp>
      <p:sp>
        <p:nvSpPr>
          <p:cNvPr id="33" name="Shape 31"/>
          <p:cNvSpPr/>
          <p:nvPr/>
        </p:nvSpPr>
        <p:spPr>
          <a:xfrm>
            <a:off x="348463" y="4324298"/>
            <a:ext cx="25190" cy="2317488"/>
          </a:xfrm>
          <a:custGeom>
            <a:avLst/>
            <a:gdLst/>
            <a:ahLst/>
            <a:cxn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p:spPr>
      </p:sp>
      <p:sp>
        <p:nvSpPr>
          <p:cNvPr id="34" name="Shape 32"/>
          <p:cNvSpPr/>
          <p:nvPr/>
        </p:nvSpPr>
        <p:spPr>
          <a:xfrm>
            <a:off x="528992" y="4492231"/>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35" name="Shape 33"/>
          <p:cNvSpPr/>
          <p:nvPr/>
        </p:nvSpPr>
        <p:spPr>
          <a:xfrm>
            <a:off x="625554" y="4609785"/>
            <a:ext cx="209917" cy="167934"/>
          </a:xfrm>
          <a:custGeom>
            <a:avLst/>
            <a:gdLst/>
            <a:ahLst/>
            <a:cxn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p:spPr>
      </p:sp>
      <p:sp>
        <p:nvSpPr>
          <p:cNvPr id="36" name="Text 34"/>
          <p:cNvSpPr/>
          <p:nvPr/>
        </p:nvSpPr>
        <p:spPr>
          <a:xfrm>
            <a:off x="1032793" y="4576198"/>
            <a:ext cx="1242711"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Individual Artists</a:t>
            </a:r>
            <a:endParaRPr lang="en-US" sz="1600" dirty="0"/>
          </a:p>
        </p:txBody>
      </p:sp>
      <p:sp>
        <p:nvSpPr>
          <p:cNvPr id="37" name="Shape 35"/>
          <p:cNvSpPr/>
          <p:nvPr/>
        </p:nvSpPr>
        <p:spPr>
          <a:xfrm>
            <a:off x="528992"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38" name="Text 36"/>
          <p:cNvSpPr/>
          <p:nvPr/>
        </p:nvSpPr>
        <p:spPr>
          <a:xfrm>
            <a:off x="629752"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Edvard Munch</a:t>
            </a:r>
            <a:endParaRPr lang="en-US" sz="1600" dirty="0"/>
          </a:p>
        </p:txBody>
      </p:sp>
      <p:sp>
        <p:nvSpPr>
          <p:cNvPr id="39" name="Text 37"/>
          <p:cNvSpPr/>
          <p:nvPr/>
        </p:nvSpPr>
        <p:spPr>
          <a:xfrm>
            <a:off x="629752" y="5331901"/>
            <a:ext cx="2468628" cy="134347"/>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Adopted emotional line and psychological intensity</a:t>
            </a:r>
            <a:endParaRPr lang="en-US" sz="1600" dirty="0"/>
          </a:p>
        </p:txBody>
      </p:sp>
      <p:sp>
        <p:nvSpPr>
          <p:cNvPr id="40" name="Shape 38"/>
          <p:cNvSpPr/>
          <p:nvPr/>
        </p:nvSpPr>
        <p:spPr>
          <a:xfrm>
            <a:off x="3246241"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1" name="Text 39"/>
          <p:cNvSpPr/>
          <p:nvPr/>
        </p:nvSpPr>
        <p:spPr>
          <a:xfrm>
            <a:off x="3347001"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Wassily Kandinsky</a:t>
            </a:r>
            <a:endParaRPr lang="en-US" sz="1600" dirty="0"/>
          </a:p>
        </p:txBody>
      </p:sp>
      <p:sp>
        <p:nvSpPr>
          <p:cNvPr id="42" name="Text 40"/>
          <p:cNvSpPr/>
          <p:nvPr/>
        </p:nvSpPr>
        <p:spPr>
          <a:xfrm>
            <a:off x="3347001" y="5331901"/>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Drew from Van Gogh's color symbolism toward abstraction</a:t>
            </a:r>
            <a:endParaRPr lang="en-US" sz="1600" dirty="0"/>
          </a:p>
        </p:txBody>
      </p:sp>
      <p:sp>
        <p:nvSpPr>
          <p:cNvPr id="43" name="Shape 41"/>
          <p:cNvSpPr/>
          <p:nvPr/>
        </p:nvSpPr>
        <p:spPr>
          <a:xfrm>
            <a:off x="528992"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4" name="Text 42"/>
          <p:cNvSpPr/>
          <p:nvPr/>
        </p:nvSpPr>
        <p:spPr>
          <a:xfrm>
            <a:off x="629752"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Francis Bacon</a:t>
            </a:r>
            <a:endParaRPr lang="en-US" sz="1600" dirty="0"/>
          </a:p>
        </p:txBody>
      </p:sp>
      <p:sp>
        <p:nvSpPr>
          <p:cNvPr id="45" name="Text 43"/>
          <p:cNvSpPr/>
          <p:nvPr/>
        </p:nvSpPr>
        <p:spPr>
          <a:xfrm>
            <a:off x="629752"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Inspired by Van Gogh's emotional rawness and distortion</a:t>
            </a:r>
            <a:endParaRPr lang="en-US" sz="1600" dirty="0"/>
          </a:p>
        </p:txBody>
      </p:sp>
      <p:sp>
        <p:nvSpPr>
          <p:cNvPr id="46" name="Shape 44"/>
          <p:cNvSpPr/>
          <p:nvPr/>
        </p:nvSpPr>
        <p:spPr>
          <a:xfrm>
            <a:off x="3246241"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7" name="Text 45"/>
          <p:cNvSpPr/>
          <p:nvPr/>
        </p:nvSpPr>
        <p:spPr>
          <a:xfrm>
            <a:off x="3347001"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Jackson Pollock</a:t>
            </a:r>
            <a:endParaRPr lang="en-US" sz="1600" dirty="0"/>
          </a:p>
        </p:txBody>
      </p:sp>
      <p:sp>
        <p:nvSpPr>
          <p:cNvPr id="48" name="Text 46"/>
          <p:cNvSpPr/>
          <p:nvPr/>
        </p:nvSpPr>
        <p:spPr>
          <a:xfrm>
            <a:off x="3347001"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Abstract expressionism echoes Van Gogh's gestural energy</a:t>
            </a:r>
            <a:endParaRPr lang="en-US" sz="1600" dirty="0"/>
          </a:p>
        </p:txBody>
      </p:sp>
      <p:sp>
        <p:nvSpPr>
          <p:cNvPr id="49" name="Shape 47"/>
          <p:cNvSpPr/>
          <p:nvPr/>
        </p:nvSpPr>
        <p:spPr>
          <a:xfrm>
            <a:off x="6169209" y="4328496"/>
            <a:ext cx="5684562" cy="2309091"/>
          </a:xfrm>
          <a:custGeom>
            <a:avLst/>
            <a:gdLst/>
            <a:ahLst/>
            <a:cxn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50" name="Shape 48"/>
          <p:cNvSpPr/>
          <p:nvPr/>
        </p:nvSpPr>
        <p:spPr>
          <a:xfrm>
            <a:off x="8823482" y="4752529"/>
            <a:ext cx="377851" cy="302281"/>
          </a:xfrm>
          <a:custGeom>
            <a:avLst/>
            <a:gdLst/>
            <a:ahLst/>
            <a:cxn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p:spPr>
      </p:sp>
      <p:sp>
        <p:nvSpPr>
          <p:cNvPr id="51" name="Text 49"/>
          <p:cNvSpPr/>
          <p:nvPr/>
        </p:nvSpPr>
        <p:spPr>
          <a:xfrm>
            <a:off x="6290961" y="5189157"/>
            <a:ext cx="5441058" cy="268694"/>
          </a:xfrm>
          <a:prstGeom prst="rect">
            <a:avLst/>
          </a:prstGeom>
          <a:noFill/>
          <a:ln/>
        </p:spPr>
        <p:txBody>
          <a:bodyPr wrap="square" lIns="0" tIns="0" rIns="0" bIns="0" rtlCol="0" anchor="ctr"/>
          <a:lstStyle/>
          <a:p>
            <a:pPr algn="ctr">
              <a:lnSpc>
                <a:spcPct val="110000"/>
              </a:lnSpc>
            </a:pPr>
            <a:r>
              <a:rPr lang="en-US" sz="1587" b="1" dirty="0">
                <a:solidFill>
                  <a:srgbClr val="F2F2F2"/>
                </a:solidFill>
                <a:latin typeface="Oranienbaum" pitchFamily="34" charset="0"/>
                <a:ea typeface="Oranienbaum" pitchFamily="34" charset="-122"/>
                <a:cs typeface="Oranienbaum" pitchFamily="34" charset="-120"/>
              </a:rPr>
              <a:t>Continuing Influence</a:t>
            </a:r>
            <a:endParaRPr lang="en-US" sz="1600" dirty="0"/>
          </a:p>
        </p:txBody>
      </p:sp>
      <p:sp>
        <p:nvSpPr>
          <p:cNvPr id="52" name="Text 50"/>
          <p:cNvSpPr/>
          <p:nvPr/>
        </p:nvSpPr>
        <p:spPr>
          <a:xfrm>
            <a:off x="6307754" y="5558612"/>
            <a:ext cx="5407471" cy="654942"/>
          </a:xfrm>
          <a:prstGeom prst="rect">
            <a:avLst/>
          </a:prstGeom>
          <a:noFill/>
          <a:ln/>
        </p:spPr>
        <p:txBody>
          <a:bodyPr wrap="square" lIns="0" tIns="0" rIns="0" bIns="0" rtlCol="0" anchor="ctr"/>
          <a:lstStyle/>
          <a:p>
            <a:pPr algn="ct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Van Gogh's influence extends into contemporary art, street art, and popular culture. His techniques, color theories, and emotional approach continue to inspire artists worldwide, proving that his vision transcends time and movements.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pic>
        <p:nvPicPr>
          <p:cNvPr id="2" name="Image 0" descr="https://kimi-web-img.moonshot.cn/img/puzzlesgalore.co.uk/b0dcfa1593c51a1113b7c39a6e545249ed67b0d8.jpg">    </p:cNvPr>
          <p:cNvPicPr>
            <a:picLocks noChangeAspect="1"/>
          </p:cNvPicPr>
          <p:nvPr/>
        </p:nvPicPr>
        <p:blipFill>
          <a:blip r:embed="rId1">
            <a:alphaModFix amt="25000"/>
          </a:blip>
          <a:srcRect l="0" r="0" t="10238" b="10238"/>
          <a:stretch/>
        </p:blipFill>
        <p:spPr>
          <a:xfrm>
            <a:off x="0" y="0"/>
            <a:ext cx="12192000" cy="6856854"/>
          </a:xfrm>
          <a:prstGeom prst="roundRect">
            <a:avLst>
              <a:gd name="adj" fmla="val 0"/>
            </a:avLst>
          </a:prstGeom>
        </p:spPr>
      </p:pic>
      <p:sp>
        <p:nvSpPr>
          <p:cNvPr id="3" name="Shape 0"/>
          <p:cNvSpPr/>
          <p:nvPr/>
        </p:nvSpPr>
        <p:spPr>
          <a:xfrm>
            <a:off x="0" y="0"/>
            <a:ext cx="12192000" cy="6856854"/>
          </a:xfrm>
          <a:custGeom>
            <a:avLst/>
            <a:gdLst/>
            <a:ahLst/>
            <a:cxnLst/>
            <a:rect l="l" t="t" r="r" b="b"/>
            <a:pathLst>
              <a:path w="12192000" h="6856854">
                <a:moveTo>
                  <a:pt x="0" y="0"/>
                </a:moveTo>
                <a:lnTo>
                  <a:pt x="12192000" y="0"/>
                </a:lnTo>
                <a:lnTo>
                  <a:pt x="12192000" y="6856854"/>
                </a:lnTo>
                <a:lnTo>
                  <a:pt x="0" y="6856854"/>
                </a:lnTo>
                <a:lnTo>
                  <a:pt x="0" y="0"/>
                </a:lnTo>
                <a:close/>
              </a:path>
            </a:pathLst>
          </a:custGeom>
          <a:gradFill rotWithShape="1" flip="none">
            <a:gsLst>
              <a:gs pos="0">
                <a:srgbClr val="111111">
                  <a:alpha val="95000"/>
                </a:srgbClr>
              </a:gs>
              <a:gs pos="50000">
                <a:srgbClr val="111111">
                  <a:alpha val="85000"/>
                </a:srgbClr>
              </a:gs>
              <a:gs pos="100000">
                <a:srgbClr val="111111">
                  <a:alpha val="70000"/>
                </a:srgbClr>
              </a:gs>
            </a:gsLst>
            <a:lin ang="2700000" scaled="1"/>
          </a:gradFill>
          <a:ln/>
        </p:spPr>
      </p:sp>
      <p:sp>
        <p:nvSpPr>
          <p:cNvPr id="4" name="Shape 1"/>
          <p:cNvSpPr/>
          <p:nvPr/>
        </p:nvSpPr>
        <p:spPr>
          <a:xfrm>
            <a:off x="5847419" y="-123753"/>
            <a:ext cx="495014" cy="440012"/>
          </a:xfrm>
          <a:custGeom>
            <a:avLst/>
            <a:gdLst/>
            <a:ahLst/>
            <a:cxn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p:spPr>
      </p:sp>
      <p:sp>
        <p:nvSpPr>
          <p:cNvPr id="5" name="Text 2"/>
          <p:cNvSpPr/>
          <p:nvPr/>
        </p:nvSpPr>
        <p:spPr>
          <a:xfrm>
            <a:off x="4616760" y="829606"/>
            <a:ext cx="2960914" cy="1375038"/>
          </a:xfrm>
          <a:prstGeom prst="rect">
            <a:avLst/>
          </a:prstGeom>
          <a:noFill/>
          <a:ln/>
        </p:spPr>
        <p:txBody>
          <a:bodyPr wrap="square" lIns="0" tIns="0" rIns="0" bIns="0" rtlCol="0" anchor="ctr"/>
          <a:lstStyle/>
          <a:p>
            <a:pPr algn="ctr">
              <a:lnSpc>
                <a:spcPct val="100000"/>
              </a:lnSpc>
            </a:pPr>
            <a:r>
              <a:rPr lang="en-US" sz="4331" b="1" dirty="0">
                <a:solidFill>
                  <a:srgbClr val="F2F2F2"/>
                </a:solidFill>
                <a:latin typeface="Oranienbaum" pitchFamily="34" charset="0"/>
                <a:ea typeface="Oranienbaum" pitchFamily="34" charset="-122"/>
                <a:cs typeface="Oranienbaum" pitchFamily="34" charset="-120"/>
              </a:rPr>
              <a:t>The Eternal</a:t>
            </a:r>
            <a:endParaRPr lang="en-US" sz="1600" dirty="0"/>
          </a:p>
          <a:p>
            <a:pPr algn="ctr">
              <a:lnSpc>
                <a:spcPct val="100000"/>
              </a:lnSpc>
            </a:pPr>
            <a:r>
              <a:rPr lang="en-US" sz="4331" b="1" dirty="0">
                <a:solidFill>
                  <a:srgbClr val="C9A36A"/>
                </a:solidFill>
                <a:latin typeface="Oranienbaum" pitchFamily="34" charset="0"/>
                <a:ea typeface="Oranienbaum" pitchFamily="34" charset="-122"/>
                <a:cs typeface="Oranienbaum" pitchFamily="34" charset="-120"/>
              </a:rPr>
              <a:t>Starry Night</a:t>
            </a:r>
            <a:endParaRPr lang="en-US" sz="1600" dirty="0"/>
          </a:p>
        </p:txBody>
      </p:sp>
      <p:sp>
        <p:nvSpPr>
          <p:cNvPr id="6" name="Shape 3"/>
          <p:cNvSpPr/>
          <p:nvPr/>
        </p:nvSpPr>
        <p:spPr>
          <a:xfrm>
            <a:off x="5361572" y="2497985"/>
            <a:ext cx="1466707" cy="0"/>
          </a:xfrm>
          <a:custGeom>
            <a:avLst/>
            <a:gdLst/>
            <a:ahLst/>
            <a:cxnLst/>
            <a:rect l="l" t="t" r="r" b="b"/>
            <a:pathLst>
              <a:path w="1466707" h="0">
                <a:moveTo>
                  <a:pt x="0" y="0"/>
                </a:moveTo>
                <a:lnTo>
                  <a:pt x="1466707" y="0"/>
                </a:lnTo>
                <a:lnTo>
                  <a:pt x="1466707" y="0"/>
                </a:lnTo>
                <a:lnTo>
                  <a:pt x="0" y="0"/>
                </a:lnTo>
                <a:lnTo>
                  <a:pt x="0" y="0"/>
                </a:lnTo>
                <a:close/>
              </a:path>
            </a:pathLst>
          </a:custGeom>
          <a:solidFill>
            <a:srgbClr val="C9A36A"/>
          </a:solidFill>
          <a:ln/>
        </p:spPr>
      </p:sp>
      <p:sp>
        <p:nvSpPr>
          <p:cNvPr id="7" name="Text 4"/>
          <p:cNvSpPr/>
          <p:nvPr/>
        </p:nvSpPr>
        <p:spPr>
          <a:xfrm>
            <a:off x="2528995" y="2791326"/>
            <a:ext cx="7131862" cy="89835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Vincent van Gogh's life reminds us that </a:t>
            </a:r>
            <a:pPr algn="ctr">
              <a:lnSpc>
                <a:spcPct val="140000"/>
              </a:lnSpc>
            </a:pPr>
            <a:r>
              <a:rPr lang="en-US" sz="1444" dirty="0">
                <a:solidFill>
                  <a:srgbClr val="F2F2F2"/>
                </a:solidFill>
                <a:latin typeface="Quattrocento Sans" pitchFamily="34" charset="0"/>
                <a:ea typeface="Quattrocento Sans" pitchFamily="34" charset="-122"/>
                <a:cs typeface="Quattrocento Sans" pitchFamily="34" charset="-120"/>
              </a:rPr>
              <a:t>true artistic genius often comes with great personal cost</a:t>
            </a:r>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 His ability to transform pain into beauty, isolation into connection, and madness into masterpieces continues to inspire millions worldwide.</a:t>
            </a:r>
            <a:endParaRPr lang="en-US" sz="1600" dirty="0"/>
          </a:p>
        </p:txBody>
      </p:sp>
      <p:sp>
        <p:nvSpPr>
          <p:cNvPr id="8" name="Text 5"/>
          <p:cNvSpPr/>
          <p:nvPr/>
        </p:nvSpPr>
        <p:spPr>
          <a:xfrm>
            <a:off x="2528995" y="3905107"/>
            <a:ext cx="7131862" cy="30250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As he once wrote to Theo:</a:t>
            </a:r>
            <a:endParaRPr lang="en-US" sz="1600" dirty="0"/>
          </a:p>
        </p:txBody>
      </p:sp>
      <p:sp>
        <p:nvSpPr>
          <p:cNvPr id="9" name="Shape 6"/>
          <p:cNvSpPr/>
          <p:nvPr/>
        </p:nvSpPr>
        <p:spPr>
          <a:xfrm>
            <a:off x="2714410" y="4574292"/>
            <a:ext cx="6765185" cy="1778382"/>
          </a:xfrm>
          <a:custGeom>
            <a:avLst/>
            <a:gdLst/>
            <a:ahLst/>
            <a:cxn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0" name="Shape 7"/>
          <p:cNvSpPr/>
          <p:nvPr/>
        </p:nvSpPr>
        <p:spPr>
          <a:xfrm>
            <a:off x="5976902" y="4872217"/>
            <a:ext cx="240632" cy="275008"/>
          </a:xfrm>
          <a:custGeom>
            <a:avLst/>
            <a:gdLst/>
            <a:ahLst/>
            <a:cxn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p:spPr>
      </p:sp>
      <p:sp>
        <p:nvSpPr>
          <p:cNvPr id="11" name="Text 8"/>
          <p:cNvSpPr/>
          <p:nvPr/>
        </p:nvSpPr>
        <p:spPr>
          <a:xfrm>
            <a:off x="3030669" y="5293895"/>
            <a:ext cx="6132668" cy="357510"/>
          </a:xfrm>
          <a:prstGeom prst="rect">
            <a:avLst/>
          </a:prstGeom>
          <a:noFill/>
          <a:ln/>
        </p:spPr>
        <p:txBody>
          <a:bodyPr wrap="square" lIns="0" tIns="0" rIns="0" bIns="0" rtlCol="0" anchor="ctr"/>
          <a:lstStyle/>
          <a:p>
            <a:pPr algn="ctr">
              <a:lnSpc>
                <a:spcPct val="140000"/>
              </a:lnSpc>
            </a:pPr>
            <a:r>
              <a:rPr lang="en-US" sz="1732" dirty="0">
                <a:solidFill>
                  <a:srgbClr val="F2F2F2"/>
                </a:solidFill>
                <a:latin typeface="Quattrocento Sans" pitchFamily="34" charset="0"/>
                <a:ea typeface="Quattrocento Sans" pitchFamily="34" charset="-122"/>
                <a:cs typeface="Quattrocento Sans" pitchFamily="34" charset="-120"/>
              </a:rPr>
              <a:t>"What would life be if we had no courage to attempt anything?"</a:t>
            </a:r>
            <a:endParaRPr lang="en-US" sz="1600" dirty="0"/>
          </a:p>
        </p:txBody>
      </p:sp>
      <p:sp>
        <p:nvSpPr>
          <p:cNvPr id="12" name="Text 9"/>
          <p:cNvSpPr/>
          <p:nvPr/>
        </p:nvSpPr>
        <p:spPr>
          <a:xfrm>
            <a:off x="3044419" y="5798075"/>
            <a:ext cx="6105167" cy="256674"/>
          </a:xfrm>
          <a:prstGeom prst="rect">
            <a:avLst/>
          </a:prstGeom>
          <a:noFill/>
          <a:ln/>
        </p:spPr>
        <p:txBody>
          <a:bodyPr wrap="square" lIns="0" tIns="0" rIns="0" bIns="0" rtlCol="0" anchor="ctr"/>
          <a:lstStyle/>
          <a:p>
            <a:pPr algn="ctr">
              <a:lnSpc>
                <a:spcPct val="130000"/>
              </a:lnSpc>
            </a:pPr>
            <a:r>
              <a:rPr lang="en-US" sz="1299"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13" name="Shape 10"/>
          <p:cNvSpPr/>
          <p:nvPr/>
        </p:nvSpPr>
        <p:spPr>
          <a:xfrm>
            <a:off x="3387176" y="6760602"/>
            <a:ext cx="183338" cy="183338"/>
          </a:xfrm>
          <a:custGeom>
            <a:avLst/>
            <a:gdLst/>
            <a:ahLst/>
            <a:cxn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p:spPr>
      </p:sp>
      <p:sp>
        <p:nvSpPr>
          <p:cNvPr id="14" name="Text 11"/>
          <p:cNvSpPr/>
          <p:nvPr/>
        </p:nvSpPr>
        <p:spPr>
          <a:xfrm>
            <a:off x="3662183" y="6723934"/>
            <a:ext cx="1127531"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860+ Paintings</a:t>
            </a:r>
            <a:endParaRPr lang="en-US" sz="1600" dirty="0"/>
          </a:p>
        </p:txBody>
      </p:sp>
      <p:sp>
        <p:nvSpPr>
          <p:cNvPr id="15" name="Shape 12"/>
          <p:cNvSpPr/>
          <p:nvPr/>
        </p:nvSpPr>
        <p:spPr>
          <a:xfrm>
            <a:off x="5137699" y="6760602"/>
            <a:ext cx="183338" cy="183338"/>
          </a:xfrm>
          <a:custGeom>
            <a:avLst/>
            <a:gdLst/>
            <a:ahLst/>
            <a:cxn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p:spPr>
      </p:sp>
      <p:sp>
        <p:nvSpPr>
          <p:cNvPr id="16" name="Text 13"/>
          <p:cNvSpPr/>
          <p:nvPr/>
        </p:nvSpPr>
        <p:spPr>
          <a:xfrm>
            <a:off x="5412707" y="6723934"/>
            <a:ext cx="171421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134 Years of Inspiration</a:t>
            </a:r>
            <a:endParaRPr lang="en-US" sz="1600" dirty="0"/>
          </a:p>
        </p:txBody>
      </p:sp>
      <p:sp>
        <p:nvSpPr>
          <p:cNvPr id="17" name="Shape 14"/>
          <p:cNvSpPr/>
          <p:nvPr/>
        </p:nvSpPr>
        <p:spPr>
          <a:xfrm>
            <a:off x="7453062" y="6760602"/>
            <a:ext cx="229173" cy="183338"/>
          </a:xfrm>
          <a:custGeom>
            <a:avLst/>
            <a:gdLst/>
            <a:ahLst/>
            <a:cxn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p:spPr>
      </p:sp>
      <p:sp>
        <p:nvSpPr>
          <p:cNvPr id="18" name="Text 15"/>
          <p:cNvSpPr/>
          <p:nvPr/>
        </p:nvSpPr>
        <p:spPr>
          <a:xfrm>
            <a:off x="7750987" y="6723934"/>
            <a:ext cx="111836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Eternal Legacy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Vincent van Gogh: A Life of Passion and Color</dc:title>
  <dc:subject>Vincent van Gogh: A Life of Passion and Color</dc:subject>
  <dc:creator>Kimi</dc:creator>
  <cp:lastModifiedBy>Kimi</cp:lastModifiedBy>
  <cp:revision>1</cp:revision>
  <dcterms:created xsi:type="dcterms:W3CDTF">2026-03-18T09:17:45Z</dcterms:created>
  <dcterms:modified xsi:type="dcterms:W3CDTF">2026-03-18T09:17:45Z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ies>
</file>