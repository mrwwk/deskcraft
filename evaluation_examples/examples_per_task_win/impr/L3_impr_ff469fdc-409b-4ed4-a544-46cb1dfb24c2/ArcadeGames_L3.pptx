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4-1.jpg" ContentType="image/jpg"/>
  <Override PartName="/ppt/media/image-17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arcade industry generated over $8 billion in quarters alone during its peak year of 1982, equivalent to roughly $25 billion in today's 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7375" y="1276350"/>
            <a:ext cx="85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👾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64532" y="2305050"/>
            <a:ext cx="586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</a:t>
            </a:r>
            <a:pPr algn="ctr">
              <a:lnSpc>
                <a:spcPct val="80000"/>
              </a:lnSpc>
            </a:pPr>
            <a:r>
              <a:rPr lang="en-US" sz="40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GOLDEN</a:t>
            </a:r>
            <a:pPr algn="ctr">
              <a:lnSpc>
                <a:spcPct val="80000"/>
              </a:lnSpc>
            </a:pPr>
            <a:r>
              <a:rPr lang="en-US" sz="4000" b="1" dirty="0" u="sng">
                <a:solidFill>
                  <a:srgbClr val="FFFF0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 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53942" y="3448050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00" b="1" dirty="0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OF ARCADE GAMES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32435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00675" y="4705350"/>
            <a:ext cx="1390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0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4104" y="5238750"/>
            <a:ext cx="3419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dirty="0" b="1" u="sng">
                <a:solidFill>
                  <a:srgbClr val="FFFF0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Quarters Ruled the World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019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24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752600"/>
            <a:ext cx="666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7300" y="1752600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Dawn of a New 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21717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Space Invaders sparked a revolution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43650" y="150495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1300" y="175260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6791" y="1752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6791" y="217170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Characters that became cultural phenomena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0196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" y="3365450"/>
            <a:ext cx="771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63191" y="336545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Business of Fun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63191" y="378455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quarters, an economic force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43650" y="3117800"/>
            <a:ext cx="5448300" cy="1343025"/>
          </a:xfrm>
          <a:custGeom>
            <a:avLst/>
            <a:gdLst/>
            <a:ahLst/>
            <a:cxnLst/>
            <a:rect l="l" t="t" r="r" b="b"/>
            <a:pathLst>
              <a:path w="5448300" h="1343025">
                <a:moveTo>
                  <a:pt x="0" y="0"/>
                </a:moveTo>
                <a:lnTo>
                  <a:pt x="5448300" y="0"/>
                </a:lnTo>
                <a:lnTo>
                  <a:pt x="54483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0196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1300" y="3365450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85583" y="3365450"/>
            <a:ext cx="4400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Impact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85583" y="378455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 to global phenomenon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730725"/>
            <a:ext cx="11391900" cy="1343025"/>
          </a:xfrm>
          <a:custGeom>
            <a:avLst/>
            <a:gdLst/>
            <a:ahLst/>
            <a:cxnLst/>
            <a:rect l="l" t="t" r="r" b="b"/>
            <a:pathLst>
              <a:path w="11391900" h="1343025">
                <a:moveTo>
                  <a:pt x="0" y="0"/>
                </a:moveTo>
                <a:lnTo>
                  <a:pt x="11391900" y="0"/>
                </a:lnTo>
                <a:lnTo>
                  <a:pt x="11391900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0196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700" y="4978375"/>
            <a:ext cx="752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1983" y="4978375"/>
            <a:ext cx="10344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 and Beyond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41983" y="5397475"/>
            <a:ext cx="1029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 and the phoenix that rose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6" name="Shape 24"/>
          <p:cNvSpPr/>
          <p:nvPr/>
        </p:nvSpPr>
        <p:spPr>
          <a:xfrm>
            <a:off x="60198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Shape 25"/>
          <p:cNvSpPr/>
          <p:nvPr/>
        </p:nvSpPr>
        <p:spPr>
          <a:xfrm>
            <a:off x="63246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1000" y="1543050"/>
            <a:ext cx="1800225" cy="609600"/>
          </a:xfrm>
          <a:custGeom>
            <a:avLst/>
            <a:gdLst/>
            <a:ahLst/>
            <a:cxnLst/>
            <a:rect l="l" t="t" r="r" b="b"/>
            <a:pathLst>
              <a:path w="1800225" h="609600">
                <a:moveTo>
                  <a:pt x="0" y="0"/>
                </a:moveTo>
                <a:lnTo>
                  <a:pt x="1800225" y="0"/>
                </a:lnTo>
                <a:lnTo>
                  <a:pt x="18002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09600" y="1676400"/>
            <a:ext cx="151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i="1">
                <a:solidFill>
                  <a:srgbClr val="FFFF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 i="1">
                <a:solidFill>
                  <a:srgbClr val="FFFFFF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DAWN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 i="1">
                <a:solidFill>
                  <a:srgbClr val="FFFFFF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NEW ERA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FFFF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a Japanese Space Shooter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 i="1">
                <a:solidFill>
                  <a:srgbClr val="FFFF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  <p:txBody>
          <a:bodyPr/>
          <a:p/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Was the Golden Age?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0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DEBATED TIMEFRAME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0075" y="2200275"/>
            <a:ext cx="52863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While experts disagree on exact dates, most place the golden age between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1978-1983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Some extend it to 1971 (first arcade game) or end at 1985 (industry recovery).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6488" y="1576388"/>
            <a:ext cx="5610225" cy="1666875"/>
          </a:xfrm>
          <a:custGeom>
            <a:avLst/>
            <a:gdLst/>
            <a:ahLst/>
            <a:cxnLst/>
            <a:rect l="l" t="t" r="r" b="b"/>
            <a:pathLst>
              <a:path w="5610225" h="1666875">
                <a:moveTo>
                  <a:pt x="0" y="0"/>
                </a:moveTo>
                <a:lnTo>
                  <a:pt x="5610225" y="0"/>
                </a:lnTo>
                <a:lnTo>
                  <a:pt x="561022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275" y="1781175"/>
            <a:ext cx="5314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MILESTONE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275" y="2200275"/>
            <a:ext cx="5286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(1978)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is universally recognized as the catalyst that transformed arcades from novelty to cultural phenomenon.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6619"/>
            <a:ext cx="11391900" cy="3314700"/>
          </a:xfrm>
          <a:custGeom>
            <a:avLst/>
            <a:gdLst/>
            <a:ahLst/>
            <a:cxnLst/>
            <a:rect l="l" t="t" r="r" b="b"/>
            <a:pathLst>
              <a:path w="11391900" h="3314700">
                <a:moveTo>
                  <a:pt x="0" y="0"/>
                </a:moveTo>
                <a:lnTo>
                  <a:pt x="11391900" y="0"/>
                </a:lnTo>
                <a:lnTo>
                  <a:pt x="11391900" y="3314700"/>
                </a:lnTo>
                <a:lnTo>
                  <a:pt x="0" y="3314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3636169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TIMELINE</a:t>
            </a:r>
            <a:endParaRPr lang="en-US" sz="1600" dirty="0"/>
          </a:p>
        </p:txBody>
      </p:sp>
      <p:pic>
        <p:nvPicPr>
          <p:cNvPr id="14" name="Image 0" descr="https://kimi-img.moonshot.cn/pub/slides/26-03-18-20:08:22-d6t9bdi7ch94jfuetve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4055269"/>
            <a:ext cx="10972800" cy="24765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17"/>
          </a:xfrm>
          <a:custGeom>
            <a:avLst/>
            <a:gdLst/>
            <a:ahLst/>
            <a:cxnLst/>
            <a:rect l="l" t="t" r="r" b="b"/>
            <a:pathLst>
              <a:path w="12192000" h="6855817">
                <a:moveTo>
                  <a:pt x="0" y="0"/>
                </a:moveTo>
                <a:lnTo>
                  <a:pt x="12192000" y="0"/>
                </a:lnTo>
                <a:lnTo>
                  <a:pt x="12192000" y="6855817"/>
                </a:lnTo>
                <a:lnTo>
                  <a:pt x="0" y="685581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9341" y="349341"/>
            <a:ext cx="11702923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341" y="873352"/>
            <a:ext cx="11598120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Spark That Ignited the Revolution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341" y="1257628"/>
            <a:ext cx="838418" cy="34934"/>
          </a:xfrm>
          <a:custGeom>
            <a:avLst/>
            <a:gdLst/>
            <a:ahLst/>
            <a:cxnLst/>
            <a:rect l="l" t="t" r="r" b="b"/>
            <a:pathLst>
              <a:path w="838418" h="34934">
                <a:moveTo>
                  <a:pt x="0" y="0"/>
                </a:moveTo>
                <a:lnTo>
                  <a:pt x="838418" y="0"/>
                </a:lnTo>
                <a:lnTo>
                  <a:pt x="838418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2441" y="1445398"/>
            <a:ext cx="5047977" cy="4192092"/>
          </a:xfrm>
          <a:custGeom>
            <a:avLst/>
            <a:gdLst/>
            <a:ahLst/>
            <a:cxnLst/>
            <a:rect l="l" t="t" r="r" b="b"/>
            <a:pathLst>
              <a:path w="5047977" h="4192092">
                <a:moveTo>
                  <a:pt x="0" y="0"/>
                </a:moveTo>
                <a:lnTo>
                  <a:pt x="5047977" y="0"/>
                </a:lnTo>
                <a:lnTo>
                  <a:pt x="5047977" y="4192092"/>
                </a:lnTo>
                <a:lnTo>
                  <a:pt x="0" y="419209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pic>
        <p:nvPicPr>
          <p:cNvPr id="7" name="Image 0" descr="https://kimi-web-img.moonshot.cn/img/www.gamesroomcompany.com/53f8b3942a6072057c1a840ef45686add5c58e88.jpg">    </p:cNvPr>
          <p:cNvPicPr>
            <a:picLocks noChangeAspect="1"/>
          </p:cNvPicPr>
          <p:nvPr/>
        </p:nvPicPr>
        <p:blipFill>
          <a:blip r:embed="rId1"/>
          <a:srcRect l="0" r="0" t="32320" b="32320"/>
          <a:stretch/>
        </p:blipFill>
        <p:spPr>
          <a:xfrm>
            <a:off x="515278" y="1598235"/>
            <a:ext cx="4742304" cy="1676837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84275" y="3379874"/>
            <a:ext cx="5004309" cy="52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2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750,000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1610" y="3973754"/>
            <a:ext cx="4829639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 Worldwide by 1979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2441" y="5801244"/>
            <a:ext cx="5047977" cy="1039289"/>
          </a:xfrm>
          <a:custGeom>
            <a:avLst/>
            <a:gdLst/>
            <a:ahLst/>
            <a:cxnLst/>
            <a:rect l="l" t="t" r="r" b="b"/>
            <a:pathLst>
              <a:path w="5047977" h="1039289">
                <a:moveTo>
                  <a:pt x="0" y="0"/>
                </a:moveTo>
                <a:lnTo>
                  <a:pt x="5047977" y="0"/>
                </a:lnTo>
                <a:lnTo>
                  <a:pt x="5047977" y="1039289"/>
                </a:lnTo>
                <a:lnTo>
                  <a:pt x="0" y="103928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0476" y="5954080"/>
            <a:ext cx="4951908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01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$670M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977" y="6443158"/>
            <a:ext cx="4820905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in Japan Alone (1978)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47997" y="1445398"/>
            <a:ext cx="6174602" cy="1886441"/>
          </a:xfrm>
          <a:custGeom>
            <a:avLst/>
            <a:gdLst/>
            <a:ahLst/>
            <a:cxnLst/>
            <a:rect l="l" t="t" r="r" b="b"/>
            <a:pathLst>
              <a:path w="6174602" h="1886441">
                <a:moveTo>
                  <a:pt x="0" y="0"/>
                </a:moveTo>
                <a:lnTo>
                  <a:pt x="6174602" y="0"/>
                </a:lnTo>
                <a:lnTo>
                  <a:pt x="6174602" y="1886441"/>
                </a:lnTo>
                <a:lnTo>
                  <a:pt x="0" y="18864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5768" y="1633169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CREATOR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35768" y="2017444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Tomohiro Nishikado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at Taito spent one year designing custom hardware using an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Intel 8080 CPU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—pushing technological limits of the time.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35768" y="2633158"/>
            <a:ext cx="5877662" cy="515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Inspired by Star Wars and H.G. Wells' War of the Worlds, he created alien designs based on octopus, squid, and crabs.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47997" y="3497777"/>
            <a:ext cx="6174602" cy="1528367"/>
          </a:xfrm>
          <a:custGeom>
            <a:avLst/>
            <a:gdLst/>
            <a:ahLst/>
            <a:cxnLst/>
            <a:rect l="l" t="t" r="r" b="b"/>
            <a:pathLst>
              <a:path w="6174602" h="1528367">
                <a:moveTo>
                  <a:pt x="0" y="0"/>
                </a:moveTo>
                <a:lnTo>
                  <a:pt x="6174602" y="0"/>
                </a:lnTo>
                <a:lnTo>
                  <a:pt x="6174602" y="1528367"/>
                </a:lnTo>
                <a:lnTo>
                  <a:pt x="0" y="152836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35768" y="3685547"/>
            <a:ext cx="590386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HAPPY ACCIDENT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835768" y="4069822"/>
            <a:ext cx="5877662" cy="76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game's signature </a:t>
            </a:r>
            <a:pPr>
              <a:lnSpc>
                <a:spcPct val="140000"/>
              </a:lnSpc>
            </a:pPr>
            <a:r>
              <a:rPr lang="en-US" sz="123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increasing speed</a:t>
            </a:r>
            <a:pPr>
              <a:lnSpc>
                <a:spcPct val="140000"/>
              </a:lnSpc>
            </a:pPr>
            <a:r>
              <a:rPr lang="en-US" sz="123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was originally a hardware limitation! As Nishikado destroyed more aliens, the processor rendered frames faster. Instead of fixing it, he made it a feature—creating tension that defined the game.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43631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30828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19"/>
          <p:cNvSpPr/>
          <p:nvPr/>
        </p:nvSpPr>
        <p:spPr>
          <a:xfrm>
            <a:off x="5722232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High Score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797934" y="518553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185132" y="5299066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23327" y="44572"/>
                </a:moveTo>
                <a:lnTo>
                  <a:pt x="131003" y="55164"/>
                </a:lnTo>
                <a:lnTo>
                  <a:pt x="138679" y="44572"/>
                </a:lnTo>
                <a:cubicBezTo>
                  <a:pt x="151472" y="26866"/>
                  <a:pt x="172044" y="16375"/>
                  <a:pt x="193894" y="16375"/>
                </a:cubicBezTo>
                <a:cubicBezTo>
                  <a:pt x="231507" y="16375"/>
                  <a:pt x="262006" y="46874"/>
                  <a:pt x="262006" y="84487"/>
                </a:cubicBezTo>
                <a:lnTo>
                  <a:pt x="262006" y="85817"/>
                </a:lnTo>
                <a:cubicBezTo>
                  <a:pt x="262006" y="143233"/>
                  <a:pt x="190415" y="209912"/>
                  <a:pt x="153058" y="238415"/>
                </a:cubicBezTo>
                <a:cubicBezTo>
                  <a:pt x="146713" y="243225"/>
                  <a:pt x="138935" y="245630"/>
                  <a:pt x="131003" y="245630"/>
                </a:cubicBezTo>
                <a:cubicBezTo>
                  <a:pt x="123071" y="245630"/>
                  <a:pt x="115242" y="243276"/>
                  <a:pt x="108947" y="238415"/>
                </a:cubicBezTo>
                <a:cubicBezTo>
                  <a:pt x="71591" y="209912"/>
                  <a:pt x="0" y="143233"/>
                  <a:pt x="0" y="85817"/>
                </a:cubicBezTo>
                <a:lnTo>
                  <a:pt x="0" y="84487"/>
                </a:lnTo>
                <a:cubicBezTo>
                  <a:pt x="0" y="46874"/>
                  <a:pt x="30499" y="16375"/>
                  <a:pt x="68111" y="16375"/>
                </a:cubicBezTo>
                <a:cubicBezTo>
                  <a:pt x="89962" y="16375"/>
                  <a:pt x="110534" y="26866"/>
                  <a:pt x="123327" y="44572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5" name="Text 22"/>
          <p:cNvSpPr/>
          <p:nvPr/>
        </p:nvSpPr>
        <p:spPr>
          <a:xfrm>
            <a:off x="8876536" y="5630940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Multiple Lives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643631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30828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131003" y="0"/>
                </a:moveTo>
                <a:cubicBezTo>
                  <a:pt x="133357" y="0"/>
                  <a:pt x="135711" y="512"/>
                  <a:pt x="137860" y="1484"/>
                </a:cubicBezTo>
                <a:lnTo>
                  <a:pt x="234270" y="42371"/>
                </a:lnTo>
                <a:cubicBezTo>
                  <a:pt x="245528" y="47130"/>
                  <a:pt x="253920" y="58235"/>
                  <a:pt x="253869" y="71642"/>
                </a:cubicBezTo>
                <a:cubicBezTo>
                  <a:pt x="253613" y="122406"/>
                  <a:pt x="232735" y="215285"/>
                  <a:pt x="144564" y="257503"/>
                </a:cubicBezTo>
                <a:cubicBezTo>
                  <a:pt x="136018" y="261596"/>
                  <a:pt x="126090" y="261596"/>
                  <a:pt x="117544" y="257503"/>
                </a:cubicBezTo>
                <a:cubicBezTo>
                  <a:pt x="29322" y="215285"/>
                  <a:pt x="8495" y="122406"/>
                  <a:pt x="8239" y="71642"/>
                </a:cubicBezTo>
                <a:cubicBezTo>
                  <a:pt x="8188" y="58235"/>
                  <a:pt x="16580" y="47130"/>
                  <a:pt x="27838" y="42371"/>
                </a:cubicBezTo>
                <a:lnTo>
                  <a:pt x="124197" y="1484"/>
                </a:lnTo>
                <a:cubicBezTo>
                  <a:pt x="126346" y="512"/>
                  <a:pt x="128649" y="0"/>
                  <a:pt x="131003" y="0"/>
                </a:cubicBezTo>
                <a:close/>
                <a:moveTo>
                  <a:pt x="131003" y="34184"/>
                </a:moveTo>
                <a:lnTo>
                  <a:pt x="131003" y="227669"/>
                </a:lnTo>
                <a:cubicBezTo>
                  <a:pt x="201622" y="193485"/>
                  <a:pt x="220607" y="117749"/>
                  <a:pt x="221067" y="72410"/>
                </a:cubicBezTo>
                <a:lnTo>
                  <a:pt x="131003" y="34235"/>
                </a:lnTo>
                <a:lnTo>
                  <a:pt x="131003" y="34235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8" name="Text 25"/>
          <p:cNvSpPr/>
          <p:nvPr/>
        </p:nvSpPr>
        <p:spPr>
          <a:xfrm>
            <a:off x="5722232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Destructible Barriers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797934" y="6076350"/>
            <a:ext cx="3030533" cy="768550"/>
          </a:xfrm>
          <a:custGeom>
            <a:avLst/>
            <a:gdLst/>
            <a:ahLst/>
            <a:cxnLst/>
            <a:rect l="l" t="t" r="r" b="b"/>
            <a:pathLst>
              <a:path w="3030533" h="768550">
                <a:moveTo>
                  <a:pt x="0" y="0"/>
                </a:moveTo>
                <a:lnTo>
                  <a:pt x="3030533" y="0"/>
                </a:lnTo>
                <a:lnTo>
                  <a:pt x="3030533" y="768550"/>
                </a:lnTo>
                <a:lnTo>
                  <a:pt x="0" y="76855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85132" y="6189885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239490" y="3582"/>
                </a:moveTo>
                <a:cubicBezTo>
                  <a:pt x="243379" y="6704"/>
                  <a:pt x="245630" y="11412"/>
                  <a:pt x="245630" y="16375"/>
                </a:cubicBezTo>
                <a:lnTo>
                  <a:pt x="245630" y="171941"/>
                </a:lnTo>
                <a:cubicBezTo>
                  <a:pt x="245630" y="194560"/>
                  <a:pt x="223626" y="212880"/>
                  <a:pt x="196504" y="212880"/>
                </a:cubicBezTo>
                <a:cubicBezTo>
                  <a:pt x="169383" y="212880"/>
                  <a:pt x="147378" y="194560"/>
                  <a:pt x="147378" y="171941"/>
                </a:cubicBezTo>
                <a:cubicBezTo>
                  <a:pt x="147378" y="149323"/>
                  <a:pt x="169383" y="131003"/>
                  <a:pt x="196504" y="131003"/>
                </a:cubicBezTo>
                <a:cubicBezTo>
                  <a:pt x="202236" y="131003"/>
                  <a:pt x="207762" y="131822"/>
                  <a:pt x="212880" y="133357"/>
                </a:cubicBezTo>
                <a:lnTo>
                  <a:pt x="212880" y="73638"/>
                </a:lnTo>
                <a:lnTo>
                  <a:pt x="98252" y="99122"/>
                </a:lnTo>
                <a:lnTo>
                  <a:pt x="98252" y="204692"/>
                </a:lnTo>
                <a:cubicBezTo>
                  <a:pt x="98252" y="227310"/>
                  <a:pt x="76248" y="245630"/>
                  <a:pt x="49126" y="245630"/>
                </a:cubicBezTo>
                <a:cubicBezTo>
                  <a:pt x="22004" y="245630"/>
                  <a:pt x="0" y="227310"/>
                  <a:pt x="0" y="204692"/>
                </a:cubicBezTo>
                <a:cubicBezTo>
                  <a:pt x="0" y="182074"/>
                  <a:pt x="22004" y="163754"/>
                  <a:pt x="49126" y="163754"/>
                </a:cubicBezTo>
                <a:cubicBezTo>
                  <a:pt x="54857" y="163754"/>
                  <a:pt x="60384" y="164572"/>
                  <a:pt x="65501" y="166108"/>
                </a:cubicBezTo>
                <a:lnTo>
                  <a:pt x="65501" y="49126"/>
                </a:lnTo>
                <a:cubicBezTo>
                  <a:pt x="65501" y="41450"/>
                  <a:pt x="70823" y="34798"/>
                  <a:pt x="78346" y="33160"/>
                </a:cubicBezTo>
                <a:lnTo>
                  <a:pt x="225724" y="409"/>
                </a:lnTo>
                <a:cubicBezTo>
                  <a:pt x="230586" y="-665"/>
                  <a:pt x="235652" y="512"/>
                  <a:pt x="239541" y="36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1" name="Text 28"/>
          <p:cNvSpPr/>
          <p:nvPr/>
        </p:nvSpPr>
        <p:spPr>
          <a:xfrm>
            <a:off x="8876536" y="6521759"/>
            <a:ext cx="2873330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Continuous Soundtrack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78"/>
          </a:xfrm>
          <a:custGeom>
            <a:avLst/>
            <a:gdLst/>
            <a:ahLst/>
            <a:cxn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9735" y="369735"/>
            <a:ext cx="11674371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94" b="1" dirty="0">
                <a:solidFill>
                  <a:srgbClr val="00808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9735" y="924337"/>
            <a:ext cx="11563451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7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Paddles to Microprocessors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735" y="1331045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83600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6872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PRE-GOLDEN 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2332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173" y="2172191"/>
            <a:ext cx="187640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discrete logic circuits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332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173" y="2541926"/>
            <a:ext cx="146045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Black &amp; white displays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2332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173" y="2911660"/>
            <a:ext cx="1220124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Basic beep sounds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2332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4173" y="3281395"/>
            <a:ext cx="192262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 ball-and-paddle games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2332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7036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Pong Era (1972)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1291" y="1529777"/>
            <a:ext cx="5592237" cy="2837713"/>
          </a:xfrm>
          <a:custGeom>
            <a:avLst/>
            <a:gdLst/>
            <a:ahLst/>
            <a:cxnLst/>
            <a:rect l="l" t="t" r="r" b="b"/>
            <a:pathLst>
              <a:path w="5592237" h="2837713">
                <a:moveTo>
                  <a:pt x="0" y="0"/>
                </a:moveTo>
                <a:lnTo>
                  <a:pt x="5592237" y="0"/>
                </a:lnTo>
                <a:lnTo>
                  <a:pt x="5592237" y="2837713"/>
                </a:lnTo>
                <a:lnTo>
                  <a:pt x="0" y="28377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64563" y="1728509"/>
            <a:ext cx="5305692" cy="29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7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GOLDEN 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20023" y="2246138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41864" y="2172191"/>
            <a:ext cx="1857917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(Intel 8080)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0023" y="2615873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41864" y="2541926"/>
            <a:ext cx="1654563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Color displays</a:t>
            </a:r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overlays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20023" y="2985607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41864" y="2957877"/>
            <a:ext cx="1315663" cy="16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Custom sound chips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20023" y="3355342"/>
            <a:ext cx="110920" cy="110920"/>
          </a:xfrm>
          <a:custGeom>
            <a:avLst/>
            <a:gdLst/>
            <a:ahLst/>
            <a:cxnLst/>
            <a:rect l="l" t="t" r="r" b="b"/>
            <a:pathLst>
              <a:path w="110920" h="110920">
                <a:moveTo>
                  <a:pt x="0" y="0"/>
                </a:moveTo>
                <a:lnTo>
                  <a:pt x="110920" y="0"/>
                </a:lnTo>
                <a:lnTo>
                  <a:pt x="110920" y="110920"/>
                </a:lnTo>
                <a:lnTo>
                  <a:pt x="0" y="11092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41864" y="3281395"/>
            <a:ext cx="148818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Complex gameplay</a:t>
            </a:r>
            <a:pPr>
              <a:lnSpc>
                <a:spcPct val="130000"/>
              </a:lnSpc>
            </a:pPr>
            <a:r>
              <a:rPr lang="en-US" sz="1310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&amp; 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0023" y="3688103"/>
            <a:ext cx="5194772" cy="480655"/>
          </a:xfrm>
          <a:custGeom>
            <a:avLst/>
            <a:gdLst/>
            <a:ahLst/>
            <a:cxnLst/>
            <a:rect l="l" t="t" r="r" b="b"/>
            <a:pathLst>
              <a:path w="5194772" h="480655">
                <a:moveTo>
                  <a:pt x="0" y="0"/>
                </a:moveTo>
                <a:lnTo>
                  <a:pt x="5194772" y="0"/>
                </a:lnTo>
                <a:lnTo>
                  <a:pt x="5194772" y="480655"/>
                </a:lnTo>
                <a:lnTo>
                  <a:pt x="0" y="480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84727" y="3799024"/>
            <a:ext cx="506536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 Era (1978+)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3600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062932" y="4704873"/>
            <a:ext cx="332761" cy="332761"/>
          </a:xfrm>
          <a:custGeom>
            <a:avLst/>
            <a:gdLst/>
            <a:ahLst/>
            <a:cxnLst/>
            <a:rect l="l" t="t" r="r" b="b"/>
            <a:pathLst>
              <a:path w="332761" h="332761">
                <a:moveTo>
                  <a:pt x="114387" y="15598"/>
                </a:moveTo>
                <a:cubicBezTo>
                  <a:pt x="114387" y="6954"/>
                  <a:pt x="107432" y="0"/>
                  <a:pt x="98788" y="0"/>
                </a:cubicBezTo>
                <a:cubicBezTo>
                  <a:pt x="90144" y="0"/>
                  <a:pt x="83190" y="6954"/>
                  <a:pt x="83190" y="15598"/>
                </a:cubicBezTo>
                <a:lnTo>
                  <a:pt x="83190" y="41595"/>
                </a:lnTo>
                <a:cubicBezTo>
                  <a:pt x="60248" y="41595"/>
                  <a:pt x="41595" y="60248"/>
                  <a:pt x="41595" y="83190"/>
                </a:cubicBezTo>
                <a:lnTo>
                  <a:pt x="15598" y="83190"/>
                </a:lnTo>
                <a:cubicBezTo>
                  <a:pt x="6954" y="83190"/>
                  <a:pt x="0" y="90144"/>
                  <a:pt x="0" y="98788"/>
                </a:cubicBezTo>
                <a:cubicBezTo>
                  <a:pt x="0" y="107432"/>
                  <a:pt x="6954" y="114387"/>
                  <a:pt x="15598" y="114387"/>
                </a:cubicBezTo>
                <a:lnTo>
                  <a:pt x="41595" y="114387"/>
                </a:lnTo>
                <a:lnTo>
                  <a:pt x="41595" y="150782"/>
                </a:lnTo>
                <a:lnTo>
                  <a:pt x="15598" y="150782"/>
                </a:lnTo>
                <a:cubicBezTo>
                  <a:pt x="6954" y="150782"/>
                  <a:pt x="0" y="157737"/>
                  <a:pt x="0" y="166381"/>
                </a:cubicBezTo>
                <a:cubicBezTo>
                  <a:pt x="0" y="175025"/>
                  <a:pt x="6954" y="181979"/>
                  <a:pt x="15598" y="181979"/>
                </a:cubicBezTo>
                <a:lnTo>
                  <a:pt x="41595" y="181979"/>
                </a:lnTo>
                <a:lnTo>
                  <a:pt x="41595" y="218375"/>
                </a:lnTo>
                <a:lnTo>
                  <a:pt x="15598" y="218375"/>
                </a:lnTo>
                <a:cubicBezTo>
                  <a:pt x="6954" y="218375"/>
                  <a:pt x="0" y="225329"/>
                  <a:pt x="0" y="233973"/>
                </a:cubicBezTo>
                <a:cubicBezTo>
                  <a:pt x="0" y="242617"/>
                  <a:pt x="6954" y="249571"/>
                  <a:pt x="15598" y="249571"/>
                </a:cubicBezTo>
                <a:lnTo>
                  <a:pt x="41595" y="249571"/>
                </a:lnTo>
                <a:cubicBezTo>
                  <a:pt x="41595" y="272513"/>
                  <a:pt x="60248" y="291166"/>
                  <a:pt x="83190" y="291166"/>
                </a:cubicBezTo>
                <a:lnTo>
                  <a:pt x="83190" y="317163"/>
                </a:lnTo>
                <a:cubicBezTo>
                  <a:pt x="83190" y="325807"/>
                  <a:pt x="90144" y="332761"/>
                  <a:pt x="98788" y="332761"/>
                </a:cubicBezTo>
                <a:cubicBezTo>
                  <a:pt x="107432" y="332761"/>
                  <a:pt x="114387" y="325807"/>
                  <a:pt x="114387" y="317163"/>
                </a:cubicBezTo>
                <a:lnTo>
                  <a:pt x="114387" y="291166"/>
                </a:lnTo>
                <a:lnTo>
                  <a:pt x="150782" y="291166"/>
                </a:lnTo>
                <a:lnTo>
                  <a:pt x="150782" y="317163"/>
                </a:lnTo>
                <a:cubicBezTo>
                  <a:pt x="150782" y="325807"/>
                  <a:pt x="157737" y="332761"/>
                  <a:pt x="166381" y="332761"/>
                </a:cubicBezTo>
                <a:cubicBezTo>
                  <a:pt x="175025" y="332761"/>
                  <a:pt x="181979" y="325807"/>
                  <a:pt x="181979" y="317163"/>
                </a:cubicBezTo>
                <a:lnTo>
                  <a:pt x="181979" y="291166"/>
                </a:lnTo>
                <a:lnTo>
                  <a:pt x="218375" y="291166"/>
                </a:lnTo>
                <a:lnTo>
                  <a:pt x="218375" y="317163"/>
                </a:lnTo>
                <a:cubicBezTo>
                  <a:pt x="218375" y="325807"/>
                  <a:pt x="225329" y="332761"/>
                  <a:pt x="233973" y="332761"/>
                </a:cubicBezTo>
                <a:cubicBezTo>
                  <a:pt x="242617" y="332761"/>
                  <a:pt x="249571" y="325807"/>
                  <a:pt x="249571" y="317163"/>
                </a:cubicBezTo>
                <a:lnTo>
                  <a:pt x="249571" y="291166"/>
                </a:lnTo>
                <a:cubicBezTo>
                  <a:pt x="272513" y="291166"/>
                  <a:pt x="291166" y="272513"/>
                  <a:pt x="291166" y="249571"/>
                </a:cubicBezTo>
                <a:lnTo>
                  <a:pt x="317163" y="249571"/>
                </a:lnTo>
                <a:cubicBezTo>
                  <a:pt x="325807" y="249571"/>
                  <a:pt x="332761" y="242617"/>
                  <a:pt x="332761" y="233973"/>
                </a:cubicBezTo>
                <a:cubicBezTo>
                  <a:pt x="332761" y="225329"/>
                  <a:pt x="325807" y="218375"/>
                  <a:pt x="317163" y="218375"/>
                </a:cubicBezTo>
                <a:lnTo>
                  <a:pt x="291166" y="218375"/>
                </a:lnTo>
                <a:lnTo>
                  <a:pt x="291166" y="181979"/>
                </a:lnTo>
                <a:lnTo>
                  <a:pt x="317163" y="181979"/>
                </a:lnTo>
                <a:cubicBezTo>
                  <a:pt x="325807" y="181979"/>
                  <a:pt x="332761" y="175025"/>
                  <a:pt x="332761" y="166381"/>
                </a:cubicBezTo>
                <a:cubicBezTo>
                  <a:pt x="332761" y="157737"/>
                  <a:pt x="325807" y="150782"/>
                  <a:pt x="317163" y="150782"/>
                </a:cubicBezTo>
                <a:lnTo>
                  <a:pt x="291166" y="150782"/>
                </a:lnTo>
                <a:lnTo>
                  <a:pt x="291166" y="114387"/>
                </a:lnTo>
                <a:lnTo>
                  <a:pt x="317163" y="114387"/>
                </a:lnTo>
                <a:cubicBezTo>
                  <a:pt x="325807" y="114387"/>
                  <a:pt x="332761" y="107432"/>
                  <a:pt x="332761" y="98788"/>
                </a:cubicBezTo>
                <a:cubicBezTo>
                  <a:pt x="332761" y="90144"/>
                  <a:pt x="325807" y="83190"/>
                  <a:pt x="317163" y="83190"/>
                </a:cubicBezTo>
                <a:lnTo>
                  <a:pt x="291166" y="83190"/>
                </a:lnTo>
                <a:cubicBezTo>
                  <a:pt x="291166" y="60248"/>
                  <a:pt x="272513" y="41595"/>
                  <a:pt x="249571" y="41595"/>
                </a:cubicBezTo>
                <a:lnTo>
                  <a:pt x="249571" y="15598"/>
                </a:lnTo>
                <a:cubicBezTo>
                  <a:pt x="249571" y="6954"/>
                  <a:pt x="242617" y="0"/>
                  <a:pt x="233973" y="0"/>
                </a:cubicBezTo>
                <a:cubicBezTo>
                  <a:pt x="225329" y="0"/>
                  <a:pt x="218375" y="6954"/>
                  <a:pt x="218375" y="15598"/>
                </a:cubicBezTo>
                <a:lnTo>
                  <a:pt x="218375" y="41595"/>
                </a:lnTo>
                <a:lnTo>
                  <a:pt x="181979" y="41595"/>
                </a:lnTo>
                <a:lnTo>
                  <a:pt x="181979" y="15598"/>
                </a:lnTo>
                <a:cubicBezTo>
                  <a:pt x="181979" y="6954"/>
                  <a:pt x="175025" y="0"/>
                  <a:pt x="166381" y="0"/>
                </a:cubicBezTo>
                <a:cubicBezTo>
                  <a:pt x="157737" y="0"/>
                  <a:pt x="150782" y="6954"/>
                  <a:pt x="150782" y="15598"/>
                </a:cubicBezTo>
                <a:lnTo>
                  <a:pt x="150782" y="41595"/>
                </a:lnTo>
                <a:lnTo>
                  <a:pt x="114387" y="41595"/>
                </a:lnTo>
                <a:lnTo>
                  <a:pt x="114387" y="15598"/>
                </a:lnTo>
                <a:close/>
                <a:moveTo>
                  <a:pt x="103988" y="83190"/>
                </a:moveTo>
                <a:lnTo>
                  <a:pt x="228773" y="83190"/>
                </a:lnTo>
                <a:cubicBezTo>
                  <a:pt x="240277" y="83190"/>
                  <a:pt x="249571" y="92484"/>
                  <a:pt x="249571" y="103988"/>
                </a:cubicBezTo>
                <a:lnTo>
                  <a:pt x="249571" y="228773"/>
                </a:lnTo>
                <a:cubicBezTo>
                  <a:pt x="249571" y="240277"/>
                  <a:pt x="240277" y="249571"/>
                  <a:pt x="228773" y="249571"/>
                </a:cubicBezTo>
                <a:lnTo>
                  <a:pt x="103988" y="249571"/>
                </a:lnTo>
                <a:cubicBezTo>
                  <a:pt x="92484" y="249571"/>
                  <a:pt x="83190" y="240277"/>
                  <a:pt x="83190" y="228773"/>
                </a:cubicBezTo>
                <a:lnTo>
                  <a:pt x="83190" y="103988"/>
                </a:lnTo>
                <a:cubicBezTo>
                  <a:pt x="83190" y="92484"/>
                  <a:pt x="92484" y="83190"/>
                  <a:pt x="103988" y="83190"/>
                </a:cubicBezTo>
                <a:close/>
                <a:moveTo>
                  <a:pt x="114387" y="114387"/>
                </a:moveTo>
                <a:lnTo>
                  <a:pt x="114387" y="218375"/>
                </a:lnTo>
                <a:lnTo>
                  <a:pt x="218375" y="218375"/>
                </a:lnTo>
                <a:lnTo>
                  <a:pt x="218375" y="114387"/>
                </a:lnTo>
                <a:lnTo>
                  <a:pt x="114387" y="114387"/>
                </a:lnTo>
                <a:close/>
              </a:path>
            </a:pathLst>
          </a:custGeom>
          <a:solidFill>
            <a:srgbClr val="29AD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99142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MICROPROCESSORS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8385" y="5481316"/>
            <a:ext cx="3438532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Enabled complex game logic, AI enemy behavior, and dynamic gameplay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0721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909255" y="4704873"/>
            <a:ext cx="374356" cy="332761"/>
          </a:xfrm>
          <a:custGeom>
            <a:avLst/>
            <a:gdLst/>
            <a:ahLst/>
            <a:cxnLst/>
            <a:rect l="l" t="t" r="r" b="b"/>
            <a:pathLst>
              <a:path w="374356" h="332761">
                <a:moveTo>
                  <a:pt x="41595" y="62393"/>
                </a:moveTo>
                <a:lnTo>
                  <a:pt x="41595" y="218375"/>
                </a:lnTo>
                <a:lnTo>
                  <a:pt x="332761" y="218375"/>
                </a:lnTo>
                <a:lnTo>
                  <a:pt x="332761" y="62393"/>
                </a:lnTo>
                <a:lnTo>
                  <a:pt x="41595" y="62393"/>
                </a:lnTo>
                <a:close/>
                <a:moveTo>
                  <a:pt x="0" y="62393"/>
                </a:moveTo>
                <a:cubicBezTo>
                  <a:pt x="0" y="39450"/>
                  <a:pt x="18653" y="20798"/>
                  <a:pt x="41595" y="20798"/>
                </a:cubicBezTo>
                <a:lnTo>
                  <a:pt x="332761" y="20798"/>
                </a:lnTo>
                <a:cubicBezTo>
                  <a:pt x="355704" y="20798"/>
                  <a:pt x="374356" y="39450"/>
                  <a:pt x="374356" y="62393"/>
                </a:cubicBezTo>
                <a:lnTo>
                  <a:pt x="374356" y="218375"/>
                </a:lnTo>
                <a:cubicBezTo>
                  <a:pt x="374356" y="241317"/>
                  <a:pt x="355704" y="259970"/>
                  <a:pt x="332761" y="259970"/>
                </a:cubicBezTo>
                <a:lnTo>
                  <a:pt x="41595" y="259970"/>
                </a:lnTo>
                <a:cubicBezTo>
                  <a:pt x="18653" y="259970"/>
                  <a:pt x="0" y="241317"/>
                  <a:pt x="0" y="218375"/>
                </a:cubicBezTo>
                <a:lnTo>
                  <a:pt x="0" y="62393"/>
                </a:lnTo>
                <a:close/>
                <a:moveTo>
                  <a:pt x="103988" y="291166"/>
                </a:moveTo>
                <a:lnTo>
                  <a:pt x="270368" y="291166"/>
                </a:lnTo>
                <a:cubicBezTo>
                  <a:pt x="281872" y="291166"/>
                  <a:pt x="291166" y="300460"/>
                  <a:pt x="291166" y="311964"/>
                </a:cubicBezTo>
                <a:cubicBezTo>
                  <a:pt x="291166" y="323467"/>
                  <a:pt x="281872" y="332761"/>
                  <a:pt x="270368" y="332761"/>
                </a:cubicBezTo>
                <a:lnTo>
                  <a:pt x="103988" y="332761"/>
                </a:lnTo>
                <a:cubicBezTo>
                  <a:pt x="92484" y="332761"/>
                  <a:pt x="83190" y="323467"/>
                  <a:pt x="83190" y="311964"/>
                </a:cubicBezTo>
                <a:cubicBezTo>
                  <a:pt x="83190" y="300460"/>
                  <a:pt x="92484" y="291166"/>
                  <a:pt x="103988" y="291166"/>
                </a:cubicBezTo>
                <a:close/>
              </a:path>
            </a:pathLst>
          </a:custGeom>
          <a:solidFill>
            <a:srgbClr val="FFCD7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366263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VECTOR GRAPHICS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75506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 (1979) used crisp line graphics instead of pixels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17842" y="4543114"/>
            <a:ext cx="3688103" cy="1543642"/>
          </a:xfrm>
          <a:custGeom>
            <a:avLst/>
            <a:gdLst/>
            <a:ahLst/>
            <a:cxnLst/>
            <a:rect l="l" t="t" r="r" b="b"/>
            <a:pathLst>
              <a:path w="3688103" h="1543642">
                <a:moveTo>
                  <a:pt x="0" y="0"/>
                </a:moveTo>
                <a:lnTo>
                  <a:pt x="3688103" y="0"/>
                </a:lnTo>
                <a:lnTo>
                  <a:pt x="3688103" y="1543642"/>
                </a:lnTo>
                <a:lnTo>
                  <a:pt x="0" y="15436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755579" y="4704873"/>
            <a:ext cx="415951" cy="332761"/>
          </a:xfrm>
          <a:custGeom>
            <a:avLst/>
            <a:gdLst/>
            <a:ahLst/>
            <a:cxnLst/>
            <a:rect l="l" t="t" r="r" b="b"/>
            <a:pathLst>
              <a:path w="415951" h="332761">
                <a:moveTo>
                  <a:pt x="346800" y="21123"/>
                </a:moveTo>
                <a:cubicBezTo>
                  <a:pt x="340105" y="15663"/>
                  <a:pt x="330291" y="16703"/>
                  <a:pt x="324832" y="23397"/>
                </a:cubicBezTo>
                <a:cubicBezTo>
                  <a:pt x="319373" y="30091"/>
                  <a:pt x="320413" y="39905"/>
                  <a:pt x="327107" y="45365"/>
                </a:cubicBezTo>
                <a:cubicBezTo>
                  <a:pt x="362333" y="73961"/>
                  <a:pt x="384755" y="117506"/>
                  <a:pt x="384755" y="166381"/>
                </a:cubicBezTo>
                <a:cubicBezTo>
                  <a:pt x="384755" y="215255"/>
                  <a:pt x="362333" y="258800"/>
                  <a:pt x="327107" y="287461"/>
                </a:cubicBezTo>
                <a:cubicBezTo>
                  <a:pt x="320413" y="292921"/>
                  <a:pt x="319438" y="302735"/>
                  <a:pt x="324832" y="309429"/>
                </a:cubicBezTo>
                <a:cubicBezTo>
                  <a:pt x="330226" y="316123"/>
                  <a:pt x="340105" y="317098"/>
                  <a:pt x="346800" y="311704"/>
                </a:cubicBezTo>
                <a:cubicBezTo>
                  <a:pt x="388980" y="277323"/>
                  <a:pt x="415951" y="225004"/>
                  <a:pt x="415951" y="166381"/>
                </a:cubicBezTo>
                <a:cubicBezTo>
                  <a:pt x="415951" y="107757"/>
                  <a:pt x="388980" y="55374"/>
                  <a:pt x="346800" y="21123"/>
                </a:cubicBezTo>
                <a:close/>
                <a:moveTo>
                  <a:pt x="307479" y="69542"/>
                </a:moveTo>
                <a:cubicBezTo>
                  <a:pt x="300785" y="64083"/>
                  <a:pt x="290971" y="65122"/>
                  <a:pt x="285512" y="71817"/>
                </a:cubicBezTo>
                <a:cubicBezTo>
                  <a:pt x="280052" y="78511"/>
                  <a:pt x="281092" y="88325"/>
                  <a:pt x="287786" y="93784"/>
                </a:cubicBezTo>
                <a:cubicBezTo>
                  <a:pt x="308909" y="110942"/>
                  <a:pt x="322362" y="137069"/>
                  <a:pt x="322362" y="166381"/>
                </a:cubicBezTo>
                <a:cubicBezTo>
                  <a:pt x="322362" y="195692"/>
                  <a:pt x="308909" y="221819"/>
                  <a:pt x="287786" y="239042"/>
                </a:cubicBezTo>
                <a:cubicBezTo>
                  <a:pt x="281092" y="244501"/>
                  <a:pt x="280117" y="254315"/>
                  <a:pt x="285512" y="261010"/>
                </a:cubicBezTo>
                <a:cubicBezTo>
                  <a:pt x="290906" y="267704"/>
                  <a:pt x="300785" y="268679"/>
                  <a:pt x="307479" y="263284"/>
                </a:cubicBezTo>
                <a:cubicBezTo>
                  <a:pt x="335556" y="240407"/>
                  <a:pt x="353559" y="205506"/>
                  <a:pt x="353559" y="166446"/>
                </a:cubicBezTo>
                <a:cubicBezTo>
                  <a:pt x="353559" y="127385"/>
                  <a:pt x="335556" y="92484"/>
                  <a:pt x="307479" y="69607"/>
                </a:cubicBezTo>
                <a:close/>
                <a:moveTo>
                  <a:pt x="268159" y="117961"/>
                </a:moveTo>
                <a:cubicBezTo>
                  <a:pt x="261464" y="112502"/>
                  <a:pt x="251651" y="113542"/>
                  <a:pt x="246191" y="120236"/>
                </a:cubicBezTo>
                <a:cubicBezTo>
                  <a:pt x="240732" y="126930"/>
                  <a:pt x="241772" y="136744"/>
                  <a:pt x="248466" y="142203"/>
                </a:cubicBezTo>
                <a:cubicBezTo>
                  <a:pt x="255485" y="147923"/>
                  <a:pt x="259970" y="156632"/>
                  <a:pt x="259970" y="166381"/>
                </a:cubicBezTo>
                <a:cubicBezTo>
                  <a:pt x="259970" y="176129"/>
                  <a:pt x="255485" y="184838"/>
                  <a:pt x="248466" y="190623"/>
                </a:cubicBezTo>
                <a:cubicBezTo>
                  <a:pt x="241772" y="196082"/>
                  <a:pt x="240797" y="205896"/>
                  <a:pt x="246191" y="212590"/>
                </a:cubicBezTo>
                <a:cubicBezTo>
                  <a:pt x="251586" y="219284"/>
                  <a:pt x="261464" y="220259"/>
                  <a:pt x="268159" y="214865"/>
                </a:cubicBezTo>
                <a:cubicBezTo>
                  <a:pt x="282132" y="203361"/>
                  <a:pt x="291166" y="185943"/>
                  <a:pt x="291166" y="166381"/>
                </a:cubicBezTo>
                <a:cubicBezTo>
                  <a:pt x="291166" y="146818"/>
                  <a:pt x="282132" y="129400"/>
                  <a:pt x="268159" y="117961"/>
                </a:cubicBezTo>
                <a:close/>
                <a:moveTo>
                  <a:pt x="51994" y="228773"/>
                </a:moveTo>
                <a:lnTo>
                  <a:pt x="83190" y="228773"/>
                </a:lnTo>
                <a:lnTo>
                  <a:pt x="170345" y="306244"/>
                </a:lnTo>
                <a:cubicBezTo>
                  <a:pt x="174505" y="309949"/>
                  <a:pt x="179834" y="311964"/>
                  <a:pt x="185358" y="311964"/>
                </a:cubicBezTo>
                <a:cubicBezTo>
                  <a:pt x="197837" y="311964"/>
                  <a:pt x="207976" y="301825"/>
                  <a:pt x="207976" y="289346"/>
                </a:cubicBezTo>
                <a:lnTo>
                  <a:pt x="207976" y="43415"/>
                </a:lnTo>
                <a:cubicBezTo>
                  <a:pt x="207976" y="30936"/>
                  <a:pt x="197837" y="20798"/>
                  <a:pt x="185358" y="20798"/>
                </a:cubicBezTo>
                <a:cubicBezTo>
                  <a:pt x="179834" y="20798"/>
                  <a:pt x="174505" y="22812"/>
                  <a:pt x="170345" y="26517"/>
                </a:cubicBezTo>
                <a:lnTo>
                  <a:pt x="83190" y="103988"/>
                </a:lnTo>
                <a:lnTo>
                  <a:pt x="51994" y="103988"/>
                </a:lnTo>
                <a:cubicBezTo>
                  <a:pt x="34771" y="103988"/>
                  <a:pt x="20798" y="117961"/>
                  <a:pt x="20798" y="135184"/>
                </a:cubicBezTo>
                <a:lnTo>
                  <a:pt x="20798" y="197577"/>
                </a:lnTo>
                <a:cubicBezTo>
                  <a:pt x="20798" y="214800"/>
                  <a:pt x="34771" y="228773"/>
                  <a:pt x="51994" y="228773"/>
                </a:cubicBezTo>
                <a:close/>
              </a:path>
            </a:pathLst>
          </a:custGeom>
          <a:solidFill>
            <a:srgbClr val="A7F070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233384" y="5148555"/>
            <a:ext cx="345701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SOUND INNOVATION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42627" y="5481316"/>
            <a:ext cx="34385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Dedicated sound chips created immersive audio experiences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3600" y="6262381"/>
            <a:ext cx="11424801" cy="582332"/>
          </a:xfrm>
          <a:custGeom>
            <a:avLst/>
            <a:gdLst/>
            <a:ahLst/>
            <a:cxnLst/>
            <a:rect l="l" t="t" r="r" b="b"/>
            <a:pathLst>
              <a:path w="11424801" h="582332">
                <a:moveTo>
                  <a:pt x="0" y="0"/>
                </a:moveTo>
                <a:lnTo>
                  <a:pt x="11424801" y="0"/>
                </a:lnTo>
                <a:lnTo>
                  <a:pt x="11424801" y="582332"/>
                </a:lnTo>
                <a:lnTo>
                  <a:pt x="0" y="582332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99142" y="6424139"/>
            <a:ext cx="11193716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Result:</a:t>
            </a:r>
            <a:pPr algn="ctr">
              <a:lnSpc>
                <a:spcPct val="120000"/>
              </a:lnSpc>
            </a:pPr>
            <a:r>
              <a:rPr lang="en-US" sz="1456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Games evolved from simple distractions to </a:t>
            </a:r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immersive experiences</a:t>
            </a:r>
            <a:pPr algn="ctr">
              <a:lnSpc>
                <a:spcPct val="120000"/>
              </a:lnSpc>
            </a:pPr>
            <a:r>
              <a:rPr lang="en-US" sz="1456" dirty="0" b="1">
                <a:solidFill>
                  <a:srgbClr val="00808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captivated millions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amesroomcompany.com/108bacafdda3f8467cc67cc670b3457553856399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114425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247775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5262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ICONIC GAMES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THAT DEFINED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 GENERATION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752975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057775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Characters and Experiences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That Became Cultural Phenomena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592"/>
          </a:xfrm>
          <a:custGeom>
            <a:avLst/>
            <a:gdLst/>
            <a:ahLst/>
            <a:cxnLst/>
            <a:rect l="l" t="t" r="r" b="b"/>
            <a:pathLst>
              <a:path w="12192000" h="6858592">
                <a:moveTo>
                  <a:pt x="0" y="0"/>
                </a:moveTo>
                <a:lnTo>
                  <a:pt x="12192000" y="0"/>
                </a:lnTo>
                <a:lnTo>
                  <a:pt x="12192000" y="6858592"/>
                </a:lnTo>
                <a:lnTo>
                  <a:pt x="0" y="685859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8928" y="378928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PAC-MAN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947319"/>
            <a:ext cx="1154782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Eating the Competition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364140"/>
            <a:ext cx="909427" cy="37893"/>
          </a:xfrm>
          <a:custGeom>
            <a:avLst/>
            <a:gdLst/>
            <a:ahLst/>
            <a:cxnLst/>
            <a:rect l="l" t="t" r="r" b="b"/>
            <a:pathLst>
              <a:path w="909427" h="37893">
                <a:moveTo>
                  <a:pt x="0" y="0"/>
                </a:moveTo>
                <a:lnTo>
                  <a:pt x="909427" y="0"/>
                </a:lnTo>
                <a:lnTo>
                  <a:pt x="909427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3138" y="1567814"/>
            <a:ext cx="4452401" cy="4234517"/>
          </a:xfrm>
          <a:custGeom>
            <a:avLst/>
            <a:gdLst/>
            <a:ahLst/>
            <a:cxnLst/>
            <a:rect l="l" t="t" r="r" b="b"/>
            <a:pathLst>
              <a:path w="4452401" h="4234517">
                <a:moveTo>
                  <a:pt x="0" y="0"/>
                </a:moveTo>
                <a:lnTo>
                  <a:pt x="4452401" y="0"/>
                </a:lnTo>
                <a:lnTo>
                  <a:pt x="4452401" y="4234517"/>
                </a:lnTo>
                <a:lnTo>
                  <a:pt x="0" y="423451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primetimeamusements.com/7bd8171ef7867f102426f03ba84c585a56da8b7c.png">    </p:cNvPr>
          <p:cNvPicPr>
            <a:picLocks noChangeAspect="1"/>
          </p:cNvPicPr>
          <p:nvPr/>
        </p:nvPicPr>
        <p:blipFill>
          <a:blip r:embed="rId1"/>
          <a:srcRect l="0" r="0" t="24253" b="24253"/>
          <a:stretch/>
        </p:blipFill>
        <p:spPr>
          <a:xfrm>
            <a:off x="558918" y="1733594"/>
            <a:ext cx="4120839" cy="2121995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416821" y="3969268"/>
            <a:ext cx="4405035" cy="56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7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$14B+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1552" y="4613445"/>
            <a:ext cx="421557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Total Global Revenue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1026" y="4954480"/>
            <a:ext cx="419662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Highest-grossing arcade game ever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3138" y="5982322"/>
            <a:ext cx="4452401" cy="862061"/>
          </a:xfrm>
          <a:custGeom>
            <a:avLst/>
            <a:gdLst/>
            <a:ahLst/>
            <a:cxnLst/>
            <a:rect l="l" t="t" r="r" b="b"/>
            <a:pathLst>
              <a:path w="4452401" h="862061">
                <a:moveTo>
                  <a:pt x="0" y="0"/>
                </a:moveTo>
                <a:lnTo>
                  <a:pt x="4452401" y="0"/>
                </a:lnTo>
                <a:lnTo>
                  <a:pt x="4452401" y="862061"/>
                </a:lnTo>
                <a:lnTo>
                  <a:pt x="0" y="86206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289" y="6148103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May 1980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289" y="6413352"/>
            <a:ext cx="42060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03609" y="15678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7283" y="1771487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VISIONARY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7283" y="21883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Toru Iwatani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wanted to create something completely different from the violent shooters dominating arcades. His goal: 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"A game that anyone can enjoy."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07283" y="28561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He noticed arcades were seen as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"hangouts for delinquents"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set out to change that perception with non-violent, universally appealing gameplay.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03609" y="3794014"/>
            <a:ext cx="6697548" cy="2046210"/>
          </a:xfrm>
          <a:custGeom>
            <a:avLst/>
            <a:gdLst/>
            <a:ahLst/>
            <a:cxnLst/>
            <a:rect l="l" t="t" r="r" b="b"/>
            <a:pathLst>
              <a:path w="6697548" h="2046210">
                <a:moveTo>
                  <a:pt x="0" y="0"/>
                </a:moveTo>
                <a:lnTo>
                  <a:pt x="6697548" y="0"/>
                </a:lnTo>
                <a:lnTo>
                  <a:pt x="6697548" y="2046210"/>
                </a:lnTo>
                <a:lnTo>
                  <a:pt x="0" y="204621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7283" y="3997688"/>
            <a:ext cx="64038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LEGENDARY DESIGN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7283" y="441450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iconic character was born when Iwatani saw a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pizza with a slice missing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—the shape reminded him of a mouth. Combined with the Japanese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"mouth" (kuchi)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character, Pac-Man was born.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07283" y="5082368"/>
            <a:ext cx="6375459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Each ghost has distinct </a:t>
            </a:r>
            <a:pPr>
              <a:lnSpc>
                <a:spcPct val="140000"/>
              </a:lnSpc>
            </a:pPr>
            <a:r>
              <a:rPr lang="en-US" sz="1343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AI personality</a:t>
            </a:r>
            <a:pPr>
              <a:lnSpc>
                <a:spcPct val="140000"/>
              </a:lnSpc>
            </a:pPr>
            <a:r>
              <a:rPr lang="en-US" sz="134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: Blinky (chase), Pinky (ambush), Inky (unpredictable), Clyde (random).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98872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8024" y="6138629"/>
            <a:ext cx="213147" cy="284196"/>
          </a:xfrm>
          <a:custGeom>
            <a:avLst/>
            <a:gdLst/>
            <a:ahLst/>
            <a:cxnLst/>
            <a:rect l="l" t="t" r="r" b="b"/>
            <a:pathLst>
              <a:path w="213147" h="284196">
                <a:moveTo>
                  <a:pt x="44406" y="97692"/>
                </a:moveTo>
                <a:cubicBezTo>
                  <a:pt x="44406" y="63381"/>
                  <a:pt x="72262" y="35524"/>
                  <a:pt x="106573" y="35524"/>
                </a:cubicBezTo>
                <a:cubicBezTo>
                  <a:pt x="140885" y="35524"/>
                  <a:pt x="168741" y="63381"/>
                  <a:pt x="168741" y="97692"/>
                </a:cubicBezTo>
                <a:cubicBezTo>
                  <a:pt x="168741" y="132004"/>
                  <a:pt x="140885" y="159860"/>
                  <a:pt x="106573" y="159860"/>
                </a:cubicBezTo>
                <a:cubicBezTo>
                  <a:pt x="72262" y="159860"/>
                  <a:pt x="44406" y="132004"/>
                  <a:pt x="44406" y="97692"/>
                </a:cubicBezTo>
                <a:close/>
                <a:moveTo>
                  <a:pt x="124280" y="193775"/>
                </a:moveTo>
                <a:cubicBezTo>
                  <a:pt x="169796" y="185449"/>
                  <a:pt x="204266" y="145595"/>
                  <a:pt x="204266" y="97692"/>
                </a:cubicBezTo>
                <a:cubicBezTo>
                  <a:pt x="204266" y="43740"/>
                  <a:pt x="160526" y="0"/>
                  <a:pt x="106573" y="0"/>
                </a:cubicBezTo>
                <a:cubicBezTo>
                  <a:pt x="52621" y="0"/>
                  <a:pt x="8881" y="43740"/>
                  <a:pt x="8881" y="97692"/>
                </a:cubicBezTo>
                <a:cubicBezTo>
                  <a:pt x="8881" y="145595"/>
                  <a:pt x="43351" y="185449"/>
                  <a:pt x="88867" y="193775"/>
                </a:cubicBezTo>
                <a:cubicBezTo>
                  <a:pt x="88811" y="194330"/>
                  <a:pt x="88811" y="194830"/>
                  <a:pt x="88811" y="195385"/>
                </a:cubicBezTo>
                <a:lnTo>
                  <a:pt x="88811" y="230909"/>
                </a:lnTo>
                <a:lnTo>
                  <a:pt x="71049" y="230909"/>
                </a:lnTo>
                <a:cubicBezTo>
                  <a:pt x="61224" y="230909"/>
                  <a:pt x="53287" y="238847"/>
                  <a:pt x="53287" y="248671"/>
                </a:cubicBezTo>
                <a:cubicBezTo>
                  <a:pt x="53287" y="258496"/>
                  <a:pt x="61224" y="266434"/>
                  <a:pt x="71049" y="266434"/>
                </a:cubicBezTo>
                <a:lnTo>
                  <a:pt x="88811" y="266434"/>
                </a:lnTo>
                <a:lnTo>
                  <a:pt x="88811" y="284196"/>
                </a:lnTo>
                <a:cubicBezTo>
                  <a:pt x="88811" y="294021"/>
                  <a:pt x="96749" y="301958"/>
                  <a:pt x="106573" y="301958"/>
                </a:cubicBezTo>
                <a:cubicBezTo>
                  <a:pt x="116398" y="301958"/>
                  <a:pt x="124336" y="294021"/>
                  <a:pt x="124336" y="284196"/>
                </a:cubicBezTo>
                <a:lnTo>
                  <a:pt x="124336" y="266434"/>
                </a:lnTo>
                <a:lnTo>
                  <a:pt x="142098" y="266434"/>
                </a:lnTo>
                <a:cubicBezTo>
                  <a:pt x="151923" y="266434"/>
                  <a:pt x="159860" y="258496"/>
                  <a:pt x="159860" y="248671"/>
                </a:cubicBezTo>
                <a:cubicBezTo>
                  <a:pt x="159860" y="238847"/>
                  <a:pt x="151923" y="230909"/>
                  <a:pt x="142098" y="230909"/>
                </a:cubicBezTo>
                <a:lnTo>
                  <a:pt x="124336" y="230909"/>
                </a:lnTo>
                <a:lnTo>
                  <a:pt x="124336" y="195385"/>
                </a:lnTo>
                <a:cubicBezTo>
                  <a:pt x="124336" y="194830"/>
                  <a:pt x="124336" y="194330"/>
                  <a:pt x="124280" y="19377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4" name="Text 21"/>
          <p:cNvSpPr/>
          <p:nvPr/>
        </p:nvSpPr>
        <p:spPr>
          <a:xfrm>
            <a:off x="51841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Appealed to Women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78286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76463" y="6138629"/>
            <a:ext cx="355245" cy="284196"/>
          </a:xfrm>
          <a:custGeom>
            <a:avLst/>
            <a:gdLst/>
            <a:ahLst/>
            <a:cxnLst/>
            <a:rect l="l" t="t" r="r" b="b"/>
            <a:pathLst>
              <a:path w="355245" h="284196">
                <a:moveTo>
                  <a:pt x="177622" y="8881"/>
                </a:moveTo>
                <a:cubicBezTo>
                  <a:pt x="209483" y="8881"/>
                  <a:pt x="235350" y="34748"/>
                  <a:pt x="235350" y="66608"/>
                </a:cubicBezTo>
                <a:cubicBezTo>
                  <a:pt x="235350" y="98469"/>
                  <a:pt x="209483" y="124336"/>
                  <a:pt x="177622" y="124336"/>
                </a:cubicBezTo>
                <a:cubicBezTo>
                  <a:pt x="145762" y="124336"/>
                  <a:pt x="119895" y="98469"/>
                  <a:pt x="119895" y="66608"/>
                </a:cubicBezTo>
                <a:cubicBezTo>
                  <a:pt x="119895" y="34748"/>
                  <a:pt x="145762" y="8881"/>
                  <a:pt x="177622" y="8881"/>
                </a:cubicBezTo>
                <a:close/>
                <a:moveTo>
                  <a:pt x="53287" y="48846"/>
                </a:moveTo>
                <a:cubicBezTo>
                  <a:pt x="75344" y="48846"/>
                  <a:pt x="93252" y="66754"/>
                  <a:pt x="93252" y="88811"/>
                </a:cubicBezTo>
                <a:cubicBezTo>
                  <a:pt x="93252" y="110868"/>
                  <a:pt x="75344" y="128776"/>
                  <a:pt x="53287" y="128776"/>
                </a:cubicBezTo>
                <a:cubicBezTo>
                  <a:pt x="31229" y="128776"/>
                  <a:pt x="13322" y="110868"/>
                  <a:pt x="13322" y="88811"/>
                </a:cubicBezTo>
                <a:cubicBezTo>
                  <a:pt x="13322" y="66754"/>
                  <a:pt x="31229" y="48846"/>
                  <a:pt x="53287" y="48846"/>
                </a:cubicBezTo>
                <a:close/>
                <a:moveTo>
                  <a:pt x="0" y="230909"/>
                </a:moveTo>
                <a:cubicBezTo>
                  <a:pt x="0" y="191666"/>
                  <a:pt x="31806" y="159860"/>
                  <a:pt x="71049" y="159860"/>
                </a:cubicBezTo>
                <a:cubicBezTo>
                  <a:pt x="78154" y="159860"/>
                  <a:pt x="85037" y="160915"/>
                  <a:pt x="91531" y="162858"/>
                </a:cubicBezTo>
                <a:cubicBezTo>
                  <a:pt x="73269" y="183284"/>
                  <a:pt x="62168" y="210260"/>
                  <a:pt x="62168" y="239790"/>
                </a:cubicBezTo>
                <a:lnTo>
                  <a:pt x="62168" y="248671"/>
                </a:lnTo>
                <a:cubicBezTo>
                  <a:pt x="62168" y="254999"/>
                  <a:pt x="63500" y="260994"/>
                  <a:pt x="65887" y="266434"/>
                </a:cubicBezTo>
                <a:lnTo>
                  <a:pt x="17762" y="266434"/>
                </a:lnTo>
                <a:cubicBezTo>
                  <a:pt x="7938" y="266434"/>
                  <a:pt x="0" y="258496"/>
                  <a:pt x="0" y="248671"/>
                </a:cubicBezTo>
                <a:lnTo>
                  <a:pt x="0" y="230909"/>
                </a:lnTo>
                <a:close/>
                <a:moveTo>
                  <a:pt x="289358" y="266434"/>
                </a:moveTo>
                <a:cubicBezTo>
                  <a:pt x="291745" y="260994"/>
                  <a:pt x="293077" y="254999"/>
                  <a:pt x="293077" y="248671"/>
                </a:cubicBezTo>
                <a:lnTo>
                  <a:pt x="293077" y="239790"/>
                </a:lnTo>
                <a:cubicBezTo>
                  <a:pt x="293077" y="210260"/>
                  <a:pt x="281976" y="183284"/>
                  <a:pt x="263714" y="162858"/>
                </a:cubicBezTo>
                <a:cubicBezTo>
                  <a:pt x="270208" y="160915"/>
                  <a:pt x="277091" y="159860"/>
                  <a:pt x="284196" y="159860"/>
                </a:cubicBezTo>
                <a:cubicBezTo>
                  <a:pt x="323439" y="159860"/>
                  <a:pt x="355245" y="191666"/>
                  <a:pt x="355245" y="230909"/>
                </a:cubicBezTo>
                <a:lnTo>
                  <a:pt x="355245" y="248671"/>
                </a:lnTo>
                <a:cubicBezTo>
                  <a:pt x="355245" y="258496"/>
                  <a:pt x="347307" y="266434"/>
                  <a:pt x="337483" y="266434"/>
                </a:cubicBezTo>
                <a:lnTo>
                  <a:pt x="289358" y="266434"/>
                </a:lnTo>
                <a:close/>
                <a:moveTo>
                  <a:pt x="261993" y="88811"/>
                </a:moveTo>
                <a:cubicBezTo>
                  <a:pt x="261993" y="66754"/>
                  <a:pt x="279901" y="48846"/>
                  <a:pt x="301958" y="48846"/>
                </a:cubicBezTo>
                <a:cubicBezTo>
                  <a:pt x="324015" y="48846"/>
                  <a:pt x="341923" y="66754"/>
                  <a:pt x="341923" y="88811"/>
                </a:cubicBezTo>
                <a:cubicBezTo>
                  <a:pt x="341923" y="110868"/>
                  <a:pt x="324015" y="128776"/>
                  <a:pt x="301958" y="128776"/>
                </a:cubicBezTo>
                <a:cubicBezTo>
                  <a:pt x="279901" y="128776"/>
                  <a:pt x="261993" y="110868"/>
                  <a:pt x="261993" y="88811"/>
                </a:cubicBezTo>
                <a:close/>
                <a:moveTo>
                  <a:pt x="88811" y="239790"/>
                </a:moveTo>
                <a:cubicBezTo>
                  <a:pt x="88811" y="190722"/>
                  <a:pt x="128554" y="150979"/>
                  <a:pt x="177622" y="150979"/>
                </a:cubicBezTo>
                <a:cubicBezTo>
                  <a:pt x="226691" y="150979"/>
                  <a:pt x="266434" y="190722"/>
                  <a:pt x="266434" y="239790"/>
                </a:cubicBezTo>
                <a:lnTo>
                  <a:pt x="266434" y="248671"/>
                </a:lnTo>
                <a:cubicBezTo>
                  <a:pt x="266434" y="258496"/>
                  <a:pt x="258496" y="266434"/>
                  <a:pt x="248671" y="266434"/>
                </a:cubicBezTo>
                <a:lnTo>
                  <a:pt x="106573" y="266434"/>
                </a:lnTo>
                <a:cubicBezTo>
                  <a:pt x="96749" y="266434"/>
                  <a:pt x="88811" y="258496"/>
                  <a:pt x="88811" y="248671"/>
                </a:cubicBezTo>
                <a:lnTo>
                  <a:pt x="88811" y="23979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7" name="Text 24"/>
          <p:cNvSpPr/>
          <p:nvPr/>
        </p:nvSpPr>
        <p:spPr>
          <a:xfrm>
            <a:off x="7463544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Family-Friendly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57773" y="6015478"/>
            <a:ext cx="2150415" cy="833641"/>
          </a:xfrm>
          <a:custGeom>
            <a:avLst/>
            <a:gdLst/>
            <a:ahLst/>
            <a:cxnLst/>
            <a:rect l="l" t="t" r="r" b="b"/>
            <a:pathLst>
              <a:path w="2150415" h="833641">
                <a:moveTo>
                  <a:pt x="0" y="0"/>
                </a:moveTo>
                <a:lnTo>
                  <a:pt x="2150415" y="0"/>
                </a:lnTo>
                <a:lnTo>
                  <a:pt x="2150415" y="833641"/>
                </a:lnTo>
                <a:lnTo>
                  <a:pt x="0" y="833641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91400" y="6138629"/>
            <a:ext cx="284196" cy="284196"/>
          </a:xfrm>
          <a:custGeom>
            <a:avLst/>
            <a:gdLst/>
            <a:ahLst/>
            <a:cxnLst/>
            <a:rect l="l" t="t" r="r" b="b"/>
            <a:pathLst>
              <a:path w="284196" h="284196">
                <a:moveTo>
                  <a:pt x="195329" y="155420"/>
                </a:moveTo>
                <a:lnTo>
                  <a:pt x="89366" y="155420"/>
                </a:lnTo>
                <a:cubicBezTo>
                  <a:pt x="90976" y="191222"/>
                  <a:pt x="98913" y="224193"/>
                  <a:pt x="110181" y="248338"/>
                </a:cubicBezTo>
                <a:cubicBezTo>
                  <a:pt x="116509" y="261937"/>
                  <a:pt x="123337" y="271540"/>
                  <a:pt x="129664" y="277424"/>
                </a:cubicBezTo>
                <a:cubicBezTo>
                  <a:pt x="135881" y="283252"/>
                  <a:pt x="140155" y="284196"/>
                  <a:pt x="142375" y="284196"/>
                </a:cubicBezTo>
                <a:cubicBezTo>
                  <a:pt x="144596" y="284196"/>
                  <a:pt x="148870" y="283252"/>
                  <a:pt x="155087" y="277424"/>
                </a:cubicBezTo>
                <a:cubicBezTo>
                  <a:pt x="161414" y="271540"/>
                  <a:pt x="168242" y="261882"/>
                  <a:pt x="174569" y="248338"/>
                </a:cubicBezTo>
                <a:cubicBezTo>
                  <a:pt x="185837" y="224193"/>
                  <a:pt x="193775" y="191222"/>
                  <a:pt x="195385" y="155420"/>
                </a:cubicBezTo>
                <a:close/>
                <a:moveTo>
                  <a:pt x="89311" y="128776"/>
                </a:moveTo>
                <a:lnTo>
                  <a:pt x="195274" y="128776"/>
                </a:lnTo>
                <a:cubicBezTo>
                  <a:pt x="193719" y="92974"/>
                  <a:pt x="185782" y="60003"/>
                  <a:pt x="174514" y="35858"/>
                </a:cubicBezTo>
                <a:cubicBezTo>
                  <a:pt x="168186" y="22314"/>
                  <a:pt x="161359" y="12656"/>
                  <a:pt x="155031" y="6772"/>
                </a:cubicBezTo>
                <a:cubicBezTo>
                  <a:pt x="148814" y="944"/>
                  <a:pt x="144540" y="0"/>
                  <a:pt x="142320" y="0"/>
                </a:cubicBezTo>
                <a:cubicBezTo>
                  <a:pt x="140100" y="0"/>
                  <a:pt x="135826" y="944"/>
                  <a:pt x="129609" y="6772"/>
                </a:cubicBezTo>
                <a:cubicBezTo>
                  <a:pt x="123281" y="12656"/>
                  <a:pt x="116454" y="22314"/>
                  <a:pt x="110126" y="35858"/>
                </a:cubicBezTo>
                <a:cubicBezTo>
                  <a:pt x="98858" y="60003"/>
                  <a:pt x="90920" y="92974"/>
                  <a:pt x="89311" y="128776"/>
                </a:cubicBezTo>
                <a:close/>
                <a:moveTo>
                  <a:pt x="62667" y="128776"/>
                </a:moveTo>
                <a:cubicBezTo>
                  <a:pt x="64610" y="81262"/>
                  <a:pt x="76877" y="37134"/>
                  <a:pt x="94806" y="8160"/>
                </a:cubicBezTo>
                <a:cubicBezTo>
                  <a:pt x="43684" y="26255"/>
                  <a:pt x="6050" y="72825"/>
                  <a:pt x="833" y="128776"/>
                </a:cubicBezTo>
                <a:lnTo>
                  <a:pt x="62667" y="128776"/>
                </a:lnTo>
                <a:close/>
                <a:moveTo>
                  <a:pt x="833" y="155420"/>
                </a:moveTo>
                <a:cubicBezTo>
                  <a:pt x="6050" y="211371"/>
                  <a:pt x="43684" y="257941"/>
                  <a:pt x="94806" y="276036"/>
                </a:cubicBezTo>
                <a:cubicBezTo>
                  <a:pt x="76877" y="247062"/>
                  <a:pt x="64610" y="202934"/>
                  <a:pt x="62667" y="155420"/>
                </a:cubicBezTo>
                <a:lnTo>
                  <a:pt x="833" y="155420"/>
                </a:lnTo>
                <a:close/>
                <a:moveTo>
                  <a:pt x="221972" y="155420"/>
                </a:moveTo>
                <a:cubicBezTo>
                  <a:pt x="220030" y="202934"/>
                  <a:pt x="207763" y="247062"/>
                  <a:pt x="189834" y="276036"/>
                </a:cubicBezTo>
                <a:cubicBezTo>
                  <a:pt x="240956" y="257885"/>
                  <a:pt x="278590" y="211371"/>
                  <a:pt x="283807" y="155420"/>
                </a:cubicBezTo>
                <a:lnTo>
                  <a:pt x="221972" y="155420"/>
                </a:lnTo>
                <a:close/>
                <a:moveTo>
                  <a:pt x="283807" y="128776"/>
                </a:moveTo>
                <a:cubicBezTo>
                  <a:pt x="278590" y="72825"/>
                  <a:pt x="240956" y="26255"/>
                  <a:pt x="189834" y="8160"/>
                </a:cubicBezTo>
                <a:cubicBezTo>
                  <a:pt x="207763" y="37134"/>
                  <a:pt x="220030" y="81262"/>
                  <a:pt x="221972" y="128776"/>
                </a:cubicBezTo>
                <a:lnTo>
                  <a:pt x="283807" y="128776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7"/>
          <p:cNvSpPr/>
          <p:nvPr/>
        </p:nvSpPr>
        <p:spPr>
          <a:xfrm>
            <a:off x="9743031" y="6498611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Global Icon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34945" y="334945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945" y="837363"/>
            <a:ext cx="11622593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Birth of a Plumber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945" y="1205802"/>
            <a:ext cx="803868" cy="33495"/>
          </a:xfrm>
          <a:custGeom>
            <a:avLst/>
            <a:gdLst/>
            <a:ahLst/>
            <a:cxnLst/>
            <a:rect l="l" t="t" r="r" b="b"/>
            <a:pathLst>
              <a:path w="803868" h="33495">
                <a:moveTo>
                  <a:pt x="0" y="0"/>
                </a:moveTo>
                <a:lnTo>
                  <a:pt x="803868" y="0"/>
                </a:lnTo>
                <a:lnTo>
                  <a:pt x="803868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47505" y="1385835"/>
            <a:ext cx="5066044" cy="4320791"/>
          </a:xfrm>
          <a:custGeom>
            <a:avLst/>
            <a:gdLst/>
            <a:ahLst/>
            <a:cxnLst/>
            <a:rect l="l" t="t" r="r" b="b"/>
            <a:pathLst>
              <a:path w="5066044" h="4320791">
                <a:moveTo>
                  <a:pt x="0" y="0"/>
                </a:moveTo>
                <a:lnTo>
                  <a:pt x="5066044" y="0"/>
                </a:lnTo>
                <a:lnTo>
                  <a:pt x="5066044" y="4320791"/>
                </a:lnTo>
                <a:lnTo>
                  <a:pt x="0" y="4320791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pic>
        <p:nvPicPr>
          <p:cNvPr id="7" name="Image 0" descr="https://kimi-web-img.moonshot.cn/img/www.arcade-museum.com/8814cedaf48a4df01a87331adfa4735751ff5ac1.jpg">    </p:cNvPr>
          <p:cNvPicPr>
            <a:picLocks noChangeAspect="1"/>
          </p:cNvPicPr>
          <p:nvPr/>
        </p:nvPicPr>
        <p:blipFill>
          <a:blip r:embed="rId1"/>
          <a:srcRect l="0" r="0" t="39152" b="39152"/>
          <a:stretch/>
        </p:blipFill>
        <p:spPr>
          <a:xfrm>
            <a:off x="494044" y="1532374"/>
            <a:ext cx="4772967" cy="1741714"/>
          </a:xfrm>
          <a:prstGeom prst="roundRect">
            <a:avLst>
              <a:gd name="adj" fmla="val 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368440" y="3374571"/>
            <a:ext cx="5024176" cy="502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56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$280M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2176" y="3943978"/>
            <a:ext cx="4856703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by End of 1982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0549" y="4245429"/>
            <a:ext cx="483995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Saved Nintendo of America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7505" y="5867819"/>
            <a:ext cx="5066044" cy="762000"/>
          </a:xfrm>
          <a:custGeom>
            <a:avLst/>
            <a:gdLst/>
            <a:ahLst/>
            <a:cxnLst/>
            <a:rect l="l" t="t" r="r" b="b"/>
            <a:pathLst>
              <a:path w="5066044" h="762000">
                <a:moveTo>
                  <a:pt x="0" y="0"/>
                </a:moveTo>
                <a:lnTo>
                  <a:pt x="5066044" y="0"/>
                </a:lnTo>
                <a:lnTo>
                  <a:pt x="5066044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6363" y="6014357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Released: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July 1981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6363" y="6248819"/>
            <a:ext cx="4848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Developer: </a:t>
            </a:r>
            <a:pPr algn="ctr">
              <a:lnSpc>
                <a:spcPct val="13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42974" y="1385835"/>
            <a:ext cx="6204857" cy="1808703"/>
          </a:xfrm>
          <a:custGeom>
            <a:avLst/>
            <a:gdLst/>
            <a:ahLst/>
            <a:cxnLst/>
            <a:rect l="l" t="t" r="r" b="b"/>
            <a:pathLst>
              <a:path w="6204857" h="1808703">
                <a:moveTo>
                  <a:pt x="0" y="0"/>
                </a:moveTo>
                <a:lnTo>
                  <a:pt x="6204857" y="0"/>
                </a:lnTo>
                <a:lnTo>
                  <a:pt x="6204857" y="1808703"/>
                </a:lnTo>
                <a:lnTo>
                  <a:pt x="0" y="180870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23007" y="1565868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RESCUE MISSION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23007" y="193430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of America was drowning in unsold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Radar Scope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machines. President Hiroshi Yamauchi tasked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Shigeru Miyamoto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with creating a game to convert them.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23007" y="2524648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had never designed a game before. His advantage? He wasn't a programmer—he focused on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story first, technology second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42974" y="3353637"/>
            <a:ext cx="6204857" cy="2051538"/>
          </a:xfrm>
          <a:custGeom>
            <a:avLst/>
            <a:gdLst/>
            <a:ahLst/>
            <a:cxnLst/>
            <a:rect l="l" t="t" r="r" b="b"/>
            <a:pathLst>
              <a:path w="6204857" h="2051538">
                <a:moveTo>
                  <a:pt x="0" y="0"/>
                </a:moveTo>
                <a:lnTo>
                  <a:pt x="6204857" y="0"/>
                </a:lnTo>
                <a:lnTo>
                  <a:pt x="6204857" y="2051538"/>
                </a:lnTo>
                <a:lnTo>
                  <a:pt x="0" y="205153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3007" y="3533670"/>
            <a:ext cx="5945275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POPEYE TO PLUMBER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823007" y="3902110"/>
            <a:ext cx="5920154" cy="73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Miyamoto wanted to use </a:t>
            </a:r>
            <a:pPr>
              <a:lnSpc>
                <a:spcPct val="140000"/>
              </a:lnSpc>
            </a:pPr>
            <a:r>
              <a:rPr lang="en-US" sz="118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Popeye characters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but couldn't secure the license. So he created original characters: a gorilla (Bluto became Donkey Kong), a hero (Popeye became Jumpman), and a damsel (Olive Oyl became Pauline).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823007" y="4737379"/>
            <a:ext cx="5920154" cy="494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Jumpman was renamed "Mario"</a:t>
            </a:r>
            <a:pPr>
              <a:lnSpc>
                <a:spcPct val="140000"/>
              </a:lnSpc>
            </a:pPr>
            <a:r>
              <a:rPr lang="en-US" sz="118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after Nintendo's Seattle landlord, Mario Segale, who demanded overdue rent.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42974" y="5566368"/>
            <a:ext cx="6204857" cy="1063451"/>
          </a:xfrm>
          <a:custGeom>
            <a:avLst/>
            <a:gdLst/>
            <a:ahLst/>
            <a:cxnLst/>
            <a:rect l="l" t="t" r="r" b="b"/>
            <a:pathLst>
              <a:path w="6204857" h="1063451">
                <a:moveTo>
                  <a:pt x="0" y="0"/>
                </a:moveTo>
                <a:lnTo>
                  <a:pt x="6204857" y="0"/>
                </a:lnTo>
                <a:lnTo>
                  <a:pt x="6204857" y="1063451"/>
                </a:lnTo>
                <a:lnTo>
                  <a:pt x="0" y="1063451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89512" y="5712907"/>
            <a:ext cx="599551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LEGAL VICTORY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89512" y="6047852"/>
            <a:ext cx="5978769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Universal Studios sued Nintendo claiming Donkey Kong infringed on King Kong. Nintendo won, with Universal ordered to pay </a:t>
            </a:r>
            <a:pPr>
              <a:lnSpc>
                <a:spcPct val="140000"/>
              </a:lnSpc>
            </a:pPr>
            <a:r>
              <a:rPr lang="en-US" sz="105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$1.8 million</a:t>
            </a:r>
            <a:pPr>
              <a:lnSpc>
                <a:spcPct val="140000"/>
              </a:lnSpc>
            </a:pPr>
            <a:r>
              <a:rPr lang="en-US" sz="105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legal fees. The attorney, John Kirby, received a sailboat named "Donkey Kong."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0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HALL OF FAME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Top 10 Arcade Legends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875" y="17621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4875" y="17049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04875" y="19716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1980 • Maze-chase perfection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2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875" y="26574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8425" y="26003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Space Invaders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8425" y="28670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1978 • Shooting genre pioneer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52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8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84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84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Platform gaming pioneer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52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875" y="44481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700" y="43910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Street Fighter II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5700" y="46577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1991 • Fighting game standard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52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875" y="534352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5700" y="528637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Ms. Pac-Man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5700" y="555307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 • Refined gameplay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6488" y="15763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5075" y="17621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59625" y="17049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Galaga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59625" y="19716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Space shooter perfection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6488" y="24717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5075" y="26574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46900" y="2600325"/>
            <a:ext cx="501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Defender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6900" y="286702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Complex controls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6488" y="33670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5075" y="35528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9625" y="3495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Asteroids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59625" y="376237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1979 • Vector graphics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86488" y="426243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5075" y="44481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9625" y="439102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Centipede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9625" y="46577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• Trackball innovation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86488" y="5157788"/>
            <a:ext cx="5610225" cy="752475"/>
          </a:xfrm>
          <a:custGeom>
            <a:avLst/>
            <a:gdLst/>
            <a:ahLst/>
            <a:cxnLst/>
            <a:rect l="l" t="t" r="r" b="b"/>
            <a:pathLst>
              <a:path w="5610225" h="752475">
                <a:moveTo>
                  <a:pt x="0" y="0"/>
                </a:moveTo>
                <a:lnTo>
                  <a:pt x="5610225" y="0"/>
                </a:lnTo>
                <a:lnTo>
                  <a:pt x="561022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5075" y="5343525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96075" y="5286375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Mortal Kombat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96075" y="5553075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1992 • Digitized graphics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95288" y="6091238"/>
            <a:ext cx="11401425" cy="600075"/>
          </a:xfrm>
          <a:custGeom>
            <a:avLst/>
            <a:gdLst/>
            <a:ahLst/>
            <a:cxnLst/>
            <a:rect l="l" t="t" r="r" b="b"/>
            <a:pathLst>
              <a:path w="11401425" h="600075">
                <a:moveTo>
                  <a:pt x="0" y="0"/>
                </a:moveTo>
                <a:lnTo>
                  <a:pt x="11401425" y="0"/>
                </a:lnTo>
                <a:lnTo>
                  <a:pt x="11401425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350" y="6257925"/>
            <a:ext cx="1116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These games generated </a:t>
            </a:r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in revenue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established gaming archetypes that persist today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87ca93348d5758af406dc00206171b1aaa995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66900" cy="609600"/>
          </a:xfrm>
          <a:custGeom>
            <a:avLst/>
            <a:gdLst/>
            <a:ahLst/>
            <a:cxnLst/>
            <a:rect l="l" t="t" r="r" b="b"/>
            <a:pathLst>
              <a:path w="1866900" h="609600">
                <a:moveTo>
                  <a:pt x="0" y="0"/>
                </a:moveTo>
                <a:lnTo>
                  <a:pt x="1866900" y="0"/>
                </a:lnTo>
                <a:lnTo>
                  <a:pt x="1866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81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BUSINESS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OF FUN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Quarters: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An Economic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841"/>
          </a:xfrm>
          <a:custGeom>
            <a:avLst/>
            <a:gdLst/>
            <a:ahLst/>
            <a:cxn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45382" y="345382"/>
            <a:ext cx="11708465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INDUSTRY REVENUE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382" y="863456"/>
            <a:ext cx="11604850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Peak and Decline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382" y="1243377"/>
            <a:ext cx="828918" cy="34538"/>
          </a:xfrm>
          <a:custGeom>
            <a:avLst/>
            <a:gdLst/>
            <a:ahLst/>
            <a:cxnLst/>
            <a:rect l="l" t="t" r="r" b="b"/>
            <a:pathLst>
              <a:path w="828918" h="34538">
                <a:moveTo>
                  <a:pt x="0" y="0"/>
                </a:moveTo>
                <a:lnTo>
                  <a:pt x="828918" y="0"/>
                </a:lnTo>
                <a:lnTo>
                  <a:pt x="828918" y="34538"/>
                </a:lnTo>
                <a:lnTo>
                  <a:pt x="0" y="3453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58334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170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PEAK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363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$8 Billion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5122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1981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977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3054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Nearly </a:t>
            </a:r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 movie box office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($3.2B)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3977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1246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2833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9679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36948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8535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Machines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610" y="1429020"/>
            <a:ext cx="5621099" cy="2754425"/>
          </a:xfrm>
          <a:custGeom>
            <a:avLst/>
            <a:gdLst/>
            <a:ahLst/>
            <a:cxnLst/>
            <a:rect l="l" t="t" r="r" b="b"/>
            <a:pathLst>
              <a:path w="5621099" h="2754425">
                <a:moveTo>
                  <a:pt x="0" y="0"/>
                </a:moveTo>
                <a:lnTo>
                  <a:pt x="5621099" y="0"/>
                </a:lnTo>
                <a:lnTo>
                  <a:pt x="5621099" y="2754425"/>
                </a:lnTo>
                <a:lnTo>
                  <a:pt x="0" y="275442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4446" y="1614663"/>
            <a:ext cx="5353428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DECLINE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2639" y="2029122"/>
            <a:ext cx="5457042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6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$100M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7398" y="2478119"/>
            <a:ext cx="5327524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 Revenue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96253" y="2858040"/>
            <a:ext cx="5249813" cy="414459"/>
          </a:xfrm>
          <a:custGeom>
            <a:avLst/>
            <a:gdLst/>
            <a:ahLst/>
            <a:cxnLst/>
            <a:rect l="l" t="t" r="r" b="b"/>
            <a:pathLst>
              <a:path w="5249813" h="414459">
                <a:moveTo>
                  <a:pt x="0" y="0"/>
                </a:moveTo>
                <a:lnTo>
                  <a:pt x="5249813" y="0"/>
                </a:lnTo>
                <a:lnTo>
                  <a:pt x="5249813" y="414459"/>
                </a:lnTo>
                <a:lnTo>
                  <a:pt x="0" y="41445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5330" y="2961654"/>
            <a:ext cx="511166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97% decline</a:t>
            </a:r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just 4 years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625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1352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$7B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5109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72023" y="3410652"/>
            <a:ext cx="2573099" cy="587150"/>
          </a:xfrm>
          <a:custGeom>
            <a:avLst/>
            <a:gdLst/>
            <a:ahLst/>
            <a:cxnLst/>
            <a:rect l="l" t="t" r="r" b="b"/>
            <a:pathLst>
              <a:path w="2573099" h="587150">
                <a:moveTo>
                  <a:pt x="0" y="0"/>
                </a:moveTo>
                <a:lnTo>
                  <a:pt x="2573099" y="0"/>
                </a:lnTo>
                <a:lnTo>
                  <a:pt x="2573099" y="587150"/>
                </a:lnTo>
                <a:lnTo>
                  <a:pt x="0" y="5871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089292" y="3479728"/>
            <a:ext cx="253856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$5B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10878" y="3756034"/>
            <a:ext cx="2495388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2652" y="4351819"/>
            <a:ext cx="11466697" cy="2486754"/>
          </a:xfrm>
          <a:custGeom>
            <a:avLst/>
            <a:gdLst/>
            <a:ahLst/>
            <a:cxnLst/>
            <a:rect l="l" t="t" r="r" b="b"/>
            <a:pathLst>
              <a:path w="11466697" h="2486754">
                <a:moveTo>
                  <a:pt x="0" y="0"/>
                </a:moveTo>
                <a:lnTo>
                  <a:pt x="11466697" y="0"/>
                </a:lnTo>
                <a:lnTo>
                  <a:pt x="11466697" y="2486754"/>
                </a:lnTo>
                <a:lnTo>
                  <a:pt x="0" y="248675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805" y="4541779"/>
            <a:ext cx="11190391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2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TRAJECTORY</a:t>
            </a:r>
            <a:endParaRPr lang="en-US" sz="1600" dirty="0"/>
          </a:p>
        </p:txBody>
      </p:sp>
      <p:pic>
        <p:nvPicPr>
          <p:cNvPr id="32" name="Image 0" descr="https://kimi-img.moonshot.cn/pub/slides/26-03-18-20:08:22-d6t9bdjfj2jdcr296qu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612" y="4921700"/>
            <a:ext cx="9947014" cy="1726912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POWER PLAYERS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That Ruled the Arcades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9528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356" y="175260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50031" y="35719"/>
                </a:moveTo>
                <a:cubicBezTo>
                  <a:pt x="309190" y="35719"/>
                  <a:pt x="357188" y="83716"/>
                  <a:pt x="357188" y="142875"/>
                </a:cubicBezTo>
                <a:cubicBezTo>
                  <a:pt x="357188" y="202034"/>
                  <a:pt x="309190" y="250031"/>
                  <a:pt x="250031" y="250031"/>
                </a:cubicBezTo>
                <a:lnTo>
                  <a:pt x="107156" y="250031"/>
                </a:lnTo>
                <a:cubicBezTo>
                  <a:pt x="47997" y="250031"/>
                  <a:pt x="0" y="202034"/>
                  <a:pt x="0" y="142875"/>
                </a:cubicBezTo>
                <a:cubicBezTo>
                  <a:pt x="0" y="83716"/>
                  <a:pt x="47997" y="35719"/>
                  <a:pt x="107156" y="35719"/>
                </a:cubicBezTo>
                <a:lnTo>
                  <a:pt x="250031" y="35719"/>
                </a:lnTo>
                <a:close/>
                <a:moveTo>
                  <a:pt x="107156" y="98227"/>
                </a:moveTo>
                <a:cubicBezTo>
                  <a:pt x="99733" y="98227"/>
                  <a:pt x="93762" y="104198"/>
                  <a:pt x="93762" y="111621"/>
                </a:cubicBezTo>
                <a:lnTo>
                  <a:pt x="93762" y="129480"/>
                </a:lnTo>
                <a:lnTo>
                  <a:pt x="75902" y="129480"/>
                </a:lnTo>
                <a:cubicBezTo>
                  <a:pt x="68480" y="129480"/>
                  <a:pt x="62508" y="135452"/>
                  <a:pt x="62508" y="142875"/>
                </a:cubicBezTo>
                <a:cubicBezTo>
                  <a:pt x="62508" y="150298"/>
                  <a:pt x="68480" y="156270"/>
                  <a:pt x="75902" y="156270"/>
                </a:cubicBezTo>
                <a:lnTo>
                  <a:pt x="93762" y="156270"/>
                </a:lnTo>
                <a:lnTo>
                  <a:pt x="93762" y="174129"/>
                </a:lnTo>
                <a:cubicBezTo>
                  <a:pt x="93762" y="181552"/>
                  <a:pt x="99733" y="187523"/>
                  <a:pt x="107156" y="187523"/>
                </a:cubicBezTo>
                <a:cubicBezTo>
                  <a:pt x="114579" y="187523"/>
                  <a:pt x="120551" y="181552"/>
                  <a:pt x="120551" y="174129"/>
                </a:cubicBezTo>
                <a:lnTo>
                  <a:pt x="120551" y="156270"/>
                </a:lnTo>
                <a:lnTo>
                  <a:pt x="138410" y="156270"/>
                </a:lnTo>
                <a:cubicBezTo>
                  <a:pt x="145833" y="156270"/>
                  <a:pt x="151805" y="150298"/>
                  <a:pt x="151805" y="142875"/>
                </a:cubicBezTo>
                <a:cubicBezTo>
                  <a:pt x="151805" y="135452"/>
                  <a:pt x="145833" y="129480"/>
                  <a:pt x="138410" y="129480"/>
                </a:cubicBezTo>
                <a:lnTo>
                  <a:pt x="120551" y="129480"/>
                </a:lnTo>
                <a:lnTo>
                  <a:pt x="120551" y="111621"/>
                </a:lnTo>
                <a:cubicBezTo>
                  <a:pt x="120551" y="104198"/>
                  <a:pt x="114579" y="98227"/>
                  <a:pt x="107156" y="98227"/>
                </a:cubicBezTo>
                <a:close/>
                <a:moveTo>
                  <a:pt x="241102" y="151805"/>
                </a:moveTo>
                <a:cubicBezTo>
                  <a:pt x="231245" y="151805"/>
                  <a:pt x="223242" y="159807"/>
                  <a:pt x="223242" y="169664"/>
                </a:cubicBezTo>
                <a:cubicBezTo>
                  <a:pt x="223242" y="179521"/>
                  <a:pt x="231245" y="187523"/>
                  <a:pt x="241102" y="187523"/>
                </a:cubicBezTo>
                <a:cubicBezTo>
                  <a:pt x="250958" y="187523"/>
                  <a:pt x="258961" y="179521"/>
                  <a:pt x="258961" y="169664"/>
                </a:cubicBezTo>
                <a:cubicBezTo>
                  <a:pt x="258961" y="159807"/>
                  <a:pt x="250958" y="151805"/>
                  <a:pt x="241102" y="151805"/>
                </a:cubicBezTo>
                <a:close/>
                <a:moveTo>
                  <a:pt x="276820" y="98227"/>
                </a:moveTo>
                <a:cubicBezTo>
                  <a:pt x="266963" y="98227"/>
                  <a:pt x="258961" y="106229"/>
                  <a:pt x="258961" y="116086"/>
                </a:cubicBezTo>
                <a:cubicBezTo>
                  <a:pt x="258961" y="125943"/>
                  <a:pt x="266963" y="133945"/>
                  <a:pt x="276820" y="133945"/>
                </a:cubicBezTo>
                <a:cubicBezTo>
                  <a:pt x="286677" y="133945"/>
                  <a:pt x="294680" y="125943"/>
                  <a:pt x="294680" y="116086"/>
                </a:cubicBezTo>
                <a:cubicBezTo>
                  <a:pt x="294680" y="106229"/>
                  <a:pt x="286677" y="98227"/>
                  <a:pt x="276820" y="98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33462" y="1743075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97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37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Asteroids (1979)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437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Centipede (1981)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37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Tempest (1981)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483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Pioneered vector graphics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6038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6544" y="17526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22380" y="260691"/>
                </a:moveTo>
                <a:lnTo>
                  <a:pt x="16129" y="265714"/>
                </a:lnTo>
                <a:cubicBezTo>
                  <a:pt x="14343" y="267109"/>
                  <a:pt x="12167" y="267891"/>
                  <a:pt x="9934" y="267891"/>
                </a:cubicBezTo>
                <a:cubicBezTo>
                  <a:pt x="4465" y="267891"/>
                  <a:pt x="0" y="263426"/>
                  <a:pt x="0" y="257956"/>
                </a:cubicBezTo>
                <a:lnTo>
                  <a:pt x="0" y="107156"/>
                </a:lnTo>
                <a:cubicBezTo>
                  <a:pt x="0" y="47997"/>
                  <a:pt x="47997" y="0"/>
                  <a:pt x="107156" y="0"/>
                </a:cubicBezTo>
                <a:cubicBezTo>
                  <a:pt x="166315" y="0"/>
                  <a:pt x="214313" y="47997"/>
                  <a:pt x="214313" y="107156"/>
                </a:cubicBezTo>
                <a:lnTo>
                  <a:pt x="214313" y="257956"/>
                </a:lnTo>
                <a:cubicBezTo>
                  <a:pt x="214313" y="263426"/>
                  <a:pt x="209848" y="267891"/>
                  <a:pt x="204378" y="267891"/>
                </a:cubicBezTo>
                <a:cubicBezTo>
                  <a:pt x="202146" y="267891"/>
                  <a:pt x="199969" y="267109"/>
                  <a:pt x="198183" y="265714"/>
                </a:cubicBezTo>
                <a:lnTo>
                  <a:pt x="191932" y="260691"/>
                </a:lnTo>
                <a:cubicBezTo>
                  <a:pt x="184454" y="254719"/>
                  <a:pt x="173627" y="255668"/>
                  <a:pt x="167320" y="262868"/>
                </a:cubicBezTo>
                <a:lnTo>
                  <a:pt x="150298" y="282401"/>
                </a:lnTo>
                <a:cubicBezTo>
                  <a:pt x="148456" y="284522"/>
                  <a:pt x="145721" y="285750"/>
                  <a:pt x="142875" y="285750"/>
                </a:cubicBezTo>
                <a:cubicBezTo>
                  <a:pt x="140029" y="285750"/>
                  <a:pt x="137350" y="284522"/>
                  <a:pt x="135452" y="282401"/>
                </a:cubicBezTo>
                <a:lnTo>
                  <a:pt x="120607" y="265379"/>
                </a:lnTo>
                <a:cubicBezTo>
                  <a:pt x="113519" y="257231"/>
                  <a:pt x="100850" y="257231"/>
                  <a:pt x="93706" y="265379"/>
                </a:cubicBezTo>
                <a:lnTo>
                  <a:pt x="78860" y="282401"/>
                </a:lnTo>
                <a:cubicBezTo>
                  <a:pt x="77019" y="284522"/>
                  <a:pt x="74284" y="285750"/>
                  <a:pt x="71438" y="285750"/>
                </a:cubicBezTo>
                <a:cubicBezTo>
                  <a:pt x="68591" y="285750"/>
                  <a:pt x="65912" y="284522"/>
                  <a:pt x="64015" y="282401"/>
                </a:cubicBezTo>
                <a:lnTo>
                  <a:pt x="46992" y="262868"/>
                </a:lnTo>
                <a:cubicBezTo>
                  <a:pt x="40686" y="255668"/>
                  <a:pt x="29859" y="254719"/>
                  <a:pt x="22380" y="260691"/>
                </a:cubicBezTo>
                <a:close/>
                <a:moveTo>
                  <a:pt x="89297" y="107156"/>
                </a:moveTo>
                <a:cubicBezTo>
                  <a:pt x="89297" y="97299"/>
                  <a:pt x="81294" y="89297"/>
                  <a:pt x="71438" y="89297"/>
                </a:cubicBezTo>
                <a:cubicBezTo>
                  <a:pt x="61581" y="89297"/>
                  <a:pt x="53578" y="97299"/>
                  <a:pt x="53578" y="107156"/>
                </a:cubicBezTo>
                <a:cubicBezTo>
                  <a:pt x="53578" y="117013"/>
                  <a:pt x="61581" y="125016"/>
                  <a:pt x="71438" y="125016"/>
                </a:cubicBezTo>
                <a:cubicBezTo>
                  <a:pt x="81294" y="125016"/>
                  <a:pt x="89297" y="117013"/>
                  <a:pt x="89297" y="107156"/>
                </a:cubicBezTo>
                <a:close/>
                <a:moveTo>
                  <a:pt x="142875" y="125016"/>
                </a:moveTo>
                <a:cubicBezTo>
                  <a:pt x="152732" y="125016"/>
                  <a:pt x="160734" y="117013"/>
                  <a:pt x="160734" y="107156"/>
                </a:cubicBezTo>
                <a:cubicBezTo>
                  <a:pt x="160734" y="97299"/>
                  <a:pt x="152732" y="89297"/>
                  <a:pt x="142875" y="89297"/>
                </a:cubicBezTo>
                <a:cubicBezTo>
                  <a:pt x="133018" y="89297"/>
                  <a:pt x="125016" y="97299"/>
                  <a:pt x="125016" y="107156"/>
                </a:cubicBezTo>
                <a:cubicBezTo>
                  <a:pt x="125016" y="117013"/>
                  <a:pt x="133018" y="125016"/>
                  <a:pt x="142875" y="12501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4213" y="1743075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NAMCO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22725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5125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(1980)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5125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(1981)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5125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Dig Dug (1982)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2725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65588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gaming icons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16863" y="157638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650" y="17526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6" name="Text 24"/>
          <p:cNvSpPr/>
          <p:nvPr/>
        </p:nvSpPr>
        <p:spPr>
          <a:xfrm>
            <a:off x="8755038" y="1743075"/>
            <a:ext cx="542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TAITO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3550" y="220027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5950" y="24669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Space Invaders (1978)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35950" y="27717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Bubble Bobble (1986)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35950" y="307657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Arkanoid (1986)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83550" y="341947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326413" y="349567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Started the golden 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9528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0075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14467" y="171283"/>
                </a:moveTo>
                <a:cubicBezTo>
                  <a:pt x="130150" y="186965"/>
                  <a:pt x="155600" y="186965"/>
                  <a:pt x="171283" y="171283"/>
                </a:cubicBezTo>
                <a:cubicBezTo>
                  <a:pt x="176529" y="166036"/>
                  <a:pt x="185012" y="166036"/>
                  <a:pt x="190202" y="171283"/>
                </a:cubicBezTo>
                <a:cubicBezTo>
                  <a:pt x="195393" y="176529"/>
                  <a:pt x="195449" y="185012"/>
                  <a:pt x="190202" y="190202"/>
                </a:cubicBezTo>
                <a:cubicBezTo>
                  <a:pt x="164027" y="216377"/>
                  <a:pt x="121667" y="216377"/>
                  <a:pt x="95492" y="190202"/>
                </a:cubicBezTo>
                <a:cubicBezTo>
                  <a:pt x="69317" y="164027"/>
                  <a:pt x="69317" y="121667"/>
                  <a:pt x="95492" y="95492"/>
                </a:cubicBezTo>
                <a:cubicBezTo>
                  <a:pt x="121667" y="69317"/>
                  <a:pt x="164027" y="69317"/>
                  <a:pt x="190202" y="95492"/>
                </a:cubicBezTo>
                <a:cubicBezTo>
                  <a:pt x="195449" y="100738"/>
                  <a:pt x="195449" y="109221"/>
                  <a:pt x="190202" y="114412"/>
                </a:cubicBezTo>
                <a:cubicBezTo>
                  <a:pt x="184956" y="119602"/>
                  <a:pt x="176473" y="119658"/>
                  <a:pt x="171283" y="114412"/>
                </a:cubicBezTo>
                <a:cubicBezTo>
                  <a:pt x="155600" y="98729"/>
                  <a:pt x="130150" y="98729"/>
                  <a:pt x="114467" y="114412"/>
                </a:cubicBezTo>
                <a:cubicBezTo>
                  <a:pt x="98785" y="130094"/>
                  <a:pt x="98785" y="155544"/>
                  <a:pt x="114467" y="171227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5" name="Text 33"/>
          <p:cNvSpPr/>
          <p:nvPr/>
        </p:nvSpPr>
        <p:spPr>
          <a:xfrm>
            <a:off x="1033462" y="42767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197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437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Donkey Kong (1981)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437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Mario Bros. (1983)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37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Popeye (1982)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97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0483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Created Mario universe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56038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2966" y="42862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50075" y="47551"/>
                </a:moveTo>
                <a:lnTo>
                  <a:pt x="84999" y="119881"/>
                </a:lnTo>
                <a:cubicBezTo>
                  <a:pt x="82432" y="122727"/>
                  <a:pt x="82544" y="127136"/>
                  <a:pt x="85279" y="129871"/>
                </a:cubicBezTo>
                <a:cubicBezTo>
                  <a:pt x="102301" y="146893"/>
                  <a:pt x="129927" y="146893"/>
                  <a:pt x="146949" y="129871"/>
                </a:cubicBezTo>
                <a:lnTo>
                  <a:pt x="164697" y="112123"/>
                </a:lnTo>
                <a:cubicBezTo>
                  <a:pt x="167041" y="109779"/>
                  <a:pt x="169999" y="108496"/>
                  <a:pt x="173013" y="108272"/>
                </a:cubicBezTo>
                <a:cubicBezTo>
                  <a:pt x="176808" y="107938"/>
                  <a:pt x="180715" y="109221"/>
                  <a:pt x="183617" y="112123"/>
                </a:cubicBezTo>
                <a:lnTo>
                  <a:pt x="282178" y="209848"/>
                </a:lnTo>
                <a:lnTo>
                  <a:pt x="321469" y="178594"/>
                </a:lnTo>
                <a:lnTo>
                  <a:pt x="321469" y="17859"/>
                </a:lnTo>
                <a:lnTo>
                  <a:pt x="258961" y="53578"/>
                </a:lnTo>
                <a:lnTo>
                  <a:pt x="245678" y="44704"/>
                </a:lnTo>
                <a:cubicBezTo>
                  <a:pt x="236860" y="38844"/>
                  <a:pt x="226535" y="35719"/>
                  <a:pt x="215931" y="35719"/>
                </a:cubicBezTo>
                <a:lnTo>
                  <a:pt x="176640" y="35719"/>
                </a:lnTo>
                <a:cubicBezTo>
                  <a:pt x="176026" y="35719"/>
                  <a:pt x="175357" y="35719"/>
                  <a:pt x="174743" y="35775"/>
                </a:cubicBezTo>
                <a:cubicBezTo>
                  <a:pt x="165311" y="36277"/>
                  <a:pt x="156437" y="40518"/>
                  <a:pt x="150075" y="47551"/>
                </a:cubicBezTo>
                <a:close/>
                <a:moveTo>
                  <a:pt x="65075" y="101966"/>
                </a:moveTo>
                <a:lnTo>
                  <a:pt x="124681" y="35719"/>
                </a:lnTo>
                <a:lnTo>
                  <a:pt x="102580" y="35719"/>
                </a:lnTo>
                <a:cubicBezTo>
                  <a:pt x="88348" y="35719"/>
                  <a:pt x="74730" y="41356"/>
                  <a:pt x="64684" y="51402"/>
                </a:cubicBezTo>
                <a:lnTo>
                  <a:pt x="62508" y="53578"/>
                </a:lnTo>
                <a:lnTo>
                  <a:pt x="0" y="17859"/>
                </a:lnTo>
                <a:lnTo>
                  <a:pt x="0" y="178594"/>
                </a:lnTo>
                <a:lnTo>
                  <a:pt x="87288" y="251315"/>
                </a:lnTo>
                <a:cubicBezTo>
                  <a:pt x="100124" y="262031"/>
                  <a:pt x="116309" y="267891"/>
                  <a:pt x="132997" y="267891"/>
                </a:cubicBezTo>
                <a:lnTo>
                  <a:pt x="141759" y="267891"/>
                </a:lnTo>
                <a:lnTo>
                  <a:pt x="137852" y="263984"/>
                </a:lnTo>
                <a:cubicBezTo>
                  <a:pt x="132606" y="258738"/>
                  <a:pt x="132606" y="250254"/>
                  <a:pt x="137852" y="245064"/>
                </a:cubicBezTo>
                <a:cubicBezTo>
                  <a:pt x="143098" y="239874"/>
                  <a:pt x="151581" y="239818"/>
                  <a:pt x="156772" y="245064"/>
                </a:cubicBezTo>
                <a:lnTo>
                  <a:pt x="179654" y="267946"/>
                </a:lnTo>
                <a:lnTo>
                  <a:pt x="184677" y="267946"/>
                </a:lnTo>
                <a:cubicBezTo>
                  <a:pt x="195337" y="267946"/>
                  <a:pt x="205773" y="265547"/>
                  <a:pt x="215261" y="261082"/>
                </a:cubicBezTo>
                <a:lnTo>
                  <a:pt x="200360" y="246125"/>
                </a:lnTo>
                <a:cubicBezTo>
                  <a:pt x="195114" y="240878"/>
                  <a:pt x="195114" y="232395"/>
                  <a:pt x="200360" y="227205"/>
                </a:cubicBezTo>
                <a:cubicBezTo>
                  <a:pt x="205606" y="222014"/>
                  <a:pt x="214089" y="221959"/>
                  <a:pt x="219280" y="227205"/>
                </a:cubicBezTo>
                <a:lnTo>
                  <a:pt x="237139" y="245064"/>
                </a:lnTo>
                <a:lnTo>
                  <a:pt x="246906" y="235297"/>
                </a:lnTo>
                <a:cubicBezTo>
                  <a:pt x="251873" y="230330"/>
                  <a:pt x="253324" y="223131"/>
                  <a:pt x="251147" y="216824"/>
                </a:cubicBezTo>
                <a:lnTo>
                  <a:pt x="174185" y="140475"/>
                </a:lnTo>
                <a:lnTo>
                  <a:pt x="165869" y="148791"/>
                </a:lnTo>
                <a:cubicBezTo>
                  <a:pt x="138354" y="176306"/>
                  <a:pt x="93818" y="176306"/>
                  <a:pt x="66303" y="148791"/>
                </a:cubicBezTo>
                <a:cubicBezTo>
                  <a:pt x="53467" y="135954"/>
                  <a:pt x="52964" y="115360"/>
                  <a:pt x="65075" y="10191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4213" y="4276725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MIDWAY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22725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5125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Pac-Man (US dist.)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75125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Ms. Pac-Man (1982)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75125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Galaga (US dist.)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22725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65588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Major US distributor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16863" y="4110038"/>
            <a:ext cx="3676650" cy="2352675"/>
          </a:xfrm>
          <a:custGeom>
            <a:avLst/>
            <a:gdLst/>
            <a:ahLst/>
            <a:cxnLst/>
            <a:rect l="l" t="t" r="r" b="b"/>
            <a:pathLst>
              <a:path w="3676650" h="2352675">
                <a:moveTo>
                  <a:pt x="0" y="0"/>
                </a:moveTo>
                <a:lnTo>
                  <a:pt x="3676650" y="0"/>
                </a:lnTo>
                <a:lnTo>
                  <a:pt x="36766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650" y="4286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3" name="Text 51"/>
          <p:cNvSpPr/>
          <p:nvPr/>
        </p:nvSpPr>
        <p:spPr>
          <a:xfrm>
            <a:off x="8755038" y="4276725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WILLIAMS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3550" y="4733925"/>
            <a:ext cx="7027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Games: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35950" y="50006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Defender (1981)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35950" y="53054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Joust (1982)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35950" y="5610225"/>
            <a:ext cx="326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• Robotron 2084 (1982)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83550" y="5953125"/>
            <a:ext cx="3343275" cy="342900"/>
          </a:xfrm>
          <a:custGeom>
            <a:avLst/>
            <a:gdLst/>
            <a:ahLst/>
            <a:cxnLst/>
            <a:rect l="l" t="t" r="r" b="b"/>
            <a:pathLst>
              <a:path w="3343275" h="342900">
                <a:moveTo>
                  <a:pt x="0" y="0"/>
                </a:moveTo>
                <a:lnTo>
                  <a:pt x="3343275" y="0"/>
                </a:lnTo>
                <a:lnTo>
                  <a:pt x="33432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326413" y="6029325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Innovative gameplay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54dfb5c4d33cb4a05d16def8318f85ae5f5bb5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4305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67640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812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CULTURAL IMPACT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&amp; LEGACY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32435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29150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Niche Hobby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 Global Phenomenon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5791"/>
          </a:xfrm>
          <a:custGeom>
            <a:avLst/>
            <a:gdLst/>
            <a:ahLst/>
            <a:cxnLst/>
            <a:rect l="l" t="t" r="r" b="b"/>
            <a:pathLst>
              <a:path w="12192000" h="6855791">
                <a:moveTo>
                  <a:pt x="0" y="0"/>
                </a:moveTo>
                <a:lnTo>
                  <a:pt x="12192000" y="0"/>
                </a:lnTo>
                <a:lnTo>
                  <a:pt x="12192000" y="6855791"/>
                </a:lnTo>
                <a:lnTo>
                  <a:pt x="0" y="685579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3391" y="353391"/>
            <a:ext cx="11697252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ARCADES AS SOCIAL HUBS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883478"/>
            <a:ext cx="11591235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Where Youth Culture Thrived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272209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6643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4765" y="1652104"/>
            <a:ext cx="530087" cy="424070"/>
          </a:xfrm>
          <a:custGeom>
            <a:avLst/>
            <a:gdLst/>
            <a:ahLst/>
            <a:cxnLst/>
            <a:rect l="l" t="t" r="r" b="b"/>
            <a:pathLst>
              <a:path w="530087" h="424070">
                <a:moveTo>
                  <a:pt x="265043" y="13252"/>
                </a:moveTo>
                <a:cubicBezTo>
                  <a:pt x="312585" y="13252"/>
                  <a:pt x="351183" y="51850"/>
                  <a:pt x="351183" y="99391"/>
                </a:cubicBezTo>
                <a:cubicBezTo>
                  <a:pt x="351183" y="146933"/>
                  <a:pt x="312585" y="185530"/>
                  <a:pt x="265043" y="185530"/>
                </a:cubicBezTo>
                <a:cubicBezTo>
                  <a:pt x="217502" y="185530"/>
                  <a:pt x="178904" y="146933"/>
                  <a:pt x="178904" y="99391"/>
                </a:cubicBezTo>
                <a:cubicBezTo>
                  <a:pt x="178904" y="51850"/>
                  <a:pt x="217502" y="13252"/>
                  <a:pt x="265043" y="13252"/>
                </a:cubicBezTo>
                <a:close/>
                <a:moveTo>
                  <a:pt x="79513" y="72887"/>
                </a:moveTo>
                <a:cubicBezTo>
                  <a:pt x="112426" y="72887"/>
                  <a:pt x="139148" y="99608"/>
                  <a:pt x="139148" y="132522"/>
                </a:cubicBezTo>
                <a:cubicBezTo>
                  <a:pt x="139148" y="165435"/>
                  <a:pt x="112426" y="192157"/>
                  <a:pt x="79513" y="192157"/>
                </a:cubicBezTo>
                <a:cubicBezTo>
                  <a:pt x="46600" y="192157"/>
                  <a:pt x="19878" y="165435"/>
                  <a:pt x="19878" y="132522"/>
                </a:cubicBezTo>
                <a:cubicBezTo>
                  <a:pt x="19878" y="99608"/>
                  <a:pt x="46600" y="72887"/>
                  <a:pt x="79513" y="72887"/>
                </a:cubicBezTo>
                <a:close/>
                <a:moveTo>
                  <a:pt x="0" y="344557"/>
                </a:moveTo>
                <a:cubicBezTo>
                  <a:pt x="0" y="285998"/>
                  <a:pt x="47459" y="238539"/>
                  <a:pt x="106017" y="238539"/>
                </a:cubicBezTo>
                <a:cubicBezTo>
                  <a:pt x="116619" y="238539"/>
                  <a:pt x="126890" y="240113"/>
                  <a:pt x="136580" y="243012"/>
                </a:cubicBezTo>
                <a:cubicBezTo>
                  <a:pt x="109330" y="273492"/>
                  <a:pt x="92765" y="313745"/>
                  <a:pt x="92765" y="357809"/>
                </a:cubicBezTo>
                <a:lnTo>
                  <a:pt x="92765" y="371061"/>
                </a:lnTo>
                <a:cubicBezTo>
                  <a:pt x="92765" y="380503"/>
                  <a:pt x="94753" y="389448"/>
                  <a:pt x="98315" y="397565"/>
                </a:cubicBezTo>
                <a:lnTo>
                  <a:pt x="26504" y="397565"/>
                </a:lnTo>
                <a:cubicBezTo>
                  <a:pt x="11844" y="397565"/>
                  <a:pt x="0" y="385721"/>
                  <a:pt x="0" y="371061"/>
                </a:cubicBezTo>
                <a:lnTo>
                  <a:pt x="0" y="344557"/>
                </a:lnTo>
                <a:close/>
                <a:moveTo>
                  <a:pt x="431772" y="397565"/>
                </a:moveTo>
                <a:cubicBezTo>
                  <a:pt x="435334" y="389448"/>
                  <a:pt x="437322" y="380503"/>
                  <a:pt x="437322" y="371061"/>
                </a:cubicBezTo>
                <a:lnTo>
                  <a:pt x="437322" y="357809"/>
                </a:lnTo>
                <a:cubicBezTo>
                  <a:pt x="437322" y="313745"/>
                  <a:pt x="420757" y="273492"/>
                  <a:pt x="393507" y="243012"/>
                </a:cubicBezTo>
                <a:cubicBezTo>
                  <a:pt x="403197" y="240113"/>
                  <a:pt x="413468" y="238539"/>
                  <a:pt x="424070" y="238539"/>
                </a:cubicBezTo>
                <a:cubicBezTo>
                  <a:pt x="482628" y="238539"/>
                  <a:pt x="530087" y="285998"/>
                  <a:pt x="530087" y="344557"/>
                </a:cubicBezTo>
                <a:lnTo>
                  <a:pt x="530087" y="371061"/>
                </a:lnTo>
                <a:cubicBezTo>
                  <a:pt x="530087" y="385721"/>
                  <a:pt x="518243" y="397565"/>
                  <a:pt x="503583" y="397565"/>
                </a:cubicBezTo>
                <a:lnTo>
                  <a:pt x="431772" y="397565"/>
                </a:lnTo>
                <a:close/>
                <a:moveTo>
                  <a:pt x="390939" y="132522"/>
                </a:moveTo>
                <a:cubicBezTo>
                  <a:pt x="390939" y="99608"/>
                  <a:pt x="417661" y="72887"/>
                  <a:pt x="450574" y="72887"/>
                </a:cubicBezTo>
                <a:cubicBezTo>
                  <a:pt x="483487" y="72887"/>
                  <a:pt x="510209" y="99608"/>
                  <a:pt x="510209" y="132522"/>
                </a:cubicBezTo>
                <a:cubicBezTo>
                  <a:pt x="510209" y="165435"/>
                  <a:pt x="483487" y="192157"/>
                  <a:pt x="450574" y="192157"/>
                </a:cubicBezTo>
                <a:cubicBezTo>
                  <a:pt x="417661" y="192157"/>
                  <a:pt x="390939" y="165435"/>
                  <a:pt x="390939" y="132522"/>
                </a:cubicBezTo>
                <a:close/>
                <a:moveTo>
                  <a:pt x="132522" y="357809"/>
                </a:moveTo>
                <a:cubicBezTo>
                  <a:pt x="132522" y="284590"/>
                  <a:pt x="191825" y="225287"/>
                  <a:pt x="265043" y="225287"/>
                </a:cubicBezTo>
                <a:cubicBezTo>
                  <a:pt x="338262" y="225287"/>
                  <a:pt x="397565" y="284590"/>
                  <a:pt x="397565" y="357809"/>
                </a:cubicBezTo>
                <a:lnTo>
                  <a:pt x="397565" y="371061"/>
                </a:lnTo>
                <a:cubicBezTo>
                  <a:pt x="397565" y="385721"/>
                  <a:pt x="385721" y="397565"/>
                  <a:pt x="371061" y="397565"/>
                </a:cubicBezTo>
                <a:lnTo>
                  <a:pt x="159026" y="397565"/>
                </a:lnTo>
                <a:cubicBezTo>
                  <a:pt x="144366" y="397565"/>
                  <a:pt x="132522" y="385721"/>
                  <a:pt x="132522" y="371061"/>
                </a:cubicBezTo>
                <a:lnTo>
                  <a:pt x="132522" y="357809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50358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GATHERING PLACES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683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became the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malls of the 80s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—where teenagers hung out, made friends, and built communities around shared interests.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083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8196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119518" y="0"/>
                </a:moveTo>
                <a:lnTo>
                  <a:pt x="305048" y="0"/>
                </a:lnTo>
                <a:cubicBezTo>
                  <a:pt x="326997" y="0"/>
                  <a:pt x="344888" y="18056"/>
                  <a:pt x="344060" y="39922"/>
                </a:cubicBezTo>
                <a:cubicBezTo>
                  <a:pt x="343894" y="44312"/>
                  <a:pt x="343728" y="48702"/>
                  <a:pt x="343480" y="53009"/>
                </a:cubicBezTo>
                <a:lnTo>
                  <a:pt x="384562" y="53009"/>
                </a:lnTo>
                <a:cubicBezTo>
                  <a:pt x="406179" y="53009"/>
                  <a:pt x="425229" y="70899"/>
                  <a:pt x="423573" y="94256"/>
                </a:cubicBezTo>
                <a:cubicBezTo>
                  <a:pt x="417361" y="180147"/>
                  <a:pt x="373463" y="227358"/>
                  <a:pt x="325838" y="252040"/>
                </a:cubicBezTo>
                <a:cubicBezTo>
                  <a:pt x="312751" y="258832"/>
                  <a:pt x="299416" y="263884"/>
                  <a:pt x="286744" y="267611"/>
                </a:cubicBezTo>
                <a:cubicBezTo>
                  <a:pt x="270013" y="291299"/>
                  <a:pt x="252620" y="303806"/>
                  <a:pt x="238788" y="310515"/>
                </a:cubicBezTo>
                <a:lnTo>
                  <a:pt x="238788" y="371061"/>
                </a:lnTo>
                <a:lnTo>
                  <a:pt x="291796" y="371061"/>
                </a:lnTo>
                <a:cubicBezTo>
                  <a:pt x="306457" y="371061"/>
                  <a:pt x="318301" y="382905"/>
                  <a:pt x="318301" y="397565"/>
                </a:cubicBezTo>
                <a:cubicBezTo>
                  <a:pt x="318301" y="412225"/>
                  <a:pt x="306457" y="424070"/>
                  <a:pt x="291796" y="424070"/>
                </a:cubicBezTo>
                <a:lnTo>
                  <a:pt x="132770" y="424070"/>
                </a:lnTo>
                <a:cubicBezTo>
                  <a:pt x="118110" y="424070"/>
                  <a:pt x="106266" y="412225"/>
                  <a:pt x="106266" y="397565"/>
                </a:cubicBezTo>
                <a:cubicBezTo>
                  <a:pt x="106266" y="382905"/>
                  <a:pt x="118110" y="371061"/>
                  <a:pt x="132770" y="371061"/>
                </a:cubicBezTo>
                <a:lnTo>
                  <a:pt x="185779" y="371061"/>
                </a:lnTo>
                <a:lnTo>
                  <a:pt x="185779" y="310515"/>
                </a:lnTo>
                <a:cubicBezTo>
                  <a:pt x="172527" y="304137"/>
                  <a:pt x="156044" y="292293"/>
                  <a:pt x="139976" y="270510"/>
                </a:cubicBezTo>
                <a:cubicBezTo>
                  <a:pt x="124736" y="266534"/>
                  <a:pt x="108171" y="260488"/>
                  <a:pt x="92020" y="251377"/>
                </a:cubicBezTo>
                <a:cubicBezTo>
                  <a:pt x="47211" y="226281"/>
                  <a:pt x="6792" y="178987"/>
                  <a:pt x="994" y="94090"/>
                </a:cubicBezTo>
                <a:cubicBezTo>
                  <a:pt x="-580" y="70816"/>
                  <a:pt x="18387" y="52926"/>
                  <a:pt x="40005" y="52926"/>
                </a:cubicBezTo>
                <a:lnTo>
                  <a:pt x="81087" y="52926"/>
                </a:lnTo>
                <a:cubicBezTo>
                  <a:pt x="80838" y="48619"/>
                  <a:pt x="80673" y="44312"/>
                  <a:pt x="80507" y="39839"/>
                </a:cubicBezTo>
                <a:cubicBezTo>
                  <a:pt x="79679" y="17890"/>
                  <a:pt x="97569" y="-83"/>
                  <a:pt x="119518" y="-83"/>
                </a:cubicBezTo>
                <a:close/>
                <a:moveTo>
                  <a:pt x="84068" y="92765"/>
                </a:moveTo>
                <a:lnTo>
                  <a:pt x="40668" y="92765"/>
                </a:lnTo>
                <a:cubicBezTo>
                  <a:pt x="45803" y="162919"/>
                  <a:pt x="78022" y="198037"/>
                  <a:pt x="111235" y="216673"/>
                </a:cubicBezTo>
                <a:cubicBezTo>
                  <a:pt x="99308" y="185779"/>
                  <a:pt x="89452" y="145443"/>
                  <a:pt x="84068" y="92765"/>
                </a:cubicBezTo>
                <a:close/>
                <a:moveTo>
                  <a:pt x="314739" y="212697"/>
                </a:moveTo>
                <a:cubicBezTo>
                  <a:pt x="348284" y="192985"/>
                  <a:pt x="378598" y="157949"/>
                  <a:pt x="383733" y="92765"/>
                </a:cubicBezTo>
                <a:lnTo>
                  <a:pt x="340415" y="92765"/>
                </a:lnTo>
                <a:cubicBezTo>
                  <a:pt x="335280" y="143206"/>
                  <a:pt x="326003" y="182383"/>
                  <a:pt x="314739" y="21269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2" name="Text 10"/>
          <p:cNvSpPr/>
          <p:nvPr/>
        </p:nvSpPr>
        <p:spPr>
          <a:xfrm>
            <a:off x="437777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HIGH-SCORE WARS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1025" y="2606261"/>
            <a:ext cx="3410226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Competing for top scores created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currency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Being the best at Pac-Man or Donkey Kong brought status and respect.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5024" y="1462157"/>
            <a:ext cx="3710609" cy="2111513"/>
          </a:xfrm>
          <a:custGeom>
            <a:avLst/>
            <a:gdLst/>
            <a:ahLst/>
            <a:cxnLst/>
            <a:rect l="l" t="t" r="r" b="b"/>
            <a:pathLst>
              <a:path w="3710609" h="2111513">
                <a:moveTo>
                  <a:pt x="0" y="0"/>
                </a:moveTo>
                <a:lnTo>
                  <a:pt x="3710609" y="0"/>
                </a:lnTo>
                <a:lnTo>
                  <a:pt x="3710609" y="2111513"/>
                </a:lnTo>
                <a:lnTo>
                  <a:pt x="0" y="2111513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6154" y="1652104"/>
            <a:ext cx="424070" cy="424070"/>
          </a:xfrm>
          <a:custGeom>
            <a:avLst/>
            <a:gdLst/>
            <a:ahLst/>
            <a:cxnLst/>
            <a:rect l="l" t="t" r="r" b="b"/>
            <a:pathLst>
              <a:path w="424070" h="424070">
                <a:moveTo>
                  <a:pt x="230091" y="7123"/>
                </a:moveTo>
                <a:cubicBezTo>
                  <a:pt x="219903" y="-2319"/>
                  <a:pt x="204166" y="-2319"/>
                  <a:pt x="194062" y="7123"/>
                </a:cubicBezTo>
                <a:lnTo>
                  <a:pt x="8531" y="179401"/>
                </a:lnTo>
                <a:cubicBezTo>
                  <a:pt x="580" y="186856"/>
                  <a:pt x="-2071" y="198368"/>
                  <a:pt x="1905" y="208473"/>
                </a:cubicBezTo>
                <a:cubicBezTo>
                  <a:pt x="5881" y="218578"/>
                  <a:pt x="15571" y="225287"/>
                  <a:pt x="26504" y="225287"/>
                </a:cubicBezTo>
                <a:lnTo>
                  <a:pt x="39757" y="225287"/>
                </a:lnTo>
                <a:lnTo>
                  <a:pt x="39757" y="371061"/>
                </a:lnTo>
                <a:cubicBezTo>
                  <a:pt x="39757" y="400298"/>
                  <a:pt x="63528" y="424070"/>
                  <a:pt x="92765" y="424070"/>
                </a:cubicBezTo>
                <a:lnTo>
                  <a:pt x="331304" y="424070"/>
                </a:lnTo>
                <a:cubicBezTo>
                  <a:pt x="360542" y="424070"/>
                  <a:pt x="384313" y="400298"/>
                  <a:pt x="384313" y="371061"/>
                </a:cubicBezTo>
                <a:lnTo>
                  <a:pt x="384313" y="225287"/>
                </a:lnTo>
                <a:lnTo>
                  <a:pt x="397565" y="225287"/>
                </a:lnTo>
                <a:cubicBezTo>
                  <a:pt x="408498" y="225287"/>
                  <a:pt x="418272" y="218578"/>
                  <a:pt x="422247" y="208473"/>
                </a:cubicBezTo>
                <a:cubicBezTo>
                  <a:pt x="426223" y="198368"/>
                  <a:pt x="423573" y="186773"/>
                  <a:pt x="415621" y="179401"/>
                </a:cubicBezTo>
                <a:lnTo>
                  <a:pt x="230091" y="7123"/>
                </a:lnTo>
                <a:close/>
                <a:moveTo>
                  <a:pt x="198783" y="265043"/>
                </a:moveTo>
                <a:lnTo>
                  <a:pt x="225287" y="265043"/>
                </a:lnTo>
                <a:cubicBezTo>
                  <a:pt x="247236" y="265043"/>
                  <a:pt x="265043" y="282851"/>
                  <a:pt x="265043" y="304800"/>
                </a:cubicBezTo>
                <a:lnTo>
                  <a:pt x="265043" y="384313"/>
                </a:lnTo>
                <a:lnTo>
                  <a:pt x="159026" y="384313"/>
                </a:lnTo>
                <a:lnTo>
                  <a:pt x="159026" y="304800"/>
                </a:lnTo>
                <a:cubicBezTo>
                  <a:pt x="159026" y="282851"/>
                  <a:pt x="176834" y="265043"/>
                  <a:pt x="198783" y="265043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51963" y="2217530"/>
            <a:ext cx="343673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 SAFE HAVEN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5215" y="2606261"/>
            <a:ext cx="3410226" cy="52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many teens, arcades offered a </a:t>
            </a:r>
            <a:pPr algn="ctr">
              <a:lnSpc>
                <a:spcPct val="140000"/>
              </a:lnSpc>
            </a:pPr>
            <a:r>
              <a:rPr lang="en-US" sz="1252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refuge</a:t>
            </a:r>
            <a:pPr algn="ctr">
              <a:lnSpc>
                <a:spcPct val="14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—a place to escape, belong, and connect with like-minded peers.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6643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3583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EXPLOSION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6591" y="4353339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2609" y="4477026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(1980)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93898" y="4459357"/>
            <a:ext cx="494748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4,000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591" y="4954104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62609" y="5077791"/>
            <a:ext cx="162560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Video Game Arcades (1982)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36874" y="5060122"/>
            <a:ext cx="64493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10,000+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6591" y="5554870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2609" y="5678557"/>
            <a:ext cx="115735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 Arcades (1982)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9684" y="5660887"/>
            <a:ext cx="583096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24,000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6591" y="6155635"/>
            <a:ext cx="5230191" cy="494748"/>
          </a:xfrm>
          <a:custGeom>
            <a:avLst/>
            <a:gdLst/>
            <a:ahLst/>
            <a:cxnLst/>
            <a:rect l="l" t="t" r="r" b="b"/>
            <a:pathLst>
              <a:path w="5230191" h="494748">
                <a:moveTo>
                  <a:pt x="0" y="0"/>
                </a:moveTo>
                <a:lnTo>
                  <a:pt x="5230191" y="0"/>
                </a:lnTo>
                <a:lnTo>
                  <a:pt x="5230191" y="494748"/>
                </a:lnTo>
                <a:lnTo>
                  <a:pt x="0" y="49474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62609" y="6279322"/>
            <a:ext cx="1413565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Active Machines (1982)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71981" y="6261652"/>
            <a:ext cx="812800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1.5 Million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3268" y="3739322"/>
            <a:ext cx="5610087" cy="3101009"/>
          </a:xfrm>
          <a:custGeom>
            <a:avLst/>
            <a:gdLst/>
            <a:ahLst/>
            <a:cxnLst/>
            <a:rect l="l" t="t" r="r" b="b"/>
            <a:pathLst>
              <a:path w="5610087" h="3101009">
                <a:moveTo>
                  <a:pt x="0" y="0"/>
                </a:moveTo>
                <a:lnTo>
                  <a:pt x="5610087" y="0"/>
                </a:lnTo>
                <a:lnTo>
                  <a:pt x="5610087" y="3101009"/>
                </a:lnTo>
                <a:lnTo>
                  <a:pt x="0" y="3101009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0207" y="3929270"/>
            <a:ext cx="5336209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DYNAMICS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3216" y="4353339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20277" y="4494696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06811" y="-6523"/>
                </a:moveTo>
                <a:cubicBezTo>
                  <a:pt x="105396" y="-9283"/>
                  <a:pt x="102532" y="-11043"/>
                  <a:pt x="99426" y="-11043"/>
                </a:cubicBezTo>
                <a:cubicBezTo>
                  <a:pt x="96320" y="-11043"/>
                  <a:pt x="93455" y="-9283"/>
                  <a:pt x="92040" y="-6523"/>
                </a:cubicBezTo>
                <a:lnTo>
                  <a:pt x="66640" y="43242"/>
                </a:lnTo>
                <a:lnTo>
                  <a:pt x="11458" y="52008"/>
                </a:lnTo>
                <a:cubicBezTo>
                  <a:pt x="8386" y="52491"/>
                  <a:pt x="5832" y="54665"/>
                  <a:pt x="4866" y="57633"/>
                </a:cubicBezTo>
                <a:cubicBezTo>
                  <a:pt x="3900" y="60601"/>
                  <a:pt x="4693" y="63845"/>
                  <a:pt x="6868" y="66054"/>
                </a:cubicBezTo>
                <a:lnTo>
                  <a:pt x="46348" y="105569"/>
                </a:lnTo>
                <a:lnTo>
                  <a:pt x="37651" y="160752"/>
                </a:lnTo>
                <a:cubicBezTo>
                  <a:pt x="37168" y="163823"/>
                  <a:pt x="38445" y="166929"/>
                  <a:pt x="40964" y="168758"/>
                </a:cubicBezTo>
                <a:cubicBezTo>
                  <a:pt x="43484" y="170587"/>
                  <a:pt x="46797" y="170863"/>
                  <a:pt x="49592" y="169448"/>
                </a:cubicBezTo>
                <a:lnTo>
                  <a:pt x="99426" y="144117"/>
                </a:lnTo>
                <a:lnTo>
                  <a:pt x="149225" y="169448"/>
                </a:lnTo>
                <a:cubicBezTo>
                  <a:pt x="151986" y="170863"/>
                  <a:pt x="155333" y="170587"/>
                  <a:pt x="157853" y="168758"/>
                </a:cubicBezTo>
                <a:cubicBezTo>
                  <a:pt x="160372" y="166929"/>
                  <a:pt x="161649" y="163858"/>
                  <a:pt x="161166" y="160752"/>
                </a:cubicBezTo>
                <a:lnTo>
                  <a:pt x="152435" y="105569"/>
                </a:lnTo>
                <a:lnTo>
                  <a:pt x="191915" y="66054"/>
                </a:lnTo>
                <a:cubicBezTo>
                  <a:pt x="194124" y="63845"/>
                  <a:pt x="194883" y="60601"/>
                  <a:pt x="193917" y="57633"/>
                </a:cubicBezTo>
                <a:cubicBezTo>
                  <a:pt x="192950" y="54665"/>
                  <a:pt x="190431" y="52491"/>
                  <a:pt x="187325" y="52008"/>
                </a:cubicBezTo>
                <a:lnTo>
                  <a:pt x="132177" y="43242"/>
                </a:lnTo>
                <a:lnTo>
                  <a:pt x="106811" y="-6523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6" name="Text 34"/>
          <p:cNvSpPr/>
          <p:nvPr/>
        </p:nvSpPr>
        <p:spPr>
          <a:xfrm>
            <a:off x="6836120" y="4459357"/>
            <a:ext cx="242073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Crowds gathered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around skilled players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3216" y="4918765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20277" y="5060122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132522" y="49696"/>
                </a:moveTo>
                <a:cubicBezTo>
                  <a:pt x="132522" y="83240"/>
                  <a:pt x="102842" y="110435"/>
                  <a:pt x="66261" y="110435"/>
                </a:cubicBezTo>
                <a:cubicBezTo>
                  <a:pt x="57046" y="110435"/>
                  <a:pt x="48281" y="108709"/>
                  <a:pt x="40309" y="105603"/>
                </a:cubicBezTo>
                <a:lnTo>
                  <a:pt x="12148" y="120512"/>
                </a:lnTo>
                <a:cubicBezTo>
                  <a:pt x="8938" y="122203"/>
                  <a:pt x="5004" y="121616"/>
                  <a:pt x="2416" y="119063"/>
                </a:cubicBezTo>
                <a:cubicBezTo>
                  <a:pt x="-173" y="116509"/>
                  <a:pt x="-759" y="112540"/>
                  <a:pt x="966" y="109330"/>
                </a:cubicBezTo>
                <a:lnTo>
                  <a:pt x="13252" y="86139"/>
                </a:lnTo>
                <a:cubicBezTo>
                  <a:pt x="4935" y="75993"/>
                  <a:pt x="0" y="63362"/>
                  <a:pt x="0" y="49696"/>
                </a:cubicBezTo>
                <a:cubicBezTo>
                  <a:pt x="0" y="16151"/>
                  <a:pt x="29679" y="-11043"/>
                  <a:pt x="66261" y="-11043"/>
                </a:cubicBezTo>
                <a:cubicBezTo>
                  <a:pt x="102842" y="-11043"/>
                  <a:pt x="132522" y="16151"/>
                  <a:pt x="132522" y="49696"/>
                </a:cubicBezTo>
                <a:close/>
                <a:moveTo>
                  <a:pt x="132522" y="176696"/>
                </a:moveTo>
                <a:cubicBezTo>
                  <a:pt x="100047" y="176696"/>
                  <a:pt x="73025" y="155264"/>
                  <a:pt x="67365" y="127000"/>
                </a:cubicBezTo>
                <a:cubicBezTo>
                  <a:pt x="108778" y="126482"/>
                  <a:pt x="144773" y="97010"/>
                  <a:pt x="148742" y="57046"/>
                </a:cubicBezTo>
                <a:cubicBezTo>
                  <a:pt x="177489" y="63673"/>
                  <a:pt x="198783" y="87520"/>
                  <a:pt x="198783" y="115957"/>
                </a:cubicBezTo>
                <a:cubicBezTo>
                  <a:pt x="198783" y="129623"/>
                  <a:pt x="193848" y="142254"/>
                  <a:pt x="185530" y="152400"/>
                </a:cubicBezTo>
                <a:lnTo>
                  <a:pt x="197816" y="175591"/>
                </a:lnTo>
                <a:cubicBezTo>
                  <a:pt x="199507" y="178801"/>
                  <a:pt x="198921" y="182735"/>
                  <a:pt x="196367" y="185323"/>
                </a:cubicBezTo>
                <a:cubicBezTo>
                  <a:pt x="193813" y="187912"/>
                  <a:pt x="189844" y="188498"/>
                  <a:pt x="186635" y="186773"/>
                </a:cubicBezTo>
                <a:lnTo>
                  <a:pt x="158474" y="171864"/>
                </a:lnTo>
                <a:cubicBezTo>
                  <a:pt x="150502" y="174970"/>
                  <a:pt x="141736" y="176696"/>
                  <a:pt x="132522" y="176696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9" name="Text 37"/>
          <p:cNvSpPr/>
          <p:nvPr/>
        </p:nvSpPr>
        <p:spPr>
          <a:xfrm>
            <a:off x="6836120" y="5024783"/>
            <a:ext cx="205850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Strategies shared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among players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3216" y="5484191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20277" y="5625548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2800" y="29403"/>
                </a:moveTo>
                <a:lnTo>
                  <a:pt x="52560" y="74129"/>
                </a:lnTo>
                <a:cubicBezTo>
                  <a:pt x="50973" y="75889"/>
                  <a:pt x="51042" y="78616"/>
                  <a:pt x="52733" y="80307"/>
                </a:cubicBezTo>
                <a:cubicBezTo>
                  <a:pt x="63258" y="90833"/>
                  <a:pt x="80341" y="90833"/>
                  <a:pt x="90867" y="80307"/>
                </a:cubicBezTo>
                <a:lnTo>
                  <a:pt x="101842" y="69332"/>
                </a:lnTo>
                <a:cubicBezTo>
                  <a:pt x="103291" y="67883"/>
                  <a:pt x="105120" y="67089"/>
                  <a:pt x="106984" y="66951"/>
                </a:cubicBezTo>
                <a:cubicBezTo>
                  <a:pt x="109330" y="66744"/>
                  <a:pt x="111746" y="67538"/>
                  <a:pt x="113541" y="69332"/>
                </a:cubicBezTo>
                <a:lnTo>
                  <a:pt x="174487" y="129761"/>
                </a:lnTo>
                <a:lnTo>
                  <a:pt x="198783" y="110435"/>
                </a:lnTo>
                <a:lnTo>
                  <a:pt x="198783" y="11043"/>
                </a:lnTo>
                <a:lnTo>
                  <a:pt x="160130" y="33130"/>
                </a:lnTo>
                <a:lnTo>
                  <a:pt x="151917" y="27643"/>
                </a:lnTo>
                <a:cubicBezTo>
                  <a:pt x="146464" y="24020"/>
                  <a:pt x="140080" y="22087"/>
                  <a:pt x="133523" y="22087"/>
                </a:cubicBezTo>
                <a:lnTo>
                  <a:pt x="109227" y="22087"/>
                </a:lnTo>
                <a:cubicBezTo>
                  <a:pt x="108847" y="22087"/>
                  <a:pt x="108433" y="22087"/>
                  <a:pt x="108054" y="22121"/>
                </a:cubicBezTo>
                <a:cubicBezTo>
                  <a:pt x="102221" y="22432"/>
                  <a:pt x="96734" y="25055"/>
                  <a:pt x="92800" y="29403"/>
                </a:cubicBezTo>
                <a:close/>
                <a:moveTo>
                  <a:pt x="40240" y="63051"/>
                </a:moveTo>
                <a:lnTo>
                  <a:pt x="77097" y="22087"/>
                </a:lnTo>
                <a:lnTo>
                  <a:pt x="63431" y="22087"/>
                </a:lnTo>
                <a:cubicBezTo>
                  <a:pt x="54631" y="22087"/>
                  <a:pt x="46210" y="25573"/>
                  <a:pt x="39998" y="31785"/>
                </a:cubicBezTo>
                <a:lnTo>
                  <a:pt x="38652" y="33130"/>
                </a:lnTo>
                <a:lnTo>
                  <a:pt x="0" y="11043"/>
                </a:lnTo>
                <a:lnTo>
                  <a:pt x="0" y="110435"/>
                </a:lnTo>
                <a:lnTo>
                  <a:pt x="53975" y="155402"/>
                </a:lnTo>
                <a:cubicBezTo>
                  <a:pt x="61912" y="162029"/>
                  <a:pt x="71921" y="165652"/>
                  <a:pt x="82239" y="165652"/>
                </a:cubicBezTo>
                <a:lnTo>
                  <a:pt x="87658" y="165652"/>
                </a:lnTo>
                <a:lnTo>
                  <a:pt x="85242" y="163236"/>
                </a:lnTo>
                <a:cubicBezTo>
                  <a:pt x="81998" y="159992"/>
                  <a:pt x="81998" y="154747"/>
                  <a:pt x="85242" y="151537"/>
                </a:cubicBezTo>
                <a:cubicBezTo>
                  <a:pt x="88486" y="148328"/>
                  <a:pt x="93732" y="148293"/>
                  <a:pt x="96941" y="151537"/>
                </a:cubicBezTo>
                <a:lnTo>
                  <a:pt x="111090" y="165687"/>
                </a:lnTo>
                <a:lnTo>
                  <a:pt x="114196" y="165687"/>
                </a:lnTo>
                <a:cubicBezTo>
                  <a:pt x="120788" y="165687"/>
                  <a:pt x="127242" y="164203"/>
                  <a:pt x="133108" y="161442"/>
                </a:cubicBezTo>
                <a:lnTo>
                  <a:pt x="123894" y="152193"/>
                </a:lnTo>
                <a:cubicBezTo>
                  <a:pt x="120650" y="148949"/>
                  <a:pt x="120650" y="143703"/>
                  <a:pt x="123894" y="140494"/>
                </a:cubicBezTo>
                <a:cubicBezTo>
                  <a:pt x="127138" y="137284"/>
                  <a:pt x="132384" y="137250"/>
                  <a:pt x="135593" y="140494"/>
                </a:cubicBezTo>
                <a:lnTo>
                  <a:pt x="146637" y="151537"/>
                </a:lnTo>
                <a:lnTo>
                  <a:pt x="152676" y="145498"/>
                </a:lnTo>
                <a:cubicBezTo>
                  <a:pt x="155748" y="142426"/>
                  <a:pt x="156645" y="137974"/>
                  <a:pt x="155299" y="134075"/>
                </a:cubicBezTo>
                <a:lnTo>
                  <a:pt x="107708" y="86864"/>
                </a:lnTo>
                <a:lnTo>
                  <a:pt x="102566" y="92006"/>
                </a:lnTo>
                <a:cubicBezTo>
                  <a:pt x="85552" y="109020"/>
                  <a:pt x="58013" y="109020"/>
                  <a:pt x="40999" y="92006"/>
                </a:cubicBezTo>
                <a:cubicBezTo>
                  <a:pt x="33061" y="84068"/>
                  <a:pt x="32751" y="71334"/>
                  <a:pt x="40240" y="6301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36120" y="5590209"/>
            <a:ext cx="2456070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Friendships formed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over shared passion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3216" y="6049617"/>
            <a:ext cx="5230191" cy="459409"/>
          </a:xfrm>
          <a:custGeom>
            <a:avLst/>
            <a:gdLst/>
            <a:ahLst/>
            <a:cxnLst/>
            <a:rect l="l" t="t" r="r" b="b"/>
            <a:pathLst>
              <a:path w="5230191" h="459409">
                <a:moveTo>
                  <a:pt x="0" y="0"/>
                </a:moveTo>
                <a:lnTo>
                  <a:pt x="5230191" y="0"/>
                </a:lnTo>
                <a:lnTo>
                  <a:pt x="5230191" y="459409"/>
                </a:lnTo>
                <a:lnTo>
                  <a:pt x="0" y="459409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2364" y="6190974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55390" y="-9111"/>
                </a:moveTo>
                <a:cubicBezTo>
                  <a:pt x="58599" y="-11803"/>
                  <a:pt x="63327" y="-11699"/>
                  <a:pt x="66399" y="-8800"/>
                </a:cubicBezTo>
                <a:cubicBezTo>
                  <a:pt x="70644" y="-4797"/>
                  <a:pt x="74440" y="-380"/>
                  <a:pt x="78098" y="4107"/>
                </a:cubicBezTo>
                <a:cubicBezTo>
                  <a:pt x="82757" y="9801"/>
                  <a:pt x="88348" y="17324"/>
                  <a:pt x="93732" y="26263"/>
                </a:cubicBezTo>
                <a:cubicBezTo>
                  <a:pt x="95526" y="23916"/>
                  <a:pt x="97183" y="21845"/>
                  <a:pt x="98632" y="20085"/>
                </a:cubicBezTo>
                <a:cubicBezTo>
                  <a:pt x="99012" y="19637"/>
                  <a:pt x="99391" y="19154"/>
                  <a:pt x="99771" y="18670"/>
                </a:cubicBezTo>
                <a:cubicBezTo>
                  <a:pt x="102497" y="15288"/>
                  <a:pt x="105879" y="11043"/>
                  <a:pt x="110400" y="11043"/>
                </a:cubicBezTo>
                <a:cubicBezTo>
                  <a:pt x="115025" y="11043"/>
                  <a:pt x="118269" y="15150"/>
                  <a:pt x="121030" y="18670"/>
                </a:cubicBezTo>
                <a:cubicBezTo>
                  <a:pt x="121478" y="19257"/>
                  <a:pt x="121927" y="19809"/>
                  <a:pt x="122376" y="20327"/>
                </a:cubicBezTo>
                <a:cubicBezTo>
                  <a:pt x="125930" y="24606"/>
                  <a:pt x="130658" y="30784"/>
                  <a:pt x="135386" y="38411"/>
                </a:cubicBezTo>
                <a:cubicBezTo>
                  <a:pt x="144773" y="53561"/>
                  <a:pt x="154574" y="75130"/>
                  <a:pt x="154574" y="99357"/>
                </a:cubicBezTo>
                <a:cubicBezTo>
                  <a:pt x="154574" y="142047"/>
                  <a:pt x="119960" y="176661"/>
                  <a:pt x="77270" y="176661"/>
                </a:cubicBezTo>
                <a:cubicBezTo>
                  <a:pt x="34580" y="176661"/>
                  <a:pt x="0" y="142081"/>
                  <a:pt x="0" y="99391"/>
                </a:cubicBezTo>
                <a:cubicBezTo>
                  <a:pt x="0" y="67952"/>
                  <a:pt x="14184" y="40723"/>
                  <a:pt x="27781" y="21742"/>
                </a:cubicBezTo>
                <a:cubicBezTo>
                  <a:pt x="34649" y="12182"/>
                  <a:pt x="41482" y="4521"/>
                  <a:pt x="46624" y="-725"/>
                </a:cubicBezTo>
                <a:cubicBezTo>
                  <a:pt x="49454" y="-3624"/>
                  <a:pt x="52318" y="-6488"/>
                  <a:pt x="55424" y="-9076"/>
                </a:cubicBezTo>
                <a:close/>
                <a:moveTo>
                  <a:pt x="77891" y="143565"/>
                </a:moveTo>
                <a:cubicBezTo>
                  <a:pt x="86622" y="143565"/>
                  <a:pt x="94353" y="141149"/>
                  <a:pt x="101635" y="136318"/>
                </a:cubicBezTo>
                <a:cubicBezTo>
                  <a:pt x="116164" y="126172"/>
                  <a:pt x="120063" y="105879"/>
                  <a:pt x="111332" y="89935"/>
                </a:cubicBezTo>
                <a:cubicBezTo>
                  <a:pt x="109779" y="86829"/>
                  <a:pt x="105810" y="86622"/>
                  <a:pt x="103567" y="89245"/>
                </a:cubicBezTo>
                <a:lnTo>
                  <a:pt x="94870" y="99357"/>
                </a:lnTo>
                <a:cubicBezTo>
                  <a:pt x="92593" y="101980"/>
                  <a:pt x="88486" y="101911"/>
                  <a:pt x="86346" y="99184"/>
                </a:cubicBezTo>
                <a:cubicBezTo>
                  <a:pt x="80376" y="91557"/>
                  <a:pt x="69401" y="77649"/>
                  <a:pt x="63811" y="70540"/>
                </a:cubicBezTo>
                <a:cubicBezTo>
                  <a:pt x="61947" y="68159"/>
                  <a:pt x="58565" y="67779"/>
                  <a:pt x="56391" y="69885"/>
                </a:cubicBezTo>
                <a:cubicBezTo>
                  <a:pt x="50075" y="76027"/>
                  <a:pt x="38618" y="89487"/>
                  <a:pt x="38618" y="105879"/>
                </a:cubicBezTo>
                <a:cubicBezTo>
                  <a:pt x="38618" y="129554"/>
                  <a:pt x="56080" y="143565"/>
                  <a:pt x="77857" y="14356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5" name="Text 43"/>
          <p:cNvSpPr/>
          <p:nvPr/>
        </p:nvSpPr>
        <p:spPr>
          <a:xfrm>
            <a:off x="6836120" y="6155635"/>
            <a:ext cx="2297043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Rivalries developed</a:t>
            </a:r>
            <a:pPr>
              <a:lnSpc>
                <a:spcPct val="130000"/>
              </a:lnSpc>
            </a:pPr>
            <a:r>
              <a:rPr lang="en-US" sz="125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between regulars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54419" y="354419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POP CULTURE INVASION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886047"/>
            <a:ext cx="1158948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Games Became Icons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4419" y="1275907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67709" y="1466407"/>
            <a:ext cx="5608674" cy="3180907"/>
          </a:xfrm>
          <a:custGeom>
            <a:avLst/>
            <a:gdLst/>
            <a:ahLst/>
            <a:cxnLst/>
            <a:rect l="l" t="t" r="r" b="b"/>
            <a:pathLst>
              <a:path w="5608674" h="3180907">
                <a:moveTo>
                  <a:pt x="0" y="0"/>
                </a:moveTo>
                <a:lnTo>
                  <a:pt x="5608674" y="0"/>
                </a:lnTo>
                <a:lnTo>
                  <a:pt x="5608674" y="3180907"/>
                </a:lnTo>
                <a:lnTo>
                  <a:pt x="0" y="318090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017" y="1656907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0" y="59808"/>
                </a:moveTo>
                <a:cubicBezTo>
                  <a:pt x="0" y="37816"/>
                  <a:pt x="17880" y="19936"/>
                  <a:pt x="39872" y="19936"/>
                </a:cubicBezTo>
                <a:lnTo>
                  <a:pt x="239233" y="19936"/>
                </a:lnTo>
                <a:cubicBezTo>
                  <a:pt x="261225" y="19936"/>
                  <a:pt x="279105" y="37816"/>
                  <a:pt x="279105" y="59808"/>
                </a:cubicBezTo>
                <a:lnTo>
                  <a:pt x="279105" y="259169"/>
                </a:lnTo>
                <a:cubicBezTo>
                  <a:pt x="279105" y="281161"/>
                  <a:pt x="261225" y="299041"/>
                  <a:pt x="239233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lnTo>
                  <a:pt x="0" y="59808"/>
                </a:lnTo>
                <a:close/>
                <a:moveTo>
                  <a:pt x="29904" y="229265"/>
                </a:moveTo>
                <a:lnTo>
                  <a:pt x="29904" y="249201"/>
                </a:lnTo>
                <a:cubicBezTo>
                  <a:pt x="29904" y="254683"/>
                  <a:pt x="34390" y="259169"/>
                  <a:pt x="39872" y="259169"/>
                </a:cubicBezTo>
                <a:lnTo>
                  <a:pt x="59808" y="259169"/>
                </a:lnTo>
                <a:cubicBezTo>
                  <a:pt x="65291" y="259169"/>
                  <a:pt x="69776" y="254683"/>
                  <a:pt x="69776" y="249201"/>
                </a:cubicBezTo>
                <a:lnTo>
                  <a:pt x="69776" y="229265"/>
                </a:lnTo>
                <a:cubicBezTo>
                  <a:pt x="69776" y="223782"/>
                  <a:pt x="65291" y="219297"/>
                  <a:pt x="59808" y="219297"/>
                </a:cubicBezTo>
                <a:lnTo>
                  <a:pt x="39872" y="219297"/>
                </a:lnTo>
                <a:cubicBezTo>
                  <a:pt x="34390" y="219297"/>
                  <a:pt x="29904" y="223782"/>
                  <a:pt x="29904" y="229265"/>
                </a:cubicBezTo>
                <a:close/>
                <a:moveTo>
                  <a:pt x="219297" y="219297"/>
                </a:moveTo>
                <a:cubicBezTo>
                  <a:pt x="213814" y="219297"/>
                  <a:pt x="209328" y="223782"/>
                  <a:pt x="209328" y="229265"/>
                </a:cubicBezTo>
                <a:lnTo>
                  <a:pt x="209328" y="249201"/>
                </a:lnTo>
                <a:cubicBezTo>
                  <a:pt x="209328" y="254683"/>
                  <a:pt x="213814" y="259169"/>
                  <a:pt x="219297" y="259169"/>
                </a:cubicBezTo>
                <a:lnTo>
                  <a:pt x="239233" y="259169"/>
                </a:lnTo>
                <a:cubicBezTo>
                  <a:pt x="244715" y="259169"/>
                  <a:pt x="249201" y="254683"/>
                  <a:pt x="249201" y="249201"/>
                </a:cubicBezTo>
                <a:lnTo>
                  <a:pt x="249201" y="229265"/>
                </a:lnTo>
                <a:cubicBezTo>
                  <a:pt x="249201" y="223782"/>
                  <a:pt x="244715" y="219297"/>
                  <a:pt x="239233" y="219297"/>
                </a:cubicBezTo>
                <a:lnTo>
                  <a:pt x="219297" y="219297"/>
                </a:lnTo>
                <a:close/>
                <a:moveTo>
                  <a:pt x="29904" y="149520"/>
                </a:moveTo>
                <a:lnTo>
                  <a:pt x="29904" y="169456"/>
                </a:lnTo>
                <a:cubicBezTo>
                  <a:pt x="29904" y="174939"/>
                  <a:pt x="34390" y="179424"/>
                  <a:pt x="39872" y="179424"/>
                </a:cubicBezTo>
                <a:lnTo>
                  <a:pt x="59808" y="179424"/>
                </a:lnTo>
                <a:cubicBezTo>
                  <a:pt x="65291" y="179424"/>
                  <a:pt x="69776" y="174939"/>
                  <a:pt x="69776" y="169456"/>
                </a:cubicBezTo>
                <a:lnTo>
                  <a:pt x="69776" y="149520"/>
                </a:lnTo>
                <a:cubicBezTo>
                  <a:pt x="69776" y="144038"/>
                  <a:pt x="65291" y="139552"/>
                  <a:pt x="59808" y="139552"/>
                </a:cubicBezTo>
                <a:lnTo>
                  <a:pt x="39872" y="139552"/>
                </a:lnTo>
                <a:cubicBezTo>
                  <a:pt x="34390" y="139552"/>
                  <a:pt x="29904" y="144038"/>
                  <a:pt x="29904" y="149520"/>
                </a:cubicBezTo>
                <a:close/>
                <a:moveTo>
                  <a:pt x="219297" y="139552"/>
                </a:moveTo>
                <a:cubicBezTo>
                  <a:pt x="213814" y="139552"/>
                  <a:pt x="209328" y="144038"/>
                  <a:pt x="209328" y="149520"/>
                </a:cubicBezTo>
                <a:lnTo>
                  <a:pt x="209328" y="169456"/>
                </a:lnTo>
                <a:cubicBezTo>
                  <a:pt x="209328" y="174939"/>
                  <a:pt x="213814" y="179424"/>
                  <a:pt x="219297" y="179424"/>
                </a:cubicBezTo>
                <a:lnTo>
                  <a:pt x="239233" y="179424"/>
                </a:lnTo>
                <a:cubicBezTo>
                  <a:pt x="244715" y="179424"/>
                  <a:pt x="249201" y="174939"/>
                  <a:pt x="249201" y="169456"/>
                </a:cubicBezTo>
                <a:lnTo>
                  <a:pt x="249201" y="149520"/>
                </a:lnTo>
                <a:cubicBezTo>
                  <a:pt x="249201" y="144038"/>
                  <a:pt x="244715" y="139552"/>
                  <a:pt x="239233" y="139552"/>
                </a:cubicBezTo>
                <a:lnTo>
                  <a:pt x="219297" y="139552"/>
                </a:lnTo>
                <a:close/>
                <a:moveTo>
                  <a:pt x="29904" y="69776"/>
                </a:moveTo>
                <a:lnTo>
                  <a:pt x="29904" y="89712"/>
                </a:lnTo>
                <a:cubicBezTo>
                  <a:pt x="29904" y="95195"/>
                  <a:pt x="34390" y="99680"/>
                  <a:pt x="39872" y="99680"/>
                </a:cubicBezTo>
                <a:lnTo>
                  <a:pt x="59808" y="99680"/>
                </a:lnTo>
                <a:cubicBezTo>
                  <a:pt x="65291" y="99680"/>
                  <a:pt x="69776" y="95195"/>
                  <a:pt x="69776" y="89712"/>
                </a:cubicBezTo>
                <a:lnTo>
                  <a:pt x="69776" y="69776"/>
                </a:lnTo>
                <a:cubicBezTo>
                  <a:pt x="69776" y="64294"/>
                  <a:pt x="65291" y="59808"/>
                  <a:pt x="59808" y="59808"/>
                </a:cubicBezTo>
                <a:lnTo>
                  <a:pt x="39872" y="59808"/>
                </a:lnTo>
                <a:cubicBezTo>
                  <a:pt x="34390" y="59808"/>
                  <a:pt x="29904" y="64294"/>
                  <a:pt x="29904" y="69776"/>
                </a:cubicBezTo>
                <a:close/>
                <a:moveTo>
                  <a:pt x="219297" y="59808"/>
                </a:moveTo>
                <a:cubicBezTo>
                  <a:pt x="213814" y="59808"/>
                  <a:pt x="209328" y="64294"/>
                  <a:pt x="209328" y="69776"/>
                </a:cubicBezTo>
                <a:lnTo>
                  <a:pt x="209328" y="89712"/>
                </a:lnTo>
                <a:cubicBezTo>
                  <a:pt x="209328" y="95195"/>
                  <a:pt x="213814" y="99680"/>
                  <a:pt x="219297" y="99680"/>
                </a:cubicBezTo>
                <a:lnTo>
                  <a:pt x="239233" y="99680"/>
                </a:lnTo>
                <a:cubicBezTo>
                  <a:pt x="244715" y="99680"/>
                  <a:pt x="249201" y="95195"/>
                  <a:pt x="249201" y="89712"/>
                </a:cubicBezTo>
                <a:lnTo>
                  <a:pt x="249201" y="69776"/>
                </a:lnTo>
                <a:cubicBezTo>
                  <a:pt x="249201" y="64294"/>
                  <a:pt x="244715" y="59808"/>
                  <a:pt x="239233" y="59808"/>
                </a:cubicBezTo>
                <a:lnTo>
                  <a:pt x="219297" y="5980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63256" y="1656907"/>
            <a:ext cx="1213884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HOLLYWOOD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209" y="2117651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4535" y="2223977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TRON (1982)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535" y="2507512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First movie set inside a video game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209" y="2932814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4535" y="3039140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Last Starfighter (1984)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4535" y="3322674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 game as gateway to space adventure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209" y="3747977"/>
            <a:ext cx="5227674" cy="708837"/>
          </a:xfrm>
          <a:custGeom>
            <a:avLst/>
            <a:gdLst/>
            <a:ahLst/>
            <a:cxnLst/>
            <a:rect l="l" t="t" r="r" b="b"/>
            <a:pathLst>
              <a:path w="5227674" h="708837">
                <a:moveTo>
                  <a:pt x="0" y="0"/>
                </a:moveTo>
                <a:lnTo>
                  <a:pt x="5227674" y="0"/>
                </a:lnTo>
                <a:lnTo>
                  <a:pt x="5227674" y="708837"/>
                </a:lnTo>
                <a:lnTo>
                  <a:pt x="0" y="70883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4535" y="3854302"/>
            <a:ext cx="5094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WarGames (1983)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4535" y="4137837"/>
            <a:ext cx="5085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Gaming culture meets Cold War tension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5616" y="1466407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558" y="1665767"/>
            <a:ext cx="265814" cy="265814"/>
          </a:xfrm>
          <a:custGeom>
            <a:avLst/>
            <a:gdLst/>
            <a:ahLst/>
            <a:cxnLst/>
            <a:rect l="l" t="t" r="r" b="b"/>
            <a:pathLst>
              <a:path w="265814" h="265814">
                <a:moveTo>
                  <a:pt x="242971" y="3634"/>
                </a:moveTo>
                <a:cubicBezTo>
                  <a:pt x="246916" y="6801"/>
                  <a:pt x="249201" y="11577"/>
                  <a:pt x="249201" y="16613"/>
                </a:cubicBezTo>
                <a:lnTo>
                  <a:pt x="249201" y="174440"/>
                </a:lnTo>
                <a:cubicBezTo>
                  <a:pt x="249201" y="197388"/>
                  <a:pt x="226876" y="215974"/>
                  <a:pt x="199360" y="215974"/>
                </a:cubicBezTo>
                <a:cubicBezTo>
                  <a:pt x="171845" y="215974"/>
                  <a:pt x="149520" y="197388"/>
                  <a:pt x="149520" y="174440"/>
                </a:cubicBezTo>
                <a:cubicBezTo>
                  <a:pt x="149520" y="151493"/>
                  <a:pt x="171845" y="132907"/>
                  <a:pt x="199360" y="132907"/>
                </a:cubicBezTo>
                <a:cubicBezTo>
                  <a:pt x="205175" y="132907"/>
                  <a:pt x="210782" y="133738"/>
                  <a:pt x="215974" y="135295"/>
                </a:cubicBezTo>
                <a:lnTo>
                  <a:pt x="215974" y="74708"/>
                </a:lnTo>
                <a:lnTo>
                  <a:pt x="99680" y="100563"/>
                </a:lnTo>
                <a:lnTo>
                  <a:pt x="99680" y="207667"/>
                </a:lnTo>
                <a:cubicBezTo>
                  <a:pt x="99680" y="230614"/>
                  <a:pt x="77356" y="249201"/>
                  <a:pt x="49840" y="249201"/>
                </a:cubicBezTo>
                <a:cubicBezTo>
                  <a:pt x="22324" y="249201"/>
                  <a:pt x="0" y="230614"/>
                  <a:pt x="0" y="207667"/>
                </a:cubicBezTo>
                <a:cubicBezTo>
                  <a:pt x="0" y="184720"/>
                  <a:pt x="22324" y="166134"/>
                  <a:pt x="49840" y="166134"/>
                </a:cubicBezTo>
                <a:cubicBezTo>
                  <a:pt x="55655" y="166134"/>
                  <a:pt x="61262" y="166964"/>
                  <a:pt x="66453" y="168522"/>
                </a:cubicBezTo>
                <a:lnTo>
                  <a:pt x="66453" y="49840"/>
                </a:lnTo>
                <a:cubicBezTo>
                  <a:pt x="66453" y="42053"/>
                  <a:pt x="71853" y="35303"/>
                  <a:pt x="79485" y="33642"/>
                </a:cubicBezTo>
                <a:lnTo>
                  <a:pt x="229005" y="415"/>
                </a:lnTo>
                <a:cubicBezTo>
                  <a:pt x="233937" y="-675"/>
                  <a:pt x="239077" y="519"/>
                  <a:pt x="243022" y="368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844709" y="1656907"/>
            <a:ext cx="983512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&amp; TV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6116" y="2046767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Music videos featured arcade imagery. TV shows like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"Starcade"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(1982-84) made gaming a spectator sport. Pac-Man even got his own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Saturday morning cartoon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(1982-83).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616" y="2923953"/>
            <a:ext cx="5608674" cy="1293628"/>
          </a:xfrm>
          <a:custGeom>
            <a:avLst/>
            <a:gdLst/>
            <a:ahLst/>
            <a:cxnLst/>
            <a:rect l="l" t="t" r="r" b="b"/>
            <a:pathLst>
              <a:path w="5608674" h="1293628">
                <a:moveTo>
                  <a:pt x="0" y="0"/>
                </a:moveTo>
                <a:lnTo>
                  <a:pt x="5608674" y="0"/>
                </a:lnTo>
                <a:lnTo>
                  <a:pt x="5608674" y="1293628"/>
                </a:lnTo>
                <a:lnTo>
                  <a:pt x="0" y="129362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8331" y="3123314"/>
            <a:ext cx="332267" cy="265814"/>
          </a:xfrm>
          <a:custGeom>
            <a:avLst/>
            <a:gdLst/>
            <a:ahLst/>
            <a:cxnLst/>
            <a:rect l="l" t="t" r="r" b="b"/>
            <a:pathLst>
              <a:path w="332267" h="265814">
                <a:moveTo>
                  <a:pt x="166238" y="58147"/>
                </a:moveTo>
                <a:cubicBezTo>
                  <a:pt x="189185" y="58147"/>
                  <a:pt x="207771" y="39561"/>
                  <a:pt x="207771" y="16613"/>
                </a:cubicBezTo>
                <a:lnTo>
                  <a:pt x="235546" y="16613"/>
                </a:lnTo>
                <a:cubicBezTo>
                  <a:pt x="244372" y="16613"/>
                  <a:pt x="252835" y="20092"/>
                  <a:pt x="259065" y="26322"/>
                </a:cubicBezTo>
                <a:lnTo>
                  <a:pt x="320638" y="87947"/>
                </a:lnTo>
                <a:cubicBezTo>
                  <a:pt x="327128" y="94437"/>
                  <a:pt x="327128" y="104976"/>
                  <a:pt x="320638" y="111465"/>
                </a:cubicBezTo>
                <a:lnTo>
                  <a:pt x="294316" y="137787"/>
                </a:lnTo>
                <a:cubicBezTo>
                  <a:pt x="287827" y="144277"/>
                  <a:pt x="277288" y="144277"/>
                  <a:pt x="270798" y="137787"/>
                </a:cubicBezTo>
                <a:lnTo>
                  <a:pt x="249304" y="116294"/>
                </a:lnTo>
                <a:lnTo>
                  <a:pt x="249304" y="232587"/>
                </a:lnTo>
                <a:cubicBezTo>
                  <a:pt x="249304" y="250914"/>
                  <a:pt x="234404" y="265814"/>
                  <a:pt x="216078" y="265814"/>
                </a:cubicBezTo>
                <a:lnTo>
                  <a:pt x="116397" y="265814"/>
                </a:lnTo>
                <a:cubicBezTo>
                  <a:pt x="98071" y="265814"/>
                  <a:pt x="83171" y="250914"/>
                  <a:pt x="83171" y="232587"/>
                </a:cubicBezTo>
                <a:lnTo>
                  <a:pt x="83171" y="116294"/>
                </a:lnTo>
                <a:lnTo>
                  <a:pt x="61677" y="137787"/>
                </a:lnTo>
                <a:cubicBezTo>
                  <a:pt x="55188" y="144277"/>
                  <a:pt x="44648" y="144277"/>
                  <a:pt x="38159" y="137787"/>
                </a:cubicBezTo>
                <a:lnTo>
                  <a:pt x="11889" y="111413"/>
                </a:lnTo>
                <a:cubicBezTo>
                  <a:pt x="5399" y="104924"/>
                  <a:pt x="5399" y="94385"/>
                  <a:pt x="11889" y="87895"/>
                </a:cubicBezTo>
                <a:lnTo>
                  <a:pt x="73462" y="26322"/>
                </a:lnTo>
                <a:cubicBezTo>
                  <a:pt x="79692" y="20092"/>
                  <a:pt x="88155" y="16613"/>
                  <a:pt x="96981" y="16613"/>
                </a:cubicBezTo>
                <a:lnTo>
                  <a:pt x="124756" y="16613"/>
                </a:lnTo>
                <a:cubicBezTo>
                  <a:pt x="124756" y="39561"/>
                  <a:pt x="143342" y="58147"/>
                  <a:pt x="166289" y="5814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44709" y="3114453"/>
            <a:ext cx="708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FASHION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6116" y="3504314"/>
            <a:ext cx="5307419" cy="52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Bright, neon colors from game screens influenced 80s fashion. Arcade-inspired patterns appeared on clothing, creating a </a:t>
            </a:r>
            <a:pPr>
              <a:lnSpc>
                <a:spcPct val="140000"/>
              </a:lnSpc>
            </a:pPr>
            <a:r>
              <a:rPr lang="en-US" sz="12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distinctive aesthetic</a:t>
            </a:r>
            <a:pPr>
              <a:lnSpc>
                <a:spcPct val="140000"/>
              </a:lnSpc>
            </a:pPr>
            <a:r>
              <a:rPr lang="en-US" sz="125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of the era.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7709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77163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139552" y="0"/>
                </a:moveTo>
                <a:cubicBezTo>
                  <a:pt x="161544" y="0"/>
                  <a:pt x="179424" y="13395"/>
                  <a:pt x="179424" y="29904"/>
                </a:cubicBezTo>
                <a:cubicBezTo>
                  <a:pt x="179424" y="36383"/>
                  <a:pt x="176683" y="42364"/>
                  <a:pt x="171948" y="47286"/>
                </a:cubicBezTo>
                <a:cubicBezTo>
                  <a:pt x="167837" y="51585"/>
                  <a:pt x="164472" y="56818"/>
                  <a:pt x="164472" y="62799"/>
                </a:cubicBezTo>
                <a:cubicBezTo>
                  <a:pt x="164472" y="72144"/>
                  <a:pt x="172073" y="79744"/>
                  <a:pt x="181418" y="79744"/>
                </a:cubicBezTo>
                <a:lnTo>
                  <a:pt x="209328" y="79744"/>
                </a:lnTo>
                <a:cubicBezTo>
                  <a:pt x="225838" y="79744"/>
                  <a:pt x="239233" y="93139"/>
                  <a:pt x="239233" y="109648"/>
                </a:cubicBezTo>
                <a:lnTo>
                  <a:pt x="239233" y="137559"/>
                </a:lnTo>
                <a:cubicBezTo>
                  <a:pt x="239233" y="146904"/>
                  <a:pt x="246833" y="154504"/>
                  <a:pt x="256178" y="154504"/>
                </a:cubicBezTo>
                <a:cubicBezTo>
                  <a:pt x="262097" y="154504"/>
                  <a:pt x="267392" y="151140"/>
                  <a:pt x="271691" y="147028"/>
                </a:cubicBezTo>
                <a:cubicBezTo>
                  <a:pt x="276613" y="142356"/>
                  <a:pt x="282593" y="139552"/>
                  <a:pt x="289073" y="139552"/>
                </a:cubicBezTo>
                <a:cubicBezTo>
                  <a:pt x="305582" y="139552"/>
                  <a:pt x="318977" y="157432"/>
                  <a:pt x="318977" y="179424"/>
                </a:cubicBezTo>
                <a:cubicBezTo>
                  <a:pt x="318977" y="201416"/>
                  <a:pt x="305582" y="219297"/>
                  <a:pt x="289073" y="219297"/>
                </a:cubicBezTo>
                <a:cubicBezTo>
                  <a:pt x="282593" y="219297"/>
                  <a:pt x="276550" y="216555"/>
                  <a:pt x="271691" y="211820"/>
                </a:cubicBezTo>
                <a:cubicBezTo>
                  <a:pt x="267392" y="207709"/>
                  <a:pt x="262159" y="204344"/>
                  <a:pt x="256178" y="204344"/>
                </a:cubicBezTo>
                <a:cubicBezTo>
                  <a:pt x="246833" y="204344"/>
                  <a:pt x="239233" y="211945"/>
                  <a:pt x="239233" y="221290"/>
                </a:cubicBezTo>
                <a:lnTo>
                  <a:pt x="239233" y="289073"/>
                </a:lnTo>
                <a:cubicBezTo>
                  <a:pt x="239233" y="305582"/>
                  <a:pt x="225838" y="318977"/>
                  <a:pt x="209328" y="318977"/>
                </a:cubicBezTo>
                <a:lnTo>
                  <a:pt x="173942" y="318977"/>
                </a:lnTo>
                <a:cubicBezTo>
                  <a:pt x="165968" y="318977"/>
                  <a:pt x="159488" y="312498"/>
                  <a:pt x="159488" y="304523"/>
                </a:cubicBezTo>
                <a:cubicBezTo>
                  <a:pt x="159488" y="298791"/>
                  <a:pt x="163102" y="293745"/>
                  <a:pt x="167712" y="290319"/>
                </a:cubicBezTo>
                <a:cubicBezTo>
                  <a:pt x="174939" y="284899"/>
                  <a:pt x="179424" y="277423"/>
                  <a:pt x="179424" y="269137"/>
                </a:cubicBezTo>
                <a:cubicBezTo>
                  <a:pt x="179424" y="252627"/>
                  <a:pt x="161544" y="239233"/>
                  <a:pt x="139552" y="239233"/>
                </a:cubicBezTo>
                <a:cubicBezTo>
                  <a:pt x="117560" y="239233"/>
                  <a:pt x="99680" y="252627"/>
                  <a:pt x="99680" y="269137"/>
                </a:cubicBezTo>
                <a:cubicBezTo>
                  <a:pt x="99680" y="277423"/>
                  <a:pt x="104166" y="284899"/>
                  <a:pt x="111393" y="290319"/>
                </a:cubicBezTo>
                <a:cubicBezTo>
                  <a:pt x="116003" y="293745"/>
                  <a:pt x="119616" y="298729"/>
                  <a:pt x="119616" y="304523"/>
                </a:cubicBezTo>
                <a:cubicBezTo>
                  <a:pt x="119616" y="312498"/>
                  <a:pt x="113137" y="318977"/>
                  <a:pt x="105163" y="318977"/>
                </a:cubicBezTo>
                <a:lnTo>
                  <a:pt x="29904" y="318977"/>
                </a:lnTo>
                <a:cubicBezTo>
                  <a:pt x="13395" y="318977"/>
                  <a:pt x="0" y="305582"/>
                  <a:pt x="0" y="289073"/>
                </a:cubicBezTo>
                <a:lnTo>
                  <a:pt x="0" y="213814"/>
                </a:lnTo>
                <a:cubicBezTo>
                  <a:pt x="0" y="205840"/>
                  <a:pt x="6479" y="199360"/>
                  <a:pt x="14454" y="199360"/>
                </a:cubicBezTo>
                <a:cubicBezTo>
                  <a:pt x="20185" y="199360"/>
                  <a:pt x="25232" y="202974"/>
                  <a:pt x="28658" y="207584"/>
                </a:cubicBezTo>
                <a:cubicBezTo>
                  <a:pt x="34078" y="214811"/>
                  <a:pt x="41554" y="219297"/>
                  <a:pt x="49840" y="219297"/>
                </a:cubicBezTo>
                <a:cubicBezTo>
                  <a:pt x="66350" y="219297"/>
                  <a:pt x="79744" y="201416"/>
                  <a:pt x="79744" y="179424"/>
                </a:cubicBezTo>
                <a:cubicBezTo>
                  <a:pt x="79744" y="157432"/>
                  <a:pt x="66350" y="139552"/>
                  <a:pt x="49840" y="139552"/>
                </a:cubicBezTo>
                <a:cubicBezTo>
                  <a:pt x="41554" y="139552"/>
                  <a:pt x="34078" y="144038"/>
                  <a:pt x="28658" y="151265"/>
                </a:cubicBezTo>
                <a:cubicBezTo>
                  <a:pt x="25232" y="155875"/>
                  <a:pt x="20248" y="159488"/>
                  <a:pt x="14454" y="159488"/>
                </a:cubicBezTo>
                <a:cubicBezTo>
                  <a:pt x="6479" y="159488"/>
                  <a:pt x="0" y="153009"/>
                  <a:pt x="0" y="145035"/>
                </a:cubicBezTo>
                <a:lnTo>
                  <a:pt x="0" y="109648"/>
                </a:lnTo>
                <a:cubicBezTo>
                  <a:pt x="0" y="93139"/>
                  <a:pt x="13395" y="79744"/>
                  <a:pt x="29904" y="79744"/>
                </a:cubicBezTo>
                <a:lnTo>
                  <a:pt x="97687" y="79744"/>
                </a:lnTo>
                <a:cubicBezTo>
                  <a:pt x="107032" y="79744"/>
                  <a:pt x="114632" y="72144"/>
                  <a:pt x="114632" y="62799"/>
                </a:cubicBezTo>
                <a:cubicBezTo>
                  <a:pt x="114632" y="56880"/>
                  <a:pt x="111268" y="51585"/>
                  <a:pt x="107156" y="47286"/>
                </a:cubicBezTo>
                <a:cubicBezTo>
                  <a:pt x="102484" y="42364"/>
                  <a:pt x="99680" y="36383"/>
                  <a:pt x="99680" y="29904"/>
                </a:cubicBezTo>
                <a:cubicBezTo>
                  <a:pt x="99680" y="13395"/>
                  <a:pt x="117560" y="0"/>
                  <a:pt x="139552" y="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8" name="Text 26"/>
          <p:cNvSpPr/>
          <p:nvPr/>
        </p:nvSpPr>
        <p:spPr>
          <a:xfrm>
            <a:off x="478465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MERCHANDISE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7326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Lunch boxes, toys, bedsheets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73942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3331" y="4970721"/>
            <a:ext cx="279105" cy="318977"/>
          </a:xfrm>
          <a:custGeom>
            <a:avLst/>
            <a:gdLst/>
            <a:ahLst/>
            <a:cxnLst/>
            <a:rect l="l" t="t" r="r" b="b"/>
            <a:pathLst>
              <a:path w="279105" h="318977">
                <a:moveTo>
                  <a:pt x="239233" y="318977"/>
                </a:moveTo>
                <a:lnTo>
                  <a:pt x="59808" y="318977"/>
                </a:lnTo>
                <a:cubicBezTo>
                  <a:pt x="26789" y="318977"/>
                  <a:pt x="0" y="292188"/>
                  <a:pt x="0" y="259169"/>
                </a:cubicBezTo>
                <a:lnTo>
                  <a:pt x="0" y="59808"/>
                </a:lnTo>
                <a:cubicBezTo>
                  <a:pt x="0" y="26789"/>
                  <a:pt x="26789" y="0"/>
                  <a:pt x="59808" y="0"/>
                </a:cubicBezTo>
                <a:lnTo>
                  <a:pt x="249201" y="0"/>
                </a:lnTo>
                <a:cubicBezTo>
                  <a:pt x="265710" y="0"/>
                  <a:pt x="279105" y="13395"/>
                  <a:pt x="279105" y="29904"/>
                </a:cubicBezTo>
                <a:lnTo>
                  <a:pt x="279105" y="209328"/>
                </a:lnTo>
                <a:cubicBezTo>
                  <a:pt x="279105" y="222349"/>
                  <a:pt x="270756" y="233439"/>
                  <a:pt x="259169" y="237550"/>
                </a:cubicBezTo>
                <a:lnTo>
                  <a:pt x="259169" y="279105"/>
                </a:lnTo>
                <a:cubicBezTo>
                  <a:pt x="270196" y="279105"/>
                  <a:pt x="279105" y="288014"/>
                  <a:pt x="279105" y="299041"/>
                </a:cubicBezTo>
                <a:cubicBezTo>
                  <a:pt x="279105" y="310068"/>
                  <a:pt x="270196" y="318977"/>
                  <a:pt x="259169" y="318977"/>
                </a:cubicBezTo>
                <a:lnTo>
                  <a:pt x="239233" y="318977"/>
                </a:lnTo>
                <a:close/>
                <a:moveTo>
                  <a:pt x="59808" y="239233"/>
                </a:moveTo>
                <a:cubicBezTo>
                  <a:pt x="48781" y="239233"/>
                  <a:pt x="39872" y="248141"/>
                  <a:pt x="39872" y="259169"/>
                </a:cubicBezTo>
                <a:cubicBezTo>
                  <a:pt x="39872" y="270196"/>
                  <a:pt x="48781" y="279105"/>
                  <a:pt x="59808" y="279105"/>
                </a:cubicBezTo>
                <a:lnTo>
                  <a:pt x="219297" y="279105"/>
                </a:lnTo>
                <a:lnTo>
                  <a:pt x="219297" y="239233"/>
                </a:lnTo>
                <a:lnTo>
                  <a:pt x="59808" y="239233"/>
                </a:lnTo>
                <a:close/>
                <a:moveTo>
                  <a:pt x="79744" y="94696"/>
                </a:moveTo>
                <a:cubicBezTo>
                  <a:pt x="79744" y="102982"/>
                  <a:pt x="86410" y="109648"/>
                  <a:pt x="94696" y="109648"/>
                </a:cubicBezTo>
                <a:lnTo>
                  <a:pt x="204344" y="109648"/>
                </a:lnTo>
                <a:cubicBezTo>
                  <a:pt x="212630" y="109648"/>
                  <a:pt x="219297" y="102982"/>
                  <a:pt x="219297" y="94696"/>
                </a:cubicBezTo>
                <a:cubicBezTo>
                  <a:pt x="219297" y="86410"/>
                  <a:pt x="212630" y="79744"/>
                  <a:pt x="204344" y="79744"/>
                </a:cubicBezTo>
                <a:lnTo>
                  <a:pt x="94696" y="79744"/>
                </a:lnTo>
                <a:cubicBezTo>
                  <a:pt x="86410" y="79744"/>
                  <a:pt x="79744" y="86410"/>
                  <a:pt x="79744" y="94696"/>
                </a:cubicBezTo>
                <a:close/>
                <a:moveTo>
                  <a:pt x="94696" y="139552"/>
                </a:moveTo>
                <a:cubicBezTo>
                  <a:pt x="86410" y="139552"/>
                  <a:pt x="79744" y="146218"/>
                  <a:pt x="79744" y="154504"/>
                </a:cubicBezTo>
                <a:cubicBezTo>
                  <a:pt x="79744" y="162790"/>
                  <a:pt x="86410" y="169456"/>
                  <a:pt x="94696" y="169456"/>
                </a:cubicBezTo>
                <a:lnTo>
                  <a:pt x="204344" y="169456"/>
                </a:lnTo>
                <a:cubicBezTo>
                  <a:pt x="212630" y="169456"/>
                  <a:pt x="219297" y="162790"/>
                  <a:pt x="219297" y="154504"/>
                </a:cubicBezTo>
                <a:cubicBezTo>
                  <a:pt x="219297" y="146218"/>
                  <a:pt x="212630" y="139552"/>
                  <a:pt x="204344" y="139552"/>
                </a:cubicBezTo>
                <a:lnTo>
                  <a:pt x="94696" y="139552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2" name="Text 30"/>
          <p:cNvSpPr/>
          <p:nvPr/>
        </p:nvSpPr>
        <p:spPr>
          <a:xfrm>
            <a:off x="3384698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3558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Game-based comic books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0174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89628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41056" y="142356"/>
                </a:moveTo>
                <a:cubicBezTo>
                  <a:pt x="49342" y="84417"/>
                  <a:pt x="99244" y="39872"/>
                  <a:pt x="159488" y="39872"/>
                </a:cubicBezTo>
                <a:cubicBezTo>
                  <a:pt x="192507" y="39872"/>
                  <a:pt x="222412" y="53267"/>
                  <a:pt x="244092" y="74885"/>
                </a:cubicBezTo>
                <a:cubicBezTo>
                  <a:pt x="244217" y="75009"/>
                  <a:pt x="244341" y="75134"/>
                  <a:pt x="244466" y="75259"/>
                </a:cubicBezTo>
                <a:lnTo>
                  <a:pt x="249201" y="79744"/>
                </a:lnTo>
                <a:lnTo>
                  <a:pt x="219359" y="79744"/>
                </a:lnTo>
                <a:cubicBezTo>
                  <a:pt x="208332" y="79744"/>
                  <a:pt x="199423" y="88653"/>
                  <a:pt x="199423" y="99680"/>
                </a:cubicBezTo>
                <a:cubicBezTo>
                  <a:pt x="199423" y="110707"/>
                  <a:pt x="208332" y="119616"/>
                  <a:pt x="219359" y="119616"/>
                </a:cubicBezTo>
                <a:lnTo>
                  <a:pt x="299103" y="119616"/>
                </a:lnTo>
                <a:cubicBezTo>
                  <a:pt x="310130" y="119616"/>
                  <a:pt x="319039" y="110707"/>
                  <a:pt x="319039" y="99680"/>
                </a:cubicBezTo>
                <a:lnTo>
                  <a:pt x="319039" y="19936"/>
                </a:lnTo>
                <a:cubicBezTo>
                  <a:pt x="319039" y="8909"/>
                  <a:pt x="310130" y="0"/>
                  <a:pt x="299103" y="0"/>
                </a:cubicBezTo>
                <a:cubicBezTo>
                  <a:pt x="288076" y="0"/>
                  <a:pt x="279167" y="8909"/>
                  <a:pt x="279167" y="19936"/>
                </a:cubicBezTo>
                <a:lnTo>
                  <a:pt x="279167" y="53204"/>
                </a:lnTo>
                <a:lnTo>
                  <a:pt x="272127" y="46538"/>
                </a:lnTo>
                <a:cubicBezTo>
                  <a:pt x="243282" y="17818"/>
                  <a:pt x="203410" y="0"/>
                  <a:pt x="159488" y="0"/>
                </a:cubicBezTo>
                <a:cubicBezTo>
                  <a:pt x="79121" y="0"/>
                  <a:pt x="12647" y="59434"/>
                  <a:pt x="1620" y="136749"/>
                </a:cubicBezTo>
                <a:cubicBezTo>
                  <a:pt x="62" y="147651"/>
                  <a:pt x="7601" y="157744"/>
                  <a:pt x="18503" y="159301"/>
                </a:cubicBezTo>
                <a:cubicBezTo>
                  <a:pt x="29406" y="160859"/>
                  <a:pt x="39498" y="153258"/>
                  <a:pt x="41056" y="142418"/>
                </a:cubicBezTo>
                <a:close/>
                <a:moveTo>
                  <a:pt x="317357" y="182228"/>
                </a:moveTo>
                <a:cubicBezTo>
                  <a:pt x="318914" y="171325"/>
                  <a:pt x="311314" y="161233"/>
                  <a:pt x="300474" y="159675"/>
                </a:cubicBezTo>
                <a:cubicBezTo>
                  <a:pt x="289633" y="158118"/>
                  <a:pt x="279478" y="165718"/>
                  <a:pt x="277921" y="176559"/>
                </a:cubicBezTo>
                <a:cubicBezTo>
                  <a:pt x="269635" y="234498"/>
                  <a:pt x="219733" y="279042"/>
                  <a:pt x="159488" y="279042"/>
                </a:cubicBezTo>
                <a:cubicBezTo>
                  <a:pt x="126469" y="279042"/>
                  <a:pt x="96565" y="265648"/>
                  <a:pt x="74885" y="244030"/>
                </a:cubicBezTo>
                <a:cubicBezTo>
                  <a:pt x="74760" y="243905"/>
                  <a:pt x="74636" y="243780"/>
                  <a:pt x="74511" y="243656"/>
                </a:cubicBezTo>
                <a:lnTo>
                  <a:pt x="69776" y="239170"/>
                </a:lnTo>
                <a:lnTo>
                  <a:pt x="99618" y="239170"/>
                </a:lnTo>
                <a:cubicBezTo>
                  <a:pt x="110645" y="239170"/>
                  <a:pt x="119554" y="230261"/>
                  <a:pt x="119554" y="219234"/>
                </a:cubicBezTo>
                <a:cubicBezTo>
                  <a:pt x="119554" y="208207"/>
                  <a:pt x="110645" y="199298"/>
                  <a:pt x="99618" y="199298"/>
                </a:cubicBezTo>
                <a:lnTo>
                  <a:pt x="19936" y="199360"/>
                </a:lnTo>
                <a:cubicBezTo>
                  <a:pt x="14641" y="199360"/>
                  <a:pt x="9532" y="201479"/>
                  <a:pt x="5794" y="205279"/>
                </a:cubicBezTo>
                <a:cubicBezTo>
                  <a:pt x="2056" y="209079"/>
                  <a:pt x="-62" y="214126"/>
                  <a:pt x="0" y="219483"/>
                </a:cubicBezTo>
                <a:lnTo>
                  <a:pt x="623" y="298605"/>
                </a:lnTo>
                <a:cubicBezTo>
                  <a:pt x="685" y="309632"/>
                  <a:pt x="9719" y="318478"/>
                  <a:pt x="20746" y="318354"/>
                </a:cubicBezTo>
                <a:cubicBezTo>
                  <a:pt x="31773" y="318229"/>
                  <a:pt x="40620" y="309258"/>
                  <a:pt x="40495" y="298231"/>
                </a:cubicBezTo>
                <a:lnTo>
                  <a:pt x="40246" y="266146"/>
                </a:lnTo>
                <a:lnTo>
                  <a:pt x="46912" y="272439"/>
                </a:lnTo>
                <a:cubicBezTo>
                  <a:pt x="75757" y="301159"/>
                  <a:pt x="115567" y="318977"/>
                  <a:pt x="159488" y="318977"/>
                </a:cubicBezTo>
                <a:cubicBezTo>
                  <a:pt x="239856" y="318977"/>
                  <a:pt x="306330" y="259542"/>
                  <a:pt x="317357" y="18222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90930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CEREAL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99791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Pac-Man breakfast cereal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86407" y="4815663"/>
            <a:ext cx="2737884" cy="1267047"/>
          </a:xfrm>
          <a:custGeom>
            <a:avLst/>
            <a:gdLst/>
            <a:ahLst/>
            <a:cxnLst/>
            <a:rect l="l" t="t" r="r" b="b"/>
            <a:pathLst>
              <a:path w="2737884" h="1267047">
                <a:moveTo>
                  <a:pt x="0" y="0"/>
                </a:moveTo>
                <a:lnTo>
                  <a:pt x="2737884" y="0"/>
                </a:lnTo>
                <a:lnTo>
                  <a:pt x="2737884" y="1267047"/>
                </a:lnTo>
                <a:lnTo>
                  <a:pt x="0" y="1267047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95860" y="4970721"/>
            <a:ext cx="318977" cy="318977"/>
          </a:xfrm>
          <a:custGeom>
            <a:avLst/>
            <a:gdLst/>
            <a:ahLst/>
            <a:cxnLst/>
            <a:rect l="l" t="t" r="r" b="b"/>
            <a:pathLst>
              <a:path w="318977" h="318977">
                <a:moveTo>
                  <a:pt x="0" y="259169"/>
                </a:moveTo>
                <a:lnTo>
                  <a:pt x="0" y="74760"/>
                </a:lnTo>
                <a:cubicBezTo>
                  <a:pt x="0" y="66474"/>
                  <a:pt x="6666" y="59808"/>
                  <a:pt x="14952" y="59808"/>
                </a:cubicBezTo>
                <a:cubicBezTo>
                  <a:pt x="23238" y="59808"/>
                  <a:pt x="29904" y="66474"/>
                  <a:pt x="29904" y="74760"/>
                </a:cubicBezTo>
                <a:lnTo>
                  <a:pt x="29904" y="254185"/>
                </a:lnTo>
                <a:cubicBezTo>
                  <a:pt x="29904" y="262471"/>
                  <a:pt x="36570" y="269137"/>
                  <a:pt x="44856" y="269137"/>
                </a:cubicBezTo>
                <a:cubicBezTo>
                  <a:pt x="53142" y="269137"/>
                  <a:pt x="59808" y="262471"/>
                  <a:pt x="59808" y="254185"/>
                </a:cubicBezTo>
                <a:lnTo>
                  <a:pt x="59808" y="59808"/>
                </a:lnTo>
                <a:cubicBezTo>
                  <a:pt x="59808" y="37816"/>
                  <a:pt x="77688" y="19936"/>
                  <a:pt x="99680" y="19936"/>
                </a:cubicBezTo>
                <a:lnTo>
                  <a:pt x="279105" y="19936"/>
                </a:lnTo>
                <a:cubicBezTo>
                  <a:pt x="301097" y="19936"/>
                  <a:pt x="318977" y="37816"/>
                  <a:pt x="318977" y="59808"/>
                </a:cubicBezTo>
                <a:lnTo>
                  <a:pt x="318977" y="259169"/>
                </a:lnTo>
                <a:cubicBezTo>
                  <a:pt x="318977" y="281161"/>
                  <a:pt x="301097" y="299041"/>
                  <a:pt x="279105" y="299041"/>
                </a:cubicBezTo>
                <a:lnTo>
                  <a:pt x="39872" y="299041"/>
                </a:lnTo>
                <a:cubicBezTo>
                  <a:pt x="17880" y="299041"/>
                  <a:pt x="0" y="281161"/>
                  <a:pt x="0" y="259169"/>
                </a:cubicBezTo>
                <a:close/>
                <a:moveTo>
                  <a:pt x="99680" y="79744"/>
                </a:moveTo>
                <a:lnTo>
                  <a:pt x="99680" y="119616"/>
                </a:lnTo>
                <a:cubicBezTo>
                  <a:pt x="99680" y="130643"/>
                  <a:pt x="108589" y="139552"/>
                  <a:pt x="119616" y="139552"/>
                </a:cubicBezTo>
                <a:lnTo>
                  <a:pt x="159488" y="139552"/>
                </a:lnTo>
                <a:cubicBezTo>
                  <a:pt x="170515" y="139552"/>
                  <a:pt x="179424" y="130643"/>
                  <a:pt x="179424" y="119616"/>
                </a:cubicBezTo>
                <a:lnTo>
                  <a:pt x="179424" y="79744"/>
                </a:lnTo>
                <a:cubicBezTo>
                  <a:pt x="179424" y="68717"/>
                  <a:pt x="170515" y="59808"/>
                  <a:pt x="159488" y="59808"/>
                </a:cubicBezTo>
                <a:lnTo>
                  <a:pt x="119616" y="59808"/>
                </a:lnTo>
                <a:cubicBezTo>
                  <a:pt x="108589" y="59808"/>
                  <a:pt x="99680" y="68717"/>
                  <a:pt x="99680" y="79744"/>
                </a:cubicBezTo>
                <a:close/>
                <a:moveTo>
                  <a:pt x="114632" y="229265"/>
                </a:moveTo>
                <a:cubicBezTo>
                  <a:pt x="106346" y="229265"/>
                  <a:pt x="99680" y="235931"/>
                  <a:pt x="99680" y="244217"/>
                </a:cubicBezTo>
                <a:cubicBezTo>
                  <a:pt x="99680" y="252502"/>
                  <a:pt x="106346" y="259169"/>
                  <a:pt x="114632" y="259169"/>
                </a:cubicBezTo>
                <a:lnTo>
                  <a:pt x="264153" y="259169"/>
                </a:lnTo>
                <a:cubicBezTo>
                  <a:pt x="272439" y="259169"/>
                  <a:pt x="279105" y="252502"/>
                  <a:pt x="279105" y="244217"/>
                </a:cubicBezTo>
                <a:cubicBezTo>
                  <a:pt x="279105" y="235931"/>
                  <a:pt x="272439" y="229265"/>
                  <a:pt x="264153" y="229265"/>
                </a:cubicBezTo>
                <a:lnTo>
                  <a:pt x="114632" y="229265"/>
                </a:lnTo>
                <a:close/>
                <a:moveTo>
                  <a:pt x="99680" y="184408"/>
                </a:moveTo>
                <a:cubicBezTo>
                  <a:pt x="99680" y="192694"/>
                  <a:pt x="106346" y="199360"/>
                  <a:pt x="114632" y="199360"/>
                </a:cubicBezTo>
                <a:lnTo>
                  <a:pt x="264153" y="199360"/>
                </a:lnTo>
                <a:cubicBezTo>
                  <a:pt x="272439" y="199360"/>
                  <a:pt x="279105" y="192694"/>
                  <a:pt x="279105" y="184408"/>
                </a:cubicBezTo>
                <a:cubicBezTo>
                  <a:pt x="279105" y="176123"/>
                  <a:pt x="272439" y="169456"/>
                  <a:pt x="264153" y="169456"/>
                </a:cubicBezTo>
                <a:lnTo>
                  <a:pt x="114632" y="169456"/>
                </a:lnTo>
                <a:cubicBezTo>
                  <a:pt x="106346" y="169456"/>
                  <a:pt x="99680" y="176123"/>
                  <a:pt x="99680" y="184408"/>
                </a:cubicBezTo>
                <a:close/>
                <a:moveTo>
                  <a:pt x="224281" y="109648"/>
                </a:moveTo>
                <a:cubicBezTo>
                  <a:pt x="215995" y="109648"/>
                  <a:pt x="209328" y="116314"/>
                  <a:pt x="209328" y="124600"/>
                </a:cubicBezTo>
                <a:cubicBezTo>
                  <a:pt x="209328" y="132886"/>
                  <a:pt x="215995" y="139552"/>
                  <a:pt x="224281" y="139552"/>
                </a:cubicBezTo>
                <a:lnTo>
                  <a:pt x="264153" y="139552"/>
                </a:lnTo>
                <a:cubicBezTo>
                  <a:pt x="272439" y="139552"/>
                  <a:pt x="279105" y="132886"/>
                  <a:pt x="279105" y="124600"/>
                </a:cubicBezTo>
                <a:cubicBezTo>
                  <a:pt x="279105" y="116314"/>
                  <a:pt x="272439" y="109648"/>
                  <a:pt x="264153" y="109648"/>
                </a:cubicBezTo>
                <a:lnTo>
                  <a:pt x="224281" y="109648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0" name="Text 38"/>
          <p:cNvSpPr/>
          <p:nvPr/>
        </p:nvSpPr>
        <p:spPr>
          <a:xfrm>
            <a:off x="9197163" y="5396023"/>
            <a:ext cx="251637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MEDIA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06023" y="5715000"/>
            <a:ext cx="2498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Newspaper coverage, strategy guides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67709" y="6251058"/>
            <a:ext cx="11456581" cy="593651"/>
          </a:xfrm>
          <a:custGeom>
            <a:avLst/>
            <a:gdLst/>
            <a:ahLst/>
            <a:cxnLst/>
            <a:rect l="l" t="t" r="r" b="b"/>
            <a:pathLst>
              <a:path w="11456581" h="593651">
                <a:moveTo>
                  <a:pt x="0" y="0"/>
                </a:moveTo>
                <a:lnTo>
                  <a:pt x="11456581" y="0"/>
                </a:lnTo>
                <a:lnTo>
                  <a:pt x="11456581" y="593651"/>
                </a:lnTo>
                <a:lnTo>
                  <a:pt x="0" y="59365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605" y="6406116"/>
            <a:ext cx="1125279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became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cultural touchstones</a:t>
            </a:r>
            <a:pPr algn="ctr">
              <a:lnSpc>
                <a:spcPct val="110000"/>
              </a:lnSpc>
            </a:pPr>
            <a:r>
              <a:rPr lang="en-US" sz="16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recognized worldwide—transcending entertainment to become </a:t>
            </a:r>
            <a:pPr algn="ctr">
              <a:lnSpc>
                <a:spcPct val="110000"/>
              </a:lnSpc>
            </a:pPr>
            <a:r>
              <a:rPr lang="en-US" sz="16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symbols of a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734d1a5cf71eed33b230b710c9cdf7e9720935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2187" b="321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714500"/>
            <a:ext cx="1857375" cy="609600"/>
          </a:xfrm>
          <a:custGeom>
            <a:avLst/>
            <a:gdLst/>
            <a:ahLst/>
            <a:cxnLst/>
            <a:rect l="l" t="t" r="r" b="b"/>
            <a:pathLst>
              <a:path w="1857375" h="609600">
                <a:moveTo>
                  <a:pt x="0" y="0"/>
                </a:moveTo>
                <a:lnTo>
                  <a:pt x="1857375" y="0"/>
                </a:lnTo>
                <a:lnTo>
                  <a:pt x="18573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1847850"/>
            <a:ext cx="156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527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DECLINE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4F4F4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AND BEYOND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95800"/>
            <a:ext cx="1524000" cy="76200"/>
          </a:xfrm>
          <a:custGeom>
            <a:avLst/>
            <a:gdLst/>
            <a:ahLst/>
            <a:cxnLst/>
            <a:rect l="l" t="t" r="r" b="b"/>
            <a:pathLst>
              <a:path w="1524000" h="76200">
                <a:moveTo>
                  <a:pt x="0" y="0"/>
                </a:moveTo>
                <a:lnTo>
                  <a:pt x="1524000" y="0"/>
                </a:lnTo>
                <a:lnTo>
                  <a:pt x="1524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800600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Crash That Changed Everything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918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Shape 7"/>
          <p:cNvSpPr/>
          <p:nvPr/>
        </p:nvSpPr>
        <p:spPr>
          <a:xfrm>
            <a:off x="108966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1" name="Shape 8"/>
          <p:cNvSpPr/>
          <p:nvPr/>
        </p:nvSpPr>
        <p:spPr>
          <a:xfrm>
            <a:off x="11201400" y="586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6977"/>
          </a:xfrm>
          <a:custGeom>
            <a:avLst/>
            <a:gdLst/>
            <a:ahLst/>
            <a:cxnLst/>
            <a:rect l="l" t="t" r="r" b="b"/>
            <a:pathLst>
              <a:path w="12192000" h="6856977">
                <a:moveTo>
                  <a:pt x="0" y="0"/>
                </a:moveTo>
                <a:lnTo>
                  <a:pt x="12192000" y="0"/>
                </a:lnTo>
                <a:lnTo>
                  <a:pt x="12192000" y="6856977"/>
                </a:lnTo>
                <a:lnTo>
                  <a:pt x="0" y="685697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27302" y="327302"/>
            <a:ext cx="11733777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9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VIDEO GAME CRASH OF 1983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7302" y="818255"/>
            <a:ext cx="11635587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When the Industry Collapsed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7302" y="1178287"/>
            <a:ext cx="785525" cy="32730"/>
          </a:xfrm>
          <a:custGeom>
            <a:avLst/>
            <a:gdLst/>
            <a:ahLst/>
            <a:cxnLst/>
            <a:rect l="l" t="t" r="r" b="b"/>
            <a:pathLst>
              <a:path w="785525" h="32730">
                <a:moveTo>
                  <a:pt x="0" y="0"/>
                </a:moveTo>
                <a:lnTo>
                  <a:pt x="785525" y="0"/>
                </a:lnTo>
                <a:lnTo>
                  <a:pt x="78552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3957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14902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132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6B6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PERFECT STORM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501" y="1955630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4148" y="2086550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0"/>
                </a:moveTo>
                <a:cubicBezTo>
                  <a:pt x="86524" y="0"/>
                  <a:pt x="90839" y="2589"/>
                  <a:pt x="93077" y="6712"/>
                </a:cubicBezTo>
                <a:lnTo>
                  <a:pt x="162117" y="134565"/>
                </a:lnTo>
                <a:cubicBezTo>
                  <a:pt x="164258" y="138528"/>
                  <a:pt x="164162" y="143322"/>
                  <a:pt x="161861" y="147190"/>
                </a:cubicBezTo>
                <a:cubicBezTo>
                  <a:pt x="159560" y="151058"/>
                  <a:pt x="155373" y="153423"/>
                  <a:pt x="150866" y="153423"/>
                </a:cubicBezTo>
                <a:lnTo>
                  <a:pt x="12785" y="153423"/>
                </a:lnTo>
                <a:cubicBezTo>
                  <a:pt x="8278" y="153423"/>
                  <a:pt x="4123" y="151058"/>
                  <a:pt x="1790" y="147190"/>
                </a:cubicBezTo>
                <a:cubicBezTo>
                  <a:pt x="-543" y="143322"/>
                  <a:pt x="-607" y="138528"/>
                  <a:pt x="1534" y="134565"/>
                </a:cubicBezTo>
                <a:lnTo>
                  <a:pt x="70574" y="6712"/>
                </a:lnTo>
                <a:cubicBezTo>
                  <a:pt x="72812" y="2589"/>
                  <a:pt x="77127" y="0"/>
                  <a:pt x="81826" y="0"/>
                </a:cubicBezTo>
                <a:close/>
                <a:moveTo>
                  <a:pt x="81826" y="53698"/>
                </a:moveTo>
                <a:cubicBezTo>
                  <a:pt x="77574" y="53698"/>
                  <a:pt x="74154" y="57118"/>
                  <a:pt x="74154" y="61369"/>
                </a:cubicBezTo>
                <a:lnTo>
                  <a:pt x="74154" y="97168"/>
                </a:lnTo>
                <a:cubicBezTo>
                  <a:pt x="74154" y="101419"/>
                  <a:pt x="77574" y="104839"/>
                  <a:pt x="81826" y="104839"/>
                </a:cubicBezTo>
                <a:cubicBezTo>
                  <a:pt x="86077" y="104839"/>
                  <a:pt x="89497" y="101419"/>
                  <a:pt x="89497" y="97168"/>
                </a:cubicBezTo>
                <a:lnTo>
                  <a:pt x="89497" y="61369"/>
                </a:lnTo>
                <a:cubicBezTo>
                  <a:pt x="89497" y="57118"/>
                  <a:pt x="86077" y="53698"/>
                  <a:pt x="81826" y="53698"/>
                </a:cubicBezTo>
                <a:close/>
                <a:moveTo>
                  <a:pt x="90360" y="122738"/>
                </a:moveTo>
                <a:cubicBezTo>
                  <a:pt x="90554" y="119570"/>
                  <a:pt x="88974" y="116557"/>
                  <a:pt x="86258" y="114914"/>
                </a:cubicBezTo>
                <a:cubicBezTo>
                  <a:pt x="83543" y="113271"/>
                  <a:pt x="80140" y="113271"/>
                  <a:pt x="77425" y="114914"/>
                </a:cubicBezTo>
                <a:cubicBezTo>
                  <a:pt x="74709" y="116557"/>
                  <a:pt x="73129" y="119570"/>
                  <a:pt x="73323" y="122738"/>
                </a:cubicBezTo>
                <a:cubicBezTo>
                  <a:pt x="73129" y="125906"/>
                  <a:pt x="74709" y="128920"/>
                  <a:pt x="77425" y="130562"/>
                </a:cubicBezTo>
                <a:cubicBezTo>
                  <a:pt x="80140" y="132205"/>
                  <a:pt x="83543" y="132205"/>
                  <a:pt x="86258" y="130562"/>
                </a:cubicBezTo>
                <a:cubicBezTo>
                  <a:pt x="88974" y="128920"/>
                  <a:pt x="90554" y="125906"/>
                  <a:pt x="90360" y="12273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16446" y="2053820"/>
            <a:ext cx="2405670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 Oversaturation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446" y="2282932"/>
            <a:ext cx="23974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 many low-quality games flooded the market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5501" y="2675694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4148" y="2806615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81826" y="163651"/>
                </a:moveTo>
                <a:cubicBezTo>
                  <a:pt x="126986" y="163651"/>
                  <a:pt x="163651" y="126986"/>
                  <a:pt x="163651" y="81826"/>
                </a:cubicBezTo>
                <a:cubicBezTo>
                  <a:pt x="163651" y="36665"/>
                  <a:pt x="126986" y="0"/>
                  <a:pt x="81826" y="0"/>
                </a:cubicBezTo>
                <a:cubicBezTo>
                  <a:pt x="36665" y="0"/>
                  <a:pt x="0" y="36665"/>
                  <a:pt x="0" y="81826"/>
                </a:cubicBezTo>
                <a:cubicBezTo>
                  <a:pt x="0" y="126986"/>
                  <a:pt x="36665" y="163651"/>
                  <a:pt x="81826" y="163651"/>
                </a:cubicBezTo>
                <a:close/>
                <a:moveTo>
                  <a:pt x="53378" y="53378"/>
                </a:moveTo>
                <a:cubicBezTo>
                  <a:pt x="56383" y="50374"/>
                  <a:pt x="61241" y="50374"/>
                  <a:pt x="64214" y="53378"/>
                </a:cubicBezTo>
                <a:lnTo>
                  <a:pt x="81794" y="70958"/>
                </a:lnTo>
                <a:lnTo>
                  <a:pt x="99373" y="53378"/>
                </a:lnTo>
                <a:cubicBezTo>
                  <a:pt x="102378" y="50374"/>
                  <a:pt x="107236" y="50374"/>
                  <a:pt x="110209" y="53378"/>
                </a:cubicBezTo>
                <a:cubicBezTo>
                  <a:pt x="113181" y="56383"/>
                  <a:pt x="113213" y="61241"/>
                  <a:pt x="110209" y="64214"/>
                </a:cubicBezTo>
                <a:lnTo>
                  <a:pt x="92629" y="81794"/>
                </a:lnTo>
                <a:lnTo>
                  <a:pt x="110209" y="99373"/>
                </a:lnTo>
                <a:cubicBezTo>
                  <a:pt x="113213" y="102378"/>
                  <a:pt x="113213" y="107236"/>
                  <a:pt x="110209" y="110209"/>
                </a:cubicBezTo>
                <a:cubicBezTo>
                  <a:pt x="107204" y="113181"/>
                  <a:pt x="102346" y="113213"/>
                  <a:pt x="99373" y="110209"/>
                </a:cubicBezTo>
                <a:lnTo>
                  <a:pt x="81794" y="92629"/>
                </a:lnTo>
                <a:lnTo>
                  <a:pt x="64214" y="110209"/>
                </a:lnTo>
                <a:cubicBezTo>
                  <a:pt x="61209" y="113213"/>
                  <a:pt x="56351" y="113213"/>
                  <a:pt x="53378" y="110209"/>
                </a:cubicBezTo>
                <a:cubicBezTo>
                  <a:pt x="50406" y="107204"/>
                  <a:pt x="50374" y="102346"/>
                  <a:pt x="53378" y="99373"/>
                </a:cubicBezTo>
                <a:lnTo>
                  <a:pt x="70958" y="81794"/>
                </a:lnTo>
                <a:lnTo>
                  <a:pt x="53378" y="64214"/>
                </a:lnTo>
                <a:cubicBezTo>
                  <a:pt x="50374" y="61209"/>
                  <a:pt x="50374" y="56351"/>
                  <a:pt x="53378" y="5337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916446" y="2773885"/>
            <a:ext cx="204563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Loss of Consumer Trust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6446" y="3002996"/>
            <a:ext cx="20374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Poor games destroyed buyer confidence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501" y="3395758"/>
            <a:ext cx="5294110" cy="621874"/>
          </a:xfrm>
          <a:custGeom>
            <a:avLst/>
            <a:gdLst/>
            <a:ahLst/>
            <a:cxnLst/>
            <a:rect l="l" t="t" r="r" b="b"/>
            <a:pathLst>
              <a:path w="5294110" h="621874">
                <a:moveTo>
                  <a:pt x="0" y="0"/>
                </a:moveTo>
                <a:lnTo>
                  <a:pt x="5294110" y="0"/>
                </a:lnTo>
                <a:lnTo>
                  <a:pt x="5294110" y="621874"/>
                </a:lnTo>
                <a:lnTo>
                  <a:pt x="0" y="62187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4148" y="3526679"/>
            <a:ext cx="163651" cy="163651"/>
          </a:xfrm>
          <a:custGeom>
            <a:avLst/>
            <a:gdLst/>
            <a:ahLst/>
            <a:cxnLst/>
            <a:rect l="l" t="t" r="r" b="b"/>
            <a:pathLst>
              <a:path w="163651" h="163651">
                <a:moveTo>
                  <a:pt x="20456" y="10228"/>
                </a:moveTo>
                <a:cubicBezTo>
                  <a:pt x="9173" y="10228"/>
                  <a:pt x="0" y="19402"/>
                  <a:pt x="0" y="30685"/>
                </a:cubicBezTo>
                <a:lnTo>
                  <a:pt x="0" y="112510"/>
                </a:lnTo>
                <a:cubicBezTo>
                  <a:pt x="0" y="123793"/>
                  <a:pt x="9173" y="132966"/>
                  <a:pt x="20456" y="132966"/>
                </a:cubicBezTo>
                <a:lnTo>
                  <a:pt x="66483" y="132966"/>
                </a:lnTo>
                <a:lnTo>
                  <a:pt x="61369" y="148309"/>
                </a:lnTo>
                <a:lnTo>
                  <a:pt x="38356" y="148309"/>
                </a:lnTo>
                <a:cubicBezTo>
                  <a:pt x="34105" y="148309"/>
                  <a:pt x="30685" y="151729"/>
                  <a:pt x="30685" y="155980"/>
                </a:cubicBezTo>
                <a:cubicBezTo>
                  <a:pt x="30685" y="160231"/>
                  <a:pt x="34105" y="163651"/>
                  <a:pt x="38356" y="163651"/>
                </a:cubicBezTo>
                <a:lnTo>
                  <a:pt x="125295" y="163651"/>
                </a:lnTo>
                <a:cubicBezTo>
                  <a:pt x="129546" y="163651"/>
                  <a:pt x="132966" y="160231"/>
                  <a:pt x="132966" y="155980"/>
                </a:cubicBezTo>
                <a:cubicBezTo>
                  <a:pt x="132966" y="151729"/>
                  <a:pt x="129546" y="148309"/>
                  <a:pt x="125295" y="148309"/>
                </a:cubicBezTo>
                <a:lnTo>
                  <a:pt x="102282" y="148309"/>
                </a:lnTo>
                <a:lnTo>
                  <a:pt x="97168" y="132966"/>
                </a:lnTo>
                <a:lnTo>
                  <a:pt x="143195" y="132966"/>
                </a:lnTo>
                <a:cubicBezTo>
                  <a:pt x="154478" y="132966"/>
                  <a:pt x="163651" y="123793"/>
                  <a:pt x="163651" y="112510"/>
                </a:cubicBezTo>
                <a:lnTo>
                  <a:pt x="163651" y="30685"/>
                </a:lnTo>
                <a:cubicBezTo>
                  <a:pt x="163651" y="19402"/>
                  <a:pt x="154478" y="10228"/>
                  <a:pt x="143195" y="10228"/>
                </a:cubicBezTo>
                <a:lnTo>
                  <a:pt x="20456" y="10228"/>
                </a:lnTo>
                <a:close/>
                <a:moveTo>
                  <a:pt x="30685" y="30685"/>
                </a:moveTo>
                <a:lnTo>
                  <a:pt x="132966" y="30685"/>
                </a:lnTo>
                <a:cubicBezTo>
                  <a:pt x="138624" y="30685"/>
                  <a:pt x="143195" y="35255"/>
                  <a:pt x="143195" y="40913"/>
                </a:cubicBezTo>
                <a:lnTo>
                  <a:pt x="143195" y="92054"/>
                </a:lnTo>
                <a:cubicBezTo>
                  <a:pt x="143195" y="97711"/>
                  <a:pt x="138624" y="102282"/>
                  <a:pt x="132966" y="102282"/>
                </a:cubicBezTo>
                <a:lnTo>
                  <a:pt x="30685" y="102282"/>
                </a:lnTo>
                <a:cubicBezTo>
                  <a:pt x="25027" y="102282"/>
                  <a:pt x="20456" y="97711"/>
                  <a:pt x="20456" y="92054"/>
                </a:cubicBezTo>
                <a:lnTo>
                  <a:pt x="20456" y="40913"/>
                </a:lnTo>
                <a:cubicBezTo>
                  <a:pt x="20456" y="35255"/>
                  <a:pt x="25027" y="30685"/>
                  <a:pt x="30685" y="3068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16446" y="3493949"/>
            <a:ext cx="196381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Home Computer 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446" y="3723060"/>
            <a:ext cx="195563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PCs offered better value than arcades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5506" y="1354212"/>
            <a:ext cx="5645960" cy="3493949"/>
          </a:xfrm>
          <a:custGeom>
            <a:avLst/>
            <a:gdLst/>
            <a:ahLst/>
            <a:cxnLst/>
            <a:rect l="l" t="t" r="r" b="b"/>
            <a:pathLst>
              <a:path w="5645960" h="3493949">
                <a:moveTo>
                  <a:pt x="0" y="0"/>
                </a:moveTo>
                <a:lnTo>
                  <a:pt x="5645960" y="0"/>
                </a:lnTo>
                <a:lnTo>
                  <a:pt x="5645960" y="3493949"/>
                </a:lnTo>
                <a:lnTo>
                  <a:pt x="0" y="3493949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0061" y="1530137"/>
            <a:ext cx="5416848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DEVASTATION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1430" y="1955630"/>
            <a:ext cx="5294110" cy="1145557"/>
          </a:xfrm>
          <a:custGeom>
            <a:avLst/>
            <a:gdLst/>
            <a:ahLst/>
            <a:cxnLst/>
            <a:rect l="l" t="t" r="r" b="b"/>
            <a:pathLst>
              <a:path w="5294110" h="1145557">
                <a:moveTo>
                  <a:pt x="0" y="0"/>
                </a:moveTo>
                <a:lnTo>
                  <a:pt x="5294110" y="0"/>
                </a:lnTo>
                <a:lnTo>
                  <a:pt x="5294110" y="1145557"/>
                </a:lnTo>
                <a:lnTo>
                  <a:pt x="0" y="1145557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14161" y="2086550"/>
            <a:ext cx="5228650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93" b="1" dirty="0">
                <a:solidFill>
                  <a:srgbClr val="FF6B6B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5530" y="2544773"/>
            <a:ext cx="5105911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Revenue Decline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79621" y="2773885"/>
            <a:ext cx="509772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8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$3.2B → $100M (1983-1985)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1430" y="3232107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79621" y="3330298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Atari's Loss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9621" y="3592140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$350 million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1983 alone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430" y="4017632"/>
            <a:ext cx="5294110" cy="654604"/>
          </a:xfrm>
          <a:custGeom>
            <a:avLst/>
            <a:gdLst/>
            <a:ahLst/>
            <a:cxnLst/>
            <a:rect l="l" t="t" r="r" b="b"/>
            <a:pathLst>
              <a:path w="5294110" h="654604">
                <a:moveTo>
                  <a:pt x="0" y="0"/>
                </a:moveTo>
                <a:lnTo>
                  <a:pt x="5294110" y="0"/>
                </a:lnTo>
                <a:lnTo>
                  <a:pt x="5294110" y="654604"/>
                </a:lnTo>
                <a:lnTo>
                  <a:pt x="0" y="6546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79621" y="4115823"/>
            <a:ext cx="517137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Landfill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9621" y="4377664"/>
            <a:ext cx="5163189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Unsold cartridges buried in </a:t>
            </a:r>
            <a:pPr>
              <a:lnSpc>
                <a:spcPct val="130000"/>
              </a:lnSpc>
            </a:pPr>
            <a:r>
              <a:rPr lang="en-US" sz="1031" b="1" dirty="0">
                <a:solidFill>
                  <a:srgbClr val="FF6B6B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 Mexico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9576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5756" y="5146824"/>
            <a:ext cx="220929" cy="294572"/>
          </a:xfrm>
          <a:custGeom>
            <a:avLst/>
            <a:gdLst/>
            <a:ahLst/>
            <a:cxnLst/>
            <a:rect l="l" t="t" r="r" b="b"/>
            <a:pathLst>
              <a:path w="220929" h="294572">
                <a:moveTo>
                  <a:pt x="36821" y="0"/>
                </a:moveTo>
                <a:cubicBezTo>
                  <a:pt x="16512" y="0"/>
                  <a:pt x="0" y="16512"/>
                  <a:pt x="0" y="36821"/>
                </a:cubicBezTo>
                <a:lnTo>
                  <a:pt x="0" y="257750"/>
                </a:lnTo>
                <a:cubicBezTo>
                  <a:pt x="0" y="278060"/>
                  <a:pt x="16512" y="294572"/>
                  <a:pt x="36821" y="294572"/>
                </a:cubicBezTo>
                <a:lnTo>
                  <a:pt x="184107" y="294572"/>
                </a:lnTo>
                <a:cubicBezTo>
                  <a:pt x="204417" y="294572"/>
                  <a:pt x="220929" y="278060"/>
                  <a:pt x="220929" y="257750"/>
                </a:cubicBezTo>
                <a:lnTo>
                  <a:pt x="220929" y="36821"/>
                </a:lnTo>
                <a:cubicBezTo>
                  <a:pt x="220929" y="16512"/>
                  <a:pt x="204417" y="0"/>
                  <a:pt x="184107" y="0"/>
                </a:cubicBezTo>
                <a:lnTo>
                  <a:pt x="36821" y="0"/>
                </a:lnTo>
                <a:close/>
                <a:moveTo>
                  <a:pt x="101259" y="202518"/>
                </a:moveTo>
                <a:lnTo>
                  <a:pt x="119670" y="202518"/>
                </a:lnTo>
                <a:cubicBezTo>
                  <a:pt x="129853" y="202518"/>
                  <a:pt x="138081" y="210745"/>
                  <a:pt x="138081" y="220929"/>
                </a:cubicBezTo>
                <a:lnTo>
                  <a:pt x="138081" y="266956"/>
                </a:lnTo>
                <a:lnTo>
                  <a:pt x="82848" y="266956"/>
                </a:lnTo>
                <a:lnTo>
                  <a:pt x="82848" y="220929"/>
                </a:lnTo>
                <a:cubicBezTo>
                  <a:pt x="82848" y="210745"/>
                  <a:pt x="91076" y="202518"/>
                  <a:pt x="101259" y="202518"/>
                </a:cubicBezTo>
                <a:close/>
                <a:moveTo>
                  <a:pt x="55232" y="64438"/>
                </a:moveTo>
                <a:cubicBezTo>
                  <a:pt x="55232" y="59375"/>
                  <a:pt x="59375" y="55232"/>
                  <a:pt x="64438" y="55232"/>
                </a:cubicBezTo>
                <a:lnTo>
                  <a:pt x="82848" y="55232"/>
                </a:lnTo>
                <a:cubicBezTo>
                  <a:pt x="87911" y="55232"/>
                  <a:pt x="92054" y="59375"/>
                  <a:pt x="92054" y="64438"/>
                </a:cubicBezTo>
                <a:lnTo>
                  <a:pt x="92054" y="82848"/>
                </a:lnTo>
                <a:cubicBezTo>
                  <a:pt x="92054" y="87911"/>
                  <a:pt x="87911" y="92054"/>
                  <a:pt x="82848" y="92054"/>
                </a:cubicBezTo>
                <a:lnTo>
                  <a:pt x="64438" y="92054"/>
                </a:lnTo>
                <a:cubicBezTo>
                  <a:pt x="59375" y="92054"/>
                  <a:pt x="55232" y="87911"/>
                  <a:pt x="55232" y="82848"/>
                </a:cubicBezTo>
                <a:lnTo>
                  <a:pt x="55232" y="64438"/>
                </a:lnTo>
                <a:close/>
                <a:moveTo>
                  <a:pt x="138081" y="55232"/>
                </a:moveTo>
                <a:lnTo>
                  <a:pt x="156491" y="55232"/>
                </a:lnTo>
                <a:cubicBezTo>
                  <a:pt x="161554" y="55232"/>
                  <a:pt x="165697" y="59375"/>
                  <a:pt x="165697" y="64438"/>
                </a:cubicBezTo>
                <a:lnTo>
                  <a:pt x="165697" y="82848"/>
                </a:lnTo>
                <a:cubicBezTo>
                  <a:pt x="165697" y="87911"/>
                  <a:pt x="161554" y="92054"/>
                  <a:pt x="156491" y="92054"/>
                </a:cubicBezTo>
                <a:lnTo>
                  <a:pt x="138081" y="92054"/>
                </a:lnTo>
                <a:cubicBezTo>
                  <a:pt x="133018" y="92054"/>
                  <a:pt x="128875" y="87911"/>
                  <a:pt x="128875" y="82848"/>
                </a:cubicBezTo>
                <a:lnTo>
                  <a:pt x="128875" y="64438"/>
                </a:lnTo>
                <a:cubicBezTo>
                  <a:pt x="128875" y="59375"/>
                  <a:pt x="133018" y="55232"/>
                  <a:pt x="138081" y="55232"/>
                </a:cubicBezTo>
                <a:close/>
                <a:moveTo>
                  <a:pt x="55232" y="138081"/>
                </a:moveTo>
                <a:cubicBezTo>
                  <a:pt x="55232" y="133018"/>
                  <a:pt x="59375" y="128875"/>
                  <a:pt x="64438" y="128875"/>
                </a:cubicBezTo>
                <a:lnTo>
                  <a:pt x="82848" y="128875"/>
                </a:lnTo>
                <a:cubicBezTo>
                  <a:pt x="87911" y="128875"/>
                  <a:pt x="92054" y="133018"/>
                  <a:pt x="92054" y="138081"/>
                </a:cubicBezTo>
                <a:lnTo>
                  <a:pt x="92054" y="156491"/>
                </a:lnTo>
                <a:cubicBezTo>
                  <a:pt x="92054" y="161554"/>
                  <a:pt x="87911" y="165697"/>
                  <a:pt x="82848" y="165697"/>
                </a:cubicBezTo>
                <a:lnTo>
                  <a:pt x="64438" y="165697"/>
                </a:lnTo>
                <a:cubicBezTo>
                  <a:pt x="59375" y="165697"/>
                  <a:pt x="55232" y="161554"/>
                  <a:pt x="55232" y="156491"/>
                </a:cubicBezTo>
                <a:lnTo>
                  <a:pt x="55232" y="138081"/>
                </a:lnTo>
                <a:close/>
                <a:moveTo>
                  <a:pt x="138081" y="128875"/>
                </a:moveTo>
                <a:lnTo>
                  <a:pt x="156491" y="128875"/>
                </a:lnTo>
                <a:cubicBezTo>
                  <a:pt x="161554" y="128875"/>
                  <a:pt x="165697" y="133018"/>
                  <a:pt x="165697" y="138081"/>
                </a:cubicBezTo>
                <a:lnTo>
                  <a:pt x="165697" y="156491"/>
                </a:lnTo>
                <a:cubicBezTo>
                  <a:pt x="165697" y="161554"/>
                  <a:pt x="161554" y="165697"/>
                  <a:pt x="156491" y="165697"/>
                </a:cubicBezTo>
                <a:lnTo>
                  <a:pt x="138081" y="165697"/>
                </a:lnTo>
                <a:cubicBezTo>
                  <a:pt x="133018" y="165697"/>
                  <a:pt x="128875" y="161554"/>
                  <a:pt x="128875" y="156491"/>
                </a:cubicBezTo>
                <a:lnTo>
                  <a:pt x="128875" y="138081"/>
                </a:lnTo>
                <a:cubicBezTo>
                  <a:pt x="128875" y="133018"/>
                  <a:pt x="133018" y="128875"/>
                  <a:pt x="138081" y="12887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441858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COMPANIES FOLDED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0040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U.S. Games, Magnavox, and dozens more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28397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29344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179217" y="141360"/>
                </a:lnTo>
                <a:cubicBezTo>
                  <a:pt x="210860" y="135089"/>
                  <a:pt x="234737" y="107127"/>
                  <a:pt x="234737" y="73643"/>
                </a:cubicBezTo>
                <a:cubicBezTo>
                  <a:pt x="234737" y="35498"/>
                  <a:pt x="203841" y="4603"/>
                  <a:pt x="165697" y="4603"/>
                </a:cubicBezTo>
                <a:cubicBezTo>
                  <a:pt x="132212" y="4603"/>
                  <a:pt x="104251" y="28479"/>
                  <a:pt x="97980" y="60123"/>
                </a:cubicBezTo>
                <a:lnTo>
                  <a:pt x="23589" y="-14326"/>
                </a:lnTo>
                <a:close/>
                <a:moveTo>
                  <a:pt x="135549" y="175707"/>
                </a:moveTo>
                <a:cubicBezTo>
                  <a:pt x="85092" y="182151"/>
                  <a:pt x="46027" y="225244"/>
                  <a:pt x="46027" y="277484"/>
                </a:cubicBezTo>
                <a:cubicBezTo>
                  <a:pt x="46027" y="286920"/>
                  <a:pt x="53679" y="294572"/>
                  <a:pt x="63114" y="294572"/>
                </a:cubicBezTo>
                <a:lnTo>
                  <a:pt x="254413" y="294572"/>
                </a:lnTo>
                <a:lnTo>
                  <a:pt x="135549" y="175707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4330679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LAYOFFS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38861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Thousands lost jobs industry-wide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17218" y="5003630"/>
            <a:ext cx="3731243" cy="1170105"/>
          </a:xfrm>
          <a:custGeom>
            <a:avLst/>
            <a:gdLst/>
            <a:ahLst/>
            <a:cxnLst/>
            <a:rect l="l" t="t" r="r" b="b"/>
            <a:pathLst>
              <a:path w="3731243" h="1170105">
                <a:moveTo>
                  <a:pt x="0" y="0"/>
                </a:moveTo>
                <a:lnTo>
                  <a:pt x="3731243" y="0"/>
                </a:lnTo>
                <a:lnTo>
                  <a:pt x="3731243" y="1170105"/>
                </a:lnTo>
                <a:lnTo>
                  <a:pt x="0" y="11701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20000"/>
            </a:srgbClr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8165" y="5146824"/>
            <a:ext cx="331393" cy="294572"/>
          </a:xfrm>
          <a:custGeom>
            <a:avLst/>
            <a:gdLst/>
            <a:ahLst/>
            <a:cxnLst/>
            <a:rect l="l" t="t" r="r" b="b"/>
            <a:pathLst>
              <a:path w="331393" h="294572">
                <a:moveTo>
                  <a:pt x="23589" y="-14326"/>
                </a:moveTo>
                <a:cubicBezTo>
                  <a:pt x="18181" y="-19734"/>
                  <a:pt x="9436" y="-19734"/>
                  <a:pt x="4085" y="-14326"/>
                </a:cubicBezTo>
                <a:cubicBezTo>
                  <a:pt x="-1266" y="-8918"/>
                  <a:pt x="-1323" y="-173"/>
                  <a:pt x="4027" y="5236"/>
                </a:cubicBezTo>
                <a:lnTo>
                  <a:pt x="307805" y="309013"/>
                </a:lnTo>
                <a:cubicBezTo>
                  <a:pt x="313213" y="314421"/>
                  <a:pt x="321958" y="314421"/>
                  <a:pt x="327308" y="309013"/>
                </a:cubicBezTo>
                <a:cubicBezTo>
                  <a:pt x="332659" y="303605"/>
                  <a:pt x="332717" y="294859"/>
                  <a:pt x="327308" y="289509"/>
                </a:cubicBezTo>
                <a:lnTo>
                  <a:pt x="293594" y="255794"/>
                </a:lnTo>
                <a:cubicBezTo>
                  <a:pt x="294227" y="253493"/>
                  <a:pt x="294514" y="251076"/>
                  <a:pt x="294514" y="248602"/>
                </a:cubicBezTo>
                <a:lnTo>
                  <a:pt x="294514" y="161612"/>
                </a:lnTo>
                <a:cubicBezTo>
                  <a:pt x="287323" y="164258"/>
                  <a:pt x="279498" y="165754"/>
                  <a:pt x="271213" y="165754"/>
                </a:cubicBezTo>
                <a:cubicBezTo>
                  <a:pt x="266553" y="165754"/>
                  <a:pt x="262065" y="165294"/>
                  <a:pt x="257693" y="164373"/>
                </a:cubicBezTo>
                <a:lnTo>
                  <a:pt x="257693" y="202576"/>
                </a:lnTo>
                <a:lnTo>
                  <a:pt x="240318" y="202576"/>
                </a:lnTo>
                <a:lnTo>
                  <a:pt x="161209" y="123467"/>
                </a:lnTo>
                <a:cubicBezTo>
                  <a:pt x="162877" y="121396"/>
                  <a:pt x="164373" y="119210"/>
                  <a:pt x="165582" y="116851"/>
                </a:cubicBezTo>
                <a:cubicBezTo>
                  <a:pt x="172255" y="129508"/>
                  <a:pt x="185546" y="138138"/>
                  <a:pt x="200850" y="138138"/>
                </a:cubicBezTo>
                <a:cubicBezTo>
                  <a:pt x="216269" y="138138"/>
                  <a:pt x="229501" y="129451"/>
                  <a:pt x="236175" y="116793"/>
                </a:cubicBezTo>
                <a:cubicBezTo>
                  <a:pt x="242734" y="129508"/>
                  <a:pt x="256024" y="138138"/>
                  <a:pt x="271156" y="138138"/>
                </a:cubicBezTo>
                <a:cubicBezTo>
                  <a:pt x="297391" y="138138"/>
                  <a:pt x="316262" y="112996"/>
                  <a:pt x="308898" y="87796"/>
                </a:cubicBezTo>
                <a:lnTo>
                  <a:pt x="295607" y="41597"/>
                </a:lnTo>
                <a:cubicBezTo>
                  <a:pt x="291580" y="27846"/>
                  <a:pt x="278980" y="18411"/>
                  <a:pt x="264654" y="18411"/>
                </a:cubicBezTo>
                <a:lnTo>
                  <a:pt x="66739" y="18411"/>
                </a:lnTo>
                <a:cubicBezTo>
                  <a:pt x="63575" y="18411"/>
                  <a:pt x="60525" y="18871"/>
                  <a:pt x="57591" y="19734"/>
                </a:cubicBezTo>
                <a:lnTo>
                  <a:pt x="23589" y="-14326"/>
                </a:lnTo>
                <a:close/>
                <a:moveTo>
                  <a:pt x="87163" y="127322"/>
                </a:moveTo>
                <a:lnTo>
                  <a:pt x="28019" y="68235"/>
                </a:lnTo>
                <a:lnTo>
                  <a:pt x="22381" y="87739"/>
                </a:lnTo>
                <a:cubicBezTo>
                  <a:pt x="15016" y="112881"/>
                  <a:pt x="33887" y="138081"/>
                  <a:pt x="60123" y="138081"/>
                </a:cubicBezTo>
                <a:cubicBezTo>
                  <a:pt x="70536" y="138081"/>
                  <a:pt x="80087" y="133996"/>
                  <a:pt x="87163" y="127322"/>
                </a:cubicBezTo>
                <a:close/>
                <a:moveTo>
                  <a:pt x="236003" y="276161"/>
                </a:moveTo>
                <a:lnTo>
                  <a:pt x="162360" y="202518"/>
                </a:lnTo>
                <a:lnTo>
                  <a:pt x="73643" y="202518"/>
                </a:lnTo>
                <a:lnTo>
                  <a:pt x="73643" y="164316"/>
                </a:lnTo>
                <a:cubicBezTo>
                  <a:pt x="69270" y="165236"/>
                  <a:pt x="64725" y="165697"/>
                  <a:pt x="60123" y="165697"/>
                </a:cubicBezTo>
                <a:cubicBezTo>
                  <a:pt x="51838" y="165697"/>
                  <a:pt x="44013" y="164201"/>
                  <a:pt x="36821" y="161554"/>
                </a:cubicBezTo>
                <a:lnTo>
                  <a:pt x="36821" y="248545"/>
                </a:lnTo>
                <a:cubicBezTo>
                  <a:pt x="36821" y="263791"/>
                  <a:pt x="49191" y="276161"/>
                  <a:pt x="64438" y="276161"/>
                </a:cubicBezTo>
                <a:lnTo>
                  <a:pt x="236003" y="276161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8219500" y="5539587"/>
            <a:ext cx="352667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ARCADES CLOSED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7682" y="5834158"/>
            <a:ext cx="351031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Many arcades shut down permanently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9576" y="6329203"/>
            <a:ext cx="11512848" cy="515501"/>
          </a:xfrm>
          <a:custGeom>
            <a:avLst/>
            <a:gdLst/>
            <a:ahLst/>
            <a:cxnLst/>
            <a:rect l="l" t="t" r="r" b="b"/>
            <a:pathLst>
              <a:path w="11512848" h="515501">
                <a:moveTo>
                  <a:pt x="0" y="0"/>
                </a:moveTo>
                <a:lnTo>
                  <a:pt x="11512848" y="0"/>
                </a:lnTo>
                <a:lnTo>
                  <a:pt x="11512848" y="515501"/>
                </a:lnTo>
                <a:lnTo>
                  <a:pt x="0" y="51550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80000"/>
            </a:srgbClr>
          </a:solidFill>
          <a:ln w="38100">
            <a:solidFill>
              <a:srgbClr val="F4F4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858" y="6472397"/>
            <a:ext cx="11308285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By 1985, the industry was on its knees. But from the ashes, a </a:t>
            </a:r>
            <a:pPr algn="ctr">
              <a:lnSpc>
                <a:spcPct val="120000"/>
              </a:lnSpc>
            </a:pPr>
            <a:r>
              <a:rPr lang="en-US" sz="1289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phoenix would rise</a:t>
            </a:r>
            <a:pPr algn="ctr">
              <a:lnSpc>
                <a:spcPct val="120000"/>
              </a:lnSpc>
            </a:pPr>
            <a:r>
              <a:rPr lang="en-US" sz="128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...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0330"/>
          </a:xfrm>
          <a:custGeom>
            <a:avLst/>
            <a:gdLst/>
            <a:ahLst/>
            <a:cxnLst/>
            <a:rect l="l" t="t" r="r" b="b"/>
            <a:pathLst>
              <a:path w="12192000" h="6860330">
                <a:moveTo>
                  <a:pt x="0" y="0"/>
                </a:moveTo>
                <a:lnTo>
                  <a:pt x="12192000" y="0"/>
                </a:lnTo>
                <a:lnTo>
                  <a:pt x="12192000" y="6860330"/>
                </a:lnTo>
                <a:lnTo>
                  <a:pt x="0" y="686033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72844" y="372844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PHOENIX RISES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2844" y="932110"/>
            <a:ext cx="1155816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Redemption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844" y="1342239"/>
            <a:ext cx="894826" cy="37284"/>
          </a:xfrm>
          <a:custGeom>
            <a:avLst/>
            <a:gdLst/>
            <a:ahLst/>
            <a:cxnLst/>
            <a:rect l="l" t="t" r="r" b="b"/>
            <a:pathLst>
              <a:path w="894826" h="37284">
                <a:moveTo>
                  <a:pt x="0" y="0"/>
                </a:moveTo>
                <a:lnTo>
                  <a:pt x="894826" y="0"/>
                </a:lnTo>
                <a:lnTo>
                  <a:pt x="894826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6" name="Shape 4"/>
          <p:cNvSpPr/>
          <p:nvPr/>
        </p:nvSpPr>
        <p:spPr>
          <a:xfrm>
            <a:off x="386826" y="1542642"/>
            <a:ext cx="5583339" cy="2013358"/>
          </a:xfrm>
          <a:custGeom>
            <a:avLst/>
            <a:gdLst/>
            <a:ahLst/>
            <a:cxnLst/>
            <a:rect l="l" t="t" r="r" b="b"/>
            <a:pathLst>
              <a:path w="5583339" h="2013358">
                <a:moveTo>
                  <a:pt x="0" y="0"/>
                </a:moveTo>
                <a:lnTo>
                  <a:pt x="5583339" y="0"/>
                </a:lnTo>
                <a:lnTo>
                  <a:pt x="5583339" y="2013358"/>
                </a:lnTo>
                <a:lnTo>
                  <a:pt x="0" y="201335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229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NEWCOMER ARRIVES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229" y="2153174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1985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a Japanese company entered the US market with a revolutionary approach: the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Entertainment System (NES)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229" y="2810312"/>
            <a:ext cx="5266422" cy="5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 studied the crash's lessons and implemented </a:t>
            </a:r>
            <a:pPr>
              <a:lnSpc>
                <a:spcPct val="140000"/>
              </a:lnSpc>
            </a:pPr>
            <a:r>
              <a:rPr lang="en-US" sz="1321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strict quality control</a:t>
            </a:r>
            <a:pPr>
              <a:lnSpc>
                <a:spcPct val="14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prevent another market collapse.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826" y="3733101"/>
            <a:ext cx="5583339" cy="1929468"/>
          </a:xfrm>
          <a:custGeom>
            <a:avLst/>
            <a:gdLst/>
            <a:ahLst/>
            <a:cxnLst/>
            <a:rect l="l" t="t" r="r" b="b"/>
            <a:pathLst>
              <a:path w="5583339" h="1929468">
                <a:moveTo>
                  <a:pt x="0" y="0"/>
                </a:moveTo>
                <a:lnTo>
                  <a:pt x="5583339" y="0"/>
                </a:lnTo>
                <a:lnTo>
                  <a:pt x="5583339" y="1929468"/>
                </a:lnTo>
                <a:lnTo>
                  <a:pt x="0" y="19294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14902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229" y="3933505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NINTENDO STRATEGY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0532" y="4380917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1"/>
          <p:cNvSpPr/>
          <p:nvPr/>
        </p:nvSpPr>
        <p:spPr>
          <a:xfrm>
            <a:off x="908807" y="4343633"/>
            <a:ext cx="315053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Third-party licensing: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Controlled who could make games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0532" y="467919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5" name="Text 13"/>
          <p:cNvSpPr/>
          <p:nvPr/>
        </p:nvSpPr>
        <p:spPr>
          <a:xfrm>
            <a:off x="908807" y="4641908"/>
            <a:ext cx="277768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Quality standards: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Every game required approval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0532" y="4977468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7" name="Text 15"/>
          <p:cNvSpPr/>
          <p:nvPr/>
        </p:nvSpPr>
        <p:spPr>
          <a:xfrm>
            <a:off x="908807" y="4940183"/>
            <a:ext cx="318781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Marketing: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Repositioned NES as "entertainment system"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0532" y="5275743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908807" y="5238459"/>
            <a:ext cx="2982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games: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Super Mario Bros., The Legend of Zelda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3874" y="1542642"/>
            <a:ext cx="5583339" cy="3942826"/>
          </a:xfrm>
          <a:custGeom>
            <a:avLst/>
            <a:gdLst/>
            <a:ahLst/>
            <a:cxnLst/>
            <a:rect l="l" t="t" r="r" b="b"/>
            <a:pathLst>
              <a:path w="5583339" h="3942826">
                <a:moveTo>
                  <a:pt x="0" y="0"/>
                </a:moveTo>
                <a:lnTo>
                  <a:pt x="5583339" y="0"/>
                </a:lnTo>
                <a:lnTo>
                  <a:pt x="5583339" y="3942826"/>
                </a:lnTo>
                <a:lnTo>
                  <a:pt x="0" y="3942826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14902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8351" y="1743046"/>
            <a:ext cx="5294385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1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24278" y="2190459"/>
            <a:ext cx="5182532" cy="1081248"/>
          </a:xfrm>
          <a:custGeom>
            <a:avLst/>
            <a:gdLst/>
            <a:ahLst/>
            <a:cxnLst/>
            <a:rect l="l" t="t" r="r" b="b"/>
            <a:pathLst>
              <a:path w="5182532" h="1081248">
                <a:moveTo>
                  <a:pt x="0" y="0"/>
                </a:moveTo>
                <a:lnTo>
                  <a:pt x="5182532" y="0"/>
                </a:lnTo>
                <a:lnTo>
                  <a:pt x="5182532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61562" y="2339596"/>
            <a:ext cx="5107963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A7F070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90%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31470" y="2861578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 Console Market Share by 1987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4278" y="3420844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73415" y="3569982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Consumer Confidence Restored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73415" y="3905541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Nintendo's seal of quality reassured buyers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4278" y="4427523"/>
            <a:ext cx="5182532" cy="857541"/>
          </a:xfrm>
          <a:custGeom>
            <a:avLst/>
            <a:gdLst/>
            <a:ahLst/>
            <a:cxnLst/>
            <a:rect l="l" t="t" r="r" b="b"/>
            <a:pathLst>
              <a:path w="5182532" h="857541">
                <a:moveTo>
                  <a:pt x="0" y="0"/>
                </a:moveTo>
                <a:lnTo>
                  <a:pt x="5182532" y="0"/>
                </a:lnTo>
                <a:lnTo>
                  <a:pt x="5182532" y="857541"/>
                </a:ln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1A1C2C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73415" y="4576661"/>
            <a:ext cx="496814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Industry Foundation Rebuilt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73415" y="4912220"/>
            <a:ext cx="495882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F4F4F4">
                    <a:alpha val="90000"/>
                  </a:srgbClr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gaming business model established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3874" y="5662569"/>
            <a:ext cx="5583339" cy="1183780"/>
          </a:xfrm>
          <a:custGeom>
            <a:avLst/>
            <a:gdLst/>
            <a:ahLst/>
            <a:cxnLst/>
            <a:rect l="l" t="t" r="r" b="b"/>
            <a:pathLst>
              <a:path w="5583339" h="1183780">
                <a:moveTo>
                  <a:pt x="0" y="0"/>
                </a:moveTo>
                <a:lnTo>
                  <a:pt x="5583339" y="0"/>
                </a:lnTo>
                <a:lnTo>
                  <a:pt x="5583339" y="1183780"/>
                </a:lnTo>
                <a:lnTo>
                  <a:pt x="0" y="1183780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14902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0388" y="5825688"/>
            <a:ext cx="535031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ARCADE LEGACY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49709" y="6198532"/>
            <a:ext cx="533167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NES games like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Super Mario Bros.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1174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Donkey Kong</a:t>
            </a:r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brought arcade-quality experiences into living rooms—preserving the golden age's innovations for future generations.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d6e8fa3ba3637ef9d1a122a579620a0aaf3339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99" r="99" t="0" b="0"/>
          <a:stretch/>
        </p:blipFill>
        <p:spPr>
          <a:xfrm>
            <a:off x="0" y="0"/>
            <a:ext cx="12192000" cy="6856313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13"/>
          </a:xfrm>
          <a:custGeom>
            <a:avLst/>
            <a:gdLst/>
            <a:ahLst/>
            <a:cxnLst/>
            <a:rect l="l" t="t" r="r" b="b"/>
            <a:pathLst>
              <a:path w="12192000" h="6856313">
                <a:moveTo>
                  <a:pt x="0" y="0"/>
                </a:moveTo>
                <a:lnTo>
                  <a:pt x="12192000" y="0"/>
                </a:lnTo>
                <a:lnTo>
                  <a:pt x="12192000" y="6856313"/>
                </a:lnTo>
                <a:lnTo>
                  <a:pt x="0" y="685631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608573" y="-186704"/>
            <a:ext cx="971761" cy="64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10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🕹️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41562" y="821048"/>
            <a:ext cx="3104236" cy="161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THE LEGACY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101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LIVES 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74631" y="2656596"/>
            <a:ext cx="1439646" cy="0"/>
          </a:xfrm>
          <a:custGeom>
            <a:avLst/>
            <a:gdLst/>
            <a:ahLst/>
            <a:cxnLst/>
            <a:rect l="l" t="t" r="r" b="b"/>
            <a:pathLst>
              <a:path w="1439646" h="0">
                <a:moveTo>
                  <a:pt x="0" y="0"/>
                </a:moveTo>
                <a:lnTo>
                  <a:pt x="1439646" y="0"/>
                </a:lnTo>
                <a:lnTo>
                  <a:pt x="1439646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7" name="Text 4"/>
          <p:cNvSpPr/>
          <p:nvPr/>
        </p:nvSpPr>
        <p:spPr>
          <a:xfrm>
            <a:off x="2201365" y="2944525"/>
            <a:ext cx="7783085" cy="350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golden age of arcade games established principles that still drive the industry today: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68848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06194" y="3682344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76077" y="0"/>
                </a:moveTo>
                <a:lnTo>
                  <a:pt x="194173" y="0"/>
                </a:lnTo>
                <a:cubicBezTo>
                  <a:pt x="208144" y="0"/>
                  <a:pt x="219532" y="11493"/>
                  <a:pt x="219005" y="25412"/>
                </a:cubicBezTo>
                <a:cubicBezTo>
                  <a:pt x="218899" y="28206"/>
                  <a:pt x="218794" y="31000"/>
                  <a:pt x="218636" y="33742"/>
                </a:cubicBezTo>
                <a:lnTo>
                  <a:pt x="244785" y="33742"/>
                </a:lnTo>
                <a:cubicBezTo>
                  <a:pt x="258546" y="33742"/>
                  <a:pt x="270672" y="45130"/>
                  <a:pt x="269617" y="59997"/>
                </a:cubicBezTo>
                <a:cubicBezTo>
                  <a:pt x="265663" y="114669"/>
                  <a:pt x="237721" y="144720"/>
                  <a:pt x="207406" y="160431"/>
                </a:cubicBezTo>
                <a:cubicBezTo>
                  <a:pt x="199076" y="164754"/>
                  <a:pt x="190588" y="167970"/>
                  <a:pt x="182521" y="170343"/>
                </a:cubicBezTo>
                <a:cubicBezTo>
                  <a:pt x="171872" y="185421"/>
                  <a:pt x="160800" y="193382"/>
                  <a:pt x="151996" y="197653"/>
                </a:cubicBezTo>
                <a:lnTo>
                  <a:pt x="151996" y="236192"/>
                </a:lnTo>
                <a:lnTo>
                  <a:pt x="185738" y="236192"/>
                </a:lnTo>
                <a:cubicBezTo>
                  <a:pt x="195069" y="236192"/>
                  <a:pt x="202608" y="243731"/>
                  <a:pt x="202608" y="253063"/>
                </a:cubicBezTo>
                <a:cubicBezTo>
                  <a:pt x="202608" y="262394"/>
                  <a:pt x="195069" y="269934"/>
                  <a:pt x="185738" y="269934"/>
                </a:cubicBezTo>
                <a:lnTo>
                  <a:pt x="84512" y="269934"/>
                </a:lnTo>
                <a:cubicBezTo>
                  <a:pt x="75181" y="269934"/>
                  <a:pt x="67642" y="262394"/>
                  <a:pt x="67642" y="253063"/>
                </a:cubicBezTo>
                <a:cubicBezTo>
                  <a:pt x="67642" y="243731"/>
                  <a:pt x="75181" y="236192"/>
                  <a:pt x="84512" y="236192"/>
                </a:cubicBezTo>
                <a:lnTo>
                  <a:pt x="118254" y="236192"/>
                </a:lnTo>
                <a:lnTo>
                  <a:pt x="118254" y="197653"/>
                </a:lnTo>
                <a:cubicBezTo>
                  <a:pt x="109819" y="193593"/>
                  <a:pt x="99327" y="186054"/>
                  <a:pt x="89099" y="172188"/>
                </a:cubicBezTo>
                <a:cubicBezTo>
                  <a:pt x="79398" y="169657"/>
                  <a:pt x="68854" y="165809"/>
                  <a:pt x="58573" y="160009"/>
                </a:cubicBezTo>
                <a:cubicBezTo>
                  <a:pt x="30051" y="144035"/>
                  <a:pt x="4323" y="113931"/>
                  <a:pt x="633" y="59892"/>
                </a:cubicBezTo>
                <a:cubicBezTo>
                  <a:pt x="-369" y="45077"/>
                  <a:pt x="11704" y="33689"/>
                  <a:pt x="25464" y="33689"/>
                </a:cubicBezTo>
                <a:lnTo>
                  <a:pt x="51614" y="33689"/>
                </a:lnTo>
                <a:cubicBezTo>
                  <a:pt x="51456" y="30947"/>
                  <a:pt x="51351" y="28206"/>
                  <a:pt x="51245" y="25359"/>
                </a:cubicBezTo>
                <a:cubicBezTo>
                  <a:pt x="50718" y="11388"/>
                  <a:pt x="62106" y="-53"/>
                  <a:pt x="76077" y="-53"/>
                </a:cubicBezTo>
                <a:close/>
                <a:moveTo>
                  <a:pt x="53512" y="59048"/>
                </a:moveTo>
                <a:lnTo>
                  <a:pt x="25886" y="59048"/>
                </a:lnTo>
                <a:cubicBezTo>
                  <a:pt x="29155" y="103703"/>
                  <a:pt x="49664" y="126057"/>
                  <a:pt x="70805" y="137919"/>
                </a:cubicBezTo>
                <a:cubicBezTo>
                  <a:pt x="63213" y="118254"/>
                  <a:pt x="56939" y="92579"/>
                  <a:pt x="53512" y="59048"/>
                </a:cubicBezTo>
                <a:close/>
                <a:moveTo>
                  <a:pt x="200341" y="135389"/>
                </a:moveTo>
                <a:cubicBezTo>
                  <a:pt x="221693" y="122841"/>
                  <a:pt x="240990" y="100540"/>
                  <a:pt x="244258" y="59048"/>
                </a:cubicBezTo>
                <a:lnTo>
                  <a:pt x="216685" y="59048"/>
                </a:lnTo>
                <a:cubicBezTo>
                  <a:pt x="213416" y="91155"/>
                  <a:pt x="207511" y="116093"/>
                  <a:pt x="200341" y="135389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0" name="Text 7"/>
          <p:cNvSpPr/>
          <p:nvPr/>
        </p:nvSpPr>
        <p:spPr>
          <a:xfrm>
            <a:off x="2385819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Competitive Gaming Culture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9932" y="3524883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A7F070">
              <a:alpha val="20000"/>
            </a:srgbClr>
          </a:solidFill>
          <a:ln w="38100">
            <a:solidFill>
              <a:srgbClr val="A7F0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83537" y="3682344"/>
            <a:ext cx="337417" cy="269934"/>
          </a:xfrm>
          <a:custGeom>
            <a:avLst/>
            <a:gdLst/>
            <a:ahLst/>
            <a:cxnLst/>
            <a:rect l="l" t="t" r="r" b="b"/>
            <a:pathLst>
              <a:path w="337417" h="269934">
                <a:moveTo>
                  <a:pt x="168708" y="8435"/>
                </a:moveTo>
                <a:cubicBezTo>
                  <a:pt x="198970" y="8435"/>
                  <a:pt x="223539" y="33004"/>
                  <a:pt x="223539" y="63266"/>
                </a:cubicBezTo>
                <a:cubicBezTo>
                  <a:pt x="223539" y="93527"/>
                  <a:pt x="198970" y="118096"/>
                  <a:pt x="168708" y="118096"/>
                </a:cubicBezTo>
                <a:cubicBezTo>
                  <a:pt x="138447" y="118096"/>
                  <a:pt x="113878" y="93527"/>
                  <a:pt x="113878" y="63266"/>
                </a:cubicBezTo>
                <a:cubicBezTo>
                  <a:pt x="113878" y="33004"/>
                  <a:pt x="138447" y="8435"/>
                  <a:pt x="168708" y="8435"/>
                </a:cubicBezTo>
                <a:close/>
                <a:moveTo>
                  <a:pt x="50613" y="46395"/>
                </a:moveTo>
                <a:cubicBezTo>
                  <a:pt x="71563" y="46395"/>
                  <a:pt x="88572" y="63404"/>
                  <a:pt x="88572" y="84354"/>
                </a:cubicBezTo>
                <a:cubicBezTo>
                  <a:pt x="88572" y="105305"/>
                  <a:pt x="71563" y="122314"/>
                  <a:pt x="50613" y="122314"/>
                </a:cubicBezTo>
                <a:cubicBezTo>
                  <a:pt x="29662" y="122314"/>
                  <a:pt x="12653" y="105305"/>
                  <a:pt x="12653" y="84354"/>
                </a:cubicBezTo>
                <a:cubicBezTo>
                  <a:pt x="12653" y="63404"/>
                  <a:pt x="29662" y="46395"/>
                  <a:pt x="50613" y="46395"/>
                </a:cubicBezTo>
                <a:close/>
                <a:moveTo>
                  <a:pt x="0" y="219321"/>
                </a:moveTo>
                <a:cubicBezTo>
                  <a:pt x="0" y="182047"/>
                  <a:pt x="30209" y="151838"/>
                  <a:pt x="67483" y="151838"/>
                </a:cubicBezTo>
                <a:cubicBezTo>
                  <a:pt x="74232" y="151838"/>
                  <a:pt x="80769" y="152839"/>
                  <a:pt x="86938" y="154685"/>
                </a:cubicBezTo>
                <a:cubicBezTo>
                  <a:pt x="69592" y="174086"/>
                  <a:pt x="59048" y="199709"/>
                  <a:pt x="59048" y="227756"/>
                </a:cubicBezTo>
                <a:lnTo>
                  <a:pt x="59048" y="236192"/>
                </a:lnTo>
                <a:cubicBezTo>
                  <a:pt x="59048" y="242202"/>
                  <a:pt x="60313" y="247896"/>
                  <a:pt x="62580" y="253063"/>
                </a:cubicBezTo>
                <a:lnTo>
                  <a:pt x="16871" y="253063"/>
                </a:lnTo>
                <a:cubicBezTo>
                  <a:pt x="7539" y="253063"/>
                  <a:pt x="0" y="245524"/>
                  <a:pt x="0" y="236192"/>
                </a:cubicBezTo>
                <a:lnTo>
                  <a:pt x="0" y="219321"/>
                </a:lnTo>
                <a:close/>
                <a:moveTo>
                  <a:pt x="274837" y="253063"/>
                </a:moveTo>
                <a:cubicBezTo>
                  <a:pt x="277104" y="247896"/>
                  <a:pt x="278369" y="242202"/>
                  <a:pt x="278369" y="236192"/>
                </a:cubicBezTo>
                <a:lnTo>
                  <a:pt x="278369" y="227756"/>
                </a:lnTo>
                <a:cubicBezTo>
                  <a:pt x="278369" y="199709"/>
                  <a:pt x="267825" y="174086"/>
                  <a:pt x="250479" y="154685"/>
                </a:cubicBezTo>
                <a:cubicBezTo>
                  <a:pt x="256648" y="152839"/>
                  <a:pt x="263185" y="151838"/>
                  <a:pt x="269934" y="151838"/>
                </a:cubicBezTo>
                <a:cubicBezTo>
                  <a:pt x="307208" y="151838"/>
                  <a:pt x="337417" y="182047"/>
                  <a:pt x="337417" y="219321"/>
                </a:cubicBezTo>
                <a:lnTo>
                  <a:pt x="337417" y="236192"/>
                </a:lnTo>
                <a:cubicBezTo>
                  <a:pt x="337417" y="245524"/>
                  <a:pt x="329878" y="253063"/>
                  <a:pt x="320546" y="253063"/>
                </a:cubicBezTo>
                <a:lnTo>
                  <a:pt x="274837" y="253063"/>
                </a:lnTo>
                <a:close/>
                <a:moveTo>
                  <a:pt x="248845" y="84354"/>
                </a:moveTo>
                <a:cubicBezTo>
                  <a:pt x="248845" y="63404"/>
                  <a:pt x="265854" y="46395"/>
                  <a:pt x="286804" y="46395"/>
                </a:cubicBezTo>
                <a:cubicBezTo>
                  <a:pt x="307755" y="46395"/>
                  <a:pt x="324764" y="63404"/>
                  <a:pt x="324764" y="84354"/>
                </a:cubicBezTo>
                <a:cubicBezTo>
                  <a:pt x="324764" y="105305"/>
                  <a:pt x="307755" y="122314"/>
                  <a:pt x="286804" y="122314"/>
                </a:cubicBezTo>
                <a:cubicBezTo>
                  <a:pt x="265854" y="122314"/>
                  <a:pt x="248845" y="105305"/>
                  <a:pt x="248845" y="84354"/>
                </a:cubicBezTo>
                <a:close/>
                <a:moveTo>
                  <a:pt x="84354" y="227756"/>
                </a:moveTo>
                <a:cubicBezTo>
                  <a:pt x="84354" y="181151"/>
                  <a:pt x="122103" y="143402"/>
                  <a:pt x="168708" y="143402"/>
                </a:cubicBezTo>
                <a:cubicBezTo>
                  <a:pt x="215314" y="143402"/>
                  <a:pt x="253063" y="181151"/>
                  <a:pt x="253063" y="227756"/>
                </a:cubicBezTo>
                <a:lnTo>
                  <a:pt x="253063" y="236192"/>
                </a:lnTo>
                <a:cubicBezTo>
                  <a:pt x="253063" y="245524"/>
                  <a:pt x="245524" y="253063"/>
                  <a:pt x="236192" y="253063"/>
                </a:cubicBezTo>
                <a:lnTo>
                  <a:pt x="101225" y="253063"/>
                </a:lnTo>
                <a:cubicBezTo>
                  <a:pt x="91893" y="253063"/>
                  <a:pt x="84354" y="245524"/>
                  <a:pt x="84354" y="236192"/>
                </a:cubicBezTo>
                <a:lnTo>
                  <a:pt x="84354" y="227756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0"/>
          <p:cNvSpPr/>
          <p:nvPr/>
        </p:nvSpPr>
        <p:spPr>
          <a:xfrm>
            <a:off x="6296904" y="4060251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Social Experiences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268848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29ADFF">
              <a:alpha val="20000"/>
            </a:srgbClr>
          </a:solidFill>
          <a:ln w="38100">
            <a:solidFill>
              <a:srgbClr val="29AD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39936" y="4798069"/>
            <a:ext cx="202450" cy="269934"/>
          </a:xfrm>
          <a:custGeom>
            <a:avLst/>
            <a:gdLst/>
            <a:ahLst/>
            <a:cxnLst/>
            <a:rect l="l" t="t" r="r" b="b"/>
            <a:pathLst>
              <a:path w="202450" h="269934">
                <a:moveTo>
                  <a:pt x="21141" y="246262"/>
                </a:moveTo>
                <a:lnTo>
                  <a:pt x="15236" y="251007"/>
                </a:lnTo>
                <a:cubicBezTo>
                  <a:pt x="13549" y="252325"/>
                  <a:pt x="11493" y="253063"/>
                  <a:pt x="9384" y="253063"/>
                </a:cubicBezTo>
                <a:cubicBezTo>
                  <a:pt x="4218" y="253063"/>
                  <a:pt x="0" y="248845"/>
                  <a:pt x="0" y="243678"/>
                </a:cubicBezTo>
                <a:lnTo>
                  <a:pt x="0" y="101225"/>
                </a:lnTo>
                <a:cubicBezTo>
                  <a:pt x="0" y="45340"/>
                  <a:pt x="45340" y="0"/>
                  <a:pt x="101225" y="0"/>
                </a:cubicBezTo>
                <a:cubicBezTo>
                  <a:pt x="157110" y="0"/>
                  <a:pt x="202450" y="45340"/>
                  <a:pt x="202450" y="101225"/>
                </a:cubicBezTo>
                <a:lnTo>
                  <a:pt x="202450" y="243678"/>
                </a:lnTo>
                <a:cubicBezTo>
                  <a:pt x="202450" y="248845"/>
                  <a:pt x="198232" y="253063"/>
                  <a:pt x="193066" y="253063"/>
                </a:cubicBezTo>
                <a:cubicBezTo>
                  <a:pt x="190957" y="253063"/>
                  <a:pt x="188901" y="252325"/>
                  <a:pt x="187214" y="251007"/>
                </a:cubicBezTo>
                <a:lnTo>
                  <a:pt x="181309" y="246262"/>
                </a:lnTo>
                <a:cubicBezTo>
                  <a:pt x="174244" y="240620"/>
                  <a:pt x="164016" y="241517"/>
                  <a:pt x="158059" y="248318"/>
                </a:cubicBezTo>
                <a:lnTo>
                  <a:pt x="141979" y="266770"/>
                </a:lnTo>
                <a:cubicBezTo>
                  <a:pt x="140239" y="268774"/>
                  <a:pt x="137656" y="269934"/>
                  <a:pt x="134967" y="269934"/>
                </a:cubicBezTo>
                <a:cubicBezTo>
                  <a:pt x="132278" y="269934"/>
                  <a:pt x="129747" y="268774"/>
                  <a:pt x="127955" y="266770"/>
                </a:cubicBezTo>
                <a:lnTo>
                  <a:pt x="113931" y="250690"/>
                </a:lnTo>
                <a:cubicBezTo>
                  <a:pt x="107235" y="242993"/>
                  <a:pt x="95268" y="242993"/>
                  <a:pt x="88519" y="250690"/>
                </a:cubicBezTo>
                <a:lnTo>
                  <a:pt x="74495" y="266770"/>
                </a:lnTo>
                <a:cubicBezTo>
                  <a:pt x="72756" y="268774"/>
                  <a:pt x="70172" y="269934"/>
                  <a:pt x="67483" y="269934"/>
                </a:cubicBezTo>
                <a:cubicBezTo>
                  <a:pt x="64795" y="269934"/>
                  <a:pt x="62264" y="268774"/>
                  <a:pt x="60471" y="266770"/>
                </a:cubicBezTo>
                <a:lnTo>
                  <a:pt x="44391" y="248318"/>
                </a:lnTo>
                <a:cubicBezTo>
                  <a:pt x="38434" y="241517"/>
                  <a:pt x="28206" y="240620"/>
                  <a:pt x="21141" y="246262"/>
                </a:cubicBezTo>
                <a:close/>
                <a:moveTo>
                  <a:pt x="84354" y="101225"/>
                </a:moveTo>
                <a:cubicBezTo>
                  <a:pt x="84354" y="91914"/>
                  <a:pt x="76795" y="84354"/>
                  <a:pt x="67483" y="84354"/>
                </a:cubicBezTo>
                <a:cubicBezTo>
                  <a:pt x="58172" y="84354"/>
                  <a:pt x="50613" y="91914"/>
                  <a:pt x="50613" y="101225"/>
                </a:cubicBezTo>
                <a:cubicBezTo>
                  <a:pt x="50613" y="110536"/>
                  <a:pt x="58172" y="118096"/>
                  <a:pt x="67483" y="118096"/>
                </a:cubicBezTo>
                <a:cubicBezTo>
                  <a:pt x="76795" y="118096"/>
                  <a:pt x="84354" y="110536"/>
                  <a:pt x="84354" y="101225"/>
                </a:cubicBezTo>
                <a:close/>
                <a:moveTo>
                  <a:pt x="134967" y="118096"/>
                </a:moveTo>
                <a:cubicBezTo>
                  <a:pt x="144278" y="118096"/>
                  <a:pt x="151838" y="110536"/>
                  <a:pt x="151838" y="101225"/>
                </a:cubicBezTo>
                <a:cubicBezTo>
                  <a:pt x="151838" y="91914"/>
                  <a:pt x="144278" y="84354"/>
                  <a:pt x="134967" y="84354"/>
                </a:cubicBezTo>
                <a:cubicBezTo>
                  <a:pt x="125656" y="84354"/>
                  <a:pt x="118096" y="91914"/>
                  <a:pt x="118096" y="101225"/>
                </a:cubicBezTo>
                <a:cubicBezTo>
                  <a:pt x="118096" y="110536"/>
                  <a:pt x="125656" y="118096"/>
                  <a:pt x="134967" y="118096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6" name="Text 13"/>
          <p:cNvSpPr/>
          <p:nvPr/>
        </p:nvSpPr>
        <p:spPr>
          <a:xfrm>
            <a:off x="2385819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Iconic Character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9932" y="4640608"/>
            <a:ext cx="3743079" cy="944768"/>
          </a:xfrm>
          <a:custGeom>
            <a:avLst/>
            <a:gdLst/>
            <a:ahLst/>
            <a:cxnLst/>
            <a:rect l="l" t="t" r="r" b="b"/>
            <a:pathLst>
              <a:path w="3743079" h="944768">
                <a:moveTo>
                  <a:pt x="0" y="0"/>
                </a:moveTo>
                <a:lnTo>
                  <a:pt x="3743079" y="0"/>
                </a:lnTo>
                <a:lnTo>
                  <a:pt x="3743079" y="944768"/>
                </a:lnTo>
                <a:lnTo>
                  <a:pt x="0" y="944768"/>
                </a:lnTo>
                <a:lnTo>
                  <a:pt x="0" y="0"/>
                </a:lnTo>
                <a:close/>
              </a:path>
            </a:pathLst>
          </a:custGeom>
          <a:solidFill>
            <a:srgbClr val="FFCD75">
              <a:alpha val="20000"/>
            </a:srgbClr>
          </a:solidFill>
          <a:ln w="38100">
            <a:solidFill>
              <a:srgbClr val="FFCD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17278" y="4798069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127059" y="45920"/>
                </a:moveTo>
                <a:lnTo>
                  <a:pt x="134967" y="56834"/>
                </a:lnTo>
                <a:lnTo>
                  <a:pt x="142875" y="45920"/>
                </a:lnTo>
                <a:cubicBezTo>
                  <a:pt x="156055" y="27679"/>
                  <a:pt x="177249" y="16871"/>
                  <a:pt x="199761" y="16871"/>
                </a:cubicBezTo>
                <a:cubicBezTo>
                  <a:pt x="238512" y="16871"/>
                  <a:pt x="269934" y="48293"/>
                  <a:pt x="269934" y="87043"/>
                </a:cubicBezTo>
                <a:lnTo>
                  <a:pt x="269934" y="88414"/>
                </a:lnTo>
                <a:cubicBezTo>
                  <a:pt x="269934" y="147567"/>
                  <a:pt x="196176" y="216263"/>
                  <a:pt x="157690" y="245629"/>
                </a:cubicBezTo>
                <a:cubicBezTo>
                  <a:pt x="151152" y="250585"/>
                  <a:pt x="143139" y="253063"/>
                  <a:pt x="134967" y="253063"/>
                </a:cubicBezTo>
                <a:cubicBezTo>
                  <a:pt x="126795" y="253063"/>
                  <a:pt x="118729" y="250638"/>
                  <a:pt x="112244" y="245629"/>
                </a:cubicBezTo>
                <a:cubicBezTo>
                  <a:pt x="73757" y="216263"/>
                  <a:pt x="0" y="147567"/>
                  <a:pt x="0" y="88414"/>
                </a:cubicBezTo>
                <a:lnTo>
                  <a:pt x="0" y="87043"/>
                </a:lnTo>
                <a:cubicBezTo>
                  <a:pt x="0" y="48293"/>
                  <a:pt x="31422" y="16871"/>
                  <a:pt x="70172" y="16871"/>
                </a:cubicBezTo>
                <a:cubicBezTo>
                  <a:pt x="92684" y="16871"/>
                  <a:pt x="113878" y="27679"/>
                  <a:pt x="127059" y="4592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9" name="Text 16"/>
          <p:cNvSpPr/>
          <p:nvPr/>
        </p:nvSpPr>
        <p:spPr>
          <a:xfrm>
            <a:off x="6296904" y="5175976"/>
            <a:ext cx="35091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5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Games for Everyone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210362" y="5814819"/>
            <a:ext cx="7765089" cy="29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Every mobile game, esports tournament, and modern arcade traces its roots to those </a:t>
            </a:r>
            <a:pPr algn="ctr">
              <a:lnSpc>
                <a:spcPct val="140000"/>
              </a:lnSpc>
            </a:pPr>
            <a:r>
              <a:rPr lang="en-US" sz="1417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neon-lit rooms of the 1980s</a:t>
            </a:r>
            <a:pPr algn="ctr">
              <a:lnSpc>
                <a:spcPct val="140000"/>
              </a:lnSpc>
            </a:pPr>
            <a:r>
              <a:rPr lang="en-US" sz="1417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187868" y="6395176"/>
            <a:ext cx="7810078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5" b="1" dirty="0">
                <a:solidFill>
                  <a:srgbClr val="FFCD75"/>
                </a:solidFill>
                <a:latin typeface="Jersey 20 Charted" pitchFamily="34" charset="0"/>
                <a:ea typeface="Jersey 20 Charted" pitchFamily="34" charset="-122"/>
                <a:cs typeface="Jersey 20 Charted" pitchFamily="34" charset="-120"/>
              </a:rPr>
              <a:t>INSERT COIN TO CONTINUE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210362" y="6791079"/>
            <a:ext cx="776508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game never really ended.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34542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4" name="Shape 21"/>
          <p:cNvSpPr/>
          <p:nvPr/>
        </p:nvSpPr>
        <p:spPr>
          <a:xfrm>
            <a:off x="6022471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Shape 22"/>
          <p:cNvSpPr/>
          <p:nvPr/>
        </p:nvSpPr>
        <p:spPr>
          <a:xfrm>
            <a:off x="6310400" y="592054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0" y="0"/>
                </a:moveTo>
                <a:lnTo>
                  <a:pt x="143965" y="0"/>
                </a:lnTo>
                <a:lnTo>
                  <a:pt x="143965" y="143965"/>
                </a:lnTo>
                <a:lnTo>
                  <a:pt x="0" y="14396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Golden Age of Arcade Games</dc:title>
  <dc:subject>The Golden Age of Arcade Games</dc:subject>
  <dc:creator>Kimi</dc:creator>
  <cp:lastModifiedBy>Kimi</cp:lastModifiedBy>
  <cp:revision>1</cp:revision>
  <dcterms:created xsi:type="dcterms:W3CDTF">2026-03-18T12:09:07Z</dcterms:created>
  <dcterms:modified xsi:type="dcterms:W3CDTF">2026-03-18T12:09:07Z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{"Label":"The Golden Age of Arcade Games","ContentProducer":"001191110108MACG2KBH8F10000","ProduceID":"19d00d2d-f972-8642-8000-0000cf20ea95","ReservedCode1":"","ContentPropagator":"001191110108MACG2KBH8F20000","PropagateID":"19d00d2d-f972-8642-8000-0000cf20ea95","ReservedCode2":""}</vt:lpwstr>
  </property>
</Properties>
</file>