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1-1.jpg" ContentType="image/jpg"/>
  <Override PartName="/ppt/media/image-13-1.jpg" ContentType="image/jpg"/>
  <Override PartName="/ppt/media/image-15-1.jpg" ContentType="image/jpg"/>
  <Override PartName="/ppt/media/image-19-1.jpg" ContentType="image/jpg"/>
  <Override PartName="/ppt/media/image-23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talking point: The Genesis Block was mined on January 3rd, 2009, embedding a headline about bank bailouts as a political statement by Satoshi Nakamoto.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09575" y="714375"/>
            <a:ext cx="3705225" cy="781050"/>
          </a:xfrm>
          <a:custGeom>
            <a:avLst/>
            <a:gdLst/>
            <a:ahLst/>
            <a:cxn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66750" y="97155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FINANCIAL LECTURE SERIES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9575" y="1876425"/>
            <a:ext cx="11372850" cy="3257550"/>
          </a:xfrm>
          <a:custGeom>
            <a:avLst/>
            <a:gdLst/>
            <a:ahLst/>
            <a:cxn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95350" y="2362200"/>
            <a:ext cx="10858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5350" y="35052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95350" y="3810000"/>
            <a:ext cx="1057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DIGITAL REVOLUTION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5350" y="4343400"/>
            <a:ext cx="1051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Comprehensive Analysis of History, Present &amp; Future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514975"/>
            <a:ext cx="1295400" cy="628650"/>
          </a:xfrm>
          <a:custGeom>
            <a:avLst/>
            <a:gdLst/>
            <a:ahLst/>
            <a:cxn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90550" y="569595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64391" y="5514975"/>
            <a:ext cx="1419225" cy="628650"/>
          </a:xfrm>
          <a:custGeom>
            <a:avLst/>
            <a:gdLst/>
            <a:ahLst/>
            <a:cxn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545366" y="56959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27 SLIDES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95375"/>
          </a:xfrm>
          <a:custGeom>
            <a:avLst/>
            <a:gdLst/>
            <a:ahLst/>
            <a:cxn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3188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15887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344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8875" y="1857375"/>
            <a:ext cx="1412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875" y="2143125"/>
            <a:ext cx="138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188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563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2219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6750" y="1857375"/>
            <a:ext cx="2516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6750" y="2143125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44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8875" y="2936875"/>
            <a:ext cx="271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8875" y="3222625"/>
            <a:ext cx="269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188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5563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2219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6750" y="2936875"/>
            <a:ext cx="2111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6750" y="3222625"/>
            <a:ext cx="208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44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8875" y="4016375"/>
            <a:ext cx="2262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8875" y="4302125"/>
            <a:ext cx="223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9188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5563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2219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6750" y="4016375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6750" y="4302125"/>
            <a:ext cx="257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7688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344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8875" y="5095875"/>
            <a:ext cx="2008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8875" y="5381625"/>
            <a:ext cx="198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9188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5563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2219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6750" y="5095875"/>
            <a:ext cx="2198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6750" y="5381625"/>
            <a:ext cx="217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1313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7688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344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8875" y="6175375"/>
            <a:ext cx="2119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8875" y="6461125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5563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2219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6750" y="6175375"/>
            <a:ext cx="223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6750" y="6461125"/>
            <a:ext cx="220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1313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7688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344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8875" y="7254875"/>
            <a:ext cx="187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58875" y="7540625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9188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5563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2219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16750" y="7254875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16750" y="754062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Path Forward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a78b067f0ae22fcc38ba4427cd322c7835ad80e9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0177" b="1017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Cypherpunk Vision to Financial Revolution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BIRTH OF BITCOIN: 2008-2009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1849438"/>
          </a:xfrm>
          <a:custGeom>
            <a:avLst/>
            <a:gdLst/>
            <a:ahLst/>
            <a:cxn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7541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7303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1875" y="1730375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October 31, 2008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20662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Satoshi Nakamoto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publishes the Bitcoin whitepaper: "Bitcoin: A Peer-to-Peer Electronic Cash System" to the cypherpunk mailing list.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782094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875" y="2893219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Innovation: Decentralized digital currency without trusted third parties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1313" y="3567906"/>
            <a:ext cx="8270875" cy="1611313"/>
          </a:xfrm>
          <a:custGeom>
            <a:avLst/>
            <a:gdLst/>
            <a:ahLst/>
            <a:cxn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7688" y="3774281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187" y="3750469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1875" y="3750469"/>
            <a:ext cx="1516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3, 2009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3875" y="4226719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Genesis Block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mined, marking Bitcoin network's official launch. Embedded message references bank bailouts.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750" y="4570016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875" y="4681141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Times 03/Jan/2009 Chancellor on brink of second bailout for banks"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5355828"/>
            <a:ext cx="8270875" cy="1071563"/>
          </a:xfrm>
          <a:custGeom>
            <a:avLst/>
            <a:gdLst/>
            <a:ahLst/>
            <a:cxn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688" y="5562203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187" y="5538391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1875" y="5538391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12, 2009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875" y="6014641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Bitcoin transaction: Satoshi sends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BTC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computer scientist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 Finney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validating the system works.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50313" y="1547813"/>
            <a:ext cx="3000375" cy="3508375"/>
          </a:xfrm>
          <a:custGeom>
            <a:avLst/>
            <a:gdLst/>
            <a:ahLst/>
            <a:cxn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THE MOTIVATION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750" y="2127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 Financial Crisis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9875" y="2460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 failures, government bailouts, currency devaluation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48750" y="30797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59875" y="31908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Cypherpunk Philosophy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34131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Privacy, decentralization, mathematical trust over institutional trust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4032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4143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Double-Spending Problem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4365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digital currency to solve this without central authority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50313" y="5230813"/>
            <a:ext cx="3000375" cy="3476625"/>
          </a:xfrm>
          <a:custGeom>
            <a:avLst/>
            <a:gdLst/>
            <a:ahLst/>
            <a:cxn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32875" y="5413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CORE PRINCIPLES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58102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8125" y="5937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318625" y="5889625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Supply: 21 Million Coins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48750" y="62547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8125" y="64770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9310129" y="63341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Decentralized: No Single Point of Control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48750" y="68897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8125" y="7016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318625" y="6969125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Trustless: Cryptographic Verification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8750" y="7334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8125" y="75565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314346" y="74136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Transparent: Public Blockchain Ledger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8750" y="7969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28125" y="8191500"/>
            <a:ext cx="79375" cy="95250"/>
          </a:xfrm>
          <a:custGeom>
            <a:avLst/>
            <a:gdLst/>
            <a:ahLst/>
            <a:cxn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9301200" y="8048625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Immutable: Transactions Cannot Be Reversed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5c872118a432315f00de40c7ff83379e856cb8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1393" y="5686425"/>
            <a:ext cx="6715125" cy="819150"/>
          </a:xfrm>
          <a:custGeom>
            <a:avLst/>
            <a:gdLst/>
            <a:ahLst/>
            <a:cxn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8568" y="5943600"/>
            <a:ext cx="631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Work, Blockchain &amp; Decentralized Consensus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BLOCKCHAIN &amp; PROOF OF WORK: THE SECURITY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2071688"/>
          </a:xfrm>
          <a:custGeom>
            <a:avLst/>
            <a:gdLst/>
            <a:ahLst/>
            <a:cxn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730375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BLOCKCHAIN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211137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ledger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recording all transactions across a network of computers. Each block contains a cryptographic hash of the previous block, creating an immutable chain.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880K+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 Mined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6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8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0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3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1.2B+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57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1313" y="3790156"/>
            <a:ext cx="8270875" cy="2865438"/>
          </a:xfrm>
          <a:custGeom>
            <a:avLst/>
            <a:gdLst/>
            <a:ahLst/>
            <a:cxn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875" y="3972719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 MECHANISM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4353719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compete to solve cryptographic puzzles using SHA-256 hashing. The winner adds the next block and earns the block reward.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4960938"/>
            <a:ext cx="7874000" cy="1492250"/>
          </a:xfrm>
          <a:custGeom>
            <a:avLst/>
            <a:gdLst/>
            <a:ahLst/>
            <a:cxn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625" y="5103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Mining Process: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625" y="5357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Bundle transactions into a block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625" y="5611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Find nonce making block hash &lt; target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625" y="5865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First to solve broadcasts to network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2625" y="6119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Other nodes verify and add to chain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50313" y="1547813"/>
            <a:ext cx="3000375" cy="3698875"/>
          </a:xfrm>
          <a:custGeom>
            <a:avLst/>
            <a:gdLst/>
            <a:ahLst/>
            <a:cxn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NETWORK SECURITY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48750" y="2127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59875" y="2460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400M+ TH/s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2746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computing power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3143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3254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Attack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3476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$10B+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59875" y="3762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1 hour 51% attack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48750" y="4159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59875" y="4270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Difficulty Adjustment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59875" y="4492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2,016 Blocks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59875" y="4778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Maintains 10-min block time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50313" y="5421313"/>
            <a:ext cx="3000375" cy="2555875"/>
          </a:xfrm>
          <a:custGeom>
            <a:avLst/>
            <a:gdLst/>
            <a:ahLst/>
            <a:cxn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032875" y="56038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WHY IT 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32875" y="60483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9191625" y="59848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as Security: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Massive electricity cost makes attacks economically irrational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2875" y="6524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191625" y="64611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Theory: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Miners earn more by following rules than attacking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32875" y="70008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9191625" y="69373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Thousands of independent miners globally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32875" y="7477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9191625" y="74136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Immutability: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Changing history requires redoing all subsequent work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acksolutions.com/ef0bb91eff957dcf9ffcba10aae54dff14ff4aa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46" b="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15 Years of Price Discovery, Crashes &amp; Resilience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JOURNEY: KEY MILESTONES 2009-2024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250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625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2009-2010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375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BEGINNING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375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real-world transaction: 10,000 BTC for two pizzas at $0.003/BTC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625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$0.003 → $0.30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54375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9313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8688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3438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BUBBLE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3438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spikes to $31, then crashes to $2. Media declares Bitcoin dead.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9313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8688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$31 | Crash: -94%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7438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2375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1750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500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HALVING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0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from 50 to 25 BTC. Sets stage for next bull run.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2375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1750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$12 → $13.50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80500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15438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4813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9563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$1,000 MILESTONE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99563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major bull run to $1,200. Mt. Gox becomes dominant exchange.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15438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4813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$1,242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1313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6250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625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2014-2015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0375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MT. GOX COLLAPSE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0375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Exchange hack wipes out 850K BTC. Price falls below $200. Bear market.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6250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625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54375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9313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8688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73438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SECOND HALVING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73438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12.5 BTC. Ethereum launches, ICO era begins.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89313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8688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$650 → $960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7438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2375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1750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$20,000 PEAK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86500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ICO mania drives parabolic rise. CME/CBOE futures launch. Mainstream FOMO.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2375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1750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$19,800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80500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215438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4813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2018-2019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9563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WINTER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99563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80%+ crash from peak. Regulatory crackdowns. Institutional interest quietly builds.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15438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94813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$3,200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1313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6250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625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60375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THIRD HALVING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60375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6.25 BTC. COVID-19 triggers institutional adoption wave.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76250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5625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$8,000 → $29,000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54375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89313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68688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73438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$69,000 ATH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373438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MicroStrategy, Tesla add BTC to treasury. First Bitcoin futures ETF. NFT boom.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389313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68688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$69,000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7438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2375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81750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86500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BEAR MARKET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286500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 rate hikes, Terra/LUNA collapse, FTX bankruptcy. Price falls to $16K.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02375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81750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$15,600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80500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215438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94813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199563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 BREAKTHROUGH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199563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Fourth halving. SEC approves spot ETFs. Price breaks $100K milestone.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215438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94813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$126,173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41313" y="6572250"/>
            <a:ext cx="11509375" cy="523875"/>
          </a:xfrm>
          <a:custGeom>
            <a:avLst/>
            <a:gdLst/>
            <a:ahLst/>
            <a:cxn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2125" y="6723063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 HALVINGS: 2012 | 2016 | 2020 | 2024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992133" y="6723063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Each Followed by Major Bull Run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563bfef1a3f7a2d770c2034ce5d868a33ae9c4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734" b="127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29224" y="781050"/>
            <a:ext cx="7753350" cy="3962400"/>
          </a:xfrm>
          <a:custGeom>
            <a:avLst/>
            <a:gdLst/>
            <a:ahLst/>
            <a:cxn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72099" y="2486025"/>
            <a:ext cx="7124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343549" y="3876675"/>
            <a:ext cx="695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8050" y="5257800"/>
            <a:ext cx="5591175" cy="819150"/>
          </a:xfrm>
          <a:custGeom>
            <a:avLst/>
            <a:gdLst/>
            <a:ahLst/>
            <a:cxn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5225" y="5514975"/>
            <a:ext cx="519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Programmed Scarcity Driving Market Cycles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HALVING EFFECT: PROGRAMMED SCARCITY IN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6080125"/>
          </a:xfrm>
          <a:custGeom>
            <a:avLst/>
            <a:gdLst/>
            <a:ahLst/>
            <a:cxn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WHAT IS THE HALVING?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1889125"/>
            <a:ext cx="5921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210,000 blocks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651125"/>
            <a:ext cx="5826125" cy="2317750"/>
          </a:xfrm>
          <a:custGeom>
            <a:avLst/>
            <a:gdLst/>
            <a:ahLst/>
            <a:cxn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625" y="2794000"/>
            <a:ext cx="560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Schedule &amp; Price Performance: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2012: 50 → 25 BTC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625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+9,300%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 → $1,100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15506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6631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2016: 25 → 12.5 BTC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6631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+3,200%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26631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$650 → $19,800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500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625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2020: 12.5 → 6.25 BTC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625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+700%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625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$8,800 → $69,000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5506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6631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2024: 6.25 → 3.125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6631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55D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6631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$43,000 → $126K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313" y="7612063"/>
            <a:ext cx="6223000" cy="1571625"/>
          </a:xfrm>
          <a:custGeom>
            <a:avLst/>
            <a:gdLst/>
            <a:ahLst/>
            <a:cxn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2125" y="7762875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2024 CYCLE: WHAT'S DIFFERENT?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125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Approval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125" y="8429625"/>
            <a:ext cx="171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spot ETFs create institutional demand never seen before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512963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088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24088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holds 714K BTC worth $54B+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17988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9113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Nation-State Adoption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29113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 makes BTC legal tender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9075" y="1357313"/>
            <a:ext cx="5080000" cy="3952875"/>
          </a:xfrm>
          <a:custGeom>
            <a:avLst/>
            <a:gdLst/>
            <a:ahLst/>
            <a:cxn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STOCK-TO-FLOW MODEL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51638" y="19208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scarcity can be measured by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stock-to-flow ratio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(existing supply / annual production). Higher ratios indicate greater scarcity.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67513" y="24765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8638" y="261937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 S2F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29231" y="2587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94513" y="28892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0388" y="2905125"/>
            <a:ext cx="2198688" cy="31750"/>
          </a:xfrm>
          <a:custGeom>
            <a:avLst/>
            <a:gdLst/>
            <a:ahLst/>
            <a:cxn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7513" y="320675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8638" y="3349625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S2F (Post-2024)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23253" y="3317875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94513" y="361950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0388" y="3635375"/>
            <a:ext cx="4397375" cy="31750"/>
          </a:xfrm>
          <a:custGeom>
            <a:avLst/>
            <a:gdLst/>
            <a:ahLst/>
            <a:cxn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7513" y="39370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8638" y="407987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Silver S2F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29231" y="40481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094513" y="43497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0388" y="4365625"/>
            <a:ext cx="793750" cy="31750"/>
          </a:xfrm>
          <a:custGeom>
            <a:avLst/>
            <a:gdLst/>
            <a:ahLst/>
            <a:cxn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55" name="Shape 53"/>
          <p:cNvSpPr/>
          <p:nvPr/>
        </p:nvSpPr>
        <p:spPr>
          <a:xfrm>
            <a:off x="6967513" y="4699000"/>
            <a:ext cx="4683125" cy="412750"/>
          </a:xfrm>
          <a:custGeom>
            <a:avLst/>
            <a:gdLst/>
            <a:ahLst/>
            <a:cxn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6888" y="48101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is now scarcer than gold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69075" y="5484813"/>
            <a:ext cx="5080000" cy="3698875"/>
          </a:xfrm>
          <a:custGeom>
            <a:avLst/>
            <a:gdLst/>
            <a:ahLst/>
            <a:cxn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951638" y="56673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SUPPLY IMPACT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67513" y="6064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8638" y="6175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New Supply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78638" y="6397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450 BTC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78638" y="6683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967513" y="7080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78638" y="7191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Inflation Rate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78638" y="7413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0.85%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078638" y="7699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1.75% pre-halving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67513" y="8096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8638" y="8207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Supply Mined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78638" y="8429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93.75%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078638" y="8715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~19.7M of 21M BTC in circulation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xp1.com/ddd847fd485f4b791ed1fc89be2f76918116cf81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4850" b="148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Adoption, ETF Success &amp; Price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TODAY: MARKET METRICS &amp; ADOPTION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2809875"/>
          </a:xfrm>
          <a:custGeom>
            <a:avLst/>
            <a:gdLst/>
            <a:ahLst/>
            <a:cxn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PRICE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Price (Mar 2026)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2625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$74,532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438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9313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9313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$126,173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9313" y="2651125"/>
            <a:ext cx="231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October 6, 2025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625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Cap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625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$1.47T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6438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9313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24h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9313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$28.5B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1313" y="4341813"/>
            <a:ext cx="5651500" cy="3000375"/>
          </a:xfrm>
          <a:custGeom>
            <a:avLst/>
            <a:gdLst/>
            <a:ahLst/>
            <a:cxn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875" y="4524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HOLDINGS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9750" y="4921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75" y="5064125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Institutional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4023" y="5032375"/>
            <a:ext cx="107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1.4M+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5286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~7% of circulating supply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5683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5826125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Assets Under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16587" y="5794375"/>
            <a:ext cx="65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48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leads with $52B+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445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588125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0172" y="655637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810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basis: $54.4B ($76,056/BTC)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188" y="1357313"/>
            <a:ext cx="5651500" cy="3825875"/>
          </a:xfrm>
          <a:custGeom>
            <a:avLst/>
            <a:gdLst/>
            <a:ahLst/>
            <a:cxn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ON-CHAIN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7625" y="1936750"/>
            <a:ext cx="5254625" cy="952500"/>
          </a:xfrm>
          <a:custGeom>
            <a:avLst/>
            <a:gdLst/>
            <a:ahLst/>
            <a:cxn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Holder Supply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8750" y="2301875"/>
            <a:ext cx="595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0622" y="2365375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BTC unmoved for 1+ year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24625" y="2667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40500" y="2682875"/>
            <a:ext cx="3079750" cy="63500"/>
          </a:xfrm>
          <a:custGeom>
            <a:avLst/>
            <a:gdLst/>
            <a:ahLst/>
            <a:cxn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97625" y="301625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8750" y="312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Volume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8750" y="338137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3667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 volume (Nov 2025)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7625" y="406400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8750" y="4175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Hash Rate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8750" y="442912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 EH/s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08750" y="471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 network security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357813"/>
            <a:ext cx="5651500" cy="1984375"/>
          </a:xfrm>
          <a:custGeom>
            <a:avLst/>
            <a:gdLst/>
            <a:ahLst/>
            <a:cxn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81750" y="5540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PERFORMANCE VS TRADITIONAL ASSETS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592137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750" y="6207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254875" y="6223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70750" y="6238875"/>
            <a:ext cx="4365625" cy="127000"/>
          </a:xfrm>
          <a:custGeom>
            <a:avLst/>
            <a:gdLst/>
            <a:ahLst/>
            <a:cxn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11223749" y="6223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+940%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1750" y="6461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Nasdaq 100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254875" y="6477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70750" y="6492875"/>
            <a:ext cx="523875" cy="127000"/>
          </a:xfrm>
          <a:custGeom>
            <a:avLst/>
            <a:gdLst/>
            <a:ahLst/>
            <a:cxn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60" name="Text 58"/>
          <p:cNvSpPr/>
          <p:nvPr/>
        </p:nvSpPr>
        <p:spPr>
          <a:xfrm>
            <a:off x="7381999" y="6477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+110%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81750" y="6715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S&amp;P 500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254875" y="6731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70750" y="6746875"/>
            <a:ext cx="396875" cy="127000"/>
          </a:xfrm>
          <a:custGeom>
            <a:avLst/>
            <a:gdLst/>
            <a:ahLst/>
            <a:cxn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64" name="Text 62"/>
          <p:cNvSpPr/>
          <p:nvPr/>
        </p:nvSpPr>
        <p:spPr>
          <a:xfrm>
            <a:off x="7312794" y="6731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+80%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1750" y="6969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254875" y="6985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70750" y="7000875"/>
            <a:ext cx="174625" cy="127000"/>
          </a:xfrm>
          <a:custGeom>
            <a:avLst/>
            <a:gdLst/>
            <a:ahLst/>
            <a:cxn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68" name="Text 66"/>
          <p:cNvSpPr/>
          <p:nvPr/>
        </p:nvSpPr>
        <p:spPr>
          <a:xfrm>
            <a:off x="7094513" y="6985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fb3eee729c3e8eade5a4c7fd77b7226b57177c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98864" y="5686425"/>
            <a:ext cx="6581775" cy="819150"/>
          </a:xfrm>
          <a:custGeom>
            <a:avLst/>
            <a:gdLst/>
            <a:ahLst/>
            <a:cxn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6039" y="5943600"/>
            <a:ext cx="618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Fringe Asset to Mainstream Portfolio Allocation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FRINGE TO MAINSTREAM: INSTITUTIONAL ENTRY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1952625"/>
          </a:xfrm>
          <a:custGeom>
            <a:avLst/>
            <a:gdLst/>
            <a:ahLst/>
            <a:cxn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2024: THE TURNING POINT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5375" y="18573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 approves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spot Bitcoin ETFs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marking the most successful ETF launch in history. This removed the final barrier for institutional capital.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34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$52B+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09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AUM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3625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5219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16969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ETF AUM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2750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909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Year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1084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Reach $50B+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3484563"/>
            <a:ext cx="5651500" cy="5222875"/>
          </a:xfrm>
          <a:custGeom>
            <a:avLst/>
            <a:gdLst/>
            <a:ahLst/>
            <a:cxn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3667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KEY INSTITUTIONAL PLAYERS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40640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4175125"/>
            <a:ext cx="261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(Strategy)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29125"/>
            <a:ext cx="261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Pioneered corporate treasury Bitcoin strategy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4922" y="417512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4609" y="4429125"/>
            <a:ext cx="119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$54.4B value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485775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4968875"/>
            <a:ext cx="215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Tesla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522287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Added BTC to balance sheet in 2021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0900" y="4968875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11,509 BTC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0587" y="5222875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~$850M value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750" y="56515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5762625"/>
            <a:ext cx="212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(Square)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016625"/>
            <a:ext cx="21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Financial services embracing Bitcoin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6816" y="5762625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8,027 BTC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06503" y="601662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~$600M value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9188" y="1357313"/>
            <a:ext cx="5651500" cy="4714875"/>
          </a:xfrm>
          <a:custGeom>
            <a:avLst/>
            <a:gdLst/>
            <a:ahLst/>
            <a:cxn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THREE-PHASE ADOPTION TIMELINE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7625" y="19367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4313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0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3250" y="21272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2025-2027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0500" y="24606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Pension &amp; 401(k)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0500" y="26828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pension fund allocations, 401(k) plans add Bitcoin ETF options, 2-5% standard allocation models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330200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4313" y="34686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8750" y="3444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3250" y="349250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2028-2030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382587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 Expansion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40500" y="404812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European/Asian ETFs launch, 2028 halving cuts supply, corporate treasuries follow MicroStrategy model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7625" y="46672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4313" y="48339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48101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3250" y="48577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2030-2032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500" y="519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 Embedding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0500" y="54133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operational infrastructure for custody, lending, trading services. Switching costs make removal prohibitively expensive.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9188" y="6246813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81750" y="6429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MAJOR BANKS ENTERING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7625" y="6826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7000" y="6969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635750" y="690562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344916" y="6921500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Accepting BTC as collateral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7625" y="7270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77000" y="7413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35750" y="7350125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Goldman Sachs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690817" y="7366000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trading desk active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715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77000" y="7858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8" name="Text 66"/>
          <p:cNvSpPr/>
          <p:nvPr/>
        </p:nvSpPr>
        <p:spPr>
          <a:xfrm>
            <a:off x="6635750" y="7794625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Morgan Stanley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76617" y="7810500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Offering BTC funds to clients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97625" y="8159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77000" y="8302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6635750" y="8239125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006146" y="8255000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US bank with direct crypto trading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4444" r="14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Post-Halving Profitability &amp; Industry Consolidation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INDUSTRY: POST-HALVING ECONOMICS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413125"/>
          </a:xfrm>
          <a:custGeom>
            <a:avLst/>
            <a:gdLst/>
            <a:ahLst/>
            <a:cxn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REVENUE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Subsidy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0004" y="2079625"/>
            <a:ext cx="127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3.125 BTC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6.25 BTC pre-2024 halving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5826" y="3000375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~0.5 BTC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 based on network congestion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52875"/>
            <a:ext cx="165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Network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9536" y="3921125"/>
            <a:ext cx="1214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~450 BTC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625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 (~$33M/day)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4945063"/>
            <a:ext cx="5651500" cy="4238625"/>
          </a:xfrm>
          <a:custGeom>
            <a:avLst/>
            <a:gdLst/>
            <a:ahLst/>
            <a:cxn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5127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COST STRUCTURE BREAKDOWN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5524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5651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6059" y="563562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60-80%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6750" y="59055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625" y="5921375"/>
            <a:ext cx="3476625" cy="63500"/>
          </a:xfrm>
          <a:custGeom>
            <a:avLst/>
            <a:gdLst/>
            <a:ahLst/>
            <a:cxn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750" y="6254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6381750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Hardware Depreciation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6059" y="636587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10-20%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6750" y="66357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625" y="6651625"/>
            <a:ext cx="746125" cy="63500"/>
          </a:xfrm>
          <a:custGeom>
            <a:avLst/>
            <a:gdLst/>
            <a:ahLst/>
            <a:cxn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750" y="6985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7112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Facilities &amp; Cooling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4363" y="7096125"/>
            <a:ext cx="53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6750" y="7366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625" y="7381875"/>
            <a:ext cx="396875" cy="63500"/>
          </a:xfrm>
          <a:custGeom>
            <a:avLst/>
            <a:gdLst/>
            <a:ahLst/>
            <a:cxn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36" name="Shape 34"/>
          <p:cNvSpPr/>
          <p:nvPr/>
        </p:nvSpPr>
        <p:spPr>
          <a:xfrm>
            <a:off x="539750" y="771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" y="78422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Personnel &amp; Overhead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12606" y="7826375"/>
            <a:ext cx="45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3-5%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6750" y="80962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2625" y="8112125"/>
            <a:ext cx="198438" cy="63500"/>
          </a:xfrm>
          <a:custGeom>
            <a:avLst/>
            <a:gdLst/>
            <a:ahLst/>
            <a:cxn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99188" y="1357313"/>
            <a:ext cx="5651500" cy="3730625"/>
          </a:xfrm>
          <a:custGeom>
            <a:avLst/>
            <a:gdLst/>
            <a:ahLst/>
            <a:cxn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HASH RATE CONCENTRATION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7625" y="1936750"/>
            <a:ext cx="5254625" cy="984250"/>
          </a:xfrm>
          <a:custGeom>
            <a:avLst/>
            <a:gdLst/>
            <a:ahLst/>
            <a:cxn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Mining Pools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230187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~55%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87964" y="2365375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total network hashrate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4625" y="26670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40500" y="2682875"/>
            <a:ext cx="2730500" cy="95250"/>
          </a:xfrm>
          <a:custGeom>
            <a:avLst/>
            <a:gdLst/>
            <a:ahLst/>
            <a:cxn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7625" y="3048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08750" y="3159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Foundry USA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8750" y="3381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~35%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8750" y="3635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Largest mining pool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7625" y="403225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8750" y="4143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Publicly Traded Miners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8750" y="436562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~25%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4619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Marathon, Riot, CleanSpark, etc.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9188" y="5262563"/>
            <a:ext cx="5651500" cy="3921125"/>
          </a:xfrm>
          <a:custGeom>
            <a:avLst/>
            <a:gdLst/>
            <a:ahLst/>
            <a:cxn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381750" y="5445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POST-HALVING REALITY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7625" y="5842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08750" y="5953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Breakeven Electricity Rate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08750" y="6175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$0.05-0.08/kWh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642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efficient ASIC miners at $75K BTC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97625" y="6826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08750" y="693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Consolidation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08750" y="7159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miners shut down, large operations with cheap electricity dominate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588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7699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Shift to Fee Revenue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7921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 increasingly dependent on transaction fees as subsidy declines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97625" y="8350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8750" y="8461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Renewable Energy Trend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08750" y="8683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 (hydro, wind, solar)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fd49456bfd02c6aaf5b411c857dc51ab9cd61d7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94" r="1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79169" y="5686425"/>
            <a:ext cx="7000875" cy="819150"/>
          </a:xfrm>
          <a:custGeom>
            <a:avLst/>
            <a:gdLst/>
            <a:ahLst/>
            <a:cxn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36344" y="5943600"/>
            <a:ext cx="660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Can Bitcoin Replace Gold as the Ultimate Store of Value?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VS GOLD: THE NEW STORE OF VALUE?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BITCOIN'S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875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2047875"/>
            <a:ext cx="322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375" y="2270125"/>
            <a:ext cx="321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$1B across borders in minutes vs. tons of physical gold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875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375" y="2778125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375" y="3000375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Divisible to 8 decimal places (0.00000001 BTC) vs. gold bars/ounces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875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375" y="350837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375" y="373062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Cryptographic proof vs. expensive purity testing for gold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750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875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375" y="4238625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375" y="4460875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21M BTC hard cap vs. unknown total gold supply in Earth's crust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875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375" y="496887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375" y="5191125"/>
            <a:ext cx="299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contracts, multisig, time-locks vs. inert physical metal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313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875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PERFORMANCE COMPARISON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639762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699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858000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5141" y="6810375"/>
            <a:ext cx="865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+940%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6750" y="71755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625" y="7191375"/>
            <a:ext cx="4968875" cy="95250"/>
          </a:xfrm>
          <a:custGeom>
            <a:avLst/>
            <a:gdLst/>
            <a:ahLst/>
            <a:cxn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539750" y="755650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875" y="7715250"/>
            <a:ext cx="34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67536" y="766762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6750" y="803275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2625" y="8048625"/>
            <a:ext cx="150813" cy="95250"/>
          </a:xfrm>
          <a:custGeom>
            <a:avLst/>
            <a:gdLst/>
            <a:ahLst/>
            <a:cxn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9750" y="844550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125" y="855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outperformed gold by 37x over 5 years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9188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GOLD'S ADVANTAGES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8750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99250" y="2047875"/>
            <a:ext cx="313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3,000+ Year Track Record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99250" y="2270125"/>
            <a:ext cx="312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 store of value across civilizations vs. Bitcoin's 16 years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7625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8750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99250" y="277812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Tangibility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99250" y="3000375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hold in your hand, no internet or electricity required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7625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8750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99250" y="3508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Demand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99250" y="37306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Record-high official gold purchases (1,000+ tonnes/year)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7625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8750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6699250" y="4238625"/>
            <a:ext cx="257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Volatility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99250" y="4460875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Gold's annual volatility ~15% vs. Bitcoin's ~60-80%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8750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6699250" y="4968875"/>
            <a:ext cx="321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Industrial &amp; Jewelry Use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99250" y="5191125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utility beyond speculation (electronics, dentistry, ornament)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99188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381750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INFLATION HEDGE DEBATE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6413500"/>
            <a:ext cx="5254625" cy="1238250"/>
          </a:xfrm>
          <a:custGeom>
            <a:avLst/>
            <a:gdLst/>
            <a:ahLst/>
            <a:cxn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6524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 Inflation Test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U.S. inflation hit 9% (40-year high). How did assets perform?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24625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68281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-60%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80188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072563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16219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+0.5%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128125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97625" y="7778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8750" y="7889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508750" y="814387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shown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correlation with risk assets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(tech stocks) rather than acting as a crisis hedge like gold. During the 2022 bear market, BTC crashed alongside equities while gold held steady.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97625" y="8699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08750" y="8810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8750" y="906462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may become "digital gold" as it matures and volatility decreases, but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hasn't consistently fulfilled that role yet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Gold remains the proven safe haven.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7e26e62278b48522527db541cc6df27ec6592a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Solving Bitcoin's Throughput Limitations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NETWORK: BITCOIN'S PAYMENT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349625"/>
          </a:xfrm>
          <a:custGeom>
            <a:avLst/>
            <a:gdLst/>
            <a:ahLst/>
            <a:cxn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Base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50681" y="2079625"/>
            <a:ext cx="92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~7 TPS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 per second limited by block size and block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Visa Network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3902" y="3000375"/>
            <a:ext cx="1373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65,000 TPS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payment network capacity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2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625" y="4175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fees spike during congestion ($5-50+), making micropayments impractical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1313" y="4881563"/>
            <a:ext cx="5651500" cy="4556125"/>
          </a:xfrm>
          <a:custGeom>
            <a:avLst/>
            <a:gdLst/>
            <a:ahLst/>
            <a:cxn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875" y="5064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HOW LIGHTNING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5461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875" y="5572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Payment Channels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875" y="5794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lock BTC in multi-signature channels, enabling unlimited off-chain 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6191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875" y="6302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Off-Chain Transactions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6524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Payments routed through network of channels without touching base layer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6921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7032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Settlement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725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Channel closes broadcast final balance to Bitcoin blockchain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750" y="765175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125" y="7762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 Near-instant, sub-cent fees, millions of TPS capacity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9188" y="1357313"/>
            <a:ext cx="5651500" cy="4333875"/>
          </a:xfrm>
          <a:custGeom>
            <a:avLst/>
            <a:gdLst/>
            <a:ahLst/>
            <a:cxn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ADOPTION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7625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0500" y="21272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Volume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41484" y="2079625"/>
            <a:ext cx="88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0500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November 2025 (River data)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7625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0500" y="3048000"/>
            <a:ext cx="137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47524" y="3000375"/>
            <a:ext cx="777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5.22M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0500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transaction size: ~$224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7625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0500" y="3968750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Capacity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18849" y="3921125"/>
            <a:ext cx="141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5,500+ BTC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0500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BTC locked in channels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7625" y="46990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0500" y="488950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Nodes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41955" y="4841875"/>
            <a:ext cx="98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18,000+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51911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 network participants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9188" y="5865813"/>
            <a:ext cx="5651500" cy="3571875"/>
          </a:xfrm>
          <a:custGeom>
            <a:avLst/>
            <a:gdLst/>
            <a:ahLst/>
            <a:cxn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81750" y="6048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REAL-WORLD USE CASES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7625" y="644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6556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legal tender using Lightning for everyday payments (coffee, groceries)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7625" y="7175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0" y="728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Strike App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7508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Cross-border remittances: Send USD → Receiver gets local currency, sub-cent fees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7625" y="7905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08750" y="8016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 &amp; Gaming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08750" y="8239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Micropayments for content (pay-per-minute video, in-game purchases)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8636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08750" y="8747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Payments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896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Labs toolkit enables autonomous machine-to-machine transactions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ond5.com/5adfa53ebb460247d0b7eaa197498f1fd9cfbd13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3918" y="5686425"/>
            <a:ext cx="4486275" cy="819150"/>
          </a:xfrm>
          <a:custGeom>
            <a:avLst/>
            <a:gdLst/>
            <a:ahLst/>
            <a:cxn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1093" y="5943600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Obstacles Bitcoin Must Overcome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CRITICAL CHALLENGES: WHAT COULD GO WRONG?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619250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750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875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875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 TPS is insufficient for global payment network. Block size debates led to Bitcoin Cash fork in 2017.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75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 Volatility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875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During congestion, fees spike to $5-50+, making small transactions uneconomical.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875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 (Lightning, sidechains) process transactions off-chain, settling on base layer.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5958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2333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8833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4771" y="1619250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4396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5521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Consumption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5521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uses ~150 TWh/year, comparable to Argentina or Poland. Critics argue this is wasteful.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396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5521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Carbon Footprint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5521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Estimated 65-70 Mt CO2/year. Coal-powered mining in some regions contributes to climate change.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4396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5521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5521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energy. Stranded energy (flared gas, hydro surplus) increasingly utilized.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0604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6979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3479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89417" y="16192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REGULATORY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29042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0167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Government Bans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40167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China banned mining and trading in 2021. Other countries could follow, restricting adoption.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29042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0167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Taxation &amp; Reporting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40167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 tax treatment. Heavy reporting requirements could deter mainstream adoption.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9042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40167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0167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Regulatory clarity emerging (US ETF approval, EU MiCA). Compliance infrastructure improving.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1313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688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187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0125" y="5334000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9750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875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Ethereum &amp; Smart Contracts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875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programmability, DeFi ecosystem, NFTs. ETH market cap ~$300B+.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9750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Solana &amp; High-Speed Chains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65,000 TPS, sub-cent fees, growing ecosystem. Could capture payment use cases.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9750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CBDCs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digital currencies (China's e-yuan) could compete for digital payments.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35958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2333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8833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894771" y="5334000"/>
            <a:ext cx="147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CENTRALIZATION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34396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45521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Mining Pool Concentration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45521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pools control ~55% of hashrate. Foundry USA alone has ~35%.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34396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5521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Holder Influence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45521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"Whales" with 1,000+ BTC can move markets. Satoshi's 1M BTC remains untouched.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34396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45521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45521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Stratum V2 protocol gives miners more control. Geographic distribution improving.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30604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336979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3479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89417" y="5334000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RISKS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29042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40167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Quantum Computing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40167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quantum computers could break SHA-256. Bitcoin would need to upgrade cryptography.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9042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0167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Bugs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40167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vulnerability could be exploited. 2010 inflation bug created 184 billion BTC (quickly fixed).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29042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40167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440167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 development, extensive testing, slow upgrade process minimizes risk.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b117942948e590458290b2b11fd6e5796502df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Expert Forecasts &amp; Price Targets for 2025-2030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2025-2030: EXPERT PREDICTIONS &amp;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3571875"/>
          </a:xfrm>
          <a:custGeom>
            <a:avLst/>
            <a:gdLst/>
            <a:ahLst/>
            <a:cxn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INSTITUTIONAL PRICE TARGETS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875" y="206375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Targets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1124" y="2047875"/>
            <a:ext cx="138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$120K - $285K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875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Chartered: $200K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83756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Fundstrat: $250K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875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H.C. Wainwright: $225K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756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21st Capital: $285K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2984500"/>
            <a:ext cx="5826125" cy="698500"/>
          </a:xfrm>
          <a:custGeom>
            <a:avLst/>
            <a:gdLst/>
            <a:ahLst/>
            <a:cxn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875" y="31115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Targets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67040" y="3095625"/>
            <a:ext cx="1277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$78K - $142K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3413125"/>
            <a:ext cx="565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Consolidation after 2025 peak, continued ETF inflows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50" y="381000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875" y="39370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2030 Targets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92998" y="3921125"/>
            <a:ext cx="1357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$109K - $1.5M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875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Jack Dorsey: $1M+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83756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Cathie Wood: $1.5M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JPMorgan: $170K-266K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83756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Conservative: $109K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5103813"/>
            <a:ext cx="6223000" cy="3317875"/>
          </a:xfrm>
          <a:custGeom>
            <a:avLst/>
            <a:gdLst/>
            <a:ahLst/>
            <a:cxn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3875" y="52863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CATALYSTS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750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875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ETF Inflows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Continued institutional buying through regulated vehicles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15506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6631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Corporate Treasury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26631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companies following MicroStrategy's Bitcoin strategy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750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875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Nation-State Adoption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875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countries making Bitcoin legal tender or reserve asset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15506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6631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2028 Halving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26631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supply shock reduces new issuance to 1.5625 BTC/block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9750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Favorable Regulation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875" y="7794625"/>
            <a:ext cx="268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Pro-crypto US administration, global regulatory clarity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15506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6631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Layer 2 Growth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26631" y="7794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enables everyday payments at scale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69075" y="1357313"/>
            <a:ext cx="5080000" cy="6080125"/>
          </a:xfrm>
          <a:custGeom>
            <a:avLst/>
            <a:gdLst/>
            <a:ahLst/>
            <a:cxn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 SCENARIOS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7513" y="193675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4200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8638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3138" y="2127250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BEAR CASE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10388" y="246062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$50K - $75K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10388" y="2809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Regulatory crackdowns, major exchange failure, prolonged recession, quantum computing breakthrough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10388" y="3190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survives but struggles to gain mainstream traction. Volatility remains high, institutional interest wanes.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67513" y="3810000"/>
            <a:ext cx="4683125" cy="1555750"/>
          </a:xfrm>
          <a:custGeom>
            <a:avLst/>
            <a:gdLst/>
            <a:ahLst/>
            <a:cxn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4200" y="3976687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8638" y="3952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23138" y="4000500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110388" y="43338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$150K - $250K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0388" y="4683125"/>
            <a:ext cx="445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Steady ETF inflows, corporate adoption, favorable regulation, 2028 halving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10388" y="49053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established store of value, "digital gold" thesis validated. Volatility decreases as market matures.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67513" y="552450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4200" y="56911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8638" y="56673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23138" y="5715000"/>
            <a:ext cx="98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BULL CASE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110388" y="60483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$500K+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10388" y="6397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 strategic Bitcoin reserve, mass corporate adoption, nation-state FOMO, dollar crisis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10388" y="6778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global reserve asset, challenges gold's $16T market cap. Widespread use as savings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200775" y="781050"/>
            <a:ext cx="5581650" cy="3962400"/>
          </a:xfrm>
          <a:custGeom>
            <a:avLst/>
            <a:gdLst/>
            <a:ahLst/>
            <a:cxn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43650" y="24860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515100" y="3876675"/>
            <a:ext cx="478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82991" y="5257800"/>
            <a:ext cx="4400550" cy="819150"/>
          </a:xfrm>
          <a:custGeom>
            <a:avLst/>
            <a:gdLst/>
            <a:ahLst/>
            <a:cxn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0166" y="5514975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Takeaways &amp; Final Thoughts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TRAJECTORY: 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365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EXPERIMENT TO ASSET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0796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evolved from a cypherpunk experiment to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globally recognized financial asset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$1.47 trillion market cap. What started as an idea in a whitepaper is now held by institutions, corporations, and nation-states.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3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9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7375" y="1539875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 CROSSED THE RUBICON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5875" y="21431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January 2024 ETF approval was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watershed moment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Wall Street has embraced Bitcoin, with $85B+ in ETF AUM, corporate treasury strategies, and major banks offering crypto services. This genie cannot be put back in the bottle.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5375" y="3302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CREATE PREDICTABLE PATTERNS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39052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programmed scarcity mechanism has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historically preceded major bull runs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The 2024 halving reduced daily new supply to 450 BTC (0.85% inflation), setting the stage for the next supply-demand imbalance.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3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9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7375" y="3302000"/>
            <a:ext cx="475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REMAIN, BUT SOLUTIONS EMERGE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5875" y="38417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Scalability, energy consumption, and regulation are real challenges. However,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(Lightning Network), renewable energy adoption (~55% of mining), and regulatory clarity are addressing these issues.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5375" y="5064125"/>
            <a:ext cx="326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"DIGITAL GOLD" STILL EVOLVING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scarcity and decentralization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3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9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7375" y="5064125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2024-2030: THE CRITICAL DECADE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5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next 6 years will determine Bitcoin's long-term trajectory.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adoption, corporate treasuries, nation-state accumulation, and the 2028 halving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could propel Bitcoin to $150K-$500K+ or higher. The foundation is being laid for mainstream integration.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6580188"/>
            <a:ext cx="11509375" cy="1666875"/>
          </a:xfrm>
          <a:custGeom>
            <a:avLst/>
            <a:gdLst/>
            <a:ahLst/>
            <a:cxn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875" y="7032625"/>
            <a:ext cx="10017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875" y="7350125"/>
            <a:ext cx="99933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represents both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transformative potential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(decentralized, scarce, borderless money) and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risks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(volatility, regulation, competition). Approach with understanding of both.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2667" y="6786563"/>
            <a:ext cx="984250" cy="1254125"/>
          </a:xfrm>
          <a:custGeom>
            <a:avLst/>
            <a:gdLst/>
            <a:ahLst/>
            <a:cxn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1729" y="6937375"/>
            <a:ext cx="7461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2026-2030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WILL DEFINE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56000" y="676275"/>
            <a:ext cx="5476875" cy="4362450"/>
          </a:xfrm>
          <a:custGeom>
            <a:avLst/>
            <a:gdLst/>
            <a:ahLst/>
            <a:cxn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70325" y="1162050"/>
            <a:ext cx="484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1526" y="20764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3756050" y="2381250"/>
            <a:ext cx="4676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0350" y="3095625"/>
            <a:ext cx="4448175" cy="1428750"/>
          </a:xfrm>
          <a:custGeom>
            <a:avLst/>
            <a:gdLst/>
            <a:ahLst/>
            <a:cxn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0375" y="3352800"/>
            <a:ext cx="4048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a world of infinite money printing,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a fixed-supply digital asset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become the ultimate store of value?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43697" y="5400675"/>
            <a:ext cx="4705350" cy="781050"/>
          </a:xfrm>
          <a:custGeom>
            <a:avLst/>
            <a:gdLst/>
            <a:ahLst/>
            <a:cxn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00872" y="565785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Bitcoin: The Digital Revolution | March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Bitcoin: The Digital Revolution</dc:title>
  <dc:subject>Bitcoin: The Digital Revolution</dc:subject>
  <dc:creator>Kimi</dc:creator>
  <cp:lastModifiedBy>Kimi</cp:lastModifiedBy>
  <cp:revision>1</cp:revision>
  <dcterms:created xsi:type="dcterms:W3CDTF">2026-03-18T08:32:36Z</dcterms:created>
  <dcterms:modified xsi:type="dcterms:W3CDTF">2026-03-18T08:32:36Z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</Properties>
</file>