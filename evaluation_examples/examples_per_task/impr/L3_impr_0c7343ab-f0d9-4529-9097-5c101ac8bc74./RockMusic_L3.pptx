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jpg" ContentType="image/jpg"/>
  <Override PartName="/ppt/media/image-10-1.jpg" ContentType="image/jpg"/>
  <Override PartName="/ppt/media/image-12-1.jpg" ContentType="image/jpg"/>
  <Override PartName="/ppt/media/image-17-1.jpg" ContentType="image/jpg"/>
  <Override PartName="/ppt/media/image-18-1.jpg" ContentType="image/jpg"/>
  <Override PartName="/ppt/media/image-20-1.jpg" ContentType="image/jpg"/>
  <Override PartName="/ppt/media/image-22-1.jpg" ContentType="image/jpg"/>
  <Override PartName="/ppt/media/image-24-1.jpg" ContentType="image/jpg"/>
  <Override PartName="/ppt/media/image-3-1.jpg" ContentType="image/jpg"/>
  <Override PartName="/ppt/media/image-6-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6"/>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Legacy: Rock music's influence extends beyond sound — it shaped fashion, politics, and social movements across multiple generations.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https://kimi-web-img.moonshot.cn/img/images.stockcake.com/96258189374df31f5969197e350949c9bc979f22.jpg">    </p:cNvPr>
          <p:cNvPicPr>
            <a:picLocks noChangeAspect="1"/>
          </p:cNvPicPr>
          <p:nvPr/>
        </p:nvPicPr>
        <p:blipFill>
          <a:blip r:embed="rId1">
            <a:alphaModFix amt="40000"/>
          </a:blip>
          <a:srcRect l="0" r="0"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80000"/>
                </a:srgbClr>
              </a:gs>
              <a:gs pos="100000">
                <a:srgbClr val="000000">
                  <a:alpha val="0"/>
                </a:srgbClr>
              </a:gs>
            </a:gsLst>
            <a:lin ang="2700000" scaled="1"/>
          </a:gradFill>
          <a:ln/>
        </p:spPr>
        <p:txBody>
          <a:bodyPr/>
          <a:p/>
        </p:txBody>
      </p:sp>
      <p:sp>
        <p:nvSpPr>
          <p:cNvPr id="4" name="Shape 1"/>
          <p:cNvSpPr/>
          <p:nvPr/>
        </p:nvSpPr>
        <p:spPr>
          <a:xfrm>
            <a:off x="336459" y="781050"/>
            <a:ext cx="2219325" cy="419100"/>
          </a:xfrm>
          <a:custGeom>
            <a:avLst/>
            <a:gdLst/>
            <a:ahLst/>
            <a:cxnLst/>
            <a:rect l="l" t="t" r="r" b="b"/>
            <a:pathLst>
              <a:path w="2219325" h="419100">
                <a:moveTo>
                  <a:pt x="0" y="0"/>
                </a:moveTo>
                <a:lnTo>
                  <a:pt x="2219325" y="0"/>
                </a:lnTo>
                <a:lnTo>
                  <a:pt x="2219325" y="419100"/>
                </a:lnTo>
                <a:lnTo>
                  <a:pt x="0" y="419100"/>
                </a:lnTo>
                <a:lnTo>
                  <a:pt x="0" y="0"/>
                </a:lnTo>
                <a:close/>
              </a:path>
            </a:pathLst>
          </a:custGeom>
          <a:solidFill>
            <a:srgbClr val="DDFF00"/>
          </a:solidFill>
          <a:ln/>
        </p:spPr>
        <p:txBody>
          <a:bodyPr/>
          <a:p/>
        </p:txBody>
      </p:sp>
      <p:sp>
        <p:nvSpPr>
          <p:cNvPr id="5" name="Text 2"/>
          <p:cNvSpPr/>
          <p:nvPr/>
        </p:nvSpPr>
        <p:spPr>
          <a:xfrm>
            <a:off x="609600" y="857250"/>
            <a:ext cx="1857375" cy="266700"/>
          </a:xfrm>
          <a:prstGeom prst="rect">
            <a:avLst/>
          </a:prstGeom>
          <a:noFill/>
          <a:ln/>
        </p:spPr>
        <p:txBody>
          <a:bodyPr wrap="square" lIns="0" tIns="0" rIns="0" bIns="0" rtlCol="0" anchor="ctr"/>
          <a:lstStyle/>
          <a:p>
            <a:pPr>
              <a:lnSpc>
                <a:spcPct val="120000"/>
              </a:lnSpc>
            </a:pPr>
            <a:r>
              <a:rPr lang="en-US" sz="4400" b="1" spc="150" kern="0" dirty="0">
                <a:solidFill>
                  <a:srgbClr val="FF0000"/>
                </a:solidFill>
                <a:latin typeface="Liter" pitchFamily="34" charset="0"/>
                <a:ea typeface="Liter" pitchFamily="34" charset="-122"/>
                <a:cs typeface="Liter" pitchFamily="34" charset="-120"/>
              </a:rPr>
              <a:t>LECTURE SERIES</a:t>
            </a:r>
            <a:endParaRPr lang="en-US" sz="1600" dirty="0"/>
          </a:p>
        </p:txBody>
      </p:sp>
      <p:sp>
        <p:nvSpPr>
          <p:cNvPr id="6" name="Text 3"/>
          <p:cNvSpPr/>
          <p:nvPr/>
        </p:nvSpPr>
        <p:spPr>
          <a:xfrm>
            <a:off x="381000" y="1733550"/>
            <a:ext cx="12001500" cy="3429000"/>
          </a:xfrm>
          <a:prstGeom prst="rect">
            <a:avLst/>
          </a:prstGeom>
          <a:noFill/>
          <a:ln/>
        </p:spPr>
        <p:txBody>
          <a:bodyPr wrap="square" lIns="0" tIns="0" rIns="0" bIns="0" rtlCol="0" anchor="ctr"/>
          <a:lstStyle/>
          <a:p>
            <a:pPr>
              <a:lnSpc>
                <a:spcPct val="80000"/>
              </a:lnSpc>
            </a:pPr>
            <a:r>
              <a:rPr lang="en-US" sz="4400" b="1" spc="-450" kern="0" dirty="0">
                <a:solidFill>
                  <a:srgbClr val="FF0000"/>
                </a:solidFill>
                <a:latin typeface="Liter" pitchFamily="34" charset="0"/>
                <a:ea typeface="Liter" pitchFamily="34" charset="-122"/>
                <a:cs typeface="Liter" pitchFamily="34" charset="-120"/>
              </a:rPr>
              <a:t>THE</a:t>
            </a:r>
            <a:endParaRPr lang="en-US" sz="1600" dirty="0"/>
          </a:p>
          <a:p>
            <a:pPr>
              <a:lnSpc>
                <a:spcPct val="80000"/>
              </a:lnSpc>
            </a:pPr>
            <a:r>
              <a:rPr lang="en-US" sz="4400" b="1" spc="-450" kern="0" dirty="0">
                <a:solidFill>
                  <a:srgbClr val="FF0000"/>
                </a:solidFill>
                <a:latin typeface="Liter" pitchFamily="34" charset="0"/>
                <a:ea typeface="Liter" pitchFamily="34" charset="-122"/>
                <a:cs typeface="Liter" pitchFamily="34" charset="-120"/>
              </a:rPr>
              <a:t>EVOLUTION</a:t>
            </a:r>
            <a:endParaRPr lang="en-US" sz="1600" dirty="0"/>
          </a:p>
          <a:p>
            <a:pPr>
              <a:lnSpc>
                <a:spcPct val="80000"/>
              </a:lnSpc>
            </a:pPr>
            <a:r>
              <a:rPr lang="en-US" sz="4400" b="1" spc="-450" kern="0" dirty="0">
                <a:solidFill>
                  <a:srgbClr val="FF0000"/>
                </a:solidFill>
                <a:latin typeface="Liter" pitchFamily="34" charset="0"/>
                <a:ea typeface="Liter" pitchFamily="34" charset="-122"/>
                <a:cs typeface="Liter" pitchFamily="34" charset="-120"/>
              </a:rPr>
              <a:t>OF ROCK</a:t>
            </a:r>
            <a:endParaRPr lang="en-US" sz="1600" dirty="0"/>
          </a:p>
        </p:txBody>
      </p:sp>
      <p:sp>
        <p:nvSpPr>
          <p:cNvPr id="7" name="Shape 4"/>
          <p:cNvSpPr/>
          <p:nvPr/>
        </p:nvSpPr>
        <p:spPr>
          <a:xfrm>
            <a:off x="381000" y="539115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DDFF00"/>
          </a:solidFill>
          <a:ln/>
        </p:spPr>
        <p:txBody>
          <a:bodyPr/>
          <a:p/>
        </p:txBody>
      </p:sp>
      <p:sp>
        <p:nvSpPr>
          <p:cNvPr id="8" name="Shape 5"/>
          <p:cNvSpPr/>
          <p:nvPr/>
        </p:nvSpPr>
        <p:spPr>
          <a:xfrm>
            <a:off x="1447800" y="5391150"/>
            <a:ext cx="457200" cy="38100"/>
          </a:xfrm>
          <a:custGeom>
            <a:avLst/>
            <a:gdLst/>
            <a:ahLst/>
            <a:cxnLst/>
            <a:rect l="l" t="t" r="r" b="b"/>
            <a:pathLst>
              <a:path w="457200" h="38100">
                <a:moveTo>
                  <a:pt x="0" y="0"/>
                </a:moveTo>
                <a:lnTo>
                  <a:pt x="457200" y="0"/>
                </a:lnTo>
                <a:lnTo>
                  <a:pt x="457200" y="38100"/>
                </a:lnTo>
                <a:lnTo>
                  <a:pt x="0" y="38100"/>
                </a:lnTo>
                <a:lnTo>
                  <a:pt x="0" y="0"/>
                </a:lnTo>
                <a:close/>
              </a:path>
            </a:pathLst>
          </a:custGeom>
          <a:solidFill>
            <a:srgbClr val="DDFF00"/>
          </a:solidFill>
          <a:ln/>
        </p:spPr>
        <p:txBody>
          <a:bodyPr/>
          <a:p/>
        </p:txBody>
      </p:sp>
      <p:sp>
        <p:nvSpPr>
          <p:cNvPr id="9" name="Shape 6"/>
          <p:cNvSpPr/>
          <p:nvPr/>
        </p:nvSpPr>
        <p:spPr>
          <a:xfrm>
            <a:off x="2057400" y="5391150"/>
            <a:ext cx="228600" cy="38100"/>
          </a:xfrm>
          <a:custGeom>
            <a:avLst/>
            <a:gdLst/>
            <a:ahLst/>
            <a:cxnLst/>
            <a:rect l="l" t="t" r="r" b="b"/>
            <a:pathLst>
              <a:path w="228600" h="38100">
                <a:moveTo>
                  <a:pt x="0" y="0"/>
                </a:moveTo>
                <a:lnTo>
                  <a:pt x="228600" y="0"/>
                </a:lnTo>
                <a:lnTo>
                  <a:pt x="228600" y="38100"/>
                </a:lnTo>
                <a:lnTo>
                  <a:pt x="0" y="38100"/>
                </a:lnTo>
                <a:lnTo>
                  <a:pt x="0" y="0"/>
                </a:lnTo>
                <a:close/>
              </a:path>
            </a:pathLst>
          </a:custGeom>
          <a:solidFill>
            <a:srgbClr val="DDFF00"/>
          </a:solidFill>
          <a:ln/>
        </p:spPr>
        <p:txBody>
          <a:bodyPr/>
          <a:p/>
        </p:txBody>
      </p:sp>
      <p:sp>
        <p:nvSpPr>
          <p:cNvPr id="10" name="Text 7"/>
          <p:cNvSpPr/>
          <p:nvPr/>
        </p:nvSpPr>
        <p:spPr>
          <a:xfrm>
            <a:off x="381000" y="5734050"/>
            <a:ext cx="6543675" cy="342900"/>
          </a:xfrm>
          <a:prstGeom prst="rect">
            <a:avLst/>
          </a:prstGeom>
          <a:noFill/>
          <a:ln/>
        </p:spPr>
        <p:txBody>
          <a:bodyPr wrap="square" lIns="0" tIns="0" rIns="0" bIns="0" rtlCol="0" anchor="ctr"/>
          <a:lstStyle/>
          <a:p>
            <a:pPr>
              <a:lnSpc>
                <a:spcPct val="100000"/>
              </a:lnSpc>
            </a:pPr>
            <a:r>
              <a:rPr lang="en-US" sz="4400" dirty="0" b="1">
                <a:solidFill>
                  <a:srgbClr val="FF0000"/>
                </a:solidFill>
                <a:latin typeface="Liter" pitchFamily="34" charset="0"/>
                <a:ea typeface="Liter" pitchFamily="34" charset="-122"/>
                <a:cs typeface="Liter" pitchFamily="34" charset="-120"/>
              </a:rPr>
              <a:t>A Journey Through the History of Rock 'n' Roll</a:t>
            </a:r>
            <a:endParaRPr lang="en-US" sz="1600" dirty="0"/>
          </a:p>
        </p:txBody>
      </p:sp>
      <p:sp>
        <p:nvSpPr>
          <p:cNvPr id="11" name="Shape 8"/>
          <p:cNvSpPr/>
          <p:nvPr/>
        </p:nvSpPr>
        <p:spPr>
          <a:xfrm rot="2700000">
            <a:off x="10636997" y="5302998"/>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solidFill>
            <a:srgbClr val="000000">
              <a:alpha val="0"/>
            </a:srgbClr>
          </a:solidFill>
          <a:ln w="50800">
            <a:solidFill>
              <a:srgbClr val="DDFF00"/>
            </a:solidFill>
            <a:prstDash val="solid"/>
          </a:ln>
          <a:effectLst>
            <a:outerShdw sx="100000" sy="100000" kx="0" ky="0" algn="bl" rotWithShape="0" blurRad="285750" dist="50800" dir="2700000">
              <a:srgbClr val="ddff00">
                <a:alpha val="30196"/>
              </a:srgbClr>
            </a:outerShdw>
          </a:effectLst>
        </p:spPr>
        <p:txBody>
          <a:bodyPr/>
          <a:p/>
        </p:txBody>
      </p:sp>
      <p:sp>
        <p:nvSpPr>
          <p:cNvPr id="12" name="Shape 9"/>
          <p:cNvSpPr/>
          <p:nvPr/>
        </p:nvSpPr>
        <p:spPr>
          <a:xfrm>
            <a:off x="10934700" y="5600700"/>
            <a:ext cx="228600" cy="228600"/>
          </a:xfrm>
          <a:custGeom>
            <a:avLst/>
            <a:gdLst/>
            <a:ahLst/>
            <a:cxn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1000" y="419100"/>
            <a:ext cx="76200" cy="609600"/>
          </a:xfrm>
          <a:custGeom>
            <a:avLst/>
            <a:gdLst/>
            <a:ahLst/>
            <a:cxnLst/>
            <a:rect l="l" t="t" r="r" b="b"/>
            <a:pathLst>
              <a:path w="76200" h="609600">
                <a:moveTo>
                  <a:pt x="0" y="0"/>
                </a:moveTo>
                <a:lnTo>
                  <a:pt x="76200" y="0"/>
                </a:lnTo>
                <a:lnTo>
                  <a:pt x="76200" y="609600"/>
                </a:lnTo>
                <a:lnTo>
                  <a:pt x="0" y="609600"/>
                </a:lnTo>
                <a:lnTo>
                  <a:pt x="0" y="0"/>
                </a:lnTo>
                <a:close/>
              </a:path>
            </a:pathLst>
          </a:custGeom>
          <a:solidFill>
            <a:srgbClr val="DDFF00"/>
          </a:solidFill>
          <a:ln/>
        </p:spPr>
      </p:sp>
      <p:sp>
        <p:nvSpPr>
          <p:cNvPr id="3" name="Text 1"/>
          <p:cNvSpPr/>
          <p:nvPr/>
        </p:nvSpPr>
        <p:spPr>
          <a:xfrm>
            <a:off x="609600" y="381000"/>
            <a:ext cx="2486025" cy="190500"/>
          </a:xfrm>
          <a:prstGeom prst="rect">
            <a:avLst/>
          </a:prstGeom>
          <a:noFill/>
          <a:ln/>
        </p:spPr>
        <p:txBody>
          <a:bodyPr wrap="square" lIns="0" tIns="0" rIns="0" bIns="0" rtlCol="0" anchor="ctr"/>
          <a:lstStyle/>
          <a:p>
            <a:pPr>
              <a:lnSpc>
                <a:spcPct val="120000"/>
              </a:lnSpc>
            </a:pPr>
            <a:r>
              <a:rPr lang="en-US" sz="1050" b="1" spc="105" kern="0" dirty="0">
                <a:solidFill>
                  <a:srgbClr val="DDFF00"/>
                </a:solidFill>
                <a:latin typeface="Liter" pitchFamily="34" charset="0"/>
                <a:ea typeface="Liter" pitchFamily="34" charset="-122"/>
                <a:cs typeface="Liter" pitchFamily="34" charset="-120"/>
              </a:rPr>
              <a:t>NAVIGATION</a:t>
            </a:r>
            <a:endParaRPr lang="en-US" sz="1600" dirty="0"/>
          </a:p>
        </p:txBody>
      </p:sp>
      <p:sp>
        <p:nvSpPr>
          <p:cNvPr id="4" name="Text 2"/>
          <p:cNvSpPr/>
          <p:nvPr/>
        </p:nvSpPr>
        <p:spPr>
          <a:xfrm>
            <a:off x="609600" y="609600"/>
            <a:ext cx="2647950"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Liter" pitchFamily="34" charset="0"/>
                <a:ea typeface="Liter" pitchFamily="34" charset="-122"/>
                <a:cs typeface="Liter" pitchFamily="34" charset="-120"/>
              </a:rPr>
              <a:t>CONTENTS</a:t>
            </a:r>
            <a:endParaRPr lang="en-US" sz="1600" dirty="0"/>
          </a:p>
        </p:txBody>
      </p:sp>
      <p:sp>
        <p:nvSpPr>
          <p:cNvPr id="5" name="Shape 3"/>
          <p:cNvSpPr/>
          <p:nvPr/>
        </p:nvSpPr>
        <p:spPr>
          <a:xfrm>
            <a:off x="381000" y="15240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6" name="Text 4"/>
          <p:cNvSpPr/>
          <p:nvPr/>
        </p:nvSpPr>
        <p:spPr>
          <a:xfrm>
            <a:off x="537493" y="1657350"/>
            <a:ext cx="43815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01</a:t>
            </a:r>
            <a:endParaRPr lang="en-US" sz="1600" dirty="0"/>
          </a:p>
        </p:txBody>
      </p:sp>
      <p:sp>
        <p:nvSpPr>
          <p:cNvPr id="7" name="Text 5"/>
          <p:cNvSpPr/>
          <p:nvPr/>
        </p:nvSpPr>
        <p:spPr>
          <a:xfrm>
            <a:off x="1143000" y="160020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Origins &amp; Birth of Rock</a:t>
            </a:r>
            <a:endParaRPr lang="en-US" sz="1600" dirty="0"/>
          </a:p>
        </p:txBody>
      </p:sp>
      <p:sp>
        <p:nvSpPr>
          <p:cNvPr id="8" name="Text 6"/>
          <p:cNvSpPr/>
          <p:nvPr/>
        </p:nvSpPr>
        <p:spPr>
          <a:xfrm>
            <a:off x="1143000" y="190500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1940s-1950s: The Musical Fusion That Changed Everything</a:t>
            </a:r>
            <a:endParaRPr lang="en-US" sz="1600" dirty="0"/>
          </a:p>
        </p:txBody>
      </p:sp>
      <p:sp>
        <p:nvSpPr>
          <p:cNvPr id="9" name="Shape 7"/>
          <p:cNvSpPr/>
          <p:nvPr/>
        </p:nvSpPr>
        <p:spPr>
          <a:xfrm>
            <a:off x="6324600" y="15240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10" name="Text 8"/>
          <p:cNvSpPr/>
          <p:nvPr/>
        </p:nvSpPr>
        <p:spPr>
          <a:xfrm>
            <a:off x="6455197" y="1657350"/>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02</a:t>
            </a:r>
            <a:endParaRPr lang="en-US" sz="1600" dirty="0"/>
          </a:p>
        </p:txBody>
      </p:sp>
      <p:sp>
        <p:nvSpPr>
          <p:cNvPr id="11" name="Text 9"/>
          <p:cNvSpPr/>
          <p:nvPr/>
        </p:nvSpPr>
        <p:spPr>
          <a:xfrm>
            <a:off x="7086600" y="160020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The British Invasion</a:t>
            </a:r>
            <a:endParaRPr lang="en-US" sz="1600" dirty="0"/>
          </a:p>
        </p:txBody>
      </p:sp>
      <p:sp>
        <p:nvSpPr>
          <p:cNvPr id="12" name="Text 10"/>
          <p:cNvSpPr/>
          <p:nvPr/>
        </p:nvSpPr>
        <p:spPr>
          <a:xfrm>
            <a:off x="7086600" y="190500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1960s: When Britain Took Back American Music</a:t>
            </a:r>
            <a:endParaRPr lang="en-US" sz="1600" dirty="0"/>
          </a:p>
        </p:txBody>
      </p:sp>
      <p:sp>
        <p:nvSpPr>
          <p:cNvPr id="13" name="Shape 11"/>
          <p:cNvSpPr/>
          <p:nvPr/>
        </p:nvSpPr>
        <p:spPr>
          <a:xfrm>
            <a:off x="381000" y="271462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14" name="Text 12"/>
          <p:cNvSpPr/>
          <p:nvPr/>
        </p:nvSpPr>
        <p:spPr>
          <a:xfrm>
            <a:off x="510332" y="2847975"/>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03</a:t>
            </a:r>
            <a:endParaRPr lang="en-US" sz="1600" dirty="0"/>
          </a:p>
        </p:txBody>
      </p:sp>
      <p:sp>
        <p:nvSpPr>
          <p:cNvPr id="15" name="Text 13"/>
          <p:cNvSpPr/>
          <p:nvPr/>
        </p:nvSpPr>
        <p:spPr>
          <a:xfrm>
            <a:off x="1143000" y="279082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Classic Rock &amp; Hard Rock</a:t>
            </a:r>
            <a:endParaRPr lang="en-US" sz="1600" dirty="0"/>
          </a:p>
        </p:txBody>
      </p:sp>
      <p:sp>
        <p:nvSpPr>
          <p:cNvPr id="16" name="Text 14"/>
          <p:cNvSpPr/>
          <p:nvPr/>
        </p:nvSpPr>
        <p:spPr>
          <a:xfrm>
            <a:off x="1143000" y="309562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Late 1960s-1970s: The Golden Age of Rock</a:t>
            </a:r>
            <a:endParaRPr lang="en-US" sz="1600" dirty="0"/>
          </a:p>
        </p:txBody>
      </p:sp>
      <p:sp>
        <p:nvSpPr>
          <p:cNvPr id="17" name="Shape 15"/>
          <p:cNvSpPr/>
          <p:nvPr/>
        </p:nvSpPr>
        <p:spPr>
          <a:xfrm>
            <a:off x="6324600" y="271462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18" name="Text 16"/>
          <p:cNvSpPr/>
          <p:nvPr/>
        </p:nvSpPr>
        <p:spPr>
          <a:xfrm>
            <a:off x="6454080" y="2847975"/>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04</a:t>
            </a:r>
            <a:endParaRPr lang="en-US" sz="1600" dirty="0"/>
          </a:p>
        </p:txBody>
      </p:sp>
      <p:sp>
        <p:nvSpPr>
          <p:cNvPr id="19" name="Text 17"/>
          <p:cNvSpPr/>
          <p:nvPr/>
        </p:nvSpPr>
        <p:spPr>
          <a:xfrm>
            <a:off x="7086600" y="279082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Birth of Heavy Metal</a:t>
            </a:r>
            <a:endParaRPr lang="en-US" sz="1600" dirty="0"/>
          </a:p>
        </p:txBody>
      </p:sp>
      <p:sp>
        <p:nvSpPr>
          <p:cNvPr id="20" name="Text 18"/>
          <p:cNvSpPr/>
          <p:nvPr/>
        </p:nvSpPr>
        <p:spPr>
          <a:xfrm>
            <a:off x="7086600" y="309562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Late 1960s-1970s: The Unholy Trinity</a:t>
            </a:r>
            <a:endParaRPr lang="en-US" sz="1600" dirty="0"/>
          </a:p>
        </p:txBody>
      </p:sp>
      <p:sp>
        <p:nvSpPr>
          <p:cNvPr id="21" name="Shape 19"/>
          <p:cNvSpPr/>
          <p:nvPr/>
        </p:nvSpPr>
        <p:spPr>
          <a:xfrm>
            <a:off x="381000" y="390525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22" name="Text 20"/>
          <p:cNvSpPr/>
          <p:nvPr/>
        </p:nvSpPr>
        <p:spPr>
          <a:xfrm>
            <a:off x="512341" y="4038600"/>
            <a:ext cx="485775"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05</a:t>
            </a:r>
            <a:endParaRPr lang="en-US" sz="1600" dirty="0"/>
          </a:p>
        </p:txBody>
      </p:sp>
      <p:sp>
        <p:nvSpPr>
          <p:cNvPr id="23" name="Text 21"/>
          <p:cNvSpPr/>
          <p:nvPr/>
        </p:nvSpPr>
        <p:spPr>
          <a:xfrm>
            <a:off x="1143000" y="398145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Punk Rock &amp; New Wave</a:t>
            </a:r>
            <a:endParaRPr lang="en-US" sz="1600" dirty="0"/>
          </a:p>
        </p:txBody>
      </p:sp>
      <p:sp>
        <p:nvSpPr>
          <p:cNvPr id="24" name="Text 22"/>
          <p:cNvSpPr/>
          <p:nvPr/>
        </p:nvSpPr>
        <p:spPr>
          <a:xfrm>
            <a:off x="1143000" y="428625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1970s-1980s: Raw Energy &amp; Artistic Expression</a:t>
            </a:r>
            <a:endParaRPr lang="en-US" sz="1600" dirty="0"/>
          </a:p>
        </p:txBody>
      </p:sp>
      <p:sp>
        <p:nvSpPr>
          <p:cNvPr id="25" name="Shape 23"/>
          <p:cNvSpPr/>
          <p:nvPr/>
        </p:nvSpPr>
        <p:spPr>
          <a:xfrm>
            <a:off x="6324600" y="390525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26" name="Text 24"/>
          <p:cNvSpPr/>
          <p:nvPr/>
        </p:nvSpPr>
        <p:spPr>
          <a:xfrm>
            <a:off x="6452741" y="4038600"/>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06</a:t>
            </a:r>
            <a:endParaRPr lang="en-US" sz="1600" dirty="0"/>
          </a:p>
        </p:txBody>
      </p:sp>
      <p:sp>
        <p:nvSpPr>
          <p:cNvPr id="27" name="Text 25"/>
          <p:cNvSpPr/>
          <p:nvPr/>
        </p:nvSpPr>
        <p:spPr>
          <a:xfrm>
            <a:off x="7086600" y="398145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Alternative Rock &amp; Grunge</a:t>
            </a:r>
            <a:endParaRPr lang="en-US" sz="1600" dirty="0"/>
          </a:p>
        </p:txBody>
      </p:sp>
      <p:sp>
        <p:nvSpPr>
          <p:cNvPr id="28" name="Text 26"/>
          <p:cNvSpPr/>
          <p:nvPr/>
        </p:nvSpPr>
        <p:spPr>
          <a:xfrm>
            <a:off x="7086600" y="428625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1990s: The Seattle Sound Goes Global</a:t>
            </a:r>
            <a:endParaRPr lang="en-US" sz="1600" dirty="0"/>
          </a:p>
        </p:txBody>
      </p:sp>
      <p:sp>
        <p:nvSpPr>
          <p:cNvPr id="29" name="Shape 27"/>
          <p:cNvSpPr/>
          <p:nvPr/>
        </p:nvSpPr>
        <p:spPr>
          <a:xfrm>
            <a:off x="381000" y="509587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30" name="Text 28"/>
          <p:cNvSpPr/>
          <p:nvPr/>
        </p:nvSpPr>
        <p:spPr>
          <a:xfrm>
            <a:off x="521494" y="5229225"/>
            <a:ext cx="47625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07</a:t>
            </a:r>
            <a:endParaRPr lang="en-US" sz="1600" dirty="0"/>
          </a:p>
        </p:txBody>
      </p:sp>
      <p:sp>
        <p:nvSpPr>
          <p:cNvPr id="31" name="Text 29"/>
          <p:cNvSpPr/>
          <p:nvPr/>
        </p:nvSpPr>
        <p:spPr>
          <a:xfrm>
            <a:off x="1143000" y="517207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Indie Rock Revival</a:t>
            </a:r>
            <a:endParaRPr lang="en-US" sz="1600" dirty="0"/>
          </a:p>
        </p:txBody>
      </p:sp>
      <p:sp>
        <p:nvSpPr>
          <p:cNvPr id="32" name="Text 30"/>
          <p:cNvSpPr/>
          <p:nvPr/>
        </p:nvSpPr>
        <p:spPr>
          <a:xfrm>
            <a:off x="1143000" y="547687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2000s-2010s: Return to Raw, DIY Aesthetics</a:t>
            </a:r>
            <a:endParaRPr lang="en-US" sz="1600" dirty="0"/>
          </a:p>
        </p:txBody>
      </p:sp>
      <p:sp>
        <p:nvSpPr>
          <p:cNvPr id="33" name="Shape 31"/>
          <p:cNvSpPr/>
          <p:nvPr/>
        </p:nvSpPr>
        <p:spPr>
          <a:xfrm>
            <a:off x="6324600" y="509587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34" name="Text 32"/>
          <p:cNvSpPr/>
          <p:nvPr/>
        </p:nvSpPr>
        <p:spPr>
          <a:xfrm>
            <a:off x="6450509" y="5229225"/>
            <a:ext cx="504825"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08</a:t>
            </a:r>
            <a:endParaRPr lang="en-US" sz="1600" dirty="0"/>
          </a:p>
        </p:txBody>
      </p:sp>
      <p:sp>
        <p:nvSpPr>
          <p:cNvPr id="35" name="Text 33"/>
          <p:cNvSpPr/>
          <p:nvPr/>
        </p:nvSpPr>
        <p:spPr>
          <a:xfrm>
            <a:off x="7086600" y="517207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Legacy &amp; Cultural Impact</a:t>
            </a:r>
            <a:endParaRPr lang="en-US" sz="1600" dirty="0"/>
          </a:p>
        </p:txBody>
      </p:sp>
      <p:sp>
        <p:nvSpPr>
          <p:cNvPr id="36" name="Text 34"/>
          <p:cNvSpPr/>
          <p:nvPr/>
        </p:nvSpPr>
        <p:spPr>
          <a:xfrm>
            <a:off x="7086600" y="547687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Rock's Enduring Influence on Music &amp; Culture</a:t>
            </a:r>
            <a:endParaRPr lang="en-US" sz="1600" dirty="0"/>
          </a:p>
        </p:txBody>
      </p:sp>
      <p:sp>
        <p:nvSpPr>
          <p:cNvPr id="37" name="Shape 35"/>
          <p:cNvSpPr/>
          <p:nvPr/>
        </p:nvSpPr>
        <p:spPr>
          <a:xfrm rot="2700000">
            <a:off x="11215828" y="6339028"/>
            <a:ext cx="114300" cy="114300"/>
          </a:xfrm>
          <a:custGeom>
            <a:avLst/>
            <a:gdLst/>
            <a:ahLst/>
            <a:cxnLst/>
            <a:rect l="l" t="t" r="r" b="b"/>
            <a:pathLst>
              <a:path w="114300" h="114300">
                <a:moveTo>
                  <a:pt x="0" y="0"/>
                </a:moveTo>
                <a:lnTo>
                  <a:pt x="114300" y="0"/>
                </a:lnTo>
                <a:lnTo>
                  <a:pt x="114300" y="114300"/>
                </a:lnTo>
                <a:lnTo>
                  <a:pt x="0" y="114300"/>
                </a:lnTo>
                <a:lnTo>
                  <a:pt x="0" y="0"/>
                </a:lnTo>
                <a:close/>
              </a:path>
            </a:pathLst>
          </a:custGeom>
          <a:solidFill>
            <a:srgbClr val="DDFF00"/>
          </a:solidFill>
          <a:ln/>
        </p:spPr>
      </p:sp>
      <p:sp>
        <p:nvSpPr>
          <p:cNvPr id="38" name="Shape 36"/>
          <p:cNvSpPr/>
          <p:nvPr/>
        </p:nvSpPr>
        <p:spPr>
          <a:xfrm rot="2700000">
            <a:off x="11444428" y="6339028"/>
            <a:ext cx="114300" cy="114300"/>
          </a:xfrm>
          <a:custGeom>
            <a:avLst/>
            <a:gdLst/>
            <a:ahLst/>
            <a:cxnLst/>
            <a:rect l="l" t="t" r="r" b="b"/>
            <a:pathLst>
              <a:path w="114300" h="114300">
                <a:moveTo>
                  <a:pt x="0" y="0"/>
                </a:moveTo>
                <a:lnTo>
                  <a:pt x="114300" y="0"/>
                </a:lnTo>
                <a:lnTo>
                  <a:pt x="114300" y="114300"/>
                </a:lnTo>
                <a:lnTo>
                  <a:pt x="0" y="114300"/>
                </a:lnTo>
                <a:lnTo>
                  <a:pt x="0" y="0"/>
                </a:lnTo>
                <a:close/>
              </a:path>
            </a:pathLst>
          </a:custGeom>
          <a:solidFill>
            <a:srgbClr val="DDFF00"/>
          </a:solidFill>
          <a:ln/>
        </p:spPr>
      </p:sp>
      <p:sp>
        <p:nvSpPr>
          <p:cNvPr id="39" name="Shape 37"/>
          <p:cNvSpPr/>
          <p:nvPr/>
        </p:nvSpPr>
        <p:spPr>
          <a:xfrm rot="2700000">
            <a:off x="11673028" y="6339028"/>
            <a:ext cx="114300" cy="114300"/>
          </a:xfrm>
          <a:custGeom>
            <a:avLst/>
            <a:gdLst/>
            <a:ahLst/>
            <a:cxnLst/>
            <a:rect l="l" t="t" r="r" b="b"/>
            <a:pathLst>
              <a:path w="114300" h="114300">
                <a:moveTo>
                  <a:pt x="0" y="0"/>
                </a:moveTo>
                <a:lnTo>
                  <a:pt x="114300" y="0"/>
                </a:lnTo>
                <a:lnTo>
                  <a:pt x="114300" y="114300"/>
                </a:lnTo>
                <a:lnTo>
                  <a:pt x="0" y="114300"/>
                </a:lnTo>
                <a:lnTo>
                  <a:pt x="0" y="0"/>
                </a:lnTo>
                <a:close/>
              </a:path>
            </a:pathLst>
          </a:custGeom>
          <a:solidFill>
            <a:srgbClr val="DDFF0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https://kimi-web-img.moonshot.cn/img/i.ebayimg.com/ed9f2cb33487cc74cc6de2346b75731de6884d23.jpg">    </p:cNvPr>
          <p:cNvPicPr>
            <a:picLocks noChangeAspect="1"/>
          </p:cNvPicPr>
          <p:nvPr/>
        </p:nvPicPr>
        <p:blipFill>
          <a:blip r:embed="rId1">
            <a:alphaModFix amt="30000"/>
          </a:blip>
          <a:srcRect l="0" r="0" t="29433" b="2943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txBody>
          <a:bodyPr/>
          <a:p/>
        </p:txBody>
      </p:sp>
      <p:sp>
        <p:nvSpPr>
          <p:cNvPr id="4" name="Shape 1"/>
          <p:cNvSpPr/>
          <p:nvPr/>
        </p:nvSpPr>
        <p:spPr>
          <a:xfrm rot="720000">
            <a:off x="10754384" y="5420383"/>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txBody>
          <a:bodyPr/>
          <a:p/>
        </p:txBody>
      </p:sp>
      <p:sp>
        <p:nvSpPr>
          <p:cNvPr id="5" name="Shape 2"/>
          <p:cNvSpPr/>
          <p:nvPr/>
        </p:nvSpPr>
        <p:spPr>
          <a:xfrm rot="-360000">
            <a:off x="320619" y="1311219"/>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txBody>
          <a:bodyPr/>
          <a:p/>
        </p:txBody>
      </p:sp>
      <p:sp>
        <p:nvSpPr>
          <p:cNvPr id="6" name="Text 3"/>
          <p:cNvSpPr/>
          <p:nvPr/>
        </p:nvSpPr>
        <p:spPr>
          <a:xfrm>
            <a:off x="634603" y="1638303"/>
            <a:ext cx="1057275" cy="685800"/>
          </a:xfrm>
          <a:prstGeom prst="rect">
            <a:avLst/>
          </a:prstGeom>
          <a:noFill/>
          <a:ln/>
        </p:spPr>
        <p:txBody>
          <a:bodyPr wrap="square" lIns="0" tIns="0" rIns="0" bIns="0" rtlCol="0" anchor="ctr"/>
          <a:lstStyle/>
          <a:p>
            <a:pPr>
              <a:lnSpc>
                <a:spcPct val="80000"/>
              </a:lnSpc>
            </a:pPr>
            <a:r>
              <a:rPr lang="en-US" sz="5400" b="1" dirty="0" i="1">
                <a:solidFill>
                  <a:srgbClr val="404040"/>
                </a:solidFill>
                <a:latin typeface="Liter" pitchFamily="34" charset="0"/>
                <a:ea typeface="Liter" pitchFamily="34" charset="-122"/>
                <a:cs typeface="Liter" pitchFamily="34" charset="-120"/>
              </a:rPr>
              <a:t>01</a:t>
            </a:r>
            <a:endParaRPr lang="en-US" sz="1600" dirty="0"/>
          </a:p>
        </p:txBody>
      </p:sp>
      <p:sp>
        <p:nvSpPr>
          <p:cNvPr id="7" name="Shape 4"/>
          <p:cNvSpPr/>
          <p:nvPr/>
        </p:nvSpPr>
        <p:spPr>
          <a:xfrm>
            <a:off x="1828800" y="1752600"/>
            <a:ext cx="4505325" cy="38100"/>
          </a:xfrm>
          <a:custGeom>
            <a:avLst/>
            <a:gdLst/>
            <a:ahLst/>
            <a:cxnLst/>
            <a:rect l="l" t="t" r="r" b="b"/>
            <a:pathLst>
              <a:path w="4505325" h="38100">
                <a:moveTo>
                  <a:pt x="0" y="0"/>
                </a:moveTo>
                <a:lnTo>
                  <a:pt x="4505325" y="0"/>
                </a:lnTo>
                <a:lnTo>
                  <a:pt x="4505325" y="38100"/>
                </a:lnTo>
                <a:lnTo>
                  <a:pt x="0" y="38100"/>
                </a:lnTo>
                <a:lnTo>
                  <a:pt x="0" y="0"/>
                </a:lnTo>
                <a:close/>
              </a:path>
            </a:pathLst>
          </a:custGeom>
          <a:solidFill>
            <a:srgbClr val="DDFF00"/>
          </a:solidFill>
          <a:ln/>
        </p:spPr>
        <p:txBody>
          <a:bodyPr/>
          <a:p/>
        </p:txBody>
      </p:sp>
      <p:sp>
        <p:nvSpPr>
          <p:cNvPr id="8" name="Text 5"/>
          <p:cNvSpPr/>
          <p:nvPr/>
        </p:nvSpPr>
        <p:spPr>
          <a:xfrm>
            <a:off x="1828800" y="1943100"/>
            <a:ext cx="4591050" cy="266700"/>
          </a:xfrm>
          <a:prstGeom prst="rect">
            <a:avLst/>
          </a:prstGeom>
          <a:noFill/>
          <a:ln/>
        </p:spPr>
        <p:txBody>
          <a:bodyPr wrap="square" lIns="0" tIns="0" rIns="0" bIns="0" rtlCol="0" anchor="ctr"/>
          <a:lstStyle/>
          <a:p>
            <a:pPr>
              <a:lnSpc>
                <a:spcPct val="130000"/>
              </a:lnSpc>
            </a:pPr>
            <a:r>
              <a:rPr lang="en-US" sz="1350" b="1" spc="135" kern="0" dirty="0" i="1">
                <a:solidFill>
                  <a:srgbClr val="404040"/>
                </a:solidFill>
                <a:latin typeface="Liter" pitchFamily="34" charset="0"/>
                <a:ea typeface="Liter" pitchFamily="34" charset="-122"/>
                <a:cs typeface="Liter" pitchFamily="34" charset="-120"/>
              </a:rPr>
              <a:t>CHAPTER ONE</a:t>
            </a:r>
            <a:endParaRPr lang="en-US" sz="1600" dirty="0"/>
          </a:p>
        </p:txBody>
      </p:sp>
      <p:sp>
        <p:nvSpPr>
          <p:cNvPr id="9" name="Text 6"/>
          <p:cNvSpPr/>
          <p:nvPr/>
        </p:nvSpPr>
        <p:spPr>
          <a:xfrm>
            <a:off x="381000" y="2895600"/>
            <a:ext cx="6296025" cy="1714500"/>
          </a:xfrm>
          <a:prstGeom prst="rect">
            <a:avLst/>
          </a:prstGeom>
          <a:noFill/>
          <a:ln/>
        </p:spPr>
        <p:txBody>
          <a:bodyPr wrap="square" lIns="0" tIns="0" rIns="0" bIns="0" rtlCol="0" anchor="ctr"/>
          <a:lstStyle/>
          <a:p>
            <a:pPr>
              <a:lnSpc>
                <a:spcPct val="100000"/>
              </a:lnSpc>
            </a:pPr>
            <a:r>
              <a:rPr lang="en-US" sz="5400" b="1" dirty="0" i="1">
                <a:solidFill>
                  <a:srgbClr val="404040"/>
                </a:solidFill>
                <a:latin typeface="Liter" pitchFamily="34" charset="0"/>
                <a:ea typeface="Liter" pitchFamily="34" charset="-122"/>
                <a:cs typeface="Liter" pitchFamily="34" charset="-120"/>
              </a:rPr>
              <a:t>ORIGINS &amp;</a:t>
            </a:r>
            <a:endParaRPr lang="en-US" sz="1600" dirty="0"/>
          </a:p>
          <a:p>
            <a:pPr>
              <a:lnSpc>
                <a:spcPct val="100000"/>
              </a:lnSpc>
            </a:pPr>
            <a:r>
              <a:rPr lang="en-US" sz="5400" b="1" dirty="0" i="1">
                <a:solidFill>
                  <a:srgbClr val="404040"/>
                </a:solidFill>
                <a:latin typeface="Liter" pitchFamily="34" charset="0"/>
                <a:ea typeface="Liter" pitchFamily="34" charset="-122"/>
                <a:cs typeface="Liter" pitchFamily="34" charset="-120"/>
              </a:rPr>
              <a:t>BIRTH OF ROCK</a:t>
            </a:r>
            <a:endParaRPr lang="en-US" sz="1600" dirty="0"/>
          </a:p>
        </p:txBody>
      </p:sp>
      <p:sp>
        <p:nvSpPr>
          <p:cNvPr id="10" name="Text 7"/>
          <p:cNvSpPr/>
          <p:nvPr/>
        </p:nvSpPr>
        <p:spPr>
          <a:xfrm>
            <a:off x="381000" y="4838700"/>
            <a:ext cx="6067425" cy="304800"/>
          </a:xfrm>
          <a:prstGeom prst="rect">
            <a:avLst/>
          </a:prstGeom>
          <a:noFill/>
          <a:ln/>
        </p:spPr>
        <p:txBody>
          <a:bodyPr wrap="square" lIns="0" tIns="0" rIns="0" bIns="0" rtlCol="0" anchor="ctr"/>
          <a:lstStyle/>
          <a:p>
            <a:pPr>
              <a:lnSpc>
                <a:spcPct val="110000"/>
              </a:lnSpc>
            </a:pPr>
            <a:r>
              <a:rPr lang="en-US" sz="1800" dirty="0" i="1">
                <a:solidFill>
                  <a:srgbClr val="404040">
                    <a:alpha val="80000"/>
                  </a:srgbClr>
                </a:solidFill>
                <a:latin typeface="Liter" pitchFamily="34" charset="0"/>
                <a:ea typeface="Liter" pitchFamily="34" charset="-122"/>
                <a:cs typeface="Liter" pitchFamily="34" charset="-120"/>
              </a:rPr>
              <a:t>1940s-1950s: The Musical Fusion That Changed Everything</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txBody>
          <a:bodyPr/>
          <a:p/>
        </p:txBody>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txBody>
          <a:bodyPr/>
          <a:p/>
        </p:txBody>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txBody>
          <a:body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1000" y="43815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DDFF00"/>
          </a:solidFill>
          <a:ln/>
        </p:spPr>
      </p:sp>
      <p:sp>
        <p:nvSpPr>
          <p:cNvPr id="3" name="Text 1"/>
          <p:cNvSpPr/>
          <p:nvPr/>
        </p:nvSpPr>
        <p:spPr>
          <a:xfrm>
            <a:off x="609600" y="381000"/>
            <a:ext cx="6591300" cy="190500"/>
          </a:xfrm>
          <a:prstGeom prst="rect">
            <a:avLst/>
          </a:prstGeom>
          <a:noFill/>
          <a:ln/>
        </p:spPr>
        <p:txBody>
          <a:bodyPr wrap="square" lIns="0" tIns="0" rIns="0" bIns="0" rtlCol="0" anchor="ctr"/>
          <a:lstStyle/>
          <a:p>
            <a:pPr>
              <a:lnSpc>
                <a:spcPct val="120000"/>
              </a:lnSpc>
            </a:pPr>
            <a:r>
              <a:rPr lang="en-US" sz="1050" b="1" spc="105" kern="0" dirty="0">
                <a:solidFill>
                  <a:srgbClr val="DDFF00"/>
                </a:solidFill>
                <a:latin typeface="Liter" pitchFamily="34" charset="0"/>
                <a:ea typeface="Liter" pitchFamily="34" charset="-122"/>
                <a:cs typeface="Liter" pitchFamily="34" charset="-120"/>
              </a:rPr>
              <a:t>CHAPTER 01</a:t>
            </a:r>
            <a:endParaRPr lang="en-US" sz="1600" dirty="0"/>
          </a:p>
        </p:txBody>
      </p:sp>
      <p:sp>
        <p:nvSpPr>
          <p:cNvPr id="4" name="Text 2"/>
          <p:cNvSpPr/>
          <p:nvPr/>
        </p:nvSpPr>
        <p:spPr>
          <a:xfrm>
            <a:off x="609600" y="571500"/>
            <a:ext cx="6696075" cy="381000"/>
          </a:xfrm>
          <a:prstGeom prst="rect">
            <a:avLst/>
          </a:prstGeom>
          <a:noFill/>
          <a:ln/>
        </p:spPr>
        <p:txBody>
          <a:bodyPr wrap="square" lIns="0" tIns="0" rIns="0" bIns="0" rtlCol="0" anchor="ctr"/>
          <a:lstStyle/>
          <a:p>
            <a:pPr>
              <a:lnSpc>
                <a:spcPct val="90000"/>
              </a:lnSpc>
            </a:pPr>
            <a:r>
              <a:rPr lang="en-US" sz="2700" b="1" dirty="0">
                <a:solidFill>
                  <a:srgbClr val="FFFFFF"/>
                </a:solidFill>
                <a:latin typeface="Liter" pitchFamily="34" charset="0"/>
                <a:ea typeface="Liter" pitchFamily="34" charset="-122"/>
                <a:cs typeface="Liter" pitchFamily="34" charset="-120"/>
              </a:rPr>
              <a:t>The Roots of Rock: Blues, Gospel &amp; Country</a:t>
            </a:r>
            <a:endParaRPr lang="en-US" sz="1600" dirty="0"/>
          </a:p>
        </p:txBody>
      </p:sp>
      <p:sp>
        <p:nvSpPr>
          <p:cNvPr id="5" name="Shape 3"/>
          <p:cNvSpPr/>
          <p:nvPr/>
        </p:nvSpPr>
        <p:spPr>
          <a:xfrm>
            <a:off x="400050" y="1257300"/>
            <a:ext cx="38100" cy="1771650"/>
          </a:xfrm>
          <a:custGeom>
            <a:avLst/>
            <a:gdLst/>
            <a:ahLst/>
            <a:cxnLst/>
            <a:rect l="l" t="t" r="r" b="b"/>
            <a:pathLst>
              <a:path w="38100" h="1771650">
                <a:moveTo>
                  <a:pt x="0" y="0"/>
                </a:moveTo>
                <a:lnTo>
                  <a:pt x="38100" y="0"/>
                </a:lnTo>
                <a:lnTo>
                  <a:pt x="38100" y="1771650"/>
                </a:lnTo>
                <a:lnTo>
                  <a:pt x="0" y="1771650"/>
                </a:lnTo>
                <a:lnTo>
                  <a:pt x="0" y="0"/>
                </a:lnTo>
                <a:close/>
              </a:path>
            </a:pathLst>
          </a:custGeom>
          <a:solidFill>
            <a:srgbClr val="DDFF00"/>
          </a:solidFill>
          <a:ln/>
        </p:spPr>
      </p:sp>
      <p:sp>
        <p:nvSpPr>
          <p:cNvPr id="6" name="Shape 4"/>
          <p:cNvSpPr/>
          <p:nvPr/>
        </p:nvSpPr>
        <p:spPr>
          <a:xfrm>
            <a:off x="676275" y="1295400"/>
            <a:ext cx="228600" cy="228600"/>
          </a:xfrm>
          <a:custGeom>
            <a:avLst/>
            <a:gdLst/>
            <a:ahLst/>
            <a:cxn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p:spPr>
      </p:sp>
      <p:sp>
        <p:nvSpPr>
          <p:cNvPr id="7" name="Text 5"/>
          <p:cNvSpPr/>
          <p:nvPr/>
        </p:nvSpPr>
        <p:spPr>
          <a:xfrm>
            <a:off x="933450" y="1257300"/>
            <a:ext cx="6286500" cy="304800"/>
          </a:xfrm>
          <a:prstGeom prst="rect">
            <a:avLst/>
          </a:prstGeom>
          <a:noFill/>
          <a:ln/>
        </p:spPr>
        <p:txBody>
          <a:bodyPr wrap="square" lIns="0" tIns="0" rIns="0" bIns="0" rtlCol="0" anchor="ctr"/>
          <a:lstStyle/>
          <a:p>
            <a:pPr>
              <a:lnSpc>
                <a:spcPct val="110000"/>
              </a:lnSpc>
            </a:pPr>
            <a:r>
              <a:rPr lang="en-US" sz="1800" b="1" dirty="0">
                <a:solidFill>
                  <a:srgbClr val="DDFF00"/>
                </a:solidFill>
                <a:latin typeface="Liter" pitchFamily="34" charset="0"/>
                <a:ea typeface="Liter" pitchFamily="34" charset="-122"/>
                <a:cs typeface="Liter" pitchFamily="34" charset="-120"/>
              </a:rPr>
              <a:t>African American Blues</a:t>
            </a:r>
            <a:endParaRPr lang="en-US" sz="1600" dirty="0"/>
          </a:p>
        </p:txBody>
      </p:sp>
      <p:sp>
        <p:nvSpPr>
          <p:cNvPr id="8" name="Text 6"/>
          <p:cNvSpPr/>
          <p:nvPr/>
        </p:nvSpPr>
        <p:spPr>
          <a:xfrm>
            <a:off x="647700" y="1676400"/>
            <a:ext cx="6534150" cy="742950"/>
          </a:xfrm>
          <a:prstGeom prst="rect">
            <a:avLst/>
          </a:prstGeom>
          <a:noFill/>
          <a:ln/>
        </p:spPr>
        <p:txBody>
          <a:bodyPr wrap="square" lIns="0" tIns="0" rIns="0" bIns="0" rtlCol="0" anchor="ctr"/>
          <a:lstStyle/>
          <a:p>
            <a:pPr>
              <a:lnSpc>
                <a:spcPct val="140000"/>
              </a:lnSpc>
            </a:pPr>
            <a:r>
              <a:rPr lang="en-US" sz="1200" b="1" dirty="0">
                <a:solidFill>
                  <a:srgbClr val="FFFFFF"/>
                </a:solidFill>
                <a:latin typeface="Liter" pitchFamily="34" charset="0"/>
                <a:ea typeface="Liter" pitchFamily="34" charset="-122"/>
                <a:cs typeface="Liter" pitchFamily="34" charset="-120"/>
              </a:rPr>
              <a:t>The blues emerged in the late 19th century</a:t>
            </a:r>
            <a:pPr>
              <a:lnSpc>
                <a:spcPct val="140000"/>
              </a:lnSpc>
            </a:pPr>
            <a:r>
              <a:rPr lang="en-US" sz="1200" dirty="0">
                <a:solidFill>
                  <a:srgbClr val="FFFFFF"/>
                </a:solidFill>
                <a:latin typeface="Liter" pitchFamily="34" charset="0"/>
                <a:ea typeface="Liter" pitchFamily="34" charset="-122"/>
                <a:cs typeface="Liter" pitchFamily="34" charset="-120"/>
              </a:rPr>
              <a:t> in the Mississippi Delta, rooted in African American experiences of struggle and resilience. Early blues was primarily call-and-response vocal music, evolving from field shouts and hollers into passionate solo songs.</a:t>
            </a:r>
            <a:endParaRPr lang="en-US" sz="1600" dirty="0"/>
          </a:p>
        </p:txBody>
      </p:sp>
      <p:sp>
        <p:nvSpPr>
          <p:cNvPr id="9" name="Text 7"/>
          <p:cNvSpPr/>
          <p:nvPr/>
        </p:nvSpPr>
        <p:spPr>
          <a:xfrm>
            <a:off x="647700" y="2533650"/>
            <a:ext cx="6534150" cy="495300"/>
          </a:xfrm>
          <a:prstGeom prst="rect">
            <a:avLst/>
          </a:prstGeom>
          <a:noFill/>
          <a:ln/>
        </p:spPr>
        <p:txBody>
          <a:bodyPr wrap="square" lIns="0" tIns="0" rIns="0" bIns="0" rtlCol="0" anchor="ctr"/>
          <a:lstStyle/>
          <a:p>
            <a:pPr>
              <a:lnSpc>
                <a:spcPct val="140000"/>
              </a:lnSpc>
            </a:pPr>
            <a:r>
              <a:rPr lang="en-US" sz="1200" dirty="0">
                <a:solidFill>
                  <a:srgbClr val="FFFFFF">
                    <a:alpha val="80000"/>
                  </a:srgbClr>
                </a:solidFill>
                <a:latin typeface="Liter" pitchFamily="34" charset="0"/>
                <a:ea typeface="Liter" pitchFamily="34" charset="-122"/>
                <a:cs typeface="Liter" pitchFamily="34" charset="-120"/>
              </a:rPr>
              <a:t>Legendary artists like </a:t>
            </a:r>
            <a:pPr>
              <a:lnSpc>
                <a:spcPct val="140000"/>
              </a:lnSpc>
            </a:pPr>
            <a:r>
              <a:rPr lang="en-US" sz="1200" b="1" dirty="0">
                <a:solidFill>
                  <a:srgbClr val="DDFF00"/>
                </a:solidFill>
                <a:latin typeface="Liter" pitchFamily="34" charset="0"/>
                <a:ea typeface="Liter" pitchFamily="34" charset="-122"/>
                <a:cs typeface="Liter" pitchFamily="34" charset="-120"/>
              </a:rPr>
              <a:t>Robert Johnson</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 </a:t>
            </a:r>
            <a:pPr>
              <a:lnSpc>
                <a:spcPct val="140000"/>
              </a:lnSpc>
            </a:pPr>
            <a:r>
              <a:rPr lang="en-US" sz="1200" b="1" dirty="0">
                <a:solidFill>
                  <a:srgbClr val="DDFF00"/>
                </a:solidFill>
                <a:latin typeface="Liter" pitchFamily="34" charset="0"/>
                <a:ea typeface="Liter" pitchFamily="34" charset="-122"/>
                <a:cs typeface="Liter" pitchFamily="34" charset="-120"/>
              </a:rPr>
              <a:t>Muddy Waters</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 and </a:t>
            </a:r>
            <a:pPr>
              <a:lnSpc>
                <a:spcPct val="140000"/>
              </a:lnSpc>
            </a:pPr>
            <a:r>
              <a:rPr lang="en-US" sz="1200" b="1" dirty="0">
                <a:solidFill>
                  <a:srgbClr val="DDFF00"/>
                </a:solidFill>
                <a:latin typeface="Liter" pitchFamily="34" charset="0"/>
                <a:ea typeface="Liter" pitchFamily="34" charset="-122"/>
                <a:cs typeface="Liter" pitchFamily="34" charset="-120"/>
              </a:rPr>
              <a:t>B.B. King</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established the guitar as the dominant instrument, creating the foundation for rock's signature sound.</a:t>
            </a:r>
            <a:endParaRPr lang="en-US" sz="1600" dirty="0"/>
          </a:p>
        </p:txBody>
      </p:sp>
      <p:sp>
        <p:nvSpPr>
          <p:cNvPr id="10" name="Shape 8"/>
          <p:cNvSpPr/>
          <p:nvPr/>
        </p:nvSpPr>
        <p:spPr>
          <a:xfrm>
            <a:off x="400050" y="3286125"/>
            <a:ext cx="38100" cy="1771650"/>
          </a:xfrm>
          <a:custGeom>
            <a:avLst/>
            <a:gdLst/>
            <a:ahLst/>
            <a:cxnLst/>
            <a:rect l="l" t="t" r="r" b="b"/>
            <a:pathLst>
              <a:path w="38100" h="1771650">
                <a:moveTo>
                  <a:pt x="0" y="0"/>
                </a:moveTo>
                <a:lnTo>
                  <a:pt x="38100" y="0"/>
                </a:lnTo>
                <a:lnTo>
                  <a:pt x="38100" y="1771650"/>
                </a:lnTo>
                <a:lnTo>
                  <a:pt x="0" y="1771650"/>
                </a:lnTo>
                <a:lnTo>
                  <a:pt x="0" y="0"/>
                </a:lnTo>
                <a:close/>
              </a:path>
            </a:pathLst>
          </a:custGeom>
          <a:solidFill>
            <a:srgbClr val="DDFF00"/>
          </a:solidFill>
          <a:ln/>
        </p:spPr>
      </p:sp>
      <p:sp>
        <p:nvSpPr>
          <p:cNvPr id="11" name="Shape 9"/>
          <p:cNvSpPr/>
          <p:nvPr/>
        </p:nvSpPr>
        <p:spPr>
          <a:xfrm>
            <a:off x="676275" y="3324225"/>
            <a:ext cx="228600" cy="228600"/>
          </a:xfrm>
          <a:custGeom>
            <a:avLst/>
            <a:gdLst/>
            <a:ahLst/>
            <a:cxnLst/>
            <a:rect l="l" t="t" r="r" b="b"/>
            <a:pathLst>
              <a:path w="228600" h="228600">
                <a:moveTo>
                  <a:pt x="125016" y="-3572"/>
                </a:moveTo>
                <a:cubicBezTo>
                  <a:pt x="125016" y="-9510"/>
                  <a:pt x="120238" y="-14287"/>
                  <a:pt x="114300" y="-14287"/>
                </a:cubicBezTo>
                <a:cubicBezTo>
                  <a:pt x="108362" y="-14287"/>
                  <a:pt x="103584" y="-9510"/>
                  <a:pt x="103584" y="-3572"/>
                </a:cubicBezTo>
                <a:lnTo>
                  <a:pt x="103584" y="7144"/>
                </a:lnTo>
                <a:lnTo>
                  <a:pt x="89297" y="7144"/>
                </a:lnTo>
                <a:cubicBezTo>
                  <a:pt x="83359" y="7144"/>
                  <a:pt x="78581" y="11921"/>
                  <a:pt x="78581" y="17859"/>
                </a:cubicBezTo>
                <a:cubicBezTo>
                  <a:pt x="78581" y="23798"/>
                  <a:pt x="83359" y="28575"/>
                  <a:pt x="89297" y="28575"/>
                </a:cubicBezTo>
                <a:lnTo>
                  <a:pt x="103584" y="28575"/>
                </a:lnTo>
                <a:lnTo>
                  <a:pt x="103584" y="50006"/>
                </a:lnTo>
                <a:lnTo>
                  <a:pt x="59561" y="79385"/>
                </a:lnTo>
                <a:cubicBezTo>
                  <a:pt x="53578" y="83359"/>
                  <a:pt x="50006" y="90011"/>
                  <a:pt x="50006" y="97200"/>
                </a:cubicBezTo>
                <a:lnTo>
                  <a:pt x="50006" y="114300"/>
                </a:lnTo>
                <a:lnTo>
                  <a:pt x="14377" y="134660"/>
                </a:lnTo>
                <a:cubicBezTo>
                  <a:pt x="5492" y="139750"/>
                  <a:pt x="0" y="149215"/>
                  <a:pt x="0" y="159440"/>
                </a:cubicBezTo>
                <a:lnTo>
                  <a:pt x="0" y="200025"/>
                </a:lnTo>
                <a:cubicBezTo>
                  <a:pt x="0" y="215786"/>
                  <a:pt x="12814" y="228600"/>
                  <a:pt x="28575" y="228600"/>
                </a:cubicBezTo>
                <a:cubicBezTo>
                  <a:pt x="61927" y="228600"/>
                  <a:pt x="66705" y="228600"/>
                  <a:pt x="171450" y="228600"/>
                </a:cubicBezTo>
                <a:lnTo>
                  <a:pt x="200025" y="228600"/>
                </a:lnTo>
                <a:cubicBezTo>
                  <a:pt x="215786" y="228600"/>
                  <a:pt x="228600" y="215786"/>
                  <a:pt x="228600" y="200025"/>
                </a:cubicBezTo>
                <a:lnTo>
                  <a:pt x="228600" y="159440"/>
                </a:lnTo>
                <a:cubicBezTo>
                  <a:pt x="228600" y="149170"/>
                  <a:pt x="223108" y="139705"/>
                  <a:pt x="214223" y="134615"/>
                </a:cubicBezTo>
                <a:lnTo>
                  <a:pt x="178594" y="114300"/>
                </a:lnTo>
                <a:lnTo>
                  <a:pt x="178594" y="97200"/>
                </a:lnTo>
                <a:cubicBezTo>
                  <a:pt x="178594" y="90056"/>
                  <a:pt x="175022" y="83359"/>
                  <a:pt x="169039" y="79385"/>
                </a:cubicBezTo>
                <a:lnTo>
                  <a:pt x="125016" y="50006"/>
                </a:lnTo>
                <a:lnTo>
                  <a:pt x="125016" y="28575"/>
                </a:lnTo>
                <a:lnTo>
                  <a:pt x="139303" y="28575"/>
                </a:lnTo>
                <a:cubicBezTo>
                  <a:pt x="145241" y="28575"/>
                  <a:pt x="150019" y="23798"/>
                  <a:pt x="150019" y="17859"/>
                </a:cubicBezTo>
                <a:cubicBezTo>
                  <a:pt x="150019" y="11921"/>
                  <a:pt x="145241" y="7144"/>
                  <a:pt x="139303" y="7144"/>
                </a:cubicBezTo>
                <a:lnTo>
                  <a:pt x="125016" y="7144"/>
                </a:lnTo>
                <a:lnTo>
                  <a:pt x="125016" y="-3572"/>
                </a:lnTo>
                <a:close/>
                <a:moveTo>
                  <a:pt x="114300" y="142875"/>
                </a:moveTo>
                <a:cubicBezTo>
                  <a:pt x="130061" y="142875"/>
                  <a:pt x="142875" y="155689"/>
                  <a:pt x="142875" y="171450"/>
                </a:cubicBezTo>
                <a:lnTo>
                  <a:pt x="142875" y="207169"/>
                </a:lnTo>
                <a:lnTo>
                  <a:pt x="85725" y="207169"/>
                </a:lnTo>
                <a:lnTo>
                  <a:pt x="85725" y="171450"/>
                </a:lnTo>
                <a:cubicBezTo>
                  <a:pt x="85725" y="155689"/>
                  <a:pt x="98539" y="142875"/>
                  <a:pt x="114300" y="142875"/>
                </a:cubicBezTo>
                <a:close/>
              </a:path>
            </a:pathLst>
          </a:custGeom>
          <a:solidFill>
            <a:srgbClr val="DDFF00"/>
          </a:solidFill>
          <a:ln/>
        </p:spPr>
      </p:sp>
      <p:sp>
        <p:nvSpPr>
          <p:cNvPr id="12" name="Text 10"/>
          <p:cNvSpPr/>
          <p:nvPr/>
        </p:nvSpPr>
        <p:spPr>
          <a:xfrm>
            <a:off x="933450" y="3286125"/>
            <a:ext cx="6286500" cy="304800"/>
          </a:xfrm>
          <a:prstGeom prst="rect">
            <a:avLst/>
          </a:prstGeom>
          <a:noFill/>
          <a:ln/>
        </p:spPr>
        <p:txBody>
          <a:bodyPr wrap="square" lIns="0" tIns="0" rIns="0" bIns="0" rtlCol="0" anchor="ctr"/>
          <a:lstStyle/>
          <a:p>
            <a:pPr>
              <a:lnSpc>
                <a:spcPct val="110000"/>
              </a:lnSpc>
            </a:pPr>
            <a:r>
              <a:rPr lang="en-US" sz="1800" b="1" dirty="0">
                <a:solidFill>
                  <a:srgbClr val="DDFF00"/>
                </a:solidFill>
                <a:latin typeface="Liter" pitchFamily="34" charset="0"/>
                <a:ea typeface="Liter" pitchFamily="34" charset="-122"/>
                <a:cs typeface="Liter" pitchFamily="34" charset="-120"/>
              </a:rPr>
              <a:t>Gospel Spirituals</a:t>
            </a:r>
            <a:endParaRPr lang="en-US" sz="1600" dirty="0"/>
          </a:p>
        </p:txBody>
      </p:sp>
      <p:sp>
        <p:nvSpPr>
          <p:cNvPr id="13" name="Text 11"/>
          <p:cNvSpPr/>
          <p:nvPr/>
        </p:nvSpPr>
        <p:spPr>
          <a:xfrm>
            <a:off x="647700" y="3705225"/>
            <a:ext cx="6534150" cy="742950"/>
          </a:xfrm>
          <a:prstGeom prst="rect">
            <a:avLst/>
          </a:prstGeom>
          <a:noFill/>
          <a:ln/>
        </p:spPr>
        <p:txBody>
          <a:bodyPr wrap="square" lIns="0" tIns="0" rIns="0" bIns="0" rtlCol="0" anchor="ctr"/>
          <a:lstStyle/>
          <a:p>
            <a:pPr>
              <a:lnSpc>
                <a:spcPct val="140000"/>
              </a:lnSpc>
            </a:pPr>
            <a:r>
              <a:rPr lang="en-US" sz="1200" b="1" dirty="0">
                <a:solidFill>
                  <a:srgbClr val="FFFFFF"/>
                </a:solidFill>
                <a:latin typeface="Liter" pitchFamily="34" charset="0"/>
                <a:ea typeface="Liter" pitchFamily="34" charset="-122"/>
                <a:cs typeface="Liter" pitchFamily="34" charset="-120"/>
              </a:rPr>
              <a:t>Gospel music evolved from spirituals and blues</a:t>
            </a:r>
            <a:pPr>
              <a:lnSpc>
                <a:spcPct val="140000"/>
              </a:lnSpc>
            </a:pPr>
            <a:r>
              <a:rPr lang="en-US" sz="1200" dirty="0">
                <a:solidFill>
                  <a:srgbClr val="FFFFFF"/>
                </a:solidFill>
                <a:latin typeface="Liter" pitchFamily="34" charset="0"/>
                <a:ea typeface="Liter" pitchFamily="34" charset="-122"/>
                <a:cs typeface="Liter" pitchFamily="34" charset="-120"/>
              </a:rPr>
              <a:t> , maintaining the call-and-response tradition rooted in African music. Modern gospel began in African American churches in the 1920s, with composers like </a:t>
            </a:r>
            <a:pPr>
              <a:lnSpc>
                <a:spcPct val="140000"/>
              </a:lnSpc>
            </a:pPr>
            <a:r>
              <a:rPr lang="en-US" sz="1200" b="1" dirty="0">
                <a:solidFill>
                  <a:srgbClr val="DDFF00"/>
                </a:solidFill>
                <a:latin typeface="Liter" pitchFamily="34" charset="0"/>
                <a:ea typeface="Liter" pitchFamily="34" charset="-122"/>
                <a:cs typeface="Liter" pitchFamily="34" charset="-120"/>
              </a:rPr>
              <a:t>Thomas A. Dorsey</a:t>
            </a:r>
            <a:pPr>
              <a:lnSpc>
                <a:spcPct val="140000"/>
              </a:lnSpc>
            </a:pPr>
            <a:r>
              <a:rPr lang="en-US" sz="1200" dirty="0">
                <a:solidFill>
                  <a:srgbClr val="FFFFFF"/>
                </a:solidFill>
                <a:latin typeface="Liter" pitchFamily="34" charset="0"/>
                <a:ea typeface="Liter" pitchFamily="34" charset="-122"/>
                <a:cs typeface="Liter" pitchFamily="34" charset="-120"/>
              </a:rPr>
              <a:t> blending blues and jazz elements with traditional hymns.</a:t>
            </a:r>
            <a:endParaRPr lang="en-US" sz="1600" dirty="0"/>
          </a:p>
        </p:txBody>
      </p:sp>
      <p:sp>
        <p:nvSpPr>
          <p:cNvPr id="14" name="Text 12"/>
          <p:cNvSpPr/>
          <p:nvPr/>
        </p:nvSpPr>
        <p:spPr>
          <a:xfrm>
            <a:off x="647700" y="4562475"/>
            <a:ext cx="6534150" cy="495300"/>
          </a:xfrm>
          <a:prstGeom prst="rect">
            <a:avLst/>
          </a:prstGeom>
          <a:noFill/>
          <a:ln/>
        </p:spPr>
        <p:txBody>
          <a:bodyPr wrap="square" lIns="0" tIns="0" rIns="0" bIns="0" rtlCol="0" anchor="ctr"/>
          <a:lstStyle/>
          <a:p>
            <a:pPr>
              <a:lnSpc>
                <a:spcPct val="140000"/>
              </a:lnSpc>
            </a:pPr>
            <a:r>
              <a:rPr lang="en-US" sz="1200" dirty="0">
                <a:solidFill>
                  <a:srgbClr val="FFFFFF">
                    <a:alpha val="80000"/>
                  </a:srgbClr>
                </a:solidFill>
                <a:latin typeface="Liter" pitchFamily="34" charset="0"/>
                <a:ea typeface="Liter" pitchFamily="34" charset="-122"/>
                <a:cs typeface="Liter" pitchFamily="34" charset="-120"/>
              </a:rPr>
              <a:t>The emotional intensity and vocal power of gospel would profoundly influence rock singers, from </a:t>
            </a:r>
            <a:pPr>
              <a:lnSpc>
                <a:spcPct val="140000"/>
              </a:lnSpc>
            </a:pPr>
            <a:r>
              <a:rPr lang="en-US" sz="1200" b="1" dirty="0">
                <a:solidFill>
                  <a:srgbClr val="DDFF00"/>
                </a:solidFill>
                <a:latin typeface="Liter" pitchFamily="34" charset="0"/>
                <a:ea typeface="Liter" pitchFamily="34" charset="-122"/>
                <a:cs typeface="Liter" pitchFamily="34" charset="-120"/>
              </a:rPr>
              <a:t>Little Richard</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's ecstatic performances to </a:t>
            </a:r>
            <a:pPr>
              <a:lnSpc>
                <a:spcPct val="140000"/>
              </a:lnSpc>
            </a:pPr>
            <a:r>
              <a:rPr lang="en-US" sz="1200" b="1" dirty="0">
                <a:solidFill>
                  <a:srgbClr val="DDFF00"/>
                </a:solidFill>
                <a:latin typeface="Liter" pitchFamily="34" charset="0"/>
                <a:ea typeface="Liter" pitchFamily="34" charset="-122"/>
                <a:cs typeface="Liter" pitchFamily="34" charset="-120"/>
              </a:rPr>
              <a:t>Aretha Franklin</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's soulful delivery.</a:t>
            </a:r>
            <a:endParaRPr lang="en-US" sz="1600" dirty="0"/>
          </a:p>
        </p:txBody>
      </p:sp>
      <p:sp>
        <p:nvSpPr>
          <p:cNvPr id="15" name="Shape 13"/>
          <p:cNvSpPr/>
          <p:nvPr/>
        </p:nvSpPr>
        <p:spPr>
          <a:xfrm>
            <a:off x="400050" y="5314950"/>
            <a:ext cx="38100" cy="1162050"/>
          </a:xfrm>
          <a:custGeom>
            <a:avLst/>
            <a:gdLst/>
            <a:ahLst/>
            <a:cxnLst/>
            <a:rect l="l" t="t" r="r" b="b"/>
            <a:pathLst>
              <a:path w="38100" h="1162050">
                <a:moveTo>
                  <a:pt x="0" y="0"/>
                </a:moveTo>
                <a:lnTo>
                  <a:pt x="38100" y="0"/>
                </a:lnTo>
                <a:lnTo>
                  <a:pt x="38100" y="1162050"/>
                </a:lnTo>
                <a:lnTo>
                  <a:pt x="0" y="1162050"/>
                </a:lnTo>
                <a:lnTo>
                  <a:pt x="0" y="0"/>
                </a:lnTo>
                <a:close/>
              </a:path>
            </a:pathLst>
          </a:custGeom>
          <a:solidFill>
            <a:srgbClr val="DDFF00"/>
          </a:solidFill>
          <a:ln/>
        </p:spPr>
      </p:sp>
      <p:sp>
        <p:nvSpPr>
          <p:cNvPr id="16" name="Shape 14"/>
          <p:cNvSpPr/>
          <p:nvPr/>
        </p:nvSpPr>
        <p:spPr>
          <a:xfrm>
            <a:off x="676275" y="5353050"/>
            <a:ext cx="228600" cy="228600"/>
          </a:xfrm>
          <a:custGeom>
            <a:avLst/>
            <a:gdLst/>
            <a:ahLst/>
            <a:cxnLst/>
            <a:rect l="l" t="t" r="r" b="b"/>
            <a:pathLst>
              <a:path w="228600" h="228600">
                <a:moveTo>
                  <a:pt x="124033" y="3840"/>
                </a:moveTo>
                <a:cubicBezTo>
                  <a:pt x="118542" y="-1250"/>
                  <a:pt x="110058" y="-1250"/>
                  <a:pt x="104611" y="3840"/>
                </a:cubicBezTo>
                <a:lnTo>
                  <a:pt x="4599" y="96709"/>
                </a:lnTo>
                <a:cubicBezTo>
                  <a:pt x="313" y="100727"/>
                  <a:pt x="-1116" y="106933"/>
                  <a:pt x="1027" y="112380"/>
                </a:cubicBezTo>
                <a:cubicBezTo>
                  <a:pt x="3170" y="117827"/>
                  <a:pt x="8394" y="121444"/>
                  <a:pt x="14288" y="121444"/>
                </a:cubicBezTo>
                <a:lnTo>
                  <a:pt x="21431" y="121444"/>
                </a:lnTo>
                <a:lnTo>
                  <a:pt x="21431" y="200025"/>
                </a:lnTo>
                <a:cubicBezTo>
                  <a:pt x="21431" y="215786"/>
                  <a:pt x="34245" y="228600"/>
                  <a:pt x="50006" y="228600"/>
                </a:cubicBezTo>
                <a:lnTo>
                  <a:pt x="178594" y="228600"/>
                </a:lnTo>
                <a:cubicBezTo>
                  <a:pt x="194355" y="228600"/>
                  <a:pt x="207169" y="215786"/>
                  <a:pt x="207169" y="200025"/>
                </a:cubicBezTo>
                <a:lnTo>
                  <a:pt x="207169" y="121444"/>
                </a:lnTo>
                <a:lnTo>
                  <a:pt x="214313" y="121444"/>
                </a:lnTo>
                <a:cubicBezTo>
                  <a:pt x="220206" y="121444"/>
                  <a:pt x="225475" y="117827"/>
                  <a:pt x="227618" y="112380"/>
                </a:cubicBezTo>
                <a:cubicBezTo>
                  <a:pt x="229761" y="106933"/>
                  <a:pt x="228332" y="100682"/>
                  <a:pt x="224046" y="96709"/>
                </a:cubicBezTo>
                <a:lnTo>
                  <a:pt x="124033" y="3840"/>
                </a:lnTo>
                <a:close/>
                <a:moveTo>
                  <a:pt x="107156" y="142875"/>
                </a:moveTo>
                <a:lnTo>
                  <a:pt x="121444" y="142875"/>
                </a:lnTo>
                <a:cubicBezTo>
                  <a:pt x="133276" y="142875"/>
                  <a:pt x="142875" y="152474"/>
                  <a:pt x="142875" y="164306"/>
                </a:cubicBezTo>
                <a:lnTo>
                  <a:pt x="142875" y="207169"/>
                </a:lnTo>
                <a:lnTo>
                  <a:pt x="85725" y="207169"/>
                </a:lnTo>
                <a:lnTo>
                  <a:pt x="85725" y="164306"/>
                </a:lnTo>
                <a:cubicBezTo>
                  <a:pt x="85725" y="152474"/>
                  <a:pt x="95324" y="142875"/>
                  <a:pt x="107156" y="142875"/>
                </a:cubicBezTo>
                <a:close/>
              </a:path>
            </a:pathLst>
          </a:custGeom>
          <a:solidFill>
            <a:srgbClr val="DDFF00"/>
          </a:solidFill>
          <a:ln/>
        </p:spPr>
      </p:sp>
      <p:sp>
        <p:nvSpPr>
          <p:cNvPr id="17" name="Text 15"/>
          <p:cNvSpPr/>
          <p:nvPr/>
        </p:nvSpPr>
        <p:spPr>
          <a:xfrm>
            <a:off x="933450" y="5314950"/>
            <a:ext cx="6286500" cy="304800"/>
          </a:xfrm>
          <a:prstGeom prst="rect">
            <a:avLst/>
          </a:prstGeom>
          <a:noFill/>
          <a:ln/>
        </p:spPr>
        <p:txBody>
          <a:bodyPr wrap="square" lIns="0" tIns="0" rIns="0" bIns="0" rtlCol="0" anchor="ctr"/>
          <a:lstStyle/>
          <a:p>
            <a:pPr>
              <a:lnSpc>
                <a:spcPct val="110000"/>
              </a:lnSpc>
            </a:pPr>
            <a:r>
              <a:rPr lang="en-US" sz="1800" b="1" dirty="0">
                <a:solidFill>
                  <a:srgbClr val="DDFF00"/>
                </a:solidFill>
                <a:latin typeface="Liter" pitchFamily="34" charset="0"/>
                <a:ea typeface="Liter" pitchFamily="34" charset="-122"/>
                <a:cs typeface="Liter" pitchFamily="34" charset="-120"/>
              </a:rPr>
              <a:t>Country &amp; Folk Traditions</a:t>
            </a:r>
            <a:endParaRPr lang="en-US" sz="1600" dirty="0"/>
          </a:p>
        </p:txBody>
      </p:sp>
      <p:sp>
        <p:nvSpPr>
          <p:cNvPr id="18" name="Text 16"/>
          <p:cNvSpPr/>
          <p:nvPr/>
        </p:nvSpPr>
        <p:spPr>
          <a:xfrm>
            <a:off x="647700" y="5734050"/>
            <a:ext cx="6534150" cy="742950"/>
          </a:xfrm>
          <a:prstGeom prst="rect">
            <a:avLst/>
          </a:prstGeom>
          <a:noFill/>
          <a:ln/>
        </p:spPr>
        <p:txBody>
          <a:bodyPr wrap="square" lIns="0" tIns="0" rIns="0" bIns="0" rtlCol="0" anchor="ctr"/>
          <a:lstStyle/>
          <a:p>
            <a:pPr>
              <a:lnSpc>
                <a:spcPct val="140000"/>
              </a:lnSpc>
            </a:pPr>
            <a:r>
              <a:rPr lang="en-US" sz="1200" b="1" dirty="0">
                <a:solidFill>
                  <a:srgbClr val="FFFFFF"/>
                </a:solidFill>
                <a:latin typeface="Liter" pitchFamily="34" charset="0"/>
                <a:ea typeface="Liter" pitchFamily="34" charset="-122"/>
                <a:cs typeface="Liter" pitchFamily="34" charset="-120"/>
              </a:rPr>
              <a:t>Country music, originating in the 1920s Southern U.S.</a:t>
            </a:r>
            <a:pPr>
              <a:lnSpc>
                <a:spcPct val="140000"/>
              </a:lnSpc>
            </a:pPr>
            <a:r>
              <a:rPr lang="en-US" sz="1200" dirty="0">
                <a:solidFill>
                  <a:srgbClr val="FFFFFF"/>
                </a:solidFill>
                <a:latin typeface="Liter" pitchFamily="34" charset="0"/>
                <a:ea typeface="Liter" pitchFamily="34" charset="-122"/>
                <a:cs typeface="Liter" pitchFamily="34" charset="-120"/>
              </a:rPr>
              <a:t> , brought storytelling lyrics and simple melodies to the rock equation. The twang of the guitar and narrative songwriting style would merge with blues intensity to create rockabilly and early rock 'n' roll.</a:t>
            </a:r>
            <a:endParaRPr lang="en-US" sz="1600" dirty="0"/>
          </a:p>
        </p:txBody>
      </p:sp>
      <p:sp>
        <p:nvSpPr>
          <p:cNvPr id="19" name="Shape 17"/>
          <p:cNvSpPr/>
          <p:nvPr/>
        </p:nvSpPr>
        <p:spPr>
          <a:xfrm>
            <a:off x="7339980" y="1266825"/>
            <a:ext cx="4457700" cy="3543300"/>
          </a:xfrm>
          <a:custGeom>
            <a:avLst/>
            <a:gdLst/>
            <a:ahLst/>
            <a:cxnLst/>
            <a:rect l="l" t="t" r="r" b="b"/>
            <a:pathLst>
              <a:path w="4457700" h="3543300">
                <a:moveTo>
                  <a:pt x="0" y="0"/>
                </a:moveTo>
                <a:lnTo>
                  <a:pt x="4457700" y="0"/>
                </a:lnTo>
                <a:lnTo>
                  <a:pt x="4457700" y="3543300"/>
                </a:lnTo>
                <a:lnTo>
                  <a:pt x="0" y="3543300"/>
                </a:lnTo>
                <a:lnTo>
                  <a:pt x="0" y="0"/>
                </a:lnTo>
                <a:close/>
              </a:path>
            </a:pathLst>
          </a:custGeom>
          <a:solidFill>
            <a:srgbClr val="000000">
              <a:alpha val="0"/>
            </a:srgbClr>
          </a:solidFill>
          <a:ln w="25400">
            <a:solidFill>
              <a:srgbClr val="DDFF00"/>
            </a:solidFill>
            <a:prstDash val="solid"/>
          </a:ln>
        </p:spPr>
      </p:sp>
      <p:sp>
        <p:nvSpPr>
          <p:cNvPr id="20" name="Shape 18"/>
          <p:cNvSpPr/>
          <p:nvPr/>
        </p:nvSpPr>
        <p:spPr>
          <a:xfrm>
            <a:off x="9342090" y="1732359"/>
            <a:ext cx="457200" cy="457200"/>
          </a:xfrm>
          <a:custGeom>
            <a:avLst/>
            <a:gdLst/>
            <a:ahLst/>
            <a:cxnLst/>
            <a:rect l="l" t="t" r="r" b="b"/>
            <a:pathLst>
              <a:path w="457200" h="457200">
                <a:moveTo>
                  <a:pt x="58847" y="204043"/>
                </a:moveTo>
                <a:cubicBezTo>
                  <a:pt x="70723" y="120997"/>
                  <a:pt x="142250" y="57150"/>
                  <a:pt x="228600" y="57150"/>
                </a:cubicBezTo>
                <a:cubicBezTo>
                  <a:pt x="275927" y="57150"/>
                  <a:pt x="318790" y="76349"/>
                  <a:pt x="349865" y="107335"/>
                </a:cubicBezTo>
                <a:cubicBezTo>
                  <a:pt x="350044" y="107513"/>
                  <a:pt x="350222" y="107692"/>
                  <a:pt x="350401" y="107871"/>
                </a:cubicBezTo>
                <a:lnTo>
                  <a:pt x="357188" y="114300"/>
                </a:lnTo>
                <a:lnTo>
                  <a:pt x="314414" y="114300"/>
                </a:lnTo>
                <a:cubicBezTo>
                  <a:pt x="298609" y="114300"/>
                  <a:pt x="285839" y="127069"/>
                  <a:pt x="285839" y="142875"/>
                </a:cubicBezTo>
                <a:cubicBezTo>
                  <a:pt x="285839" y="158681"/>
                  <a:pt x="298609" y="171450"/>
                  <a:pt x="314414" y="171450"/>
                </a:cubicBezTo>
                <a:lnTo>
                  <a:pt x="428714" y="171450"/>
                </a:lnTo>
                <a:cubicBezTo>
                  <a:pt x="444520" y="171450"/>
                  <a:pt x="457289" y="158681"/>
                  <a:pt x="457289" y="142875"/>
                </a:cubicBezTo>
                <a:lnTo>
                  <a:pt x="457289" y="28575"/>
                </a:lnTo>
                <a:cubicBezTo>
                  <a:pt x="457289" y="12769"/>
                  <a:pt x="444520" y="0"/>
                  <a:pt x="428714" y="0"/>
                </a:cubicBezTo>
                <a:cubicBezTo>
                  <a:pt x="412909" y="0"/>
                  <a:pt x="400139" y="12769"/>
                  <a:pt x="400139" y="28575"/>
                </a:cubicBezTo>
                <a:lnTo>
                  <a:pt x="400139" y="76260"/>
                </a:lnTo>
                <a:lnTo>
                  <a:pt x="390049" y="66705"/>
                </a:lnTo>
                <a:cubicBezTo>
                  <a:pt x="348704" y="25539"/>
                  <a:pt x="291554" y="0"/>
                  <a:pt x="228600" y="0"/>
                </a:cubicBezTo>
                <a:cubicBezTo>
                  <a:pt x="113407" y="0"/>
                  <a:pt x="18127" y="85189"/>
                  <a:pt x="2322" y="196007"/>
                </a:cubicBezTo>
                <a:cubicBezTo>
                  <a:pt x="89" y="211634"/>
                  <a:pt x="10894" y="226100"/>
                  <a:pt x="26521" y="228332"/>
                </a:cubicBezTo>
                <a:cubicBezTo>
                  <a:pt x="42148" y="230565"/>
                  <a:pt x="56614" y="219670"/>
                  <a:pt x="58847" y="204133"/>
                </a:cubicBezTo>
                <a:close/>
                <a:moveTo>
                  <a:pt x="454878" y="261193"/>
                </a:moveTo>
                <a:cubicBezTo>
                  <a:pt x="457111" y="245566"/>
                  <a:pt x="446216" y="231100"/>
                  <a:pt x="430679" y="228868"/>
                </a:cubicBezTo>
                <a:cubicBezTo>
                  <a:pt x="415141" y="226635"/>
                  <a:pt x="400586" y="237530"/>
                  <a:pt x="398353" y="253067"/>
                </a:cubicBezTo>
                <a:cubicBezTo>
                  <a:pt x="386477" y="336113"/>
                  <a:pt x="314950" y="399961"/>
                  <a:pt x="228600" y="399961"/>
                </a:cubicBezTo>
                <a:cubicBezTo>
                  <a:pt x="181273" y="399961"/>
                  <a:pt x="138410" y="380762"/>
                  <a:pt x="107335" y="349776"/>
                </a:cubicBezTo>
                <a:cubicBezTo>
                  <a:pt x="107156" y="349597"/>
                  <a:pt x="106978" y="349419"/>
                  <a:pt x="106799" y="349240"/>
                </a:cubicBezTo>
                <a:lnTo>
                  <a:pt x="100012" y="342811"/>
                </a:lnTo>
                <a:lnTo>
                  <a:pt x="142786" y="342811"/>
                </a:lnTo>
                <a:cubicBezTo>
                  <a:pt x="158591" y="342811"/>
                  <a:pt x="171361" y="330041"/>
                  <a:pt x="171361" y="314236"/>
                </a:cubicBezTo>
                <a:cubicBezTo>
                  <a:pt x="171361" y="298430"/>
                  <a:pt x="158591" y="285661"/>
                  <a:pt x="142786" y="285661"/>
                </a:cubicBezTo>
                <a:lnTo>
                  <a:pt x="28575" y="285750"/>
                </a:lnTo>
                <a:cubicBezTo>
                  <a:pt x="20985" y="285750"/>
                  <a:pt x="13662" y="288786"/>
                  <a:pt x="8305" y="294233"/>
                </a:cubicBezTo>
                <a:cubicBezTo>
                  <a:pt x="2947" y="299680"/>
                  <a:pt x="-89" y="306913"/>
                  <a:pt x="0" y="314593"/>
                </a:cubicBezTo>
                <a:lnTo>
                  <a:pt x="893" y="428000"/>
                </a:lnTo>
                <a:cubicBezTo>
                  <a:pt x="982" y="443805"/>
                  <a:pt x="13930" y="456486"/>
                  <a:pt x="29736" y="456307"/>
                </a:cubicBezTo>
                <a:cubicBezTo>
                  <a:pt x="45541" y="456128"/>
                  <a:pt x="58222" y="443270"/>
                  <a:pt x="58043" y="427464"/>
                </a:cubicBezTo>
                <a:lnTo>
                  <a:pt x="57686" y="381476"/>
                </a:lnTo>
                <a:lnTo>
                  <a:pt x="67241" y="390495"/>
                </a:lnTo>
                <a:cubicBezTo>
                  <a:pt x="108585" y="431661"/>
                  <a:pt x="165646" y="457200"/>
                  <a:pt x="228600" y="457200"/>
                </a:cubicBezTo>
                <a:cubicBezTo>
                  <a:pt x="343793" y="457200"/>
                  <a:pt x="439073" y="372011"/>
                  <a:pt x="454878" y="261193"/>
                </a:cubicBezTo>
                <a:close/>
              </a:path>
            </a:pathLst>
          </a:custGeom>
          <a:solidFill>
            <a:srgbClr val="DDFF00"/>
          </a:solidFill>
          <a:ln/>
        </p:spPr>
      </p:sp>
      <p:sp>
        <p:nvSpPr>
          <p:cNvPr id="21" name="Text 19"/>
          <p:cNvSpPr/>
          <p:nvPr/>
        </p:nvSpPr>
        <p:spPr>
          <a:xfrm>
            <a:off x="7520955" y="2341959"/>
            <a:ext cx="4095750" cy="3048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The Perfect Storm</a:t>
            </a:r>
            <a:endParaRPr lang="en-US" sz="1600" dirty="0"/>
          </a:p>
        </p:txBody>
      </p:sp>
      <p:sp>
        <p:nvSpPr>
          <p:cNvPr id="22" name="Text 20"/>
          <p:cNvSpPr/>
          <p:nvPr/>
        </p:nvSpPr>
        <p:spPr>
          <a:xfrm>
            <a:off x="7535242" y="2951559"/>
            <a:ext cx="4067175" cy="1390650"/>
          </a:xfrm>
          <a:prstGeom prst="rect">
            <a:avLst/>
          </a:prstGeom>
          <a:noFill/>
          <a:ln/>
        </p:spPr>
        <p:txBody>
          <a:bodyPr wrap="square" lIns="0" tIns="0" rIns="0" bIns="0" rtlCol="0" anchor="ctr"/>
          <a:lstStyle/>
          <a:p>
            <a:pPr algn="ctr">
              <a:lnSpc>
                <a:spcPct val="140000"/>
              </a:lnSpc>
            </a:pPr>
            <a:r>
              <a:rPr lang="en-US" sz="1350" dirty="0">
                <a:solidFill>
                  <a:srgbClr val="FFFFFF"/>
                </a:solidFill>
                <a:latin typeface="Liter" pitchFamily="34" charset="0"/>
                <a:ea typeface="Liter" pitchFamily="34" charset="-122"/>
                <a:cs typeface="Liter" pitchFamily="34" charset="-120"/>
              </a:rPr>
              <a:t>Post-war America created the cultural conditions for these diverse musical traditions to merge. </a:t>
            </a:r>
            <a:pPr algn="ctr">
              <a:lnSpc>
                <a:spcPct val="140000"/>
              </a:lnSpc>
            </a:pPr>
            <a:r>
              <a:rPr lang="en-US" sz="1350" b="1" dirty="0">
                <a:solidFill>
                  <a:srgbClr val="FFFFFF"/>
                </a:solidFill>
                <a:latin typeface="Liter" pitchFamily="34" charset="0"/>
                <a:ea typeface="Liter" pitchFamily="34" charset="-122"/>
                <a:cs typeface="Liter" pitchFamily="34" charset="-120"/>
              </a:rPr>
              <a:t>The migration of African Americans to Northern cities</a:t>
            </a:r>
            <a:pPr algn="ctr">
              <a:lnSpc>
                <a:spcPct val="140000"/>
              </a:lnSpc>
            </a:pPr>
            <a:r>
              <a:rPr lang="en-US" sz="1350" dirty="0">
                <a:solidFill>
                  <a:srgbClr val="FFFFFF"/>
                </a:solidFill>
                <a:latin typeface="Liter" pitchFamily="34" charset="0"/>
                <a:ea typeface="Liter" pitchFamily="34" charset="-122"/>
                <a:cs typeface="Liter" pitchFamily="34" charset="-120"/>
              </a:rPr>
              <a:t> brought blues and gospel to new audiences, while radio and records allowed cross-cultural pollination.</a:t>
            </a:r>
            <a:endParaRPr lang="en-US" sz="1600" dirty="0"/>
          </a:p>
        </p:txBody>
      </p:sp>
      <p:sp>
        <p:nvSpPr>
          <p:cNvPr id="23" name="Shape 21"/>
          <p:cNvSpPr/>
          <p:nvPr/>
        </p:nvSpPr>
        <p:spPr>
          <a:xfrm>
            <a:off x="7330455" y="4972050"/>
            <a:ext cx="4476750" cy="1504950"/>
          </a:xfrm>
          <a:custGeom>
            <a:avLst/>
            <a:gdLst/>
            <a:ahLst/>
            <a:cxnLst/>
            <a:rect l="l" t="t" r="r" b="b"/>
            <a:pathLst>
              <a:path w="4476750" h="1504950">
                <a:moveTo>
                  <a:pt x="0" y="0"/>
                </a:moveTo>
                <a:lnTo>
                  <a:pt x="4476750" y="0"/>
                </a:lnTo>
                <a:lnTo>
                  <a:pt x="4476750" y="1504950"/>
                </a:lnTo>
                <a:lnTo>
                  <a:pt x="0" y="1504950"/>
                </a:lnTo>
                <a:lnTo>
                  <a:pt x="0" y="0"/>
                </a:lnTo>
                <a:close/>
              </a:path>
            </a:pathLst>
          </a:custGeom>
          <a:solidFill>
            <a:srgbClr val="DDFF00"/>
          </a:solidFill>
          <a:ln/>
        </p:spPr>
      </p:sp>
      <p:sp>
        <p:nvSpPr>
          <p:cNvPr id="24" name="Text 22"/>
          <p:cNvSpPr/>
          <p:nvPr/>
        </p:nvSpPr>
        <p:spPr>
          <a:xfrm>
            <a:off x="7520955" y="5162550"/>
            <a:ext cx="4191000" cy="266700"/>
          </a:xfrm>
          <a:prstGeom prst="rect">
            <a:avLst/>
          </a:prstGeom>
          <a:noFill/>
          <a:ln/>
        </p:spPr>
        <p:txBody>
          <a:bodyPr wrap="square" lIns="0" tIns="0" rIns="0" bIns="0" rtlCol="0" anchor="ctr"/>
          <a:lstStyle/>
          <a:p>
            <a:pPr>
              <a:lnSpc>
                <a:spcPct val="120000"/>
              </a:lnSpc>
            </a:pPr>
            <a:r>
              <a:rPr lang="en-US" sz="1500" b="1" dirty="0">
                <a:solidFill>
                  <a:srgbClr val="000000"/>
                </a:solidFill>
                <a:latin typeface="Liter" pitchFamily="34" charset="0"/>
                <a:ea typeface="Liter" pitchFamily="34" charset="-122"/>
                <a:cs typeface="Liter" pitchFamily="34" charset="-120"/>
              </a:rPr>
              <a:t>Key Innovation</a:t>
            </a:r>
            <a:endParaRPr lang="en-US" sz="1600" dirty="0"/>
          </a:p>
        </p:txBody>
      </p:sp>
      <p:sp>
        <p:nvSpPr>
          <p:cNvPr id="25" name="Text 23"/>
          <p:cNvSpPr/>
          <p:nvPr/>
        </p:nvSpPr>
        <p:spPr>
          <a:xfrm>
            <a:off x="7520955" y="5543550"/>
            <a:ext cx="4171950" cy="742950"/>
          </a:xfrm>
          <a:prstGeom prst="rect">
            <a:avLst/>
          </a:prstGeom>
          <a:noFill/>
          <a:ln/>
        </p:spPr>
        <p:txBody>
          <a:bodyPr wrap="square" lIns="0" tIns="0" rIns="0" bIns="0" rtlCol="0" anchor="ctr"/>
          <a:lstStyle/>
          <a:p>
            <a:pPr>
              <a:lnSpc>
                <a:spcPct val="140000"/>
              </a:lnSpc>
            </a:pPr>
            <a:r>
              <a:rPr lang="en-US" sz="1200" b="1" dirty="0">
                <a:solidFill>
                  <a:srgbClr val="000000"/>
                </a:solidFill>
                <a:latin typeface="Liter" pitchFamily="34" charset="0"/>
                <a:ea typeface="Liter" pitchFamily="34" charset="-122"/>
                <a:cs typeface="Liter" pitchFamily="34" charset="-120"/>
              </a:rPr>
              <a:t>The electric guitar</a:t>
            </a:r>
            <a:pPr>
              <a:lnSpc>
                <a:spcPct val="140000"/>
              </a:lnSpc>
            </a:pPr>
            <a:r>
              <a:rPr lang="en-US" sz="1200" dirty="0">
                <a:solidFill>
                  <a:srgbClr val="000000"/>
                </a:solidFill>
                <a:latin typeface="Liter" pitchFamily="34" charset="0"/>
                <a:ea typeface="Liter" pitchFamily="34" charset="-122"/>
                <a:cs typeface="Liter" pitchFamily="34" charset="-120"/>
              </a:rPr>
              <a:t> replaced the saxophone as the central soloing instrument, thanks to pioneers like </a:t>
            </a:r>
            <a:pPr>
              <a:lnSpc>
                <a:spcPct val="140000"/>
              </a:lnSpc>
            </a:pPr>
            <a:r>
              <a:rPr lang="en-US" sz="1200" b="1" dirty="0">
                <a:solidFill>
                  <a:srgbClr val="000000"/>
                </a:solidFill>
                <a:latin typeface="Liter" pitchFamily="34" charset="0"/>
                <a:ea typeface="Liter" pitchFamily="34" charset="-122"/>
                <a:cs typeface="Liter" pitchFamily="34" charset="-120"/>
              </a:rPr>
              <a:t>Chuck Berry</a:t>
            </a:r>
            <a:pPr>
              <a:lnSpc>
                <a:spcPct val="140000"/>
              </a:lnSpc>
            </a:pPr>
            <a:r>
              <a:rPr lang="en-US" sz="1200" dirty="0">
                <a:solidFill>
                  <a:srgbClr val="000000"/>
                </a:solidFill>
                <a:latin typeface="Liter" pitchFamily="34" charset="0"/>
                <a:ea typeface="Liter" pitchFamily="34" charset="-122"/>
                <a:cs typeface="Liter" pitchFamily="34" charset="-120"/>
              </a:rPr>
              <a:t> and </a:t>
            </a:r>
            <a:pPr>
              <a:lnSpc>
                <a:spcPct val="140000"/>
              </a:lnSpc>
            </a:pPr>
            <a:r>
              <a:rPr lang="en-US" sz="1200" b="1" dirty="0">
                <a:solidFill>
                  <a:srgbClr val="000000"/>
                </a:solidFill>
                <a:latin typeface="Liter" pitchFamily="34" charset="0"/>
                <a:ea typeface="Liter" pitchFamily="34" charset="-122"/>
                <a:cs typeface="Liter" pitchFamily="34" charset="-120"/>
              </a:rPr>
              <a:t>Bo Diddley</a:t>
            </a:r>
            <a:pPr>
              <a:lnSpc>
                <a:spcPct val="140000"/>
              </a:lnSpc>
            </a:pPr>
            <a:r>
              <a:rPr lang="en-US" sz="1200" dirty="0">
                <a:solidFill>
                  <a:srgbClr val="000000"/>
                </a:solidFill>
                <a:latin typeface="Liter" pitchFamily="34" charset="0"/>
                <a:ea typeface="Liter" pitchFamily="34" charset="-122"/>
                <a:cs typeface="Liter" pitchFamily="34" charset="-120"/>
              </a:rPr>
              <a:t> in the mid-1950s.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5294313"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01</a:t>
            </a:r>
            <a:endParaRPr lang="en-US" sz="1600" dirty="0"/>
          </a:p>
        </p:txBody>
      </p:sp>
      <p:sp>
        <p:nvSpPr>
          <p:cNvPr id="4" name="Text 2"/>
          <p:cNvSpPr/>
          <p:nvPr/>
        </p:nvSpPr>
        <p:spPr>
          <a:xfrm>
            <a:off x="508000" y="476250"/>
            <a:ext cx="5381625"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Rock 'n' Roll Is Born: The 1950s Revolution</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Birth of a Genre</a:t>
            </a:r>
            <a:endParaRPr lang="en-US" sz="1600" dirty="0"/>
          </a:p>
        </p:txBody>
      </p:sp>
      <p:sp>
        <p:nvSpPr>
          <p:cNvPr id="7" name="Text 5"/>
          <p:cNvSpPr/>
          <p:nvPr/>
        </p:nvSpPr>
        <p:spPr>
          <a:xfrm>
            <a:off x="508000" y="1587500"/>
            <a:ext cx="4230688" cy="103187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Rock music emerged in the mid-1950s</a:t>
            </a:r>
            <a:pPr>
              <a:lnSpc>
                <a:spcPct val="140000"/>
              </a:lnSpc>
            </a:pPr>
            <a:r>
              <a:rPr lang="en-US" sz="1000" dirty="0">
                <a:solidFill>
                  <a:srgbClr val="000000"/>
                </a:solidFill>
                <a:latin typeface="Liter" pitchFamily="34" charset="0"/>
                <a:ea typeface="Liter" pitchFamily="34" charset="-122"/>
                <a:cs typeface="Liter" pitchFamily="34" charset="-120"/>
              </a:rPr>
              <a:t>, characterized by hard-edged music performed with electric guitars, bass, and drums, accompanied by lyrics sung by a vocalist. This new sound was aided by electric guitars and a steady drumbeat, creating an aggressive attack that suggested sexual freedom in a conservative age.</a:t>
            </a:r>
            <a:endParaRPr lang="en-US" sz="1600" dirty="0"/>
          </a:p>
        </p:txBody>
      </p:sp>
      <p:sp>
        <p:nvSpPr>
          <p:cNvPr id="8" name="Text 6"/>
          <p:cNvSpPr/>
          <p:nvPr/>
        </p:nvSpPr>
        <p:spPr>
          <a:xfrm>
            <a:off x="508000" y="2714625"/>
            <a:ext cx="4230688"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Unlike the safe pop music of the era, rock's raw energy and rebellious spirit captured the imagination of teenagers seeking something authentic and exciting.</a:t>
            </a:r>
            <a:endParaRPr lang="en-US" sz="1600" dirty="0"/>
          </a:p>
        </p:txBody>
      </p:sp>
      <p:sp>
        <p:nvSpPr>
          <p:cNvPr id="9" name="Shape 7"/>
          <p:cNvSpPr/>
          <p:nvPr/>
        </p:nvSpPr>
        <p:spPr>
          <a:xfrm>
            <a:off x="325438" y="3659187"/>
            <a:ext cx="4532313" cy="4198938"/>
          </a:xfrm>
          <a:custGeom>
            <a:avLst/>
            <a:gdLst/>
            <a:ahLst/>
            <a:cxnLst/>
            <a:rect l="l" t="t" r="r" b="b"/>
            <a:pathLst>
              <a:path w="4532313" h="4198938">
                <a:moveTo>
                  <a:pt x="0" y="0"/>
                </a:moveTo>
                <a:lnTo>
                  <a:pt x="4532313" y="0"/>
                </a:lnTo>
                <a:lnTo>
                  <a:pt x="4532313" y="4198938"/>
                </a:lnTo>
                <a:lnTo>
                  <a:pt x="0" y="4198938"/>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Pioneering Artists</a:t>
            </a:r>
            <a:endParaRPr lang="en-US" sz="1600" dirty="0"/>
          </a:p>
        </p:txBody>
      </p:sp>
      <p:sp>
        <p:nvSpPr>
          <p:cNvPr id="11" name="Shape 9"/>
          <p:cNvSpPr/>
          <p:nvPr/>
        </p:nvSpPr>
        <p:spPr>
          <a:xfrm>
            <a:off x="492125" y="4175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2" name="Shape 10"/>
          <p:cNvSpPr/>
          <p:nvPr/>
        </p:nvSpPr>
        <p:spPr>
          <a:xfrm>
            <a:off x="579438" y="42703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13" name="Text 11"/>
          <p:cNvSpPr/>
          <p:nvPr/>
        </p:nvSpPr>
        <p:spPr>
          <a:xfrm>
            <a:off x="904875" y="4175125"/>
            <a:ext cx="3857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Elvis Presley</a:t>
            </a:r>
            <a:endParaRPr lang="en-US" sz="1600" dirty="0"/>
          </a:p>
        </p:txBody>
      </p:sp>
      <p:sp>
        <p:nvSpPr>
          <p:cNvPr id="14" name="Text 12"/>
          <p:cNvSpPr/>
          <p:nvPr/>
        </p:nvSpPr>
        <p:spPr>
          <a:xfrm>
            <a:off x="904875" y="4397375"/>
            <a:ext cx="3849688"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The King of Rock 'n' Roll, blending country, blues, and gospel into an irresistible sound</a:t>
            </a:r>
            <a:endParaRPr lang="en-US" sz="1600" dirty="0"/>
          </a:p>
        </p:txBody>
      </p:sp>
      <p:sp>
        <p:nvSpPr>
          <p:cNvPr id="15" name="Shape 13"/>
          <p:cNvSpPr/>
          <p:nvPr/>
        </p:nvSpPr>
        <p:spPr>
          <a:xfrm>
            <a:off x="492125" y="48736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6" name="Shape 14"/>
          <p:cNvSpPr/>
          <p:nvPr/>
        </p:nvSpPr>
        <p:spPr>
          <a:xfrm>
            <a:off x="579438" y="49688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17" name="Text 15"/>
          <p:cNvSpPr/>
          <p:nvPr/>
        </p:nvSpPr>
        <p:spPr>
          <a:xfrm>
            <a:off x="904875" y="4873625"/>
            <a:ext cx="3857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Chuck Berry</a:t>
            </a:r>
            <a:endParaRPr lang="en-US" sz="1600" dirty="0"/>
          </a:p>
        </p:txBody>
      </p:sp>
      <p:sp>
        <p:nvSpPr>
          <p:cNvPr id="18" name="Text 16"/>
          <p:cNvSpPr/>
          <p:nvPr/>
        </p:nvSpPr>
        <p:spPr>
          <a:xfrm>
            <a:off x="904875" y="5095875"/>
            <a:ext cx="3849688"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Leaned heavily on classic blues structures while demonstrating natural-born showmanship</a:t>
            </a:r>
            <a:endParaRPr lang="en-US" sz="1600" dirty="0"/>
          </a:p>
        </p:txBody>
      </p:sp>
      <p:sp>
        <p:nvSpPr>
          <p:cNvPr id="19" name="Shape 17"/>
          <p:cNvSpPr/>
          <p:nvPr/>
        </p:nvSpPr>
        <p:spPr>
          <a:xfrm>
            <a:off x="492125" y="5572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0" name="Shape 18"/>
          <p:cNvSpPr/>
          <p:nvPr/>
        </p:nvSpPr>
        <p:spPr>
          <a:xfrm>
            <a:off x="579438" y="56673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21" name="Text 19"/>
          <p:cNvSpPr/>
          <p:nvPr/>
        </p:nvSpPr>
        <p:spPr>
          <a:xfrm>
            <a:off x="904875" y="5572125"/>
            <a:ext cx="382587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Little Richard</a:t>
            </a:r>
            <a:endParaRPr lang="en-US" sz="1600" dirty="0"/>
          </a:p>
        </p:txBody>
      </p:sp>
      <p:sp>
        <p:nvSpPr>
          <p:cNvPr id="22" name="Text 20"/>
          <p:cNvSpPr/>
          <p:nvPr/>
        </p:nvSpPr>
        <p:spPr>
          <a:xfrm>
            <a:off x="904875" y="5794375"/>
            <a:ext cx="3817938"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Brought ecstatic, gospel-influenced vocals and piano-driven energy</a:t>
            </a:r>
            <a:endParaRPr lang="en-US" sz="1600" dirty="0"/>
          </a:p>
        </p:txBody>
      </p:sp>
      <p:sp>
        <p:nvSpPr>
          <p:cNvPr id="23" name="Shape 21"/>
          <p:cNvSpPr/>
          <p:nvPr/>
        </p:nvSpPr>
        <p:spPr>
          <a:xfrm>
            <a:off x="492125" y="6080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4" name="Shape 22"/>
          <p:cNvSpPr/>
          <p:nvPr/>
        </p:nvSpPr>
        <p:spPr>
          <a:xfrm>
            <a:off x="579438" y="61753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25" name="Text 23"/>
          <p:cNvSpPr/>
          <p:nvPr/>
        </p:nvSpPr>
        <p:spPr>
          <a:xfrm>
            <a:off x="904875" y="6080125"/>
            <a:ext cx="3857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Buddy Holly</a:t>
            </a:r>
            <a:endParaRPr lang="en-US" sz="1600" dirty="0"/>
          </a:p>
        </p:txBody>
      </p:sp>
      <p:sp>
        <p:nvSpPr>
          <p:cNvPr id="26" name="Text 24"/>
          <p:cNvSpPr/>
          <p:nvPr/>
        </p:nvSpPr>
        <p:spPr>
          <a:xfrm>
            <a:off x="904875" y="6302375"/>
            <a:ext cx="3849688"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Pioneered the standard rock band lineup with guitar, bass, and drums</a:t>
            </a:r>
            <a:endParaRPr lang="en-US" sz="1600" dirty="0"/>
          </a:p>
        </p:txBody>
      </p:sp>
      <p:pic>
        <p:nvPicPr>
          <p:cNvPr id="27" name="Image 0" descr="https://kimi-web-img.moonshot.cn/img/s.yimg.com/1ba1963f7f2c4be5f2806af648bce9f2f4653958">    </p:cNvPr>
          <p:cNvPicPr>
            <a:picLocks noChangeAspect="1"/>
          </p:cNvPicPr>
          <p:nvPr/>
        </p:nvPicPr>
        <p:blipFill>
          <a:blip r:embed="rId1"/>
          <a:srcRect l="35" r="35" t="0" b="0"/>
          <a:stretch/>
        </p:blipFill>
        <p:spPr>
          <a:xfrm>
            <a:off x="5054575" y="1047750"/>
            <a:ext cx="6818313" cy="4722813"/>
          </a:xfrm>
          <a:prstGeom prst="roundRect">
            <a:avLst>
              <a:gd name="adj" fmla="val 0"/>
            </a:avLst>
          </a:prstGeom>
        </p:spPr>
      </p:pic>
      <p:sp>
        <p:nvSpPr>
          <p:cNvPr id="28" name="Shape 25"/>
          <p:cNvSpPr/>
          <p:nvPr/>
        </p:nvSpPr>
        <p:spPr>
          <a:xfrm>
            <a:off x="5054575" y="1047750"/>
            <a:ext cx="6818313" cy="4722813"/>
          </a:xfrm>
          <a:custGeom>
            <a:avLst/>
            <a:gdLst/>
            <a:ahLst/>
            <a:cxnLst/>
            <a:rect l="l" t="t" r="r" b="b"/>
            <a:pathLst>
              <a:path w="6818313" h="4722813">
                <a:moveTo>
                  <a:pt x="0" y="0"/>
                </a:moveTo>
                <a:lnTo>
                  <a:pt x="6818313" y="0"/>
                </a:lnTo>
                <a:lnTo>
                  <a:pt x="6818313" y="4722813"/>
                </a:lnTo>
                <a:lnTo>
                  <a:pt x="0" y="4722813"/>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29" name="Text 26"/>
          <p:cNvSpPr/>
          <p:nvPr/>
        </p:nvSpPr>
        <p:spPr>
          <a:xfrm>
            <a:off x="5181575" y="5228642"/>
            <a:ext cx="6619875" cy="158750"/>
          </a:xfrm>
          <a:prstGeom prst="rect">
            <a:avLst/>
          </a:prstGeom>
          <a:noFill/>
          <a:ln/>
        </p:spPr>
        <p:txBody>
          <a:bodyPr wrap="square" lIns="0" tIns="0" rIns="0" bIns="0" rtlCol="0" anchor="ctr"/>
          <a:lstStyle/>
          <a:p>
            <a:pPr>
              <a:lnSpc>
                <a:spcPct val="120000"/>
              </a:lnSpc>
            </a:pPr>
            <a:r>
              <a:rPr lang="en-US" sz="875" b="1" dirty="0">
                <a:solidFill>
                  <a:srgbClr val="DDFF00"/>
                </a:solidFill>
                <a:latin typeface="Liter" pitchFamily="34" charset="0"/>
                <a:ea typeface="Liter" pitchFamily="34" charset="-122"/>
                <a:cs typeface="Liter" pitchFamily="34" charset="-120"/>
              </a:rPr>
              <a:t>1950s PERFORMANCE</a:t>
            </a:r>
            <a:endParaRPr lang="en-US" sz="1600" dirty="0"/>
          </a:p>
        </p:txBody>
      </p:sp>
      <p:sp>
        <p:nvSpPr>
          <p:cNvPr id="30" name="Text 27"/>
          <p:cNvSpPr/>
          <p:nvPr/>
        </p:nvSpPr>
        <p:spPr>
          <a:xfrm>
            <a:off x="5181575" y="5419142"/>
            <a:ext cx="6635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Elvis Presley on Stage</a:t>
            </a:r>
            <a:endParaRPr lang="en-US" sz="1600" dirty="0"/>
          </a:p>
        </p:txBody>
      </p:sp>
      <p:sp>
        <p:nvSpPr>
          <p:cNvPr id="31" name="Shape 28"/>
          <p:cNvSpPr/>
          <p:nvPr/>
        </p:nvSpPr>
        <p:spPr>
          <a:xfrm>
            <a:off x="5058544" y="5899361"/>
            <a:ext cx="2198688" cy="928688"/>
          </a:xfrm>
          <a:custGeom>
            <a:avLst/>
            <a:gdLst/>
            <a:ahLst/>
            <a:cxnLst/>
            <a:rect l="l" t="t" r="r" b="b"/>
            <a:pathLst>
              <a:path w="2198688" h="928688">
                <a:moveTo>
                  <a:pt x="0" y="0"/>
                </a:moveTo>
                <a:lnTo>
                  <a:pt x="2198688" y="0"/>
                </a:lnTo>
                <a:lnTo>
                  <a:pt x="2198688" y="928688"/>
                </a:lnTo>
                <a:lnTo>
                  <a:pt x="0" y="928688"/>
                </a:lnTo>
                <a:lnTo>
                  <a:pt x="0" y="0"/>
                </a:lnTo>
                <a:close/>
              </a:path>
            </a:pathLst>
          </a:custGeom>
          <a:solidFill>
            <a:srgbClr val="DDFF00">
              <a:alpha val="10196"/>
            </a:srgbClr>
          </a:solidFill>
          <a:ln w="12700">
            <a:solidFill>
              <a:srgbClr val="DDFF00"/>
            </a:solidFill>
            <a:prstDash val="solid"/>
          </a:ln>
        </p:spPr>
      </p:sp>
      <p:sp>
        <p:nvSpPr>
          <p:cNvPr id="32" name="Text 29"/>
          <p:cNvSpPr/>
          <p:nvPr/>
        </p:nvSpPr>
        <p:spPr>
          <a:xfrm>
            <a:off x="5118075" y="6030330"/>
            <a:ext cx="2079625" cy="317500"/>
          </a:xfrm>
          <a:prstGeom prst="rect">
            <a:avLst/>
          </a:prstGeom>
          <a:noFill/>
          <a:ln/>
        </p:spPr>
        <p:txBody>
          <a:bodyPr wrap="square" lIns="0" tIns="0" rIns="0" bIns="0" rtlCol="0" anchor="ctr"/>
          <a:lstStyle/>
          <a:p>
            <a:pPr algn="ctr">
              <a:lnSpc>
                <a:spcPct val="90000"/>
              </a:lnSpc>
            </a:pPr>
            <a:r>
              <a:rPr lang="en-US" sz="2250" b="1" dirty="0">
                <a:solidFill>
                  <a:srgbClr val="DDFF00"/>
                </a:solidFill>
                <a:latin typeface="Liter" pitchFamily="34" charset="0"/>
                <a:ea typeface="Liter" pitchFamily="34" charset="-122"/>
                <a:cs typeface="Liter" pitchFamily="34" charset="-120"/>
              </a:rPr>
              <a:t>1954</a:t>
            </a:r>
            <a:endParaRPr lang="en-US" sz="1600" dirty="0"/>
          </a:p>
        </p:txBody>
      </p:sp>
      <p:sp>
        <p:nvSpPr>
          <p:cNvPr id="33" name="Text 30"/>
          <p:cNvSpPr/>
          <p:nvPr/>
        </p:nvSpPr>
        <p:spPr>
          <a:xfrm>
            <a:off x="5161731" y="6379580"/>
            <a:ext cx="1992313" cy="31750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"That's All Right"</a:t>
            </a:r>
            <a:endParaRPr lang="en-US" sz="1600" dirty="0"/>
          </a:p>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Elvis's debut</a:t>
            </a:r>
            <a:endParaRPr lang="en-US" sz="1600" dirty="0"/>
          </a:p>
        </p:txBody>
      </p:sp>
      <p:sp>
        <p:nvSpPr>
          <p:cNvPr id="34" name="Shape 31"/>
          <p:cNvSpPr/>
          <p:nvPr/>
        </p:nvSpPr>
        <p:spPr>
          <a:xfrm>
            <a:off x="7363582" y="5899361"/>
            <a:ext cx="2198688" cy="928688"/>
          </a:xfrm>
          <a:custGeom>
            <a:avLst/>
            <a:gdLst/>
            <a:ahLst/>
            <a:cxnLst/>
            <a:rect l="l" t="t" r="r" b="b"/>
            <a:pathLst>
              <a:path w="2198688" h="928688">
                <a:moveTo>
                  <a:pt x="0" y="0"/>
                </a:moveTo>
                <a:lnTo>
                  <a:pt x="2198688" y="0"/>
                </a:lnTo>
                <a:lnTo>
                  <a:pt x="2198688" y="928688"/>
                </a:lnTo>
                <a:lnTo>
                  <a:pt x="0" y="928688"/>
                </a:lnTo>
                <a:lnTo>
                  <a:pt x="0" y="0"/>
                </a:lnTo>
                <a:close/>
              </a:path>
            </a:pathLst>
          </a:custGeom>
          <a:solidFill>
            <a:srgbClr val="DDFF00">
              <a:alpha val="10196"/>
            </a:srgbClr>
          </a:solidFill>
          <a:ln w="12700">
            <a:solidFill>
              <a:srgbClr val="DDFF00"/>
            </a:solidFill>
            <a:prstDash val="solid"/>
          </a:ln>
        </p:spPr>
      </p:sp>
      <p:sp>
        <p:nvSpPr>
          <p:cNvPr id="35" name="Text 32"/>
          <p:cNvSpPr/>
          <p:nvPr/>
        </p:nvSpPr>
        <p:spPr>
          <a:xfrm>
            <a:off x="7423113" y="6030330"/>
            <a:ext cx="2079625" cy="317500"/>
          </a:xfrm>
          <a:prstGeom prst="rect">
            <a:avLst/>
          </a:prstGeom>
          <a:noFill/>
          <a:ln/>
        </p:spPr>
        <p:txBody>
          <a:bodyPr wrap="square" lIns="0" tIns="0" rIns="0" bIns="0" rtlCol="0" anchor="ctr"/>
          <a:lstStyle/>
          <a:p>
            <a:pPr algn="ctr">
              <a:lnSpc>
                <a:spcPct val="90000"/>
              </a:lnSpc>
            </a:pPr>
            <a:r>
              <a:rPr lang="en-US" sz="2250" b="1" dirty="0">
                <a:solidFill>
                  <a:srgbClr val="DDFF00"/>
                </a:solidFill>
                <a:latin typeface="Liter" pitchFamily="34" charset="0"/>
                <a:ea typeface="Liter" pitchFamily="34" charset="-122"/>
                <a:cs typeface="Liter" pitchFamily="34" charset="-120"/>
              </a:rPr>
              <a:t>1955</a:t>
            </a:r>
            <a:endParaRPr lang="en-US" sz="1600" dirty="0"/>
          </a:p>
        </p:txBody>
      </p:sp>
      <p:sp>
        <p:nvSpPr>
          <p:cNvPr id="36" name="Text 33"/>
          <p:cNvSpPr/>
          <p:nvPr/>
        </p:nvSpPr>
        <p:spPr>
          <a:xfrm>
            <a:off x="7466769" y="6379580"/>
            <a:ext cx="1992313" cy="31750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"Maybellene"</a:t>
            </a:r>
            <a:endParaRPr lang="en-US" sz="1600" dirty="0"/>
          </a:p>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Chuck Berry</a:t>
            </a:r>
            <a:endParaRPr lang="en-US" sz="1600" dirty="0"/>
          </a:p>
        </p:txBody>
      </p:sp>
      <p:sp>
        <p:nvSpPr>
          <p:cNvPr id="37" name="Shape 34"/>
          <p:cNvSpPr/>
          <p:nvPr/>
        </p:nvSpPr>
        <p:spPr>
          <a:xfrm>
            <a:off x="9668619" y="5899361"/>
            <a:ext cx="2198688" cy="928688"/>
          </a:xfrm>
          <a:custGeom>
            <a:avLst/>
            <a:gdLst/>
            <a:ahLst/>
            <a:cxnLst/>
            <a:rect l="l" t="t" r="r" b="b"/>
            <a:pathLst>
              <a:path w="2198688" h="928688">
                <a:moveTo>
                  <a:pt x="0" y="0"/>
                </a:moveTo>
                <a:lnTo>
                  <a:pt x="2198688" y="0"/>
                </a:lnTo>
                <a:lnTo>
                  <a:pt x="2198688" y="928688"/>
                </a:lnTo>
                <a:lnTo>
                  <a:pt x="0" y="928688"/>
                </a:lnTo>
                <a:lnTo>
                  <a:pt x="0" y="0"/>
                </a:lnTo>
                <a:close/>
              </a:path>
            </a:pathLst>
          </a:custGeom>
          <a:solidFill>
            <a:srgbClr val="DDFF00">
              <a:alpha val="10196"/>
            </a:srgbClr>
          </a:solidFill>
          <a:ln w="12700">
            <a:solidFill>
              <a:srgbClr val="DDFF00"/>
            </a:solidFill>
            <a:prstDash val="solid"/>
          </a:ln>
        </p:spPr>
      </p:sp>
      <p:sp>
        <p:nvSpPr>
          <p:cNvPr id="38" name="Text 35"/>
          <p:cNvSpPr/>
          <p:nvPr/>
        </p:nvSpPr>
        <p:spPr>
          <a:xfrm>
            <a:off x="9728150" y="6030330"/>
            <a:ext cx="2079625" cy="317500"/>
          </a:xfrm>
          <a:prstGeom prst="rect">
            <a:avLst/>
          </a:prstGeom>
          <a:noFill/>
          <a:ln/>
        </p:spPr>
        <p:txBody>
          <a:bodyPr wrap="square" lIns="0" tIns="0" rIns="0" bIns="0" rtlCol="0" anchor="ctr"/>
          <a:lstStyle/>
          <a:p>
            <a:pPr algn="ctr">
              <a:lnSpc>
                <a:spcPct val="90000"/>
              </a:lnSpc>
            </a:pPr>
            <a:r>
              <a:rPr lang="en-US" sz="2250" b="1" dirty="0">
                <a:solidFill>
                  <a:srgbClr val="DDFF00"/>
                </a:solidFill>
                <a:latin typeface="Liter" pitchFamily="34" charset="0"/>
                <a:ea typeface="Liter" pitchFamily="34" charset="-122"/>
                <a:cs typeface="Liter" pitchFamily="34" charset="-120"/>
              </a:rPr>
              <a:t>1955</a:t>
            </a:r>
            <a:endParaRPr lang="en-US" sz="1600" dirty="0"/>
          </a:p>
        </p:txBody>
      </p:sp>
      <p:sp>
        <p:nvSpPr>
          <p:cNvPr id="39" name="Text 36"/>
          <p:cNvSpPr/>
          <p:nvPr/>
        </p:nvSpPr>
        <p:spPr>
          <a:xfrm>
            <a:off x="9771807" y="6379580"/>
            <a:ext cx="1992313" cy="31750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"Tutti Frutti"</a:t>
            </a:r>
            <a:endParaRPr lang="en-US" sz="1600" dirty="0"/>
          </a:p>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Little Richard</a:t>
            </a:r>
            <a:endParaRPr lang="en-US" sz="1600" dirty="0"/>
          </a:p>
        </p:txBody>
      </p:sp>
      <p:sp>
        <p:nvSpPr>
          <p:cNvPr id="40" name="Shape 37"/>
          <p:cNvSpPr/>
          <p:nvPr/>
        </p:nvSpPr>
        <p:spPr>
          <a:xfrm>
            <a:off x="5070450" y="6959017"/>
            <a:ext cx="31750" cy="904875"/>
          </a:xfrm>
          <a:custGeom>
            <a:avLst/>
            <a:gdLst/>
            <a:ahLst/>
            <a:cxnLst/>
            <a:rect l="l" t="t" r="r" b="b"/>
            <a:pathLst>
              <a:path w="31750" h="904875">
                <a:moveTo>
                  <a:pt x="0" y="0"/>
                </a:moveTo>
                <a:lnTo>
                  <a:pt x="31750" y="0"/>
                </a:lnTo>
                <a:lnTo>
                  <a:pt x="31750" y="904875"/>
                </a:lnTo>
                <a:lnTo>
                  <a:pt x="0" y="904875"/>
                </a:lnTo>
                <a:lnTo>
                  <a:pt x="0" y="0"/>
                </a:lnTo>
                <a:close/>
              </a:path>
            </a:pathLst>
          </a:custGeom>
          <a:solidFill>
            <a:srgbClr val="DDFF00"/>
          </a:solidFill>
          <a:ln/>
        </p:spPr>
      </p:sp>
      <p:sp>
        <p:nvSpPr>
          <p:cNvPr id="41" name="Text 38"/>
          <p:cNvSpPr/>
          <p:nvPr/>
        </p:nvSpPr>
        <p:spPr>
          <a:xfrm>
            <a:off x="5213325" y="6959017"/>
            <a:ext cx="6731000" cy="222250"/>
          </a:xfrm>
          <a:prstGeom prst="rect">
            <a:avLst/>
          </a:prstGeom>
          <a:noFill/>
          <a:ln/>
        </p:spPr>
        <p:txBody>
          <a:bodyPr wrap="square" lIns="0" tIns="0" rIns="0" bIns="0" rtlCol="0" anchor="ctr"/>
          <a:lstStyle/>
          <a:p>
            <a:pPr>
              <a:lnSpc>
                <a:spcPct val="130000"/>
              </a:lnSpc>
            </a:pPr>
            <a:r>
              <a:rPr lang="en-US" sz="1125" b="1" dirty="0">
                <a:solidFill>
                  <a:srgbClr val="DDFF00"/>
                </a:solidFill>
                <a:latin typeface="Liter" pitchFamily="34" charset="0"/>
                <a:ea typeface="Liter" pitchFamily="34" charset="-122"/>
                <a:cs typeface="Liter" pitchFamily="34" charset="-120"/>
              </a:rPr>
              <a:t>Cultural Impact</a:t>
            </a:r>
            <a:endParaRPr lang="en-US" sz="1600" dirty="0"/>
          </a:p>
        </p:txBody>
      </p:sp>
      <p:sp>
        <p:nvSpPr>
          <p:cNvPr id="42" name="Text 39"/>
          <p:cNvSpPr/>
          <p:nvPr/>
        </p:nvSpPr>
        <p:spPr>
          <a:xfrm>
            <a:off x="5213325" y="7244767"/>
            <a:ext cx="6723063" cy="619125"/>
          </a:xfrm>
          <a:prstGeom prst="rect">
            <a:avLst/>
          </a:prstGeom>
          <a:noFill/>
          <a:ln/>
        </p:spPr>
        <p:txBody>
          <a:bodyPr wrap="square" lIns="0" tIns="0" rIns="0" bIns="0" rtlCol="0" anchor="ctr"/>
          <a:lstStyle/>
          <a:p>
            <a:pPr>
              <a:lnSpc>
                <a:spcPct val="140000"/>
              </a:lnSpc>
            </a:pPr>
            <a:r>
              <a:rPr lang="en-US" sz="1000" b="1" dirty="0">
                <a:solidFill>
                  <a:srgbClr val="FFFFFF"/>
                </a:solidFill>
                <a:latin typeface="Liter" pitchFamily="34" charset="0"/>
                <a:ea typeface="Liter" pitchFamily="34" charset="-122"/>
                <a:cs typeface="Liter" pitchFamily="34" charset="-120"/>
              </a:rPr>
              <a:t>Rock 'n' roll became the voice of youth rebellion</a:t>
            </a:r>
            <a:pPr>
              <a:lnSpc>
                <a:spcPct val="140000"/>
              </a:lnSpc>
            </a:pPr>
            <a:r>
              <a:rPr lang="en-US" sz="1000" dirty="0">
                <a:solidFill>
                  <a:srgbClr val="FFFFFF"/>
                </a:solidFill>
                <a:latin typeface="Liter" pitchFamily="34" charset="0"/>
                <a:ea typeface="Liter" pitchFamily="34" charset="-122"/>
                <a:cs typeface="Liter" pitchFamily="34" charset="-120"/>
              </a:rPr>
              <a:t>, challenging racial segregation by bringing black and white audiences together. The music's energy and attitude would inspire generations of musicians in England and America to pick up guitars and form bands.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04040"/>
        </a:solidFill>
      </p:bgPr>
    </p:bg>
    <p:spTree>
      <p:nvGrpSpPr>
        <p:cNvPr id="1" name=""/>
        <p:cNvGrpSpPr/>
        <p:nvPr/>
      </p:nvGrpSpPr>
      <p:grpSpPr>
        <a:xfrm>
          <a:off x="0" y="0"/>
          <a:ext cx="0" cy="0"/>
          <a:chOff x="0" y="0"/>
          <a:chExt cx="0" cy="0"/>
        </a:xfrm>
      </p:grpSpPr>
      <p:pic>
        <p:nvPicPr>
          <p:cNvPr id="2" name="Image 0" descr="https://kimi-web-img.moonshot.cn/img/media.wnyc.org/01f97519133ad7fee7dee3d73a2a407166ebc2bb.jpg">    </p:cNvPr>
          <p:cNvPicPr>
            <a:picLocks noChangeAspect="1"/>
          </p:cNvPicPr>
          <p:nvPr/>
        </p:nvPicPr>
        <p:blipFill>
          <a:blip r:embed="rId1">
            <a:alphaModFix amt="30000"/>
          </a:blip>
          <a:srcRect l="0" r="0" t="18619" b="18619"/>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txBody>
          <a:bodyPr/>
          <a:p/>
        </p:txBody>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txBody>
          <a:bodyPr/>
          <a:p/>
        </p:txBody>
      </p:sp>
      <p:sp>
        <p:nvSpPr>
          <p:cNvPr id="5" name="Shape 2"/>
          <p:cNvSpPr/>
          <p:nvPr/>
        </p:nvSpPr>
        <p:spPr>
          <a:xfrm rot="-360000">
            <a:off x="320619" y="1311218"/>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txBody>
          <a:bodyPr/>
          <a:p/>
        </p:txBody>
      </p:sp>
      <p:sp>
        <p:nvSpPr>
          <p:cNvPr id="6" name="Text 3"/>
          <p:cNvSpPr/>
          <p:nvPr/>
        </p:nvSpPr>
        <p:spPr>
          <a:xfrm>
            <a:off x="572542" y="1638305"/>
            <a:ext cx="1181100" cy="685800"/>
          </a:xfrm>
          <a:prstGeom prst="rect">
            <a:avLst/>
          </a:prstGeom>
          <a:noFill/>
          <a:ln/>
        </p:spPr>
        <p:txBody>
          <a:bodyPr wrap="square" lIns="0" tIns="0" rIns="0" bIns="0" rtlCol="0" anchor="ctr"/>
          <a:lstStyle/>
          <a:p>
            <a:pPr>
              <a:lnSpc>
                <a:spcPct val="80000"/>
              </a:lnSpc>
            </a:pPr>
            <a:r>
              <a:rPr lang="en-US" sz="5400" b="1" dirty="0">
                <a:solidFill>
                  <a:srgbClr val="FFFFFF"/>
                </a:solidFill>
                <a:latin typeface="Liter" pitchFamily="34" charset="0"/>
                <a:ea typeface="Liter" pitchFamily="34" charset="-122"/>
                <a:cs typeface="Liter" pitchFamily="34" charset="-120"/>
              </a:rPr>
              <a:t>02</a:t>
            </a:r>
            <a:endParaRPr lang="en-US" sz="1600" dirty="0"/>
          </a:p>
        </p:txBody>
      </p:sp>
      <p:sp>
        <p:nvSpPr>
          <p:cNvPr id="7" name="Shape 4"/>
          <p:cNvSpPr/>
          <p:nvPr/>
        </p:nvSpPr>
        <p:spPr>
          <a:xfrm>
            <a:off x="1828800" y="1752600"/>
            <a:ext cx="3333750" cy="38100"/>
          </a:xfrm>
          <a:custGeom>
            <a:avLst/>
            <a:gdLst/>
            <a:ahLst/>
            <a:cxnLst/>
            <a:rect l="l" t="t" r="r" b="b"/>
            <a:pathLst>
              <a:path w="3333750" h="38100">
                <a:moveTo>
                  <a:pt x="0" y="0"/>
                </a:moveTo>
                <a:lnTo>
                  <a:pt x="3333750" y="0"/>
                </a:lnTo>
                <a:lnTo>
                  <a:pt x="3333750" y="38100"/>
                </a:lnTo>
                <a:lnTo>
                  <a:pt x="0" y="38100"/>
                </a:lnTo>
                <a:lnTo>
                  <a:pt x="0" y="0"/>
                </a:lnTo>
                <a:close/>
              </a:path>
            </a:pathLst>
          </a:custGeom>
          <a:solidFill>
            <a:srgbClr val="DDFF00"/>
          </a:solidFill>
          <a:ln/>
        </p:spPr>
        <p:txBody>
          <a:bodyPr/>
          <a:p/>
        </p:txBody>
      </p:sp>
      <p:sp>
        <p:nvSpPr>
          <p:cNvPr id="8" name="Text 5"/>
          <p:cNvSpPr/>
          <p:nvPr/>
        </p:nvSpPr>
        <p:spPr>
          <a:xfrm>
            <a:off x="1828800" y="1943100"/>
            <a:ext cx="3419475" cy="266700"/>
          </a:xfrm>
          <a:prstGeom prst="rect">
            <a:avLst/>
          </a:prstGeom>
          <a:noFill/>
          <a:ln/>
        </p:spPr>
        <p:txBody>
          <a:bodyPr wrap="square" lIns="0" tIns="0" rIns="0" bIns="0" rtlCol="0" anchor="ctr"/>
          <a:lstStyle/>
          <a:p>
            <a:pPr>
              <a:lnSpc>
                <a:spcPct val="130000"/>
              </a:lnSpc>
            </a:pPr>
            <a:r>
              <a:rPr lang="en-US" sz="1350" b="1" spc="135" kern="0" dirty="0">
                <a:solidFill>
                  <a:srgbClr val="FFFFFF"/>
                </a:solidFill>
                <a:latin typeface="Liter" pitchFamily="34" charset="0"/>
                <a:ea typeface="Liter" pitchFamily="34" charset="-122"/>
                <a:cs typeface="Liter" pitchFamily="34" charset="-120"/>
              </a:rPr>
              <a:t>CHAPTER TWO</a:t>
            </a:r>
            <a:endParaRPr lang="en-US" sz="1600" dirty="0"/>
          </a:p>
        </p:txBody>
      </p:sp>
      <p:sp>
        <p:nvSpPr>
          <p:cNvPr id="9" name="Text 6"/>
          <p:cNvSpPr/>
          <p:nvPr/>
        </p:nvSpPr>
        <p:spPr>
          <a:xfrm>
            <a:off x="381000" y="2895600"/>
            <a:ext cx="512445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THE BRITISH</a:t>
            </a:r>
            <a:endParaRPr lang="en-US" sz="1600" dirty="0"/>
          </a:p>
          <a:p>
            <a:pPr>
              <a:lnSpc>
                <a:spcPct val="100000"/>
              </a:lnSpc>
            </a:pPr>
            <a:r>
              <a:rPr lang="en-US" sz="5400" b="1" dirty="0">
                <a:solidFill>
                  <a:srgbClr val="FFFFFF"/>
                </a:solidFill>
                <a:latin typeface="Liter" pitchFamily="34" charset="0"/>
                <a:ea typeface="Liter" pitchFamily="34" charset="-122"/>
                <a:cs typeface="Liter" pitchFamily="34" charset="-120"/>
              </a:rPr>
              <a:t>INVASION</a:t>
            </a:r>
            <a:endParaRPr lang="en-US" sz="1600" dirty="0"/>
          </a:p>
        </p:txBody>
      </p:sp>
      <p:sp>
        <p:nvSpPr>
          <p:cNvPr id="10" name="Text 7"/>
          <p:cNvSpPr/>
          <p:nvPr/>
        </p:nvSpPr>
        <p:spPr>
          <a:xfrm>
            <a:off x="381000" y="4838700"/>
            <a:ext cx="489585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1960s: When Britain Took Back American Music</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txBody>
          <a:bodyPr/>
          <a:p/>
        </p:txBody>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txBody>
          <a:bodyPr/>
          <a:p/>
        </p:txBody>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9736" y="379197"/>
            <a:ext cx="65947" cy="395684"/>
          </a:xfrm>
          <a:custGeom>
            <a:avLst/>
            <a:gdLst/>
            <a:ahLst/>
            <a:cxnLst/>
            <a:rect l="l" t="t" r="r" b="b"/>
            <a:pathLst>
              <a:path w="65947" h="395684">
                <a:moveTo>
                  <a:pt x="0" y="0"/>
                </a:moveTo>
                <a:lnTo>
                  <a:pt x="65947" y="0"/>
                </a:lnTo>
                <a:lnTo>
                  <a:pt x="65947" y="395684"/>
                </a:lnTo>
                <a:lnTo>
                  <a:pt x="0" y="395684"/>
                </a:lnTo>
                <a:lnTo>
                  <a:pt x="0" y="0"/>
                </a:lnTo>
                <a:close/>
              </a:path>
            </a:pathLst>
          </a:custGeom>
          <a:solidFill>
            <a:srgbClr val="DDFF00"/>
          </a:solidFill>
          <a:ln/>
        </p:spPr>
      </p:sp>
      <p:sp>
        <p:nvSpPr>
          <p:cNvPr id="3" name="Text 1"/>
          <p:cNvSpPr/>
          <p:nvPr/>
        </p:nvSpPr>
        <p:spPr>
          <a:xfrm>
            <a:off x="527578" y="329736"/>
            <a:ext cx="4550361" cy="164868"/>
          </a:xfrm>
          <a:prstGeom prst="rect">
            <a:avLst/>
          </a:prstGeom>
          <a:noFill/>
          <a:ln/>
        </p:spPr>
        <p:txBody>
          <a:bodyPr wrap="square" lIns="0" tIns="0" rIns="0" bIns="0" rtlCol="0" anchor="ctr"/>
          <a:lstStyle/>
          <a:p>
            <a:pPr>
              <a:lnSpc>
                <a:spcPct val="120000"/>
              </a:lnSpc>
            </a:pPr>
            <a:r>
              <a:rPr lang="en-US" sz="909" b="1" spc="91" kern="0" dirty="0">
                <a:solidFill>
                  <a:srgbClr val="DDFF00"/>
                </a:solidFill>
                <a:latin typeface="Liter" pitchFamily="34" charset="0"/>
                <a:ea typeface="Liter" pitchFamily="34" charset="-122"/>
                <a:cs typeface="Liter" pitchFamily="34" charset="-120"/>
              </a:rPr>
              <a:t>CHAPTER 02</a:t>
            </a:r>
            <a:endParaRPr lang="en-US" sz="1600" dirty="0"/>
          </a:p>
        </p:txBody>
      </p:sp>
      <p:sp>
        <p:nvSpPr>
          <p:cNvPr id="4" name="Text 2"/>
          <p:cNvSpPr/>
          <p:nvPr/>
        </p:nvSpPr>
        <p:spPr>
          <a:xfrm>
            <a:off x="527578" y="494604"/>
            <a:ext cx="4641039" cy="329736"/>
          </a:xfrm>
          <a:prstGeom prst="rect">
            <a:avLst/>
          </a:prstGeom>
          <a:noFill/>
          <a:ln/>
        </p:spPr>
        <p:txBody>
          <a:bodyPr wrap="square" lIns="0" tIns="0" rIns="0" bIns="0" rtlCol="0" anchor="ctr"/>
          <a:lstStyle/>
          <a:p>
            <a:pPr>
              <a:lnSpc>
                <a:spcPct val="90000"/>
              </a:lnSpc>
            </a:pPr>
            <a:r>
              <a:rPr lang="en-US" sz="2337" b="1" dirty="0">
                <a:solidFill>
                  <a:srgbClr val="FFFFFF"/>
                </a:solidFill>
                <a:latin typeface="Liter" pitchFamily="34" charset="0"/>
                <a:ea typeface="Liter" pitchFamily="34" charset="-122"/>
                <a:cs typeface="Liter" pitchFamily="34" charset="-120"/>
              </a:rPr>
              <a:t>Beatlemania &amp; The British Invasion</a:t>
            </a:r>
            <a:endParaRPr lang="en-US" sz="1600" dirty="0"/>
          </a:p>
        </p:txBody>
      </p:sp>
      <p:sp>
        <p:nvSpPr>
          <p:cNvPr id="5" name="Shape 3"/>
          <p:cNvSpPr/>
          <p:nvPr/>
        </p:nvSpPr>
        <p:spPr>
          <a:xfrm>
            <a:off x="329736" y="1088130"/>
            <a:ext cx="6800811" cy="2143286"/>
          </a:xfrm>
          <a:custGeom>
            <a:avLst/>
            <a:gdLst/>
            <a:ahLst/>
            <a:cxnLst/>
            <a:rect l="l" t="t" r="r" b="b"/>
            <a:pathLst>
              <a:path w="6800811" h="2143286">
                <a:moveTo>
                  <a:pt x="0" y="0"/>
                </a:moveTo>
                <a:lnTo>
                  <a:pt x="6800811" y="0"/>
                </a:lnTo>
                <a:lnTo>
                  <a:pt x="6800811" y="2143286"/>
                </a:lnTo>
                <a:lnTo>
                  <a:pt x="0" y="2143286"/>
                </a:lnTo>
                <a:lnTo>
                  <a:pt x="0" y="0"/>
                </a:lnTo>
                <a:close/>
              </a:path>
            </a:pathLst>
          </a:custGeom>
          <a:solidFill>
            <a:srgbClr val="DDFF00"/>
          </a:solidFill>
          <a:ln/>
        </p:spPr>
      </p:sp>
      <p:sp>
        <p:nvSpPr>
          <p:cNvPr id="6" name="Text 4"/>
          <p:cNvSpPr/>
          <p:nvPr/>
        </p:nvSpPr>
        <p:spPr>
          <a:xfrm>
            <a:off x="527578" y="1285972"/>
            <a:ext cx="6504049" cy="263789"/>
          </a:xfrm>
          <a:prstGeom prst="rect">
            <a:avLst/>
          </a:prstGeom>
          <a:noFill/>
          <a:ln/>
        </p:spPr>
        <p:txBody>
          <a:bodyPr wrap="square" lIns="0" tIns="0" rIns="0" bIns="0" rtlCol="0" anchor="ctr"/>
          <a:lstStyle/>
          <a:p>
            <a:pPr>
              <a:lnSpc>
                <a:spcPct val="110000"/>
              </a:lnSpc>
            </a:pPr>
            <a:r>
              <a:rPr lang="en-US" sz="1558" b="1" dirty="0">
                <a:solidFill>
                  <a:srgbClr val="000000"/>
                </a:solidFill>
                <a:latin typeface="Liter" pitchFamily="34" charset="0"/>
                <a:ea typeface="Liter" pitchFamily="34" charset="-122"/>
                <a:cs typeface="Liter" pitchFamily="34" charset="-120"/>
              </a:rPr>
              <a:t>The Ed Sullivan Show: February 9, 1964</a:t>
            </a:r>
            <a:endParaRPr lang="en-US" sz="1600" dirty="0"/>
          </a:p>
        </p:txBody>
      </p:sp>
      <p:sp>
        <p:nvSpPr>
          <p:cNvPr id="7" name="Text 5"/>
          <p:cNvSpPr/>
          <p:nvPr/>
        </p:nvSpPr>
        <p:spPr>
          <a:xfrm>
            <a:off x="527578" y="1648682"/>
            <a:ext cx="6471075" cy="642986"/>
          </a:xfrm>
          <a:prstGeom prst="rect">
            <a:avLst/>
          </a:prstGeom>
          <a:noFill/>
          <a:ln/>
        </p:spPr>
        <p:txBody>
          <a:bodyPr wrap="square" lIns="0" tIns="0" rIns="0" bIns="0" rtlCol="0" anchor="ctr"/>
          <a:lstStyle/>
          <a:p>
            <a:pPr>
              <a:lnSpc>
                <a:spcPct val="140000"/>
              </a:lnSpc>
            </a:pPr>
            <a:r>
              <a:rPr lang="en-US" sz="1039" b="1" dirty="0">
                <a:solidFill>
                  <a:srgbClr val="000000"/>
                </a:solidFill>
                <a:latin typeface="Liter" pitchFamily="34" charset="0"/>
                <a:ea typeface="Liter" pitchFamily="34" charset="-122"/>
                <a:cs typeface="Liter" pitchFamily="34" charset="-120"/>
              </a:rPr>
              <a:t>73 million Americans watched</a:t>
            </a:r>
            <a:pPr>
              <a:lnSpc>
                <a:spcPct val="140000"/>
              </a:lnSpc>
            </a:pPr>
            <a:r>
              <a:rPr lang="en-US" sz="1039" dirty="0">
                <a:solidFill>
                  <a:srgbClr val="000000"/>
                </a:solidFill>
                <a:latin typeface="Liter" pitchFamily="34" charset="0"/>
                <a:ea typeface="Liter" pitchFamily="34" charset="-122"/>
                <a:cs typeface="Liter" pitchFamily="34" charset="-120"/>
              </a:rPr>
              <a:t> as The Beatles made their historic U.S. television debut. This moment marked the beginning of "Beatlemania" and the British Invasion—a cultural phenomenon that would transform American music forever.</a:t>
            </a:r>
            <a:endParaRPr lang="en-US" sz="1600" dirty="0"/>
          </a:p>
        </p:txBody>
      </p:sp>
      <p:sp>
        <p:nvSpPr>
          <p:cNvPr id="8" name="Text 6"/>
          <p:cNvSpPr/>
          <p:nvPr/>
        </p:nvSpPr>
        <p:spPr>
          <a:xfrm>
            <a:off x="527578" y="2390588"/>
            <a:ext cx="6471075" cy="642986"/>
          </a:xfrm>
          <a:prstGeom prst="rect">
            <a:avLst/>
          </a:prstGeom>
          <a:noFill/>
          <a:ln/>
        </p:spPr>
        <p:txBody>
          <a:bodyPr wrap="square" lIns="0" tIns="0" rIns="0" bIns="0" rtlCol="0" anchor="ctr"/>
          <a:lstStyle/>
          <a:p>
            <a:pPr>
              <a:lnSpc>
                <a:spcPct val="140000"/>
              </a:lnSpc>
            </a:pPr>
            <a:r>
              <a:rPr lang="en-US" sz="1039" dirty="0">
                <a:solidFill>
                  <a:srgbClr val="000000">
                    <a:alpha val="80000"/>
                  </a:srgbClr>
                </a:solidFill>
                <a:latin typeface="Liter" pitchFamily="34" charset="0"/>
                <a:ea typeface="Liter" pitchFamily="34" charset="-122"/>
                <a:cs typeface="Liter" pitchFamily="34" charset="-120"/>
              </a:rPr>
              <a:t>Ed Sullivan had witnessed the frenzy firsthand at London airport weeks earlier, where thousands of fans screamed for The Beatles. Realizing their potential impact, he invited them to his show, unknowingly igniting a musical revolution.</a:t>
            </a:r>
            <a:endParaRPr lang="en-US" sz="1600" dirty="0"/>
          </a:p>
        </p:txBody>
      </p:sp>
      <p:sp>
        <p:nvSpPr>
          <p:cNvPr id="9" name="Shape 7"/>
          <p:cNvSpPr/>
          <p:nvPr/>
        </p:nvSpPr>
        <p:spPr>
          <a:xfrm>
            <a:off x="337980" y="3371554"/>
            <a:ext cx="6784325" cy="2613160"/>
          </a:xfrm>
          <a:custGeom>
            <a:avLst/>
            <a:gdLst/>
            <a:ahLst/>
            <a:cxnLst/>
            <a:rect l="l" t="t" r="r" b="b"/>
            <a:pathLst>
              <a:path w="6784325" h="2613160">
                <a:moveTo>
                  <a:pt x="0" y="0"/>
                </a:moveTo>
                <a:lnTo>
                  <a:pt x="6784325" y="0"/>
                </a:lnTo>
                <a:lnTo>
                  <a:pt x="6784325" y="2613160"/>
                </a:lnTo>
                <a:lnTo>
                  <a:pt x="0" y="261316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11091" y="3544665"/>
            <a:ext cx="6520535" cy="230815"/>
          </a:xfrm>
          <a:prstGeom prst="rect">
            <a:avLst/>
          </a:prstGeom>
          <a:noFill/>
          <a:ln/>
        </p:spPr>
        <p:txBody>
          <a:bodyPr wrap="square" lIns="0" tIns="0" rIns="0" bIns="0" rtlCol="0" anchor="ctr"/>
          <a:lstStyle/>
          <a:p>
            <a:pPr>
              <a:lnSpc>
                <a:spcPct val="120000"/>
              </a:lnSpc>
            </a:pPr>
            <a:r>
              <a:rPr lang="en-US" sz="1298" b="1" dirty="0">
                <a:solidFill>
                  <a:srgbClr val="DDFF00"/>
                </a:solidFill>
                <a:latin typeface="Liter" pitchFamily="34" charset="0"/>
                <a:ea typeface="Liter" pitchFamily="34" charset="-122"/>
                <a:cs typeface="Liter" pitchFamily="34" charset="-120"/>
              </a:rPr>
              <a:t>Two Cities, Two Sounds</a:t>
            </a:r>
            <a:endParaRPr lang="en-US" sz="1600" dirty="0"/>
          </a:p>
        </p:txBody>
      </p:sp>
      <p:sp>
        <p:nvSpPr>
          <p:cNvPr id="11" name="Shape 9"/>
          <p:cNvSpPr/>
          <p:nvPr/>
        </p:nvSpPr>
        <p:spPr>
          <a:xfrm>
            <a:off x="527578" y="3907375"/>
            <a:ext cx="32974" cy="1582734"/>
          </a:xfrm>
          <a:custGeom>
            <a:avLst/>
            <a:gdLst/>
            <a:ahLst/>
            <a:cxnLst/>
            <a:rect l="l" t="t" r="r" b="b"/>
            <a:pathLst>
              <a:path w="32974" h="1582734">
                <a:moveTo>
                  <a:pt x="0" y="0"/>
                </a:moveTo>
                <a:lnTo>
                  <a:pt x="32974" y="0"/>
                </a:lnTo>
                <a:lnTo>
                  <a:pt x="32974" y="1582734"/>
                </a:lnTo>
                <a:lnTo>
                  <a:pt x="0" y="1582734"/>
                </a:lnTo>
                <a:lnTo>
                  <a:pt x="0" y="0"/>
                </a:lnTo>
                <a:close/>
              </a:path>
            </a:pathLst>
          </a:custGeom>
          <a:solidFill>
            <a:srgbClr val="DDFF00"/>
          </a:solidFill>
          <a:ln/>
        </p:spPr>
      </p:sp>
      <p:sp>
        <p:nvSpPr>
          <p:cNvPr id="12" name="Shape 10"/>
          <p:cNvSpPr/>
          <p:nvPr/>
        </p:nvSpPr>
        <p:spPr>
          <a:xfrm>
            <a:off x="678020" y="3948592"/>
            <a:ext cx="185477" cy="148381"/>
          </a:xfrm>
          <a:custGeom>
            <a:avLst/>
            <a:gdLst/>
            <a:ahLst/>
            <a:cxnLst/>
            <a:rect l="l" t="t" r="r" b="b"/>
            <a:pathLst>
              <a:path w="185477" h="148381">
                <a:moveTo>
                  <a:pt x="78828" y="0"/>
                </a:moveTo>
                <a:cubicBezTo>
                  <a:pt x="71148" y="0"/>
                  <a:pt x="64917" y="6231"/>
                  <a:pt x="64917" y="13911"/>
                </a:cubicBezTo>
                <a:lnTo>
                  <a:pt x="64917" y="18548"/>
                </a:lnTo>
                <a:lnTo>
                  <a:pt x="60280" y="18548"/>
                </a:lnTo>
                <a:cubicBezTo>
                  <a:pt x="47470" y="18548"/>
                  <a:pt x="37095" y="28923"/>
                  <a:pt x="37095" y="41732"/>
                </a:cubicBezTo>
                <a:lnTo>
                  <a:pt x="37095" y="73263"/>
                </a:lnTo>
                <a:lnTo>
                  <a:pt x="30835" y="75756"/>
                </a:lnTo>
                <a:cubicBezTo>
                  <a:pt x="26546" y="77465"/>
                  <a:pt x="24315" y="82247"/>
                  <a:pt x="25793" y="86623"/>
                </a:cubicBezTo>
                <a:cubicBezTo>
                  <a:pt x="28807" y="95694"/>
                  <a:pt x="33560" y="103809"/>
                  <a:pt x="39617" y="110706"/>
                </a:cubicBezTo>
                <a:cubicBezTo>
                  <a:pt x="45442" y="108040"/>
                  <a:pt x="51702" y="106678"/>
                  <a:pt x="57961" y="106649"/>
                </a:cubicBezTo>
                <a:cubicBezTo>
                  <a:pt x="67554" y="106591"/>
                  <a:pt x="77176" y="109605"/>
                  <a:pt x="85319" y="115749"/>
                </a:cubicBezTo>
                <a:lnTo>
                  <a:pt x="85783" y="116097"/>
                </a:lnTo>
                <a:lnTo>
                  <a:pt x="85783" y="53788"/>
                </a:lnTo>
                <a:lnTo>
                  <a:pt x="55643" y="65844"/>
                </a:lnTo>
                <a:lnTo>
                  <a:pt x="55643" y="41732"/>
                </a:lnTo>
                <a:cubicBezTo>
                  <a:pt x="55643" y="39182"/>
                  <a:pt x="57730" y="37095"/>
                  <a:pt x="60280" y="37095"/>
                </a:cubicBezTo>
                <a:lnTo>
                  <a:pt x="125197" y="37095"/>
                </a:lnTo>
                <a:cubicBezTo>
                  <a:pt x="127747" y="37095"/>
                  <a:pt x="129834" y="39182"/>
                  <a:pt x="129834" y="41732"/>
                </a:cubicBezTo>
                <a:lnTo>
                  <a:pt x="129834" y="65844"/>
                </a:lnTo>
                <a:lnTo>
                  <a:pt x="99694" y="53788"/>
                </a:lnTo>
                <a:lnTo>
                  <a:pt x="99694" y="116097"/>
                </a:lnTo>
                <a:lnTo>
                  <a:pt x="100157" y="115749"/>
                </a:lnTo>
                <a:cubicBezTo>
                  <a:pt x="108127" y="109750"/>
                  <a:pt x="117517" y="106707"/>
                  <a:pt x="126936" y="106649"/>
                </a:cubicBezTo>
                <a:cubicBezTo>
                  <a:pt x="133398" y="106620"/>
                  <a:pt x="139861" y="107953"/>
                  <a:pt x="145860" y="110706"/>
                </a:cubicBezTo>
                <a:cubicBezTo>
                  <a:pt x="151917" y="103838"/>
                  <a:pt x="156670" y="95694"/>
                  <a:pt x="159684" y="86623"/>
                </a:cubicBezTo>
                <a:cubicBezTo>
                  <a:pt x="161133" y="82218"/>
                  <a:pt x="158930" y="77465"/>
                  <a:pt x="154641" y="75756"/>
                </a:cubicBezTo>
                <a:lnTo>
                  <a:pt x="148381" y="73263"/>
                </a:lnTo>
                <a:lnTo>
                  <a:pt x="148381" y="41732"/>
                </a:lnTo>
                <a:cubicBezTo>
                  <a:pt x="148381" y="28923"/>
                  <a:pt x="138006" y="18548"/>
                  <a:pt x="125197" y="18548"/>
                </a:cubicBezTo>
                <a:lnTo>
                  <a:pt x="120560" y="18548"/>
                </a:lnTo>
                <a:lnTo>
                  <a:pt x="120560" y="13911"/>
                </a:lnTo>
                <a:cubicBezTo>
                  <a:pt x="120560" y="6231"/>
                  <a:pt x="114329" y="0"/>
                  <a:pt x="106649" y="0"/>
                </a:cubicBezTo>
                <a:lnTo>
                  <a:pt x="78828" y="0"/>
                </a:lnTo>
                <a:close/>
                <a:moveTo>
                  <a:pt x="116908" y="137977"/>
                </a:moveTo>
                <a:cubicBezTo>
                  <a:pt x="123081" y="133311"/>
                  <a:pt x="131370" y="133311"/>
                  <a:pt x="137543" y="137977"/>
                </a:cubicBezTo>
                <a:cubicBezTo>
                  <a:pt x="143049" y="142150"/>
                  <a:pt x="149685" y="146150"/>
                  <a:pt x="157018" y="147628"/>
                </a:cubicBezTo>
                <a:cubicBezTo>
                  <a:pt x="164697" y="149193"/>
                  <a:pt x="172754" y="147860"/>
                  <a:pt x="180405" y="142093"/>
                </a:cubicBezTo>
                <a:cubicBezTo>
                  <a:pt x="183477" y="139774"/>
                  <a:pt x="184086" y="135427"/>
                  <a:pt x="181767" y="132355"/>
                </a:cubicBezTo>
                <a:cubicBezTo>
                  <a:pt x="179449" y="129283"/>
                  <a:pt x="175102" y="128674"/>
                  <a:pt x="172030" y="130993"/>
                </a:cubicBezTo>
                <a:cubicBezTo>
                  <a:pt x="167711" y="134239"/>
                  <a:pt x="163741" y="134789"/>
                  <a:pt x="159771" y="133978"/>
                </a:cubicBezTo>
                <a:cubicBezTo>
                  <a:pt x="155453" y="133108"/>
                  <a:pt x="150816" y="130529"/>
                  <a:pt x="145918" y="126849"/>
                </a:cubicBezTo>
                <a:cubicBezTo>
                  <a:pt x="134789" y="118444"/>
                  <a:pt x="119690" y="118444"/>
                  <a:pt x="108533" y="126849"/>
                </a:cubicBezTo>
                <a:cubicBezTo>
                  <a:pt x="101577" y="132094"/>
                  <a:pt x="96738" y="134471"/>
                  <a:pt x="92738" y="134471"/>
                </a:cubicBezTo>
                <a:cubicBezTo>
                  <a:pt x="88739" y="134471"/>
                  <a:pt x="83899" y="132094"/>
                  <a:pt x="76944" y="126849"/>
                </a:cubicBezTo>
                <a:cubicBezTo>
                  <a:pt x="65815" y="118444"/>
                  <a:pt x="50716" y="118444"/>
                  <a:pt x="39559" y="126849"/>
                </a:cubicBezTo>
                <a:cubicBezTo>
                  <a:pt x="33299" y="131573"/>
                  <a:pt x="27590" y="134326"/>
                  <a:pt x="22489" y="134297"/>
                </a:cubicBezTo>
                <a:cubicBezTo>
                  <a:pt x="19707" y="134268"/>
                  <a:pt x="16722" y="133427"/>
                  <a:pt x="13447" y="130964"/>
                </a:cubicBezTo>
                <a:cubicBezTo>
                  <a:pt x="10375" y="128645"/>
                  <a:pt x="6028" y="129254"/>
                  <a:pt x="3710" y="132326"/>
                </a:cubicBezTo>
                <a:cubicBezTo>
                  <a:pt x="1391" y="135398"/>
                  <a:pt x="2029" y="139774"/>
                  <a:pt x="5101" y="142093"/>
                </a:cubicBezTo>
                <a:cubicBezTo>
                  <a:pt x="10636" y="146266"/>
                  <a:pt x="16519" y="148178"/>
                  <a:pt x="22431" y="148207"/>
                </a:cubicBezTo>
                <a:cubicBezTo>
                  <a:pt x="32256" y="148265"/>
                  <a:pt x="41066" y="143165"/>
                  <a:pt x="47963" y="137977"/>
                </a:cubicBezTo>
                <a:cubicBezTo>
                  <a:pt x="54136" y="133311"/>
                  <a:pt x="62424" y="133311"/>
                  <a:pt x="68597" y="137977"/>
                </a:cubicBezTo>
                <a:cubicBezTo>
                  <a:pt x="75611" y="143281"/>
                  <a:pt x="83754" y="148381"/>
                  <a:pt x="92767" y="148381"/>
                </a:cubicBezTo>
                <a:cubicBezTo>
                  <a:pt x="101780" y="148381"/>
                  <a:pt x="109895" y="143252"/>
                  <a:pt x="116937" y="137977"/>
                </a:cubicBezTo>
                <a:close/>
              </a:path>
            </a:pathLst>
          </a:custGeom>
          <a:solidFill>
            <a:srgbClr val="DDFF00"/>
          </a:solidFill>
          <a:ln/>
        </p:spPr>
      </p:sp>
      <p:sp>
        <p:nvSpPr>
          <p:cNvPr id="13" name="Text 11"/>
          <p:cNvSpPr/>
          <p:nvPr/>
        </p:nvSpPr>
        <p:spPr>
          <a:xfrm>
            <a:off x="865558" y="3907375"/>
            <a:ext cx="2876949"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Liter" pitchFamily="34" charset="0"/>
                <a:ea typeface="Liter" pitchFamily="34" charset="-122"/>
                <a:cs typeface="Liter" pitchFamily="34" charset="-120"/>
              </a:rPr>
              <a:t>Liverpool</a:t>
            </a:r>
            <a:endParaRPr lang="en-US" sz="1600" dirty="0"/>
          </a:p>
        </p:txBody>
      </p:sp>
      <p:sp>
        <p:nvSpPr>
          <p:cNvPr id="14" name="Text 12"/>
          <p:cNvSpPr/>
          <p:nvPr/>
        </p:nvSpPr>
        <p:spPr>
          <a:xfrm>
            <a:off x="675959" y="4204138"/>
            <a:ext cx="3058304" cy="1285972"/>
          </a:xfrm>
          <a:prstGeom prst="rect">
            <a:avLst/>
          </a:prstGeom>
          <a:noFill/>
          <a:ln/>
        </p:spPr>
        <p:txBody>
          <a:bodyPr wrap="square" lIns="0" tIns="0" rIns="0" bIns="0" rtlCol="0" anchor="ctr"/>
          <a:lstStyle/>
          <a:p>
            <a:pPr>
              <a:lnSpc>
                <a:spcPct val="140000"/>
              </a:lnSpc>
            </a:pPr>
            <a:r>
              <a:rPr lang="en-US" sz="1039" dirty="0">
                <a:solidFill>
                  <a:srgbClr val="FFFFFF">
                    <a:alpha val="80000"/>
                  </a:srgbClr>
                </a:solidFill>
                <a:latin typeface="Liter" pitchFamily="34" charset="0"/>
                <a:ea typeface="Liter" pitchFamily="34" charset="-122"/>
                <a:cs typeface="Liter" pitchFamily="34" charset="-120"/>
              </a:rPr>
              <a:t>The port city embraced American rock and roll from sailors bringing records. </a:t>
            </a:r>
            <a:pPr>
              <a:lnSpc>
                <a:spcPct val="140000"/>
              </a:lnSpc>
            </a:pPr>
            <a:r>
              <a:rPr lang="en-US" sz="1039" b="1" dirty="0">
                <a:solidFill>
                  <a:srgbClr val="DDFF00"/>
                </a:solidFill>
                <a:latin typeface="Liter" pitchFamily="34" charset="0"/>
                <a:ea typeface="Liter" pitchFamily="34" charset="-122"/>
                <a:cs typeface="Liter" pitchFamily="34" charset="-120"/>
              </a:rPr>
              <a:t>Skiffle music</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—combining folk, jazz, country and blues—provided the backdrop. This produced upbeat, melodic </a:t>
            </a:r>
            <a:pPr>
              <a:lnSpc>
                <a:spcPct val="140000"/>
              </a:lnSpc>
            </a:pPr>
            <a:r>
              <a:rPr lang="en-US" sz="1039" b="1" dirty="0">
                <a:solidFill>
                  <a:srgbClr val="FFFFFF">
                    <a:alpha val="80000"/>
                  </a:srgbClr>
                </a:solidFill>
                <a:latin typeface="Liter" pitchFamily="34" charset="0"/>
                <a:ea typeface="Liter" pitchFamily="34" charset="-122"/>
                <a:cs typeface="Liter" pitchFamily="34" charset="-120"/>
              </a:rPr>
              <a:t>Merseybeat</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 exemplified by The Beatles and Gerry &amp; the Pacemakers.</a:t>
            </a:r>
            <a:endParaRPr lang="en-US" sz="1600" dirty="0"/>
          </a:p>
        </p:txBody>
      </p:sp>
      <p:sp>
        <p:nvSpPr>
          <p:cNvPr id="15" name="Shape 13"/>
          <p:cNvSpPr/>
          <p:nvPr/>
        </p:nvSpPr>
        <p:spPr>
          <a:xfrm>
            <a:off x="3812834" y="3907375"/>
            <a:ext cx="32974" cy="1582734"/>
          </a:xfrm>
          <a:custGeom>
            <a:avLst/>
            <a:gdLst/>
            <a:ahLst/>
            <a:cxnLst/>
            <a:rect l="l" t="t" r="r" b="b"/>
            <a:pathLst>
              <a:path w="32974" h="1582734">
                <a:moveTo>
                  <a:pt x="0" y="0"/>
                </a:moveTo>
                <a:lnTo>
                  <a:pt x="32974" y="0"/>
                </a:lnTo>
                <a:lnTo>
                  <a:pt x="32974" y="1582734"/>
                </a:lnTo>
                <a:lnTo>
                  <a:pt x="0" y="1582734"/>
                </a:lnTo>
                <a:lnTo>
                  <a:pt x="0" y="0"/>
                </a:lnTo>
                <a:close/>
              </a:path>
            </a:pathLst>
          </a:custGeom>
          <a:solidFill>
            <a:srgbClr val="DDFF00"/>
          </a:solidFill>
          <a:ln/>
        </p:spPr>
      </p:sp>
      <p:sp>
        <p:nvSpPr>
          <p:cNvPr id="16" name="Shape 14"/>
          <p:cNvSpPr/>
          <p:nvPr/>
        </p:nvSpPr>
        <p:spPr>
          <a:xfrm>
            <a:off x="4000371" y="3948592"/>
            <a:ext cx="111286" cy="148381"/>
          </a:xfrm>
          <a:custGeom>
            <a:avLst/>
            <a:gdLst/>
            <a:ahLst/>
            <a:cxnLst/>
            <a:rect l="l" t="t" r="r" b="b"/>
            <a:pathLst>
              <a:path w="111286" h="148381">
                <a:moveTo>
                  <a:pt x="18548" y="0"/>
                </a:moveTo>
                <a:cubicBezTo>
                  <a:pt x="8317" y="0"/>
                  <a:pt x="0" y="8317"/>
                  <a:pt x="0" y="18548"/>
                </a:cubicBezTo>
                <a:lnTo>
                  <a:pt x="0" y="129834"/>
                </a:lnTo>
                <a:cubicBezTo>
                  <a:pt x="0" y="140064"/>
                  <a:pt x="8317" y="148381"/>
                  <a:pt x="18548" y="148381"/>
                </a:cubicBezTo>
                <a:lnTo>
                  <a:pt x="92738" y="148381"/>
                </a:lnTo>
                <a:cubicBezTo>
                  <a:pt x="102969" y="148381"/>
                  <a:pt x="111286" y="140064"/>
                  <a:pt x="111286" y="129834"/>
                </a:cubicBezTo>
                <a:lnTo>
                  <a:pt x="111286" y="18548"/>
                </a:lnTo>
                <a:cubicBezTo>
                  <a:pt x="111286" y="8317"/>
                  <a:pt x="102969" y="0"/>
                  <a:pt x="92738" y="0"/>
                </a:cubicBezTo>
                <a:lnTo>
                  <a:pt x="18548" y="0"/>
                </a:lnTo>
                <a:close/>
                <a:moveTo>
                  <a:pt x="51006" y="102012"/>
                </a:moveTo>
                <a:lnTo>
                  <a:pt x="60280" y="102012"/>
                </a:lnTo>
                <a:cubicBezTo>
                  <a:pt x="65410" y="102012"/>
                  <a:pt x="69554" y="106156"/>
                  <a:pt x="69554" y="111286"/>
                </a:cubicBezTo>
                <a:lnTo>
                  <a:pt x="69554" y="134471"/>
                </a:lnTo>
                <a:lnTo>
                  <a:pt x="41732" y="134471"/>
                </a:lnTo>
                <a:lnTo>
                  <a:pt x="41732" y="111286"/>
                </a:lnTo>
                <a:cubicBezTo>
                  <a:pt x="41732" y="106156"/>
                  <a:pt x="45876" y="102012"/>
                  <a:pt x="51006" y="102012"/>
                </a:cubicBezTo>
                <a:close/>
                <a:moveTo>
                  <a:pt x="27822" y="32458"/>
                </a:moveTo>
                <a:cubicBezTo>
                  <a:pt x="27822" y="29908"/>
                  <a:pt x="29908" y="27822"/>
                  <a:pt x="32458" y="27822"/>
                </a:cubicBezTo>
                <a:lnTo>
                  <a:pt x="41732" y="27822"/>
                </a:lnTo>
                <a:cubicBezTo>
                  <a:pt x="44283" y="27822"/>
                  <a:pt x="46369" y="29908"/>
                  <a:pt x="46369" y="32458"/>
                </a:cubicBezTo>
                <a:lnTo>
                  <a:pt x="46369" y="41732"/>
                </a:lnTo>
                <a:cubicBezTo>
                  <a:pt x="46369" y="44283"/>
                  <a:pt x="44283" y="46369"/>
                  <a:pt x="41732" y="46369"/>
                </a:cubicBezTo>
                <a:lnTo>
                  <a:pt x="32458" y="46369"/>
                </a:lnTo>
                <a:cubicBezTo>
                  <a:pt x="29908" y="46369"/>
                  <a:pt x="27822" y="44283"/>
                  <a:pt x="27822" y="41732"/>
                </a:cubicBezTo>
                <a:lnTo>
                  <a:pt x="27822" y="32458"/>
                </a:lnTo>
                <a:close/>
                <a:moveTo>
                  <a:pt x="69554" y="27822"/>
                </a:moveTo>
                <a:lnTo>
                  <a:pt x="78828" y="27822"/>
                </a:lnTo>
                <a:cubicBezTo>
                  <a:pt x="81378" y="27822"/>
                  <a:pt x="83465" y="29908"/>
                  <a:pt x="83465" y="32458"/>
                </a:cubicBezTo>
                <a:lnTo>
                  <a:pt x="83465" y="41732"/>
                </a:lnTo>
                <a:cubicBezTo>
                  <a:pt x="83465" y="44283"/>
                  <a:pt x="81378" y="46369"/>
                  <a:pt x="78828" y="46369"/>
                </a:cubicBezTo>
                <a:lnTo>
                  <a:pt x="69554" y="46369"/>
                </a:lnTo>
                <a:cubicBezTo>
                  <a:pt x="67003" y="46369"/>
                  <a:pt x="64917" y="44283"/>
                  <a:pt x="64917" y="41732"/>
                </a:cubicBezTo>
                <a:lnTo>
                  <a:pt x="64917" y="32458"/>
                </a:lnTo>
                <a:cubicBezTo>
                  <a:pt x="64917" y="29908"/>
                  <a:pt x="67003" y="27822"/>
                  <a:pt x="69554" y="27822"/>
                </a:cubicBezTo>
                <a:close/>
                <a:moveTo>
                  <a:pt x="27822" y="69554"/>
                </a:moveTo>
                <a:cubicBezTo>
                  <a:pt x="27822" y="67003"/>
                  <a:pt x="29908" y="64917"/>
                  <a:pt x="32458" y="64917"/>
                </a:cubicBezTo>
                <a:lnTo>
                  <a:pt x="41732" y="64917"/>
                </a:lnTo>
                <a:cubicBezTo>
                  <a:pt x="44283" y="64917"/>
                  <a:pt x="46369" y="67003"/>
                  <a:pt x="46369" y="69554"/>
                </a:cubicBezTo>
                <a:lnTo>
                  <a:pt x="46369" y="78828"/>
                </a:lnTo>
                <a:cubicBezTo>
                  <a:pt x="46369" y="81378"/>
                  <a:pt x="44283" y="83465"/>
                  <a:pt x="41732" y="83465"/>
                </a:cubicBezTo>
                <a:lnTo>
                  <a:pt x="32458" y="83465"/>
                </a:lnTo>
                <a:cubicBezTo>
                  <a:pt x="29908" y="83465"/>
                  <a:pt x="27822" y="81378"/>
                  <a:pt x="27822" y="78828"/>
                </a:cubicBezTo>
                <a:lnTo>
                  <a:pt x="27822" y="69554"/>
                </a:lnTo>
                <a:close/>
                <a:moveTo>
                  <a:pt x="69554" y="64917"/>
                </a:moveTo>
                <a:lnTo>
                  <a:pt x="78828" y="64917"/>
                </a:lnTo>
                <a:cubicBezTo>
                  <a:pt x="81378" y="64917"/>
                  <a:pt x="83465" y="67003"/>
                  <a:pt x="83465" y="69554"/>
                </a:cubicBezTo>
                <a:lnTo>
                  <a:pt x="83465" y="78828"/>
                </a:lnTo>
                <a:cubicBezTo>
                  <a:pt x="83465" y="81378"/>
                  <a:pt x="81378" y="83465"/>
                  <a:pt x="78828" y="83465"/>
                </a:cubicBezTo>
                <a:lnTo>
                  <a:pt x="69554" y="83465"/>
                </a:lnTo>
                <a:cubicBezTo>
                  <a:pt x="67003" y="83465"/>
                  <a:pt x="64917" y="81378"/>
                  <a:pt x="64917" y="78828"/>
                </a:cubicBezTo>
                <a:lnTo>
                  <a:pt x="64917" y="69554"/>
                </a:lnTo>
                <a:cubicBezTo>
                  <a:pt x="64917" y="67003"/>
                  <a:pt x="67003" y="64917"/>
                  <a:pt x="69554" y="64917"/>
                </a:cubicBezTo>
                <a:close/>
              </a:path>
            </a:pathLst>
          </a:custGeom>
          <a:solidFill>
            <a:srgbClr val="DDFF00"/>
          </a:solidFill>
          <a:ln/>
        </p:spPr>
      </p:sp>
      <p:sp>
        <p:nvSpPr>
          <p:cNvPr id="17" name="Text 15"/>
          <p:cNvSpPr/>
          <p:nvPr/>
        </p:nvSpPr>
        <p:spPr>
          <a:xfrm>
            <a:off x="4150813" y="3907375"/>
            <a:ext cx="2876949"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Liter" pitchFamily="34" charset="0"/>
                <a:ea typeface="Liter" pitchFamily="34" charset="-122"/>
                <a:cs typeface="Liter" pitchFamily="34" charset="-120"/>
              </a:rPr>
              <a:t>London</a:t>
            </a:r>
            <a:endParaRPr lang="en-US" sz="1600" dirty="0"/>
          </a:p>
        </p:txBody>
      </p:sp>
      <p:sp>
        <p:nvSpPr>
          <p:cNvPr id="18" name="Text 16"/>
          <p:cNvSpPr/>
          <p:nvPr/>
        </p:nvSpPr>
        <p:spPr>
          <a:xfrm>
            <a:off x="3961215" y="4204138"/>
            <a:ext cx="3058304" cy="1071643"/>
          </a:xfrm>
          <a:prstGeom prst="rect">
            <a:avLst/>
          </a:prstGeom>
          <a:noFill/>
          <a:ln/>
        </p:spPr>
        <p:txBody>
          <a:bodyPr wrap="square" lIns="0" tIns="0" rIns="0" bIns="0" rtlCol="0" anchor="ctr"/>
          <a:lstStyle/>
          <a:p>
            <a:pPr>
              <a:lnSpc>
                <a:spcPct val="140000"/>
              </a:lnSpc>
            </a:pPr>
            <a:r>
              <a:rPr lang="en-US" sz="1039" dirty="0">
                <a:solidFill>
                  <a:srgbClr val="FFFFFF">
                    <a:alpha val="80000"/>
                  </a:srgbClr>
                </a:solidFill>
                <a:latin typeface="Liter" pitchFamily="34" charset="0"/>
                <a:ea typeface="Liter" pitchFamily="34" charset="-122"/>
                <a:cs typeface="Liter" pitchFamily="34" charset="-120"/>
              </a:rPr>
              <a:t>College students and bohemians were drawn to raw American </a:t>
            </a:r>
            <a:pPr>
              <a:lnSpc>
                <a:spcPct val="140000"/>
              </a:lnSpc>
            </a:pPr>
            <a:r>
              <a:rPr lang="en-US" sz="1039" b="1" dirty="0">
                <a:solidFill>
                  <a:srgbClr val="DDFF00"/>
                </a:solidFill>
                <a:latin typeface="Liter" pitchFamily="34" charset="0"/>
                <a:ea typeface="Liter" pitchFamily="34" charset="-122"/>
                <a:cs typeface="Liter" pitchFamily="34" charset="-120"/>
              </a:rPr>
              <a:t>blues and R&amp;B</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 Artists like Muddy Waters and B.B. King inspired a grittier, blues-infused rock sound exemplified by </a:t>
            </a:r>
            <a:pPr>
              <a:lnSpc>
                <a:spcPct val="140000"/>
              </a:lnSpc>
            </a:pPr>
            <a:r>
              <a:rPr lang="en-US" sz="1039" b="1" dirty="0">
                <a:solidFill>
                  <a:srgbClr val="FFFFFF">
                    <a:alpha val="80000"/>
                  </a:srgbClr>
                </a:solidFill>
                <a:latin typeface="Liter" pitchFamily="34" charset="0"/>
                <a:ea typeface="Liter" pitchFamily="34" charset="-122"/>
                <a:cs typeface="Liter" pitchFamily="34" charset="-120"/>
              </a:rPr>
              <a:t>The Rolling Stones</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 and The Yardbirds.</a:t>
            </a:r>
            <a:endParaRPr lang="en-US" sz="1600" dirty="0"/>
          </a:p>
        </p:txBody>
      </p:sp>
      <p:sp>
        <p:nvSpPr>
          <p:cNvPr id="19" name="Shape 17"/>
          <p:cNvSpPr/>
          <p:nvPr/>
        </p:nvSpPr>
        <p:spPr>
          <a:xfrm>
            <a:off x="333858" y="6128716"/>
            <a:ext cx="2192746" cy="832584"/>
          </a:xfrm>
          <a:custGeom>
            <a:avLst/>
            <a:gdLst/>
            <a:ahLst/>
            <a:cxnLst/>
            <a:rect l="l" t="t" r="r" b="b"/>
            <a:pathLst>
              <a:path w="2192746" h="832584">
                <a:moveTo>
                  <a:pt x="0" y="0"/>
                </a:moveTo>
                <a:lnTo>
                  <a:pt x="2192746" y="0"/>
                </a:lnTo>
                <a:lnTo>
                  <a:pt x="2192746" y="832584"/>
                </a:lnTo>
                <a:lnTo>
                  <a:pt x="0" y="832584"/>
                </a:lnTo>
                <a:lnTo>
                  <a:pt x="0" y="0"/>
                </a:lnTo>
                <a:close/>
              </a:path>
            </a:pathLst>
          </a:custGeom>
          <a:solidFill>
            <a:srgbClr val="DDFF00">
              <a:alpha val="10196"/>
            </a:srgbClr>
          </a:solidFill>
          <a:ln w="12700">
            <a:solidFill>
              <a:srgbClr val="DDFF00"/>
            </a:solidFill>
            <a:prstDash val="solid"/>
          </a:ln>
        </p:spPr>
      </p:sp>
      <p:sp>
        <p:nvSpPr>
          <p:cNvPr id="20" name="Text 18"/>
          <p:cNvSpPr/>
          <p:nvPr/>
        </p:nvSpPr>
        <p:spPr>
          <a:xfrm>
            <a:off x="375075" y="6231759"/>
            <a:ext cx="2110312" cy="296763"/>
          </a:xfrm>
          <a:prstGeom prst="rect">
            <a:avLst/>
          </a:prstGeom>
          <a:noFill/>
          <a:ln/>
        </p:spPr>
        <p:txBody>
          <a:bodyPr wrap="square" lIns="0" tIns="0" rIns="0" bIns="0" rtlCol="0" anchor="ctr"/>
          <a:lstStyle/>
          <a:p>
            <a:pPr algn="ctr">
              <a:lnSpc>
                <a:spcPct val="100000"/>
              </a:lnSpc>
            </a:pPr>
            <a:r>
              <a:rPr lang="en-US" sz="1947" b="1" dirty="0">
                <a:solidFill>
                  <a:srgbClr val="DDFF00"/>
                </a:solidFill>
                <a:latin typeface="Liter" pitchFamily="34" charset="0"/>
                <a:ea typeface="Liter" pitchFamily="34" charset="-122"/>
                <a:cs typeface="Liter" pitchFamily="34" charset="-120"/>
              </a:rPr>
              <a:t>14</a:t>
            </a:r>
            <a:endParaRPr lang="en-US" sz="1600" dirty="0"/>
          </a:p>
        </p:txBody>
      </p:sp>
      <p:sp>
        <p:nvSpPr>
          <p:cNvPr id="21" name="Text 19"/>
          <p:cNvSpPr/>
          <p:nvPr/>
        </p:nvSpPr>
        <p:spPr>
          <a:xfrm>
            <a:off x="408049" y="6528521"/>
            <a:ext cx="2044365" cy="329736"/>
          </a:xfrm>
          <a:prstGeom prst="rect">
            <a:avLst/>
          </a:prstGeom>
          <a:noFill/>
          <a:ln/>
        </p:spPr>
        <p:txBody>
          <a:bodyPr wrap="square" lIns="0" tIns="0" rIns="0" bIns="0" rtlCol="0" anchor="ctr"/>
          <a:lstStyle/>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British singles in</a:t>
            </a:r>
            <a:endParaRPr lang="en-US" sz="1600" dirty="0"/>
          </a:p>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U.S. Top 40 (1965)</a:t>
            </a:r>
            <a:endParaRPr lang="en-US" sz="1600" dirty="0"/>
          </a:p>
        </p:txBody>
      </p:sp>
      <p:sp>
        <p:nvSpPr>
          <p:cNvPr id="22" name="Shape 20"/>
          <p:cNvSpPr/>
          <p:nvPr/>
        </p:nvSpPr>
        <p:spPr>
          <a:xfrm>
            <a:off x="2633898" y="6128716"/>
            <a:ext cx="2192746" cy="832584"/>
          </a:xfrm>
          <a:custGeom>
            <a:avLst/>
            <a:gdLst/>
            <a:ahLst/>
            <a:cxnLst/>
            <a:rect l="l" t="t" r="r" b="b"/>
            <a:pathLst>
              <a:path w="2192746" h="832584">
                <a:moveTo>
                  <a:pt x="0" y="0"/>
                </a:moveTo>
                <a:lnTo>
                  <a:pt x="2192746" y="0"/>
                </a:lnTo>
                <a:lnTo>
                  <a:pt x="2192746" y="832584"/>
                </a:lnTo>
                <a:lnTo>
                  <a:pt x="0" y="832584"/>
                </a:lnTo>
                <a:lnTo>
                  <a:pt x="0" y="0"/>
                </a:lnTo>
                <a:close/>
              </a:path>
            </a:pathLst>
          </a:custGeom>
          <a:solidFill>
            <a:srgbClr val="DDFF00">
              <a:alpha val="10196"/>
            </a:srgbClr>
          </a:solidFill>
          <a:ln w="12700">
            <a:solidFill>
              <a:srgbClr val="DDFF00"/>
            </a:solidFill>
            <a:prstDash val="solid"/>
          </a:ln>
        </p:spPr>
      </p:sp>
      <p:sp>
        <p:nvSpPr>
          <p:cNvPr id="23" name="Text 21"/>
          <p:cNvSpPr/>
          <p:nvPr/>
        </p:nvSpPr>
        <p:spPr>
          <a:xfrm>
            <a:off x="2675115" y="6231759"/>
            <a:ext cx="2110312" cy="296763"/>
          </a:xfrm>
          <a:prstGeom prst="rect">
            <a:avLst/>
          </a:prstGeom>
          <a:noFill/>
          <a:ln/>
        </p:spPr>
        <p:txBody>
          <a:bodyPr wrap="square" lIns="0" tIns="0" rIns="0" bIns="0" rtlCol="0" anchor="ctr"/>
          <a:lstStyle/>
          <a:p>
            <a:pPr algn="ctr">
              <a:lnSpc>
                <a:spcPct val="100000"/>
              </a:lnSpc>
            </a:pPr>
            <a:r>
              <a:rPr lang="en-US" sz="1947" b="1" dirty="0">
                <a:solidFill>
                  <a:srgbClr val="DDFF00"/>
                </a:solidFill>
                <a:latin typeface="Liter" pitchFamily="34" charset="0"/>
                <a:ea typeface="Liter" pitchFamily="34" charset="-122"/>
                <a:cs typeface="Liter" pitchFamily="34" charset="-120"/>
              </a:rPr>
              <a:t>1.92M</a:t>
            </a:r>
            <a:endParaRPr lang="en-US" sz="1600" dirty="0"/>
          </a:p>
        </p:txBody>
      </p:sp>
      <p:sp>
        <p:nvSpPr>
          <p:cNvPr id="24" name="Text 22"/>
          <p:cNvSpPr/>
          <p:nvPr/>
        </p:nvSpPr>
        <p:spPr>
          <a:xfrm>
            <a:off x="2708088" y="6528521"/>
            <a:ext cx="2044365" cy="329736"/>
          </a:xfrm>
          <a:prstGeom prst="rect">
            <a:avLst/>
          </a:prstGeom>
          <a:noFill/>
          <a:ln/>
        </p:spPr>
        <p:txBody>
          <a:bodyPr wrap="square" lIns="0" tIns="0" rIns="0" bIns="0" rtlCol="0" anchor="ctr"/>
          <a:lstStyle/>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"She Loves You"</a:t>
            </a:r>
            <a:endParaRPr lang="en-US" sz="1600" dirty="0"/>
          </a:p>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UK sales</a:t>
            </a:r>
            <a:endParaRPr lang="en-US" sz="1600" dirty="0"/>
          </a:p>
        </p:txBody>
      </p:sp>
      <p:sp>
        <p:nvSpPr>
          <p:cNvPr id="25" name="Shape 23"/>
          <p:cNvSpPr/>
          <p:nvPr/>
        </p:nvSpPr>
        <p:spPr>
          <a:xfrm>
            <a:off x="4934002" y="6128716"/>
            <a:ext cx="2192746" cy="832584"/>
          </a:xfrm>
          <a:custGeom>
            <a:avLst/>
            <a:gdLst/>
            <a:ahLst/>
            <a:cxnLst/>
            <a:rect l="l" t="t" r="r" b="b"/>
            <a:pathLst>
              <a:path w="2192746" h="832584">
                <a:moveTo>
                  <a:pt x="0" y="0"/>
                </a:moveTo>
                <a:lnTo>
                  <a:pt x="2192746" y="0"/>
                </a:lnTo>
                <a:lnTo>
                  <a:pt x="2192746" y="832584"/>
                </a:lnTo>
                <a:lnTo>
                  <a:pt x="0" y="832584"/>
                </a:lnTo>
                <a:lnTo>
                  <a:pt x="0" y="0"/>
                </a:lnTo>
                <a:close/>
              </a:path>
            </a:pathLst>
          </a:custGeom>
          <a:solidFill>
            <a:srgbClr val="DDFF00">
              <a:alpha val="10196"/>
            </a:srgbClr>
          </a:solidFill>
          <a:ln w="12700">
            <a:solidFill>
              <a:srgbClr val="DDFF00"/>
            </a:solidFill>
            <a:prstDash val="solid"/>
          </a:ln>
        </p:spPr>
      </p:sp>
      <p:sp>
        <p:nvSpPr>
          <p:cNvPr id="26" name="Text 24"/>
          <p:cNvSpPr/>
          <p:nvPr/>
        </p:nvSpPr>
        <p:spPr>
          <a:xfrm>
            <a:off x="4975219" y="6231759"/>
            <a:ext cx="2110312" cy="296763"/>
          </a:xfrm>
          <a:prstGeom prst="rect">
            <a:avLst/>
          </a:prstGeom>
          <a:noFill/>
          <a:ln/>
        </p:spPr>
        <p:txBody>
          <a:bodyPr wrap="square" lIns="0" tIns="0" rIns="0" bIns="0" rtlCol="0" anchor="ctr"/>
          <a:lstStyle/>
          <a:p>
            <a:pPr algn="ctr">
              <a:lnSpc>
                <a:spcPct val="100000"/>
              </a:lnSpc>
            </a:pPr>
            <a:r>
              <a:rPr lang="en-US" sz="1947" b="1" dirty="0">
                <a:solidFill>
                  <a:srgbClr val="DDFF00"/>
                </a:solidFill>
                <a:latin typeface="Liter" pitchFamily="34" charset="0"/>
                <a:ea typeface="Liter" pitchFamily="34" charset="-122"/>
                <a:cs typeface="Liter" pitchFamily="34" charset="-120"/>
              </a:rPr>
              <a:t>73M</a:t>
            </a:r>
            <a:endParaRPr lang="en-US" sz="1600" dirty="0"/>
          </a:p>
        </p:txBody>
      </p:sp>
      <p:sp>
        <p:nvSpPr>
          <p:cNvPr id="27" name="Text 25"/>
          <p:cNvSpPr/>
          <p:nvPr/>
        </p:nvSpPr>
        <p:spPr>
          <a:xfrm>
            <a:off x="5008192" y="6528521"/>
            <a:ext cx="2044365" cy="329736"/>
          </a:xfrm>
          <a:prstGeom prst="rect">
            <a:avLst/>
          </a:prstGeom>
          <a:noFill/>
          <a:ln/>
        </p:spPr>
        <p:txBody>
          <a:bodyPr wrap="square" lIns="0" tIns="0" rIns="0" bIns="0" rtlCol="0" anchor="ctr"/>
          <a:lstStyle/>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TV viewers for</a:t>
            </a:r>
            <a:endParaRPr lang="en-US" sz="1600" dirty="0"/>
          </a:p>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Ed Sullivan debut</a:t>
            </a:r>
            <a:endParaRPr lang="en-US" sz="1600" dirty="0"/>
          </a:p>
        </p:txBody>
      </p:sp>
      <p:pic>
        <p:nvPicPr>
          <p:cNvPr id="28" name="Image 0" descr="https://kimi-web-img.moonshot.cn/img/media.wnyc.org/01f97519133ad7fee7dee3d73a2a407166ebc2bb.jpg">    </p:cNvPr>
          <p:cNvPicPr>
            <a:picLocks noChangeAspect="1"/>
          </p:cNvPicPr>
          <p:nvPr/>
        </p:nvPicPr>
        <p:blipFill>
          <a:blip r:embed="rId1"/>
          <a:srcRect l="7" r="7" t="0" b="0"/>
          <a:stretch/>
        </p:blipFill>
        <p:spPr>
          <a:xfrm>
            <a:off x="7328905" y="1088130"/>
            <a:ext cx="4533874" cy="4064000"/>
          </a:xfrm>
          <a:prstGeom prst="roundRect">
            <a:avLst>
              <a:gd name="adj" fmla="val 0"/>
            </a:avLst>
          </a:prstGeom>
        </p:spPr>
      </p:pic>
      <p:sp>
        <p:nvSpPr>
          <p:cNvPr id="29" name="Shape 26"/>
          <p:cNvSpPr/>
          <p:nvPr/>
        </p:nvSpPr>
        <p:spPr>
          <a:xfrm>
            <a:off x="7328905" y="1088130"/>
            <a:ext cx="4533874" cy="4064000"/>
          </a:xfrm>
          <a:custGeom>
            <a:avLst/>
            <a:gdLst/>
            <a:ahLst/>
            <a:cxnLst/>
            <a:rect l="l" t="t" r="r" b="b"/>
            <a:pathLst>
              <a:path w="4533874" h="4064000">
                <a:moveTo>
                  <a:pt x="0" y="0"/>
                </a:moveTo>
                <a:lnTo>
                  <a:pt x="4533874" y="0"/>
                </a:lnTo>
                <a:lnTo>
                  <a:pt x="4533874" y="4064000"/>
                </a:lnTo>
                <a:lnTo>
                  <a:pt x="0" y="4064000"/>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30" name="Text 27"/>
          <p:cNvSpPr/>
          <p:nvPr/>
        </p:nvSpPr>
        <p:spPr>
          <a:xfrm>
            <a:off x="7460799" y="4591320"/>
            <a:ext cx="4327789" cy="164868"/>
          </a:xfrm>
          <a:prstGeom prst="rect">
            <a:avLst/>
          </a:prstGeom>
          <a:noFill/>
          <a:ln/>
        </p:spPr>
        <p:txBody>
          <a:bodyPr wrap="square" lIns="0" tIns="0" rIns="0" bIns="0" rtlCol="0" anchor="ctr"/>
          <a:lstStyle/>
          <a:p>
            <a:pPr>
              <a:lnSpc>
                <a:spcPct val="120000"/>
              </a:lnSpc>
            </a:pPr>
            <a:r>
              <a:rPr lang="en-US" sz="909" b="1" dirty="0">
                <a:solidFill>
                  <a:srgbClr val="DDFF00"/>
                </a:solidFill>
                <a:latin typeface="Liter" pitchFamily="34" charset="0"/>
                <a:ea typeface="Liter" pitchFamily="34" charset="-122"/>
                <a:cs typeface="Liter" pitchFamily="34" charset="-120"/>
              </a:rPr>
              <a:t>1964</a:t>
            </a:r>
            <a:endParaRPr lang="en-US" sz="1600" dirty="0"/>
          </a:p>
        </p:txBody>
      </p:sp>
      <p:sp>
        <p:nvSpPr>
          <p:cNvPr id="31" name="Text 28"/>
          <p:cNvSpPr/>
          <p:nvPr/>
        </p:nvSpPr>
        <p:spPr>
          <a:xfrm>
            <a:off x="7460799" y="4789162"/>
            <a:ext cx="4344276"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Liter" pitchFamily="34" charset="0"/>
                <a:ea typeface="Liter" pitchFamily="34" charset="-122"/>
                <a:cs typeface="Liter" pitchFamily="34" charset="-120"/>
              </a:rPr>
              <a:t>The Beatles on Ed Sullivan</a:t>
            </a:r>
            <a:endParaRPr lang="en-US" sz="1600" dirty="0"/>
          </a:p>
        </p:txBody>
      </p:sp>
      <p:sp>
        <p:nvSpPr>
          <p:cNvPr id="32" name="Shape 29"/>
          <p:cNvSpPr/>
          <p:nvPr/>
        </p:nvSpPr>
        <p:spPr>
          <a:xfrm>
            <a:off x="7337148" y="5292010"/>
            <a:ext cx="4517387" cy="1665168"/>
          </a:xfrm>
          <a:custGeom>
            <a:avLst/>
            <a:gdLst/>
            <a:ahLst/>
            <a:cxnLst/>
            <a:rect l="l" t="t" r="r" b="b"/>
            <a:pathLst>
              <a:path w="4517387" h="1665168">
                <a:moveTo>
                  <a:pt x="0" y="0"/>
                </a:moveTo>
                <a:lnTo>
                  <a:pt x="4517387" y="0"/>
                </a:lnTo>
                <a:lnTo>
                  <a:pt x="4517387" y="1665168"/>
                </a:lnTo>
                <a:lnTo>
                  <a:pt x="0" y="1665168"/>
                </a:lnTo>
                <a:lnTo>
                  <a:pt x="0" y="0"/>
                </a:lnTo>
                <a:close/>
              </a:path>
            </a:pathLst>
          </a:custGeom>
          <a:solidFill>
            <a:srgbClr val="000000">
              <a:alpha val="0"/>
            </a:srgbClr>
          </a:solidFill>
          <a:ln w="25400">
            <a:solidFill>
              <a:srgbClr val="DDFF00"/>
            </a:solidFill>
            <a:prstDash val="solid"/>
          </a:ln>
        </p:spPr>
      </p:sp>
      <p:sp>
        <p:nvSpPr>
          <p:cNvPr id="33" name="Text 30"/>
          <p:cNvSpPr/>
          <p:nvPr/>
        </p:nvSpPr>
        <p:spPr>
          <a:xfrm>
            <a:off x="7510260" y="5465122"/>
            <a:ext cx="4245355" cy="230815"/>
          </a:xfrm>
          <a:prstGeom prst="rect">
            <a:avLst/>
          </a:prstGeom>
          <a:noFill/>
          <a:ln/>
        </p:spPr>
        <p:txBody>
          <a:bodyPr wrap="square" lIns="0" tIns="0" rIns="0" bIns="0" rtlCol="0" anchor="ctr"/>
          <a:lstStyle/>
          <a:p>
            <a:pPr>
              <a:lnSpc>
                <a:spcPct val="130000"/>
              </a:lnSpc>
            </a:pPr>
            <a:r>
              <a:rPr lang="en-US" sz="1168" b="1" dirty="0">
                <a:solidFill>
                  <a:srgbClr val="DDFF00"/>
                </a:solidFill>
                <a:latin typeface="Liter" pitchFamily="34" charset="0"/>
                <a:ea typeface="Liter" pitchFamily="34" charset="-122"/>
                <a:cs typeface="Liter" pitchFamily="34" charset="-120"/>
              </a:rPr>
              <a:t>Cultural Revolution</a:t>
            </a:r>
            <a:endParaRPr lang="en-US" sz="1600" dirty="0"/>
          </a:p>
        </p:txBody>
      </p:sp>
      <p:sp>
        <p:nvSpPr>
          <p:cNvPr id="34" name="Shape 31"/>
          <p:cNvSpPr/>
          <p:nvPr/>
        </p:nvSpPr>
        <p:spPr>
          <a:xfrm>
            <a:off x="7510260" y="5860805"/>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35" name="Text 32"/>
          <p:cNvSpPr/>
          <p:nvPr/>
        </p:nvSpPr>
        <p:spPr>
          <a:xfrm>
            <a:off x="7642154" y="5794858"/>
            <a:ext cx="3008844"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Fashion:</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Mod style, mop-top haircuts, tailored suits</a:t>
            </a:r>
            <a:endParaRPr lang="en-US" sz="1600" dirty="0"/>
          </a:p>
        </p:txBody>
      </p:sp>
      <p:sp>
        <p:nvSpPr>
          <p:cNvPr id="36" name="Shape 33"/>
          <p:cNvSpPr/>
          <p:nvPr/>
        </p:nvSpPr>
        <p:spPr>
          <a:xfrm>
            <a:off x="7510260" y="6124594"/>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37" name="Text 34"/>
          <p:cNvSpPr/>
          <p:nvPr/>
        </p:nvSpPr>
        <p:spPr>
          <a:xfrm>
            <a:off x="7642154" y="6058647"/>
            <a:ext cx="3239659"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Youth Culture:</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Teenagers found their voice and identity</a:t>
            </a:r>
            <a:endParaRPr lang="en-US" sz="1600" dirty="0"/>
          </a:p>
        </p:txBody>
      </p:sp>
      <p:sp>
        <p:nvSpPr>
          <p:cNvPr id="38" name="Shape 35"/>
          <p:cNvSpPr/>
          <p:nvPr/>
        </p:nvSpPr>
        <p:spPr>
          <a:xfrm>
            <a:off x="7510260" y="6388383"/>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39" name="Text 36"/>
          <p:cNvSpPr/>
          <p:nvPr/>
        </p:nvSpPr>
        <p:spPr>
          <a:xfrm>
            <a:off x="7642154" y="6322436"/>
            <a:ext cx="3264389"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Counterculture:</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Music touched on peace, love, freedom</a:t>
            </a:r>
            <a:endParaRPr lang="en-US" sz="1600" dirty="0"/>
          </a:p>
        </p:txBody>
      </p:sp>
      <p:sp>
        <p:nvSpPr>
          <p:cNvPr id="40" name="Shape 37"/>
          <p:cNvSpPr/>
          <p:nvPr/>
        </p:nvSpPr>
        <p:spPr>
          <a:xfrm>
            <a:off x="7510260" y="6652172"/>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41" name="Text 38"/>
          <p:cNvSpPr/>
          <p:nvPr/>
        </p:nvSpPr>
        <p:spPr>
          <a:xfrm>
            <a:off x="7642154" y="6586225"/>
            <a:ext cx="4039270"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Global Impact:</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Proved non-American acts could dominate U.S. charts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5810250"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02</a:t>
            </a:r>
            <a:endParaRPr lang="en-US" sz="1600" dirty="0"/>
          </a:p>
        </p:txBody>
      </p:sp>
      <p:sp>
        <p:nvSpPr>
          <p:cNvPr id="4" name="Text 2"/>
          <p:cNvSpPr/>
          <p:nvPr/>
        </p:nvSpPr>
        <p:spPr>
          <a:xfrm>
            <a:off x="508000" y="476250"/>
            <a:ext cx="5897563"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The Rolling Stones &amp; The London Blues Scene</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Bad Boys of Rock</a:t>
            </a:r>
            <a:endParaRPr lang="en-US" sz="1600" dirty="0"/>
          </a:p>
        </p:txBody>
      </p:sp>
      <p:sp>
        <p:nvSpPr>
          <p:cNvPr id="7" name="Text 5"/>
          <p:cNvSpPr/>
          <p:nvPr/>
        </p:nvSpPr>
        <p:spPr>
          <a:xfrm>
            <a:off x="508000" y="1587500"/>
            <a:ext cx="4230688" cy="82550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While The Beatles represented wholesome charm,</a:t>
            </a:r>
            <a:pPr>
              <a:lnSpc>
                <a:spcPct val="140000"/>
              </a:lnSpc>
            </a:pPr>
            <a:r>
              <a:rPr lang="en-US" sz="1000" dirty="0">
                <a:solidFill>
                  <a:srgbClr val="000000"/>
                </a:solidFill>
                <a:latin typeface="Liter" pitchFamily="34" charset="0"/>
                <a:ea typeface="Liter" pitchFamily="34" charset="-122"/>
                <a:cs typeface="Liter" pitchFamily="34" charset="-120"/>
              </a:rPr>
              <a:t> The Rolling Stones brought danger and sexuality to rock. Their scruffy appearance and blues-influenced sound offered a stark contrast to the clean-cut image of early British Invasion bands.</a:t>
            </a:r>
            <a:endParaRPr lang="en-US" sz="1600" dirty="0"/>
          </a:p>
        </p:txBody>
      </p:sp>
      <p:sp>
        <p:nvSpPr>
          <p:cNvPr id="8" name="Text 6"/>
          <p:cNvSpPr/>
          <p:nvPr/>
        </p:nvSpPr>
        <p:spPr>
          <a:xfrm>
            <a:off x="508000" y="2508250"/>
            <a:ext cx="4230688" cy="82550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By embracing sex and youthful rebellion in their music, The Stones courted controversy but also elevated rock to new cultural heights. They expanded rock's scope by transitioning from singles artists into musicians capable of producing cohesive albums.</a:t>
            </a:r>
            <a:endParaRPr lang="en-US" sz="1600" dirty="0"/>
          </a:p>
        </p:txBody>
      </p:sp>
      <p:sp>
        <p:nvSpPr>
          <p:cNvPr id="9" name="Shape 7"/>
          <p:cNvSpPr/>
          <p:nvPr/>
        </p:nvSpPr>
        <p:spPr>
          <a:xfrm>
            <a:off x="325438" y="3659187"/>
            <a:ext cx="4532313" cy="2873375"/>
          </a:xfrm>
          <a:custGeom>
            <a:avLst/>
            <a:gdLst/>
            <a:ahLst/>
            <a:cxnLst/>
            <a:rect l="l" t="t" r="r" b="b"/>
            <a:pathLst>
              <a:path w="4532313" h="2873375">
                <a:moveTo>
                  <a:pt x="0" y="0"/>
                </a:moveTo>
                <a:lnTo>
                  <a:pt x="4532313" y="0"/>
                </a:lnTo>
                <a:lnTo>
                  <a:pt x="4532313" y="2873375"/>
                </a:lnTo>
                <a:lnTo>
                  <a:pt x="0" y="2873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Key British Invasion Bands</a:t>
            </a:r>
            <a:endParaRPr lang="en-US" sz="1600" dirty="0"/>
          </a:p>
        </p:txBody>
      </p:sp>
      <p:sp>
        <p:nvSpPr>
          <p:cNvPr id="11" name="Shape 9"/>
          <p:cNvSpPr/>
          <p:nvPr/>
        </p:nvSpPr>
        <p:spPr>
          <a:xfrm>
            <a:off x="508000" y="4175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2" name="Shape 10"/>
          <p:cNvSpPr/>
          <p:nvPr/>
        </p:nvSpPr>
        <p:spPr>
          <a:xfrm>
            <a:off x="619125" y="419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3" name="Shape 11"/>
          <p:cNvSpPr/>
          <p:nvPr/>
        </p:nvSpPr>
        <p:spPr>
          <a:xfrm>
            <a:off x="730250" y="4302125"/>
            <a:ext cx="158750" cy="158750"/>
          </a:xfrm>
          <a:custGeom>
            <a:avLst/>
            <a:gdLst/>
            <a:ahLst/>
            <a:cxnLst/>
            <a:rect l="l" t="t" r="r" b="b"/>
            <a:pathLst>
              <a:path w="158750" h="158750">
                <a:moveTo>
                  <a:pt x="144177" y="2170"/>
                </a:moveTo>
                <a:cubicBezTo>
                  <a:pt x="141263" y="-744"/>
                  <a:pt x="136550" y="-744"/>
                  <a:pt x="133666" y="2170"/>
                </a:cubicBezTo>
                <a:lnTo>
                  <a:pt x="118752" y="17053"/>
                </a:lnTo>
                <a:cubicBezTo>
                  <a:pt x="118008" y="17797"/>
                  <a:pt x="117419" y="18697"/>
                  <a:pt x="117047" y="19689"/>
                </a:cubicBezTo>
                <a:lnTo>
                  <a:pt x="112272" y="32401"/>
                </a:lnTo>
                <a:lnTo>
                  <a:pt x="88243" y="56462"/>
                </a:lnTo>
                <a:cubicBezTo>
                  <a:pt x="74259" y="47346"/>
                  <a:pt x="57454" y="47098"/>
                  <a:pt x="47625" y="56958"/>
                </a:cubicBezTo>
                <a:cubicBezTo>
                  <a:pt x="44214" y="60368"/>
                  <a:pt x="42044" y="64585"/>
                  <a:pt x="40990" y="69236"/>
                </a:cubicBezTo>
                <a:cubicBezTo>
                  <a:pt x="39843" y="74383"/>
                  <a:pt x="35068" y="78755"/>
                  <a:pt x="29797" y="79034"/>
                </a:cubicBezTo>
                <a:cubicBezTo>
                  <a:pt x="21859" y="79437"/>
                  <a:pt x="14511" y="82352"/>
                  <a:pt x="8930" y="87902"/>
                </a:cubicBezTo>
                <a:cubicBezTo>
                  <a:pt x="-4961" y="101792"/>
                  <a:pt x="-2356" y="126907"/>
                  <a:pt x="14728" y="143991"/>
                </a:cubicBezTo>
                <a:cubicBezTo>
                  <a:pt x="31812" y="161075"/>
                  <a:pt x="56927" y="163711"/>
                  <a:pt x="70817" y="149820"/>
                </a:cubicBezTo>
                <a:cubicBezTo>
                  <a:pt x="76367" y="144270"/>
                  <a:pt x="79313" y="136891"/>
                  <a:pt x="79685" y="128953"/>
                </a:cubicBezTo>
                <a:cubicBezTo>
                  <a:pt x="79964" y="123682"/>
                  <a:pt x="84336" y="118938"/>
                  <a:pt x="89483" y="117760"/>
                </a:cubicBezTo>
                <a:cubicBezTo>
                  <a:pt x="94134" y="116706"/>
                  <a:pt x="98351" y="114505"/>
                  <a:pt x="101761" y="111125"/>
                </a:cubicBezTo>
                <a:cubicBezTo>
                  <a:pt x="111621" y="101265"/>
                  <a:pt x="111373" y="84491"/>
                  <a:pt x="102257" y="70507"/>
                </a:cubicBezTo>
                <a:lnTo>
                  <a:pt x="126318" y="46447"/>
                </a:lnTo>
                <a:lnTo>
                  <a:pt x="139030" y="41672"/>
                </a:lnTo>
                <a:cubicBezTo>
                  <a:pt x="140022" y="41300"/>
                  <a:pt x="140922" y="40711"/>
                  <a:pt x="141666" y="39967"/>
                </a:cubicBezTo>
                <a:lnTo>
                  <a:pt x="156549" y="25084"/>
                </a:lnTo>
                <a:cubicBezTo>
                  <a:pt x="159463" y="22169"/>
                  <a:pt x="159463" y="17456"/>
                  <a:pt x="156549" y="14573"/>
                </a:cubicBezTo>
                <a:lnTo>
                  <a:pt x="144177" y="2170"/>
                </a:lnTo>
                <a:close/>
                <a:moveTo>
                  <a:pt x="64492" y="79375"/>
                </a:moveTo>
                <a:cubicBezTo>
                  <a:pt x="72706" y="79375"/>
                  <a:pt x="79375" y="86044"/>
                  <a:pt x="79375" y="94258"/>
                </a:cubicBezTo>
                <a:cubicBezTo>
                  <a:pt x="79375" y="102472"/>
                  <a:pt x="72706" y="109141"/>
                  <a:pt x="64492" y="109141"/>
                </a:cubicBezTo>
                <a:cubicBezTo>
                  <a:pt x="56278" y="109141"/>
                  <a:pt x="49609" y="102472"/>
                  <a:pt x="49609" y="94258"/>
                </a:cubicBezTo>
                <a:cubicBezTo>
                  <a:pt x="49609" y="86044"/>
                  <a:pt x="56278" y="79375"/>
                  <a:pt x="64492" y="79375"/>
                </a:cubicBezTo>
                <a:close/>
              </a:path>
            </a:pathLst>
          </a:custGeom>
          <a:solidFill>
            <a:srgbClr val="000000"/>
          </a:solidFill>
          <a:ln/>
        </p:spPr>
      </p:sp>
      <p:sp>
        <p:nvSpPr>
          <p:cNvPr id="14" name="Text 12"/>
          <p:cNvSpPr/>
          <p:nvPr/>
        </p:nvSpPr>
        <p:spPr>
          <a:xfrm>
            <a:off x="1095375" y="4175125"/>
            <a:ext cx="33655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Who</a:t>
            </a:r>
            <a:endParaRPr lang="en-US" sz="1600" dirty="0"/>
          </a:p>
        </p:txBody>
      </p:sp>
      <p:sp>
        <p:nvSpPr>
          <p:cNvPr id="15" name="Text 13"/>
          <p:cNvSpPr/>
          <p:nvPr/>
        </p:nvSpPr>
        <p:spPr>
          <a:xfrm>
            <a:off x="1095375" y="4397375"/>
            <a:ext cx="335756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Raw energy, power chords, destroyed instruments on stage</a:t>
            </a:r>
            <a:endParaRPr lang="en-US" sz="1600" dirty="0"/>
          </a:p>
        </p:txBody>
      </p:sp>
      <p:sp>
        <p:nvSpPr>
          <p:cNvPr id="16" name="Shape 14"/>
          <p:cNvSpPr/>
          <p:nvPr/>
        </p:nvSpPr>
        <p:spPr>
          <a:xfrm>
            <a:off x="508000" y="4683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699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8" name="Shape 16"/>
          <p:cNvSpPr/>
          <p:nvPr/>
        </p:nvSpPr>
        <p:spPr>
          <a:xfrm>
            <a:off x="740172" y="4810125"/>
            <a:ext cx="138906" cy="158750"/>
          </a:xfrm>
          <a:custGeom>
            <a:avLst/>
            <a:gdLst/>
            <a:ahLst/>
            <a:cxn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p:spPr>
      </p:sp>
      <p:sp>
        <p:nvSpPr>
          <p:cNvPr id="19" name="Text 17"/>
          <p:cNvSpPr/>
          <p:nvPr/>
        </p:nvSpPr>
        <p:spPr>
          <a:xfrm>
            <a:off x="1095375" y="4683125"/>
            <a:ext cx="2500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Kinks</a:t>
            </a:r>
            <a:endParaRPr lang="en-US" sz="1600" dirty="0"/>
          </a:p>
        </p:txBody>
      </p:sp>
      <p:sp>
        <p:nvSpPr>
          <p:cNvPr id="20" name="Text 18"/>
          <p:cNvSpPr/>
          <p:nvPr/>
        </p:nvSpPr>
        <p:spPr>
          <a:xfrm>
            <a:off x="1095375" y="4905375"/>
            <a:ext cx="2492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Innovative songwriting, distorted guitar riffs</a:t>
            </a:r>
            <a:endParaRPr lang="en-US" sz="1600" dirty="0"/>
          </a:p>
        </p:txBody>
      </p:sp>
      <p:sp>
        <p:nvSpPr>
          <p:cNvPr id="21" name="Shape 19"/>
          <p:cNvSpPr/>
          <p:nvPr/>
        </p:nvSpPr>
        <p:spPr>
          <a:xfrm>
            <a:off x="508000" y="5191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5207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3" name="Shape 21"/>
          <p:cNvSpPr/>
          <p:nvPr/>
        </p:nvSpPr>
        <p:spPr>
          <a:xfrm>
            <a:off x="740172" y="5318125"/>
            <a:ext cx="138906" cy="158750"/>
          </a:xfrm>
          <a:custGeom>
            <a:avLst/>
            <a:gdLst/>
            <a:ahLst/>
            <a:cxn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p:spPr>
      </p:sp>
      <p:sp>
        <p:nvSpPr>
          <p:cNvPr id="24" name="Text 22"/>
          <p:cNvSpPr/>
          <p:nvPr/>
        </p:nvSpPr>
        <p:spPr>
          <a:xfrm>
            <a:off x="1095375" y="5191125"/>
            <a:ext cx="2698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Animals</a:t>
            </a:r>
            <a:endParaRPr lang="en-US" sz="1600" dirty="0"/>
          </a:p>
        </p:txBody>
      </p:sp>
      <p:sp>
        <p:nvSpPr>
          <p:cNvPr id="25" name="Text 23"/>
          <p:cNvSpPr/>
          <p:nvPr/>
        </p:nvSpPr>
        <p:spPr>
          <a:xfrm>
            <a:off x="1095375" y="5413375"/>
            <a:ext cx="26908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"House of the Rising Sun" - gritty R&amp;B influence</a:t>
            </a:r>
            <a:endParaRPr lang="en-US" sz="1600" dirty="0"/>
          </a:p>
        </p:txBody>
      </p:sp>
      <p:sp>
        <p:nvSpPr>
          <p:cNvPr id="26" name="Shape 24"/>
          <p:cNvSpPr/>
          <p:nvPr/>
        </p:nvSpPr>
        <p:spPr>
          <a:xfrm>
            <a:off x="508000" y="5699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715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8" name="Shape 26"/>
          <p:cNvSpPr/>
          <p:nvPr/>
        </p:nvSpPr>
        <p:spPr>
          <a:xfrm>
            <a:off x="720328" y="5826125"/>
            <a:ext cx="178594" cy="158750"/>
          </a:xfrm>
          <a:custGeom>
            <a:avLst/>
            <a:gdLst/>
            <a:ahLst/>
            <a:cxn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000000"/>
          </a:solidFill>
          <a:ln/>
        </p:spPr>
      </p:sp>
      <p:sp>
        <p:nvSpPr>
          <p:cNvPr id="29" name="Text 27"/>
          <p:cNvSpPr/>
          <p:nvPr/>
        </p:nvSpPr>
        <p:spPr>
          <a:xfrm>
            <a:off x="1095375" y="5699125"/>
            <a:ext cx="291306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Yardbirds</a:t>
            </a:r>
            <a:endParaRPr lang="en-US" sz="1600" dirty="0"/>
          </a:p>
        </p:txBody>
      </p:sp>
      <p:sp>
        <p:nvSpPr>
          <p:cNvPr id="30" name="Text 28"/>
          <p:cNvSpPr/>
          <p:nvPr/>
        </p:nvSpPr>
        <p:spPr>
          <a:xfrm>
            <a:off x="1095375" y="5921375"/>
            <a:ext cx="290512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Guitar legends Eric Clapton, Jeff Beck, Jimmy Page</a:t>
            </a:r>
            <a:endParaRPr lang="en-US" sz="1600" dirty="0"/>
          </a:p>
        </p:txBody>
      </p:sp>
      <p:sp>
        <p:nvSpPr>
          <p:cNvPr id="31" name="Shape 29"/>
          <p:cNvSpPr/>
          <p:nvPr/>
        </p:nvSpPr>
        <p:spPr>
          <a:xfrm>
            <a:off x="5062513" y="1055688"/>
            <a:ext cx="6802438" cy="2746375"/>
          </a:xfrm>
          <a:custGeom>
            <a:avLst/>
            <a:gdLst/>
            <a:ahLst/>
            <a:cxnLst/>
            <a:rect l="l" t="t" r="r" b="b"/>
            <a:pathLst>
              <a:path w="6802438" h="2746375">
                <a:moveTo>
                  <a:pt x="0" y="0"/>
                </a:moveTo>
                <a:lnTo>
                  <a:pt x="6802438" y="0"/>
                </a:lnTo>
                <a:lnTo>
                  <a:pt x="6802438" y="2746375"/>
                </a:lnTo>
                <a:lnTo>
                  <a:pt x="0" y="2746375"/>
                </a:lnTo>
                <a:lnTo>
                  <a:pt x="0" y="0"/>
                </a:lnTo>
                <a:close/>
              </a:path>
            </a:pathLst>
          </a:custGeom>
          <a:solidFill>
            <a:srgbClr val="000000">
              <a:alpha val="0"/>
            </a:srgbClr>
          </a:solidFill>
          <a:ln w="25400">
            <a:solidFill>
              <a:srgbClr val="DDFF00"/>
            </a:solidFill>
            <a:prstDash val="solid"/>
          </a:ln>
        </p:spPr>
      </p:sp>
      <p:sp>
        <p:nvSpPr>
          <p:cNvPr id="32" name="Text 30"/>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The British Invasion Timeline</a:t>
            </a:r>
            <a:endParaRPr lang="en-US" sz="1600" dirty="0"/>
          </a:p>
        </p:txBody>
      </p:sp>
      <p:sp>
        <p:nvSpPr>
          <p:cNvPr id="33" name="Shape 31"/>
          <p:cNvSpPr/>
          <p:nvPr/>
        </p:nvSpPr>
        <p:spPr>
          <a:xfrm>
            <a:off x="5260950" y="163512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34" name="Text 32"/>
          <p:cNvSpPr/>
          <p:nvPr/>
        </p:nvSpPr>
        <p:spPr>
          <a:xfrm>
            <a:off x="5229200" y="163512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1963</a:t>
            </a:r>
            <a:endParaRPr lang="en-US" sz="1600" dirty="0"/>
          </a:p>
        </p:txBody>
      </p:sp>
      <p:sp>
        <p:nvSpPr>
          <p:cNvPr id="35" name="Shape 33"/>
          <p:cNvSpPr/>
          <p:nvPr/>
        </p:nvSpPr>
        <p:spPr>
          <a:xfrm>
            <a:off x="6165825" y="163512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36" name="Text 34"/>
          <p:cNvSpPr/>
          <p:nvPr/>
        </p:nvSpPr>
        <p:spPr>
          <a:xfrm>
            <a:off x="6308700" y="163512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The Beatles release "Please Please Me" and "From Me to You" - first UK #1 hits</a:t>
            </a:r>
            <a:endParaRPr lang="en-US" sz="1600" dirty="0"/>
          </a:p>
        </p:txBody>
      </p:sp>
      <p:sp>
        <p:nvSpPr>
          <p:cNvPr id="37" name="Shape 35"/>
          <p:cNvSpPr/>
          <p:nvPr/>
        </p:nvSpPr>
        <p:spPr>
          <a:xfrm>
            <a:off x="5260950" y="204787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38" name="Text 36"/>
          <p:cNvSpPr/>
          <p:nvPr/>
        </p:nvSpPr>
        <p:spPr>
          <a:xfrm>
            <a:off x="5229200" y="204787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1964</a:t>
            </a:r>
            <a:endParaRPr lang="en-US" sz="1600" dirty="0"/>
          </a:p>
        </p:txBody>
      </p:sp>
      <p:sp>
        <p:nvSpPr>
          <p:cNvPr id="39" name="Shape 37"/>
          <p:cNvSpPr/>
          <p:nvPr/>
        </p:nvSpPr>
        <p:spPr>
          <a:xfrm>
            <a:off x="6165825" y="204787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40" name="Text 38"/>
          <p:cNvSpPr/>
          <p:nvPr/>
        </p:nvSpPr>
        <p:spPr>
          <a:xfrm>
            <a:off x="6308700" y="204787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February: Beatles on Ed Sullivan. "I Want to Hold Your Hand" tops U.S. charts</a:t>
            </a:r>
            <a:endParaRPr lang="en-US" sz="1600" dirty="0"/>
          </a:p>
        </p:txBody>
      </p:sp>
      <p:sp>
        <p:nvSpPr>
          <p:cNvPr id="41" name="Shape 39"/>
          <p:cNvSpPr/>
          <p:nvPr/>
        </p:nvSpPr>
        <p:spPr>
          <a:xfrm>
            <a:off x="5260950" y="246062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42" name="Text 40"/>
          <p:cNvSpPr/>
          <p:nvPr/>
        </p:nvSpPr>
        <p:spPr>
          <a:xfrm>
            <a:off x="5229200" y="246062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1964</a:t>
            </a:r>
            <a:endParaRPr lang="en-US" sz="1600" dirty="0"/>
          </a:p>
        </p:txBody>
      </p:sp>
      <p:sp>
        <p:nvSpPr>
          <p:cNvPr id="43" name="Shape 41"/>
          <p:cNvSpPr/>
          <p:nvPr/>
        </p:nvSpPr>
        <p:spPr>
          <a:xfrm>
            <a:off x="6165825" y="246062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44" name="Text 42"/>
          <p:cNvSpPr/>
          <p:nvPr/>
        </p:nvSpPr>
        <p:spPr>
          <a:xfrm>
            <a:off x="6308700" y="246062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Rolling Stones release "(I Can't Get No) Satisfaction" - becomes anthem of rebellion</a:t>
            </a:r>
            <a:endParaRPr lang="en-US" sz="1600" dirty="0"/>
          </a:p>
        </p:txBody>
      </p:sp>
      <p:sp>
        <p:nvSpPr>
          <p:cNvPr id="45" name="Shape 43"/>
          <p:cNvSpPr/>
          <p:nvPr/>
        </p:nvSpPr>
        <p:spPr>
          <a:xfrm>
            <a:off x="5260950" y="287337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46" name="Text 44"/>
          <p:cNvSpPr/>
          <p:nvPr/>
        </p:nvSpPr>
        <p:spPr>
          <a:xfrm>
            <a:off x="5229200" y="287337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1965</a:t>
            </a:r>
            <a:endParaRPr lang="en-US" sz="1600" dirty="0"/>
          </a:p>
        </p:txBody>
      </p:sp>
      <p:sp>
        <p:nvSpPr>
          <p:cNvPr id="47" name="Shape 45"/>
          <p:cNvSpPr/>
          <p:nvPr/>
        </p:nvSpPr>
        <p:spPr>
          <a:xfrm>
            <a:off x="6165825" y="287337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48" name="Text 46"/>
          <p:cNvSpPr/>
          <p:nvPr/>
        </p:nvSpPr>
        <p:spPr>
          <a:xfrm>
            <a:off x="6308700" y="287337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June 18: 14 British records in U.S. Top 40 - the invasion's peak</a:t>
            </a:r>
            <a:endParaRPr lang="en-US" sz="1600" dirty="0"/>
          </a:p>
        </p:txBody>
      </p:sp>
      <p:sp>
        <p:nvSpPr>
          <p:cNvPr id="49" name="Shape 47"/>
          <p:cNvSpPr/>
          <p:nvPr/>
        </p:nvSpPr>
        <p:spPr>
          <a:xfrm>
            <a:off x="5260950" y="328612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50" name="Text 48"/>
          <p:cNvSpPr/>
          <p:nvPr/>
        </p:nvSpPr>
        <p:spPr>
          <a:xfrm>
            <a:off x="5229200" y="328612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1966</a:t>
            </a:r>
            <a:endParaRPr lang="en-US" sz="1600" dirty="0"/>
          </a:p>
        </p:txBody>
      </p:sp>
      <p:sp>
        <p:nvSpPr>
          <p:cNvPr id="51" name="Shape 49"/>
          <p:cNvSpPr/>
          <p:nvPr/>
        </p:nvSpPr>
        <p:spPr>
          <a:xfrm>
            <a:off x="6165825" y="328612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52" name="Text 50"/>
          <p:cNvSpPr/>
          <p:nvPr/>
        </p:nvSpPr>
        <p:spPr>
          <a:xfrm>
            <a:off x="6308700" y="328612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Time magazine cover: "London: The Swinging City" - America surrenders</a:t>
            </a:r>
            <a:endParaRPr lang="en-US" sz="1600" dirty="0"/>
          </a:p>
        </p:txBody>
      </p:sp>
      <p:sp>
        <p:nvSpPr>
          <p:cNvPr id="53" name="Shape 51"/>
          <p:cNvSpPr/>
          <p:nvPr/>
        </p:nvSpPr>
        <p:spPr>
          <a:xfrm>
            <a:off x="5054575" y="3937000"/>
            <a:ext cx="6818313" cy="1222375"/>
          </a:xfrm>
          <a:custGeom>
            <a:avLst/>
            <a:gdLst/>
            <a:ahLst/>
            <a:cxnLst/>
            <a:rect l="l" t="t" r="r" b="b"/>
            <a:pathLst>
              <a:path w="6818313" h="1222375">
                <a:moveTo>
                  <a:pt x="0" y="0"/>
                </a:moveTo>
                <a:lnTo>
                  <a:pt x="6818313" y="0"/>
                </a:lnTo>
                <a:lnTo>
                  <a:pt x="6818313" y="1222375"/>
                </a:lnTo>
                <a:lnTo>
                  <a:pt x="0" y="1222375"/>
                </a:lnTo>
                <a:lnTo>
                  <a:pt x="0" y="0"/>
                </a:lnTo>
                <a:close/>
              </a:path>
            </a:pathLst>
          </a:custGeom>
          <a:solidFill>
            <a:srgbClr val="DDFF00"/>
          </a:solidFill>
          <a:ln/>
        </p:spPr>
      </p:sp>
      <p:sp>
        <p:nvSpPr>
          <p:cNvPr id="54" name="Text 52"/>
          <p:cNvSpPr/>
          <p:nvPr/>
        </p:nvSpPr>
        <p:spPr>
          <a:xfrm>
            <a:off x="5213325" y="409575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The Invasion's Legacy</a:t>
            </a:r>
            <a:endParaRPr lang="en-US" sz="1600" dirty="0"/>
          </a:p>
        </p:txBody>
      </p:sp>
      <p:sp>
        <p:nvSpPr>
          <p:cNvPr id="55" name="Text 53"/>
          <p:cNvSpPr/>
          <p:nvPr/>
        </p:nvSpPr>
        <p:spPr>
          <a:xfrm>
            <a:off x="5213325" y="4381500"/>
            <a:ext cx="65643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The British Invasion proved that British musicians could not only match American artists but surpass them.</a:t>
            </a:r>
            <a:pPr>
              <a:lnSpc>
                <a:spcPct val="140000"/>
              </a:lnSpc>
            </a:pPr>
            <a:r>
              <a:rPr lang="en-US" sz="1000" dirty="0">
                <a:solidFill>
                  <a:srgbClr val="000000"/>
                </a:solidFill>
                <a:latin typeface="Liter" pitchFamily="34" charset="0"/>
                <a:ea typeface="Liter" pitchFamily="34" charset="-122"/>
                <a:cs typeface="Liter" pitchFamily="34" charset="-120"/>
              </a:rPr>
              <a:t> By 1967, English and American bands were equal partners in one international rock culture. The invasion opened doors for foreign acts and established rock as a global phenomenon.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https://kimi-web-img.moonshot.cn/img/images.stockcake.com/7d12f2e294159a819853922acdae7d3b4cacd829.jpg">    </p:cNvPr>
          <p:cNvPicPr>
            <a:picLocks noChangeAspect="1"/>
          </p:cNvPicPr>
          <p:nvPr/>
        </p:nvPicPr>
        <p:blipFill>
          <a:blip r:embed="rId1">
            <a:alphaModFix amt="30000"/>
          </a:blip>
          <a:srcRect l="0" r="0"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18"/>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9491" y="1638300"/>
            <a:ext cx="1181100"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03</a:t>
            </a:r>
            <a:endParaRPr lang="en-US" sz="1600" dirty="0"/>
          </a:p>
        </p:txBody>
      </p:sp>
      <p:sp>
        <p:nvSpPr>
          <p:cNvPr id="7" name="Shape 4"/>
          <p:cNvSpPr/>
          <p:nvPr/>
        </p:nvSpPr>
        <p:spPr>
          <a:xfrm>
            <a:off x="1828800" y="1752600"/>
            <a:ext cx="3314700" cy="38100"/>
          </a:xfrm>
          <a:custGeom>
            <a:avLst/>
            <a:gdLst/>
            <a:ahLst/>
            <a:cxnLst/>
            <a:rect l="l" t="t" r="r" b="b"/>
            <a:pathLst>
              <a:path w="3314700" h="38100">
                <a:moveTo>
                  <a:pt x="0" y="0"/>
                </a:moveTo>
                <a:lnTo>
                  <a:pt x="3314700" y="0"/>
                </a:lnTo>
                <a:lnTo>
                  <a:pt x="3314700" y="38100"/>
                </a:lnTo>
                <a:lnTo>
                  <a:pt x="0" y="38100"/>
                </a:lnTo>
                <a:lnTo>
                  <a:pt x="0" y="0"/>
                </a:lnTo>
                <a:close/>
              </a:path>
            </a:pathLst>
          </a:custGeom>
          <a:solidFill>
            <a:srgbClr val="DDFF00"/>
          </a:solidFill>
          <a:ln/>
        </p:spPr>
      </p:sp>
      <p:sp>
        <p:nvSpPr>
          <p:cNvPr id="8" name="Text 5"/>
          <p:cNvSpPr/>
          <p:nvPr/>
        </p:nvSpPr>
        <p:spPr>
          <a:xfrm>
            <a:off x="1828800" y="1943100"/>
            <a:ext cx="340042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THREE</a:t>
            </a:r>
            <a:endParaRPr lang="en-US" sz="1600" dirty="0"/>
          </a:p>
        </p:txBody>
      </p:sp>
      <p:sp>
        <p:nvSpPr>
          <p:cNvPr id="9" name="Text 6"/>
          <p:cNvSpPr/>
          <p:nvPr/>
        </p:nvSpPr>
        <p:spPr>
          <a:xfrm>
            <a:off x="381000" y="2895600"/>
            <a:ext cx="510540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CLASSIC ROCK</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&amp; HARD ROCK</a:t>
            </a:r>
            <a:endParaRPr lang="en-US" sz="1600" dirty="0"/>
          </a:p>
        </p:txBody>
      </p:sp>
      <p:sp>
        <p:nvSpPr>
          <p:cNvPr id="10" name="Text 7"/>
          <p:cNvSpPr/>
          <p:nvPr/>
        </p:nvSpPr>
        <p:spPr>
          <a:xfrm>
            <a:off x="381000" y="4838700"/>
            <a:ext cx="487680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Late 1960s-1970s: The Golden Age of Rock</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7302" y="376397"/>
            <a:ext cx="65460" cy="392762"/>
          </a:xfrm>
          <a:custGeom>
            <a:avLst/>
            <a:gdLst/>
            <a:ahLst/>
            <a:cxnLst/>
            <a:rect l="l" t="t" r="r" b="b"/>
            <a:pathLst>
              <a:path w="65460" h="392762">
                <a:moveTo>
                  <a:pt x="0" y="0"/>
                </a:moveTo>
                <a:lnTo>
                  <a:pt x="65460" y="0"/>
                </a:lnTo>
                <a:lnTo>
                  <a:pt x="65460" y="392762"/>
                </a:lnTo>
                <a:lnTo>
                  <a:pt x="0" y="392762"/>
                </a:lnTo>
                <a:lnTo>
                  <a:pt x="0" y="0"/>
                </a:lnTo>
                <a:close/>
              </a:path>
            </a:pathLst>
          </a:custGeom>
          <a:solidFill>
            <a:srgbClr val="DDFF00"/>
          </a:solidFill>
          <a:ln/>
        </p:spPr>
      </p:sp>
      <p:sp>
        <p:nvSpPr>
          <p:cNvPr id="3" name="Text 1"/>
          <p:cNvSpPr/>
          <p:nvPr/>
        </p:nvSpPr>
        <p:spPr>
          <a:xfrm>
            <a:off x="523683" y="327302"/>
            <a:ext cx="3199377" cy="163651"/>
          </a:xfrm>
          <a:prstGeom prst="rect">
            <a:avLst/>
          </a:prstGeom>
          <a:noFill/>
          <a:ln/>
        </p:spPr>
        <p:txBody>
          <a:bodyPr wrap="square" lIns="0" tIns="0" rIns="0" bIns="0" rtlCol="0" anchor="ctr"/>
          <a:lstStyle/>
          <a:p>
            <a:pPr>
              <a:lnSpc>
                <a:spcPct val="120000"/>
              </a:lnSpc>
            </a:pPr>
            <a:r>
              <a:rPr lang="en-US" sz="902" b="1" spc="90" kern="0" dirty="0">
                <a:solidFill>
                  <a:srgbClr val="DDFF00"/>
                </a:solidFill>
                <a:latin typeface="Liter" pitchFamily="34" charset="0"/>
                <a:ea typeface="Liter" pitchFamily="34" charset="-122"/>
                <a:cs typeface="Liter" pitchFamily="34" charset="-120"/>
              </a:rPr>
              <a:t>CHAPTER 03</a:t>
            </a:r>
            <a:endParaRPr lang="en-US" sz="1600" dirty="0"/>
          </a:p>
        </p:txBody>
      </p:sp>
      <p:sp>
        <p:nvSpPr>
          <p:cNvPr id="4" name="Text 2"/>
          <p:cNvSpPr/>
          <p:nvPr/>
        </p:nvSpPr>
        <p:spPr>
          <a:xfrm>
            <a:off x="523683" y="490953"/>
            <a:ext cx="3289385" cy="327302"/>
          </a:xfrm>
          <a:prstGeom prst="rect">
            <a:avLst/>
          </a:prstGeom>
          <a:noFill/>
          <a:ln/>
        </p:spPr>
        <p:txBody>
          <a:bodyPr wrap="square" lIns="0" tIns="0" rIns="0" bIns="0" rtlCol="0" anchor="ctr"/>
          <a:lstStyle/>
          <a:p>
            <a:pPr>
              <a:lnSpc>
                <a:spcPct val="90000"/>
              </a:lnSpc>
            </a:pPr>
            <a:r>
              <a:rPr lang="en-US" sz="2319" b="1" dirty="0">
                <a:solidFill>
                  <a:srgbClr val="FFFFFF"/>
                </a:solidFill>
                <a:latin typeface="Liter" pitchFamily="34" charset="0"/>
                <a:ea typeface="Liter" pitchFamily="34" charset="-122"/>
                <a:cs typeface="Liter" pitchFamily="34" charset="-120"/>
              </a:rPr>
              <a:t>The Rise of Classic Rock</a:t>
            </a:r>
            <a:endParaRPr lang="en-US" sz="1600" dirty="0"/>
          </a:p>
        </p:txBody>
      </p:sp>
      <p:sp>
        <p:nvSpPr>
          <p:cNvPr id="5" name="Shape 3"/>
          <p:cNvSpPr/>
          <p:nvPr/>
        </p:nvSpPr>
        <p:spPr>
          <a:xfrm>
            <a:off x="327302" y="1080097"/>
            <a:ext cx="6799699" cy="2127463"/>
          </a:xfrm>
          <a:custGeom>
            <a:avLst/>
            <a:gdLst/>
            <a:ahLst/>
            <a:cxnLst/>
            <a:rect l="l" t="t" r="r" b="b"/>
            <a:pathLst>
              <a:path w="6799699" h="2127463">
                <a:moveTo>
                  <a:pt x="0" y="0"/>
                </a:moveTo>
                <a:lnTo>
                  <a:pt x="6799699" y="0"/>
                </a:lnTo>
                <a:lnTo>
                  <a:pt x="6799699" y="2127463"/>
                </a:lnTo>
                <a:lnTo>
                  <a:pt x="0" y="2127463"/>
                </a:lnTo>
                <a:lnTo>
                  <a:pt x="0" y="0"/>
                </a:lnTo>
                <a:close/>
              </a:path>
            </a:pathLst>
          </a:custGeom>
          <a:solidFill>
            <a:srgbClr val="DDFF00"/>
          </a:solidFill>
          <a:ln/>
        </p:spPr>
      </p:sp>
      <p:sp>
        <p:nvSpPr>
          <p:cNvPr id="6" name="Text 4"/>
          <p:cNvSpPr/>
          <p:nvPr/>
        </p:nvSpPr>
        <p:spPr>
          <a:xfrm>
            <a:off x="523683" y="1276478"/>
            <a:ext cx="6505128" cy="261842"/>
          </a:xfrm>
          <a:prstGeom prst="rect">
            <a:avLst/>
          </a:prstGeom>
          <a:noFill/>
          <a:ln/>
        </p:spPr>
        <p:txBody>
          <a:bodyPr wrap="square" lIns="0" tIns="0" rIns="0" bIns="0" rtlCol="0" anchor="ctr"/>
          <a:lstStyle/>
          <a:p>
            <a:pPr>
              <a:lnSpc>
                <a:spcPct val="110000"/>
              </a:lnSpc>
            </a:pPr>
            <a:r>
              <a:rPr lang="en-US" sz="1546" b="1" dirty="0">
                <a:solidFill>
                  <a:srgbClr val="000000"/>
                </a:solidFill>
                <a:latin typeface="Liter" pitchFamily="34" charset="0"/>
                <a:ea typeface="Liter" pitchFamily="34" charset="-122"/>
                <a:cs typeface="Liter" pitchFamily="34" charset="-120"/>
              </a:rPr>
              <a:t>From Singles to Albums</a:t>
            </a:r>
            <a:endParaRPr lang="en-US" sz="1600" dirty="0"/>
          </a:p>
        </p:txBody>
      </p:sp>
      <p:sp>
        <p:nvSpPr>
          <p:cNvPr id="7" name="Text 5"/>
          <p:cNvSpPr/>
          <p:nvPr/>
        </p:nvSpPr>
        <p:spPr>
          <a:xfrm>
            <a:off x="523683" y="1636510"/>
            <a:ext cx="6472397" cy="638239"/>
          </a:xfrm>
          <a:prstGeom prst="rect">
            <a:avLst/>
          </a:prstGeom>
          <a:noFill/>
          <a:ln/>
        </p:spPr>
        <p:txBody>
          <a:bodyPr wrap="square" lIns="0" tIns="0" rIns="0" bIns="0" rtlCol="0" anchor="ctr"/>
          <a:lstStyle/>
          <a:p>
            <a:pPr>
              <a:lnSpc>
                <a:spcPct val="140000"/>
              </a:lnSpc>
            </a:pPr>
            <a:r>
              <a:rPr lang="en-US" sz="1031" b="1" dirty="0">
                <a:solidFill>
                  <a:srgbClr val="000000"/>
                </a:solidFill>
                <a:latin typeface="Liter" pitchFamily="34" charset="0"/>
                <a:ea typeface="Liter" pitchFamily="34" charset="-122"/>
                <a:cs typeface="Liter" pitchFamily="34" charset="-120"/>
              </a:rPr>
              <a:t>Classic rock emerged in the late 1960s through the 1970s</a:t>
            </a:r>
            <a:pPr>
              <a:lnSpc>
                <a:spcPct val="140000"/>
              </a:lnSpc>
            </a:pPr>
            <a:r>
              <a:rPr lang="en-US" sz="1031" dirty="0">
                <a:solidFill>
                  <a:srgbClr val="000000"/>
                </a:solidFill>
                <a:latin typeface="Liter" pitchFamily="34" charset="0"/>
                <a:ea typeface="Liter" pitchFamily="34" charset="-122"/>
                <a:cs typeface="Liter" pitchFamily="34" charset="-120"/>
              </a:rPr>
              <a:t> as rock musicians transitioned from singles-oriented artists to album-focused creators. This era saw the birth of Album-Oriented Rock (AOR), where radio stations played not just hit singles but deeper album tracks, allowing for extensive exploration of an artist's catalog.</a:t>
            </a:r>
            <a:endParaRPr lang="en-US" sz="1600" dirty="0"/>
          </a:p>
        </p:txBody>
      </p:sp>
      <p:sp>
        <p:nvSpPr>
          <p:cNvPr id="8" name="Text 6"/>
          <p:cNvSpPr/>
          <p:nvPr/>
        </p:nvSpPr>
        <p:spPr>
          <a:xfrm>
            <a:off x="523683" y="2372940"/>
            <a:ext cx="6472397" cy="638239"/>
          </a:xfrm>
          <a:prstGeom prst="rect">
            <a:avLst/>
          </a:prstGeom>
          <a:noFill/>
          <a:ln/>
        </p:spPr>
        <p:txBody>
          <a:bodyPr wrap="square" lIns="0" tIns="0" rIns="0" bIns="0" rtlCol="0" anchor="ctr"/>
          <a:lstStyle/>
          <a:p>
            <a:pPr>
              <a:lnSpc>
                <a:spcPct val="140000"/>
              </a:lnSpc>
            </a:pPr>
            <a:r>
              <a:rPr lang="en-US" sz="1031" dirty="0">
                <a:solidFill>
                  <a:srgbClr val="000000">
                    <a:alpha val="80000"/>
                  </a:srgbClr>
                </a:solidFill>
                <a:latin typeface="Liter" pitchFamily="34" charset="0"/>
                <a:ea typeface="Liter" pitchFamily="34" charset="-122"/>
                <a:cs typeface="Liter" pitchFamily="34" charset="-120"/>
              </a:rPr>
              <a:t>Classic rock is characterized by its melodic, radio-friendly sound with well-structured songs, catchy hooks, and strong vocal harmonies. It features prominent guitar work and classic rock instrumentation including electric guitars, bass, drums, and keyboards.</a:t>
            </a:r>
            <a:endParaRPr lang="en-US" sz="1600" dirty="0"/>
          </a:p>
        </p:txBody>
      </p:sp>
      <p:sp>
        <p:nvSpPr>
          <p:cNvPr id="9" name="Shape 7"/>
          <p:cNvSpPr/>
          <p:nvPr/>
        </p:nvSpPr>
        <p:spPr>
          <a:xfrm>
            <a:off x="335485" y="3346663"/>
            <a:ext cx="6783334" cy="2405670"/>
          </a:xfrm>
          <a:custGeom>
            <a:avLst/>
            <a:gdLst/>
            <a:ahLst/>
            <a:cxnLst/>
            <a:rect l="l" t="t" r="r" b="b"/>
            <a:pathLst>
              <a:path w="6783334" h="2405670">
                <a:moveTo>
                  <a:pt x="0" y="0"/>
                </a:moveTo>
                <a:lnTo>
                  <a:pt x="6783334" y="0"/>
                </a:lnTo>
                <a:lnTo>
                  <a:pt x="6783334" y="2405670"/>
                </a:lnTo>
                <a:lnTo>
                  <a:pt x="0" y="240567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07318" y="3518497"/>
            <a:ext cx="6521493" cy="229111"/>
          </a:xfrm>
          <a:prstGeom prst="rect">
            <a:avLst/>
          </a:prstGeom>
          <a:noFill/>
          <a:ln/>
        </p:spPr>
        <p:txBody>
          <a:bodyPr wrap="square" lIns="0" tIns="0" rIns="0" bIns="0" rtlCol="0" anchor="ctr"/>
          <a:lstStyle/>
          <a:p>
            <a:pPr>
              <a:lnSpc>
                <a:spcPct val="120000"/>
              </a:lnSpc>
            </a:pPr>
            <a:r>
              <a:rPr lang="en-US" sz="1289" b="1" dirty="0">
                <a:solidFill>
                  <a:srgbClr val="DDFF00"/>
                </a:solidFill>
                <a:latin typeface="Liter" pitchFamily="34" charset="0"/>
                <a:ea typeface="Liter" pitchFamily="34" charset="-122"/>
                <a:cs typeface="Liter" pitchFamily="34" charset="-120"/>
              </a:rPr>
              <a:t>Iconic Classic Rock Albums</a:t>
            </a:r>
            <a:endParaRPr lang="en-US" sz="1600" dirty="0"/>
          </a:p>
        </p:txBody>
      </p:sp>
      <p:sp>
        <p:nvSpPr>
          <p:cNvPr id="11" name="Shape 9"/>
          <p:cNvSpPr/>
          <p:nvPr/>
        </p:nvSpPr>
        <p:spPr>
          <a:xfrm>
            <a:off x="511409" y="3882620"/>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12" name="Text 10"/>
          <p:cNvSpPr/>
          <p:nvPr/>
        </p:nvSpPr>
        <p:spPr>
          <a:xfrm>
            <a:off x="613691" y="3984902"/>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Led Zeppelin IV</a:t>
            </a:r>
            <a:endParaRPr lang="en-US" sz="1600" dirty="0"/>
          </a:p>
        </p:txBody>
      </p:sp>
      <p:sp>
        <p:nvSpPr>
          <p:cNvPr id="13" name="Text 11"/>
          <p:cNvSpPr/>
          <p:nvPr/>
        </p:nvSpPr>
        <p:spPr>
          <a:xfrm>
            <a:off x="613691" y="424674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Led Zeppelin (1971)</a:t>
            </a:r>
            <a:endParaRPr lang="en-US" sz="1600" dirty="0"/>
          </a:p>
        </p:txBody>
      </p:sp>
      <p:sp>
        <p:nvSpPr>
          <p:cNvPr id="14" name="Text 12"/>
          <p:cNvSpPr/>
          <p:nvPr/>
        </p:nvSpPr>
        <p:spPr>
          <a:xfrm>
            <a:off x="613691" y="444312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Features "Stairway to Heaven"</a:t>
            </a:r>
            <a:endParaRPr lang="en-US" sz="1600" dirty="0"/>
          </a:p>
        </p:txBody>
      </p:sp>
      <p:sp>
        <p:nvSpPr>
          <p:cNvPr id="15" name="Shape 13"/>
          <p:cNvSpPr/>
          <p:nvPr/>
        </p:nvSpPr>
        <p:spPr>
          <a:xfrm>
            <a:off x="3782192" y="3882620"/>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16" name="Text 14"/>
          <p:cNvSpPr/>
          <p:nvPr/>
        </p:nvSpPr>
        <p:spPr>
          <a:xfrm>
            <a:off x="3884474" y="3984902"/>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The Dark Side of the Moon</a:t>
            </a:r>
            <a:endParaRPr lang="en-US" sz="1600" dirty="0"/>
          </a:p>
        </p:txBody>
      </p:sp>
      <p:sp>
        <p:nvSpPr>
          <p:cNvPr id="17" name="Text 15"/>
          <p:cNvSpPr/>
          <p:nvPr/>
        </p:nvSpPr>
        <p:spPr>
          <a:xfrm>
            <a:off x="3884474" y="424674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Pink Floyd (1973)</a:t>
            </a:r>
            <a:endParaRPr lang="en-US" sz="1600" dirty="0"/>
          </a:p>
        </p:txBody>
      </p:sp>
      <p:sp>
        <p:nvSpPr>
          <p:cNvPr id="18" name="Text 16"/>
          <p:cNvSpPr/>
          <p:nvPr/>
        </p:nvSpPr>
        <p:spPr>
          <a:xfrm>
            <a:off x="3884474" y="444312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Concept album masterpiece</a:t>
            </a:r>
            <a:endParaRPr lang="en-US" sz="1600" dirty="0"/>
          </a:p>
        </p:txBody>
      </p:sp>
      <p:sp>
        <p:nvSpPr>
          <p:cNvPr id="19" name="Shape 17"/>
          <p:cNvSpPr/>
          <p:nvPr/>
        </p:nvSpPr>
        <p:spPr>
          <a:xfrm>
            <a:off x="511409" y="4782701"/>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20" name="Text 18"/>
          <p:cNvSpPr/>
          <p:nvPr/>
        </p:nvSpPr>
        <p:spPr>
          <a:xfrm>
            <a:off x="613691" y="4884983"/>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Hotel California</a:t>
            </a:r>
            <a:endParaRPr lang="en-US" sz="1600" dirty="0"/>
          </a:p>
        </p:txBody>
      </p:sp>
      <p:sp>
        <p:nvSpPr>
          <p:cNvPr id="21" name="Text 19"/>
          <p:cNvSpPr/>
          <p:nvPr/>
        </p:nvSpPr>
        <p:spPr>
          <a:xfrm>
            <a:off x="613691" y="514682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The Eagles (1976)</a:t>
            </a:r>
            <a:endParaRPr lang="en-US" sz="1600" dirty="0"/>
          </a:p>
        </p:txBody>
      </p:sp>
      <p:sp>
        <p:nvSpPr>
          <p:cNvPr id="22" name="Text 20"/>
          <p:cNvSpPr/>
          <p:nvPr/>
        </p:nvSpPr>
        <p:spPr>
          <a:xfrm>
            <a:off x="613691" y="534320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Title track guitar solo legendary</a:t>
            </a:r>
            <a:endParaRPr lang="en-US" sz="1600" dirty="0"/>
          </a:p>
        </p:txBody>
      </p:sp>
      <p:sp>
        <p:nvSpPr>
          <p:cNvPr id="23" name="Shape 21"/>
          <p:cNvSpPr/>
          <p:nvPr/>
        </p:nvSpPr>
        <p:spPr>
          <a:xfrm>
            <a:off x="3782192" y="4782701"/>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24" name="Text 22"/>
          <p:cNvSpPr/>
          <p:nvPr/>
        </p:nvSpPr>
        <p:spPr>
          <a:xfrm>
            <a:off x="3884474" y="4884983"/>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Who's Next</a:t>
            </a:r>
            <a:endParaRPr lang="en-US" sz="1600" dirty="0"/>
          </a:p>
        </p:txBody>
      </p:sp>
      <p:sp>
        <p:nvSpPr>
          <p:cNvPr id="25" name="Text 23"/>
          <p:cNvSpPr/>
          <p:nvPr/>
        </p:nvSpPr>
        <p:spPr>
          <a:xfrm>
            <a:off x="3884474" y="514682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The Who (1971)</a:t>
            </a:r>
            <a:endParaRPr lang="en-US" sz="1600" dirty="0"/>
          </a:p>
        </p:txBody>
      </p:sp>
      <p:sp>
        <p:nvSpPr>
          <p:cNvPr id="26" name="Text 24"/>
          <p:cNvSpPr/>
          <p:nvPr/>
        </p:nvSpPr>
        <p:spPr>
          <a:xfrm>
            <a:off x="3884474" y="534320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"Baba O'Riley" &amp; "Won't Get Fooled Again"</a:t>
            </a:r>
            <a:endParaRPr lang="en-US" sz="1600" dirty="0"/>
          </a:p>
        </p:txBody>
      </p:sp>
      <p:sp>
        <p:nvSpPr>
          <p:cNvPr id="27" name="Shape 25"/>
          <p:cNvSpPr/>
          <p:nvPr/>
        </p:nvSpPr>
        <p:spPr>
          <a:xfrm>
            <a:off x="879049"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28" name="Shape 26"/>
          <p:cNvSpPr/>
          <p:nvPr/>
        </p:nvSpPr>
        <p:spPr>
          <a:xfrm>
            <a:off x="1030426" y="6055087"/>
            <a:ext cx="220929" cy="196381"/>
          </a:xfrm>
          <a:custGeom>
            <a:avLst/>
            <a:gdLst/>
            <a:ahLst/>
            <a:cxnLst/>
            <a:rect l="l" t="t" r="r" b="b"/>
            <a:pathLst>
              <a:path w="220929" h="196381">
                <a:moveTo>
                  <a:pt x="120053" y="33446"/>
                </a:moveTo>
                <a:cubicBezTo>
                  <a:pt x="123582" y="30646"/>
                  <a:pt x="125807" y="26312"/>
                  <a:pt x="125807" y="21479"/>
                </a:cubicBezTo>
                <a:cubicBezTo>
                  <a:pt x="125807" y="13003"/>
                  <a:pt x="118941" y="6137"/>
                  <a:pt x="110464" y="6137"/>
                </a:cubicBezTo>
                <a:cubicBezTo>
                  <a:pt x="101988" y="6137"/>
                  <a:pt x="95122" y="13003"/>
                  <a:pt x="95122" y="21479"/>
                </a:cubicBezTo>
                <a:cubicBezTo>
                  <a:pt x="95122" y="26312"/>
                  <a:pt x="97385" y="30646"/>
                  <a:pt x="100876" y="33446"/>
                </a:cubicBezTo>
                <a:lnTo>
                  <a:pt x="74640" y="74717"/>
                </a:lnTo>
                <a:cubicBezTo>
                  <a:pt x="70805" y="80739"/>
                  <a:pt x="62635" y="82235"/>
                  <a:pt x="56920" y="77939"/>
                </a:cubicBezTo>
                <a:lnTo>
                  <a:pt x="34098" y="60871"/>
                </a:lnTo>
                <a:cubicBezTo>
                  <a:pt x="35824" y="58416"/>
                  <a:pt x="36821" y="55386"/>
                  <a:pt x="36821" y="52164"/>
                </a:cubicBezTo>
                <a:cubicBezTo>
                  <a:pt x="36821" y="43687"/>
                  <a:pt x="29956" y="36821"/>
                  <a:pt x="21479" y="36821"/>
                </a:cubicBezTo>
                <a:cubicBezTo>
                  <a:pt x="13003" y="36821"/>
                  <a:pt x="6137" y="43687"/>
                  <a:pt x="6137" y="52164"/>
                </a:cubicBezTo>
                <a:cubicBezTo>
                  <a:pt x="6137" y="60525"/>
                  <a:pt x="12849" y="67353"/>
                  <a:pt x="21172" y="67506"/>
                </a:cubicBezTo>
                <a:lnTo>
                  <a:pt x="33676" y="150930"/>
                </a:lnTo>
                <a:cubicBezTo>
                  <a:pt x="35479" y="162935"/>
                  <a:pt x="45797" y="171834"/>
                  <a:pt x="57955" y="171834"/>
                </a:cubicBezTo>
                <a:lnTo>
                  <a:pt x="162973" y="171834"/>
                </a:lnTo>
                <a:cubicBezTo>
                  <a:pt x="175132" y="171834"/>
                  <a:pt x="185450" y="162935"/>
                  <a:pt x="187253" y="150930"/>
                </a:cubicBezTo>
                <a:lnTo>
                  <a:pt x="199757" y="67506"/>
                </a:lnTo>
                <a:cubicBezTo>
                  <a:pt x="208080" y="67353"/>
                  <a:pt x="214792" y="60525"/>
                  <a:pt x="214792" y="52164"/>
                </a:cubicBezTo>
                <a:cubicBezTo>
                  <a:pt x="214792" y="43687"/>
                  <a:pt x="207926" y="36821"/>
                  <a:pt x="199450" y="36821"/>
                </a:cubicBezTo>
                <a:cubicBezTo>
                  <a:pt x="190973" y="36821"/>
                  <a:pt x="184107" y="43687"/>
                  <a:pt x="184107" y="52164"/>
                </a:cubicBezTo>
                <a:cubicBezTo>
                  <a:pt x="184107" y="55386"/>
                  <a:pt x="185105" y="58416"/>
                  <a:pt x="186831" y="60871"/>
                </a:cubicBezTo>
                <a:lnTo>
                  <a:pt x="164047" y="77977"/>
                </a:lnTo>
                <a:cubicBezTo>
                  <a:pt x="158332" y="82273"/>
                  <a:pt x="150163" y="80777"/>
                  <a:pt x="146327" y="74755"/>
                </a:cubicBezTo>
                <a:lnTo>
                  <a:pt x="120053" y="33446"/>
                </a:lnTo>
                <a:close/>
              </a:path>
            </a:pathLst>
          </a:custGeom>
          <a:solidFill>
            <a:srgbClr val="000000"/>
          </a:solidFill>
          <a:ln/>
        </p:spPr>
      </p:sp>
      <p:sp>
        <p:nvSpPr>
          <p:cNvPr id="29" name="Text 27"/>
          <p:cNvSpPr/>
          <p:nvPr/>
        </p:nvSpPr>
        <p:spPr>
          <a:xfrm>
            <a:off x="298663"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Queen</a:t>
            </a:r>
            <a:endParaRPr lang="en-US" sz="1600" dirty="0"/>
          </a:p>
        </p:txBody>
      </p:sp>
      <p:sp>
        <p:nvSpPr>
          <p:cNvPr id="30" name="Shape 28"/>
          <p:cNvSpPr/>
          <p:nvPr/>
        </p:nvSpPr>
        <p:spPr>
          <a:xfrm>
            <a:off x="2604416"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31" name="Shape 29"/>
          <p:cNvSpPr/>
          <p:nvPr/>
        </p:nvSpPr>
        <p:spPr>
          <a:xfrm>
            <a:off x="2768067" y="6055087"/>
            <a:ext cx="196381" cy="196381"/>
          </a:xfrm>
          <a:custGeom>
            <a:avLst/>
            <a:gdLst/>
            <a:ahLst/>
            <a:cxnLst/>
            <a:rect l="l" t="t" r="r" b="b"/>
            <a:pathLst>
              <a:path w="196381" h="196381">
                <a:moveTo>
                  <a:pt x="49095" y="122738"/>
                </a:moveTo>
                <a:lnTo>
                  <a:pt x="9397" y="122738"/>
                </a:lnTo>
                <a:cubicBezTo>
                  <a:pt x="-153" y="122738"/>
                  <a:pt x="-6022" y="112344"/>
                  <a:pt x="-1112" y="104136"/>
                </a:cubicBezTo>
                <a:lnTo>
                  <a:pt x="19178" y="70306"/>
                </a:lnTo>
                <a:cubicBezTo>
                  <a:pt x="22515" y="64744"/>
                  <a:pt x="28498" y="61369"/>
                  <a:pt x="34980" y="61369"/>
                </a:cubicBezTo>
                <a:lnTo>
                  <a:pt x="71418" y="61369"/>
                </a:lnTo>
                <a:cubicBezTo>
                  <a:pt x="100607" y="11929"/>
                  <a:pt x="144141" y="9436"/>
                  <a:pt x="173253" y="13693"/>
                </a:cubicBezTo>
                <a:cubicBezTo>
                  <a:pt x="178162" y="14422"/>
                  <a:pt x="181998" y="18257"/>
                  <a:pt x="182688" y="23128"/>
                </a:cubicBezTo>
                <a:cubicBezTo>
                  <a:pt x="186946" y="52240"/>
                  <a:pt x="184453" y="95774"/>
                  <a:pt x="135012" y="124963"/>
                </a:cubicBezTo>
                <a:lnTo>
                  <a:pt x="135012" y="161401"/>
                </a:lnTo>
                <a:cubicBezTo>
                  <a:pt x="135012" y="167883"/>
                  <a:pt x="131637" y="173866"/>
                  <a:pt x="126075" y="177203"/>
                </a:cubicBezTo>
                <a:lnTo>
                  <a:pt x="92245" y="197494"/>
                </a:lnTo>
                <a:cubicBezTo>
                  <a:pt x="84076" y="202403"/>
                  <a:pt x="73643" y="196496"/>
                  <a:pt x="73643" y="186984"/>
                </a:cubicBezTo>
                <a:lnTo>
                  <a:pt x="73643" y="147286"/>
                </a:lnTo>
                <a:cubicBezTo>
                  <a:pt x="73643" y="133746"/>
                  <a:pt x="62635" y="122738"/>
                  <a:pt x="49095" y="122738"/>
                </a:cubicBezTo>
                <a:lnTo>
                  <a:pt x="49057" y="122738"/>
                </a:lnTo>
                <a:close/>
                <a:moveTo>
                  <a:pt x="153423" y="61369"/>
                </a:moveTo>
                <a:cubicBezTo>
                  <a:pt x="153423" y="51208"/>
                  <a:pt x="145173" y="42958"/>
                  <a:pt x="135012" y="42958"/>
                </a:cubicBezTo>
                <a:cubicBezTo>
                  <a:pt x="124851" y="42958"/>
                  <a:pt x="116601" y="51208"/>
                  <a:pt x="116601" y="61369"/>
                </a:cubicBezTo>
                <a:cubicBezTo>
                  <a:pt x="116601" y="71530"/>
                  <a:pt x="124851" y="79780"/>
                  <a:pt x="135012" y="79780"/>
                </a:cubicBezTo>
                <a:cubicBezTo>
                  <a:pt x="145173" y="79780"/>
                  <a:pt x="153423" y="71530"/>
                  <a:pt x="153423" y="61369"/>
                </a:cubicBezTo>
                <a:close/>
              </a:path>
            </a:pathLst>
          </a:custGeom>
          <a:solidFill>
            <a:srgbClr val="000000"/>
          </a:solidFill>
          <a:ln/>
        </p:spPr>
      </p:sp>
      <p:sp>
        <p:nvSpPr>
          <p:cNvPr id="32" name="Text 30"/>
          <p:cNvSpPr/>
          <p:nvPr/>
        </p:nvSpPr>
        <p:spPr>
          <a:xfrm>
            <a:off x="2024031"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David Bowie</a:t>
            </a:r>
            <a:endParaRPr lang="en-US" sz="1600" dirty="0"/>
          </a:p>
        </p:txBody>
      </p:sp>
      <p:sp>
        <p:nvSpPr>
          <p:cNvPr id="33" name="Shape 31"/>
          <p:cNvSpPr/>
          <p:nvPr/>
        </p:nvSpPr>
        <p:spPr>
          <a:xfrm>
            <a:off x="4329848"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34" name="Shape 32"/>
          <p:cNvSpPr/>
          <p:nvPr/>
        </p:nvSpPr>
        <p:spPr>
          <a:xfrm>
            <a:off x="4493499" y="6055087"/>
            <a:ext cx="196381" cy="196381"/>
          </a:xfrm>
          <a:custGeom>
            <a:avLst/>
            <a:gdLst/>
            <a:ahLst/>
            <a:cxnLst/>
            <a:rect l="l" t="t" r="r" b="b"/>
            <a:pathLst>
              <a:path w="196381" h="196381">
                <a:moveTo>
                  <a:pt x="44761" y="12964"/>
                </a:moveTo>
                <a:cubicBezTo>
                  <a:pt x="46487" y="10625"/>
                  <a:pt x="49249" y="9205"/>
                  <a:pt x="52164" y="9205"/>
                </a:cubicBezTo>
                <a:lnTo>
                  <a:pt x="144217" y="9205"/>
                </a:lnTo>
                <a:cubicBezTo>
                  <a:pt x="147132" y="9205"/>
                  <a:pt x="149894" y="10586"/>
                  <a:pt x="151620" y="12964"/>
                </a:cubicBezTo>
                <a:lnTo>
                  <a:pt x="194578" y="71265"/>
                </a:lnTo>
                <a:cubicBezTo>
                  <a:pt x="197187" y="74794"/>
                  <a:pt x="196918" y="79665"/>
                  <a:pt x="194003" y="82925"/>
                </a:cubicBezTo>
                <a:lnTo>
                  <a:pt x="105018" y="181116"/>
                </a:lnTo>
                <a:cubicBezTo>
                  <a:pt x="103292" y="183033"/>
                  <a:pt x="100799" y="184146"/>
                  <a:pt x="98191" y="184146"/>
                </a:cubicBezTo>
                <a:cubicBezTo>
                  <a:pt x="95582" y="184146"/>
                  <a:pt x="93128" y="183033"/>
                  <a:pt x="91363" y="181116"/>
                </a:cubicBezTo>
                <a:lnTo>
                  <a:pt x="2378" y="82925"/>
                </a:lnTo>
                <a:cubicBezTo>
                  <a:pt x="-575" y="79665"/>
                  <a:pt x="-805" y="74794"/>
                  <a:pt x="1803" y="71265"/>
                </a:cubicBezTo>
                <a:lnTo>
                  <a:pt x="44761" y="12964"/>
                </a:lnTo>
                <a:close/>
                <a:moveTo>
                  <a:pt x="59528" y="28230"/>
                </a:moveTo>
                <a:cubicBezTo>
                  <a:pt x="58262" y="29189"/>
                  <a:pt x="57917" y="30915"/>
                  <a:pt x="58723" y="32257"/>
                </a:cubicBezTo>
                <a:lnTo>
                  <a:pt x="80739" y="68964"/>
                </a:lnTo>
                <a:lnTo>
                  <a:pt x="24279" y="73643"/>
                </a:lnTo>
                <a:cubicBezTo>
                  <a:pt x="22707" y="73758"/>
                  <a:pt x="21479" y="75100"/>
                  <a:pt x="21479" y="76711"/>
                </a:cubicBezTo>
                <a:cubicBezTo>
                  <a:pt x="21479" y="78322"/>
                  <a:pt x="22707" y="79626"/>
                  <a:pt x="24279" y="79780"/>
                </a:cubicBezTo>
                <a:lnTo>
                  <a:pt x="97922" y="85917"/>
                </a:lnTo>
                <a:cubicBezTo>
                  <a:pt x="98076" y="85917"/>
                  <a:pt x="98267" y="85917"/>
                  <a:pt x="98421" y="85917"/>
                </a:cubicBezTo>
                <a:lnTo>
                  <a:pt x="172064" y="79780"/>
                </a:lnTo>
                <a:cubicBezTo>
                  <a:pt x="173636" y="79665"/>
                  <a:pt x="174864" y="78322"/>
                  <a:pt x="174864" y="76711"/>
                </a:cubicBezTo>
                <a:cubicBezTo>
                  <a:pt x="174864" y="75100"/>
                  <a:pt x="173636" y="73796"/>
                  <a:pt x="172064" y="73643"/>
                </a:cubicBezTo>
                <a:lnTo>
                  <a:pt x="115604" y="68925"/>
                </a:lnTo>
                <a:lnTo>
                  <a:pt x="137620" y="32257"/>
                </a:lnTo>
                <a:cubicBezTo>
                  <a:pt x="138426" y="30915"/>
                  <a:pt x="138081" y="29150"/>
                  <a:pt x="136815" y="28230"/>
                </a:cubicBezTo>
                <a:cubicBezTo>
                  <a:pt x="135549" y="27309"/>
                  <a:pt x="133785" y="27463"/>
                  <a:pt x="132711" y="28613"/>
                </a:cubicBezTo>
                <a:lnTo>
                  <a:pt x="98191" y="66049"/>
                </a:lnTo>
                <a:lnTo>
                  <a:pt x="63632" y="28613"/>
                </a:lnTo>
                <a:cubicBezTo>
                  <a:pt x="62558" y="27463"/>
                  <a:pt x="60794" y="27309"/>
                  <a:pt x="59528" y="28230"/>
                </a:cubicBezTo>
                <a:close/>
              </a:path>
            </a:pathLst>
          </a:custGeom>
          <a:solidFill>
            <a:srgbClr val="000000"/>
          </a:solidFill>
          <a:ln/>
        </p:spPr>
      </p:sp>
      <p:sp>
        <p:nvSpPr>
          <p:cNvPr id="35" name="Text 33"/>
          <p:cNvSpPr/>
          <p:nvPr/>
        </p:nvSpPr>
        <p:spPr>
          <a:xfrm>
            <a:off x="3749462"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Elton John</a:t>
            </a:r>
            <a:endParaRPr lang="en-US" sz="1600" dirty="0"/>
          </a:p>
        </p:txBody>
      </p:sp>
      <p:sp>
        <p:nvSpPr>
          <p:cNvPr id="36" name="Shape 34"/>
          <p:cNvSpPr/>
          <p:nvPr/>
        </p:nvSpPr>
        <p:spPr>
          <a:xfrm>
            <a:off x="6055279"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37" name="Shape 35"/>
          <p:cNvSpPr/>
          <p:nvPr/>
        </p:nvSpPr>
        <p:spPr>
          <a:xfrm>
            <a:off x="6231204" y="6055087"/>
            <a:ext cx="171834" cy="196381"/>
          </a:xfrm>
          <a:custGeom>
            <a:avLst/>
            <a:gdLst/>
            <a:ahLst/>
            <a:cxnLst/>
            <a:rect l="l" t="t" r="r" b="b"/>
            <a:pathLst>
              <a:path w="171834" h="196381">
                <a:moveTo>
                  <a:pt x="129949" y="-3797"/>
                </a:moveTo>
                <a:cubicBezTo>
                  <a:pt x="134513" y="-499"/>
                  <a:pt x="136201" y="5485"/>
                  <a:pt x="134130" y="10701"/>
                </a:cubicBezTo>
                <a:lnTo>
                  <a:pt x="104059" y="85917"/>
                </a:lnTo>
                <a:lnTo>
                  <a:pt x="159560" y="85917"/>
                </a:lnTo>
                <a:cubicBezTo>
                  <a:pt x="164738" y="85917"/>
                  <a:pt x="169340" y="89139"/>
                  <a:pt x="171105" y="94010"/>
                </a:cubicBezTo>
                <a:cubicBezTo>
                  <a:pt x="172869" y="98881"/>
                  <a:pt x="171373" y="104328"/>
                  <a:pt x="167423" y="107626"/>
                </a:cubicBezTo>
                <a:lnTo>
                  <a:pt x="56958" y="199680"/>
                </a:lnTo>
                <a:cubicBezTo>
                  <a:pt x="52624" y="203285"/>
                  <a:pt x="46449" y="203477"/>
                  <a:pt x="41884" y="200178"/>
                </a:cubicBezTo>
                <a:cubicBezTo>
                  <a:pt x="37320" y="196880"/>
                  <a:pt x="35632" y="190896"/>
                  <a:pt x="37704" y="185680"/>
                </a:cubicBezTo>
                <a:lnTo>
                  <a:pt x="67775" y="110464"/>
                </a:lnTo>
                <a:lnTo>
                  <a:pt x="12274" y="110464"/>
                </a:lnTo>
                <a:cubicBezTo>
                  <a:pt x="7096" y="110464"/>
                  <a:pt x="2493" y="107243"/>
                  <a:pt x="729" y="102371"/>
                </a:cubicBezTo>
                <a:cubicBezTo>
                  <a:pt x="-1036" y="97500"/>
                  <a:pt x="460" y="92054"/>
                  <a:pt x="4411" y="88755"/>
                </a:cubicBezTo>
                <a:lnTo>
                  <a:pt x="114875" y="-3299"/>
                </a:lnTo>
                <a:cubicBezTo>
                  <a:pt x="119210" y="-6904"/>
                  <a:pt x="125385" y="-7096"/>
                  <a:pt x="129949" y="-3797"/>
                </a:cubicBezTo>
                <a:close/>
              </a:path>
            </a:pathLst>
          </a:custGeom>
          <a:solidFill>
            <a:srgbClr val="000000"/>
          </a:solidFill>
          <a:ln/>
        </p:spPr>
      </p:sp>
      <p:sp>
        <p:nvSpPr>
          <p:cNvPr id="38" name="Text 36"/>
          <p:cNvSpPr/>
          <p:nvPr/>
        </p:nvSpPr>
        <p:spPr>
          <a:xfrm>
            <a:off x="5474893"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Aerosmith</a:t>
            </a:r>
            <a:endParaRPr lang="en-US" sz="1600" dirty="0"/>
          </a:p>
        </p:txBody>
      </p:sp>
      <p:pic>
        <p:nvPicPr>
          <p:cNvPr id="39" name="Image 0" descr="https://kimi-web-img.moonshot.cn/img/thumbs.dreamstime.com/48777a2646641d524e95480ef2112963028e64fa.jpg">    </p:cNvPr>
          <p:cNvPicPr>
            <a:picLocks noChangeAspect="1"/>
          </p:cNvPicPr>
          <p:nvPr/>
        </p:nvPicPr>
        <p:blipFill>
          <a:blip r:embed="rId1"/>
          <a:srcRect l="6800" r="6800" t="0" b="0"/>
          <a:stretch/>
        </p:blipFill>
        <p:spPr>
          <a:xfrm>
            <a:off x="7327154" y="1080097"/>
            <a:ext cx="4533133" cy="3502132"/>
          </a:xfrm>
          <a:prstGeom prst="roundRect">
            <a:avLst>
              <a:gd name="adj" fmla="val 0"/>
            </a:avLst>
          </a:prstGeom>
        </p:spPr>
      </p:pic>
      <p:sp>
        <p:nvSpPr>
          <p:cNvPr id="40" name="Shape 37"/>
          <p:cNvSpPr/>
          <p:nvPr/>
        </p:nvSpPr>
        <p:spPr>
          <a:xfrm>
            <a:off x="7327154" y="1080097"/>
            <a:ext cx="4533133" cy="3502132"/>
          </a:xfrm>
          <a:custGeom>
            <a:avLst/>
            <a:gdLst/>
            <a:ahLst/>
            <a:cxnLst/>
            <a:rect l="l" t="t" r="r" b="b"/>
            <a:pathLst>
              <a:path w="4533133" h="3502132">
                <a:moveTo>
                  <a:pt x="0" y="0"/>
                </a:moveTo>
                <a:lnTo>
                  <a:pt x="4533133" y="0"/>
                </a:lnTo>
                <a:lnTo>
                  <a:pt x="4533133" y="3502132"/>
                </a:lnTo>
                <a:lnTo>
                  <a:pt x="0" y="3502132"/>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58075" y="4025815"/>
            <a:ext cx="4328569" cy="163651"/>
          </a:xfrm>
          <a:prstGeom prst="rect">
            <a:avLst/>
          </a:prstGeom>
          <a:noFill/>
          <a:ln/>
        </p:spPr>
        <p:txBody>
          <a:bodyPr wrap="square" lIns="0" tIns="0" rIns="0" bIns="0" rtlCol="0" anchor="ctr"/>
          <a:lstStyle/>
          <a:p>
            <a:pPr>
              <a:lnSpc>
                <a:spcPct val="120000"/>
              </a:lnSpc>
            </a:pPr>
            <a:r>
              <a:rPr lang="en-US" sz="902" b="1" dirty="0">
                <a:solidFill>
                  <a:srgbClr val="DDFF00"/>
                </a:solidFill>
                <a:latin typeface="Liter" pitchFamily="34" charset="0"/>
                <a:ea typeface="Liter" pitchFamily="34" charset="-122"/>
                <a:cs typeface="Liter" pitchFamily="34" charset="-120"/>
              </a:rPr>
              <a:t>1970s ROCK</a:t>
            </a:r>
            <a:endParaRPr lang="en-US" sz="1600" dirty="0"/>
          </a:p>
        </p:txBody>
      </p:sp>
      <p:sp>
        <p:nvSpPr>
          <p:cNvPr id="42" name="Text 39"/>
          <p:cNvSpPr/>
          <p:nvPr/>
        </p:nvSpPr>
        <p:spPr>
          <a:xfrm>
            <a:off x="7458075" y="4222196"/>
            <a:ext cx="4344934"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Stadium Rock Era</a:t>
            </a:r>
            <a:endParaRPr lang="en-US" sz="1600" dirty="0"/>
          </a:p>
        </p:txBody>
      </p:sp>
      <p:sp>
        <p:nvSpPr>
          <p:cNvPr id="43" name="Shape 40"/>
          <p:cNvSpPr/>
          <p:nvPr/>
        </p:nvSpPr>
        <p:spPr>
          <a:xfrm>
            <a:off x="7335337" y="4721332"/>
            <a:ext cx="4516768" cy="1914717"/>
          </a:xfrm>
          <a:custGeom>
            <a:avLst/>
            <a:gdLst/>
            <a:ahLst/>
            <a:cxnLst/>
            <a:rect l="l" t="t" r="r" b="b"/>
            <a:pathLst>
              <a:path w="4516768" h="1914717">
                <a:moveTo>
                  <a:pt x="0" y="0"/>
                </a:moveTo>
                <a:lnTo>
                  <a:pt x="4516768" y="0"/>
                </a:lnTo>
                <a:lnTo>
                  <a:pt x="4516768" y="1914717"/>
                </a:lnTo>
                <a:lnTo>
                  <a:pt x="0" y="1914717"/>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07170" y="4893165"/>
            <a:ext cx="4246744" cy="229111"/>
          </a:xfrm>
          <a:prstGeom prst="rect">
            <a:avLst/>
          </a:prstGeom>
          <a:noFill/>
          <a:ln/>
        </p:spPr>
        <p:txBody>
          <a:bodyPr wrap="square" lIns="0" tIns="0" rIns="0" bIns="0" rtlCol="0" anchor="ctr"/>
          <a:lstStyle/>
          <a:p>
            <a:pPr>
              <a:lnSpc>
                <a:spcPct val="130000"/>
              </a:lnSpc>
            </a:pPr>
            <a:r>
              <a:rPr lang="en-US" sz="1160" b="1" dirty="0">
                <a:solidFill>
                  <a:srgbClr val="DDFF00"/>
                </a:solidFill>
                <a:latin typeface="Liter" pitchFamily="34" charset="0"/>
                <a:ea typeface="Liter" pitchFamily="34" charset="-122"/>
                <a:cs typeface="Liter" pitchFamily="34" charset="-120"/>
              </a:rPr>
              <a:t>Musical Characteristics</a:t>
            </a:r>
            <a:endParaRPr lang="en-US" sz="1600" dirty="0"/>
          </a:p>
        </p:txBody>
      </p:sp>
      <p:sp>
        <p:nvSpPr>
          <p:cNvPr id="45" name="Shape 42"/>
          <p:cNvSpPr/>
          <p:nvPr/>
        </p:nvSpPr>
        <p:spPr>
          <a:xfrm>
            <a:off x="7507170" y="5285928"/>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46" name="Text 43"/>
          <p:cNvSpPr/>
          <p:nvPr/>
        </p:nvSpPr>
        <p:spPr>
          <a:xfrm>
            <a:off x="7638091" y="5220467"/>
            <a:ext cx="2381122" cy="196381"/>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Melodic hooks</a:t>
            </a:r>
            <a:pPr>
              <a:lnSpc>
                <a:spcPct val="130000"/>
              </a:lnSpc>
            </a:pPr>
            <a:r>
              <a:rPr lang="en-US" sz="1031" dirty="0">
                <a:solidFill>
                  <a:srgbClr val="FFFFFF">
                    <a:alpha val="80000"/>
                  </a:srgbClr>
                </a:solidFill>
                <a:latin typeface="Liter" pitchFamily="34" charset="0"/>
                <a:ea typeface="Liter" pitchFamily="34" charset="-122"/>
                <a:cs typeface="Liter" pitchFamily="34" charset="-120"/>
              </a:rPr>
              <a:t> and memorable choruses</a:t>
            </a:r>
            <a:endParaRPr lang="en-US" sz="1600" dirty="0"/>
          </a:p>
        </p:txBody>
      </p:sp>
      <p:sp>
        <p:nvSpPr>
          <p:cNvPr id="47" name="Shape 44"/>
          <p:cNvSpPr/>
          <p:nvPr/>
        </p:nvSpPr>
        <p:spPr>
          <a:xfrm>
            <a:off x="7507170" y="5547769"/>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48" name="Text 45"/>
          <p:cNvSpPr/>
          <p:nvPr/>
        </p:nvSpPr>
        <p:spPr>
          <a:xfrm>
            <a:off x="7638091" y="5482309"/>
            <a:ext cx="2438400" cy="196381"/>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Prominent guitar work</a:t>
            </a:r>
            <a:pPr>
              <a:lnSpc>
                <a:spcPct val="130000"/>
              </a:lnSpc>
            </a:pPr>
            <a:r>
              <a:rPr lang="en-US" sz="1031" dirty="0">
                <a:solidFill>
                  <a:srgbClr val="FFFFFF">
                    <a:alpha val="80000"/>
                  </a:srgbClr>
                </a:solidFill>
                <a:latin typeface="Liter" pitchFamily="34" charset="0"/>
                <a:ea typeface="Liter" pitchFamily="34" charset="-122"/>
                <a:cs typeface="Liter" pitchFamily="34" charset="-120"/>
              </a:rPr>
              <a:t> with solos and riffs</a:t>
            </a:r>
            <a:endParaRPr lang="en-US" sz="1600" dirty="0"/>
          </a:p>
        </p:txBody>
      </p:sp>
      <p:sp>
        <p:nvSpPr>
          <p:cNvPr id="49" name="Shape 46"/>
          <p:cNvSpPr/>
          <p:nvPr/>
        </p:nvSpPr>
        <p:spPr>
          <a:xfrm>
            <a:off x="7507170" y="5809611"/>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50" name="Text 47"/>
          <p:cNvSpPr/>
          <p:nvPr/>
        </p:nvSpPr>
        <p:spPr>
          <a:xfrm>
            <a:off x="7638091" y="5748242"/>
            <a:ext cx="1418969" cy="188199"/>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Strong vocal harmonies</a:t>
            </a:r>
            <a:endParaRPr lang="en-US" sz="1600" dirty="0"/>
          </a:p>
        </p:txBody>
      </p:sp>
      <p:sp>
        <p:nvSpPr>
          <p:cNvPr id="51" name="Shape 48"/>
          <p:cNvSpPr/>
          <p:nvPr/>
        </p:nvSpPr>
        <p:spPr>
          <a:xfrm>
            <a:off x="7507170" y="6071452"/>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52" name="Text 49"/>
          <p:cNvSpPr/>
          <p:nvPr/>
        </p:nvSpPr>
        <p:spPr>
          <a:xfrm>
            <a:off x="7638091" y="6005992"/>
            <a:ext cx="2888440" cy="196381"/>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Keyboard integration</a:t>
            </a:r>
            <a:pPr>
              <a:lnSpc>
                <a:spcPct val="130000"/>
              </a:lnSpc>
            </a:pPr>
            <a:r>
              <a:rPr lang="en-US" sz="1031" dirty="0">
                <a:solidFill>
                  <a:srgbClr val="FFFFFF">
                    <a:alpha val="80000"/>
                  </a:srgbClr>
                </a:solidFill>
                <a:latin typeface="Liter" pitchFamily="34" charset="0"/>
                <a:ea typeface="Liter" pitchFamily="34" charset="-122"/>
                <a:cs typeface="Liter" pitchFamily="34" charset="-120"/>
              </a:rPr>
              <a:t> (piano, organ, synthesizers)</a:t>
            </a:r>
            <a:endParaRPr lang="en-US" sz="1600" dirty="0"/>
          </a:p>
        </p:txBody>
      </p:sp>
      <p:sp>
        <p:nvSpPr>
          <p:cNvPr id="53" name="Shape 50"/>
          <p:cNvSpPr/>
          <p:nvPr/>
        </p:nvSpPr>
        <p:spPr>
          <a:xfrm>
            <a:off x="7507170" y="6333294"/>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54" name="Text 51"/>
          <p:cNvSpPr/>
          <p:nvPr/>
        </p:nvSpPr>
        <p:spPr>
          <a:xfrm>
            <a:off x="7638091" y="6271925"/>
            <a:ext cx="1539534" cy="188199"/>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Radio-friendly production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4389438"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03</a:t>
            </a:r>
            <a:endParaRPr lang="en-US" sz="1600" dirty="0"/>
          </a:p>
        </p:txBody>
      </p:sp>
      <p:sp>
        <p:nvSpPr>
          <p:cNvPr id="4" name="Text 2"/>
          <p:cNvSpPr/>
          <p:nvPr/>
        </p:nvSpPr>
        <p:spPr>
          <a:xfrm>
            <a:off x="508000" y="476250"/>
            <a:ext cx="4476750"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Hard Rock: Louder, Heavier, Faster</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Evolution of Power</a:t>
            </a:r>
            <a:endParaRPr lang="en-US" sz="1600" dirty="0"/>
          </a:p>
        </p:txBody>
      </p:sp>
      <p:sp>
        <p:nvSpPr>
          <p:cNvPr id="7" name="Text 5"/>
          <p:cNvSpPr/>
          <p:nvPr/>
        </p:nvSpPr>
        <p:spPr>
          <a:xfrm>
            <a:off x="508000" y="1587500"/>
            <a:ext cx="4230688" cy="82550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Hard rock emerged as a subgenre that combined the sound and attitude of rock 'n' roll with a heavier, more aggressive approach.</a:t>
            </a:r>
            <a:pPr>
              <a:lnSpc>
                <a:spcPct val="140000"/>
              </a:lnSpc>
            </a:pPr>
            <a:r>
              <a:rPr lang="en-US" sz="1000" dirty="0">
                <a:solidFill>
                  <a:srgbClr val="000000"/>
                </a:solidFill>
                <a:latin typeface="Liter" pitchFamily="34" charset="0"/>
                <a:ea typeface="Liter" pitchFamily="34" charset="-122"/>
                <a:cs typeface="Liter" pitchFamily="34" charset="-120"/>
              </a:rPr>
              <a:t> It grew out of the blues-based rock and psychedelic rock of the 1960s, pushing the boundaries of volume, distortion, and intensity.</a:t>
            </a:r>
            <a:endParaRPr lang="en-US" sz="1600" dirty="0"/>
          </a:p>
        </p:txBody>
      </p:sp>
      <p:sp>
        <p:nvSpPr>
          <p:cNvPr id="8" name="Text 6"/>
          <p:cNvSpPr/>
          <p:nvPr/>
        </p:nvSpPr>
        <p:spPr>
          <a:xfrm>
            <a:off x="508000" y="2508250"/>
            <a:ext cx="4230688" cy="82550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Hard rock is characterized by powerful, distorted guitar riffs, strong rhythm sections, and often high-energy, driving tempos. Extended guitar solos became a signature element, showcasing technical virtuosity and emotional expression.</a:t>
            </a:r>
            <a:endParaRPr lang="en-US" sz="1600" dirty="0"/>
          </a:p>
        </p:txBody>
      </p:sp>
      <p:sp>
        <p:nvSpPr>
          <p:cNvPr id="9" name="Shape 7"/>
          <p:cNvSpPr/>
          <p:nvPr/>
        </p:nvSpPr>
        <p:spPr>
          <a:xfrm>
            <a:off x="325438" y="3659187"/>
            <a:ext cx="4532313" cy="2873375"/>
          </a:xfrm>
          <a:custGeom>
            <a:avLst/>
            <a:gdLst/>
            <a:ahLst/>
            <a:cxnLst/>
            <a:rect l="l" t="t" r="r" b="b"/>
            <a:pathLst>
              <a:path w="4532313" h="2873375">
                <a:moveTo>
                  <a:pt x="0" y="0"/>
                </a:moveTo>
                <a:lnTo>
                  <a:pt x="4532313" y="0"/>
                </a:lnTo>
                <a:lnTo>
                  <a:pt x="4532313" y="2873375"/>
                </a:lnTo>
                <a:lnTo>
                  <a:pt x="0" y="2873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Hard Rock Pioneers</a:t>
            </a:r>
            <a:endParaRPr lang="en-US" sz="1600" dirty="0"/>
          </a:p>
        </p:txBody>
      </p:sp>
      <p:sp>
        <p:nvSpPr>
          <p:cNvPr id="11" name="Shape 9"/>
          <p:cNvSpPr/>
          <p:nvPr/>
        </p:nvSpPr>
        <p:spPr>
          <a:xfrm>
            <a:off x="508000" y="4175125"/>
            <a:ext cx="31750" cy="603250"/>
          </a:xfrm>
          <a:custGeom>
            <a:avLst/>
            <a:gdLst/>
            <a:ahLst/>
            <a:cxnLst/>
            <a:rect l="l" t="t" r="r" b="b"/>
            <a:pathLst>
              <a:path w="31750" h="603250">
                <a:moveTo>
                  <a:pt x="0" y="0"/>
                </a:moveTo>
                <a:lnTo>
                  <a:pt x="31750" y="0"/>
                </a:lnTo>
                <a:lnTo>
                  <a:pt x="31750" y="603250"/>
                </a:lnTo>
                <a:lnTo>
                  <a:pt x="0" y="603250"/>
                </a:lnTo>
                <a:lnTo>
                  <a:pt x="0" y="0"/>
                </a:lnTo>
                <a:close/>
              </a:path>
            </a:pathLst>
          </a:custGeom>
          <a:solidFill>
            <a:srgbClr val="DDFF00"/>
          </a:solidFill>
          <a:ln/>
        </p:spPr>
      </p:sp>
      <p:sp>
        <p:nvSpPr>
          <p:cNvPr id="12" name="Shape 10"/>
          <p:cNvSpPr/>
          <p:nvPr/>
        </p:nvSpPr>
        <p:spPr>
          <a:xfrm>
            <a:off x="619125" y="41751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3" name="Shape 11"/>
          <p:cNvSpPr/>
          <p:nvPr/>
        </p:nvSpPr>
        <p:spPr>
          <a:xfrm>
            <a:off x="740172" y="4286250"/>
            <a:ext cx="138906" cy="158750"/>
          </a:xfrm>
          <a:custGeom>
            <a:avLst/>
            <a:gdLst/>
            <a:ahLst/>
            <a:cxn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p:spPr>
      </p:sp>
      <p:sp>
        <p:nvSpPr>
          <p:cNvPr id="14" name="Text 12"/>
          <p:cNvSpPr/>
          <p:nvPr/>
        </p:nvSpPr>
        <p:spPr>
          <a:xfrm>
            <a:off x="1095375" y="4175125"/>
            <a:ext cx="36671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Led Zeppelin</a:t>
            </a:r>
            <a:endParaRPr lang="en-US" sz="1600" dirty="0"/>
          </a:p>
        </p:txBody>
      </p:sp>
      <p:sp>
        <p:nvSpPr>
          <p:cNvPr id="15" name="Text 13"/>
          <p:cNvSpPr/>
          <p:nvPr/>
        </p:nvSpPr>
        <p:spPr>
          <a:xfrm>
            <a:off x="1095375" y="4397375"/>
            <a:ext cx="3659187"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Jimmy Page's monster riffs and studio wizardry redefined rock guitar</a:t>
            </a:r>
            <a:endParaRPr lang="en-US" sz="1600" dirty="0"/>
          </a:p>
        </p:txBody>
      </p:sp>
      <p:sp>
        <p:nvSpPr>
          <p:cNvPr id="16" name="Shape 14"/>
          <p:cNvSpPr/>
          <p:nvPr/>
        </p:nvSpPr>
        <p:spPr>
          <a:xfrm>
            <a:off x="508000" y="48736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8736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8" name="Shape 16"/>
          <p:cNvSpPr/>
          <p:nvPr/>
        </p:nvSpPr>
        <p:spPr>
          <a:xfrm>
            <a:off x="740172" y="4984750"/>
            <a:ext cx="138906" cy="158750"/>
          </a:xfrm>
          <a:custGeom>
            <a:avLst/>
            <a:gdLst/>
            <a:ahLst/>
            <a:cxn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p:spPr>
      </p:sp>
      <p:sp>
        <p:nvSpPr>
          <p:cNvPr id="19" name="Text 17"/>
          <p:cNvSpPr/>
          <p:nvPr/>
        </p:nvSpPr>
        <p:spPr>
          <a:xfrm>
            <a:off x="1095375" y="4873625"/>
            <a:ext cx="3143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Deep Purple</a:t>
            </a:r>
            <a:endParaRPr lang="en-US" sz="1600" dirty="0"/>
          </a:p>
        </p:txBody>
      </p:sp>
      <p:sp>
        <p:nvSpPr>
          <p:cNvPr id="20" name="Text 18"/>
          <p:cNvSpPr/>
          <p:nvPr/>
        </p:nvSpPr>
        <p:spPr>
          <a:xfrm>
            <a:off x="1095375" y="5095875"/>
            <a:ext cx="31353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Ritchie Blackmore's classical-influenced guitar mastery</a:t>
            </a:r>
            <a:endParaRPr lang="en-US" sz="1600" dirty="0"/>
          </a:p>
        </p:txBody>
      </p:sp>
      <p:sp>
        <p:nvSpPr>
          <p:cNvPr id="21" name="Shape 19"/>
          <p:cNvSpPr/>
          <p:nvPr/>
        </p:nvSpPr>
        <p:spPr>
          <a:xfrm>
            <a:off x="508000" y="53816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53816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3" name="Shape 21"/>
          <p:cNvSpPr/>
          <p:nvPr/>
        </p:nvSpPr>
        <p:spPr>
          <a:xfrm>
            <a:off x="730250" y="5492750"/>
            <a:ext cx="158750" cy="158750"/>
          </a:xfrm>
          <a:custGeom>
            <a:avLst/>
            <a:gdLst/>
            <a:ahLst/>
            <a:cxnLst/>
            <a:rect l="l" t="t" r="r" b="b"/>
            <a:pathLst>
              <a:path w="158750" h="158750">
                <a:moveTo>
                  <a:pt x="128984" y="132519"/>
                </a:moveTo>
                <a:cubicBezTo>
                  <a:pt x="147123" y="118876"/>
                  <a:pt x="158750" y="97917"/>
                  <a:pt x="158750" y="74414"/>
                </a:cubicBezTo>
                <a:cubicBezTo>
                  <a:pt x="158750" y="33331"/>
                  <a:pt x="123217" y="0"/>
                  <a:pt x="79375" y="0"/>
                </a:cubicBezTo>
                <a:cubicBezTo>
                  <a:pt x="35533" y="0"/>
                  <a:pt x="0" y="33331"/>
                  <a:pt x="0" y="74414"/>
                </a:cubicBezTo>
                <a:cubicBezTo>
                  <a:pt x="0" y="97917"/>
                  <a:pt x="11627" y="118876"/>
                  <a:pt x="29766" y="132519"/>
                </a:cubicBezTo>
                <a:lnTo>
                  <a:pt x="29766" y="143867"/>
                </a:lnTo>
                <a:cubicBezTo>
                  <a:pt x="29766" y="152084"/>
                  <a:pt x="36432" y="158750"/>
                  <a:pt x="44648" y="158750"/>
                </a:cubicBezTo>
                <a:lnTo>
                  <a:pt x="54570" y="158750"/>
                </a:lnTo>
                <a:lnTo>
                  <a:pt x="54570" y="146348"/>
                </a:lnTo>
                <a:cubicBezTo>
                  <a:pt x="54570" y="142224"/>
                  <a:pt x="57888" y="138906"/>
                  <a:pt x="62012" y="138906"/>
                </a:cubicBezTo>
                <a:cubicBezTo>
                  <a:pt x="66135" y="138906"/>
                  <a:pt x="69453" y="142224"/>
                  <a:pt x="69453" y="146348"/>
                </a:cubicBezTo>
                <a:lnTo>
                  <a:pt x="69453" y="158750"/>
                </a:lnTo>
                <a:lnTo>
                  <a:pt x="89297" y="158750"/>
                </a:lnTo>
                <a:lnTo>
                  <a:pt x="89297" y="146348"/>
                </a:lnTo>
                <a:cubicBezTo>
                  <a:pt x="89297" y="142224"/>
                  <a:pt x="92615" y="138906"/>
                  <a:pt x="96738" y="138906"/>
                </a:cubicBezTo>
                <a:cubicBezTo>
                  <a:pt x="100862" y="138906"/>
                  <a:pt x="104180" y="142224"/>
                  <a:pt x="104180" y="146348"/>
                </a:cubicBezTo>
                <a:lnTo>
                  <a:pt x="104180" y="158750"/>
                </a:lnTo>
                <a:lnTo>
                  <a:pt x="114102" y="158750"/>
                </a:lnTo>
                <a:cubicBezTo>
                  <a:pt x="122318" y="158750"/>
                  <a:pt x="128984" y="152084"/>
                  <a:pt x="128984" y="143867"/>
                </a:cubicBezTo>
                <a:lnTo>
                  <a:pt x="128984" y="132519"/>
                </a:lnTo>
                <a:close/>
                <a:moveTo>
                  <a:pt x="29766" y="79375"/>
                </a:moveTo>
                <a:cubicBezTo>
                  <a:pt x="29766" y="68423"/>
                  <a:pt x="38657" y="59531"/>
                  <a:pt x="49609" y="59531"/>
                </a:cubicBezTo>
                <a:cubicBezTo>
                  <a:pt x="60561" y="59531"/>
                  <a:pt x="69453" y="68423"/>
                  <a:pt x="69453" y="79375"/>
                </a:cubicBezTo>
                <a:cubicBezTo>
                  <a:pt x="69453" y="90327"/>
                  <a:pt x="60561" y="99219"/>
                  <a:pt x="49609" y="99219"/>
                </a:cubicBezTo>
                <a:cubicBezTo>
                  <a:pt x="38657" y="99219"/>
                  <a:pt x="29766" y="90327"/>
                  <a:pt x="29766" y="79375"/>
                </a:cubicBezTo>
                <a:close/>
                <a:moveTo>
                  <a:pt x="109141" y="59531"/>
                </a:moveTo>
                <a:cubicBezTo>
                  <a:pt x="120093" y="59531"/>
                  <a:pt x="128984" y="68423"/>
                  <a:pt x="128984" y="79375"/>
                </a:cubicBezTo>
                <a:cubicBezTo>
                  <a:pt x="128984" y="90327"/>
                  <a:pt x="120093" y="99219"/>
                  <a:pt x="109141" y="99219"/>
                </a:cubicBezTo>
                <a:cubicBezTo>
                  <a:pt x="98189" y="99219"/>
                  <a:pt x="89297" y="90327"/>
                  <a:pt x="89297" y="79375"/>
                </a:cubicBezTo>
                <a:cubicBezTo>
                  <a:pt x="89297" y="68423"/>
                  <a:pt x="98189" y="59531"/>
                  <a:pt x="109141" y="59531"/>
                </a:cubicBezTo>
                <a:close/>
              </a:path>
            </a:pathLst>
          </a:custGeom>
          <a:solidFill>
            <a:srgbClr val="000000"/>
          </a:solidFill>
          <a:ln/>
        </p:spPr>
      </p:sp>
      <p:sp>
        <p:nvSpPr>
          <p:cNvPr id="24" name="Text 22"/>
          <p:cNvSpPr/>
          <p:nvPr/>
        </p:nvSpPr>
        <p:spPr>
          <a:xfrm>
            <a:off x="1095375" y="5381625"/>
            <a:ext cx="304006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Black Sabbath</a:t>
            </a:r>
            <a:endParaRPr lang="en-US" sz="1600" dirty="0"/>
          </a:p>
        </p:txBody>
      </p:sp>
      <p:sp>
        <p:nvSpPr>
          <p:cNvPr id="25" name="Text 23"/>
          <p:cNvSpPr/>
          <p:nvPr/>
        </p:nvSpPr>
        <p:spPr>
          <a:xfrm>
            <a:off x="1095375" y="5603875"/>
            <a:ext cx="303212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Tony Iommi's downtuned, heavy riffs pioneered metal</a:t>
            </a:r>
            <a:endParaRPr lang="en-US" sz="1600" dirty="0"/>
          </a:p>
        </p:txBody>
      </p:sp>
      <p:sp>
        <p:nvSpPr>
          <p:cNvPr id="26" name="Shape 24"/>
          <p:cNvSpPr/>
          <p:nvPr/>
        </p:nvSpPr>
        <p:spPr>
          <a:xfrm>
            <a:off x="508000" y="58896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8896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8" name="Shape 26"/>
          <p:cNvSpPr/>
          <p:nvPr/>
        </p:nvSpPr>
        <p:spPr>
          <a:xfrm>
            <a:off x="740172" y="6000750"/>
            <a:ext cx="138906" cy="158750"/>
          </a:xfrm>
          <a:custGeom>
            <a:avLst/>
            <a:gdLst/>
            <a:ahLst/>
            <a:cxn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p:spPr>
      </p:sp>
      <p:sp>
        <p:nvSpPr>
          <p:cNvPr id="29" name="Text 27"/>
          <p:cNvSpPr/>
          <p:nvPr/>
        </p:nvSpPr>
        <p:spPr>
          <a:xfrm>
            <a:off x="1095375" y="5889625"/>
            <a:ext cx="286543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AC/DC</a:t>
            </a:r>
            <a:endParaRPr lang="en-US" sz="1600" dirty="0"/>
          </a:p>
        </p:txBody>
      </p:sp>
      <p:sp>
        <p:nvSpPr>
          <p:cNvPr id="30" name="Text 28"/>
          <p:cNvSpPr/>
          <p:nvPr/>
        </p:nvSpPr>
        <p:spPr>
          <a:xfrm>
            <a:off x="1095375" y="6111875"/>
            <a:ext cx="2857500"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Raw, blues-based hard rock with infectious energy</a:t>
            </a:r>
            <a:endParaRPr lang="en-US" sz="1600" dirty="0"/>
          </a:p>
        </p:txBody>
      </p:sp>
      <p:sp>
        <p:nvSpPr>
          <p:cNvPr id="31" name="Shape 29"/>
          <p:cNvSpPr/>
          <p:nvPr/>
        </p:nvSpPr>
        <p:spPr>
          <a:xfrm>
            <a:off x="5062513" y="1055688"/>
            <a:ext cx="6802438" cy="3603625"/>
          </a:xfrm>
          <a:custGeom>
            <a:avLst/>
            <a:gdLst/>
            <a:ahLst/>
            <a:cxnLst/>
            <a:rect l="l" t="t" r="r" b="b"/>
            <a:pathLst>
              <a:path w="6802438" h="3603625">
                <a:moveTo>
                  <a:pt x="0" y="0"/>
                </a:moveTo>
                <a:lnTo>
                  <a:pt x="6802438" y="0"/>
                </a:lnTo>
                <a:lnTo>
                  <a:pt x="6802438" y="3603625"/>
                </a:lnTo>
                <a:lnTo>
                  <a:pt x="0" y="3603625"/>
                </a:lnTo>
                <a:lnTo>
                  <a:pt x="0" y="0"/>
                </a:lnTo>
                <a:close/>
              </a:path>
            </a:pathLst>
          </a:custGeom>
          <a:solidFill>
            <a:srgbClr val="000000">
              <a:alpha val="0"/>
            </a:srgbClr>
          </a:solidFill>
          <a:ln w="25400">
            <a:solidFill>
              <a:srgbClr val="DDFF00"/>
            </a:solidFill>
            <a:prstDash val="solid"/>
          </a:ln>
        </p:spPr>
      </p:sp>
      <p:sp>
        <p:nvSpPr>
          <p:cNvPr id="32" name="Text 30"/>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Defining Hard Rock Albums</a:t>
            </a:r>
            <a:endParaRPr lang="en-US" sz="1600" dirty="0"/>
          </a:p>
        </p:txBody>
      </p:sp>
      <p:sp>
        <p:nvSpPr>
          <p:cNvPr id="33" name="Shape 31"/>
          <p:cNvSpPr/>
          <p:nvPr/>
        </p:nvSpPr>
        <p:spPr>
          <a:xfrm>
            <a:off x="5260950" y="163512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34" name="Text 32"/>
          <p:cNvSpPr/>
          <p:nvPr/>
        </p:nvSpPr>
        <p:spPr>
          <a:xfrm>
            <a:off x="5469620" y="1825625"/>
            <a:ext cx="30956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LZ</a:t>
            </a:r>
            <a:endParaRPr lang="en-US" sz="1600" dirty="0"/>
          </a:p>
        </p:txBody>
      </p:sp>
      <p:sp>
        <p:nvSpPr>
          <p:cNvPr id="35" name="Text 33"/>
          <p:cNvSpPr/>
          <p:nvPr/>
        </p:nvSpPr>
        <p:spPr>
          <a:xfrm>
            <a:off x="6022950" y="176212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Physical Graffiti</a:t>
            </a:r>
            <a:endParaRPr lang="en-US" sz="1600" dirty="0"/>
          </a:p>
        </p:txBody>
      </p:sp>
      <p:sp>
        <p:nvSpPr>
          <p:cNvPr id="36" name="Text 34"/>
          <p:cNvSpPr/>
          <p:nvPr/>
        </p:nvSpPr>
        <p:spPr>
          <a:xfrm>
            <a:off x="6022950" y="198437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Led Zeppelin (1975) - Double album masterpiece</a:t>
            </a:r>
            <a:endParaRPr lang="en-US" sz="1600" dirty="0"/>
          </a:p>
        </p:txBody>
      </p:sp>
      <p:sp>
        <p:nvSpPr>
          <p:cNvPr id="37" name="Shape 35"/>
          <p:cNvSpPr/>
          <p:nvPr/>
        </p:nvSpPr>
        <p:spPr>
          <a:xfrm>
            <a:off x="5260950" y="236537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38" name="Text 36"/>
          <p:cNvSpPr/>
          <p:nvPr/>
        </p:nvSpPr>
        <p:spPr>
          <a:xfrm>
            <a:off x="5453993" y="2555875"/>
            <a:ext cx="34131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DP</a:t>
            </a:r>
            <a:endParaRPr lang="en-US" sz="1600" dirty="0"/>
          </a:p>
        </p:txBody>
      </p:sp>
      <p:sp>
        <p:nvSpPr>
          <p:cNvPr id="39" name="Text 37"/>
          <p:cNvSpPr/>
          <p:nvPr/>
        </p:nvSpPr>
        <p:spPr>
          <a:xfrm>
            <a:off x="6022950" y="249237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Machine Head</a:t>
            </a:r>
            <a:endParaRPr lang="en-US" sz="1600" dirty="0"/>
          </a:p>
        </p:txBody>
      </p:sp>
      <p:sp>
        <p:nvSpPr>
          <p:cNvPr id="40" name="Text 38"/>
          <p:cNvSpPr/>
          <p:nvPr/>
        </p:nvSpPr>
        <p:spPr>
          <a:xfrm>
            <a:off x="6022950" y="271462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Deep Purple (1972) - "Smoke on the Water"</a:t>
            </a:r>
            <a:endParaRPr lang="en-US" sz="1600" dirty="0"/>
          </a:p>
        </p:txBody>
      </p:sp>
      <p:sp>
        <p:nvSpPr>
          <p:cNvPr id="41" name="Shape 39"/>
          <p:cNvSpPr/>
          <p:nvPr/>
        </p:nvSpPr>
        <p:spPr>
          <a:xfrm>
            <a:off x="5260950" y="309562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42" name="Text 40"/>
          <p:cNvSpPr/>
          <p:nvPr/>
        </p:nvSpPr>
        <p:spPr>
          <a:xfrm>
            <a:off x="5460690" y="3286125"/>
            <a:ext cx="333375"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BS</a:t>
            </a:r>
            <a:endParaRPr lang="en-US" sz="1600" dirty="0"/>
          </a:p>
        </p:txBody>
      </p:sp>
      <p:sp>
        <p:nvSpPr>
          <p:cNvPr id="43" name="Text 41"/>
          <p:cNvSpPr/>
          <p:nvPr/>
        </p:nvSpPr>
        <p:spPr>
          <a:xfrm>
            <a:off x="6022950" y="322262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Paranoid</a:t>
            </a:r>
            <a:endParaRPr lang="en-US" sz="1600" dirty="0"/>
          </a:p>
        </p:txBody>
      </p:sp>
      <p:sp>
        <p:nvSpPr>
          <p:cNvPr id="44" name="Text 42"/>
          <p:cNvSpPr/>
          <p:nvPr/>
        </p:nvSpPr>
        <p:spPr>
          <a:xfrm>
            <a:off x="6022950" y="344487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Black Sabbath (1970) - "Iron Man" &amp; "War Pigs"</a:t>
            </a:r>
            <a:endParaRPr lang="en-US" sz="1600" dirty="0"/>
          </a:p>
        </p:txBody>
      </p:sp>
      <p:sp>
        <p:nvSpPr>
          <p:cNvPr id="45" name="Shape 43"/>
          <p:cNvSpPr/>
          <p:nvPr/>
        </p:nvSpPr>
        <p:spPr>
          <a:xfrm>
            <a:off x="5260950" y="382587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46" name="Text 44"/>
          <p:cNvSpPr/>
          <p:nvPr/>
        </p:nvSpPr>
        <p:spPr>
          <a:xfrm>
            <a:off x="5448660" y="4016375"/>
            <a:ext cx="35718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AC</a:t>
            </a:r>
            <a:endParaRPr lang="en-US" sz="1600" dirty="0"/>
          </a:p>
        </p:txBody>
      </p:sp>
      <p:sp>
        <p:nvSpPr>
          <p:cNvPr id="47" name="Text 45"/>
          <p:cNvSpPr/>
          <p:nvPr/>
        </p:nvSpPr>
        <p:spPr>
          <a:xfrm>
            <a:off x="6022950" y="395287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Highway to Hell</a:t>
            </a:r>
            <a:endParaRPr lang="en-US" sz="1600" dirty="0"/>
          </a:p>
        </p:txBody>
      </p:sp>
      <p:sp>
        <p:nvSpPr>
          <p:cNvPr id="48" name="Text 46"/>
          <p:cNvSpPr/>
          <p:nvPr/>
        </p:nvSpPr>
        <p:spPr>
          <a:xfrm>
            <a:off x="6022950" y="417512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AC/DC (1979) - Breakthrough album</a:t>
            </a:r>
            <a:endParaRPr lang="en-US" sz="1600" dirty="0"/>
          </a:p>
        </p:txBody>
      </p:sp>
      <p:sp>
        <p:nvSpPr>
          <p:cNvPr id="49" name="Shape 47"/>
          <p:cNvSpPr/>
          <p:nvPr/>
        </p:nvSpPr>
        <p:spPr>
          <a:xfrm>
            <a:off x="5054575" y="4794250"/>
            <a:ext cx="6818313" cy="1397000"/>
          </a:xfrm>
          <a:custGeom>
            <a:avLst/>
            <a:gdLst/>
            <a:ahLst/>
            <a:cxnLst/>
            <a:rect l="l" t="t" r="r" b="b"/>
            <a:pathLst>
              <a:path w="6818313" h="1397000">
                <a:moveTo>
                  <a:pt x="0" y="0"/>
                </a:moveTo>
                <a:lnTo>
                  <a:pt x="6818313" y="0"/>
                </a:lnTo>
                <a:lnTo>
                  <a:pt x="6818313" y="1397000"/>
                </a:lnTo>
                <a:lnTo>
                  <a:pt x="0" y="1397000"/>
                </a:lnTo>
                <a:lnTo>
                  <a:pt x="0" y="0"/>
                </a:lnTo>
                <a:close/>
              </a:path>
            </a:pathLst>
          </a:custGeom>
          <a:solidFill>
            <a:srgbClr val="DDFF00"/>
          </a:solidFill>
          <a:ln/>
        </p:spPr>
      </p:sp>
      <p:sp>
        <p:nvSpPr>
          <p:cNvPr id="50" name="Text 48"/>
          <p:cNvSpPr/>
          <p:nvPr/>
        </p:nvSpPr>
        <p:spPr>
          <a:xfrm>
            <a:off x="5213325" y="495300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Key Characteristics</a:t>
            </a:r>
            <a:endParaRPr lang="en-US" sz="1600" dirty="0"/>
          </a:p>
        </p:txBody>
      </p:sp>
      <p:sp>
        <p:nvSpPr>
          <p:cNvPr id="51" name="Shape 49"/>
          <p:cNvSpPr/>
          <p:nvPr/>
        </p:nvSpPr>
        <p:spPr>
          <a:xfrm>
            <a:off x="5237138" y="53022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2" name="Text 50"/>
          <p:cNvSpPr/>
          <p:nvPr/>
        </p:nvSpPr>
        <p:spPr>
          <a:xfrm>
            <a:off x="5435575" y="5270500"/>
            <a:ext cx="1190625"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Distorted guitar riffs</a:t>
            </a:r>
            <a:endParaRPr lang="en-US" sz="1600" dirty="0"/>
          </a:p>
        </p:txBody>
      </p:sp>
      <p:sp>
        <p:nvSpPr>
          <p:cNvPr id="53" name="Shape 51"/>
          <p:cNvSpPr/>
          <p:nvPr/>
        </p:nvSpPr>
        <p:spPr>
          <a:xfrm>
            <a:off x="8535975" y="53022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4" name="Text 52"/>
          <p:cNvSpPr/>
          <p:nvPr/>
        </p:nvSpPr>
        <p:spPr>
          <a:xfrm>
            <a:off x="8734413" y="5270500"/>
            <a:ext cx="1428750"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Powerful rhythm section</a:t>
            </a:r>
            <a:endParaRPr lang="en-US" sz="1600" dirty="0"/>
          </a:p>
        </p:txBody>
      </p:sp>
      <p:sp>
        <p:nvSpPr>
          <p:cNvPr id="55" name="Shape 53"/>
          <p:cNvSpPr/>
          <p:nvPr/>
        </p:nvSpPr>
        <p:spPr>
          <a:xfrm>
            <a:off x="5237138" y="5588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6" name="Text 54"/>
          <p:cNvSpPr/>
          <p:nvPr/>
        </p:nvSpPr>
        <p:spPr>
          <a:xfrm>
            <a:off x="5435575" y="5556250"/>
            <a:ext cx="1270000"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Extended guitar solos</a:t>
            </a:r>
            <a:endParaRPr lang="en-US" sz="1600" dirty="0"/>
          </a:p>
        </p:txBody>
      </p:sp>
      <p:sp>
        <p:nvSpPr>
          <p:cNvPr id="57" name="Shape 55"/>
          <p:cNvSpPr/>
          <p:nvPr/>
        </p:nvSpPr>
        <p:spPr>
          <a:xfrm>
            <a:off x="8535975" y="5588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8" name="Text 56"/>
          <p:cNvSpPr/>
          <p:nvPr/>
        </p:nvSpPr>
        <p:spPr>
          <a:xfrm>
            <a:off x="8734413" y="5556250"/>
            <a:ext cx="1222375"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High-energy tempos</a:t>
            </a:r>
            <a:endParaRPr lang="en-US" sz="1600" dirty="0"/>
          </a:p>
        </p:txBody>
      </p:sp>
      <p:sp>
        <p:nvSpPr>
          <p:cNvPr id="59" name="Shape 57"/>
          <p:cNvSpPr/>
          <p:nvPr/>
        </p:nvSpPr>
        <p:spPr>
          <a:xfrm>
            <a:off x="5237138" y="5873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60" name="Text 58"/>
          <p:cNvSpPr/>
          <p:nvPr/>
        </p:nvSpPr>
        <p:spPr>
          <a:xfrm>
            <a:off x="5435575" y="5842000"/>
            <a:ext cx="1341438"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Raw, aggressive sound</a:t>
            </a:r>
            <a:endParaRPr lang="en-US" sz="1600" dirty="0"/>
          </a:p>
        </p:txBody>
      </p:sp>
      <p:sp>
        <p:nvSpPr>
          <p:cNvPr id="61" name="Shape 59"/>
          <p:cNvSpPr/>
          <p:nvPr/>
        </p:nvSpPr>
        <p:spPr>
          <a:xfrm>
            <a:off x="8535975" y="5873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62" name="Text 60"/>
          <p:cNvSpPr/>
          <p:nvPr/>
        </p:nvSpPr>
        <p:spPr>
          <a:xfrm>
            <a:off x="8734413" y="5842000"/>
            <a:ext cx="1397000"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Blues-based foundation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https://kimi-web-img.moonshot.cn/img/blog.lightbulbs-direct.com/c5476f8879cb26999f5eb942ecbf9f7ff3b14f4e.jpg">    </p:cNvPr>
          <p:cNvPicPr>
            <a:picLocks noChangeAspect="1"/>
          </p:cNvPicPr>
          <p:nvPr/>
        </p:nvPicPr>
        <p:blipFill>
          <a:blip r:embed="rId1">
            <a:alphaModFix amt="30000"/>
          </a:blip>
          <a:srcRect l="0" r="0" t="7547" b="7547"/>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9789" y="1638300"/>
            <a:ext cx="1181100"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04</a:t>
            </a:r>
            <a:endParaRPr lang="en-US" sz="1600" dirty="0"/>
          </a:p>
        </p:txBody>
      </p:sp>
      <p:sp>
        <p:nvSpPr>
          <p:cNvPr id="7" name="Shape 4"/>
          <p:cNvSpPr/>
          <p:nvPr/>
        </p:nvSpPr>
        <p:spPr>
          <a:xfrm>
            <a:off x="1828800" y="1752600"/>
            <a:ext cx="3209925" cy="38100"/>
          </a:xfrm>
          <a:custGeom>
            <a:avLst/>
            <a:gdLst/>
            <a:ahLst/>
            <a:cxnLst/>
            <a:rect l="l" t="t" r="r" b="b"/>
            <a:pathLst>
              <a:path w="3209925" h="38100">
                <a:moveTo>
                  <a:pt x="0" y="0"/>
                </a:moveTo>
                <a:lnTo>
                  <a:pt x="3209925" y="0"/>
                </a:lnTo>
                <a:lnTo>
                  <a:pt x="3209925" y="38100"/>
                </a:lnTo>
                <a:lnTo>
                  <a:pt x="0" y="38100"/>
                </a:lnTo>
                <a:lnTo>
                  <a:pt x="0" y="0"/>
                </a:lnTo>
                <a:close/>
              </a:path>
            </a:pathLst>
          </a:custGeom>
          <a:solidFill>
            <a:srgbClr val="DDFF00"/>
          </a:solidFill>
          <a:ln/>
        </p:spPr>
      </p:sp>
      <p:sp>
        <p:nvSpPr>
          <p:cNvPr id="8" name="Text 5"/>
          <p:cNvSpPr/>
          <p:nvPr/>
        </p:nvSpPr>
        <p:spPr>
          <a:xfrm>
            <a:off x="1828800" y="1943100"/>
            <a:ext cx="3295650"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FOUR</a:t>
            </a:r>
            <a:endParaRPr lang="en-US" sz="1600" dirty="0"/>
          </a:p>
        </p:txBody>
      </p:sp>
      <p:sp>
        <p:nvSpPr>
          <p:cNvPr id="9" name="Text 6"/>
          <p:cNvSpPr/>
          <p:nvPr/>
        </p:nvSpPr>
        <p:spPr>
          <a:xfrm>
            <a:off x="381000" y="2895600"/>
            <a:ext cx="5000625"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BIRTH OF</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HEAVY METAL</a:t>
            </a:r>
            <a:endParaRPr lang="en-US" sz="1600" dirty="0"/>
          </a:p>
        </p:txBody>
      </p:sp>
      <p:sp>
        <p:nvSpPr>
          <p:cNvPr id="10" name="Text 7"/>
          <p:cNvSpPr/>
          <p:nvPr/>
        </p:nvSpPr>
        <p:spPr>
          <a:xfrm>
            <a:off x="381000" y="4838700"/>
            <a:ext cx="4772025"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Late 1960s-1970s: The Unholy Trinity</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4095750"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04</a:t>
            </a:r>
            <a:endParaRPr lang="en-US" sz="1600" dirty="0"/>
          </a:p>
        </p:txBody>
      </p:sp>
      <p:sp>
        <p:nvSpPr>
          <p:cNvPr id="4" name="Text 2"/>
          <p:cNvSpPr/>
          <p:nvPr/>
        </p:nvSpPr>
        <p:spPr>
          <a:xfrm>
            <a:off x="508000" y="476250"/>
            <a:ext cx="4183063"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The Three Pillars of Heavy Metal</a:t>
            </a:r>
            <a:endParaRPr lang="en-US" sz="1600" dirty="0"/>
          </a:p>
        </p:txBody>
      </p:sp>
      <p:sp>
        <p:nvSpPr>
          <p:cNvPr id="5" name="Shape 3"/>
          <p:cNvSpPr/>
          <p:nvPr/>
        </p:nvSpPr>
        <p:spPr>
          <a:xfrm>
            <a:off x="317500" y="1047750"/>
            <a:ext cx="6818313" cy="2063750"/>
          </a:xfrm>
          <a:custGeom>
            <a:avLst/>
            <a:gdLst/>
            <a:ahLst/>
            <a:cxnLst/>
            <a:rect l="l" t="t" r="r" b="b"/>
            <a:pathLst>
              <a:path w="6818313" h="2063750">
                <a:moveTo>
                  <a:pt x="0" y="0"/>
                </a:moveTo>
                <a:lnTo>
                  <a:pt x="6818313" y="0"/>
                </a:lnTo>
                <a:lnTo>
                  <a:pt x="6818313" y="2063750"/>
                </a:lnTo>
                <a:lnTo>
                  <a:pt x="0" y="2063750"/>
                </a:lnTo>
                <a:lnTo>
                  <a:pt x="0" y="0"/>
                </a:lnTo>
                <a:close/>
              </a:path>
            </a:pathLst>
          </a:custGeom>
          <a:solidFill>
            <a:srgbClr val="DDFF00"/>
          </a:solidFill>
          <a:ln/>
        </p:spPr>
      </p:sp>
      <p:sp>
        <p:nvSpPr>
          <p:cNvPr id="6" name="Text 4"/>
          <p:cNvSpPr/>
          <p:nvPr/>
        </p:nvSpPr>
        <p:spPr>
          <a:xfrm>
            <a:off x="508000" y="1238250"/>
            <a:ext cx="653256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Unholy Trinity</a:t>
            </a:r>
            <a:endParaRPr lang="en-US" sz="1600" dirty="0"/>
          </a:p>
        </p:txBody>
      </p:sp>
      <p:sp>
        <p:nvSpPr>
          <p:cNvPr id="7" name="Text 5"/>
          <p:cNvSpPr/>
          <p:nvPr/>
        </p:nvSpPr>
        <p:spPr>
          <a:xfrm>
            <a:off x="508000" y="1587500"/>
            <a:ext cx="65008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In the late 1960s, three British bands emerged that would forge heavy metal:</a:t>
            </a:r>
            <a:pPr>
              <a:lnSpc>
                <a:spcPct val="140000"/>
              </a:lnSpc>
            </a:pPr>
            <a:r>
              <a:rPr lang="en-US" sz="1000" dirty="0">
                <a:solidFill>
                  <a:srgbClr val="000000"/>
                </a:solidFill>
                <a:latin typeface="Liter" pitchFamily="34" charset="0"/>
                <a:ea typeface="Liter" pitchFamily="34" charset="-122"/>
                <a:cs typeface="Liter" pitchFamily="34" charset="-120"/>
              </a:rPr>
              <a:t> Led Zeppelin, Black Sabbath, and Deep Purple. Often called the "unholy trinity," these pioneering groups crystallized the heavy metal sound and style that would dominate the 1970s and beyond.</a:t>
            </a:r>
            <a:endParaRPr lang="en-US" sz="1600" dirty="0"/>
          </a:p>
        </p:txBody>
      </p:sp>
      <p:sp>
        <p:nvSpPr>
          <p:cNvPr id="8" name="Text 6"/>
          <p:cNvSpPr/>
          <p:nvPr/>
        </p:nvSpPr>
        <p:spPr>
          <a:xfrm>
            <a:off x="508000" y="2301875"/>
            <a:ext cx="6500813"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Each band contributed unique elements—Led Zeppelin's riff-driven anthems, Black Sabbath's dark and heavy atmosphere, and Deep Purple's technical virtuosity. Together, they established the musical and visual style that would define the genre.</a:t>
            </a:r>
            <a:endParaRPr lang="en-US" sz="1600" dirty="0"/>
          </a:p>
        </p:txBody>
      </p:sp>
      <p:sp>
        <p:nvSpPr>
          <p:cNvPr id="9" name="Shape 7"/>
          <p:cNvSpPr/>
          <p:nvPr/>
        </p:nvSpPr>
        <p:spPr>
          <a:xfrm>
            <a:off x="325438" y="3246438"/>
            <a:ext cx="2174875" cy="3286125"/>
          </a:xfrm>
          <a:custGeom>
            <a:avLst/>
            <a:gdLst/>
            <a:ahLst/>
            <a:cxnLst/>
            <a:rect l="l" t="t" r="r" b="b"/>
            <a:pathLst>
              <a:path w="2174875" h="3286125">
                <a:moveTo>
                  <a:pt x="0" y="0"/>
                </a:moveTo>
                <a:lnTo>
                  <a:pt x="2174875" y="0"/>
                </a:lnTo>
                <a:lnTo>
                  <a:pt x="2174875" y="3286125"/>
                </a:lnTo>
                <a:lnTo>
                  <a:pt x="0" y="3286125"/>
                </a:lnTo>
                <a:lnTo>
                  <a:pt x="0" y="0"/>
                </a:lnTo>
                <a:close/>
              </a:path>
            </a:pathLst>
          </a:custGeom>
          <a:solidFill>
            <a:srgbClr val="000000">
              <a:alpha val="0"/>
            </a:srgbClr>
          </a:solidFill>
          <a:ln w="25400">
            <a:solidFill>
              <a:srgbClr val="DDFF00"/>
            </a:solidFill>
            <a:prstDash val="solid"/>
          </a:ln>
        </p:spPr>
      </p:sp>
      <p:sp>
        <p:nvSpPr>
          <p:cNvPr id="10" name="Shape 8"/>
          <p:cNvSpPr/>
          <p:nvPr/>
        </p:nvSpPr>
        <p:spPr>
          <a:xfrm>
            <a:off x="1157821" y="3381375"/>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11" name="Shape 9"/>
          <p:cNvSpPr/>
          <p:nvPr/>
        </p:nvSpPr>
        <p:spPr>
          <a:xfrm>
            <a:off x="1309625" y="3516313"/>
            <a:ext cx="208359" cy="238125"/>
          </a:xfrm>
          <a:custGeom>
            <a:avLst/>
            <a:gdLst/>
            <a:ahLst/>
            <a:cxnLst/>
            <a:rect l="l" t="t" r="r" b="b"/>
            <a:pathLst>
              <a:path w="208359" h="238125">
                <a:moveTo>
                  <a:pt x="157572" y="-4604"/>
                </a:moveTo>
                <a:cubicBezTo>
                  <a:pt x="163106" y="-605"/>
                  <a:pt x="165153" y="6651"/>
                  <a:pt x="162641" y="12976"/>
                </a:cubicBezTo>
                <a:lnTo>
                  <a:pt x="126178" y="104180"/>
                </a:lnTo>
                <a:lnTo>
                  <a:pt x="193477" y="104180"/>
                </a:lnTo>
                <a:cubicBezTo>
                  <a:pt x="199755" y="104180"/>
                  <a:pt x="205336" y="108086"/>
                  <a:pt x="207476" y="113993"/>
                </a:cubicBezTo>
                <a:cubicBezTo>
                  <a:pt x="209615" y="119900"/>
                  <a:pt x="207801" y="126504"/>
                  <a:pt x="203011" y="130504"/>
                </a:cubicBezTo>
                <a:lnTo>
                  <a:pt x="69066" y="242125"/>
                </a:lnTo>
                <a:cubicBezTo>
                  <a:pt x="63810" y="246497"/>
                  <a:pt x="56322" y="246729"/>
                  <a:pt x="50788" y="242729"/>
                </a:cubicBezTo>
                <a:cubicBezTo>
                  <a:pt x="45253" y="238730"/>
                  <a:pt x="43207" y="231474"/>
                  <a:pt x="45718" y="225149"/>
                </a:cubicBezTo>
                <a:lnTo>
                  <a:pt x="82181" y="133945"/>
                </a:lnTo>
                <a:lnTo>
                  <a:pt x="14883" y="133945"/>
                </a:lnTo>
                <a:cubicBezTo>
                  <a:pt x="8604" y="133945"/>
                  <a:pt x="3023" y="130039"/>
                  <a:pt x="884" y="124132"/>
                </a:cubicBezTo>
                <a:cubicBezTo>
                  <a:pt x="-1256" y="118225"/>
                  <a:pt x="558" y="111621"/>
                  <a:pt x="5349" y="107621"/>
                </a:cubicBezTo>
                <a:lnTo>
                  <a:pt x="139294" y="-4000"/>
                </a:lnTo>
                <a:cubicBezTo>
                  <a:pt x="144549" y="-8372"/>
                  <a:pt x="152037" y="-8604"/>
                  <a:pt x="157572" y="-4604"/>
                </a:cubicBezTo>
                <a:close/>
              </a:path>
            </a:pathLst>
          </a:custGeom>
          <a:solidFill>
            <a:srgbClr val="000000"/>
          </a:solidFill>
          <a:ln/>
        </p:spPr>
      </p:sp>
      <p:sp>
        <p:nvSpPr>
          <p:cNvPr id="12" name="Text 10"/>
          <p:cNvSpPr/>
          <p:nvPr/>
        </p:nvSpPr>
        <p:spPr>
          <a:xfrm>
            <a:off x="420688" y="3952875"/>
            <a:ext cx="1984375"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Led Zeppelin</a:t>
            </a:r>
            <a:endParaRPr lang="en-US" sz="1600" dirty="0"/>
          </a:p>
        </p:txBody>
      </p:sp>
      <p:sp>
        <p:nvSpPr>
          <p:cNvPr id="13" name="Text 11"/>
          <p:cNvSpPr/>
          <p:nvPr/>
        </p:nvSpPr>
        <p:spPr>
          <a:xfrm>
            <a:off x="432594" y="4175125"/>
            <a:ext cx="1960563" cy="158750"/>
          </a:xfrm>
          <a:prstGeom prst="rect">
            <a:avLst/>
          </a:prstGeom>
          <a:noFill/>
          <a:ln/>
        </p:spPr>
        <p:txBody>
          <a:bodyPr wrap="square" lIns="0" tIns="0" rIns="0" bIns="0" rtlCol="0" anchor="ctr"/>
          <a:lstStyle/>
          <a:p>
            <a:pPr algn="ctr">
              <a:lnSpc>
                <a:spcPct val="120000"/>
              </a:lnSpc>
            </a:pPr>
            <a:r>
              <a:rPr lang="en-US" sz="875" dirty="0">
                <a:solidFill>
                  <a:srgbClr val="DDFF00"/>
                </a:solidFill>
                <a:latin typeface="Liter" pitchFamily="34" charset="0"/>
                <a:ea typeface="Liter" pitchFamily="34" charset="-122"/>
                <a:cs typeface="Liter" pitchFamily="34" charset="-120"/>
              </a:rPr>
              <a:t>The Blueprint</a:t>
            </a:r>
            <a:endParaRPr lang="en-US" sz="1600" dirty="0"/>
          </a:p>
        </p:txBody>
      </p:sp>
      <p:sp>
        <p:nvSpPr>
          <p:cNvPr id="14" name="Text 12"/>
          <p:cNvSpPr/>
          <p:nvPr/>
        </p:nvSpPr>
        <p:spPr>
          <a:xfrm>
            <a:off x="460375" y="4429125"/>
            <a:ext cx="1960563" cy="1587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Formed:</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1968, London</a:t>
            </a:r>
            <a:endParaRPr lang="en-US" sz="1600" dirty="0"/>
          </a:p>
        </p:txBody>
      </p:sp>
      <p:sp>
        <p:nvSpPr>
          <p:cNvPr id="15" name="Text 13"/>
          <p:cNvSpPr/>
          <p:nvPr/>
        </p:nvSpPr>
        <p:spPr>
          <a:xfrm>
            <a:off x="460375" y="4651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Key Members: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Jimmy Page, Robert Plant, John Paul Jones, John Bonham</a:t>
            </a:r>
            <a:endParaRPr lang="en-US" sz="1600" dirty="0"/>
          </a:p>
        </p:txBody>
      </p:sp>
      <p:sp>
        <p:nvSpPr>
          <p:cNvPr id="16" name="Text 14"/>
          <p:cNvSpPr/>
          <p:nvPr/>
        </p:nvSpPr>
        <p:spPr>
          <a:xfrm>
            <a:off x="460375" y="5032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Contribution:</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Blues-rock fusion, monster riffs, mythological themes</a:t>
            </a:r>
            <a:endParaRPr lang="en-US" sz="1600" dirty="0"/>
          </a:p>
        </p:txBody>
      </p:sp>
      <p:sp>
        <p:nvSpPr>
          <p:cNvPr id="17" name="Text 15"/>
          <p:cNvSpPr/>
          <p:nvPr/>
        </p:nvSpPr>
        <p:spPr>
          <a:xfrm>
            <a:off x="460375" y="5413375"/>
            <a:ext cx="1960563" cy="4762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Iconic Tracks: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"Whole Lotta Love," "Stairway to Heaven," "Immigrant Song"</a:t>
            </a:r>
            <a:endParaRPr lang="en-US" sz="1600" dirty="0"/>
          </a:p>
        </p:txBody>
      </p:sp>
      <p:sp>
        <p:nvSpPr>
          <p:cNvPr id="18" name="Shape 16"/>
          <p:cNvSpPr/>
          <p:nvPr/>
        </p:nvSpPr>
        <p:spPr>
          <a:xfrm>
            <a:off x="460375" y="6044406"/>
            <a:ext cx="1905000" cy="7938"/>
          </a:xfrm>
          <a:custGeom>
            <a:avLst/>
            <a:gdLst/>
            <a:ahLst/>
            <a:cxnLst/>
            <a:rect l="l" t="t" r="r" b="b"/>
            <a:pathLst>
              <a:path w="1905000" h="7938">
                <a:moveTo>
                  <a:pt x="0" y="0"/>
                </a:moveTo>
                <a:lnTo>
                  <a:pt x="1905000" y="0"/>
                </a:lnTo>
                <a:lnTo>
                  <a:pt x="1905000" y="7938"/>
                </a:lnTo>
                <a:lnTo>
                  <a:pt x="0" y="7938"/>
                </a:lnTo>
                <a:lnTo>
                  <a:pt x="0" y="0"/>
                </a:lnTo>
                <a:close/>
              </a:path>
            </a:pathLst>
          </a:custGeom>
          <a:solidFill>
            <a:srgbClr val="DDFF00">
              <a:alpha val="30196"/>
            </a:srgbClr>
          </a:solidFill>
          <a:ln/>
        </p:spPr>
      </p:sp>
      <p:sp>
        <p:nvSpPr>
          <p:cNvPr id="19" name="Text 17"/>
          <p:cNvSpPr/>
          <p:nvPr/>
        </p:nvSpPr>
        <p:spPr>
          <a:xfrm>
            <a:off x="460375" y="6143625"/>
            <a:ext cx="1952625" cy="254000"/>
          </a:xfrm>
          <a:prstGeom prst="rect">
            <a:avLst/>
          </a:prstGeom>
          <a:noFill/>
          <a:ln/>
        </p:spPr>
        <p:txBody>
          <a:bodyPr wrap="square" lIns="0" tIns="0" rIns="0" bIns="0" rtlCol="0" anchor="ctr"/>
          <a:lstStyle/>
          <a:p>
            <a:pPr>
              <a:lnSpc>
                <a:spcPct val="110000"/>
              </a:lnSpc>
            </a:pPr>
            <a:r>
              <a:rPr lang="en-US" sz="750" dirty="0">
                <a:solidFill>
                  <a:srgbClr val="FFFFFF">
                    <a:alpha val="60000"/>
                  </a:srgbClr>
                </a:solidFill>
                <a:latin typeface="Liter" pitchFamily="34" charset="0"/>
                <a:ea typeface="Liter" pitchFamily="34" charset="-122"/>
                <a:cs typeface="Liter" pitchFamily="34" charset="-120"/>
              </a:rPr>
              <a:t>Pioneered stadium rock and album-oriented approach</a:t>
            </a:r>
            <a:endParaRPr lang="en-US" sz="1600" dirty="0"/>
          </a:p>
        </p:txBody>
      </p:sp>
      <p:sp>
        <p:nvSpPr>
          <p:cNvPr id="20" name="Shape 18"/>
          <p:cNvSpPr/>
          <p:nvPr/>
        </p:nvSpPr>
        <p:spPr>
          <a:xfrm>
            <a:off x="2641079" y="3246438"/>
            <a:ext cx="2174875" cy="3286125"/>
          </a:xfrm>
          <a:custGeom>
            <a:avLst/>
            <a:gdLst/>
            <a:ahLst/>
            <a:cxnLst/>
            <a:rect l="l" t="t" r="r" b="b"/>
            <a:pathLst>
              <a:path w="2174875" h="3286125">
                <a:moveTo>
                  <a:pt x="0" y="0"/>
                </a:moveTo>
                <a:lnTo>
                  <a:pt x="2174875" y="0"/>
                </a:lnTo>
                <a:lnTo>
                  <a:pt x="2174875" y="3286125"/>
                </a:lnTo>
                <a:lnTo>
                  <a:pt x="0" y="3286125"/>
                </a:lnTo>
                <a:lnTo>
                  <a:pt x="0" y="0"/>
                </a:lnTo>
                <a:close/>
              </a:path>
            </a:pathLst>
          </a:custGeom>
          <a:solidFill>
            <a:srgbClr val="000000">
              <a:alpha val="0"/>
            </a:srgbClr>
          </a:solidFill>
          <a:ln w="25400">
            <a:solidFill>
              <a:srgbClr val="DDFF00"/>
            </a:solidFill>
            <a:prstDash val="solid"/>
          </a:ln>
        </p:spPr>
      </p:sp>
      <p:sp>
        <p:nvSpPr>
          <p:cNvPr id="21" name="Shape 19"/>
          <p:cNvSpPr/>
          <p:nvPr/>
        </p:nvSpPr>
        <p:spPr>
          <a:xfrm>
            <a:off x="3473462" y="3381375"/>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22" name="Shape 20"/>
          <p:cNvSpPr/>
          <p:nvPr/>
        </p:nvSpPr>
        <p:spPr>
          <a:xfrm>
            <a:off x="3610384" y="3516313"/>
            <a:ext cx="238125" cy="238125"/>
          </a:xfrm>
          <a:custGeom>
            <a:avLst/>
            <a:gdLst/>
            <a:ahLst/>
            <a:cxnLst/>
            <a:rect l="l" t="t" r="r" b="b"/>
            <a:pathLst>
              <a:path w="238125" h="238125">
                <a:moveTo>
                  <a:pt x="193477" y="198779"/>
                </a:moveTo>
                <a:cubicBezTo>
                  <a:pt x="220684" y="178315"/>
                  <a:pt x="238125" y="146875"/>
                  <a:pt x="238125" y="111621"/>
                </a:cubicBezTo>
                <a:cubicBezTo>
                  <a:pt x="238125" y="49997"/>
                  <a:pt x="184826" y="0"/>
                  <a:pt x="119062" y="0"/>
                </a:cubicBezTo>
                <a:cubicBezTo>
                  <a:pt x="53299" y="0"/>
                  <a:pt x="0" y="49997"/>
                  <a:pt x="0" y="111621"/>
                </a:cubicBezTo>
                <a:cubicBezTo>
                  <a:pt x="0" y="146875"/>
                  <a:pt x="17441" y="178315"/>
                  <a:pt x="44648" y="198779"/>
                </a:cubicBezTo>
                <a:lnTo>
                  <a:pt x="44648" y="215801"/>
                </a:lnTo>
                <a:cubicBezTo>
                  <a:pt x="44648" y="228126"/>
                  <a:pt x="54648" y="238125"/>
                  <a:pt x="66973" y="238125"/>
                </a:cubicBezTo>
                <a:lnTo>
                  <a:pt x="81855" y="238125"/>
                </a:lnTo>
                <a:lnTo>
                  <a:pt x="81855" y="219521"/>
                </a:lnTo>
                <a:cubicBezTo>
                  <a:pt x="81855" y="213336"/>
                  <a:pt x="86832" y="208359"/>
                  <a:pt x="93018" y="208359"/>
                </a:cubicBezTo>
                <a:cubicBezTo>
                  <a:pt x="99203" y="208359"/>
                  <a:pt x="104180" y="213336"/>
                  <a:pt x="104180" y="219521"/>
                </a:cubicBezTo>
                <a:lnTo>
                  <a:pt x="104180" y="238125"/>
                </a:lnTo>
                <a:lnTo>
                  <a:pt x="133945" y="238125"/>
                </a:lnTo>
                <a:lnTo>
                  <a:pt x="133945" y="219521"/>
                </a:lnTo>
                <a:cubicBezTo>
                  <a:pt x="133945" y="213336"/>
                  <a:pt x="138922" y="208359"/>
                  <a:pt x="145107" y="208359"/>
                </a:cubicBezTo>
                <a:cubicBezTo>
                  <a:pt x="151293" y="208359"/>
                  <a:pt x="156270" y="213336"/>
                  <a:pt x="156270" y="219521"/>
                </a:cubicBezTo>
                <a:lnTo>
                  <a:pt x="156270" y="238125"/>
                </a:lnTo>
                <a:lnTo>
                  <a:pt x="171152" y="238125"/>
                </a:lnTo>
                <a:cubicBezTo>
                  <a:pt x="183477" y="238125"/>
                  <a:pt x="193477" y="228126"/>
                  <a:pt x="193477" y="215801"/>
                </a:cubicBezTo>
                <a:lnTo>
                  <a:pt x="193477" y="198779"/>
                </a:lnTo>
                <a:close/>
                <a:moveTo>
                  <a:pt x="44648" y="119062"/>
                </a:moveTo>
                <a:cubicBezTo>
                  <a:pt x="44648" y="102634"/>
                  <a:pt x="57986" y="89297"/>
                  <a:pt x="74414" y="89297"/>
                </a:cubicBezTo>
                <a:cubicBezTo>
                  <a:pt x="90842" y="89297"/>
                  <a:pt x="104180" y="102634"/>
                  <a:pt x="104180" y="119062"/>
                </a:cubicBezTo>
                <a:cubicBezTo>
                  <a:pt x="104180" y="135491"/>
                  <a:pt x="90842" y="148828"/>
                  <a:pt x="74414" y="148828"/>
                </a:cubicBezTo>
                <a:cubicBezTo>
                  <a:pt x="57986" y="148828"/>
                  <a:pt x="44648" y="135491"/>
                  <a:pt x="44648" y="119062"/>
                </a:cubicBezTo>
                <a:close/>
                <a:moveTo>
                  <a:pt x="163711" y="89297"/>
                </a:moveTo>
                <a:cubicBezTo>
                  <a:pt x="180139" y="89297"/>
                  <a:pt x="193477" y="102634"/>
                  <a:pt x="193477" y="119062"/>
                </a:cubicBezTo>
                <a:cubicBezTo>
                  <a:pt x="193477" y="135491"/>
                  <a:pt x="180139" y="148828"/>
                  <a:pt x="163711" y="148828"/>
                </a:cubicBezTo>
                <a:cubicBezTo>
                  <a:pt x="147283" y="148828"/>
                  <a:pt x="133945" y="135491"/>
                  <a:pt x="133945" y="119062"/>
                </a:cubicBezTo>
                <a:cubicBezTo>
                  <a:pt x="133945" y="102634"/>
                  <a:pt x="147283" y="89297"/>
                  <a:pt x="163711" y="89297"/>
                </a:cubicBezTo>
                <a:close/>
              </a:path>
            </a:pathLst>
          </a:custGeom>
          <a:solidFill>
            <a:srgbClr val="000000"/>
          </a:solidFill>
          <a:ln/>
        </p:spPr>
      </p:sp>
      <p:sp>
        <p:nvSpPr>
          <p:cNvPr id="23" name="Text 21"/>
          <p:cNvSpPr/>
          <p:nvPr/>
        </p:nvSpPr>
        <p:spPr>
          <a:xfrm>
            <a:off x="2736329" y="3952875"/>
            <a:ext cx="1984375"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Black Sabbath</a:t>
            </a:r>
            <a:endParaRPr lang="en-US" sz="1600" dirty="0"/>
          </a:p>
        </p:txBody>
      </p:sp>
      <p:sp>
        <p:nvSpPr>
          <p:cNvPr id="24" name="Text 22"/>
          <p:cNvSpPr/>
          <p:nvPr/>
        </p:nvSpPr>
        <p:spPr>
          <a:xfrm>
            <a:off x="2748235" y="4175125"/>
            <a:ext cx="1960563" cy="158750"/>
          </a:xfrm>
          <a:prstGeom prst="rect">
            <a:avLst/>
          </a:prstGeom>
          <a:noFill/>
          <a:ln/>
        </p:spPr>
        <p:txBody>
          <a:bodyPr wrap="square" lIns="0" tIns="0" rIns="0" bIns="0" rtlCol="0" anchor="ctr"/>
          <a:lstStyle/>
          <a:p>
            <a:pPr algn="ctr">
              <a:lnSpc>
                <a:spcPct val="120000"/>
              </a:lnSpc>
            </a:pPr>
            <a:r>
              <a:rPr lang="en-US" sz="875" dirty="0">
                <a:solidFill>
                  <a:srgbClr val="DDFF00"/>
                </a:solidFill>
                <a:latin typeface="Liter" pitchFamily="34" charset="0"/>
                <a:ea typeface="Liter" pitchFamily="34" charset="-122"/>
                <a:cs typeface="Liter" pitchFamily="34" charset="-120"/>
              </a:rPr>
              <a:t>The Darkness</a:t>
            </a:r>
            <a:endParaRPr lang="en-US" sz="1600" dirty="0"/>
          </a:p>
        </p:txBody>
      </p:sp>
      <p:sp>
        <p:nvSpPr>
          <p:cNvPr id="25" name="Text 23"/>
          <p:cNvSpPr/>
          <p:nvPr/>
        </p:nvSpPr>
        <p:spPr>
          <a:xfrm>
            <a:off x="2776017" y="4429125"/>
            <a:ext cx="1960563" cy="1587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Formed:</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1968, Birmingham</a:t>
            </a:r>
            <a:endParaRPr lang="en-US" sz="1600" dirty="0"/>
          </a:p>
        </p:txBody>
      </p:sp>
      <p:sp>
        <p:nvSpPr>
          <p:cNvPr id="26" name="Text 24"/>
          <p:cNvSpPr/>
          <p:nvPr/>
        </p:nvSpPr>
        <p:spPr>
          <a:xfrm>
            <a:off x="2776017" y="4651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Key Members: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Tony Iommi, Ozzy Osbourne, Geezer Butler, Bill Ward</a:t>
            </a:r>
            <a:endParaRPr lang="en-US" sz="1600" dirty="0"/>
          </a:p>
        </p:txBody>
      </p:sp>
      <p:sp>
        <p:nvSpPr>
          <p:cNvPr id="27" name="Text 25"/>
          <p:cNvSpPr/>
          <p:nvPr/>
        </p:nvSpPr>
        <p:spPr>
          <a:xfrm>
            <a:off x="2776017" y="5032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Contribution:</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Downtuned guitars, occult themes, doom atmosphere</a:t>
            </a:r>
            <a:endParaRPr lang="en-US" sz="1600" dirty="0"/>
          </a:p>
        </p:txBody>
      </p:sp>
      <p:sp>
        <p:nvSpPr>
          <p:cNvPr id="28" name="Text 26"/>
          <p:cNvSpPr/>
          <p:nvPr/>
        </p:nvSpPr>
        <p:spPr>
          <a:xfrm>
            <a:off x="2776017" y="5413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Iconic Tracks: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"Paranoid," "Iron Man," "War Pigs"</a:t>
            </a:r>
            <a:endParaRPr lang="en-US" sz="1600" dirty="0"/>
          </a:p>
        </p:txBody>
      </p:sp>
      <p:sp>
        <p:nvSpPr>
          <p:cNvPr id="29" name="Shape 27"/>
          <p:cNvSpPr/>
          <p:nvPr/>
        </p:nvSpPr>
        <p:spPr>
          <a:xfrm>
            <a:off x="2776017" y="6044406"/>
            <a:ext cx="1905000" cy="7938"/>
          </a:xfrm>
          <a:custGeom>
            <a:avLst/>
            <a:gdLst/>
            <a:ahLst/>
            <a:cxnLst/>
            <a:rect l="l" t="t" r="r" b="b"/>
            <a:pathLst>
              <a:path w="1905000" h="7938">
                <a:moveTo>
                  <a:pt x="0" y="0"/>
                </a:moveTo>
                <a:lnTo>
                  <a:pt x="1905000" y="0"/>
                </a:lnTo>
                <a:lnTo>
                  <a:pt x="1905000" y="7938"/>
                </a:lnTo>
                <a:lnTo>
                  <a:pt x="0" y="7938"/>
                </a:lnTo>
                <a:lnTo>
                  <a:pt x="0" y="0"/>
                </a:lnTo>
                <a:close/>
              </a:path>
            </a:pathLst>
          </a:custGeom>
          <a:solidFill>
            <a:srgbClr val="DDFF00">
              <a:alpha val="30196"/>
            </a:srgbClr>
          </a:solidFill>
          <a:ln/>
        </p:spPr>
      </p:sp>
      <p:sp>
        <p:nvSpPr>
          <p:cNvPr id="30" name="Text 28"/>
          <p:cNvSpPr/>
          <p:nvPr/>
        </p:nvSpPr>
        <p:spPr>
          <a:xfrm>
            <a:off x="2776017" y="6143625"/>
            <a:ext cx="1952625" cy="254000"/>
          </a:xfrm>
          <a:prstGeom prst="rect">
            <a:avLst/>
          </a:prstGeom>
          <a:noFill/>
          <a:ln/>
        </p:spPr>
        <p:txBody>
          <a:bodyPr wrap="square" lIns="0" tIns="0" rIns="0" bIns="0" rtlCol="0" anchor="ctr"/>
          <a:lstStyle/>
          <a:p>
            <a:pPr>
              <a:lnSpc>
                <a:spcPct val="110000"/>
              </a:lnSpc>
            </a:pPr>
            <a:r>
              <a:rPr lang="en-US" sz="750" dirty="0">
                <a:solidFill>
                  <a:srgbClr val="FFFFFF">
                    <a:alpha val="60000"/>
                  </a:srgbClr>
                </a:solidFill>
                <a:latin typeface="Liter" pitchFamily="34" charset="0"/>
                <a:ea typeface="Liter" pitchFamily="34" charset="-122"/>
                <a:cs typeface="Liter" pitchFamily="34" charset="-120"/>
              </a:rPr>
              <a:t>Pioneered doom, stoner, and sludge metal subgenres</a:t>
            </a:r>
            <a:endParaRPr lang="en-US" sz="1600" dirty="0"/>
          </a:p>
        </p:txBody>
      </p:sp>
      <p:sp>
        <p:nvSpPr>
          <p:cNvPr id="31" name="Shape 29"/>
          <p:cNvSpPr/>
          <p:nvPr/>
        </p:nvSpPr>
        <p:spPr>
          <a:xfrm>
            <a:off x="4956721" y="3246438"/>
            <a:ext cx="2174875" cy="3286125"/>
          </a:xfrm>
          <a:custGeom>
            <a:avLst/>
            <a:gdLst/>
            <a:ahLst/>
            <a:cxnLst/>
            <a:rect l="l" t="t" r="r" b="b"/>
            <a:pathLst>
              <a:path w="2174875" h="3286125">
                <a:moveTo>
                  <a:pt x="0" y="0"/>
                </a:moveTo>
                <a:lnTo>
                  <a:pt x="2174875" y="0"/>
                </a:lnTo>
                <a:lnTo>
                  <a:pt x="2174875" y="3286125"/>
                </a:lnTo>
                <a:lnTo>
                  <a:pt x="0" y="3286125"/>
                </a:lnTo>
                <a:lnTo>
                  <a:pt x="0" y="0"/>
                </a:lnTo>
                <a:close/>
              </a:path>
            </a:pathLst>
          </a:custGeom>
          <a:solidFill>
            <a:srgbClr val="000000">
              <a:alpha val="0"/>
            </a:srgbClr>
          </a:solidFill>
          <a:ln w="25400">
            <a:solidFill>
              <a:srgbClr val="DDFF00"/>
            </a:solidFill>
            <a:prstDash val="solid"/>
          </a:ln>
        </p:spPr>
      </p:sp>
      <p:sp>
        <p:nvSpPr>
          <p:cNvPr id="32" name="Shape 30"/>
          <p:cNvSpPr/>
          <p:nvPr/>
        </p:nvSpPr>
        <p:spPr>
          <a:xfrm>
            <a:off x="5789104" y="3381375"/>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33" name="Shape 31"/>
          <p:cNvSpPr/>
          <p:nvPr/>
        </p:nvSpPr>
        <p:spPr>
          <a:xfrm>
            <a:off x="5911143" y="3516313"/>
            <a:ext cx="267891" cy="238125"/>
          </a:xfrm>
          <a:custGeom>
            <a:avLst/>
            <a:gdLst/>
            <a:ahLst/>
            <a:cxnLst/>
            <a:rect l="l" t="t" r="r" b="b"/>
            <a:pathLst>
              <a:path w="267891" h="238125">
                <a:moveTo>
                  <a:pt x="145573" y="40556"/>
                </a:moveTo>
                <a:cubicBezTo>
                  <a:pt x="149851" y="37161"/>
                  <a:pt x="152549" y="31905"/>
                  <a:pt x="152549" y="26045"/>
                </a:cubicBezTo>
                <a:cubicBezTo>
                  <a:pt x="152549" y="15766"/>
                  <a:pt x="144224" y="7441"/>
                  <a:pt x="133945" y="7441"/>
                </a:cubicBezTo>
                <a:cubicBezTo>
                  <a:pt x="123667" y="7441"/>
                  <a:pt x="115342" y="15766"/>
                  <a:pt x="115342" y="26045"/>
                </a:cubicBezTo>
                <a:cubicBezTo>
                  <a:pt x="115342" y="31905"/>
                  <a:pt x="118086" y="37161"/>
                  <a:pt x="122318" y="40556"/>
                </a:cubicBezTo>
                <a:lnTo>
                  <a:pt x="90506" y="90599"/>
                </a:lnTo>
                <a:cubicBezTo>
                  <a:pt x="85855" y="97901"/>
                  <a:pt x="75949" y="99715"/>
                  <a:pt x="69019" y="94506"/>
                </a:cubicBezTo>
                <a:lnTo>
                  <a:pt x="41346" y="73809"/>
                </a:lnTo>
                <a:cubicBezTo>
                  <a:pt x="43439" y="70833"/>
                  <a:pt x="44648" y="67159"/>
                  <a:pt x="44648" y="63252"/>
                </a:cubicBezTo>
                <a:cubicBezTo>
                  <a:pt x="44648" y="52974"/>
                  <a:pt x="36323" y="44648"/>
                  <a:pt x="26045" y="44648"/>
                </a:cubicBezTo>
                <a:cubicBezTo>
                  <a:pt x="15766" y="44648"/>
                  <a:pt x="7441" y="52974"/>
                  <a:pt x="7441" y="63252"/>
                </a:cubicBezTo>
                <a:cubicBezTo>
                  <a:pt x="7441" y="73391"/>
                  <a:pt x="15580" y="81669"/>
                  <a:pt x="25673" y="81855"/>
                </a:cubicBezTo>
                <a:lnTo>
                  <a:pt x="40835" y="183012"/>
                </a:lnTo>
                <a:cubicBezTo>
                  <a:pt x="43021" y="197569"/>
                  <a:pt x="55531" y="208359"/>
                  <a:pt x="70275" y="208359"/>
                </a:cubicBezTo>
                <a:lnTo>
                  <a:pt x="197616" y="208359"/>
                </a:lnTo>
                <a:cubicBezTo>
                  <a:pt x="212359" y="208359"/>
                  <a:pt x="224870" y="197569"/>
                  <a:pt x="227056" y="183012"/>
                </a:cubicBezTo>
                <a:lnTo>
                  <a:pt x="242218" y="81855"/>
                </a:lnTo>
                <a:cubicBezTo>
                  <a:pt x="252310" y="81669"/>
                  <a:pt x="260449" y="73391"/>
                  <a:pt x="260449" y="63252"/>
                </a:cubicBezTo>
                <a:cubicBezTo>
                  <a:pt x="260449" y="52974"/>
                  <a:pt x="252124" y="44648"/>
                  <a:pt x="241846" y="44648"/>
                </a:cubicBezTo>
                <a:cubicBezTo>
                  <a:pt x="231567" y="44648"/>
                  <a:pt x="223242" y="52974"/>
                  <a:pt x="223242" y="63252"/>
                </a:cubicBezTo>
                <a:cubicBezTo>
                  <a:pt x="223242" y="67159"/>
                  <a:pt x="224451" y="70833"/>
                  <a:pt x="226544" y="73809"/>
                </a:cubicBezTo>
                <a:lnTo>
                  <a:pt x="198918" y="94552"/>
                </a:lnTo>
                <a:cubicBezTo>
                  <a:pt x="191988" y="99761"/>
                  <a:pt x="182082" y="97948"/>
                  <a:pt x="177431" y="90646"/>
                </a:cubicBezTo>
                <a:lnTo>
                  <a:pt x="145573" y="40556"/>
                </a:lnTo>
                <a:close/>
              </a:path>
            </a:pathLst>
          </a:custGeom>
          <a:solidFill>
            <a:srgbClr val="000000"/>
          </a:solidFill>
          <a:ln/>
        </p:spPr>
      </p:sp>
      <p:sp>
        <p:nvSpPr>
          <p:cNvPr id="34" name="Text 32"/>
          <p:cNvSpPr/>
          <p:nvPr/>
        </p:nvSpPr>
        <p:spPr>
          <a:xfrm>
            <a:off x="5051971" y="3952875"/>
            <a:ext cx="1984375"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Deep Purple</a:t>
            </a:r>
            <a:endParaRPr lang="en-US" sz="1600" dirty="0"/>
          </a:p>
        </p:txBody>
      </p:sp>
      <p:sp>
        <p:nvSpPr>
          <p:cNvPr id="35" name="Text 33"/>
          <p:cNvSpPr/>
          <p:nvPr/>
        </p:nvSpPr>
        <p:spPr>
          <a:xfrm>
            <a:off x="5063877" y="4175125"/>
            <a:ext cx="1960563" cy="158750"/>
          </a:xfrm>
          <a:prstGeom prst="rect">
            <a:avLst/>
          </a:prstGeom>
          <a:noFill/>
          <a:ln/>
        </p:spPr>
        <p:txBody>
          <a:bodyPr wrap="square" lIns="0" tIns="0" rIns="0" bIns="0" rtlCol="0" anchor="ctr"/>
          <a:lstStyle/>
          <a:p>
            <a:pPr algn="ctr">
              <a:lnSpc>
                <a:spcPct val="120000"/>
              </a:lnSpc>
            </a:pPr>
            <a:r>
              <a:rPr lang="en-US" sz="875" dirty="0">
                <a:solidFill>
                  <a:srgbClr val="DDFF00"/>
                </a:solidFill>
                <a:latin typeface="Liter" pitchFamily="34" charset="0"/>
                <a:ea typeface="Liter" pitchFamily="34" charset="-122"/>
                <a:cs typeface="Liter" pitchFamily="34" charset="-120"/>
              </a:rPr>
              <a:t>The Virtuosos</a:t>
            </a:r>
            <a:endParaRPr lang="en-US" sz="1600" dirty="0"/>
          </a:p>
        </p:txBody>
      </p:sp>
      <p:sp>
        <p:nvSpPr>
          <p:cNvPr id="36" name="Text 34"/>
          <p:cNvSpPr/>
          <p:nvPr/>
        </p:nvSpPr>
        <p:spPr>
          <a:xfrm>
            <a:off x="5091658" y="4429125"/>
            <a:ext cx="1960563" cy="1587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Formed:</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1968, Hertford</a:t>
            </a:r>
            <a:endParaRPr lang="en-US" sz="1600" dirty="0"/>
          </a:p>
        </p:txBody>
      </p:sp>
      <p:sp>
        <p:nvSpPr>
          <p:cNvPr id="37" name="Text 35"/>
          <p:cNvSpPr/>
          <p:nvPr/>
        </p:nvSpPr>
        <p:spPr>
          <a:xfrm>
            <a:off x="5091658" y="4651375"/>
            <a:ext cx="1960563" cy="4762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Key Members: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Ritchie Blackmore, Ian Gillan, Roger Glover, Jon Lord, Ian Paice</a:t>
            </a:r>
            <a:endParaRPr lang="en-US" sz="1600" dirty="0"/>
          </a:p>
        </p:txBody>
      </p:sp>
      <p:sp>
        <p:nvSpPr>
          <p:cNvPr id="38" name="Text 36"/>
          <p:cNvSpPr/>
          <p:nvPr/>
        </p:nvSpPr>
        <p:spPr>
          <a:xfrm>
            <a:off x="5091658" y="5191125"/>
            <a:ext cx="1960563" cy="4762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Contribution:</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Classical influences, technical precision, keyboard-guitar interplay</a:t>
            </a:r>
            <a:endParaRPr lang="en-US" sz="1600" dirty="0"/>
          </a:p>
        </p:txBody>
      </p:sp>
      <p:sp>
        <p:nvSpPr>
          <p:cNvPr id="39" name="Text 37"/>
          <p:cNvSpPr/>
          <p:nvPr/>
        </p:nvSpPr>
        <p:spPr>
          <a:xfrm>
            <a:off x="5091658" y="57308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Iconic Tracks: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"Smoke on the Water," "Highway Star," "Child in Time"</a:t>
            </a:r>
            <a:endParaRPr lang="en-US" sz="1600" dirty="0"/>
          </a:p>
        </p:txBody>
      </p:sp>
      <p:sp>
        <p:nvSpPr>
          <p:cNvPr id="40" name="Shape 38"/>
          <p:cNvSpPr/>
          <p:nvPr/>
        </p:nvSpPr>
        <p:spPr>
          <a:xfrm>
            <a:off x="5091658" y="6171406"/>
            <a:ext cx="1905000" cy="7938"/>
          </a:xfrm>
          <a:custGeom>
            <a:avLst/>
            <a:gdLst/>
            <a:ahLst/>
            <a:cxnLst/>
            <a:rect l="l" t="t" r="r" b="b"/>
            <a:pathLst>
              <a:path w="1905000" h="7938">
                <a:moveTo>
                  <a:pt x="0" y="0"/>
                </a:moveTo>
                <a:lnTo>
                  <a:pt x="1905000" y="0"/>
                </a:lnTo>
                <a:lnTo>
                  <a:pt x="1905000" y="7938"/>
                </a:lnTo>
                <a:lnTo>
                  <a:pt x="0" y="7938"/>
                </a:lnTo>
                <a:lnTo>
                  <a:pt x="0" y="0"/>
                </a:lnTo>
                <a:close/>
              </a:path>
            </a:pathLst>
          </a:custGeom>
          <a:solidFill>
            <a:srgbClr val="DDFF00">
              <a:alpha val="30196"/>
            </a:srgbClr>
          </a:solidFill>
          <a:ln/>
        </p:spPr>
      </p:sp>
      <p:sp>
        <p:nvSpPr>
          <p:cNvPr id="41" name="Text 39"/>
          <p:cNvSpPr/>
          <p:nvPr/>
        </p:nvSpPr>
        <p:spPr>
          <a:xfrm>
            <a:off x="5091658" y="6270625"/>
            <a:ext cx="1952625" cy="127000"/>
          </a:xfrm>
          <a:prstGeom prst="rect">
            <a:avLst/>
          </a:prstGeom>
          <a:noFill/>
          <a:ln/>
        </p:spPr>
        <p:txBody>
          <a:bodyPr wrap="square" lIns="0" tIns="0" rIns="0" bIns="0" rtlCol="0" anchor="ctr"/>
          <a:lstStyle/>
          <a:p>
            <a:pPr>
              <a:lnSpc>
                <a:spcPct val="110000"/>
              </a:lnSpc>
            </a:pPr>
            <a:r>
              <a:rPr lang="en-US" sz="750" dirty="0">
                <a:solidFill>
                  <a:srgbClr val="FFFFFF">
                    <a:alpha val="60000"/>
                  </a:srgbClr>
                </a:solidFill>
                <a:latin typeface="Liter" pitchFamily="34" charset="0"/>
                <a:ea typeface="Liter" pitchFamily="34" charset="-122"/>
                <a:cs typeface="Liter" pitchFamily="34" charset="-120"/>
              </a:rPr>
              <a:t>Brought classical sophistication to heavy rock</a:t>
            </a:r>
            <a:endParaRPr lang="en-US" sz="1600" dirty="0"/>
          </a:p>
        </p:txBody>
      </p:sp>
      <p:pic>
        <p:nvPicPr>
          <p:cNvPr id="42" name="Image 0" descr="https://kimi-web-img.moonshot.cn/img/thumbs.dreamstime.com/48777a2646641d524e95480ef2112963028e64fa.jpg">    </p:cNvPr>
          <p:cNvPicPr>
            <a:picLocks noChangeAspect="1"/>
          </p:cNvPicPr>
          <p:nvPr/>
        </p:nvPicPr>
        <p:blipFill>
          <a:blip r:embed="rId1"/>
          <a:srcRect l="2428" r="2428" t="0" b="0"/>
          <a:stretch/>
        </p:blipFill>
        <p:spPr>
          <a:xfrm>
            <a:off x="7327925" y="1047750"/>
            <a:ext cx="4548188" cy="3190875"/>
          </a:xfrm>
          <a:prstGeom prst="roundRect">
            <a:avLst>
              <a:gd name="adj" fmla="val 0"/>
            </a:avLst>
          </a:prstGeom>
        </p:spPr>
      </p:pic>
      <p:sp>
        <p:nvSpPr>
          <p:cNvPr id="43" name="Shape 40"/>
          <p:cNvSpPr/>
          <p:nvPr/>
        </p:nvSpPr>
        <p:spPr>
          <a:xfrm>
            <a:off x="7327925" y="1047750"/>
            <a:ext cx="4548188" cy="3190875"/>
          </a:xfrm>
          <a:custGeom>
            <a:avLst/>
            <a:gdLst/>
            <a:ahLst/>
            <a:cxnLst/>
            <a:rect l="l" t="t" r="r" b="b"/>
            <a:pathLst>
              <a:path w="4548188" h="3190875">
                <a:moveTo>
                  <a:pt x="0" y="0"/>
                </a:moveTo>
                <a:lnTo>
                  <a:pt x="4548188" y="0"/>
                </a:lnTo>
                <a:lnTo>
                  <a:pt x="4548188" y="3190875"/>
                </a:lnTo>
                <a:lnTo>
                  <a:pt x="0" y="3190875"/>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4" name="Text 41"/>
          <p:cNvSpPr/>
          <p:nvPr/>
        </p:nvSpPr>
        <p:spPr>
          <a:xfrm>
            <a:off x="7454925" y="3698875"/>
            <a:ext cx="4349750" cy="158750"/>
          </a:xfrm>
          <a:prstGeom prst="rect">
            <a:avLst/>
          </a:prstGeom>
          <a:noFill/>
          <a:ln/>
        </p:spPr>
        <p:txBody>
          <a:bodyPr wrap="square" lIns="0" tIns="0" rIns="0" bIns="0" rtlCol="0" anchor="ctr"/>
          <a:lstStyle/>
          <a:p>
            <a:pPr>
              <a:lnSpc>
                <a:spcPct val="120000"/>
              </a:lnSpc>
            </a:pPr>
            <a:r>
              <a:rPr lang="en-US" sz="875" b="1" dirty="0">
                <a:solidFill>
                  <a:srgbClr val="DDFF00"/>
                </a:solidFill>
                <a:latin typeface="Liter" pitchFamily="34" charset="0"/>
                <a:ea typeface="Liter" pitchFamily="34" charset="-122"/>
                <a:cs typeface="Liter" pitchFamily="34" charset="-120"/>
              </a:rPr>
              <a:t>HEAVY METAL</a:t>
            </a:r>
            <a:endParaRPr lang="en-US" sz="1600" dirty="0"/>
          </a:p>
        </p:txBody>
      </p:sp>
      <p:sp>
        <p:nvSpPr>
          <p:cNvPr id="45" name="Text 42"/>
          <p:cNvSpPr/>
          <p:nvPr/>
        </p:nvSpPr>
        <p:spPr>
          <a:xfrm>
            <a:off x="7454925" y="3889375"/>
            <a:ext cx="4365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Birth of a Genre</a:t>
            </a:r>
            <a:endParaRPr lang="en-US" sz="1600" dirty="0"/>
          </a:p>
        </p:txBody>
      </p:sp>
      <p:sp>
        <p:nvSpPr>
          <p:cNvPr id="46" name="Shape 43"/>
          <p:cNvSpPr/>
          <p:nvPr/>
        </p:nvSpPr>
        <p:spPr>
          <a:xfrm>
            <a:off x="7327925" y="4365625"/>
            <a:ext cx="4548188" cy="2174875"/>
          </a:xfrm>
          <a:custGeom>
            <a:avLst/>
            <a:gdLst/>
            <a:ahLst/>
            <a:cxnLst/>
            <a:rect l="l" t="t" r="r" b="b"/>
            <a:pathLst>
              <a:path w="4548188" h="2174875">
                <a:moveTo>
                  <a:pt x="0" y="0"/>
                </a:moveTo>
                <a:lnTo>
                  <a:pt x="4548188" y="0"/>
                </a:lnTo>
                <a:lnTo>
                  <a:pt x="4548188" y="2174875"/>
                </a:lnTo>
                <a:lnTo>
                  <a:pt x="0" y="2174875"/>
                </a:lnTo>
                <a:lnTo>
                  <a:pt x="0" y="0"/>
                </a:lnTo>
                <a:close/>
              </a:path>
            </a:pathLst>
          </a:custGeom>
          <a:solidFill>
            <a:srgbClr val="DDFF00"/>
          </a:solidFill>
          <a:ln/>
        </p:spPr>
      </p:sp>
      <p:sp>
        <p:nvSpPr>
          <p:cNvPr id="47" name="Text 44"/>
          <p:cNvSpPr/>
          <p:nvPr/>
        </p:nvSpPr>
        <p:spPr>
          <a:xfrm>
            <a:off x="7486675" y="4524375"/>
            <a:ext cx="4310063"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Legacy &amp; Influence</a:t>
            </a:r>
            <a:endParaRPr lang="en-US" sz="1600" dirty="0"/>
          </a:p>
        </p:txBody>
      </p:sp>
      <p:sp>
        <p:nvSpPr>
          <p:cNvPr id="48" name="Text 45"/>
          <p:cNvSpPr/>
          <p:nvPr/>
        </p:nvSpPr>
        <p:spPr>
          <a:xfrm>
            <a:off x="7486675" y="4841875"/>
            <a:ext cx="4294188"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These three bands laid the foundation for all heavy metal that followed.</a:t>
            </a:r>
            <a:pPr>
              <a:lnSpc>
                <a:spcPct val="140000"/>
              </a:lnSpc>
            </a:pPr>
            <a:r>
              <a:rPr lang="en-US" sz="1000" dirty="0">
                <a:solidFill>
                  <a:srgbClr val="000000"/>
                </a:solidFill>
                <a:latin typeface="Liter" pitchFamily="34" charset="0"/>
                <a:ea typeface="Liter" pitchFamily="34" charset="-122"/>
                <a:cs typeface="Liter" pitchFamily="34" charset="-120"/>
              </a:rPr>
              <a:t> Their influence can be heard in nearly every metal subgenre, from traditional heavy metal to thrash, death, and beyond.</a:t>
            </a:r>
            <a:endParaRPr lang="en-US" sz="1600" dirty="0"/>
          </a:p>
        </p:txBody>
      </p:sp>
      <p:sp>
        <p:nvSpPr>
          <p:cNvPr id="49" name="Text 46"/>
          <p:cNvSpPr/>
          <p:nvPr/>
        </p:nvSpPr>
        <p:spPr>
          <a:xfrm>
            <a:off x="7486675" y="5556250"/>
            <a:ext cx="4294188" cy="82550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They established the visual aesthetic—leather, long hair, dark imagery—and the sonic template: distorted guitars, powerful vocals, and thunderous drums. Without them, the world of rock music would be a very different place.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https://kimi-web-img.moonshot.cn/img/www.workingwithcrowds.com/dbf54708db5313b507944d95d2016a97a81c31b4.jpeg">    </p:cNvPr>
          <p:cNvPicPr>
            <a:picLocks noChangeAspect="1"/>
          </p:cNvPicPr>
          <p:nvPr/>
        </p:nvPicPr>
        <p:blipFill>
          <a:blip r:embed="rId1">
            <a:alphaModFix amt="30000"/>
          </a:blip>
          <a:srcRect l="0" r="0" t="5882" b="5882"/>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74254" y="1638300"/>
            <a:ext cx="1171575"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05</a:t>
            </a:r>
            <a:endParaRPr lang="en-US" sz="1600" dirty="0"/>
          </a:p>
        </p:txBody>
      </p:sp>
      <p:sp>
        <p:nvSpPr>
          <p:cNvPr id="7" name="Shape 4"/>
          <p:cNvSpPr/>
          <p:nvPr/>
        </p:nvSpPr>
        <p:spPr>
          <a:xfrm>
            <a:off x="1828800" y="1752600"/>
            <a:ext cx="3305175" cy="38100"/>
          </a:xfrm>
          <a:custGeom>
            <a:avLst/>
            <a:gdLst/>
            <a:ahLst/>
            <a:cxnLst/>
            <a:rect l="l" t="t" r="r" b="b"/>
            <a:pathLst>
              <a:path w="3305175" h="38100">
                <a:moveTo>
                  <a:pt x="0" y="0"/>
                </a:moveTo>
                <a:lnTo>
                  <a:pt x="3305175" y="0"/>
                </a:lnTo>
                <a:lnTo>
                  <a:pt x="3305175" y="38100"/>
                </a:lnTo>
                <a:lnTo>
                  <a:pt x="0" y="38100"/>
                </a:lnTo>
                <a:lnTo>
                  <a:pt x="0" y="0"/>
                </a:lnTo>
                <a:close/>
              </a:path>
            </a:pathLst>
          </a:custGeom>
          <a:solidFill>
            <a:srgbClr val="DDFF00"/>
          </a:solidFill>
          <a:ln/>
        </p:spPr>
      </p:sp>
      <p:sp>
        <p:nvSpPr>
          <p:cNvPr id="8" name="Text 5"/>
          <p:cNvSpPr/>
          <p:nvPr/>
        </p:nvSpPr>
        <p:spPr>
          <a:xfrm>
            <a:off x="1828800" y="1943100"/>
            <a:ext cx="3390900"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FIVE</a:t>
            </a:r>
            <a:endParaRPr lang="en-US" sz="1600" dirty="0"/>
          </a:p>
        </p:txBody>
      </p:sp>
      <p:sp>
        <p:nvSpPr>
          <p:cNvPr id="9" name="Text 6"/>
          <p:cNvSpPr/>
          <p:nvPr/>
        </p:nvSpPr>
        <p:spPr>
          <a:xfrm>
            <a:off x="381000" y="2895600"/>
            <a:ext cx="5095875"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PUNK ROCK</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&amp; NEW WAVE</a:t>
            </a:r>
            <a:endParaRPr lang="en-US" sz="1600" dirty="0"/>
          </a:p>
        </p:txBody>
      </p:sp>
      <p:sp>
        <p:nvSpPr>
          <p:cNvPr id="10" name="Text 7"/>
          <p:cNvSpPr/>
          <p:nvPr/>
        </p:nvSpPr>
        <p:spPr>
          <a:xfrm>
            <a:off x="381000" y="4838700"/>
            <a:ext cx="4867275"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1970s-1980s: Raw Energy &amp; Artistic Expression</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33799" y="383869"/>
            <a:ext cx="66760" cy="400559"/>
          </a:xfrm>
          <a:custGeom>
            <a:avLst/>
            <a:gdLst/>
            <a:ahLst/>
            <a:cxnLst/>
            <a:rect l="l" t="t" r="r" b="b"/>
            <a:pathLst>
              <a:path w="66760" h="400559">
                <a:moveTo>
                  <a:pt x="0" y="0"/>
                </a:moveTo>
                <a:lnTo>
                  <a:pt x="66760" y="0"/>
                </a:lnTo>
                <a:lnTo>
                  <a:pt x="66760" y="400559"/>
                </a:lnTo>
                <a:lnTo>
                  <a:pt x="0" y="400559"/>
                </a:lnTo>
                <a:lnTo>
                  <a:pt x="0" y="0"/>
                </a:lnTo>
                <a:close/>
              </a:path>
            </a:pathLst>
          </a:custGeom>
          <a:solidFill>
            <a:srgbClr val="DDFF00"/>
          </a:solidFill>
          <a:ln/>
        </p:spPr>
      </p:sp>
      <p:sp>
        <p:nvSpPr>
          <p:cNvPr id="3" name="Text 1"/>
          <p:cNvSpPr/>
          <p:nvPr/>
        </p:nvSpPr>
        <p:spPr>
          <a:xfrm>
            <a:off x="534078" y="333799"/>
            <a:ext cx="4990292" cy="166899"/>
          </a:xfrm>
          <a:prstGeom prst="rect">
            <a:avLst/>
          </a:prstGeom>
          <a:noFill/>
          <a:ln/>
        </p:spPr>
        <p:txBody>
          <a:bodyPr wrap="square" lIns="0" tIns="0" rIns="0" bIns="0" rtlCol="0" anchor="ctr"/>
          <a:lstStyle/>
          <a:p>
            <a:pPr>
              <a:lnSpc>
                <a:spcPct val="120000"/>
              </a:lnSpc>
            </a:pPr>
            <a:r>
              <a:rPr lang="en-US" sz="920" b="1" spc="92" kern="0" dirty="0">
                <a:solidFill>
                  <a:srgbClr val="DDFF00"/>
                </a:solidFill>
                <a:latin typeface="Liter" pitchFamily="34" charset="0"/>
                <a:ea typeface="Liter" pitchFamily="34" charset="-122"/>
                <a:cs typeface="Liter" pitchFamily="34" charset="-120"/>
              </a:rPr>
              <a:t>CHAPTER 05</a:t>
            </a:r>
            <a:endParaRPr lang="en-US" sz="1600" dirty="0"/>
          </a:p>
        </p:txBody>
      </p:sp>
      <p:sp>
        <p:nvSpPr>
          <p:cNvPr id="4" name="Text 2"/>
          <p:cNvSpPr/>
          <p:nvPr/>
        </p:nvSpPr>
        <p:spPr>
          <a:xfrm>
            <a:off x="534078" y="500698"/>
            <a:ext cx="5082086" cy="333799"/>
          </a:xfrm>
          <a:prstGeom prst="rect">
            <a:avLst/>
          </a:prstGeom>
          <a:noFill/>
          <a:ln/>
        </p:spPr>
        <p:txBody>
          <a:bodyPr wrap="square" lIns="0" tIns="0" rIns="0" bIns="0" rtlCol="0" anchor="ctr"/>
          <a:lstStyle/>
          <a:p>
            <a:pPr>
              <a:lnSpc>
                <a:spcPct val="90000"/>
              </a:lnSpc>
            </a:pPr>
            <a:r>
              <a:rPr lang="en-US" sz="2366" b="1" dirty="0">
                <a:solidFill>
                  <a:srgbClr val="FFFFFF"/>
                </a:solidFill>
                <a:latin typeface="Liter" pitchFamily="34" charset="0"/>
                <a:ea typeface="Liter" pitchFamily="34" charset="-122"/>
                <a:cs typeface="Liter" pitchFamily="34" charset="-120"/>
              </a:rPr>
              <a:t>Punk Rock: Three Chords &amp; The Truth</a:t>
            </a:r>
            <a:endParaRPr lang="en-US" sz="1600" dirty="0"/>
          </a:p>
        </p:txBody>
      </p:sp>
      <p:sp>
        <p:nvSpPr>
          <p:cNvPr id="5" name="Shape 3"/>
          <p:cNvSpPr/>
          <p:nvPr/>
        </p:nvSpPr>
        <p:spPr>
          <a:xfrm>
            <a:off x="333799" y="1101536"/>
            <a:ext cx="6792805" cy="2169692"/>
          </a:xfrm>
          <a:custGeom>
            <a:avLst/>
            <a:gdLst/>
            <a:ahLst/>
            <a:cxnLst/>
            <a:rect l="l" t="t" r="r" b="b"/>
            <a:pathLst>
              <a:path w="6792805" h="2169692">
                <a:moveTo>
                  <a:pt x="0" y="0"/>
                </a:moveTo>
                <a:lnTo>
                  <a:pt x="6792805" y="0"/>
                </a:lnTo>
                <a:lnTo>
                  <a:pt x="6792805" y="2169692"/>
                </a:lnTo>
                <a:lnTo>
                  <a:pt x="0" y="2169692"/>
                </a:lnTo>
                <a:lnTo>
                  <a:pt x="0" y="0"/>
                </a:lnTo>
                <a:close/>
              </a:path>
            </a:pathLst>
          </a:custGeom>
          <a:solidFill>
            <a:srgbClr val="DDFF00"/>
          </a:solidFill>
          <a:ln/>
        </p:spPr>
      </p:sp>
      <p:sp>
        <p:nvSpPr>
          <p:cNvPr id="6" name="Text 4"/>
          <p:cNvSpPr/>
          <p:nvPr/>
        </p:nvSpPr>
        <p:spPr>
          <a:xfrm>
            <a:off x="534078" y="1301815"/>
            <a:ext cx="6492386" cy="267039"/>
          </a:xfrm>
          <a:prstGeom prst="rect">
            <a:avLst/>
          </a:prstGeom>
          <a:noFill/>
          <a:ln/>
        </p:spPr>
        <p:txBody>
          <a:bodyPr wrap="square" lIns="0" tIns="0" rIns="0" bIns="0" rtlCol="0" anchor="ctr"/>
          <a:lstStyle/>
          <a:p>
            <a:pPr>
              <a:lnSpc>
                <a:spcPct val="110000"/>
              </a:lnSpc>
            </a:pPr>
            <a:r>
              <a:rPr lang="en-US" sz="1577" b="1" dirty="0">
                <a:solidFill>
                  <a:srgbClr val="000000"/>
                </a:solidFill>
                <a:latin typeface="Liter" pitchFamily="34" charset="0"/>
                <a:ea typeface="Liter" pitchFamily="34" charset="-122"/>
                <a:cs typeface="Liter" pitchFamily="34" charset="-120"/>
              </a:rPr>
              <a:t>The Revolution of Simplicity</a:t>
            </a:r>
            <a:endParaRPr lang="en-US" sz="1600" dirty="0"/>
          </a:p>
        </p:txBody>
      </p:sp>
      <p:sp>
        <p:nvSpPr>
          <p:cNvPr id="7" name="Text 5"/>
          <p:cNvSpPr/>
          <p:nvPr/>
        </p:nvSpPr>
        <p:spPr>
          <a:xfrm>
            <a:off x="534078" y="1668994"/>
            <a:ext cx="6459006" cy="650908"/>
          </a:xfrm>
          <a:prstGeom prst="rect">
            <a:avLst/>
          </a:prstGeom>
          <a:noFill/>
          <a:ln/>
        </p:spPr>
        <p:txBody>
          <a:bodyPr wrap="square" lIns="0" tIns="0" rIns="0" bIns="0" rtlCol="0" anchor="ctr"/>
          <a:lstStyle/>
          <a:p>
            <a:pPr>
              <a:lnSpc>
                <a:spcPct val="140000"/>
              </a:lnSpc>
            </a:pPr>
            <a:r>
              <a:rPr lang="en-US" sz="1051" b="1" dirty="0">
                <a:solidFill>
                  <a:srgbClr val="000000"/>
                </a:solidFill>
                <a:latin typeface="Liter" pitchFamily="34" charset="0"/>
                <a:ea typeface="Liter" pitchFamily="34" charset="-122"/>
                <a:cs typeface="Liter" pitchFamily="34" charset="-120"/>
              </a:rPr>
              <a:t>Punk rock emerged in the mid-1970s as a direct reaction against the excesses of progressive rock and the polished production of mainstream music.</a:t>
            </a:r>
            <a:pPr>
              <a:lnSpc>
                <a:spcPct val="140000"/>
              </a:lnSpc>
            </a:pPr>
            <a:r>
              <a:rPr lang="en-US" sz="1051" dirty="0">
                <a:solidFill>
                  <a:srgbClr val="000000"/>
                </a:solidFill>
                <a:latin typeface="Liter" pitchFamily="34" charset="0"/>
                <a:ea typeface="Liter" pitchFamily="34" charset="-122"/>
                <a:cs typeface="Liter" pitchFamily="34" charset="-120"/>
              </a:rPr>
              <a:t> Stripped down to its essentials, punk championed a DIY ethic—anyone could pick up a guitar, learn three chords, and start a band.</a:t>
            </a:r>
            <a:endParaRPr lang="en-US" sz="1600" dirty="0"/>
          </a:p>
        </p:txBody>
      </p:sp>
      <p:sp>
        <p:nvSpPr>
          <p:cNvPr id="8" name="Text 6"/>
          <p:cNvSpPr/>
          <p:nvPr/>
        </p:nvSpPr>
        <p:spPr>
          <a:xfrm>
            <a:off x="534078" y="2420041"/>
            <a:ext cx="6459006" cy="650908"/>
          </a:xfrm>
          <a:prstGeom prst="rect">
            <a:avLst/>
          </a:prstGeom>
          <a:noFill/>
          <a:ln/>
        </p:spPr>
        <p:txBody>
          <a:bodyPr wrap="square" lIns="0" tIns="0" rIns="0" bIns="0" rtlCol="0" anchor="ctr"/>
          <a:lstStyle/>
          <a:p>
            <a:pPr>
              <a:lnSpc>
                <a:spcPct val="140000"/>
              </a:lnSpc>
            </a:pPr>
            <a:r>
              <a:rPr lang="en-US" sz="1051" dirty="0">
                <a:solidFill>
                  <a:srgbClr val="000000">
                    <a:alpha val="80000"/>
                  </a:srgbClr>
                </a:solidFill>
                <a:latin typeface="Liter" pitchFamily="34" charset="0"/>
                <a:ea typeface="Liter" pitchFamily="34" charset="-122"/>
                <a:cs typeface="Liter" pitchFamily="34" charset="-120"/>
              </a:rPr>
              <a:t>Punk's raw, aggressive sound and anti-establishment lyrics gave voice to disenfranchised youth. It was fast, loud, and unapologetic—a musical revolution that proved you didn't need technical virtuosity to make powerful, meaningful music.</a:t>
            </a:r>
            <a:endParaRPr lang="en-US" sz="1600" dirty="0"/>
          </a:p>
        </p:txBody>
      </p:sp>
      <p:sp>
        <p:nvSpPr>
          <p:cNvPr id="9" name="Shape 7"/>
          <p:cNvSpPr/>
          <p:nvPr/>
        </p:nvSpPr>
        <p:spPr>
          <a:xfrm>
            <a:off x="342144" y="3413092"/>
            <a:ext cx="6776115" cy="2653700"/>
          </a:xfrm>
          <a:custGeom>
            <a:avLst/>
            <a:gdLst/>
            <a:ahLst/>
            <a:cxnLst/>
            <a:rect l="l" t="t" r="r" b="b"/>
            <a:pathLst>
              <a:path w="6776115" h="2653700">
                <a:moveTo>
                  <a:pt x="0" y="0"/>
                </a:moveTo>
                <a:lnTo>
                  <a:pt x="6776115" y="0"/>
                </a:lnTo>
                <a:lnTo>
                  <a:pt x="6776115" y="2653700"/>
                </a:lnTo>
                <a:lnTo>
                  <a:pt x="0" y="265370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17388" y="3588337"/>
            <a:ext cx="6509076" cy="233659"/>
          </a:xfrm>
          <a:prstGeom prst="rect">
            <a:avLst/>
          </a:prstGeom>
          <a:noFill/>
          <a:ln/>
        </p:spPr>
        <p:txBody>
          <a:bodyPr wrap="square" lIns="0" tIns="0" rIns="0" bIns="0" rtlCol="0" anchor="ctr"/>
          <a:lstStyle/>
          <a:p>
            <a:pPr>
              <a:lnSpc>
                <a:spcPct val="120000"/>
              </a:lnSpc>
            </a:pPr>
            <a:r>
              <a:rPr lang="en-US" sz="1314" b="1" dirty="0">
                <a:solidFill>
                  <a:srgbClr val="DDFF00"/>
                </a:solidFill>
                <a:latin typeface="Liter" pitchFamily="34" charset="0"/>
                <a:ea typeface="Liter" pitchFamily="34" charset="-122"/>
                <a:cs typeface="Liter" pitchFamily="34" charset="-120"/>
              </a:rPr>
              <a:t>Punk Pioneers</a:t>
            </a:r>
            <a:endParaRPr lang="en-US" sz="1600" dirty="0"/>
          </a:p>
        </p:txBody>
      </p:sp>
      <p:sp>
        <p:nvSpPr>
          <p:cNvPr id="11" name="Shape 9"/>
          <p:cNvSpPr/>
          <p:nvPr/>
        </p:nvSpPr>
        <p:spPr>
          <a:xfrm>
            <a:off x="534078" y="3955515"/>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12" name="Text 10"/>
          <p:cNvSpPr/>
          <p:nvPr/>
        </p:nvSpPr>
        <p:spPr>
          <a:xfrm>
            <a:off x="684287" y="3955515"/>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The Ramones</a:t>
            </a:r>
            <a:endParaRPr lang="en-US" sz="1600" dirty="0"/>
          </a:p>
        </p:txBody>
      </p:sp>
      <p:sp>
        <p:nvSpPr>
          <p:cNvPr id="13" name="Text 11"/>
          <p:cNvSpPr/>
          <p:nvPr/>
        </p:nvSpPr>
        <p:spPr>
          <a:xfrm>
            <a:off x="684287" y="4255934"/>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New York, 1974</a:t>
            </a:r>
            <a:endParaRPr lang="en-US" sz="1600" dirty="0"/>
          </a:p>
        </p:txBody>
      </p:sp>
      <p:sp>
        <p:nvSpPr>
          <p:cNvPr id="14" name="Text 12"/>
          <p:cNvSpPr/>
          <p:nvPr/>
        </p:nvSpPr>
        <p:spPr>
          <a:xfrm>
            <a:off x="684287" y="4522973"/>
            <a:ext cx="3037569" cy="3337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"Blitzkrieg Bop," "I Wanna Be Sedated" - Fast, catchy, minimalist</a:t>
            </a:r>
            <a:endParaRPr lang="en-US" sz="1600" dirty="0"/>
          </a:p>
        </p:txBody>
      </p:sp>
      <p:sp>
        <p:nvSpPr>
          <p:cNvPr id="15" name="Shape 13"/>
          <p:cNvSpPr/>
          <p:nvPr/>
        </p:nvSpPr>
        <p:spPr>
          <a:xfrm>
            <a:off x="3815281" y="3955515"/>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16" name="Text 14"/>
          <p:cNvSpPr/>
          <p:nvPr/>
        </p:nvSpPr>
        <p:spPr>
          <a:xfrm>
            <a:off x="3965490" y="3955515"/>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The Sex Pistols</a:t>
            </a:r>
            <a:endParaRPr lang="en-US" sz="1600" dirty="0"/>
          </a:p>
        </p:txBody>
      </p:sp>
      <p:sp>
        <p:nvSpPr>
          <p:cNvPr id="17" name="Text 15"/>
          <p:cNvSpPr/>
          <p:nvPr/>
        </p:nvSpPr>
        <p:spPr>
          <a:xfrm>
            <a:off x="3965490" y="4255934"/>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London, 1975</a:t>
            </a:r>
            <a:endParaRPr lang="en-US" sz="1600" dirty="0"/>
          </a:p>
        </p:txBody>
      </p:sp>
      <p:sp>
        <p:nvSpPr>
          <p:cNvPr id="18" name="Text 16"/>
          <p:cNvSpPr/>
          <p:nvPr/>
        </p:nvSpPr>
        <p:spPr>
          <a:xfrm>
            <a:off x="3965490" y="4522973"/>
            <a:ext cx="3037569" cy="3337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"Anarchy in the U.K.," "God Save the Queen" - Provocation incarnate</a:t>
            </a:r>
            <a:endParaRPr lang="en-US" sz="1600" dirty="0"/>
          </a:p>
        </p:txBody>
      </p:sp>
      <p:sp>
        <p:nvSpPr>
          <p:cNvPr id="19" name="Shape 17"/>
          <p:cNvSpPr/>
          <p:nvPr/>
        </p:nvSpPr>
        <p:spPr>
          <a:xfrm>
            <a:off x="534078" y="4990292"/>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20" name="Text 18"/>
          <p:cNvSpPr/>
          <p:nvPr/>
        </p:nvSpPr>
        <p:spPr>
          <a:xfrm>
            <a:off x="684287" y="4990292"/>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The Clash</a:t>
            </a:r>
            <a:endParaRPr lang="en-US" sz="1600" dirty="0"/>
          </a:p>
        </p:txBody>
      </p:sp>
      <p:sp>
        <p:nvSpPr>
          <p:cNvPr id="21" name="Text 19"/>
          <p:cNvSpPr/>
          <p:nvPr/>
        </p:nvSpPr>
        <p:spPr>
          <a:xfrm>
            <a:off x="684287" y="5290710"/>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London, 1976</a:t>
            </a:r>
            <a:endParaRPr lang="en-US" sz="1600" dirty="0"/>
          </a:p>
        </p:txBody>
      </p:sp>
      <p:sp>
        <p:nvSpPr>
          <p:cNvPr id="22" name="Text 20"/>
          <p:cNvSpPr/>
          <p:nvPr/>
        </p:nvSpPr>
        <p:spPr>
          <a:xfrm>
            <a:off x="684287" y="5557749"/>
            <a:ext cx="3037569" cy="3337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"London Calling," "Should I Stay or Should I Go" - Punk with political depth</a:t>
            </a:r>
            <a:endParaRPr lang="en-US" sz="1600" dirty="0"/>
          </a:p>
        </p:txBody>
      </p:sp>
      <p:sp>
        <p:nvSpPr>
          <p:cNvPr id="23" name="Shape 21"/>
          <p:cNvSpPr/>
          <p:nvPr/>
        </p:nvSpPr>
        <p:spPr>
          <a:xfrm>
            <a:off x="3815281" y="4990292"/>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24" name="Text 22"/>
          <p:cNvSpPr/>
          <p:nvPr/>
        </p:nvSpPr>
        <p:spPr>
          <a:xfrm>
            <a:off x="3965490" y="4990292"/>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Black Flag</a:t>
            </a:r>
            <a:endParaRPr lang="en-US" sz="1600" dirty="0"/>
          </a:p>
        </p:txBody>
      </p:sp>
      <p:sp>
        <p:nvSpPr>
          <p:cNvPr id="25" name="Text 23"/>
          <p:cNvSpPr/>
          <p:nvPr/>
        </p:nvSpPr>
        <p:spPr>
          <a:xfrm>
            <a:off x="3965490" y="5290710"/>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California, 1976</a:t>
            </a:r>
            <a:endParaRPr lang="en-US" sz="1600" dirty="0"/>
          </a:p>
        </p:txBody>
      </p:sp>
      <p:sp>
        <p:nvSpPr>
          <p:cNvPr id="26" name="Text 24"/>
          <p:cNvSpPr/>
          <p:nvPr/>
        </p:nvSpPr>
        <p:spPr>
          <a:xfrm>
            <a:off x="3965490" y="5557749"/>
            <a:ext cx="3037569" cy="1668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"Rise Above," "TV Party" - Hardcore punk pioneers</a:t>
            </a:r>
            <a:endParaRPr lang="en-US" sz="1600" dirty="0"/>
          </a:p>
        </p:txBody>
      </p:sp>
      <p:sp>
        <p:nvSpPr>
          <p:cNvPr id="27" name="Shape 25"/>
          <p:cNvSpPr/>
          <p:nvPr/>
        </p:nvSpPr>
        <p:spPr>
          <a:xfrm>
            <a:off x="337971"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28" name="Shape 26"/>
          <p:cNvSpPr/>
          <p:nvPr/>
        </p:nvSpPr>
        <p:spPr>
          <a:xfrm>
            <a:off x="1058116" y="6317142"/>
            <a:ext cx="175244" cy="200279"/>
          </a:xfrm>
          <a:custGeom>
            <a:avLst/>
            <a:gdLst/>
            <a:ahLst/>
            <a:cxnLst/>
            <a:rect l="l" t="t" r="r" b="b"/>
            <a:pathLst>
              <a:path w="175244" h="200279">
                <a:moveTo>
                  <a:pt x="132529" y="-3873"/>
                </a:moveTo>
                <a:cubicBezTo>
                  <a:pt x="137183" y="-509"/>
                  <a:pt x="138905" y="5594"/>
                  <a:pt x="136792" y="10914"/>
                </a:cubicBezTo>
                <a:lnTo>
                  <a:pt x="106125" y="87622"/>
                </a:lnTo>
                <a:lnTo>
                  <a:pt x="162727" y="87622"/>
                </a:lnTo>
                <a:cubicBezTo>
                  <a:pt x="168008" y="87622"/>
                  <a:pt x="172702" y="90908"/>
                  <a:pt x="174501" y="95876"/>
                </a:cubicBezTo>
                <a:cubicBezTo>
                  <a:pt x="176301" y="100844"/>
                  <a:pt x="174775" y="106398"/>
                  <a:pt x="170746" y="109762"/>
                </a:cubicBezTo>
                <a:lnTo>
                  <a:pt x="58089" y="203643"/>
                </a:lnTo>
                <a:cubicBezTo>
                  <a:pt x="53669" y="207320"/>
                  <a:pt x="47371" y="207516"/>
                  <a:pt x="42716" y="204152"/>
                </a:cubicBezTo>
                <a:cubicBezTo>
                  <a:pt x="38061" y="200788"/>
                  <a:pt x="36340" y="194686"/>
                  <a:pt x="38452" y="189366"/>
                </a:cubicBezTo>
                <a:lnTo>
                  <a:pt x="69120" y="112657"/>
                </a:lnTo>
                <a:lnTo>
                  <a:pt x="12517" y="112657"/>
                </a:lnTo>
                <a:cubicBezTo>
                  <a:pt x="7237" y="112657"/>
                  <a:pt x="2543" y="109371"/>
                  <a:pt x="743" y="104403"/>
                </a:cubicBezTo>
                <a:cubicBezTo>
                  <a:pt x="-1056" y="99436"/>
                  <a:pt x="469" y="93881"/>
                  <a:pt x="4498" y="90517"/>
                </a:cubicBezTo>
                <a:lnTo>
                  <a:pt x="117156" y="-3364"/>
                </a:lnTo>
                <a:cubicBezTo>
                  <a:pt x="121576" y="-7041"/>
                  <a:pt x="127874" y="-7237"/>
                  <a:pt x="132529" y="-3873"/>
                </a:cubicBezTo>
                <a:close/>
              </a:path>
            </a:pathLst>
          </a:custGeom>
          <a:solidFill>
            <a:srgbClr val="DDFF00"/>
          </a:solidFill>
          <a:ln/>
        </p:spPr>
      </p:sp>
      <p:sp>
        <p:nvSpPr>
          <p:cNvPr id="29" name="Text 27"/>
          <p:cNvSpPr/>
          <p:nvPr/>
        </p:nvSpPr>
        <p:spPr>
          <a:xfrm>
            <a:off x="413076"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Fast-paced</a:t>
            </a:r>
            <a:endParaRPr lang="en-US" sz="1600" dirty="0"/>
          </a:p>
        </p:txBody>
      </p:sp>
      <p:sp>
        <p:nvSpPr>
          <p:cNvPr id="30" name="Shape 28"/>
          <p:cNvSpPr/>
          <p:nvPr/>
        </p:nvSpPr>
        <p:spPr>
          <a:xfrm>
            <a:off x="2061990"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31" name="Shape 29"/>
          <p:cNvSpPr/>
          <p:nvPr/>
        </p:nvSpPr>
        <p:spPr>
          <a:xfrm>
            <a:off x="2794652" y="6317142"/>
            <a:ext cx="150209" cy="200279"/>
          </a:xfrm>
          <a:custGeom>
            <a:avLst/>
            <a:gdLst/>
            <a:ahLst/>
            <a:cxnLst/>
            <a:rect l="l" t="t" r="r" b="b"/>
            <a:pathLst>
              <a:path w="150209" h="200279">
                <a:moveTo>
                  <a:pt x="62587" y="0"/>
                </a:moveTo>
                <a:cubicBezTo>
                  <a:pt x="69511" y="0"/>
                  <a:pt x="75105" y="5594"/>
                  <a:pt x="75105" y="12517"/>
                </a:cubicBezTo>
                <a:lnTo>
                  <a:pt x="75105" y="56329"/>
                </a:lnTo>
                <a:lnTo>
                  <a:pt x="50070" y="56329"/>
                </a:lnTo>
                <a:lnTo>
                  <a:pt x="50070" y="12517"/>
                </a:lnTo>
                <a:cubicBezTo>
                  <a:pt x="50070" y="5594"/>
                  <a:pt x="55664" y="0"/>
                  <a:pt x="62587" y="0"/>
                </a:cubicBezTo>
                <a:close/>
                <a:moveTo>
                  <a:pt x="12517" y="25035"/>
                </a:moveTo>
                <a:cubicBezTo>
                  <a:pt x="12517" y="18111"/>
                  <a:pt x="18111" y="12517"/>
                  <a:pt x="25035" y="12517"/>
                </a:cubicBezTo>
                <a:cubicBezTo>
                  <a:pt x="31959" y="12517"/>
                  <a:pt x="37552" y="18111"/>
                  <a:pt x="37552" y="25035"/>
                </a:cubicBezTo>
                <a:lnTo>
                  <a:pt x="37552" y="56329"/>
                </a:lnTo>
                <a:lnTo>
                  <a:pt x="12517" y="56329"/>
                </a:lnTo>
                <a:lnTo>
                  <a:pt x="12517" y="25035"/>
                </a:lnTo>
                <a:close/>
                <a:moveTo>
                  <a:pt x="87622" y="25035"/>
                </a:moveTo>
                <a:cubicBezTo>
                  <a:pt x="87622" y="18111"/>
                  <a:pt x="93216" y="12517"/>
                  <a:pt x="100140" y="12517"/>
                </a:cubicBezTo>
                <a:cubicBezTo>
                  <a:pt x="107063" y="12517"/>
                  <a:pt x="112657" y="18111"/>
                  <a:pt x="112657" y="25035"/>
                </a:cubicBezTo>
                <a:lnTo>
                  <a:pt x="112657" y="62587"/>
                </a:lnTo>
                <a:cubicBezTo>
                  <a:pt x="112657" y="69511"/>
                  <a:pt x="107063" y="75105"/>
                  <a:pt x="100140" y="75105"/>
                </a:cubicBezTo>
                <a:cubicBezTo>
                  <a:pt x="93216" y="75105"/>
                  <a:pt x="87622" y="69511"/>
                  <a:pt x="87622" y="62587"/>
                </a:cubicBezTo>
                <a:lnTo>
                  <a:pt x="87622" y="25035"/>
                </a:lnTo>
                <a:close/>
                <a:moveTo>
                  <a:pt x="125175" y="50070"/>
                </a:moveTo>
                <a:cubicBezTo>
                  <a:pt x="125175" y="43146"/>
                  <a:pt x="130768" y="37552"/>
                  <a:pt x="137692" y="37552"/>
                </a:cubicBezTo>
                <a:cubicBezTo>
                  <a:pt x="144616" y="37552"/>
                  <a:pt x="150209" y="43146"/>
                  <a:pt x="150209" y="50070"/>
                </a:cubicBezTo>
                <a:lnTo>
                  <a:pt x="150209" y="75105"/>
                </a:lnTo>
                <a:cubicBezTo>
                  <a:pt x="150209" y="82028"/>
                  <a:pt x="144616" y="87622"/>
                  <a:pt x="137692" y="87622"/>
                </a:cubicBezTo>
                <a:cubicBezTo>
                  <a:pt x="130768" y="87622"/>
                  <a:pt x="125175" y="82028"/>
                  <a:pt x="125175" y="75105"/>
                </a:cubicBezTo>
                <a:lnTo>
                  <a:pt x="125175" y="50070"/>
                </a:lnTo>
                <a:close/>
                <a:moveTo>
                  <a:pt x="87622" y="84493"/>
                </a:moveTo>
                <a:lnTo>
                  <a:pt x="87622" y="84258"/>
                </a:lnTo>
                <a:cubicBezTo>
                  <a:pt x="91299" y="86370"/>
                  <a:pt x="95563" y="87622"/>
                  <a:pt x="100140" y="87622"/>
                </a:cubicBezTo>
                <a:cubicBezTo>
                  <a:pt x="105303" y="87622"/>
                  <a:pt x="110075" y="86057"/>
                  <a:pt x="114065" y="83398"/>
                </a:cubicBezTo>
                <a:cubicBezTo>
                  <a:pt x="117468" y="93138"/>
                  <a:pt x="126778" y="100140"/>
                  <a:pt x="137692" y="100140"/>
                </a:cubicBezTo>
                <a:cubicBezTo>
                  <a:pt x="142269" y="100140"/>
                  <a:pt x="146532" y="98927"/>
                  <a:pt x="150209" y="96776"/>
                </a:cubicBezTo>
                <a:lnTo>
                  <a:pt x="150209" y="100140"/>
                </a:lnTo>
                <a:cubicBezTo>
                  <a:pt x="150209" y="120598"/>
                  <a:pt x="140391" y="138787"/>
                  <a:pt x="125175" y="150209"/>
                </a:cubicBezTo>
                <a:lnTo>
                  <a:pt x="125175" y="187762"/>
                </a:lnTo>
                <a:cubicBezTo>
                  <a:pt x="125175" y="194686"/>
                  <a:pt x="119581" y="200279"/>
                  <a:pt x="112657" y="200279"/>
                </a:cubicBezTo>
                <a:lnTo>
                  <a:pt x="50070" y="200279"/>
                </a:lnTo>
                <a:cubicBezTo>
                  <a:pt x="43146" y="200279"/>
                  <a:pt x="37552" y="194686"/>
                  <a:pt x="37552" y="187762"/>
                </a:cubicBezTo>
                <a:lnTo>
                  <a:pt x="37552" y="157094"/>
                </a:lnTo>
                <a:cubicBezTo>
                  <a:pt x="30785" y="154004"/>
                  <a:pt x="24566" y="149740"/>
                  <a:pt x="19206" y="144381"/>
                </a:cubicBezTo>
                <a:lnTo>
                  <a:pt x="14669" y="139843"/>
                </a:lnTo>
                <a:cubicBezTo>
                  <a:pt x="5281" y="130455"/>
                  <a:pt x="0" y="117703"/>
                  <a:pt x="0" y="104443"/>
                </a:cubicBezTo>
                <a:lnTo>
                  <a:pt x="0" y="93881"/>
                </a:lnTo>
                <a:cubicBezTo>
                  <a:pt x="0" y="80073"/>
                  <a:pt x="11227" y="68846"/>
                  <a:pt x="25035" y="68846"/>
                </a:cubicBezTo>
                <a:lnTo>
                  <a:pt x="59458" y="68846"/>
                </a:lnTo>
                <a:cubicBezTo>
                  <a:pt x="68103" y="68846"/>
                  <a:pt x="75105" y="75848"/>
                  <a:pt x="75105" y="84493"/>
                </a:cubicBezTo>
                <a:cubicBezTo>
                  <a:pt x="75105" y="93138"/>
                  <a:pt x="68103" y="100140"/>
                  <a:pt x="59458" y="100140"/>
                </a:cubicBezTo>
                <a:lnTo>
                  <a:pt x="37552" y="100140"/>
                </a:lnTo>
                <a:cubicBezTo>
                  <a:pt x="34110" y="100140"/>
                  <a:pt x="31294" y="102956"/>
                  <a:pt x="31294" y="106398"/>
                </a:cubicBezTo>
                <a:cubicBezTo>
                  <a:pt x="31294" y="109841"/>
                  <a:pt x="34110" y="112657"/>
                  <a:pt x="37552" y="112657"/>
                </a:cubicBezTo>
                <a:lnTo>
                  <a:pt x="59458" y="112657"/>
                </a:lnTo>
                <a:cubicBezTo>
                  <a:pt x="75026" y="112657"/>
                  <a:pt x="87622" y="100061"/>
                  <a:pt x="87622" y="84493"/>
                </a:cubicBezTo>
                <a:close/>
              </a:path>
            </a:pathLst>
          </a:custGeom>
          <a:solidFill>
            <a:srgbClr val="DDFF00"/>
          </a:solidFill>
          <a:ln/>
        </p:spPr>
      </p:sp>
      <p:sp>
        <p:nvSpPr>
          <p:cNvPr id="32" name="Text 30"/>
          <p:cNvSpPr/>
          <p:nvPr/>
        </p:nvSpPr>
        <p:spPr>
          <a:xfrm>
            <a:off x="2137094"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Anti-establishment</a:t>
            </a:r>
            <a:endParaRPr lang="en-US" sz="1600" dirty="0"/>
          </a:p>
        </p:txBody>
      </p:sp>
      <p:sp>
        <p:nvSpPr>
          <p:cNvPr id="33" name="Shape 31"/>
          <p:cNvSpPr/>
          <p:nvPr/>
        </p:nvSpPr>
        <p:spPr>
          <a:xfrm>
            <a:off x="3786073"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34" name="Shape 32"/>
          <p:cNvSpPr/>
          <p:nvPr/>
        </p:nvSpPr>
        <p:spPr>
          <a:xfrm>
            <a:off x="4481183" y="6317142"/>
            <a:ext cx="225314" cy="200279"/>
          </a:xfrm>
          <a:custGeom>
            <a:avLst/>
            <a:gdLst/>
            <a:ahLst/>
            <a:cxnLst/>
            <a:rect l="l" t="t" r="r" b="b"/>
            <a:pathLst>
              <a:path w="225314" h="200279">
                <a:moveTo>
                  <a:pt x="87661" y="37983"/>
                </a:moveTo>
                <a:lnTo>
                  <a:pt x="87661" y="57385"/>
                </a:lnTo>
                <a:lnTo>
                  <a:pt x="87857" y="57580"/>
                </a:lnTo>
                <a:cubicBezTo>
                  <a:pt x="90399" y="25348"/>
                  <a:pt x="117351" y="0"/>
                  <a:pt x="150249" y="0"/>
                </a:cubicBezTo>
                <a:cubicBezTo>
                  <a:pt x="158111" y="0"/>
                  <a:pt x="165661" y="1447"/>
                  <a:pt x="172584" y="4107"/>
                </a:cubicBezTo>
                <a:cubicBezTo>
                  <a:pt x="176496" y="5594"/>
                  <a:pt x="177200" y="10562"/>
                  <a:pt x="174266" y="13534"/>
                </a:cubicBezTo>
                <a:lnTo>
                  <a:pt x="139570" y="48231"/>
                </a:lnTo>
                <a:cubicBezTo>
                  <a:pt x="138396" y="49405"/>
                  <a:pt x="137731" y="51009"/>
                  <a:pt x="137731" y="52652"/>
                </a:cubicBezTo>
                <a:lnTo>
                  <a:pt x="137731" y="68846"/>
                </a:lnTo>
                <a:cubicBezTo>
                  <a:pt x="137731" y="72288"/>
                  <a:pt x="140548" y="75105"/>
                  <a:pt x="143990" y="75105"/>
                </a:cubicBezTo>
                <a:lnTo>
                  <a:pt x="160184" y="75105"/>
                </a:lnTo>
                <a:cubicBezTo>
                  <a:pt x="161827" y="75105"/>
                  <a:pt x="163431" y="74440"/>
                  <a:pt x="164605" y="73266"/>
                </a:cubicBezTo>
                <a:lnTo>
                  <a:pt x="199301" y="38569"/>
                </a:lnTo>
                <a:cubicBezTo>
                  <a:pt x="202274" y="35597"/>
                  <a:pt x="207242" y="36340"/>
                  <a:pt x="208729" y="40251"/>
                </a:cubicBezTo>
                <a:cubicBezTo>
                  <a:pt x="211389" y="47175"/>
                  <a:pt x="212836" y="54725"/>
                  <a:pt x="212836" y="62587"/>
                </a:cubicBezTo>
                <a:cubicBezTo>
                  <a:pt x="212836" y="86292"/>
                  <a:pt x="199653" y="106946"/>
                  <a:pt x="180173" y="117547"/>
                </a:cubicBezTo>
                <a:lnTo>
                  <a:pt x="212053" y="149427"/>
                </a:lnTo>
                <a:cubicBezTo>
                  <a:pt x="219368" y="156742"/>
                  <a:pt x="219368" y="168634"/>
                  <a:pt x="212053" y="175988"/>
                </a:cubicBezTo>
                <a:lnTo>
                  <a:pt x="188544" y="199497"/>
                </a:lnTo>
                <a:cubicBezTo>
                  <a:pt x="181229" y="206812"/>
                  <a:pt x="169338" y="206812"/>
                  <a:pt x="161984" y="199497"/>
                </a:cubicBezTo>
                <a:lnTo>
                  <a:pt x="112696" y="150209"/>
                </a:lnTo>
                <a:cubicBezTo>
                  <a:pt x="101978" y="139491"/>
                  <a:pt x="99553" y="123649"/>
                  <a:pt x="105460" y="110584"/>
                </a:cubicBezTo>
                <a:lnTo>
                  <a:pt x="69980" y="75105"/>
                </a:lnTo>
                <a:lnTo>
                  <a:pt x="50578" y="75105"/>
                </a:lnTo>
                <a:cubicBezTo>
                  <a:pt x="46393" y="75105"/>
                  <a:pt x="42481" y="73032"/>
                  <a:pt x="40173" y="69550"/>
                </a:cubicBezTo>
                <a:lnTo>
                  <a:pt x="9153" y="23040"/>
                </a:lnTo>
                <a:cubicBezTo>
                  <a:pt x="7510" y="20576"/>
                  <a:pt x="7823" y="17251"/>
                  <a:pt x="9936" y="15138"/>
                </a:cubicBezTo>
                <a:lnTo>
                  <a:pt x="27695" y="-2621"/>
                </a:lnTo>
                <a:cubicBezTo>
                  <a:pt x="29807" y="-4733"/>
                  <a:pt x="33093" y="-5046"/>
                  <a:pt x="35597" y="-3403"/>
                </a:cubicBezTo>
                <a:lnTo>
                  <a:pt x="82107" y="27578"/>
                </a:lnTo>
                <a:cubicBezTo>
                  <a:pt x="85588" y="29885"/>
                  <a:pt x="87661" y="33797"/>
                  <a:pt x="87661" y="37983"/>
                </a:cubicBezTo>
                <a:close/>
                <a:moveTo>
                  <a:pt x="84336" y="116021"/>
                </a:moveTo>
                <a:cubicBezTo>
                  <a:pt x="81872" y="130494"/>
                  <a:pt x="85275" y="145789"/>
                  <a:pt x="94663" y="158033"/>
                </a:cubicBezTo>
                <a:lnTo>
                  <a:pt x="57502" y="195155"/>
                </a:lnTo>
                <a:cubicBezTo>
                  <a:pt x="46510" y="206147"/>
                  <a:pt x="28673" y="206147"/>
                  <a:pt x="17681" y="195155"/>
                </a:cubicBezTo>
                <a:cubicBezTo>
                  <a:pt x="6689" y="184163"/>
                  <a:pt x="6689" y="166326"/>
                  <a:pt x="17681" y="155334"/>
                </a:cubicBezTo>
                <a:lnTo>
                  <a:pt x="70645" y="102369"/>
                </a:lnTo>
                <a:lnTo>
                  <a:pt x="84336" y="116060"/>
                </a:lnTo>
                <a:close/>
              </a:path>
            </a:pathLst>
          </a:custGeom>
          <a:solidFill>
            <a:srgbClr val="DDFF00"/>
          </a:solidFill>
          <a:ln/>
        </p:spPr>
      </p:sp>
      <p:sp>
        <p:nvSpPr>
          <p:cNvPr id="35" name="Text 33"/>
          <p:cNvSpPr/>
          <p:nvPr/>
        </p:nvSpPr>
        <p:spPr>
          <a:xfrm>
            <a:off x="3861178"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DIY Ethic</a:t>
            </a:r>
            <a:endParaRPr lang="en-US" sz="1600" dirty="0"/>
          </a:p>
        </p:txBody>
      </p:sp>
      <p:sp>
        <p:nvSpPr>
          <p:cNvPr id="36" name="Shape 34"/>
          <p:cNvSpPr/>
          <p:nvPr/>
        </p:nvSpPr>
        <p:spPr>
          <a:xfrm>
            <a:off x="5510157"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37" name="Shape 35"/>
          <p:cNvSpPr/>
          <p:nvPr/>
        </p:nvSpPr>
        <p:spPr>
          <a:xfrm>
            <a:off x="6230302" y="6317142"/>
            <a:ext cx="175244" cy="200279"/>
          </a:xfrm>
          <a:custGeom>
            <a:avLst/>
            <a:gdLst/>
            <a:ahLst/>
            <a:cxnLst/>
            <a:rect l="l" t="t" r="r" b="b"/>
            <a:pathLst>
              <a:path w="175244" h="200279">
                <a:moveTo>
                  <a:pt x="62783" y="-10327"/>
                </a:moveTo>
                <a:cubicBezTo>
                  <a:pt x="66421" y="-13378"/>
                  <a:pt x="71780" y="-13261"/>
                  <a:pt x="75261" y="-9975"/>
                </a:cubicBezTo>
                <a:cubicBezTo>
                  <a:pt x="80073" y="-5437"/>
                  <a:pt x="84375" y="-430"/>
                  <a:pt x="88522" y="4655"/>
                </a:cubicBezTo>
                <a:cubicBezTo>
                  <a:pt x="93803" y="11109"/>
                  <a:pt x="100140" y="19637"/>
                  <a:pt x="106242" y="29768"/>
                </a:cubicBezTo>
                <a:cubicBezTo>
                  <a:pt x="108276" y="27108"/>
                  <a:pt x="110154" y="24761"/>
                  <a:pt x="111797" y="22766"/>
                </a:cubicBezTo>
                <a:cubicBezTo>
                  <a:pt x="112227" y="22258"/>
                  <a:pt x="112657" y="21710"/>
                  <a:pt x="113087" y="21162"/>
                </a:cubicBezTo>
                <a:cubicBezTo>
                  <a:pt x="116178" y="17329"/>
                  <a:pt x="120011" y="12517"/>
                  <a:pt x="125135" y="12517"/>
                </a:cubicBezTo>
                <a:cubicBezTo>
                  <a:pt x="130377" y="12517"/>
                  <a:pt x="134054" y="17172"/>
                  <a:pt x="137183" y="21162"/>
                </a:cubicBezTo>
                <a:cubicBezTo>
                  <a:pt x="137692" y="21827"/>
                  <a:pt x="138201" y="22453"/>
                  <a:pt x="138709" y="23040"/>
                </a:cubicBezTo>
                <a:cubicBezTo>
                  <a:pt x="142738" y="27890"/>
                  <a:pt x="148097" y="34892"/>
                  <a:pt x="153456" y="43537"/>
                </a:cubicBezTo>
                <a:cubicBezTo>
                  <a:pt x="164096" y="60710"/>
                  <a:pt x="175205" y="85158"/>
                  <a:pt x="175205" y="112618"/>
                </a:cubicBezTo>
                <a:cubicBezTo>
                  <a:pt x="175205" y="161006"/>
                  <a:pt x="135971" y="200240"/>
                  <a:pt x="87583" y="200240"/>
                </a:cubicBezTo>
                <a:cubicBezTo>
                  <a:pt x="39195" y="200240"/>
                  <a:pt x="0" y="161045"/>
                  <a:pt x="0" y="112657"/>
                </a:cubicBezTo>
                <a:cubicBezTo>
                  <a:pt x="0" y="77021"/>
                  <a:pt x="16077" y="46158"/>
                  <a:pt x="31489" y="24644"/>
                </a:cubicBezTo>
                <a:cubicBezTo>
                  <a:pt x="39274" y="13808"/>
                  <a:pt x="47019" y="5124"/>
                  <a:pt x="52847" y="-821"/>
                </a:cubicBezTo>
                <a:cubicBezTo>
                  <a:pt x="56055" y="-4107"/>
                  <a:pt x="59301" y="-7354"/>
                  <a:pt x="62822" y="-10288"/>
                </a:cubicBezTo>
                <a:close/>
                <a:moveTo>
                  <a:pt x="88287" y="162727"/>
                </a:moveTo>
                <a:cubicBezTo>
                  <a:pt x="98184" y="162727"/>
                  <a:pt x="106946" y="159989"/>
                  <a:pt x="115200" y="154512"/>
                </a:cubicBezTo>
                <a:cubicBezTo>
                  <a:pt x="131668" y="143012"/>
                  <a:pt x="136088" y="120011"/>
                  <a:pt x="126192" y="101939"/>
                </a:cubicBezTo>
                <a:cubicBezTo>
                  <a:pt x="124431" y="98418"/>
                  <a:pt x="119933" y="98184"/>
                  <a:pt x="117390" y="101157"/>
                </a:cubicBezTo>
                <a:lnTo>
                  <a:pt x="107533" y="112618"/>
                </a:lnTo>
                <a:cubicBezTo>
                  <a:pt x="104951" y="115591"/>
                  <a:pt x="100296" y="115513"/>
                  <a:pt x="97871" y="112422"/>
                </a:cubicBezTo>
                <a:cubicBezTo>
                  <a:pt x="91104" y="103778"/>
                  <a:pt x="78664" y="88013"/>
                  <a:pt x="72327" y="79955"/>
                </a:cubicBezTo>
                <a:cubicBezTo>
                  <a:pt x="70215" y="77256"/>
                  <a:pt x="66382" y="76826"/>
                  <a:pt x="63917" y="79212"/>
                </a:cubicBezTo>
                <a:cubicBezTo>
                  <a:pt x="56759" y="86175"/>
                  <a:pt x="43772" y="101430"/>
                  <a:pt x="43772" y="120011"/>
                </a:cubicBezTo>
                <a:cubicBezTo>
                  <a:pt x="43772" y="146845"/>
                  <a:pt x="63565" y="162727"/>
                  <a:pt x="88248" y="162727"/>
                </a:cubicBezTo>
                <a:close/>
              </a:path>
            </a:pathLst>
          </a:custGeom>
          <a:solidFill>
            <a:srgbClr val="DDFF00"/>
          </a:solidFill>
          <a:ln/>
        </p:spPr>
      </p:sp>
      <p:sp>
        <p:nvSpPr>
          <p:cNvPr id="38" name="Text 36"/>
          <p:cNvSpPr/>
          <p:nvPr/>
        </p:nvSpPr>
        <p:spPr>
          <a:xfrm>
            <a:off x="5585262"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Raw Energy</a:t>
            </a:r>
            <a:endParaRPr lang="en-US" sz="1600" dirty="0"/>
          </a:p>
        </p:txBody>
      </p:sp>
      <p:pic>
        <p:nvPicPr>
          <p:cNvPr id="39" name="Image 0" descr="https://kimi-web-img.moonshot.cn/img/www.workingwithcrowds.com/dbf54708db5313b507944d95d2016a97a81c31b4.jpeg">    </p:cNvPr>
          <p:cNvPicPr>
            <a:picLocks noChangeAspect="1"/>
          </p:cNvPicPr>
          <p:nvPr/>
        </p:nvPicPr>
        <p:blipFill>
          <a:blip r:embed="rId1"/>
          <a:srcRect l="3722" r="3722" t="0" b="0"/>
          <a:stretch/>
        </p:blipFill>
        <p:spPr>
          <a:xfrm>
            <a:off x="7330208" y="1101536"/>
            <a:ext cx="4531318" cy="3121018"/>
          </a:xfrm>
          <a:prstGeom prst="roundRect">
            <a:avLst>
              <a:gd name="adj" fmla="val 0"/>
            </a:avLst>
          </a:prstGeom>
        </p:spPr>
      </p:pic>
      <p:sp>
        <p:nvSpPr>
          <p:cNvPr id="40" name="Shape 37"/>
          <p:cNvSpPr/>
          <p:nvPr/>
        </p:nvSpPr>
        <p:spPr>
          <a:xfrm>
            <a:off x="7330208" y="1101536"/>
            <a:ext cx="4531318" cy="3121018"/>
          </a:xfrm>
          <a:custGeom>
            <a:avLst/>
            <a:gdLst/>
            <a:ahLst/>
            <a:cxnLst/>
            <a:rect l="l" t="t" r="r" b="b"/>
            <a:pathLst>
              <a:path w="4531318" h="3121018">
                <a:moveTo>
                  <a:pt x="0" y="0"/>
                </a:moveTo>
                <a:lnTo>
                  <a:pt x="4531318" y="0"/>
                </a:lnTo>
                <a:lnTo>
                  <a:pt x="4531318" y="3121018"/>
                </a:lnTo>
                <a:lnTo>
                  <a:pt x="0" y="3121018"/>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63727" y="3655097"/>
            <a:ext cx="4322694" cy="166899"/>
          </a:xfrm>
          <a:prstGeom prst="rect">
            <a:avLst/>
          </a:prstGeom>
          <a:noFill/>
          <a:ln/>
        </p:spPr>
        <p:txBody>
          <a:bodyPr wrap="square" lIns="0" tIns="0" rIns="0" bIns="0" rtlCol="0" anchor="ctr"/>
          <a:lstStyle/>
          <a:p>
            <a:pPr>
              <a:lnSpc>
                <a:spcPct val="120000"/>
              </a:lnSpc>
            </a:pPr>
            <a:r>
              <a:rPr lang="en-US" sz="920" b="1" dirty="0">
                <a:solidFill>
                  <a:srgbClr val="DDFF00"/>
                </a:solidFill>
                <a:latin typeface="Liter" pitchFamily="34" charset="0"/>
                <a:ea typeface="Liter" pitchFamily="34" charset="-122"/>
                <a:cs typeface="Liter" pitchFamily="34" charset="-120"/>
              </a:rPr>
              <a:t>PUNK ENERGY</a:t>
            </a:r>
            <a:endParaRPr lang="en-US" sz="1600" dirty="0"/>
          </a:p>
        </p:txBody>
      </p:sp>
      <p:sp>
        <p:nvSpPr>
          <p:cNvPr id="42" name="Text 39"/>
          <p:cNvSpPr/>
          <p:nvPr/>
        </p:nvSpPr>
        <p:spPr>
          <a:xfrm>
            <a:off x="7463727" y="3855376"/>
            <a:ext cx="4339384"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Raw &amp; Unfiltered</a:t>
            </a:r>
            <a:endParaRPr lang="en-US" sz="1600" dirty="0"/>
          </a:p>
        </p:txBody>
      </p:sp>
      <p:sp>
        <p:nvSpPr>
          <p:cNvPr id="43" name="Shape 40"/>
          <p:cNvSpPr/>
          <p:nvPr/>
        </p:nvSpPr>
        <p:spPr>
          <a:xfrm>
            <a:off x="7338553" y="4364419"/>
            <a:ext cx="4514628" cy="1685684"/>
          </a:xfrm>
          <a:custGeom>
            <a:avLst/>
            <a:gdLst/>
            <a:ahLst/>
            <a:cxnLst/>
            <a:rect l="l" t="t" r="r" b="b"/>
            <a:pathLst>
              <a:path w="4514628" h="1685684">
                <a:moveTo>
                  <a:pt x="0" y="0"/>
                </a:moveTo>
                <a:lnTo>
                  <a:pt x="4514628" y="0"/>
                </a:lnTo>
                <a:lnTo>
                  <a:pt x="4514628" y="1685684"/>
                </a:lnTo>
                <a:lnTo>
                  <a:pt x="0" y="1685684"/>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13797" y="4539663"/>
            <a:ext cx="4239244" cy="233659"/>
          </a:xfrm>
          <a:prstGeom prst="rect">
            <a:avLst/>
          </a:prstGeom>
          <a:noFill/>
          <a:ln/>
        </p:spPr>
        <p:txBody>
          <a:bodyPr wrap="square" lIns="0" tIns="0" rIns="0" bIns="0" rtlCol="0" anchor="ctr"/>
          <a:lstStyle/>
          <a:p>
            <a:pPr>
              <a:lnSpc>
                <a:spcPct val="130000"/>
              </a:lnSpc>
            </a:pPr>
            <a:r>
              <a:rPr lang="en-US" sz="1183" b="1" dirty="0">
                <a:solidFill>
                  <a:srgbClr val="DDFF00"/>
                </a:solidFill>
                <a:latin typeface="Liter" pitchFamily="34" charset="0"/>
                <a:ea typeface="Liter" pitchFamily="34" charset="-122"/>
                <a:cs typeface="Liter" pitchFamily="34" charset="-120"/>
              </a:rPr>
              <a:t>Cultural Impact</a:t>
            </a:r>
            <a:endParaRPr lang="en-US" sz="1600" dirty="0"/>
          </a:p>
        </p:txBody>
      </p:sp>
      <p:sp>
        <p:nvSpPr>
          <p:cNvPr id="45" name="Shape 42"/>
          <p:cNvSpPr/>
          <p:nvPr/>
        </p:nvSpPr>
        <p:spPr>
          <a:xfrm>
            <a:off x="7513797" y="4940222"/>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46" name="Text 43"/>
          <p:cNvSpPr/>
          <p:nvPr/>
        </p:nvSpPr>
        <p:spPr>
          <a:xfrm>
            <a:off x="7647317" y="4873462"/>
            <a:ext cx="2904049"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Fashion:</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Safety pins, leather jackets, torn clothes</a:t>
            </a:r>
            <a:endParaRPr lang="en-US" sz="1600" dirty="0"/>
          </a:p>
        </p:txBody>
      </p:sp>
      <p:sp>
        <p:nvSpPr>
          <p:cNvPr id="47" name="Shape 44"/>
          <p:cNvSpPr/>
          <p:nvPr/>
        </p:nvSpPr>
        <p:spPr>
          <a:xfrm>
            <a:off x="7513797" y="5207261"/>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48" name="Text 45"/>
          <p:cNvSpPr/>
          <p:nvPr/>
        </p:nvSpPr>
        <p:spPr>
          <a:xfrm>
            <a:off x="7647317" y="5140501"/>
            <a:ext cx="2428386"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Attitude:</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Rebellion, anti-authoritarianism</a:t>
            </a:r>
            <a:endParaRPr lang="en-US" sz="1600" dirty="0"/>
          </a:p>
        </p:txBody>
      </p:sp>
      <p:sp>
        <p:nvSpPr>
          <p:cNvPr id="49" name="Shape 46"/>
          <p:cNvSpPr/>
          <p:nvPr/>
        </p:nvSpPr>
        <p:spPr>
          <a:xfrm>
            <a:off x="7513797" y="5474300"/>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50" name="Text 47"/>
          <p:cNvSpPr/>
          <p:nvPr/>
        </p:nvSpPr>
        <p:spPr>
          <a:xfrm>
            <a:off x="7647317" y="5407540"/>
            <a:ext cx="2461766"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DIY Culture:</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Independent labels, fanzines</a:t>
            </a:r>
            <a:endParaRPr lang="en-US" sz="1600" dirty="0"/>
          </a:p>
        </p:txBody>
      </p:sp>
      <p:sp>
        <p:nvSpPr>
          <p:cNvPr id="51" name="Shape 48"/>
          <p:cNvSpPr/>
          <p:nvPr/>
        </p:nvSpPr>
        <p:spPr>
          <a:xfrm>
            <a:off x="7513797" y="5741339"/>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52" name="Text 49"/>
          <p:cNvSpPr/>
          <p:nvPr/>
        </p:nvSpPr>
        <p:spPr>
          <a:xfrm>
            <a:off x="7647317" y="5674579"/>
            <a:ext cx="3312953"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Social Commentary:</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Political lyrics, working-class voice</a:t>
            </a:r>
            <a:endParaRPr lang="en-US" sz="1600" dirty="0"/>
          </a:p>
        </p:txBody>
      </p:sp>
      <p:sp>
        <p:nvSpPr>
          <p:cNvPr id="53" name="Shape 50"/>
          <p:cNvSpPr/>
          <p:nvPr/>
        </p:nvSpPr>
        <p:spPr>
          <a:xfrm>
            <a:off x="7330208" y="6191967"/>
            <a:ext cx="4531318" cy="667598"/>
          </a:xfrm>
          <a:custGeom>
            <a:avLst/>
            <a:gdLst/>
            <a:ahLst/>
            <a:cxnLst/>
            <a:rect l="l" t="t" r="r" b="b"/>
            <a:pathLst>
              <a:path w="4531318" h="667598">
                <a:moveTo>
                  <a:pt x="0" y="0"/>
                </a:moveTo>
                <a:lnTo>
                  <a:pt x="4531318" y="0"/>
                </a:lnTo>
                <a:lnTo>
                  <a:pt x="4531318" y="667598"/>
                </a:lnTo>
                <a:lnTo>
                  <a:pt x="0" y="667598"/>
                </a:lnTo>
                <a:lnTo>
                  <a:pt x="0" y="0"/>
                </a:lnTo>
                <a:close/>
              </a:path>
            </a:pathLst>
          </a:custGeom>
          <a:solidFill>
            <a:srgbClr val="DDFF00"/>
          </a:solidFill>
          <a:ln/>
        </p:spPr>
      </p:sp>
      <p:sp>
        <p:nvSpPr>
          <p:cNvPr id="54" name="Text 51"/>
          <p:cNvSpPr/>
          <p:nvPr/>
        </p:nvSpPr>
        <p:spPr>
          <a:xfrm>
            <a:off x="7430348" y="6325487"/>
            <a:ext cx="4331039" cy="400559"/>
          </a:xfrm>
          <a:prstGeom prst="rect">
            <a:avLst/>
          </a:prstGeom>
          <a:noFill/>
          <a:ln/>
        </p:spPr>
        <p:txBody>
          <a:bodyPr wrap="square" lIns="0" tIns="0" rIns="0" bIns="0" rtlCol="0" anchor="ctr"/>
          <a:lstStyle/>
          <a:p>
            <a:pPr algn="ctr">
              <a:lnSpc>
                <a:spcPct val="130000"/>
              </a:lnSpc>
            </a:pPr>
            <a:r>
              <a:rPr lang="en-US" sz="1051" b="1" dirty="0">
                <a:solidFill>
                  <a:srgbClr val="000000"/>
                </a:solidFill>
                <a:latin typeface="Liter" pitchFamily="34" charset="0"/>
                <a:ea typeface="Liter" pitchFamily="34" charset="-122"/>
                <a:cs typeface="Liter" pitchFamily="34" charset="-120"/>
              </a:rPr>
              <a:t>"Punk is musical freedom."</a:t>
            </a:r>
            <a:endParaRPr lang="en-US" sz="1600" dirty="0"/>
          </a:p>
          <a:p>
            <a:pPr algn="ctr">
              <a:lnSpc>
                <a:spcPct val="130000"/>
              </a:lnSpc>
            </a:pPr>
            <a:r>
              <a:rPr lang="en-US" sz="920" dirty="0">
                <a:solidFill>
                  <a:srgbClr val="000000"/>
                </a:solidFill>
                <a:latin typeface="Liter" pitchFamily="34" charset="0"/>
                <a:ea typeface="Liter" pitchFamily="34" charset="-122"/>
                <a:cs typeface="Liter" pitchFamily="34" charset="-120"/>
              </a:rPr>
              <a:t>— Kurt Cobain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5151438"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05</a:t>
            </a:r>
            <a:endParaRPr lang="en-US" sz="1600" dirty="0"/>
          </a:p>
        </p:txBody>
      </p:sp>
      <p:sp>
        <p:nvSpPr>
          <p:cNvPr id="4" name="Text 2"/>
          <p:cNvSpPr/>
          <p:nvPr/>
        </p:nvSpPr>
        <p:spPr>
          <a:xfrm>
            <a:off x="508000" y="476250"/>
            <a:ext cx="5238750"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New Wave: Creativity &amp; Experimentation</a:t>
            </a:r>
            <a:endParaRPr lang="en-US" sz="1600" dirty="0"/>
          </a:p>
        </p:txBody>
      </p:sp>
      <p:sp>
        <p:nvSpPr>
          <p:cNvPr id="5" name="Shape 3"/>
          <p:cNvSpPr/>
          <p:nvPr/>
        </p:nvSpPr>
        <p:spPr>
          <a:xfrm>
            <a:off x="317500" y="1047750"/>
            <a:ext cx="4548188" cy="2270125"/>
          </a:xfrm>
          <a:custGeom>
            <a:avLst/>
            <a:gdLst/>
            <a:ahLst/>
            <a:cxnLst/>
            <a:rect l="l" t="t" r="r" b="b"/>
            <a:pathLst>
              <a:path w="4548188" h="2270125">
                <a:moveTo>
                  <a:pt x="0" y="0"/>
                </a:moveTo>
                <a:lnTo>
                  <a:pt x="4548188" y="0"/>
                </a:lnTo>
                <a:lnTo>
                  <a:pt x="4548188" y="2270125"/>
                </a:lnTo>
                <a:lnTo>
                  <a:pt x="0" y="2270125"/>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Artistic Evolution from Punk</a:t>
            </a:r>
            <a:endParaRPr lang="en-US" sz="1600" dirty="0"/>
          </a:p>
        </p:txBody>
      </p:sp>
      <p:sp>
        <p:nvSpPr>
          <p:cNvPr id="7" name="Text 5"/>
          <p:cNvSpPr/>
          <p:nvPr/>
        </p:nvSpPr>
        <p:spPr>
          <a:xfrm>
            <a:off x="508000" y="1587500"/>
            <a:ext cx="4230688" cy="82550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New Wave emerged in the late 1970s as a departure from punk's rawness,</a:t>
            </a:r>
            <a:pPr>
              <a:lnSpc>
                <a:spcPct val="140000"/>
              </a:lnSpc>
            </a:pPr>
            <a:r>
              <a:rPr lang="en-US" sz="1000" dirty="0">
                <a:solidFill>
                  <a:srgbClr val="000000"/>
                </a:solidFill>
                <a:latin typeface="Liter" pitchFamily="34" charset="0"/>
                <a:ea typeface="Liter" pitchFamily="34" charset="-122"/>
                <a:cs typeface="Liter" pitchFamily="34" charset="-120"/>
              </a:rPr>
              <a:t> incorporating a more diverse range of musical influences and a focus on creativity and experimentation. While punk stripped music down to its essentials, New Wave built it back up with artistic flair.</a:t>
            </a:r>
            <a:endParaRPr lang="en-US" sz="1600" dirty="0"/>
          </a:p>
        </p:txBody>
      </p:sp>
      <p:sp>
        <p:nvSpPr>
          <p:cNvPr id="8" name="Text 6"/>
          <p:cNvSpPr/>
          <p:nvPr/>
        </p:nvSpPr>
        <p:spPr>
          <a:xfrm>
            <a:off x="508000" y="2508250"/>
            <a:ext cx="4230688"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New Wave was not limited to a single musical style but embraced variety—incorporating pop, rock, punk, electronic, disco, and reggae elements. This diversity allowed for innovation while maintaining accessibility.</a:t>
            </a:r>
            <a:endParaRPr lang="en-US" sz="1600" dirty="0"/>
          </a:p>
        </p:txBody>
      </p:sp>
      <p:sp>
        <p:nvSpPr>
          <p:cNvPr id="9" name="Shape 7"/>
          <p:cNvSpPr/>
          <p:nvPr/>
        </p:nvSpPr>
        <p:spPr>
          <a:xfrm>
            <a:off x="325438" y="3452813"/>
            <a:ext cx="4532313" cy="3127375"/>
          </a:xfrm>
          <a:custGeom>
            <a:avLst/>
            <a:gdLst/>
            <a:ahLst/>
            <a:cxnLst/>
            <a:rect l="l" t="t" r="r" b="b"/>
            <a:pathLst>
              <a:path w="4532313" h="3127375">
                <a:moveTo>
                  <a:pt x="0" y="0"/>
                </a:moveTo>
                <a:lnTo>
                  <a:pt x="4532313" y="0"/>
                </a:lnTo>
                <a:lnTo>
                  <a:pt x="4532313" y="3127375"/>
                </a:lnTo>
                <a:lnTo>
                  <a:pt x="0" y="3127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619500"/>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Key New Wave Artists</a:t>
            </a:r>
            <a:endParaRPr lang="en-US" sz="1600" dirty="0"/>
          </a:p>
        </p:txBody>
      </p:sp>
      <p:sp>
        <p:nvSpPr>
          <p:cNvPr id="11" name="Shape 9"/>
          <p:cNvSpPr/>
          <p:nvPr/>
        </p:nvSpPr>
        <p:spPr>
          <a:xfrm>
            <a:off x="508000" y="3968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2" name="Shape 10"/>
          <p:cNvSpPr/>
          <p:nvPr/>
        </p:nvSpPr>
        <p:spPr>
          <a:xfrm>
            <a:off x="619125" y="3968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3" name="Shape 11"/>
          <p:cNvSpPr/>
          <p:nvPr/>
        </p:nvSpPr>
        <p:spPr>
          <a:xfrm>
            <a:off x="714375" y="4064000"/>
            <a:ext cx="127000" cy="127000"/>
          </a:xfrm>
          <a:custGeom>
            <a:avLst/>
            <a:gdLst/>
            <a:ahLst/>
            <a:cxnLst/>
            <a:rect l="l" t="t" r="r" b="b"/>
            <a:pathLst>
              <a:path w="127000" h="127000">
                <a:moveTo>
                  <a:pt x="29766" y="13891"/>
                </a:moveTo>
                <a:cubicBezTo>
                  <a:pt x="29766" y="6226"/>
                  <a:pt x="35992" y="0"/>
                  <a:pt x="43656" y="0"/>
                </a:cubicBezTo>
                <a:lnTo>
                  <a:pt x="49609" y="0"/>
                </a:lnTo>
                <a:cubicBezTo>
                  <a:pt x="54000" y="0"/>
                  <a:pt x="57547" y="3547"/>
                  <a:pt x="57547" y="7938"/>
                </a:cubicBezTo>
                <a:lnTo>
                  <a:pt x="57547" y="119063"/>
                </a:lnTo>
                <a:cubicBezTo>
                  <a:pt x="57547" y="123453"/>
                  <a:pt x="54000" y="127000"/>
                  <a:pt x="49609" y="127000"/>
                </a:cubicBezTo>
                <a:lnTo>
                  <a:pt x="41672" y="127000"/>
                </a:lnTo>
                <a:cubicBezTo>
                  <a:pt x="34280" y="127000"/>
                  <a:pt x="28054" y="121940"/>
                  <a:pt x="26293" y="115094"/>
                </a:cubicBezTo>
                <a:cubicBezTo>
                  <a:pt x="26119" y="115094"/>
                  <a:pt x="25971" y="115094"/>
                  <a:pt x="25797" y="115094"/>
                </a:cubicBezTo>
                <a:cubicBezTo>
                  <a:pt x="14833" y="115094"/>
                  <a:pt x="5953" y="106214"/>
                  <a:pt x="5953" y="95250"/>
                </a:cubicBezTo>
                <a:cubicBezTo>
                  <a:pt x="5953" y="90785"/>
                  <a:pt x="7441" y="86668"/>
                  <a:pt x="9922" y="83344"/>
                </a:cubicBezTo>
                <a:cubicBezTo>
                  <a:pt x="5110" y="79722"/>
                  <a:pt x="1984" y="73968"/>
                  <a:pt x="1984" y="67469"/>
                </a:cubicBezTo>
                <a:cubicBezTo>
                  <a:pt x="1984" y="59804"/>
                  <a:pt x="6350" y="53132"/>
                  <a:pt x="12700" y="49833"/>
                </a:cubicBezTo>
                <a:cubicBezTo>
                  <a:pt x="10939" y="46856"/>
                  <a:pt x="9922" y="43383"/>
                  <a:pt x="9922" y="39688"/>
                </a:cubicBezTo>
                <a:cubicBezTo>
                  <a:pt x="9922" y="28724"/>
                  <a:pt x="18802" y="19844"/>
                  <a:pt x="29766" y="19844"/>
                </a:cubicBezTo>
                <a:lnTo>
                  <a:pt x="29766" y="13891"/>
                </a:lnTo>
                <a:close/>
                <a:moveTo>
                  <a:pt x="97234" y="13891"/>
                </a:moveTo>
                <a:lnTo>
                  <a:pt x="97234" y="19844"/>
                </a:lnTo>
                <a:cubicBezTo>
                  <a:pt x="108198" y="19844"/>
                  <a:pt x="117078" y="28724"/>
                  <a:pt x="117078" y="39688"/>
                </a:cubicBezTo>
                <a:cubicBezTo>
                  <a:pt x="117078" y="43408"/>
                  <a:pt x="116061" y="46881"/>
                  <a:pt x="114300" y="49833"/>
                </a:cubicBezTo>
                <a:cubicBezTo>
                  <a:pt x="120675" y="53132"/>
                  <a:pt x="125016" y="59779"/>
                  <a:pt x="125016" y="67469"/>
                </a:cubicBezTo>
                <a:cubicBezTo>
                  <a:pt x="125016" y="73968"/>
                  <a:pt x="121890" y="79722"/>
                  <a:pt x="117078" y="83344"/>
                </a:cubicBezTo>
                <a:cubicBezTo>
                  <a:pt x="119559" y="86668"/>
                  <a:pt x="121047" y="90785"/>
                  <a:pt x="121047" y="95250"/>
                </a:cubicBezTo>
                <a:cubicBezTo>
                  <a:pt x="121047" y="106214"/>
                  <a:pt x="112167" y="115094"/>
                  <a:pt x="101203" y="115094"/>
                </a:cubicBezTo>
                <a:cubicBezTo>
                  <a:pt x="101029" y="115094"/>
                  <a:pt x="100881" y="115094"/>
                  <a:pt x="100707" y="115094"/>
                </a:cubicBezTo>
                <a:cubicBezTo>
                  <a:pt x="98946" y="121940"/>
                  <a:pt x="92720" y="127000"/>
                  <a:pt x="85328" y="127000"/>
                </a:cubicBezTo>
                <a:lnTo>
                  <a:pt x="77391" y="127000"/>
                </a:lnTo>
                <a:cubicBezTo>
                  <a:pt x="73000" y="127000"/>
                  <a:pt x="69453" y="123453"/>
                  <a:pt x="69453" y="119063"/>
                </a:cubicBezTo>
                <a:lnTo>
                  <a:pt x="69453" y="7938"/>
                </a:lnTo>
                <a:cubicBezTo>
                  <a:pt x="69453" y="3547"/>
                  <a:pt x="73000" y="0"/>
                  <a:pt x="77391" y="0"/>
                </a:cubicBezTo>
                <a:lnTo>
                  <a:pt x="83344" y="0"/>
                </a:lnTo>
                <a:cubicBezTo>
                  <a:pt x="91008" y="0"/>
                  <a:pt x="97234" y="6226"/>
                  <a:pt x="97234" y="13891"/>
                </a:cubicBezTo>
                <a:close/>
              </a:path>
            </a:pathLst>
          </a:custGeom>
          <a:solidFill>
            <a:srgbClr val="000000"/>
          </a:solidFill>
          <a:ln/>
        </p:spPr>
      </p:sp>
      <p:sp>
        <p:nvSpPr>
          <p:cNvPr id="14" name="Text 12"/>
          <p:cNvSpPr/>
          <p:nvPr/>
        </p:nvSpPr>
        <p:spPr>
          <a:xfrm>
            <a:off x="1031875" y="3968750"/>
            <a:ext cx="2079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Talking Heads</a:t>
            </a:r>
            <a:endParaRPr lang="en-US" sz="1600" dirty="0"/>
          </a:p>
        </p:txBody>
      </p:sp>
      <p:sp>
        <p:nvSpPr>
          <p:cNvPr id="15" name="Text 13"/>
          <p:cNvSpPr/>
          <p:nvPr/>
        </p:nvSpPr>
        <p:spPr>
          <a:xfrm>
            <a:off x="1031875" y="4191000"/>
            <a:ext cx="2071688"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Art-rock sophistication, quirky lyrics</a:t>
            </a:r>
            <a:endParaRPr lang="en-US" sz="1600" dirty="0"/>
          </a:p>
        </p:txBody>
      </p:sp>
      <p:sp>
        <p:nvSpPr>
          <p:cNvPr id="16" name="Shape 14"/>
          <p:cNvSpPr/>
          <p:nvPr/>
        </p:nvSpPr>
        <p:spPr>
          <a:xfrm>
            <a:off x="508000" y="4476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476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8" name="Shape 16"/>
          <p:cNvSpPr/>
          <p:nvPr/>
        </p:nvSpPr>
        <p:spPr>
          <a:xfrm>
            <a:off x="730250" y="4572000"/>
            <a:ext cx="95250" cy="127000"/>
          </a:xfrm>
          <a:custGeom>
            <a:avLst/>
            <a:gdLst/>
            <a:ahLst/>
            <a:cxn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p:spPr>
      </p:sp>
      <p:sp>
        <p:nvSpPr>
          <p:cNvPr id="19" name="Text 17"/>
          <p:cNvSpPr/>
          <p:nvPr/>
        </p:nvSpPr>
        <p:spPr>
          <a:xfrm>
            <a:off x="1031875" y="4476750"/>
            <a:ext cx="1746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Blondie</a:t>
            </a:r>
            <a:endParaRPr lang="en-US" sz="1600" dirty="0"/>
          </a:p>
        </p:txBody>
      </p:sp>
      <p:sp>
        <p:nvSpPr>
          <p:cNvPr id="20" name="Text 18"/>
          <p:cNvSpPr/>
          <p:nvPr/>
        </p:nvSpPr>
        <p:spPr>
          <a:xfrm>
            <a:off x="1031875" y="4699000"/>
            <a:ext cx="17383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Punk energy meets pop hooks</a:t>
            </a:r>
            <a:endParaRPr lang="en-US" sz="1600" dirty="0"/>
          </a:p>
        </p:txBody>
      </p:sp>
      <p:sp>
        <p:nvSpPr>
          <p:cNvPr id="21" name="Shape 19"/>
          <p:cNvSpPr/>
          <p:nvPr/>
        </p:nvSpPr>
        <p:spPr>
          <a:xfrm>
            <a:off x="508000" y="4984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4984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3" name="Shape 21"/>
          <p:cNvSpPr/>
          <p:nvPr/>
        </p:nvSpPr>
        <p:spPr>
          <a:xfrm>
            <a:off x="714375" y="5080000"/>
            <a:ext cx="127000" cy="127000"/>
          </a:xfrm>
          <a:custGeom>
            <a:avLst/>
            <a:gdLst/>
            <a:ahLst/>
            <a:cxn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000000"/>
          </a:solidFill>
          <a:ln/>
        </p:spPr>
      </p:sp>
      <p:sp>
        <p:nvSpPr>
          <p:cNvPr id="24" name="Text 22"/>
          <p:cNvSpPr/>
          <p:nvPr/>
        </p:nvSpPr>
        <p:spPr>
          <a:xfrm>
            <a:off x="1031875" y="4984750"/>
            <a:ext cx="22225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Police</a:t>
            </a:r>
            <a:endParaRPr lang="en-US" sz="1600" dirty="0"/>
          </a:p>
        </p:txBody>
      </p:sp>
      <p:sp>
        <p:nvSpPr>
          <p:cNvPr id="25" name="Text 23"/>
          <p:cNvSpPr/>
          <p:nvPr/>
        </p:nvSpPr>
        <p:spPr>
          <a:xfrm>
            <a:off x="1031875" y="5207000"/>
            <a:ext cx="221456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Reggae-rock fusion, sophisticated pop</a:t>
            </a:r>
            <a:endParaRPr lang="en-US" sz="1600" dirty="0"/>
          </a:p>
        </p:txBody>
      </p:sp>
      <p:sp>
        <p:nvSpPr>
          <p:cNvPr id="26" name="Shape 24"/>
          <p:cNvSpPr/>
          <p:nvPr/>
        </p:nvSpPr>
        <p:spPr>
          <a:xfrm>
            <a:off x="508000" y="5492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492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8" name="Shape 26"/>
          <p:cNvSpPr/>
          <p:nvPr/>
        </p:nvSpPr>
        <p:spPr>
          <a:xfrm>
            <a:off x="698500" y="5588000"/>
            <a:ext cx="158750" cy="127000"/>
          </a:xfrm>
          <a:custGeom>
            <a:avLst/>
            <a:gdLst/>
            <a:ahLst/>
            <a:cxnLst/>
            <a:rect l="l" t="t" r="r" b="b"/>
            <a:pathLst>
              <a:path w="158750" h="127000">
                <a:moveTo>
                  <a:pt x="87313" y="0"/>
                </a:moveTo>
                <a:cubicBezTo>
                  <a:pt x="87313" y="-4390"/>
                  <a:pt x="83765" y="-7937"/>
                  <a:pt x="79375" y="-7937"/>
                </a:cubicBezTo>
                <a:cubicBezTo>
                  <a:pt x="74985" y="-7937"/>
                  <a:pt x="71438" y="-4390"/>
                  <a:pt x="71438" y="0"/>
                </a:cubicBezTo>
                <a:lnTo>
                  <a:pt x="71438" y="15875"/>
                </a:lnTo>
                <a:lnTo>
                  <a:pt x="47625" y="15875"/>
                </a:lnTo>
                <a:cubicBezTo>
                  <a:pt x="34479" y="15875"/>
                  <a:pt x="23812" y="26541"/>
                  <a:pt x="23812" y="39688"/>
                </a:cubicBezTo>
                <a:lnTo>
                  <a:pt x="23812" y="95250"/>
                </a:lnTo>
                <a:cubicBezTo>
                  <a:pt x="23812" y="108396"/>
                  <a:pt x="34479" y="119063"/>
                  <a:pt x="47625" y="119063"/>
                </a:cubicBezTo>
                <a:lnTo>
                  <a:pt x="111125" y="119063"/>
                </a:lnTo>
                <a:cubicBezTo>
                  <a:pt x="124271" y="119063"/>
                  <a:pt x="134938" y="108396"/>
                  <a:pt x="134938" y="95250"/>
                </a:cubicBezTo>
                <a:lnTo>
                  <a:pt x="134938" y="39688"/>
                </a:lnTo>
                <a:cubicBezTo>
                  <a:pt x="134938" y="26541"/>
                  <a:pt x="124271" y="15875"/>
                  <a:pt x="111125" y="15875"/>
                </a:cubicBezTo>
                <a:lnTo>
                  <a:pt x="87313" y="15875"/>
                </a:lnTo>
                <a:lnTo>
                  <a:pt x="87313" y="0"/>
                </a:lnTo>
                <a:close/>
                <a:moveTo>
                  <a:pt x="39688" y="91281"/>
                </a:moveTo>
                <a:cubicBezTo>
                  <a:pt x="39688" y="87982"/>
                  <a:pt x="42342" y="85328"/>
                  <a:pt x="45641" y="85328"/>
                </a:cubicBezTo>
                <a:lnTo>
                  <a:pt x="53578" y="85328"/>
                </a:lnTo>
                <a:cubicBezTo>
                  <a:pt x="56877" y="85328"/>
                  <a:pt x="59531" y="87982"/>
                  <a:pt x="59531" y="91281"/>
                </a:cubicBezTo>
                <a:cubicBezTo>
                  <a:pt x="59531" y="94580"/>
                  <a:pt x="56877" y="97234"/>
                  <a:pt x="53578" y="97234"/>
                </a:cubicBezTo>
                <a:lnTo>
                  <a:pt x="45641" y="97234"/>
                </a:lnTo>
                <a:cubicBezTo>
                  <a:pt x="42342" y="97234"/>
                  <a:pt x="39688" y="94580"/>
                  <a:pt x="39688" y="91281"/>
                </a:cubicBezTo>
                <a:close/>
                <a:moveTo>
                  <a:pt x="69453" y="91281"/>
                </a:moveTo>
                <a:cubicBezTo>
                  <a:pt x="69453" y="87982"/>
                  <a:pt x="72107" y="85328"/>
                  <a:pt x="75406" y="85328"/>
                </a:cubicBezTo>
                <a:lnTo>
                  <a:pt x="83344" y="85328"/>
                </a:lnTo>
                <a:cubicBezTo>
                  <a:pt x="86643" y="85328"/>
                  <a:pt x="89297" y="87982"/>
                  <a:pt x="89297" y="91281"/>
                </a:cubicBezTo>
                <a:cubicBezTo>
                  <a:pt x="89297" y="94580"/>
                  <a:pt x="86643" y="97234"/>
                  <a:pt x="83344" y="97234"/>
                </a:cubicBezTo>
                <a:lnTo>
                  <a:pt x="75406" y="97234"/>
                </a:lnTo>
                <a:cubicBezTo>
                  <a:pt x="72107" y="97234"/>
                  <a:pt x="69453" y="94580"/>
                  <a:pt x="69453" y="91281"/>
                </a:cubicBezTo>
                <a:close/>
                <a:moveTo>
                  <a:pt x="99219" y="91281"/>
                </a:moveTo>
                <a:cubicBezTo>
                  <a:pt x="99219" y="87982"/>
                  <a:pt x="101873" y="85328"/>
                  <a:pt x="105172" y="85328"/>
                </a:cubicBezTo>
                <a:lnTo>
                  <a:pt x="113109" y="85328"/>
                </a:lnTo>
                <a:cubicBezTo>
                  <a:pt x="116408" y="85328"/>
                  <a:pt x="119063" y="87982"/>
                  <a:pt x="119063" y="91281"/>
                </a:cubicBezTo>
                <a:cubicBezTo>
                  <a:pt x="119063" y="94580"/>
                  <a:pt x="116408" y="97234"/>
                  <a:pt x="113109" y="97234"/>
                </a:cubicBezTo>
                <a:lnTo>
                  <a:pt x="105172" y="97234"/>
                </a:lnTo>
                <a:cubicBezTo>
                  <a:pt x="101873" y="97234"/>
                  <a:pt x="99219" y="94580"/>
                  <a:pt x="99219" y="91281"/>
                </a:cubicBezTo>
                <a:close/>
                <a:moveTo>
                  <a:pt x="55563" y="43656"/>
                </a:moveTo>
                <a:cubicBezTo>
                  <a:pt x="62134" y="43656"/>
                  <a:pt x="67469" y="48991"/>
                  <a:pt x="67469" y="55563"/>
                </a:cubicBezTo>
                <a:cubicBezTo>
                  <a:pt x="67469" y="62134"/>
                  <a:pt x="62134" y="67469"/>
                  <a:pt x="55563" y="67469"/>
                </a:cubicBezTo>
                <a:cubicBezTo>
                  <a:pt x="48991" y="67469"/>
                  <a:pt x="43656" y="62134"/>
                  <a:pt x="43656" y="55563"/>
                </a:cubicBezTo>
                <a:cubicBezTo>
                  <a:pt x="43656" y="48991"/>
                  <a:pt x="48991" y="43656"/>
                  <a:pt x="55563" y="43656"/>
                </a:cubicBezTo>
                <a:close/>
                <a:moveTo>
                  <a:pt x="91281" y="55563"/>
                </a:moveTo>
                <a:cubicBezTo>
                  <a:pt x="91281" y="48991"/>
                  <a:pt x="96616" y="43656"/>
                  <a:pt x="103188" y="43656"/>
                </a:cubicBezTo>
                <a:cubicBezTo>
                  <a:pt x="109759" y="43656"/>
                  <a:pt x="115094" y="48991"/>
                  <a:pt x="115094" y="55563"/>
                </a:cubicBezTo>
                <a:cubicBezTo>
                  <a:pt x="115094" y="62134"/>
                  <a:pt x="109759" y="67469"/>
                  <a:pt x="103188" y="67469"/>
                </a:cubicBezTo>
                <a:cubicBezTo>
                  <a:pt x="96616" y="67469"/>
                  <a:pt x="91281" y="62134"/>
                  <a:pt x="91281" y="55563"/>
                </a:cubicBezTo>
                <a:close/>
                <a:moveTo>
                  <a:pt x="15875" y="55563"/>
                </a:moveTo>
                <a:cubicBezTo>
                  <a:pt x="15875" y="51172"/>
                  <a:pt x="12328" y="47625"/>
                  <a:pt x="7938" y="47625"/>
                </a:cubicBezTo>
                <a:cubicBezTo>
                  <a:pt x="3547" y="47625"/>
                  <a:pt x="0" y="51172"/>
                  <a:pt x="0" y="55563"/>
                </a:cubicBezTo>
                <a:lnTo>
                  <a:pt x="0" y="79375"/>
                </a:lnTo>
                <a:cubicBezTo>
                  <a:pt x="0" y="83765"/>
                  <a:pt x="3547" y="87313"/>
                  <a:pt x="7938" y="87313"/>
                </a:cubicBezTo>
                <a:cubicBezTo>
                  <a:pt x="12328" y="87313"/>
                  <a:pt x="15875" y="83765"/>
                  <a:pt x="15875" y="79375"/>
                </a:cubicBezTo>
                <a:lnTo>
                  <a:pt x="15875" y="55563"/>
                </a:lnTo>
                <a:close/>
                <a:moveTo>
                  <a:pt x="150813" y="47625"/>
                </a:moveTo>
                <a:cubicBezTo>
                  <a:pt x="146422" y="47625"/>
                  <a:pt x="142875" y="51172"/>
                  <a:pt x="142875" y="55563"/>
                </a:cubicBezTo>
                <a:lnTo>
                  <a:pt x="142875" y="79375"/>
                </a:lnTo>
                <a:cubicBezTo>
                  <a:pt x="142875" y="83765"/>
                  <a:pt x="146422" y="87313"/>
                  <a:pt x="150813" y="87313"/>
                </a:cubicBezTo>
                <a:cubicBezTo>
                  <a:pt x="155203" y="87313"/>
                  <a:pt x="158750" y="83765"/>
                  <a:pt x="158750" y="79375"/>
                </a:cubicBezTo>
                <a:lnTo>
                  <a:pt x="158750" y="55563"/>
                </a:lnTo>
                <a:cubicBezTo>
                  <a:pt x="158750" y="51172"/>
                  <a:pt x="155203" y="47625"/>
                  <a:pt x="150813" y="47625"/>
                </a:cubicBezTo>
                <a:close/>
              </a:path>
            </a:pathLst>
          </a:custGeom>
          <a:solidFill>
            <a:srgbClr val="000000"/>
          </a:solidFill>
          <a:ln/>
        </p:spPr>
      </p:sp>
      <p:sp>
        <p:nvSpPr>
          <p:cNvPr id="29" name="Text 27"/>
          <p:cNvSpPr/>
          <p:nvPr/>
        </p:nvSpPr>
        <p:spPr>
          <a:xfrm>
            <a:off x="1031875" y="5492750"/>
            <a:ext cx="1484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Devo</a:t>
            </a:r>
            <a:endParaRPr lang="en-US" sz="1600" dirty="0"/>
          </a:p>
        </p:txBody>
      </p:sp>
      <p:sp>
        <p:nvSpPr>
          <p:cNvPr id="30" name="Text 28"/>
          <p:cNvSpPr/>
          <p:nvPr/>
        </p:nvSpPr>
        <p:spPr>
          <a:xfrm>
            <a:off x="1031875" y="5715000"/>
            <a:ext cx="1476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Quirky, futuristic, satirical</a:t>
            </a:r>
            <a:endParaRPr lang="en-US" sz="1600" dirty="0"/>
          </a:p>
        </p:txBody>
      </p:sp>
      <p:sp>
        <p:nvSpPr>
          <p:cNvPr id="31" name="Shape 29"/>
          <p:cNvSpPr/>
          <p:nvPr/>
        </p:nvSpPr>
        <p:spPr>
          <a:xfrm>
            <a:off x="508000" y="6000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32" name="Shape 30"/>
          <p:cNvSpPr/>
          <p:nvPr/>
        </p:nvSpPr>
        <p:spPr>
          <a:xfrm>
            <a:off x="619125" y="6000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33" name="Shape 31"/>
          <p:cNvSpPr/>
          <p:nvPr/>
        </p:nvSpPr>
        <p:spPr>
          <a:xfrm>
            <a:off x="706438" y="6096000"/>
            <a:ext cx="142875" cy="127000"/>
          </a:xfrm>
          <a:custGeom>
            <a:avLst/>
            <a:gdLst/>
            <a:ahLst/>
            <a:cxnLst/>
            <a:rect l="l" t="t" r="r" b="b"/>
            <a:pathLst>
              <a:path w="142875" h="127000">
                <a:moveTo>
                  <a:pt x="23812" y="15875"/>
                </a:moveTo>
                <a:cubicBezTo>
                  <a:pt x="15056" y="15875"/>
                  <a:pt x="7938" y="22994"/>
                  <a:pt x="7938" y="31750"/>
                </a:cubicBezTo>
                <a:lnTo>
                  <a:pt x="7938" y="95250"/>
                </a:lnTo>
                <a:cubicBezTo>
                  <a:pt x="7938" y="104006"/>
                  <a:pt x="15056" y="111125"/>
                  <a:pt x="23812" y="111125"/>
                </a:cubicBezTo>
                <a:lnTo>
                  <a:pt x="87313" y="111125"/>
                </a:lnTo>
                <a:cubicBezTo>
                  <a:pt x="96069" y="111125"/>
                  <a:pt x="103188" y="104006"/>
                  <a:pt x="103188" y="95250"/>
                </a:cubicBezTo>
                <a:lnTo>
                  <a:pt x="103188" y="31750"/>
                </a:lnTo>
                <a:cubicBezTo>
                  <a:pt x="103188" y="22994"/>
                  <a:pt x="96069" y="15875"/>
                  <a:pt x="87313" y="15875"/>
                </a:cubicBezTo>
                <a:lnTo>
                  <a:pt x="23812" y="15875"/>
                </a:lnTo>
                <a:close/>
                <a:moveTo>
                  <a:pt x="115094" y="83344"/>
                </a:moveTo>
                <a:lnTo>
                  <a:pt x="133325" y="97929"/>
                </a:lnTo>
                <a:cubicBezTo>
                  <a:pt x="134367" y="98772"/>
                  <a:pt x="135657" y="99219"/>
                  <a:pt x="136996" y="99219"/>
                </a:cubicBezTo>
                <a:cubicBezTo>
                  <a:pt x="140246" y="99219"/>
                  <a:pt x="142875" y="96589"/>
                  <a:pt x="142875" y="93340"/>
                </a:cubicBezTo>
                <a:lnTo>
                  <a:pt x="142875" y="33660"/>
                </a:lnTo>
                <a:cubicBezTo>
                  <a:pt x="142875" y="30411"/>
                  <a:pt x="140246" y="27781"/>
                  <a:pt x="136996" y="27781"/>
                </a:cubicBezTo>
                <a:cubicBezTo>
                  <a:pt x="135657" y="27781"/>
                  <a:pt x="134367" y="28228"/>
                  <a:pt x="133325" y="29071"/>
                </a:cubicBezTo>
                <a:lnTo>
                  <a:pt x="115094" y="43656"/>
                </a:lnTo>
                <a:lnTo>
                  <a:pt x="115094" y="83344"/>
                </a:lnTo>
                <a:close/>
              </a:path>
            </a:pathLst>
          </a:custGeom>
          <a:solidFill>
            <a:srgbClr val="000000"/>
          </a:solidFill>
          <a:ln/>
        </p:spPr>
      </p:sp>
      <p:sp>
        <p:nvSpPr>
          <p:cNvPr id="34" name="Text 32"/>
          <p:cNvSpPr/>
          <p:nvPr/>
        </p:nvSpPr>
        <p:spPr>
          <a:xfrm>
            <a:off x="1031875" y="6000750"/>
            <a:ext cx="16906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Duran Duran</a:t>
            </a:r>
            <a:endParaRPr lang="en-US" sz="1600" dirty="0"/>
          </a:p>
        </p:txBody>
      </p:sp>
      <p:sp>
        <p:nvSpPr>
          <p:cNvPr id="35" name="Text 33"/>
          <p:cNvSpPr/>
          <p:nvPr/>
        </p:nvSpPr>
        <p:spPr>
          <a:xfrm>
            <a:off x="1031875" y="6223000"/>
            <a:ext cx="1682750"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MTV-era glamour, synth-pop</a:t>
            </a:r>
            <a:endParaRPr lang="en-US" sz="1600" dirty="0"/>
          </a:p>
        </p:txBody>
      </p:sp>
      <p:sp>
        <p:nvSpPr>
          <p:cNvPr id="36" name="Shape 34"/>
          <p:cNvSpPr/>
          <p:nvPr/>
        </p:nvSpPr>
        <p:spPr>
          <a:xfrm>
            <a:off x="5062513" y="1055688"/>
            <a:ext cx="6802438" cy="2778125"/>
          </a:xfrm>
          <a:custGeom>
            <a:avLst/>
            <a:gdLst/>
            <a:ahLst/>
            <a:cxnLst/>
            <a:rect l="l" t="t" r="r" b="b"/>
            <a:pathLst>
              <a:path w="6802438" h="2778125">
                <a:moveTo>
                  <a:pt x="0" y="0"/>
                </a:moveTo>
                <a:lnTo>
                  <a:pt x="6802438" y="0"/>
                </a:lnTo>
                <a:lnTo>
                  <a:pt x="6802438" y="2778125"/>
                </a:lnTo>
                <a:lnTo>
                  <a:pt x="0" y="2778125"/>
                </a:lnTo>
                <a:lnTo>
                  <a:pt x="0" y="0"/>
                </a:lnTo>
                <a:close/>
              </a:path>
            </a:pathLst>
          </a:custGeom>
          <a:solidFill>
            <a:srgbClr val="000000">
              <a:alpha val="0"/>
            </a:srgbClr>
          </a:solidFill>
          <a:ln w="25400">
            <a:solidFill>
              <a:srgbClr val="DDFF00"/>
            </a:solidFill>
            <a:prstDash val="solid"/>
          </a:ln>
        </p:spPr>
      </p:sp>
      <p:sp>
        <p:nvSpPr>
          <p:cNvPr id="37" name="Text 35"/>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New Wave Characteristics</a:t>
            </a:r>
            <a:endParaRPr lang="en-US" sz="1600" dirty="0"/>
          </a:p>
        </p:txBody>
      </p:sp>
      <p:sp>
        <p:nvSpPr>
          <p:cNvPr id="38" name="Shape 36"/>
          <p:cNvSpPr/>
          <p:nvPr/>
        </p:nvSpPr>
        <p:spPr>
          <a:xfrm>
            <a:off x="5264919" y="1639094"/>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39" name="Shape 37"/>
          <p:cNvSpPr/>
          <p:nvPr/>
        </p:nvSpPr>
        <p:spPr>
          <a:xfrm>
            <a:off x="5415731" y="1809750"/>
            <a:ext cx="142875" cy="142875"/>
          </a:xfrm>
          <a:custGeom>
            <a:avLst/>
            <a:gdLst/>
            <a:ahLst/>
            <a:cxnLst/>
            <a:rect l="l" t="t" r="r" b="b"/>
            <a:pathLst>
              <a:path w="142875" h="142875">
                <a:moveTo>
                  <a:pt x="8930" y="17859"/>
                </a:moveTo>
                <a:cubicBezTo>
                  <a:pt x="3990" y="17859"/>
                  <a:pt x="0" y="21850"/>
                  <a:pt x="0" y="26789"/>
                </a:cubicBezTo>
                <a:cubicBezTo>
                  <a:pt x="0" y="31728"/>
                  <a:pt x="3990" y="35719"/>
                  <a:pt x="8930" y="35719"/>
                </a:cubicBezTo>
                <a:lnTo>
                  <a:pt x="33124" y="35719"/>
                </a:lnTo>
                <a:cubicBezTo>
                  <a:pt x="36556" y="43616"/>
                  <a:pt x="44425" y="49113"/>
                  <a:pt x="53578" y="49113"/>
                </a:cubicBezTo>
                <a:cubicBezTo>
                  <a:pt x="62731" y="49113"/>
                  <a:pt x="70600" y="43616"/>
                  <a:pt x="74033" y="35719"/>
                </a:cubicBezTo>
                <a:lnTo>
                  <a:pt x="133945" y="35719"/>
                </a:lnTo>
                <a:cubicBezTo>
                  <a:pt x="138885" y="35719"/>
                  <a:pt x="142875" y="31728"/>
                  <a:pt x="142875" y="26789"/>
                </a:cubicBezTo>
                <a:cubicBezTo>
                  <a:pt x="142875" y="21850"/>
                  <a:pt x="138885" y="17859"/>
                  <a:pt x="133945" y="17859"/>
                </a:cubicBezTo>
                <a:lnTo>
                  <a:pt x="74033" y="17859"/>
                </a:lnTo>
                <a:cubicBezTo>
                  <a:pt x="70600" y="9962"/>
                  <a:pt x="62731" y="4465"/>
                  <a:pt x="53578" y="4465"/>
                </a:cubicBezTo>
                <a:cubicBezTo>
                  <a:pt x="44425" y="4465"/>
                  <a:pt x="36556" y="9962"/>
                  <a:pt x="33124" y="17859"/>
                </a:cubicBezTo>
                <a:lnTo>
                  <a:pt x="8930" y="17859"/>
                </a:lnTo>
                <a:close/>
                <a:moveTo>
                  <a:pt x="8930" y="62508"/>
                </a:moveTo>
                <a:cubicBezTo>
                  <a:pt x="3990" y="62508"/>
                  <a:pt x="0" y="66498"/>
                  <a:pt x="0" y="71438"/>
                </a:cubicBezTo>
                <a:cubicBezTo>
                  <a:pt x="0" y="76377"/>
                  <a:pt x="3990" y="80367"/>
                  <a:pt x="8930" y="80367"/>
                </a:cubicBezTo>
                <a:lnTo>
                  <a:pt x="77772" y="80367"/>
                </a:lnTo>
                <a:cubicBezTo>
                  <a:pt x="81204" y="88264"/>
                  <a:pt x="89074" y="93762"/>
                  <a:pt x="98227" y="93762"/>
                </a:cubicBezTo>
                <a:cubicBezTo>
                  <a:pt x="107379" y="93762"/>
                  <a:pt x="115249" y="88264"/>
                  <a:pt x="118681" y="80367"/>
                </a:cubicBezTo>
                <a:lnTo>
                  <a:pt x="133945" y="80367"/>
                </a:lnTo>
                <a:cubicBezTo>
                  <a:pt x="138885" y="80367"/>
                  <a:pt x="142875" y="76377"/>
                  <a:pt x="142875" y="71438"/>
                </a:cubicBezTo>
                <a:cubicBezTo>
                  <a:pt x="142875" y="66498"/>
                  <a:pt x="138885" y="62508"/>
                  <a:pt x="133945" y="62508"/>
                </a:cubicBezTo>
                <a:lnTo>
                  <a:pt x="118681" y="62508"/>
                </a:lnTo>
                <a:cubicBezTo>
                  <a:pt x="115249" y="54611"/>
                  <a:pt x="107379" y="49113"/>
                  <a:pt x="98227" y="49113"/>
                </a:cubicBezTo>
                <a:cubicBezTo>
                  <a:pt x="89074" y="49113"/>
                  <a:pt x="81204" y="54611"/>
                  <a:pt x="77772" y="62508"/>
                </a:cubicBezTo>
                <a:lnTo>
                  <a:pt x="8930" y="62508"/>
                </a:lnTo>
                <a:close/>
                <a:moveTo>
                  <a:pt x="8930" y="107156"/>
                </a:moveTo>
                <a:cubicBezTo>
                  <a:pt x="3990" y="107156"/>
                  <a:pt x="0" y="111147"/>
                  <a:pt x="0" y="116086"/>
                </a:cubicBezTo>
                <a:cubicBezTo>
                  <a:pt x="0" y="121025"/>
                  <a:pt x="3990" y="125016"/>
                  <a:pt x="8930" y="125016"/>
                </a:cubicBezTo>
                <a:lnTo>
                  <a:pt x="24194" y="125016"/>
                </a:lnTo>
                <a:cubicBezTo>
                  <a:pt x="27626" y="132913"/>
                  <a:pt x="35496" y="138410"/>
                  <a:pt x="44648" y="138410"/>
                </a:cubicBezTo>
                <a:cubicBezTo>
                  <a:pt x="53801" y="138410"/>
                  <a:pt x="61671" y="132913"/>
                  <a:pt x="65103" y="125016"/>
                </a:cubicBezTo>
                <a:lnTo>
                  <a:pt x="133945" y="125016"/>
                </a:lnTo>
                <a:cubicBezTo>
                  <a:pt x="138885" y="125016"/>
                  <a:pt x="142875" y="121025"/>
                  <a:pt x="142875" y="116086"/>
                </a:cubicBezTo>
                <a:cubicBezTo>
                  <a:pt x="142875" y="111147"/>
                  <a:pt x="138885" y="107156"/>
                  <a:pt x="133945" y="107156"/>
                </a:cubicBezTo>
                <a:lnTo>
                  <a:pt x="65103" y="107156"/>
                </a:lnTo>
                <a:cubicBezTo>
                  <a:pt x="61671" y="99259"/>
                  <a:pt x="53801" y="93762"/>
                  <a:pt x="44648" y="93762"/>
                </a:cubicBezTo>
                <a:cubicBezTo>
                  <a:pt x="35496" y="93762"/>
                  <a:pt x="27626" y="99259"/>
                  <a:pt x="24194" y="107156"/>
                </a:cubicBezTo>
                <a:lnTo>
                  <a:pt x="8930" y="107156"/>
                </a:lnTo>
                <a:close/>
              </a:path>
            </a:pathLst>
          </a:custGeom>
          <a:solidFill>
            <a:srgbClr val="DDFF00"/>
          </a:solidFill>
          <a:ln/>
        </p:spPr>
      </p:sp>
      <p:sp>
        <p:nvSpPr>
          <p:cNvPr id="40" name="Text 38"/>
          <p:cNvSpPr/>
          <p:nvPr/>
        </p:nvSpPr>
        <p:spPr>
          <a:xfrm>
            <a:off x="5578450" y="1770063"/>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Synthesizers</a:t>
            </a:r>
            <a:endParaRPr lang="en-US" sz="1600" dirty="0"/>
          </a:p>
        </p:txBody>
      </p:sp>
      <p:sp>
        <p:nvSpPr>
          <p:cNvPr id="41" name="Text 39"/>
          <p:cNvSpPr/>
          <p:nvPr/>
        </p:nvSpPr>
        <p:spPr>
          <a:xfrm>
            <a:off x="5395888" y="2055813"/>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Electronic instruments played a significant role, contributing to futuristic and quirky sounds</a:t>
            </a:r>
            <a:endParaRPr lang="en-US" sz="1600" dirty="0"/>
          </a:p>
        </p:txBody>
      </p:sp>
      <p:sp>
        <p:nvSpPr>
          <p:cNvPr id="42" name="Shape 40"/>
          <p:cNvSpPr/>
          <p:nvPr/>
        </p:nvSpPr>
        <p:spPr>
          <a:xfrm>
            <a:off x="8532006" y="1639094"/>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43" name="Shape 41"/>
          <p:cNvSpPr/>
          <p:nvPr/>
        </p:nvSpPr>
        <p:spPr>
          <a:xfrm>
            <a:off x="8682819" y="1809750"/>
            <a:ext cx="142875" cy="142875"/>
          </a:xfrm>
          <a:custGeom>
            <a:avLst/>
            <a:gdLst/>
            <a:ahLst/>
            <a:cxnLst/>
            <a:rect l="l" t="t" r="r" b="b"/>
            <a:pathLst>
              <a:path w="142875" h="142875">
                <a:moveTo>
                  <a:pt x="130597" y="1953"/>
                </a:moveTo>
                <a:cubicBezTo>
                  <a:pt x="132717" y="3656"/>
                  <a:pt x="133945" y="6223"/>
                  <a:pt x="133945" y="8930"/>
                </a:cubicBezTo>
                <a:lnTo>
                  <a:pt x="133945" y="93762"/>
                </a:lnTo>
                <a:cubicBezTo>
                  <a:pt x="133945" y="106096"/>
                  <a:pt x="121946" y="116086"/>
                  <a:pt x="107156" y="116086"/>
                </a:cubicBezTo>
                <a:cubicBezTo>
                  <a:pt x="92366" y="116086"/>
                  <a:pt x="80367" y="106096"/>
                  <a:pt x="80367" y="93762"/>
                </a:cubicBezTo>
                <a:cubicBezTo>
                  <a:pt x="80367" y="81428"/>
                  <a:pt x="92366" y="71438"/>
                  <a:pt x="107156" y="71438"/>
                </a:cubicBezTo>
                <a:cubicBezTo>
                  <a:pt x="110282" y="71438"/>
                  <a:pt x="113295" y="71884"/>
                  <a:pt x="116086" y="72721"/>
                </a:cubicBezTo>
                <a:lnTo>
                  <a:pt x="116086" y="40156"/>
                </a:lnTo>
                <a:lnTo>
                  <a:pt x="53578" y="54053"/>
                </a:lnTo>
                <a:lnTo>
                  <a:pt x="53578" y="111621"/>
                </a:lnTo>
                <a:cubicBezTo>
                  <a:pt x="53578" y="123955"/>
                  <a:pt x="41579" y="133945"/>
                  <a:pt x="26789" y="133945"/>
                </a:cubicBezTo>
                <a:cubicBezTo>
                  <a:pt x="11999" y="133945"/>
                  <a:pt x="0" y="123955"/>
                  <a:pt x="0" y="111621"/>
                </a:cubicBezTo>
                <a:cubicBezTo>
                  <a:pt x="0" y="99287"/>
                  <a:pt x="11999" y="89297"/>
                  <a:pt x="26789" y="89297"/>
                </a:cubicBezTo>
                <a:cubicBezTo>
                  <a:pt x="29914" y="89297"/>
                  <a:pt x="32928" y="89743"/>
                  <a:pt x="35719" y="90581"/>
                </a:cubicBezTo>
                <a:lnTo>
                  <a:pt x="35719" y="26789"/>
                </a:lnTo>
                <a:cubicBezTo>
                  <a:pt x="35719" y="22603"/>
                  <a:pt x="38621" y="18976"/>
                  <a:pt x="42723" y="18083"/>
                </a:cubicBezTo>
                <a:lnTo>
                  <a:pt x="123090" y="223"/>
                </a:lnTo>
                <a:cubicBezTo>
                  <a:pt x="125741" y="-363"/>
                  <a:pt x="128504" y="279"/>
                  <a:pt x="130625" y="1981"/>
                </a:cubicBezTo>
                <a:close/>
              </a:path>
            </a:pathLst>
          </a:custGeom>
          <a:solidFill>
            <a:srgbClr val="DDFF00"/>
          </a:solidFill>
          <a:ln/>
        </p:spPr>
      </p:sp>
      <p:sp>
        <p:nvSpPr>
          <p:cNvPr id="44" name="Text 42"/>
          <p:cNvSpPr/>
          <p:nvPr/>
        </p:nvSpPr>
        <p:spPr>
          <a:xfrm>
            <a:off x="8845538" y="1770063"/>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Catchy Melodies</a:t>
            </a:r>
            <a:endParaRPr lang="en-US" sz="1600" dirty="0"/>
          </a:p>
        </p:txBody>
      </p:sp>
      <p:sp>
        <p:nvSpPr>
          <p:cNvPr id="45" name="Text 43"/>
          <p:cNvSpPr/>
          <p:nvPr/>
        </p:nvSpPr>
        <p:spPr>
          <a:xfrm>
            <a:off x="8662975" y="2055813"/>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More accessible to mainstream audiences compared to punk's aggressive sound</a:t>
            </a:r>
            <a:endParaRPr lang="en-US" sz="1600" dirty="0"/>
          </a:p>
        </p:txBody>
      </p:sp>
      <p:sp>
        <p:nvSpPr>
          <p:cNvPr id="46" name="Shape 44"/>
          <p:cNvSpPr/>
          <p:nvPr/>
        </p:nvSpPr>
        <p:spPr>
          <a:xfrm>
            <a:off x="5264919" y="2702719"/>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47" name="Shape 45"/>
          <p:cNvSpPr/>
          <p:nvPr/>
        </p:nvSpPr>
        <p:spPr>
          <a:xfrm>
            <a:off x="5415731" y="2873375"/>
            <a:ext cx="142875" cy="142875"/>
          </a:xfrm>
          <a:custGeom>
            <a:avLst/>
            <a:gdLst/>
            <a:ahLst/>
            <a:cxnLst/>
            <a:rect l="l" t="t" r="r" b="b"/>
            <a:pathLst>
              <a:path w="142875" h="142875">
                <a:moveTo>
                  <a:pt x="142875" y="71438"/>
                </a:moveTo>
                <a:cubicBezTo>
                  <a:pt x="142875" y="71689"/>
                  <a:pt x="142875" y="71940"/>
                  <a:pt x="142875" y="72191"/>
                </a:cubicBezTo>
                <a:cubicBezTo>
                  <a:pt x="142763" y="82376"/>
                  <a:pt x="133499" y="89297"/>
                  <a:pt x="123313" y="89297"/>
                </a:cubicBezTo>
                <a:lnTo>
                  <a:pt x="95994" y="89297"/>
                </a:lnTo>
                <a:cubicBezTo>
                  <a:pt x="88599" y="89297"/>
                  <a:pt x="82600" y="95297"/>
                  <a:pt x="82600" y="102691"/>
                </a:cubicBezTo>
                <a:cubicBezTo>
                  <a:pt x="82600" y="103640"/>
                  <a:pt x="82711" y="104561"/>
                  <a:pt x="82879" y="105454"/>
                </a:cubicBezTo>
                <a:cubicBezTo>
                  <a:pt x="83465" y="108300"/>
                  <a:pt x="84693" y="111035"/>
                  <a:pt x="85892" y="113798"/>
                </a:cubicBezTo>
                <a:cubicBezTo>
                  <a:pt x="87595" y="117649"/>
                  <a:pt x="89269" y="121472"/>
                  <a:pt x="89269" y="125518"/>
                </a:cubicBezTo>
                <a:cubicBezTo>
                  <a:pt x="89269" y="134392"/>
                  <a:pt x="83241" y="142456"/>
                  <a:pt x="74368" y="142819"/>
                </a:cubicBezTo>
                <a:cubicBezTo>
                  <a:pt x="73391" y="142847"/>
                  <a:pt x="72414" y="142875"/>
                  <a:pt x="71410" y="142875"/>
                </a:cubicBezTo>
                <a:cubicBezTo>
                  <a:pt x="31952" y="142875"/>
                  <a:pt x="-28" y="110896"/>
                  <a:pt x="-28" y="71437"/>
                </a:cubicBezTo>
                <a:cubicBezTo>
                  <a:pt x="-28" y="31979"/>
                  <a:pt x="31979" y="0"/>
                  <a:pt x="71438" y="0"/>
                </a:cubicBezTo>
                <a:cubicBezTo>
                  <a:pt x="110896" y="0"/>
                  <a:pt x="142875" y="31979"/>
                  <a:pt x="142875" y="71438"/>
                </a:cubicBezTo>
                <a:close/>
                <a:moveTo>
                  <a:pt x="35719" y="80367"/>
                </a:moveTo>
                <a:cubicBezTo>
                  <a:pt x="35719" y="75439"/>
                  <a:pt x="31717" y="71438"/>
                  <a:pt x="26789" y="71438"/>
                </a:cubicBezTo>
                <a:cubicBezTo>
                  <a:pt x="21861" y="71438"/>
                  <a:pt x="17859" y="75439"/>
                  <a:pt x="17859" y="80367"/>
                </a:cubicBezTo>
                <a:cubicBezTo>
                  <a:pt x="17859" y="85296"/>
                  <a:pt x="21861" y="89297"/>
                  <a:pt x="26789" y="89297"/>
                </a:cubicBezTo>
                <a:cubicBezTo>
                  <a:pt x="31717" y="89297"/>
                  <a:pt x="35719" y="85296"/>
                  <a:pt x="35719" y="80367"/>
                </a:cubicBezTo>
                <a:close/>
                <a:moveTo>
                  <a:pt x="35719" y="53578"/>
                </a:moveTo>
                <a:cubicBezTo>
                  <a:pt x="40647" y="53578"/>
                  <a:pt x="44648" y="49577"/>
                  <a:pt x="44648" y="44648"/>
                </a:cubicBezTo>
                <a:cubicBezTo>
                  <a:pt x="44648" y="39720"/>
                  <a:pt x="40647" y="35719"/>
                  <a:pt x="35719" y="35719"/>
                </a:cubicBezTo>
                <a:cubicBezTo>
                  <a:pt x="30790" y="35719"/>
                  <a:pt x="26789" y="39720"/>
                  <a:pt x="26789" y="44648"/>
                </a:cubicBezTo>
                <a:cubicBezTo>
                  <a:pt x="26789" y="49577"/>
                  <a:pt x="30790" y="53578"/>
                  <a:pt x="35719" y="53578"/>
                </a:cubicBezTo>
                <a:close/>
                <a:moveTo>
                  <a:pt x="80367" y="26789"/>
                </a:moveTo>
                <a:cubicBezTo>
                  <a:pt x="80367" y="21861"/>
                  <a:pt x="76366" y="17859"/>
                  <a:pt x="71438" y="17859"/>
                </a:cubicBezTo>
                <a:cubicBezTo>
                  <a:pt x="66509" y="17859"/>
                  <a:pt x="62508" y="21861"/>
                  <a:pt x="62508" y="26789"/>
                </a:cubicBezTo>
                <a:cubicBezTo>
                  <a:pt x="62508" y="31717"/>
                  <a:pt x="66509" y="35719"/>
                  <a:pt x="71438" y="35719"/>
                </a:cubicBezTo>
                <a:cubicBezTo>
                  <a:pt x="76366" y="35719"/>
                  <a:pt x="80367" y="31717"/>
                  <a:pt x="80367" y="26789"/>
                </a:cubicBezTo>
                <a:close/>
                <a:moveTo>
                  <a:pt x="107156" y="53578"/>
                </a:moveTo>
                <a:cubicBezTo>
                  <a:pt x="112085" y="53578"/>
                  <a:pt x="116086" y="49577"/>
                  <a:pt x="116086" y="44648"/>
                </a:cubicBezTo>
                <a:cubicBezTo>
                  <a:pt x="116086" y="39720"/>
                  <a:pt x="112085" y="35719"/>
                  <a:pt x="107156" y="35719"/>
                </a:cubicBezTo>
                <a:cubicBezTo>
                  <a:pt x="102228" y="35719"/>
                  <a:pt x="98227" y="39720"/>
                  <a:pt x="98227" y="44648"/>
                </a:cubicBezTo>
                <a:cubicBezTo>
                  <a:pt x="98227" y="49577"/>
                  <a:pt x="102228" y="53578"/>
                  <a:pt x="107156" y="53578"/>
                </a:cubicBezTo>
                <a:close/>
              </a:path>
            </a:pathLst>
          </a:custGeom>
          <a:solidFill>
            <a:srgbClr val="DDFF00"/>
          </a:solidFill>
          <a:ln/>
        </p:spPr>
      </p:sp>
      <p:sp>
        <p:nvSpPr>
          <p:cNvPr id="48" name="Text 46"/>
          <p:cNvSpPr/>
          <p:nvPr/>
        </p:nvSpPr>
        <p:spPr>
          <a:xfrm>
            <a:off x="5578450" y="2833688"/>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Artistic Expression</a:t>
            </a:r>
            <a:endParaRPr lang="en-US" sz="1600" dirty="0"/>
          </a:p>
        </p:txBody>
      </p:sp>
      <p:sp>
        <p:nvSpPr>
          <p:cNvPr id="49" name="Text 47"/>
          <p:cNvSpPr/>
          <p:nvPr/>
        </p:nvSpPr>
        <p:spPr>
          <a:xfrm>
            <a:off x="5395888" y="3119438"/>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Visual and theatrical elements in performances, fashion, and makeup</a:t>
            </a:r>
            <a:endParaRPr lang="en-US" sz="1600" dirty="0"/>
          </a:p>
        </p:txBody>
      </p:sp>
      <p:sp>
        <p:nvSpPr>
          <p:cNvPr id="50" name="Shape 48"/>
          <p:cNvSpPr/>
          <p:nvPr/>
        </p:nvSpPr>
        <p:spPr>
          <a:xfrm>
            <a:off x="8532006" y="2702719"/>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51" name="Shape 49"/>
          <p:cNvSpPr/>
          <p:nvPr/>
        </p:nvSpPr>
        <p:spPr>
          <a:xfrm>
            <a:off x="8673889" y="2873375"/>
            <a:ext cx="160734" cy="142875"/>
          </a:xfrm>
          <a:custGeom>
            <a:avLst/>
            <a:gdLst/>
            <a:ahLst/>
            <a:cxnLst/>
            <a:rect l="l" t="t" r="r" b="b"/>
            <a:pathLst>
              <a:path w="160734" h="142875">
                <a:moveTo>
                  <a:pt x="17859" y="26789"/>
                </a:moveTo>
                <a:lnTo>
                  <a:pt x="17859" y="93762"/>
                </a:lnTo>
                <a:lnTo>
                  <a:pt x="142875" y="93762"/>
                </a:lnTo>
                <a:lnTo>
                  <a:pt x="142875" y="26789"/>
                </a:lnTo>
                <a:lnTo>
                  <a:pt x="17859" y="26789"/>
                </a:lnTo>
                <a:close/>
                <a:moveTo>
                  <a:pt x="0" y="26789"/>
                </a:moveTo>
                <a:cubicBezTo>
                  <a:pt x="0" y="16939"/>
                  <a:pt x="8009" y="8930"/>
                  <a:pt x="17859" y="8930"/>
                </a:cubicBezTo>
                <a:lnTo>
                  <a:pt x="142875" y="8930"/>
                </a:lnTo>
                <a:cubicBezTo>
                  <a:pt x="152726" y="8930"/>
                  <a:pt x="160734" y="16939"/>
                  <a:pt x="160734" y="26789"/>
                </a:cubicBezTo>
                <a:lnTo>
                  <a:pt x="160734" y="93762"/>
                </a:lnTo>
                <a:cubicBezTo>
                  <a:pt x="160734" y="103612"/>
                  <a:pt x="152726" y="111621"/>
                  <a:pt x="142875" y="111621"/>
                </a:cubicBezTo>
                <a:lnTo>
                  <a:pt x="17859" y="111621"/>
                </a:lnTo>
                <a:cubicBezTo>
                  <a:pt x="8009" y="111621"/>
                  <a:pt x="0" y="103612"/>
                  <a:pt x="0" y="93762"/>
                </a:cubicBezTo>
                <a:lnTo>
                  <a:pt x="0" y="26789"/>
                </a:lnTo>
                <a:close/>
                <a:moveTo>
                  <a:pt x="44648" y="125016"/>
                </a:moveTo>
                <a:lnTo>
                  <a:pt x="116086" y="125016"/>
                </a:lnTo>
                <a:cubicBezTo>
                  <a:pt x="121025" y="125016"/>
                  <a:pt x="125016" y="129006"/>
                  <a:pt x="125016" y="133945"/>
                </a:cubicBezTo>
                <a:cubicBezTo>
                  <a:pt x="125016" y="138885"/>
                  <a:pt x="121025" y="142875"/>
                  <a:pt x="116086" y="142875"/>
                </a:cubicBezTo>
                <a:lnTo>
                  <a:pt x="44648" y="142875"/>
                </a:lnTo>
                <a:cubicBezTo>
                  <a:pt x="39709" y="142875"/>
                  <a:pt x="35719" y="138885"/>
                  <a:pt x="35719" y="133945"/>
                </a:cubicBezTo>
                <a:cubicBezTo>
                  <a:pt x="35719" y="129006"/>
                  <a:pt x="39709" y="125016"/>
                  <a:pt x="44648" y="125016"/>
                </a:cubicBezTo>
                <a:close/>
              </a:path>
            </a:pathLst>
          </a:custGeom>
          <a:solidFill>
            <a:srgbClr val="DDFF00"/>
          </a:solidFill>
          <a:ln/>
        </p:spPr>
      </p:sp>
      <p:sp>
        <p:nvSpPr>
          <p:cNvPr id="52" name="Text 50"/>
          <p:cNvSpPr/>
          <p:nvPr/>
        </p:nvSpPr>
        <p:spPr>
          <a:xfrm>
            <a:off x="8845538" y="2833688"/>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Music Videos</a:t>
            </a:r>
            <a:endParaRPr lang="en-US" sz="1600" dirty="0"/>
          </a:p>
        </p:txBody>
      </p:sp>
      <p:sp>
        <p:nvSpPr>
          <p:cNvPr id="53" name="Text 51"/>
          <p:cNvSpPr/>
          <p:nvPr/>
        </p:nvSpPr>
        <p:spPr>
          <a:xfrm>
            <a:off x="8662975" y="3119438"/>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MTV's rise in the early 1980s played a significant role in New Wave's popularity</a:t>
            </a:r>
            <a:endParaRPr lang="en-US" sz="1600" dirty="0"/>
          </a:p>
        </p:txBody>
      </p:sp>
      <p:sp>
        <p:nvSpPr>
          <p:cNvPr id="54" name="Shape 52"/>
          <p:cNvSpPr/>
          <p:nvPr/>
        </p:nvSpPr>
        <p:spPr>
          <a:xfrm>
            <a:off x="5054575" y="3968750"/>
            <a:ext cx="6818313" cy="1762125"/>
          </a:xfrm>
          <a:custGeom>
            <a:avLst/>
            <a:gdLst/>
            <a:ahLst/>
            <a:cxnLst/>
            <a:rect l="l" t="t" r="r" b="b"/>
            <a:pathLst>
              <a:path w="6818313" h="1762125">
                <a:moveTo>
                  <a:pt x="0" y="0"/>
                </a:moveTo>
                <a:lnTo>
                  <a:pt x="6818313" y="0"/>
                </a:lnTo>
                <a:lnTo>
                  <a:pt x="6818313" y="1762125"/>
                </a:lnTo>
                <a:lnTo>
                  <a:pt x="0" y="1762125"/>
                </a:lnTo>
                <a:lnTo>
                  <a:pt x="0" y="0"/>
                </a:lnTo>
                <a:close/>
              </a:path>
            </a:pathLst>
          </a:custGeom>
          <a:solidFill>
            <a:srgbClr val="DDFF00"/>
          </a:solidFill>
          <a:ln/>
        </p:spPr>
      </p:sp>
      <p:sp>
        <p:nvSpPr>
          <p:cNvPr id="55" name="Text 53"/>
          <p:cNvSpPr/>
          <p:nvPr/>
        </p:nvSpPr>
        <p:spPr>
          <a:xfrm>
            <a:off x="5213325" y="412750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MTV &amp; The Visual Revolution</a:t>
            </a:r>
            <a:endParaRPr lang="en-US" sz="1600" dirty="0"/>
          </a:p>
        </p:txBody>
      </p:sp>
      <p:sp>
        <p:nvSpPr>
          <p:cNvPr id="56" name="Text 54"/>
          <p:cNvSpPr/>
          <p:nvPr/>
        </p:nvSpPr>
        <p:spPr>
          <a:xfrm>
            <a:off x="5213325" y="4445000"/>
            <a:ext cx="65643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The launch of MTV in 1981 transformed New Wave into a dominant cultural force.</a:t>
            </a:r>
            <a:pPr>
              <a:lnSpc>
                <a:spcPct val="140000"/>
              </a:lnSpc>
            </a:pPr>
            <a:r>
              <a:rPr lang="en-US" sz="1000" dirty="0">
                <a:solidFill>
                  <a:srgbClr val="000000"/>
                </a:solidFill>
                <a:latin typeface="Liter" pitchFamily="34" charset="0"/>
                <a:ea typeface="Liter" pitchFamily="34" charset="-122"/>
                <a:cs typeface="Liter" pitchFamily="34" charset="-120"/>
              </a:rPr>
              <a:t> Artists used music videos to express creativity, tell stories, and connect with fans visually. Bands like Duran Duran, The Cars, and A-ha became video stars.</a:t>
            </a:r>
            <a:endParaRPr lang="en-US" sz="1600" dirty="0"/>
          </a:p>
        </p:txBody>
      </p:sp>
      <p:sp>
        <p:nvSpPr>
          <p:cNvPr id="57" name="Text 55"/>
          <p:cNvSpPr/>
          <p:nvPr/>
        </p:nvSpPr>
        <p:spPr>
          <a:xfrm>
            <a:off x="5213325" y="5159375"/>
            <a:ext cx="6564313" cy="41275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New Wave's bold, colorful, and often eccentric styles became a defining part of 1980s pop culture, influencing fashion, art, and film far beyond music.</a:t>
            </a:r>
            <a:endParaRPr lang="en-US" sz="1600" dirty="0"/>
          </a:p>
        </p:txBody>
      </p:sp>
      <p:sp>
        <p:nvSpPr>
          <p:cNvPr id="58" name="Shape 56"/>
          <p:cNvSpPr/>
          <p:nvPr/>
        </p:nvSpPr>
        <p:spPr>
          <a:xfrm>
            <a:off x="5058544" y="5861844"/>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59" name="Text 57"/>
          <p:cNvSpPr/>
          <p:nvPr/>
        </p:nvSpPr>
        <p:spPr>
          <a:xfrm>
            <a:off x="5110138" y="5961063"/>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1981</a:t>
            </a:r>
            <a:endParaRPr lang="en-US" sz="1600" dirty="0"/>
          </a:p>
        </p:txBody>
      </p:sp>
      <p:sp>
        <p:nvSpPr>
          <p:cNvPr id="60" name="Text 58"/>
          <p:cNvSpPr/>
          <p:nvPr/>
        </p:nvSpPr>
        <p:spPr>
          <a:xfrm>
            <a:off x="5129981" y="6246813"/>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MTV launches</a:t>
            </a:r>
            <a:endParaRPr lang="en-US" sz="1600" dirty="0"/>
          </a:p>
        </p:txBody>
      </p:sp>
      <p:sp>
        <p:nvSpPr>
          <p:cNvPr id="61" name="Shape 59"/>
          <p:cNvSpPr/>
          <p:nvPr/>
        </p:nvSpPr>
        <p:spPr>
          <a:xfrm>
            <a:off x="7363582" y="5861844"/>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2" name="Text 60"/>
          <p:cNvSpPr/>
          <p:nvPr/>
        </p:nvSpPr>
        <p:spPr>
          <a:xfrm>
            <a:off x="7415175" y="5961063"/>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18</a:t>
            </a:r>
            <a:endParaRPr lang="en-US" sz="1600" dirty="0"/>
          </a:p>
        </p:txBody>
      </p:sp>
      <p:sp>
        <p:nvSpPr>
          <p:cNvPr id="63" name="Text 61"/>
          <p:cNvSpPr/>
          <p:nvPr/>
        </p:nvSpPr>
        <p:spPr>
          <a:xfrm>
            <a:off x="7435019" y="6246813"/>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British hits in Top 40 (1983)</a:t>
            </a:r>
            <a:endParaRPr lang="en-US" sz="1600" dirty="0"/>
          </a:p>
        </p:txBody>
      </p:sp>
      <p:sp>
        <p:nvSpPr>
          <p:cNvPr id="64" name="Shape 62"/>
          <p:cNvSpPr/>
          <p:nvPr/>
        </p:nvSpPr>
        <p:spPr>
          <a:xfrm>
            <a:off x="9668619" y="5861844"/>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5" name="Text 63"/>
          <p:cNvSpPr/>
          <p:nvPr/>
        </p:nvSpPr>
        <p:spPr>
          <a:xfrm>
            <a:off x="9720213" y="5961063"/>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2nd</a:t>
            </a:r>
            <a:endParaRPr lang="en-US" sz="1600" dirty="0"/>
          </a:p>
        </p:txBody>
      </p:sp>
      <p:sp>
        <p:nvSpPr>
          <p:cNvPr id="66" name="Text 64"/>
          <p:cNvSpPr/>
          <p:nvPr/>
        </p:nvSpPr>
        <p:spPr>
          <a:xfrm>
            <a:off x="9740057" y="6246813"/>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British Invasion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 name="Image 0" descr="https://kimi-web-img.moonshot.cn/img/www.rollingstone.com/9115887a69bbcdbcb33954eadaaae9ab7947895d.jpg">    </p:cNvPr>
          <p:cNvPicPr>
            <a:picLocks noChangeAspect="1"/>
          </p:cNvPicPr>
          <p:nvPr/>
        </p:nvPicPr>
        <p:blipFill>
          <a:blip r:embed="rId1">
            <a:alphaModFix amt="30000"/>
          </a:blip>
          <a:srcRect l="0" r="0" t="8214" b="8214"/>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6738" y="1638300"/>
            <a:ext cx="1190625"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06</a:t>
            </a:r>
            <a:endParaRPr lang="en-US" sz="1600" dirty="0"/>
          </a:p>
        </p:txBody>
      </p:sp>
      <p:sp>
        <p:nvSpPr>
          <p:cNvPr id="7" name="Shape 4"/>
          <p:cNvSpPr/>
          <p:nvPr/>
        </p:nvSpPr>
        <p:spPr>
          <a:xfrm>
            <a:off x="1828800" y="1752600"/>
            <a:ext cx="3924300" cy="38100"/>
          </a:xfrm>
          <a:custGeom>
            <a:avLst/>
            <a:gdLst/>
            <a:ahLst/>
            <a:cxnLst/>
            <a:rect l="l" t="t" r="r" b="b"/>
            <a:pathLst>
              <a:path w="3924300" h="38100">
                <a:moveTo>
                  <a:pt x="0" y="0"/>
                </a:moveTo>
                <a:lnTo>
                  <a:pt x="3924300" y="0"/>
                </a:lnTo>
                <a:lnTo>
                  <a:pt x="3924300" y="38100"/>
                </a:lnTo>
                <a:lnTo>
                  <a:pt x="0" y="38100"/>
                </a:lnTo>
                <a:lnTo>
                  <a:pt x="0" y="0"/>
                </a:lnTo>
                <a:close/>
              </a:path>
            </a:pathLst>
          </a:custGeom>
          <a:solidFill>
            <a:srgbClr val="DDFF00"/>
          </a:solidFill>
          <a:ln/>
        </p:spPr>
      </p:sp>
      <p:sp>
        <p:nvSpPr>
          <p:cNvPr id="8" name="Text 5"/>
          <p:cNvSpPr/>
          <p:nvPr/>
        </p:nvSpPr>
        <p:spPr>
          <a:xfrm>
            <a:off x="1828800" y="1943100"/>
            <a:ext cx="401002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SIX</a:t>
            </a:r>
            <a:endParaRPr lang="en-US" sz="1600" dirty="0"/>
          </a:p>
        </p:txBody>
      </p:sp>
      <p:sp>
        <p:nvSpPr>
          <p:cNvPr id="9" name="Text 6"/>
          <p:cNvSpPr/>
          <p:nvPr/>
        </p:nvSpPr>
        <p:spPr>
          <a:xfrm>
            <a:off x="381000" y="2895600"/>
            <a:ext cx="571500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ALTERNATIVE</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ROCK &amp; GRUNGE</a:t>
            </a:r>
            <a:endParaRPr lang="en-US" sz="1600" dirty="0"/>
          </a:p>
        </p:txBody>
      </p:sp>
      <p:sp>
        <p:nvSpPr>
          <p:cNvPr id="10" name="Text 7"/>
          <p:cNvSpPr/>
          <p:nvPr/>
        </p:nvSpPr>
        <p:spPr>
          <a:xfrm>
            <a:off x="381000" y="4838700"/>
            <a:ext cx="548640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1990s: The Seattle Sound Goes Global</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4255" y="372894"/>
            <a:ext cx="64851" cy="389106"/>
          </a:xfrm>
          <a:custGeom>
            <a:avLst/>
            <a:gdLst/>
            <a:ahLst/>
            <a:cxnLst/>
            <a:rect l="l" t="t" r="r" b="b"/>
            <a:pathLst>
              <a:path w="64851" h="389106">
                <a:moveTo>
                  <a:pt x="0" y="0"/>
                </a:moveTo>
                <a:lnTo>
                  <a:pt x="64851" y="0"/>
                </a:lnTo>
                <a:lnTo>
                  <a:pt x="64851" y="389106"/>
                </a:lnTo>
                <a:lnTo>
                  <a:pt x="0" y="389106"/>
                </a:lnTo>
                <a:lnTo>
                  <a:pt x="0" y="0"/>
                </a:lnTo>
                <a:close/>
              </a:path>
            </a:pathLst>
          </a:custGeom>
          <a:solidFill>
            <a:srgbClr val="DDFF00"/>
          </a:solidFill>
          <a:ln/>
        </p:spPr>
      </p:sp>
      <p:sp>
        <p:nvSpPr>
          <p:cNvPr id="3" name="Text 1"/>
          <p:cNvSpPr/>
          <p:nvPr/>
        </p:nvSpPr>
        <p:spPr>
          <a:xfrm>
            <a:off x="518809" y="324255"/>
            <a:ext cx="4953000" cy="162128"/>
          </a:xfrm>
          <a:prstGeom prst="rect">
            <a:avLst/>
          </a:prstGeom>
          <a:noFill/>
          <a:ln/>
        </p:spPr>
        <p:txBody>
          <a:bodyPr wrap="square" lIns="0" tIns="0" rIns="0" bIns="0" rtlCol="0" anchor="ctr"/>
          <a:lstStyle/>
          <a:p>
            <a:pPr>
              <a:lnSpc>
                <a:spcPct val="120000"/>
              </a:lnSpc>
            </a:pPr>
            <a:r>
              <a:rPr lang="en-US" sz="894" b="1" spc="89" kern="0" dirty="0">
                <a:solidFill>
                  <a:srgbClr val="DDFF00"/>
                </a:solidFill>
                <a:latin typeface="Liter" pitchFamily="34" charset="0"/>
                <a:ea typeface="Liter" pitchFamily="34" charset="-122"/>
                <a:cs typeface="Liter" pitchFamily="34" charset="-120"/>
              </a:rPr>
              <a:t>CHAPTER 06</a:t>
            </a:r>
            <a:endParaRPr lang="en-US" sz="1600" dirty="0"/>
          </a:p>
        </p:txBody>
      </p:sp>
      <p:sp>
        <p:nvSpPr>
          <p:cNvPr id="4" name="Text 2"/>
          <p:cNvSpPr/>
          <p:nvPr/>
        </p:nvSpPr>
        <p:spPr>
          <a:xfrm>
            <a:off x="518809" y="486383"/>
            <a:ext cx="5042170" cy="324255"/>
          </a:xfrm>
          <a:prstGeom prst="rect">
            <a:avLst/>
          </a:prstGeom>
          <a:noFill/>
          <a:ln/>
        </p:spPr>
        <p:txBody>
          <a:bodyPr wrap="square" lIns="0" tIns="0" rIns="0" bIns="0" rtlCol="0" anchor="ctr"/>
          <a:lstStyle/>
          <a:p>
            <a:pPr>
              <a:lnSpc>
                <a:spcPct val="90000"/>
              </a:lnSpc>
            </a:pPr>
            <a:r>
              <a:rPr lang="en-US" sz="2298" b="1" dirty="0">
                <a:solidFill>
                  <a:srgbClr val="FFFFFF"/>
                </a:solidFill>
                <a:latin typeface="Liter" pitchFamily="34" charset="0"/>
                <a:ea typeface="Liter" pitchFamily="34" charset="-122"/>
                <a:cs typeface="Liter" pitchFamily="34" charset="-120"/>
              </a:rPr>
              <a:t>Grunge: Raw, Authentic, Revolutionary</a:t>
            </a:r>
            <a:endParaRPr lang="en-US" sz="1600" dirty="0"/>
          </a:p>
        </p:txBody>
      </p:sp>
      <p:sp>
        <p:nvSpPr>
          <p:cNvPr id="5" name="Shape 3"/>
          <p:cNvSpPr/>
          <p:nvPr/>
        </p:nvSpPr>
        <p:spPr>
          <a:xfrm>
            <a:off x="324255" y="1070043"/>
            <a:ext cx="6809362" cy="1896894"/>
          </a:xfrm>
          <a:custGeom>
            <a:avLst/>
            <a:gdLst/>
            <a:ahLst/>
            <a:cxnLst/>
            <a:rect l="l" t="t" r="r" b="b"/>
            <a:pathLst>
              <a:path w="6809362" h="1896894">
                <a:moveTo>
                  <a:pt x="0" y="0"/>
                </a:moveTo>
                <a:lnTo>
                  <a:pt x="6809362" y="0"/>
                </a:lnTo>
                <a:lnTo>
                  <a:pt x="6809362" y="1896894"/>
                </a:lnTo>
                <a:lnTo>
                  <a:pt x="0" y="1896894"/>
                </a:lnTo>
                <a:lnTo>
                  <a:pt x="0" y="0"/>
                </a:lnTo>
                <a:close/>
              </a:path>
            </a:pathLst>
          </a:custGeom>
          <a:solidFill>
            <a:srgbClr val="DDFF00"/>
          </a:solidFill>
          <a:ln/>
        </p:spPr>
      </p:sp>
      <p:sp>
        <p:nvSpPr>
          <p:cNvPr id="6" name="Text 4"/>
          <p:cNvSpPr/>
          <p:nvPr/>
        </p:nvSpPr>
        <p:spPr>
          <a:xfrm>
            <a:off x="518809" y="1264596"/>
            <a:ext cx="6517532" cy="259404"/>
          </a:xfrm>
          <a:prstGeom prst="rect">
            <a:avLst/>
          </a:prstGeom>
          <a:noFill/>
          <a:ln/>
        </p:spPr>
        <p:txBody>
          <a:bodyPr wrap="square" lIns="0" tIns="0" rIns="0" bIns="0" rtlCol="0" anchor="ctr"/>
          <a:lstStyle/>
          <a:p>
            <a:pPr>
              <a:lnSpc>
                <a:spcPct val="110000"/>
              </a:lnSpc>
            </a:pPr>
            <a:r>
              <a:rPr lang="en-US" sz="1532" b="1" dirty="0">
                <a:solidFill>
                  <a:srgbClr val="000000"/>
                </a:solidFill>
                <a:latin typeface="Liter" pitchFamily="34" charset="0"/>
                <a:ea typeface="Liter" pitchFamily="34" charset="-122"/>
                <a:cs typeface="Liter" pitchFamily="34" charset="-120"/>
              </a:rPr>
              <a:t>The Seattle Sound Explodes</a:t>
            </a:r>
            <a:endParaRPr lang="en-US" sz="1600" dirty="0"/>
          </a:p>
        </p:txBody>
      </p:sp>
      <p:sp>
        <p:nvSpPr>
          <p:cNvPr id="7" name="Text 5"/>
          <p:cNvSpPr/>
          <p:nvPr/>
        </p:nvSpPr>
        <p:spPr>
          <a:xfrm>
            <a:off x="518809" y="1621277"/>
            <a:ext cx="6485106" cy="632298"/>
          </a:xfrm>
          <a:prstGeom prst="rect">
            <a:avLst/>
          </a:prstGeom>
          <a:noFill/>
          <a:ln/>
        </p:spPr>
        <p:txBody>
          <a:bodyPr wrap="square" lIns="0" tIns="0" rIns="0" bIns="0" rtlCol="0" anchor="ctr"/>
          <a:lstStyle/>
          <a:p>
            <a:pPr>
              <a:lnSpc>
                <a:spcPct val="140000"/>
              </a:lnSpc>
            </a:pPr>
            <a:r>
              <a:rPr lang="en-US" sz="1021" b="1" dirty="0">
                <a:solidFill>
                  <a:srgbClr val="000000"/>
                </a:solidFill>
                <a:latin typeface="Liter" pitchFamily="34" charset="0"/>
                <a:ea typeface="Liter" pitchFamily="34" charset="-122"/>
                <a:cs typeface="Liter" pitchFamily="34" charset="-120"/>
              </a:rPr>
              <a:t>Grunge emerged from Seattle's underground scene in the late 1980s as a reaction against the excesses of 1980s hair metal.</a:t>
            </a:r>
            <a:pPr>
              <a:lnSpc>
                <a:spcPct val="140000"/>
              </a:lnSpc>
            </a:pPr>
            <a:r>
              <a:rPr lang="en-US" sz="1021" dirty="0">
                <a:solidFill>
                  <a:srgbClr val="000000"/>
                </a:solidFill>
                <a:latin typeface="Liter" pitchFamily="34" charset="0"/>
                <a:ea typeface="Liter" pitchFamily="34" charset="-122"/>
                <a:cs typeface="Liter" pitchFamily="34" charset="-120"/>
              </a:rPr>
              <a:t> The gray skies of Seattle mirrored the brooding, introspective sound of this new movement—raw, unpolished, and deeply authentic.</a:t>
            </a:r>
            <a:endParaRPr lang="en-US" sz="1600" dirty="0"/>
          </a:p>
        </p:txBody>
      </p:sp>
      <p:sp>
        <p:nvSpPr>
          <p:cNvPr id="8" name="Text 6"/>
          <p:cNvSpPr/>
          <p:nvPr/>
        </p:nvSpPr>
        <p:spPr>
          <a:xfrm>
            <a:off x="518809" y="2350851"/>
            <a:ext cx="6485106" cy="421532"/>
          </a:xfrm>
          <a:prstGeom prst="rect">
            <a:avLst/>
          </a:prstGeom>
          <a:noFill/>
          <a:ln/>
        </p:spPr>
        <p:txBody>
          <a:bodyPr wrap="square" lIns="0" tIns="0" rIns="0" bIns="0" rtlCol="0" anchor="ctr"/>
          <a:lstStyle/>
          <a:p>
            <a:pPr>
              <a:lnSpc>
                <a:spcPct val="140000"/>
              </a:lnSpc>
            </a:pPr>
            <a:r>
              <a:rPr lang="en-US" sz="1021" dirty="0">
                <a:solidFill>
                  <a:srgbClr val="000000">
                    <a:alpha val="80000"/>
                  </a:srgbClr>
                </a:solidFill>
                <a:latin typeface="Liter" pitchFamily="34" charset="0"/>
                <a:ea typeface="Liter" pitchFamily="34" charset="-122"/>
                <a:cs typeface="Liter" pitchFamily="34" charset="-120"/>
              </a:rPr>
              <a:t>Mark Arm of Green River (later Mudhoney) is credited with first using the term "grunge" in 1981. The music combined punk's aggression with metal's heaviness, creating a sound that was both abrasive and melodic.</a:t>
            </a:r>
            <a:endParaRPr lang="en-US" sz="1600" dirty="0"/>
          </a:p>
        </p:txBody>
      </p:sp>
      <p:sp>
        <p:nvSpPr>
          <p:cNvPr id="9" name="Shape 7"/>
          <p:cNvSpPr/>
          <p:nvPr/>
        </p:nvSpPr>
        <p:spPr>
          <a:xfrm>
            <a:off x="332362" y="3104745"/>
            <a:ext cx="6793149" cy="2869660"/>
          </a:xfrm>
          <a:custGeom>
            <a:avLst/>
            <a:gdLst/>
            <a:ahLst/>
            <a:cxnLst/>
            <a:rect l="l" t="t" r="r" b="b"/>
            <a:pathLst>
              <a:path w="6793149" h="2869660">
                <a:moveTo>
                  <a:pt x="0" y="0"/>
                </a:moveTo>
                <a:lnTo>
                  <a:pt x="6793149" y="0"/>
                </a:lnTo>
                <a:lnTo>
                  <a:pt x="6793149" y="2869660"/>
                </a:lnTo>
                <a:lnTo>
                  <a:pt x="0" y="286966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02596" y="3274979"/>
            <a:ext cx="6533745" cy="226979"/>
          </a:xfrm>
          <a:prstGeom prst="rect">
            <a:avLst/>
          </a:prstGeom>
          <a:noFill/>
          <a:ln/>
        </p:spPr>
        <p:txBody>
          <a:bodyPr wrap="square" lIns="0" tIns="0" rIns="0" bIns="0" rtlCol="0" anchor="ctr"/>
          <a:lstStyle/>
          <a:p>
            <a:pPr>
              <a:lnSpc>
                <a:spcPct val="120000"/>
              </a:lnSpc>
            </a:pPr>
            <a:r>
              <a:rPr lang="en-US" sz="1277" b="1" dirty="0">
                <a:solidFill>
                  <a:srgbClr val="DDFF00"/>
                </a:solidFill>
                <a:latin typeface="Liter" pitchFamily="34" charset="0"/>
                <a:ea typeface="Liter" pitchFamily="34" charset="-122"/>
                <a:cs typeface="Liter" pitchFamily="34" charset="-120"/>
              </a:rPr>
              <a:t>The Big Four of Grunge</a:t>
            </a:r>
            <a:endParaRPr lang="en-US" sz="1600" dirty="0"/>
          </a:p>
        </p:txBody>
      </p:sp>
      <p:sp>
        <p:nvSpPr>
          <p:cNvPr id="11" name="Shape 9"/>
          <p:cNvSpPr/>
          <p:nvPr/>
        </p:nvSpPr>
        <p:spPr>
          <a:xfrm>
            <a:off x="518809" y="3631660"/>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12" name="Text 10"/>
          <p:cNvSpPr/>
          <p:nvPr/>
        </p:nvSpPr>
        <p:spPr>
          <a:xfrm>
            <a:off x="664723" y="3631660"/>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Nirvana</a:t>
            </a:r>
            <a:endParaRPr lang="en-US" sz="1600" dirty="0"/>
          </a:p>
        </p:txBody>
      </p:sp>
      <p:sp>
        <p:nvSpPr>
          <p:cNvPr id="13" name="Text 11"/>
          <p:cNvSpPr/>
          <p:nvPr/>
        </p:nvSpPr>
        <p:spPr>
          <a:xfrm>
            <a:off x="664723" y="3923489"/>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Kurt Cobain, Krist Novoselic, Dave Grohl</a:t>
            </a:r>
            <a:endParaRPr lang="en-US" sz="1600" dirty="0"/>
          </a:p>
        </p:txBody>
      </p:sp>
      <p:sp>
        <p:nvSpPr>
          <p:cNvPr id="14" name="Text 12"/>
          <p:cNvSpPr/>
          <p:nvPr/>
        </p:nvSpPr>
        <p:spPr>
          <a:xfrm>
            <a:off x="664723" y="4182894"/>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"Nevermind" (1991) changed everything. "Smells Like Teen Spirit" became the anthem of Generation X.</a:t>
            </a:r>
            <a:endParaRPr lang="en-US" sz="1600" dirty="0"/>
          </a:p>
        </p:txBody>
      </p:sp>
      <p:sp>
        <p:nvSpPr>
          <p:cNvPr id="15" name="Shape 13"/>
          <p:cNvSpPr/>
          <p:nvPr/>
        </p:nvSpPr>
        <p:spPr>
          <a:xfrm>
            <a:off x="3810000" y="3631660"/>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16" name="Text 14"/>
          <p:cNvSpPr/>
          <p:nvPr/>
        </p:nvSpPr>
        <p:spPr>
          <a:xfrm>
            <a:off x="3955915" y="3631660"/>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Pearl Jam</a:t>
            </a:r>
            <a:endParaRPr lang="en-US" sz="1600" dirty="0"/>
          </a:p>
        </p:txBody>
      </p:sp>
      <p:sp>
        <p:nvSpPr>
          <p:cNvPr id="17" name="Text 15"/>
          <p:cNvSpPr/>
          <p:nvPr/>
        </p:nvSpPr>
        <p:spPr>
          <a:xfrm>
            <a:off x="3955915" y="3923489"/>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Eddie Vedder, Mike McCready, Stone Gossard</a:t>
            </a:r>
            <a:endParaRPr lang="en-US" sz="1600" dirty="0"/>
          </a:p>
        </p:txBody>
      </p:sp>
      <p:sp>
        <p:nvSpPr>
          <p:cNvPr id="18" name="Text 16"/>
          <p:cNvSpPr/>
          <p:nvPr/>
        </p:nvSpPr>
        <p:spPr>
          <a:xfrm>
            <a:off x="3955915" y="4182894"/>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"Ten" (1991) showcased emotional depth and social conscience. "Jeremy," "Alive," "Black."</a:t>
            </a:r>
            <a:endParaRPr lang="en-US" sz="1600" dirty="0"/>
          </a:p>
        </p:txBody>
      </p:sp>
      <p:sp>
        <p:nvSpPr>
          <p:cNvPr id="19" name="Shape 17"/>
          <p:cNvSpPr/>
          <p:nvPr/>
        </p:nvSpPr>
        <p:spPr>
          <a:xfrm>
            <a:off x="518809" y="4636851"/>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20" name="Text 18"/>
          <p:cNvSpPr/>
          <p:nvPr/>
        </p:nvSpPr>
        <p:spPr>
          <a:xfrm>
            <a:off x="664723" y="4636851"/>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Soundgarden</a:t>
            </a:r>
            <a:endParaRPr lang="en-US" sz="1600" dirty="0"/>
          </a:p>
        </p:txBody>
      </p:sp>
      <p:sp>
        <p:nvSpPr>
          <p:cNvPr id="21" name="Text 19"/>
          <p:cNvSpPr/>
          <p:nvPr/>
        </p:nvSpPr>
        <p:spPr>
          <a:xfrm>
            <a:off x="664723" y="4928681"/>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Chris Cornell, Kim Thayil, Ben Shepherd</a:t>
            </a:r>
            <a:endParaRPr lang="en-US" sz="1600" dirty="0"/>
          </a:p>
        </p:txBody>
      </p:sp>
      <p:sp>
        <p:nvSpPr>
          <p:cNvPr id="22" name="Text 20"/>
          <p:cNvSpPr/>
          <p:nvPr/>
        </p:nvSpPr>
        <p:spPr>
          <a:xfrm>
            <a:off x="664723" y="5188085"/>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"Badmotorfinger" (1991) merged metal riffs with classic rock songwriting. "Black Hole Sun."</a:t>
            </a:r>
            <a:endParaRPr lang="en-US" sz="1600" dirty="0"/>
          </a:p>
        </p:txBody>
      </p:sp>
      <p:sp>
        <p:nvSpPr>
          <p:cNvPr id="23" name="Shape 21"/>
          <p:cNvSpPr/>
          <p:nvPr/>
        </p:nvSpPr>
        <p:spPr>
          <a:xfrm>
            <a:off x="3810000" y="4636851"/>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24" name="Text 22"/>
          <p:cNvSpPr/>
          <p:nvPr/>
        </p:nvSpPr>
        <p:spPr>
          <a:xfrm>
            <a:off x="3955915" y="4636851"/>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Alice in Chains</a:t>
            </a:r>
            <a:endParaRPr lang="en-US" sz="1600" dirty="0"/>
          </a:p>
        </p:txBody>
      </p:sp>
      <p:sp>
        <p:nvSpPr>
          <p:cNvPr id="25" name="Text 23"/>
          <p:cNvSpPr/>
          <p:nvPr/>
        </p:nvSpPr>
        <p:spPr>
          <a:xfrm>
            <a:off x="3955915" y="4928681"/>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Layne Staley, Jerry Cantrell, Mike Starr</a:t>
            </a:r>
            <a:endParaRPr lang="en-US" sz="1600" dirty="0"/>
          </a:p>
        </p:txBody>
      </p:sp>
      <p:sp>
        <p:nvSpPr>
          <p:cNvPr id="26" name="Text 24"/>
          <p:cNvSpPr/>
          <p:nvPr/>
        </p:nvSpPr>
        <p:spPr>
          <a:xfrm>
            <a:off x="3955915" y="5188085"/>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"Dirt" (1992) explored dark themes with haunting harmonies. "Man in the Box," "Rooster."</a:t>
            </a:r>
            <a:endParaRPr lang="en-US" sz="1600" dirty="0"/>
          </a:p>
        </p:txBody>
      </p:sp>
      <p:sp>
        <p:nvSpPr>
          <p:cNvPr id="27" name="Shape 25"/>
          <p:cNvSpPr/>
          <p:nvPr/>
        </p:nvSpPr>
        <p:spPr>
          <a:xfrm>
            <a:off x="328309"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28" name="Shape 26"/>
          <p:cNvSpPr/>
          <p:nvPr/>
        </p:nvSpPr>
        <p:spPr>
          <a:xfrm>
            <a:off x="1029511" y="6217596"/>
            <a:ext cx="218872" cy="194553"/>
          </a:xfrm>
          <a:custGeom>
            <a:avLst/>
            <a:gdLst/>
            <a:ahLst/>
            <a:cxnLst/>
            <a:rect l="l" t="t" r="r" b="b"/>
            <a:pathLst>
              <a:path w="218872" h="194553">
                <a:moveTo>
                  <a:pt x="0" y="127676"/>
                </a:moveTo>
                <a:cubicBezTo>
                  <a:pt x="0" y="157884"/>
                  <a:pt x="24509" y="182394"/>
                  <a:pt x="54718" y="182394"/>
                </a:cubicBezTo>
                <a:lnTo>
                  <a:pt x="170234" y="182394"/>
                </a:lnTo>
                <a:cubicBezTo>
                  <a:pt x="197099" y="182394"/>
                  <a:pt x="218872" y="160620"/>
                  <a:pt x="218872" y="133755"/>
                </a:cubicBezTo>
                <a:cubicBezTo>
                  <a:pt x="218872" y="114148"/>
                  <a:pt x="207283" y="97239"/>
                  <a:pt x="190563" y="89563"/>
                </a:cubicBezTo>
                <a:cubicBezTo>
                  <a:pt x="193109" y="84585"/>
                  <a:pt x="194553" y="78923"/>
                  <a:pt x="194553" y="72957"/>
                </a:cubicBezTo>
                <a:cubicBezTo>
                  <a:pt x="194553" y="52818"/>
                  <a:pt x="178214" y="36479"/>
                  <a:pt x="158074" y="36479"/>
                </a:cubicBezTo>
                <a:cubicBezTo>
                  <a:pt x="151349" y="36479"/>
                  <a:pt x="145079" y="38303"/>
                  <a:pt x="139683" y="41457"/>
                </a:cubicBezTo>
                <a:cubicBezTo>
                  <a:pt x="130525" y="24053"/>
                  <a:pt x="112248" y="12160"/>
                  <a:pt x="91197" y="12160"/>
                </a:cubicBezTo>
                <a:cubicBezTo>
                  <a:pt x="60988" y="12160"/>
                  <a:pt x="36479" y="36669"/>
                  <a:pt x="36479" y="66878"/>
                </a:cubicBezTo>
                <a:cubicBezTo>
                  <a:pt x="36479" y="69918"/>
                  <a:pt x="36745" y="72919"/>
                  <a:pt x="37201" y="75807"/>
                </a:cubicBezTo>
                <a:cubicBezTo>
                  <a:pt x="15579" y="83103"/>
                  <a:pt x="0" y="103584"/>
                  <a:pt x="0" y="127676"/>
                </a:cubicBezTo>
                <a:close/>
              </a:path>
            </a:pathLst>
          </a:custGeom>
          <a:solidFill>
            <a:srgbClr val="DDFF00"/>
          </a:solidFill>
          <a:ln/>
        </p:spPr>
      </p:sp>
      <p:sp>
        <p:nvSpPr>
          <p:cNvPr id="29" name="Text 27"/>
          <p:cNvSpPr/>
          <p:nvPr/>
        </p:nvSpPr>
        <p:spPr>
          <a:xfrm>
            <a:off x="401266"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Dirty Tones</a:t>
            </a:r>
            <a:endParaRPr lang="en-US" sz="1600" dirty="0"/>
          </a:p>
        </p:txBody>
      </p:sp>
      <p:sp>
        <p:nvSpPr>
          <p:cNvPr id="30" name="Shape 28"/>
          <p:cNvSpPr/>
          <p:nvPr/>
        </p:nvSpPr>
        <p:spPr>
          <a:xfrm>
            <a:off x="2054968"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31" name="Shape 29"/>
          <p:cNvSpPr/>
          <p:nvPr/>
        </p:nvSpPr>
        <p:spPr>
          <a:xfrm>
            <a:off x="2768330" y="6217596"/>
            <a:ext cx="194553" cy="194553"/>
          </a:xfrm>
          <a:custGeom>
            <a:avLst/>
            <a:gdLst/>
            <a:ahLst/>
            <a:cxnLst/>
            <a:rect l="l" t="t" r="r" b="b"/>
            <a:pathLst>
              <a:path w="194553" h="194553">
                <a:moveTo>
                  <a:pt x="50576" y="12160"/>
                </a:moveTo>
                <a:cubicBezTo>
                  <a:pt x="57150" y="12160"/>
                  <a:pt x="63572" y="13452"/>
                  <a:pt x="69538" y="15845"/>
                </a:cubicBezTo>
                <a:lnTo>
                  <a:pt x="90361" y="48220"/>
                </a:lnTo>
                <a:lnTo>
                  <a:pt x="61710" y="76871"/>
                </a:lnTo>
                <a:cubicBezTo>
                  <a:pt x="61140" y="77441"/>
                  <a:pt x="60798" y="78239"/>
                  <a:pt x="60836" y="79075"/>
                </a:cubicBezTo>
                <a:cubicBezTo>
                  <a:pt x="60874" y="79911"/>
                  <a:pt x="61216" y="80671"/>
                  <a:pt x="61824" y="81241"/>
                </a:cubicBezTo>
                <a:lnTo>
                  <a:pt x="104382" y="120760"/>
                </a:lnTo>
                <a:cubicBezTo>
                  <a:pt x="105484" y="121786"/>
                  <a:pt x="107194" y="121862"/>
                  <a:pt x="108372" y="120874"/>
                </a:cubicBezTo>
                <a:cubicBezTo>
                  <a:pt x="109550" y="119886"/>
                  <a:pt x="109816" y="118214"/>
                  <a:pt x="109018" y="116922"/>
                </a:cubicBezTo>
                <a:lnTo>
                  <a:pt x="86067" y="79645"/>
                </a:lnTo>
                <a:lnTo>
                  <a:pt x="120532" y="50918"/>
                </a:lnTo>
                <a:cubicBezTo>
                  <a:pt x="121520" y="50120"/>
                  <a:pt x="121862" y="48752"/>
                  <a:pt x="121444" y="47574"/>
                </a:cubicBezTo>
                <a:lnTo>
                  <a:pt x="112628" y="23027"/>
                </a:lnTo>
                <a:cubicBezTo>
                  <a:pt x="121444" y="16073"/>
                  <a:pt x="132463" y="12160"/>
                  <a:pt x="143977" y="12160"/>
                </a:cubicBezTo>
                <a:cubicBezTo>
                  <a:pt x="171906" y="12160"/>
                  <a:pt x="194553" y="34807"/>
                  <a:pt x="194553" y="62736"/>
                </a:cubicBezTo>
                <a:lnTo>
                  <a:pt x="194553" y="63724"/>
                </a:lnTo>
                <a:cubicBezTo>
                  <a:pt x="194553" y="106358"/>
                  <a:pt x="141393" y="155871"/>
                  <a:pt x="113654" y="177036"/>
                </a:cubicBezTo>
                <a:cubicBezTo>
                  <a:pt x="108942" y="180608"/>
                  <a:pt x="103166" y="182394"/>
                  <a:pt x="97277" y="182394"/>
                </a:cubicBezTo>
                <a:cubicBezTo>
                  <a:pt x="91387" y="182394"/>
                  <a:pt x="85573" y="180646"/>
                  <a:pt x="80899" y="177036"/>
                </a:cubicBezTo>
                <a:cubicBezTo>
                  <a:pt x="53160" y="155871"/>
                  <a:pt x="0" y="106358"/>
                  <a:pt x="0" y="63724"/>
                </a:cubicBezTo>
                <a:lnTo>
                  <a:pt x="0" y="62736"/>
                </a:lnTo>
                <a:cubicBezTo>
                  <a:pt x="0" y="34807"/>
                  <a:pt x="22647" y="12160"/>
                  <a:pt x="50576" y="12160"/>
                </a:cubicBezTo>
                <a:close/>
              </a:path>
            </a:pathLst>
          </a:custGeom>
          <a:solidFill>
            <a:srgbClr val="DDFF00"/>
          </a:solidFill>
          <a:ln/>
        </p:spPr>
      </p:sp>
      <p:sp>
        <p:nvSpPr>
          <p:cNvPr id="32" name="Text 30"/>
          <p:cNvSpPr/>
          <p:nvPr/>
        </p:nvSpPr>
        <p:spPr>
          <a:xfrm>
            <a:off x="2127926"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Alienation</a:t>
            </a:r>
            <a:endParaRPr lang="en-US" sz="1600" dirty="0"/>
          </a:p>
        </p:txBody>
      </p:sp>
      <p:sp>
        <p:nvSpPr>
          <p:cNvPr id="33" name="Shape 31"/>
          <p:cNvSpPr/>
          <p:nvPr/>
        </p:nvSpPr>
        <p:spPr>
          <a:xfrm>
            <a:off x="3781628"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34" name="Shape 32"/>
          <p:cNvSpPr/>
          <p:nvPr/>
        </p:nvSpPr>
        <p:spPr>
          <a:xfrm>
            <a:off x="4470670" y="6217596"/>
            <a:ext cx="243191" cy="194553"/>
          </a:xfrm>
          <a:custGeom>
            <a:avLst/>
            <a:gdLst/>
            <a:ahLst/>
            <a:cxnLst/>
            <a:rect l="l" t="t" r="r" b="b"/>
            <a:pathLst>
              <a:path w="243191" h="194553">
                <a:moveTo>
                  <a:pt x="121672" y="42559"/>
                </a:moveTo>
                <a:cubicBezTo>
                  <a:pt x="138467" y="42559"/>
                  <a:pt x="152071" y="28955"/>
                  <a:pt x="152071" y="12160"/>
                </a:cubicBezTo>
                <a:lnTo>
                  <a:pt x="172400" y="12160"/>
                </a:lnTo>
                <a:cubicBezTo>
                  <a:pt x="178860" y="12160"/>
                  <a:pt x="185054" y="14705"/>
                  <a:pt x="189613" y="19265"/>
                </a:cubicBezTo>
                <a:lnTo>
                  <a:pt x="234680" y="64370"/>
                </a:lnTo>
                <a:cubicBezTo>
                  <a:pt x="239430" y="69120"/>
                  <a:pt x="239430" y="76833"/>
                  <a:pt x="234680" y="81583"/>
                </a:cubicBezTo>
                <a:lnTo>
                  <a:pt x="215414" y="100848"/>
                </a:lnTo>
                <a:cubicBezTo>
                  <a:pt x="210665" y="105598"/>
                  <a:pt x="202951" y="105598"/>
                  <a:pt x="198201" y="100848"/>
                </a:cubicBezTo>
                <a:lnTo>
                  <a:pt x="182470" y="85117"/>
                </a:lnTo>
                <a:lnTo>
                  <a:pt x="182470" y="170234"/>
                </a:lnTo>
                <a:cubicBezTo>
                  <a:pt x="182470" y="183648"/>
                  <a:pt x="171564" y="194553"/>
                  <a:pt x="158150" y="194553"/>
                </a:cubicBezTo>
                <a:lnTo>
                  <a:pt x="85193" y="194553"/>
                </a:lnTo>
                <a:cubicBezTo>
                  <a:pt x="71779" y="194553"/>
                  <a:pt x="60874" y="183648"/>
                  <a:pt x="60874" y="170234"/>
                </a:cubicBezTo>
                <a:lnTo>
                  <a:pt x="60874" y="85117"/>
                </a:lnTo>
                <a:lnTo>
                  <a:pt x="45142" y="100848"/>
                </a:lnTo>
                <a:cubicBezTo>
                  <a:pt x="40393" y="105598"/>
                  <a:pt x="32679" y="105598"/>
                  <a:pt x="27929" y="100848"/>
                </a:cubicBezTo>
                <a:lnTo>
                  <a:pt x="8702" y="81545"/>
                </a:lnTo>
                <a:cubicBezTo>
                  <a:pt x="3952" y="76795"/>
                  <a:pt x="3952" y="69082"/>
                  <a:pt x="8702" y="64332"/>
                </a:cubicBezTo>
                <a:lnTo>
                  <a:pt x="53768" y="19265"/>
                </a:lnTo>
                <a:cubicBezTo>
                  <a:pt x="58328" y="14705"/>
                  <a:pt x="64522" y="12160"/>
                  <a:pt x="70982" y="12160"/>
                </a:cubicBezTo>
                <a:lnTo>
                  <a:pt x="91311" y="12160"/>
                </a:lnTo>
                <a:cubicBezTo>
                  <a:pt x="91311" y="28955"/>
                  <a:pt x="104914" y="42559"/>
                  <a:pt x="121710" y="42559"/>
                </a:cubicBezTo>
                <a:close/>
              </a:path>
            </a:pathLst>
          </a:custGeom>
          <a:solidFill>
            <a:srgbClr val="DDFF00"/>
          </a:solidFill>
          <a:ln/>
        </p:spPr>
      </p:sp>
      <p:sp>
        <p:nvSpPr>
          <p:cNvPr id="35" name="Text 33"/>
          <p:cNvSpPr/>
          <p:nvPr/>
        </p:nvSpPr>
        <p:spPr>
          <a:xfrm>
            <a:off x="3854585"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Flannel Fashion</a:t>
            </a:r>
            <a:endParaRPr lang="en-US" sz="1600" dirty="0"/>
          </a:p>
        </p:txBody>
      </p:sp>
      <p:sp>
        <p:nvSpPr>
          <p:cNvPr id="36" name="Shape 34"/>
          <p:cNvSpPr/>
          <p:nvPr/>
        </p:nvSpPr>
        <p:spPr>
          <a:xfrm>
            <a:off x="5508287"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37" name="Shape 35"/>
          <p:cNvSpPr/>
          <p:nvPr/>
        </p:nvSpPr>
        <p:spPr>
          <a:xfrm>
            <a:off x="6245968" y="6217596"/>
            <a:ext cx="145915" cy="194553"/>
          </a:xfrm>
          <a:custGeom>
            <a:avLst/>
            <a:gdLst/>
            <a:ahLst/>
            <a:cxnLst/>
            <a:rect l="l" t="t" r="r" b="b"/>
            <a:pathLst>
              <a:path w="145915" h="194553">
                <a:moveTo>
                  <a:pt x="2812" y="96365"/>
                </a:moveTo>
                <a:cubicBezTo>
                  <a:pt x="988" y="93439"/>
                  <a:pt x="0" y="90095"/>
                  <a:pt x="0" y="86637"/>
                </a:cubicBezTo>
                <a:lnTo>
                  <a:pt x="0" y="72957"/>
                </a:lnTo>
                <a:cubicBezTo>
                  <a:pt x="0" y="62888"/>
                  <a:pt x="8170" y="54718"/>
                  <a:pt x="18239" y="54718"/>
                </a:cubicBezTo>
                <a:lnTo>
                  <a:pt x="24319" y="54718"/>
                </a:lnTo>
                <a:lnTo>
                  <a:pt x="24319" y="24319"/>
                </a:lnTo>
                <a:cubicBezTo>
                  <a:pt x="24319" y="14250"/>
                  <a:pt x="32489" y="6080"/>
                  <a:pt x="42559" y="6080"/>
                </a:cubicBezTo>
                <a:cubicBezTo>
                  <a:pt x="49132" y="6080"/>
                  <a:pt x="54870" y="9538"/>
                  <a:pt x="58100" y="14743"/>
                </a:cubicBezTo>
                <a:cubicBezTo>
                  <a:pt x="59734" y="6346"/>
                  <a:pt x="67144" y="0"/>
                  <a:pt x="75997" y="0"/>
                </a:cubicBezTo>
                <a:cubicBezTo>
                  <a:pt x="84889" y="0"/>
                  <a:pt x="92299" y="6384"/>
                  <a:pt x="93895" y="14781"/>
                </a:cubicBezTo>
                <a:cubicBezTo>
                  <a:pt x="96669" y="13110"/>
                  <a:pt x="99899" y="12160"/>
                  <a:pt x="103356" y="12160"/>
                </a:cubicBezTo>
                <a:cubicBezTo>
                  <a:pt x="111754" y="12160"/>
                  <a:pt x="118860" y="17859"/>
                  <a:pt x="120950" y="25611"/>
                </a:cubicBezTo>
                <a:cubicBezTo>
                  <a:pt x="123040" y="24775"/>
                  <a:pt x="125282" y="24319"/>
                  <a:pt x="127676" y="24319"/>
                </a:cubicBezTo>
                <a:cubicBezTo>
                  <a:pt x="137745" y="24319"/>
                  <a:pt x="145915" y="32489"/>
                  <a:pt x="145915" y="42559"/>
                </a:cubicBezTo>
                <a:lnTo>
                  <a:pt x="145915" y="79379"/>
                </a:lnTo>
                <a:cubicBezTo>
                  <a:pt x="145915" y="83141"/>
                  <a:pt x="145041" y="86865"/>
                  <a:pt x="143331" y="90247"/>
                </a:cubicBezTo>
                <a:lnTo>
                  <a:pt x="128284" y="120304"/>
                </a:lnTo>
                <a:cubicBezTo>
                  <a:pt x="124180" y="128550"/>
                  <a:pt x="115744" y="133755"/>
                  <a:pt x="106548" y="133755"/>
                </a:cubicBezTo>
                <a:lnTo>
                  <a:pt x="36479" y="133755"/>
                </a:lnTo>
                <a:cubicBezTo>
                  <a:pt x="30209" y="133755"/>
                  <a:pt x="24395" y="130563"/>
                  <a:pt x="21051" y="125244"/>
                </a:cubicBezTo>
                <a:lnTo>
                  <a:pt x="2812" y="96365"/>
                </a:lnTo>
                <a:close/>
                <a:moveTo>
                  <a:pt x="12160" y="182394"/>
                </a:moveTo>
                <a:lnTo>
                  <a:pt x="12160" y="164154"/>
                </a:lnTo>
                <a:cubicBezTo>
                  <a:pt x="12160" y="157428"/>
                  <a:pt x="17593" y="151995"/>
                  <a:pt x="24319" y="151995"/>
                </a:cubicBezTo>
                <a:lnTo>
                  <a:pt x="121596" y="151995"/>
                </a:lnTo>
                <a:cubicBezTo>
                  <a:pt x="128322" y="151995"/>
                  <a:pt x="133755" y="157428"/>
                  <a:pt x="133755" y="164154"/>
                </a:cubicBezTo>
                <a:lnTo>
                  <a:pt x="133755" y="182394"/>
                </a:lnTo>
                <a:cubicBezTo>
                  <a:pt x="133755" y="189119"/>
                  <a:pt x="128322" y="194553"/>
                  <a:pt x="121596" y="194553"/>
                </a:cubicBezTo>
                <a:lnTo>
                  <a:pt x="24319" y="194553"/>
                </a:lnTo>
                <a:cubicBezTo>
                  <a:pt x="17593" y="194553"/>
                  <a:pt x="12160" y="189119"/>
                  <a:pt x="12160" y="182394"/>
                </a:cubicBezTo>
                <a:close/>
              </a:path>
            </a:pathLst>
          </a:custGeom>
          <a:solidFill>
            <a:srgbClr val="DDFF00"/>
          </a:solidFill>
          <a:ln/>
        </p:spPr>
      </p:sp>
      <p:sp>
        <p:nvSpPr>
          <p:cNvPr id="38" name="Text 36"/>
          <p:cNvSpPr/>
          <p:nvPr/>
        </p:nvSpPr>
        <p:spPr>
          <a:xfrm>
            <a:off x="5581245"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Authenticity</a:t>
            </a:r>
            <a:endParaRPr lang="en-US" sz="1600" dirty="0"/>
          </a:p>
        </p:txBody>
      </p:sp>
      <p:pic>
        <p:nvPicPr>
          <p:cNvPr id="39" name="Image 0" descr="https://kimi-web-img.moonshot.cn/img/www.udiscovermusic.com/72593f7672c2a1923cca418d4a5fc92fdc3f08d1.jpg">    </p:cNvPr>
          <p:cNvPicPr>
            <a:picLocks noChangeAspect="1"/>
          </p:cNvPicPr>
          <p:nvPr/>
        </p:nvPicPr>
        <p:blipFill>
          <a:blip r:embed="rId1"/>
          <a:srcRect l="0" r="0" t="0" b="0"/>
          <a:stretch/>
        </p:blipFill>
        <p:spPr>
          <a:xfrm>
            <a:off x="7328170" y="1070043"/>
            <a:ext cx="4539574" cy="2723745"/>
          </a:xfrm>
          <a:prstGeom prst="roundRect">
            <a:avLst>
              <a:gd name="adj" fmla="val 0"/>
            </a:avLst>
          </a:prstGeom>
        </p:spPr>
      </p:pic>
      <p:sp>
        <p:nvSpPr>
          <p:cNvPr id="40" name="Shape 37"/>
          <p:cNvSpPr/>
          <p:nvPr/>
        </p:nvSpPr>
        <p:spPr>
          <a:xfrm>
            <a:off x="7328170" y="1070043"/>
            <a:ext cx="4539574" cy="2723745"/>
          </a:xfrm>
          <a:custGeom>
            <a:avLst/>
            <a:gdLst/>
            <a:ahLst/>
            <a:cxnLst/>
            <a:rect l="l" t="t" r="r" b="b"/>
            <a:pathLst>
              <a:path w="4539574" h="2723745">
                <a:moveTo>
                  <a:pt x="0" y="0"/>
                </a:moveTo>
                <a:lnTo>
                  <a:pt x="4539574" y="0"/>
                </a:lnTo>
                <a:lnTo>
                  <a:pt x="4539574" y="2723745"/>
                </a:lnTo>
                <a:lnTo>
                  <a:pt x="0" y="2723745"/>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57872" y="3242553"/>
            <a:ext cx="4336915" cy="162128"/>
          </a:xfrm>
          <a:prstGeom prst="rect">
            <a:avLst/>
          </a:prstGeom>
          <a:noFill/>
          <a:ln/>
        </p:spPr>
        <p:txBody>
          <a:bodyPr wrap="square" lIns="0" tIns="0" rIns="0" bIns="0" rtlCol="0" anchor="ctr"/>
          <a:lstStyle/>
          <a:p>
            <a:pPr>
              <a:lnSpc>
                <a:spcPct val="120000"/>
              </a:lnSpc>
            </a:pPr>
            <a:r>
              <a:rPr lang="en-US" sz="894" b="1" dirty="0">
                <a:solidFill>
                  <a:srgbClr val="DDFF00"/>
                </a:solidFill>
                <a:latin typeface="Liter" pitchFamily="34" charset="0"/>
                <a:ea typeface="Liter" pitchFamily="34" charset="-122"/>
                <a:cs typeface="Liter" pitchFamily="34" charset="-120"/>
              </a:rPr>
              <a:t>NIRVANA</a:t>
            </a:r>
            <a:endParaRPr lang="en-US" sz="1600" dirty="0"/>
          </a:p>
        </p:txBody>
      </p:sp>
      <p:sp>
        <p:nvSpPr>
          <p:cNvPr id="42" name="Text 39"/>
          <p:cNvSpPr/>
          <p:nvPr/>
        </p:nvSpPr>
        <p:spPr>
          <a:xfrm>
            <a:off x="7457872" y="3437106"/>
            <a:ext cx="4353128"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The Voice of a Generation</a:t>
            </a:r>
            <a:endParaRPr lang="en-US" sz="1600" dirty="0"/>
          </a:p>
        </p:txBody>
      </p:sp>
      <p:sp>
        <p:nvSpPr>
          <p:cNvPr id="43" name="Shape 40"/>
          <p:cNvSpPr/>
          <p:nvPr/>
        </p:nvSpPr>
        <p:spPr>
          <a:xfrm>
            <a:off x="7336277" y="3931596"/>
            <a:ext cx="4523362" cy="2026596"/>
          </a:xfrm>
          <a:custGeom>
            <a:avLst/>
            <a:gdLst/>
            <a:ahLst/>
            <a:cxnLst/>
            <a:rect l="l" t="t" r="r" b="b"/>
            <a:pathLst>
              <a:path w="4523362" h="2026596">
                <a:moveTo>
                  <a:pt x="0" y="0"/>
                </a:moveTo>
                <a:lnTo>
                  <a:pt x="4523362" y="0"/>
                </a:lnTo>
                <a:lnTo>
                  <a:pt x="4523362" y="2026596"/>
                </a:lnTo>
                <a:lnTo>
                  <a:pt x="0" y="2026596"/>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06511" y="4101830"/>
            <a:ext cx="4255851" cy="226979"/>
          </a:xfrm>
          <a:prstGeom prst="rect">
            <a:avLst/>
          </a:prstGeom>
          <a:noFill/>
          <a:ln/>
        </p:spPr>
        <p:txBody>
          <a:bodyPr wrap="square" lIns="0" tIns="0" rIns="0" bIns="0" rtlCol="0" anchor="ctr"/>
          <a:lstStyle/>
          <a:p>
            <a:pPr>
              <a:lnSpc>
                <a:spcPct val="130000"/>
              </a:lnSpc>
            </a:pPr>
            <a:r>
              <a:rPr lang="en-US" sz="1149" b="1" dirty="0">
                <a:solidFill>
                  <a:srgbClr val="DDFF00"/>
                </a:solidFill>
                <a:latin typeface="Liter" pitchFamily="34" charset="0"/>
                <a:ea typeface="Liter" pitchFamily="34" charset="-122"/>
                <a:cs typeface="Liter" pitchFamily="34" charset="-120"/>
              </a:rPr>
              <a:t>The Nevermind Revolution</a:t>
            </a:r>
            <a:endParaRPr lang="en-US" sz="1600" dirty="0"/>
          </a:p>
        </p:txBody>
      </p:sp>
      <p:sp>
        <p:nvSpPr>
          <p:cNvPr id="45" name="Text 42"/>
          <p:cNvSpPr/>
          <p:nvPr/>
        </p:nvSpPr>
        <p:spPr>
          <a:xfrm>
            <a:off x="7506511" y="4426085"/>
            <a:ext cx="4247745" cy="632298"/>
          </a:xfrm>
          <a:prstGeom prst="rect">
            <a:avLst/>
          </a:prstGeom>
          <a:noFill/>
          <a:ln/>
        </p:spPr>
        <p:txBody>
          <a:bodyPr wrap="square" lIns="0" tIns="0" rIns="0" bIns="0" rtlCol="0" anchor="ctr"/>
          <a:lstStyle/>
          <a:p>
            <a:pPr>
              <a:lnSpc>
                <a:spcPct val="140000"/>
              </a:lnSpc>
            </a:pPr>
            <a:r>
              <a:rPr lang="en-US" sz="1021" b="1" dirty="0">
                <a:solidFill>
                  <a:srgbClr val="FFFFFF"/>
                </a:solidFill>
                <a:latin typeface="Liter" pitchFamily="34" charset="0"/>
                <a:ea typeface="Liter" pitchFamily="34" charset="-122"/>
                <a:cs typeface="Liter" pitchFamily="34" charset="-120"/>
              </a:rPr>
              <a:t>September 24, 1991:</a:t>
            </a:r>
            <a:pPr>
              <a:lnSpc>
                <a:spcPct val="140000"/>
              </a:lnSpc>
            </a:pPr>
            <a:r>
              <a:rPr lang="en-US" sz="1021" dirty="0">
                <a:solidFill>
                  <a:srgbClr val="FFFFFF"/>
                </a:solidFill>
                <a:latin typeface="Liter" pitchFamily="34" charset="0"/>
                <a:ea typeface="Liter" pitchFamily="34" charset="-122"/>
                <a:cs typeface="Liter" pitchFamily="34" charset="-120"/>
              </a:rPr>
              <a:t> Nirvana releases "Nevermind." The album's unexpected success brought grunge—and alternative rock—into the mainstream overnight.</a:t>
            </a:r>
            <a:endParaRPr lang="en-US" sz="1600" dirty="0"/>
          </a:p>
        </p:txBody>
      </p:sp>
      <p:sp>
        <p:nvSpPr>
          <p:cNvPr id="46" name="Text 43"/>
          <p:cNvSpPr/>
          <p:nvPr/>
        </p:nvSpPr>
        <p:spPr>
          <a:xfrm>
            <a:off x="7506511" y="5155660"/>
            <a:ext cx="4247745" cy="632298"/>
          </a:xfrm>
          <a:prstGeom prst="rect">
            <a:avLst/>
          </a:prstGeom>
          <a:noFill/>
          <a:ln/>
        </p:spPr>
        <p:txBody>
          <a:bodyPr wrap="square" lIns="0" tIns="0" rIns="0" bIns="0" rtlCol="0" anchor="ctr"/>
          <a:lstStyle/>
          <a:p>
            <a:pPr>
              <a:lnSpc>
                <a:spcPct val="140000"/>
              </a:lnSpc>
            </a:pPr>
            <a:r>
              <a:rPr lang="en-US" sz="1021" dirty="0">
                <a:solidFill>
                  <a:srgbClr val="FFFFFF">
                    <a:alpha val="80000"/>
                  </a:srgbClr>
                </a:solidFill>
                <a:latin typeface="Liter" pitchFamily="34" charset="0"/>
                <a:ea typeface="Liter" pitchFamily="34" charset="-122"/>
                <a:cs typeface="Liter" pitchFamily="34" charset="-120"/>
              </a:rPr>
              <a:t>"Smells Like Teen Spirit" became an anthem for disaffected youth worldwide. The music industry was transformed, with major labels scrambling to sign Seattle bands.</a:t>
            </a:r>
            <a:endParaRPr lang="en-US" sz="1600" dirty="0"/>
          </a:p>
        </p:txBody>
      </p:sp>
      <p:sp>
        <p:nvSpPr>
          <p:cNvPr id="47" name="Shape 44"/>
          <p:cNvSpPr/>
          <p:nvPr/>
        </p:nvSpPr>
        <p:spPr>
          <a:xfrm>
            <a:off x="7328170" y="6096000"/>
            <a:ext cx="4539574" cy="648511"/>
          </a:xfrm>
          <a:custGeom>
            <a:avLst/>
            <a:gdLst/>
            <a:ahLst/>
            <a:cxnLst/>
            <a:rect l="l" t="t" r="r" b="b"/>
            <a:pathLst>
              <a:path w="4539574" h="648511">
                <a:moveTo>
                  <a:pt x="0" y="0"/>
                </a:moveTo>
                <a:lnTo>
                  <a:pt x="4539574" y="0"/>
                </a:lnTo>
                <a:lnTo>
                  <a:pt x="4539574" y="648511"/>
                </a:lnTo>
                <a:lnTo>
                  <a:pt x="0" y="648511"/>
                </a:lnTo>
                <a:lnTo>
                  <a:pt x="0" y="0"/>
                </a:lnTo>
                <a:close/>
              </a:path>
            </a:pathLst>
          </a:custGeom>
          <a:solidFill>
            <a:srgbClr val="DDFF00"/>
          </a:solidFill>
          <a:ln/>
        </p:spPr>
      </p:sp>
      <p:sp>
        <p:nvSpPr>
          <p:cNvPr id="48" name="Text 45"/>
          <p:cNvSpPr/>
          <p:nvPr/>
        </p:nvSpPr>
        <p:spPr>
          <a:xfrm>
            <a:off x="7425447" y="6225702"/>
            <a:ext cx="4345021" cy="389106"/>
          </a:xfrm>
          <a:prstGeom prst="rect">
            <a:avLst/>
          </a:prstGeom>
          <a:noFill/>
          <a:ln/>
        </p:spPr>
        <p:txBody>
          <a:bodyPr wrap="square" lIns="0" tIns="0" rIns="0" bIns="0" rtlCol="0" anchor="ctr"/>
          <a:lstStyle/>
          <a:p>
            <a:pPr algn="ctr">
              <a:lnSpc>
                <a:spcPct val="130000"/>
              </a:lnSpc>
            </a:pPr>
            <a:r>
              <a:rPr lang="en-US" sz="1021" b="1" dirty="0">
                <a:solidFill>
                  <a:srgbClr val="000000"/>
                </a:solidFill>
                <a:latin typeface="Liter" pitchFamily="34" charset="0"/>
                <a:ea typeface="Liter" pitchFamily="34" charset="-122"/>
                <a:cs typeface="Liter" pitchFamily="34" charset="-120"/>
              </a:rPr>
              <a:t>"Here we are now, entertain us."</a:t>
            </a:r>
            <a:endParaRPr lang="en-US" sz="1600" dirty="0"/>
          </a:p>
          <a:p>
            <a:pPr algn="ctr">
              <a:lnSpc>
                <a:spcPct val="130000"/>
              </a:lnSpc>
            </a:pPr>
            <a:r>
              <a:rPr lang="en-US" sz="894" dirty="0">
                <a:solidFill>
                  <a:srgbClr val="000000"/>
                </a:solidFill>
                <a:latin typeface="Liter" pitchFamily="34" charset="0"/>
                <a:ea typeface="Liter" pitchFamily="34" charset="-122"/>
                <a:cs typeface="Liter" pitchFamily="34" charset="-120"/>
              </a:rPr>
              <a:t>— Nirvana, "Smells Like Teen Spirit"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3397250"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06</a:t>
            </a:r>
            <a:endParaRPr lang="en-US" sz="1600" dirty="0"/>
          </a:p>
        </p:txBody>
      </p:sp>
      <p:sp>
        <p:nvSpPr>
          <p:cNvPr id="4" name="Text 2"/>
          <p:cNvSpPr/>
          <p:nvPr/>
        </p:nvSpPr>
        <p:spPr>
          <a:xfrm>
            <a:off x="508000" y="476250"/>
            <a:ext cx="3484563"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Alternative Rock Explosion</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Beyond Grunge</a:t>
            </a:r>
            <a:endParaRPr lang="en-US" sz="1600" dirty="0"/>
          </a:p>
        </p:txBody>
      </p:sp>
      <p:sp>
        <p:nvSpPr>
          <p:cNvPr id="7" name="Text 5"/>
          <p:cNvSpPr/>
          <p:nvPr/>
        </p:nvSpPr>
        <p:spPr>
          <a:xfrm>
            <a:off x="508000" y="1587500"/>
            <a:ext cx="4230688" cy="103187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While grunge dominated the early 1990s, alternative rock encompassed a much broader spectrum of sounds and styles.</a:t>
            </a:r>
            <a:pPr>
              <a:lnSpc>
                <a:spcPct val="140000"/>
              </a:lnSpc>
            </a:pPr>
            <a:r>
              <a:rPr lang="en-US" sz="1000" dirty="0">
                <a:solidFill>
                  <a:srgbClr val="000000"/>
                </a:solidFill>
                <a:latin typeface="Liter" pitchFamily="34" charset="0"/>
                <a:ea typeface="Liter" pitchFamily="34" charset="-122"/>
                <a:cs typeface="Liter" pitchFamily="34" charset="-120"/>
              </a:rPr>
              <a:t> From the experimental art-rock of Radiohead to the geek-rock charm of Weezer, alternative rock proved that rock could evolve in countless directions while maintaining its rebellious spirit.</a:t>
            </a:r>
            <a:endParaRPr lang="en-US" sz="1600" dirty="0"/>
          </a:p>
        </p:txBody>
      </p:sp>
      <p:sp>
        <p:nvSpPr>
          <p:cNvPr id="8" name="Text 6"/>
          <p:cNvSpPr/>
          <p:nvPr/>
        </p:nvSpPr>
        <p:spPr>
          <a:xfrm>
            <a:off x="508000" y="2714625"/>
            <a:ext cx="4230688"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College radio stations and the Lollapalooza festival (launched 1991) became crucial platforms for promoting alternative acts, helping bands reach audiences outside the mainstream.</a:t>
            </a:r>
            <a:endParaRPr lang="en-US" sz="1600" dirty="0"/>
          </a:p>
        </p:txBody>
      </p:sp>
      <p:sp>
        <p:nvSpPr>
          <p:cNvPr id="9" name="Shape 7"/>
          <p:cNvSpPr/>
          <p:nvPr/>
        </p:nvSpPr>
        <p:spPr>
          <a:xfrm>
            <a:off x="325438" y="3659187"/>
            <a:ext cx="4532313" cy="3127375"/>
          </a:xfrm>
          <a:custGeom>
            <a:avLst/>
            <a:gdLst/>
            <a:ahLst/>
            <a:cxnLst/>
            <a:rect l="l" t="t" r="r" b="b"/>
            <a:pathLst>
              <a:path w="4532313" h="3127375">
                <a:moveTo>
                  <a:pt x="0" y="0"/>
                </a:moveTo>
                <a:lnTo>
                  <a:pt x="4532313" y="0"/>
                </a:lnTo>
                <a:lnTo>
                  <a:pt x="4532313" y="3127375"/>
                </a:lnTo>
                <a:lnTo>
                  <a:pt x="0" y="3127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Key Alternative Rock Bands</a:t>
            </a:r>
            <a:endParaRPr lang="en-US" sz="1600" dirty="0"/>
          </a:p>
        </p:txBody>
      </p:sp>
      <p:sp>
        <p:nvSpPr>
          <p:cNvPr id="11" name="Shape 9"/>
          <p:cNvSpPr/>
          <p:nvPr/>
        </p:nvSpPr>
        <p:spPr>
          <a:xfrm>
            <a:off x="508000" y="4175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2" name="Shape 10"/>
          <p:cNvSpPr/>
          <p:nvPr/>
        </p:nvSpPr>
        <p:spPr>
          <a:xfrm>
            <a:off x="619125" y="4175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3" name="Shape 11"/>
          <p:cNvSpPr/>
          <p:nvPr/>
        </p:nvSpPr>
        <p:spPr>
          <a:xfrm>
            <a:off x="722313" y="4270375"/>
            <a:ext cx="111125" cy="127000"/>
          </a:xfrm>
          <a:custGeom>
            <a:avLst/>
            <a:gdLst/>
            <a:ahLst/>
            <a:cxnLst/>
            <a:rect l="l" t="t" r="r" b="b"/>
            <a:pathLst>
              <a:path w="111125" h="127000">
                <a:moveTo>
                  <a:pt x="55563" y="98921"/>
                </a:moveTo>
                <a:cubicBezTo>
                  <a:pt x="52636" y="100186"/>
                  <a:pt x="49758" y="101327"/>
                  <a:pt x="46906" y="102270"/>
                </a:cubicBezTo>
                <a:cubicBezTo>
                  <a:pt x="51048" y="110654"/>
                  <a:pt x="54595" y="111125"/>
                  <a:pt x="55563" y="111125"/>
                </a:cubicBezTo>
                <a:cubicBezTo>
                  <a:pt x="56530" y="111125"/>
                  <a:pt x="60052" y="110654"/>
                  <a:pt x="64219" y="102270"/>
                </a:cubicBezTo>
                <a:cubicBezTo>
                  <a:pt x="61392" y="101302"/>
                  <a:pt x="58489" y="100186"/>
                  <a:pt x="55562" y="98921"/>
                </a:cubicBezTo>
                <a:close/>
                <a:moveTo>
                  <a:pt x="102691" y="63500"/>
                </a:moveTo>
                <a:cubicBezTo>
                  <a:pt x="110877" y="74712"/>
                  <a:pt x="113680" y="86047"/>
                  <a:pt x="108545" y="95250"/>
                </a:cubicBezTo>
                <a:cubicBezTo>
                  <a:pt x="103535" y="104254"/>
                  <a:pt x="93042" y="107479"/>
                  <a:pt x="79970" y="105966"/>
                </a:cubicBezTo>
                <a:cubicBezTo>
                  <a:pt x="74513" y="118889"/>
                  <a:pt x="66154" y="127000"/>
                  <a:pt x="55563" y="127000"/>
                </a:cubicBezTo>
                <a:cubicBezTo>
                  <a:pt x="44971" y="127000"/>
                  <a:pt x="36612" y="118889"/>
                  <a:pt x="31155" y="105966"/>
                </a:cubicBezTo>
                <a:cubicBezTo>
                  <a:pt x="18083" y="107479"/>
                  <a:pt x="7590" y="104254"/>
                  <a:pt x="2580" y="95250"/>
                </a:cubicBezTo>
                <a:cubicBezTo>
                  <a:pt x="-2555" y="86047"/>
                  <a:pt x="248" y="74712"/>
                  <a:pt x="8434" y="63500"/>
                </a:cubicBezTo>
                <a:cubicBezTo>
                  <a:pt x="248" y="52288"/>
                  <a:pt x="-2555" y="40953"/>
                  <a:pt x="2580" y="31750"/>
                </a:cubicBezTo>
                <a:cubicBezTo>
                  <a:pt x="7590" y="22746"/>
                  <a:pt x="18083" y="19521"/>
                  <a:pt x="31155" y="21034"/>
                </a:cubicBezTo>
                <a:cubicBezTo>
                  <a:pt x="36612" y="8111"/>
                  <a:pt x="44946" y="0"/>
                  <a:pt x="55563" y="0"/>
                </a:cubicBezTo>
                <a:cubicBezTo>
                  <a:pt x="66179" y="0"/>
                  <a:pt x="74513" y="8111"/>
                  <a:pt x="79970" y="21034"/>
                </a:cubicBezTo>
                <a:cubicBezTo>
                  <a:pt x="93042" y="19521"/>
                  <a:pt x="103535" y="22721"/>
                  <a:pt x="108545" y="31750"/>
                </a:cubicBezTo>
                <a:cubicBezTo>
                  <a:pt x="113680" y="40953"/>
                  <a:pt x="110877" y="52288"/>
                  <a:pt x="102691" y="63500"/>
                </a:cubicBezTo>
                <a:close/>
                <a:moveTo>
                  <a:pt x="86370" y="80218"/>
                </a:moveTo>
                <a:cubicBezTo>
                  <a:pt x="85948" y="83741"/>
                  <a:pt x="85403" y="87164"/>
                  <a:pt x="84708" y="90438"/>
                </a:cubicBezTo>
                <a:cubicBezTo>
                  <a:pt x="92596" y="90785"/>
                  <a:pt x="94283" y="88280"/>
                  <a:pt x="94679" y="87536"/>
                </a:cubicBezTo>
                <a:cubicBezTo>
                  <a:pt x="95250" y="86494"/>
                  <a:pt x="96416" y="83096"/>
                  <a:pt x="91728" y="75605"/>
                </a:cubicBezTo>
                <a:cubicBezTo>
                  <a:pt x="90041" y="77167"/>
                  <a:pt x="88255" y="78705"/>
                  <a:pt x="86370" y="80218"/>
                </a:cubicBezTo>
                <a:close/>
                <a:moveTo>
                  <a:pt x="84708" y="36587"/>
                </a:moveTo>
                <a:cubicBezTo>
                  <a:pt x="85403" y="39836"/>
                  <a:pt x="85948" y="43259"/>
                  <a:pt x="86370" y="46806"/>
                </a:cubicBezTo>
                <a:cubicBezTo>
                  <a:pt x="88255" y="48320"/>
                  <a:pt x="90041" y="49857"/>
                  <a:pt x="91728" y="51420"/>
                </a:cubicBezTo>
                <a:cubicBezTo>
                  <a:pt x="96416" y="43929"/>
                  <a:pt x="95250" y="40506"/>
                  <a:pt x="94679" y="39489"/>
                </a:cubicBezTo>
                <a:cubicBezTo>
                  <a:pt x="94283" y="38770"/>
                  <a:pt x="92596" y="36264"/>
                  <a:pt x="84708" y="36587"/>
                </a:cubicBezTo>
                <a:close/>
                <a:moveTo>
                  <a:pt x="64219" y="24730"/>
                </a:moveTo>
                <a:cubicBezTo>
                  <a:pt x="60052" y="16346"/>
                  <a:pt x="56530" y="15875"/>
                  <a:pt x="55563" y="15875"/>
                </a:cubicBezTo>
                <a:cubicBezTo>
                  <a:pt x="54595" y="15875"/>
                  <a:pt x="51073" y="16346"/>
                  <a:pt x="46906" y="24730"/>
                </a:cubicBezTo>
                <a:cubicBezTo>
                  <a:pt x="49733" y="25698"/>
                  <a:pt x="52636" y="26814"/>
                  <a:pt x="55563" y="28079"/>
                </a:cubicBezTo>
                <a:cubicBezTo>
                  <a:pt x="58489" y="26814"/>
                  <a:pt x="61367" y="25673"/>
                  <a:pt x="64219" y="24730"/>
                </a:cubicBezTo>
                <a:close/>
                <a:moveTo>
                  <a:pt x="24780" y="46782"/>
                </a:moveTo>
                <a:cubicBezTo>
                  <a:pt x="25202" y="43235"/>
                  <a:pt x="25747" y="39836"/>
                  <a:pt x="26442" y="36562"/>
                </a:cubicBezTo>
                <a:cubicBezTo>
                  <a:pt x="18554" y="36215"/>
                  <a:pt x="16867" y="38720"/>
                  <a:pt x="16470" y="39464"/>
                </a:cubicBezTo>
                <a:cubicBezTo>
                  <a:pt x="15900" y="40506"/>
                  <a:pt x="14734" y="43904"/>
                  <a:pt x="19422" y="51395"/>
                </a:cubicBezTo>
                <a:cubicBezTo>
                  <a:pt x="21109" y="49833"/>
                  <a:pt x="22895" y="48295"/>
                  <a:pt x="24780" y="46782"/>
                </a:cubicBezTo>
                <a:close/>
                <a:moveTo>
                  <a:pt x="19397" y="75605"/>
                </a:moveTo>
                <a:cubicBezTo>
                  <a:pt x="14709" y="83096"/>
                  <a:pt x="15875" y="86519"/>
                  <a:pt x="16446" y="87536"/>
                </a:cubicBezTo>
                <a:cubicBezTo>
                  <a:pt x="16842" y="88255"/>
                  <a:pt x="18529" y="90760"/>
                  <a:pt x="26417" y="90438"/>
                </a:cubicBezTo>
                <a:cubicBezTo>
                  <a:pt x="25722" y="87188"/>
                  <a:pt x="25177" y="83765"/>
                  <a:pt x="24755" y="80218"/>
                </a:cubicBezTo>
                <a:cubicBezTo>
                  <a:pt x="22870" y="78705"/>
                  <a:pt x="21084" y="77167"/>
                  <a:pt x="19397" y="75605"/>
                </a:cubicBezTo>
                <a:close/>
                <a:moveTo>
                  <a:pt x="75406" y="63500"/>
                </a:moveTo>
                <a:cubicBezTo>
                  <a:pt x="75406" y="52548"/>
                  <a:pt x="66515" y="43656"/>
                  <a:pt x="55563" y="43656"/>
                </a:cubicBezTo>
                <a:cubicBezTo>
                  <a:pt x="44610" y="43656"/>
                  <a:pt x="35719" y="52548"/>
                  <a:pt x="35719" y="63500"/>
                </a:cubicBezTo>
                <a:cubicBezTo>
                  <a:pt x="35719" y="74452"/>
                  <a:pt x="44610" y="83344"/>
                  <a:pt x="55563" y="83344"/>
                </a:cubicBezTo>
                <a:cubicBezTo>
                  <a:pt x="66515" y="83344"/>
                  <a:pt x="75406" y="74452"/>
                  <a:pt x="75406" y="63500"/>
                </a:cubicBezTo>
                <a:close/>
                <a:moveTo>
                  <a:pt x="55563" y="55563"/>
                </a:moveTo>
                <a:cubicBezTo>
                  <a:pt x="59943" y="55563"/>
                  <a:pt x="63500" y="59119"/>
                  <a:pt x="63500" y="63500"/>
                </a:cubicBezTo>
                <a:cubicBezTo>
                  <a:pt x="63500" y="67881"/>
                  <a:pt x="59943" y="71438"/>
                  <a:pt x="55563" y="71438"/>
                </a:cubicBezTo>
                <a:cubicBezTo>
                  <a:pt x="51182" y="71438"/>
                  <a:pt x="47625" y="67881"/>
                  <a:pt x="47625" y="63500"/>
                </a:cubicBezTo>
                <a:cubicBezTo>
                  <a:pt x="47625" y="59119"/>
                  <a:pt x="51182" y="55563"/>
                  <a:pt x="55563" y="55563"/>
                </a:cubicBezTo>
                <a:close/>
              </a:path>
            </a:pathLst>
          </a:custGeom>
          <a:solidFill>
            <a:srgbClr val="000000"/>
          </a:solidFill>
          <a:ln/>
        </p:spPr>
      </p:sp>
      <p:sp>
        <p:nvSpPr>
          <p:cNvPr id="14" name="Text 12"/>
          <p:cNvSpPr/>
          <p:nvPr/>
        </p:nvSpPr>
        <p:spPr>
          <a:xfrm>
            <a:off x="1031875" y="4175125"/>
            <a:ext cx="36195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Radiohead</a:t>
            </a:r>
            <a:endParaRPr lang="en-US" sz="1600" dirty="0"/>
          </a:p>
        </p:txBody>
      </p:sp>
      <p:sp>
        <p:nvSpPr>
          <p:cNvPr id="15" name="Text 13"/>
          <p:cNvSpPr/>
          <p:nvPr/>
        </p:nvSpPr>
        <p:spPr>
          <a:xfrm>
            <a:off x="1031875" y="4397375"/>
            <a:ext cx="361156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"OK Computer" (1997) - Experimental, complex, groundbreaking</a:t>
            </a:r>
            <a:endParaRPr lang="en-US" sz="1600" dirty="0"/>
          </a:p>
        </p:txBody>
      </p:sp>
      <p:sp>
        <p:nvSpPr>
          <p:cNvPr id="16" name="Shape 14"/>
          <p:cNvSpPr/>
          <p:nvPr/>
        </p:nvSpPr>
        <p:spPr>
          <a:xfrm>
            <a:off x="508000" y="4683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683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8" name="Shape 16"/>
          <p:cNvSpPr/>
          <p:nvPr/>
        </p:nvSpPr>
        <p:spPr>
          <a:xfrm>
            <a:off x="706438" y="4778375"/>
            <a:ext cx="142875" cy="127000"/>
          </a:xfrm>
          <a:custGeom>
            <a:avLst/>
            <a:gdLst/>
            <a:ahLst/>
            <a:cxnLst/>
            <a:rect l="l" t="t" r="r" b="b"/>
            <a:pathLst>
              <a:path w="142875" h="127000">
                <a:moveTo>
                  <a:pt x="35545" y="23812"/>
                </a:moveTo>
                <a:cubicBezTo>
                  <a:pt x="32072" y="23812"/>
                  <a:pt x="28972" y="26095"/>
                  <a:pt x="27955" y="29418"/>
                </a:cubicBezTo>
                <a:lnTo>
                  <a:pt x="17463" y="63500"/>
                </a:lnTo>
                <a:lnTo>
                  <a:pt x="55563" y="63500"/>
                </a:lnTo>
                <a:cubicBezTo>
                  <a:pt x="59953" y="63500"/>
                  <a:pt x="63500" y="67047"/>
                  <a:pt x="63500" y="71438"/>
                </a:cubicBezTo>
                <a:lnTo>
                  <a:pt x="79375" y="71438"/>
                </a:lnTo>
                <a:cubicBezTo>
                  <a:pt x="79375" y="67047"/>
                  <a:pt x="82922" y="63500"/>
                  <a:pt x="87313" y="63500"/>
                </a:cubicBezTo>
                <a:lnTo>
                  <a:pt x="125413" y="63500"/>
                </a:lnTo>
                <a:lnTo>
                  <a:pt x="114920" y="29418"/>
                </a:lnTo>
                <a:cubicBezTo>
                  <a:pt x="113903" y="26095"/>
                  <a:pt x="110827" y="23812"/>
                  <a:pt x="107330" y="23812"/>
                </a:cubicBezTo>
                <a:lnTo>
                  <a:pt x="99219" y="23812"/>
                </a:lnTo>
                <a:cubicBezTo>
                  <a:pt x="94828" y="23812"/>
                  <a:pt x="91281" y="20265"/>
                  <a:pt x="91281" y="15875"/>
                </a:cubicBezTo>
                <a:cubicBezTo>
                  <a:pt x="91281" y="11485"/>
                  <a:pt x="94828" y="7938"/>
                  <a:pt x="99219" y="7938"/>
                </a:cubicBezTo>
                <a:lnTo>
                  <a:pt x="107330" y="7938"/>
                </a:lnTo>
                <a:cubicBezTo>
                  <a:pt x="117773" y="7938"/>
                  <a:pt x="127025" y="14759"/>
                  <a:pt x="130101" y="24755"/>
                </a:cubicBezTo>
                <a:lnTo>
                  <a:pt x="141362" y="61342"/>
                </a:lnTo>
                <a:cubicBezTo>
                  <a:pt x="142379" y="64616"/>
                  <a:pt x="142875" y="68014"/>
                  <a:pt x="142875" y="71438"/>
                </a:cubicBezTo>
                <a:lnTo>
                  <a:pt x="142875" y="95250"/>
                </a:lnTo>
                <a:cubicBezTo>
                  <a:pt x="142875" y="108396"/>
                  <a:pt x="132209" y="119063"/>
                  <a:pt x="119063" y="119063"/>
                </a:cubicBezTo>
                <a:lnTo>
                  <a:pt x="103188" y="119063"/>
                </a:lnTo>
                <a:cubicBezTo>
                  <a:pt x="90041" y="119063"/>
                  <a:pt x="79375" y="108396"/>
                  <a:pt x="79375" y="95250"/>
                </a:cubicBezTo>
                <a:lnTo>
                  <a:pt x="79375" y="87313"/>
                </a:lnTo>
                <a:lnTo>
                  <a:pt x="63500" y="87313"/>
                </a:lnTo>
                <a:lnTo>
                  <a:pt x="63500" y="95250"/>
                </a:lnTo>
                <a:cubicBezTo>
                  <a:pt x="63500" y="108396"/>
                  <a:pt x="52834" y="119063"/>
                  <a:pt x="39688" y="119063"/>
                </a:cubicBezTo>
                <a:lnTo>
                  <a:pt x="23812" y="119063"/>
                </a:lnTo>
                <a:cubicBezTo>
                  <a:pt x="10666" y="119063"/>
                  <a:pt x="0" y="108396"/>
                  <a:pt x="0" y="95250"/>
                </a:cubicBezTo>
                <a:lnTo>
                  <a:pt x="0" y="71438"/>
                </a:lnTo>
                <a:cubicBezTo>
                  <a:pt x="0" y="68014"/>
                  <a:pt x="521" y="64616"/>
                  <a:pt x="1513" y="61342"/>
                </a:cubicBezTo>
                <a:lnTo>
                  <a:pt x="12774" y="24755"/>
                </a:lnTo>
                <a:cubicBezTo>
                  <a:pt x="15850" y="14759"/>
                  <a:pt x="25078" y="7938"/>
                  <a:pt x="35545" y="7938"/>
                </a:cubicBezTo>
                <a:lnTo>
                  <a:pt x="43656" y="7938"/>
                </a:lnTo>
                <a:cubicBezTo>
                  <a:pt x="48047" y="7938"/>
                  <a:pt x="51594" y="11485"/>
                  <a:pt x="51594" y="15875"/>
                </a:cubicBezTo>
                <a:cubicBezTo>
                  <a:pt x="51594" y="20265"/>
                  <a:pt x="48047" y="23812"/>
                  <a:pt x="43656" y="23812"/>
                </a:cubicBezTo>
                <a:lnTo>
                  <a:pt x="35545" y="23812"/>
                </a:lnTo>
                <a:close/>
                <a:moveTo>
                  <a:pt x="15875" y="79375"/>
                </a:moveTo>
                <a:lnTo>
                  <a:pt x="15875" y="95250"/>
                </a:lnTo>
                <a:cubicBezTo>
                  <a:pt x="15875" y="99640"/>
                  <a:pt x="19422" y="103188"/>
                  <a:pt x="23812" y="103188"/>
                </a:cubicBezTo>
                <a:lnTo>
                  <a:pt x="39688" y="103188"/>
                </a:lnTo>
                <a:cubicBezTo>
                  <a:pt x="44078" y="103188"/>
                  <a:pt x="47625" y="99640"/>
                  <a:pt x="47625" y="95250"/>
                </a:cubicBezTo>
                <a:lnTo>
                  <a:pt x="47625" y="79375"/>
                </a:lnTo>
                <a:lnTo>
                  <a:pt x="15875" y="79375"/>
                </a:lnTo>
                <a:close/>
                <a:moveTo>
                  <a:pt x="119063" y="103188"/>
                </a:moveTo>
                <a:cubicBezTo>
                  <a:pt x="123453" y="103188"/>
                  <a:pt x="127000" y="99640"/>
                  <a:pt x="127000" y="95250"/>
                </a:cubicBezTo>
                <a:lnTo>
                  <a:pt x="127000" y="79375"/>
                </a:lnTo>
                <a:lnTo>
                  <a:pt x="95250" y="79375"/>
                </a:lnTo>
                <a:lnTo>
                  <a:pt x="95250" y="95250"/>
                </a:lnTo>
                <a:cubicBezTo>
                  <a:pt x="95250" y="99640"/>
                  <a:pt x="98797" y="103188"/>
                  <a:pt x="103188" y="103188"/>
                </a:cubicBezTo>
                <a:lnTo>
                  <a:pt x="119063" y="103188"/>
                </a:lnTo>
                <a:close/>
              </a:path>
            </a:pathLst>
          </a:custGeom>
          <a:solidFill>
            <a:srgbClr val="000000"/>
          </a:solidFill>
          <a:ln/>
        </p:spPr>
      </p:sp>
      <p:sp>
        <p:nvSpPr>
          <p:cNvPr id="19" name="Text 17"/>
          <p:cNvSpPr/>
          <p:nvPr/>
        </p:nvSpPr>
        <p:spPr>
          <a:xfrm>
            <a:off x="1031875" y="4683125"/>
            <a:ext cx="3516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Weezer</a:t>
            </a:r>
            <a:endParaRPr lang="en-US" sz="1600" dirty="0"/>
          </a:p>
        </p:txBody>
      </p:sp>
      <p:sp>
        <p:nvSpPr>
          <p:cNvPr id="20" name="Text 18"/>
          <p:cNvSpPr/>
          <p:nvPr/>
        </p:nvSpPr>
        <p:spPr>
          <a:xfrm>
            <a:off x="1031875" y="4905375"/>
            <a:ext cx="3508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"Blue Album" (1994) - Geek rock, catchy hooks, relatable lyrics</a:t>
            </a:r>
            <a:endParaRPr lang="en-US" sz="1600" dirty="0"/>
          </a:p>
        </p:txBody>
      </p:sp>
      <p:sp>
        <p:nvSpPr>
          <p:cNvPr id="21" name="Shape 19"/>
          <p:cNvSpPr/>
          <p:nvPr/>
        </p:nvSpPr>
        <p:spPr>
          <a:xfrm>
            <a:off x="508000" y="5191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5191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3" name="Shape 21"/>
          <p:cNvSpPr/>
          <p:nvPr/>
        </p:nvSpPr>
        <p:spPr>
          <a:xfrm>
            <a:off x="722313" y="5286375"/>
            <a:ext cx="111125" cy="127000"/>
          </a:xfrm>
          <a:custGeom>
            <a:avLst/>
            <a:gdLst/>
            <a:ahLst/>
            <a:cxnLst/>
            <a:rect l="l" t="t" r="r" b="b"/>
            <a:pathLst>
              <a:path w="111125" h="127000">
                <a:moveTo>
                  <a:pt x="39812" y="-6548"/>
                </a:moveTo>
                <a:cubicBezTo>
                  <a:pt x="42118" y="-8483"/>
                  <a:pt x="45517" y="-8409"/>
                  <a:pt x="47724" y="-6325"/>
                </a:cubicBezTo>
                <a:cubicBezTo>
                  <a:pt x="50775" y="-3448"/>
                  <a:pt x="53504" y="-273"/>
                  <a:pt x="56133" y="2952"/>
                </a:cubicBezTo>
                <a:cubicBezTo>
                  <a:pt x="59482" y="7045"/>
                  <a:pt x="63500" y="12452"/>
                  <a:pt x="67370" y="18876"/>
                </a:cubicBezTo>
                <a:cubicBezTo>
                  <a:pt x="68659" y="17190"/>
                  <a:pt x="69850" y="15701"/>
                  <a:pt x="70892" y="14436"/>
                </a:cubicBezTo>
                <a:cubicBezTo>
                  <a:pt x="71165" y="14114"/>
                  <a:pt x="71438" y="13767"/>
                  <a:pt x="71710" y="13419"/>
                </a:cubicBezTo>
                <a:cubicBezTo>
                  <a:pt x="73670" y="10988"/>
                  <a:pt x="76101" y="7937"/>
                  <a:pt x="79350" y="7937"/>
                </a:cubicBezTo>
                <a:cubicBezTo>
                  <a:pt x="82674" y="7937"/>
                  <a:pt x="85006" y="10889"/>
                  <a:pt x="86990" y="13419"/>
                </a:cubicBezTo>
                <a:cubicBezTo>
                  <a:pt x="87313" y="13841"/>
                  <a:pt x="87635" y="14238"/>
                  <a:pt x="87957" y="14610"/>
                </a:cubicBezTo>
                <a:cubicBezTo>
                  <a:pt x="90512" y="17686"/>
                  <a:pt x="93911" y="22126"/>
                  <a:pt x="97309" y="27608"/>
                </a:cubicBezTo>
                <a:cubicBezTo>
                  <a:pt x="104056" y="38497"/>
                  <a:pt x="111100" y="54000"/>
                  <a:pt x="111100" y="71413"/>
                </a:cubicBezTo>
                <a:cubicBezTo>
                  <a:pt x="111100" y="102096"/>
                  <a:pt x="86221" y="126975"/>
                  <a:pt x="55538" y="126975"/>
                </a:cubicBezTo>
                <a:cubicBezTo>
                  <a:pt x="24854" y="126975"/>
                  <a:pt x="0" y="102121"/>
                  <a:pt x="0" y="71438"/>
                </a:cubicBezTo>
                <a:cubicBezTo>
                  <a:pt x="0" y="48840"/>
                  <a:pt x="10195" y="29270"/>
                  <a:pt x="19968" y="15627"/>
                </a:cubicBezTo>
                <a:cubicBezTo>
                  <a:pt x="24904" y="8756"/>
                  <a:pt x="29815" y="3249"/>
                  <a:pt x="33511" y="-521"/>
                </a:cubicBezTo>
                <a:cubicBezTo>
                  <a:pt x="35545" y="-2604"/>
                  <a:pt x="37604" y="-4663"/>
                  <a:pt x="39836" y="-6524"/>
                </a:cubicBezTo>
                <a:close/>
                <a:moveTo>
                  <a:pt x="55984" y="103188"/>
                </a:moveTo>
                <a:cubicBezTo>
                  <a:pt x="62260" y="103188"/>
                  <a:pt x="67816" y="101451"/>
                  <a:pt x="73050" y="97979"/>
                </a:cubicBezTo>
                <a:cubicBezTo>
                  <a:pt x="83493" y="90686"/>
                  <a:pt x="86296" y="76101"/>
                  <a:pt x="80020" y="64641"/>
                </a:cubicBezTo>
                <a:cubicBezTo>
                  <a:pt x="78904" y="62409"/>
                  <a:pt x="76051" y="62260"/>
                  <a:pt x="74439" y="64145"/>
                </a:cubicBezTo>
                <a:lnTo>
                  <a:pt x="68188" y="71413"/>
                </a:lnTo>
                <a:cubicBezTo>
                  <a:pt x="66551" y="73298"/>
                  <a:pt x="63599" y="73248"/>
                  <a:pt x="62061" y="71289"/>
                </a:cubicBezTo>
                <a:cubicBezTo>
                  <a:pt x="57770" y="65807"/>
                  <a:pt x="49882" y="55811"/>
                  <a:pt x="45864" y="50701"/>
                </a:cubicBezTo>
                <a:cubicBezTo>
                  <a:pt x="44524" y="48989"/>
                  <a:pt x="42094" y="48716"/>
                  <a:pt x="40531" y="50229"/>
                </a:cubicBezTo>
                <a:cubicBezTo>
                  <a:pt x="35992" y="54645"/>
                  <a:pt x="27756" y="64319"/>
                  <a:pt x="27756" y="76101"/>
                </a:cubicBezTo>
                <a:cubicBezTo>
                  <a:pt x="27756" y="93117"/>
                  <a:pt x="40308" y="103188"/>
                  <a:pt x="55959" y="103188"/>
                </a:cubicBezTo>
                <a:close/>
              </a:path>
            </a:pathLst>
          </a:custGeom>
          <a:solidFill>
            <a:srgbClr val="000000"/>
          </a:solidFill>
          <a:ln/>
        </p:spPr>
      </p:sp>
      <p:sp>
        <p:nvSpPr>
          <p:cNvPr id="24" name="Text 22"/>
          <p:cNvSpPr/>
          <p:nvPr/>
        </p:nvSpPr>
        <p:spPr>
          <a:xfrm>
            <a:off x="1031875" y="5191125"/>
            <a:ext cx="2206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Red Hot Chili Peppers</a:t>
            </a:r>
            <a:endParaRPr lang="en-US" sz="1600" dirty="0"/>
          </a:p>
        </p:txBody>
      </p:sp>
      <p:sp>
        <p:nvSpPr>
          <p:cNvPr id="25" name="Text 23"/>
          <p:cNvSpPr/>
          <p:nvPr/>
        </p:nvSpPr>
        <p:spPr>
          <a:xfrm>
            <a:off x="1031875" y="5413375"/>
            <a:ext cx="2198688"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Funk-rock fusion, energetic live shows</a:t>
            </a:r>
            <a:endParaRPr lang="en-US" sz="1600" dirty="0"/>
          </a:p>
        </p:txBody>
      </p:sp>
      <p:sp>
        <p:nvSpPr>
          <p:cNvPr id="26" name="Shape 24"/>
          <p:cNvSpPr/>
          <p:nvPr/>
        </p:nvSpPr>
        <p:spPr>
          <a:xfrm>
            <a:off x="508000" y="5699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699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8" name="Shape 26"/>
          <p:cNvSpPr/>
          <p:nvPr/>
        </p:nvSpPr>
        <p:spPr>
          <a:xfrm>
            <a:off x="714375" y="5794375"/>
            <a:ext cx="127000" cy="127000"/>
          </a:xfrm>
          <a:custGeom>
            <a:avLst/>
            <a:gdLst/>
            <a:ahLst/>
            <a:cxnLst/>
            <a:rect l="l" t="t" r="r" b="b"/>
            <a:pathLst>
              <a:path w="127000" h="127000">
                <a:moveTo>
                  <a:pt x="63500" y="0"/>
                </a:moveTo>
                <a:cubicBezTo>
                  <a:pt x="28426" y="0"/>
                  <a:pt x="0" y="28426"/>
                  <a:pt x="0" y="63500"/>
                </a:cubicBezTo>
                <a:cubicBezTo>
                  <a:pt x="0" y="98574"/>
                  <a:pt x="28426" y="127000"/>
                  <a:pt x="63500" y="127000"/>
                </a:cubicBezTo>
                <a:cubicBezTo>
                  <a:pt x="80566" y="127000"/>
                  <a:pt x="96069" y="120253"/>
                  <a:pt x="107479" y="109289"/>
                </a:cubicBezTo>
                <a:cubicBezTo>
                  <a:pt x="109289" y="107553"/>
                  <a:pt x="109810" y="104849"/>
                  <a:pt x="108793" y="102567"/>
                </a:cubicBezTo>
                <a:cubicBezTo>
                  <a:pt x="107776" y="100285"/>
                  <a:pt x="105395" y="98871"/>
                  <a:pt x="102890" y="99070"/>
                </a:cubicBezTo>
                <a:cubicBezTo>
                  <a:pt x="101674" y="99169"/>
                  <a:pt x="100459" y="99219"/>
                  <a:pt x="99219" y="99219"/>
                </a:cubicBezTo>
                <a:cubicBezTo>
                  <a:pt x="74017" y="99219"/>
                  <a:pt x="53578" y="78780"/>
                  <a:pt x="53578" y="53578"/>
                </a:cubicBezTo>
                <a:cubicBezTo>
                  <a:pt x="53578" y="35694"/>
                  <a:pt x="63872" y="20191"/>
                  <a:pt x="78904" y="12700"/>
                </a:cubicBezTo>
                <a:cubicBezTo>
                  <a:pt x="81161" y="11584"/>
                  <a:pt x="82451" y="9153"/>
                  <a:pt x="82153" y="6648"/>
                </a:cubicBezTo>
                <a:cubicBezTo>
                  <a:pt x="81855" y="4142"/>
                  <a:pt x="80020" y="2108"/>
                  <a:pt x="77564" y="1563"/>
                </a:cubicBezTo>
                <a:cubicBezTo>
                  <a:pt x="73025" y="546"/>
                  <a:pt x="68312" y="0"/>
                  <a:pt x="63500" y="0"/>
                </a:cubicBezTo>
                <a:close/>
              </a:path>
            </a:pathLst>
          </a:custGeom>
          <a:solidFill>
            <a:srgbClr val="000000"/>
          </a:solidFill>
          <a:ln/>
        </p:spPr>
      </p:sp>
      <p:sp>
        <p:nvSpPr>
          <p:cNvPr id="29" name="Text 27"/>
          <p:cNvSpPr/>
          <p:nvPr/>
        </p:nvSpPr>
        <p:spPr>
          <a:xfrm>
            <a:off x="1031875" y="5699125"/>
            <a:ext cx="3516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Smashing Pumpkins</a:t>
            </a:r>
            <a:endParaRPr lang="en-US" sz="1600" dirty="0"/>
          </a:p>
        </p:txBody>
      </p:sp>
      <p:sp>
        <p:nvSpPr>
          <p:cNvPr id="30" name="Text 28"/>
          <p:cNvSpPr/>
          <p:nvPr/>
        </p:nvSpPr>
        <p:spPr>
          <a:xfrm>
            <a:off x="1031875" y="5921375"/>
            <a:ext cx="3508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"Siamese Dream" (1993) - Layered guitars, emotional intensity</a:t>
            </a:r>
            <a:endParaRPr lang="en-US" sz="1600" dirty="0"/>
          </a:p>
        </p:txBody>
      </p:sp>
      <p:sp>
        <p:nvSpPr>
          <p:cNvPr id="31" name="Shape 29"/>
          <p:cNvSpPr/>
          <p:nvPr/>
        </p:nvSpPr>
        <p:spPr>
          <a:xfrm>
            <a:off x="508000" y="6207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32" name="Shape 30"/>
          <p:cNvSpPr/>
          <p:nvPr/>
        </p:nvSpPr>
        <p:spPr>
          <a:xfrm>
            <a:off x="619125" y="6207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33" name="Shape 31"/>
          <p:cNvSpPr/>
          <p:nvPr/>
        </p:nvSpPr>
        <p:spPr>
          <a:xfrm>
            <a:off x="730250" y="6302375"/>
            <a:ext cx="95250" cy="127000"/>
          </a:xfrm>
          <a:custGeom>
            <a:avLst/>
            <a:gdLst/>
            <a:ahLst/>
            <a:cxn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p:spPr>
      </p:sp>
      <p:sp>
        <p:nvSpPr>
          <p:cNvPr id="34" name="Text 32"/>
          <p:cNvSpPr/>
          <p:nvPr/>
        </p:nvSpPr>
        <p:spPr>
          <a:xfrm>
            <a:off x="1031875" y="6207125"/>
            <a:ext cx="3079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Alanis Morissette</a:t>
            </a:r>
            <a:endParaRPr lang="en-US" sz="1600" dirty="0"/>
          </a:p>
        </p:txBody>
      </p:sp>
      <p:sp>
        <p:nvSpPr>
          <p:cNvPr id="35" name="Text 33"/>
          <p:cNvSpPr/>
          <p:nvPr/>
        </p:nvSpPr>
        <p:spPr>
          <a:xfrm>
            <a:off x="1031875" y="6429375"/>
            <a:ext cx="30718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"Jagged Little Pill" (1995) - Feminist rock, raw emotion</a:t>
            </a:r>
            <a:endParaRPr lang="en-US" sz="1600" dirty="0"/>
          </a:p>
        </p:txBody>
      </p:sp>
      <p:sp>
        <p:nvSpPr>
          <p:cNvPr id="36" name="Shape 34"/>
          <p:cNvSpPr/>
          <p:nvPr/>
        </p:nvSpPr>
        <p:spPr>
          <a:xfrm>
            <a:off x="5062513" y="1055688"/>
            <a:ext cx="6802438" cy="3000375"/>
          </a:xfrm>
          <a:custGeom>
            <a:avLst/>
            <a:gdLst/>
            <a:ahLst/>
            <a:cxnLst/>
            <a:rect l="l" t="t" r="r" b="b"/>
            <a:pathLst>
              <a:path w="6802438" h="3000375">
                <a:moveTo>
                  <a:pt x="0" y="0"/>
                </a:moveTo>
                <a:lnTo>
                  <a:pt x="6802438" y="0"/>
                </a:lnTo>
                <a:lnTo>
                  <a:pt x="6802438" y="3000375"/>
                </a:lnTo>
                <a:lnTo>
                  <a:pt x="0" y="3000375"/>
                </a:lnTo>
                <a:lnTo>
                  <a:pt x="0" y="0"/>
                </a:lnTo>
                <a:close/>
              </a:path>
            </a:pathLst>
          </a:custGeom>
          <a:solidFill>
            <a:srgbClr val="000000">
              <a:alpha val="0"/>
            </a:srgbClr>
          </a:solidFill>
          <a:ln w="25400">
            <a:solidFill>
              <a:srgbClr val="DDFF00"/>
            </a:solidFill>
            <a:prstDash val="solid"/>
          </a:ln>
        </p:spPr>
      </p:sp>
      <p:sp>
        <p:nvSpPr>
          <p:cNvPr id="37" name="Text 35"/>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Alternative Rock Subgenres</a:t>
            </a:r>
            <a:endParaRPr lang="en-US" sz="1600" dirty="0"/>
          </a:p>
        </p:txBody>
      </p:sp>
      <p:sp>
        <p:nvSpPr>
          <p:cNvPr id="38" name="Shape 36"/>
          <p:cNvSpPr/>
          <p:nvPr/>
        </p:nvSpPr>
        <p:spPr>
          <a:xfrm>
            <a:off x="5264919" y="1639094"/>
            <a:ext cx="3135313" cy="1119188"/>
          </a:xfrm>
          <a:custGeom>
            <a:avLst/>
            <a:gdLst/>
            <a:ahLst/>
            <a:cxnLst/>
            <a:rect l="l" t="t" r="r" b="b"/>
            <a:pathLst>
              <a:path w="3135313" h="1119188">
                <a:moveTo>
                  <a:pt x="0" y="0"/>
                </a:moveTo>
                <a:lnTo>
                  <a:pt x="3135313" y="0"/>
                </a:lnTo>
                <a:lnTo>
                  <a:pt x="3135313" y="1119188"/>
                </a:lnTo>
                <a:lnTo>
                  <a:pt x="0" y="1119188"/>
                </a:lnTo>
                <a:lnTo>
                  <a:pt x="0" y="0"/>
                </a:lnTo>
                <a:close/>
              </a:path>
            </a:pathLst>
          </a:custGeom>
          <a:solidFill>
            <a:srgbClr val="DDFF00">
              <a:alpha val="10196"/>
            </a:srgbClr>
          </a:solidFill>
          <a:ln w="12700">
            <a:solidFill>
              <a:srgbClr val="DDFF00"/>
            </a:solidFill>
            <a:prstDash val="solid"/>
          </a:ln>
        </p:spPr>
      </p:sp>
      <p:sp>
        <p:nvSpPr>
          <p:cNvPr id="39" name="Text 37"/>
          <p:cNvSpPr/>
          <p:nvPr/>
        </p:nvSpPr>
        <p:spPr>
          <a:xfrm>
            <a:off x="5395888" y="1770063"/>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Britpop</a:t>
            </a:r>
            <a:endParaRPr lang="en-US" sz="1600" dirty="0"/>
          </a:p>
        </p:txBody>
      </p:sp>
      <p:sp>
        <p:nvSpPr>
          <p:cNvPr id="40" name="Text 38"/>
          <p:cNvSpPr/>
          <p:nvPr/>
        </p:nvSpPr>
        <p:spPr>
          <a:xfrm>
            <a:off x="5395888" y="2055813"/>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Oasis, Blur, Pulp</a:t>
            </a:r>
            <a:endParaRPr lang="en-US" sz="1600" dirty="0"/>
          </a:p>
        </p:txBody>
      </p:sp>
      <p:sp>
        <p:nvSpPr>
          <p:cNvPr id="41" name="Text 39"/>
          <p:cNvSpPr/>
          <p:nvPr/>
        </p:nvSpPr>
        <p:spPr>
          <a:xfrm>
            <a:off x="5395888" y="2309813"/>
            <a:ext cx="2928938" cy="31750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British response to grunge, catchy melodies, working-class pride</a:t>
            </a:r>
            <a:endParaRPr lang="en-US" sz="1600" dirty="0"/>
          </a:p>
        </p:txBody>
      </p:sp>
      <p:sp>
        <p:nvSpPr>
          <p:cNvPr id="42" name="Shape 40"/>
          <p:cNvSpPr/>
          <p:nvPr/>
        </p:nvSpPr>
        <p:spPr>
          <a:xfrm>
            <a:off x="8532006" y="1639094"/>
            <a:ext cx="3135313" cy="1119188"/>
          </a:xfrm>
          <a:custGeom>
            <a:avLst/>
            <a:gdLst/>
            <a:ahLst/>
            <a:cxnLst/>
            <a:rect l="l" t="t" r="r" b="b"/>
            <a:pathLst>
              <a:path w="3135313" h="1119188">
                <a:moveTo>
                  <a:pt x="0" y="0"/>
                </a:moveTo>
                <a:lnTo>
                  <a:pt x="3135313" y="0"/>
                </a:lnTo>
                <a:lnTo>
                  <a:pt x="3135313" y="1119188"/>
                </a:lnTo>
                <a:lnTo>
                  <a:pt x="0" y="1119188"/>
                </a:lnTo>
                <a:lnTo>
                  <a:pt x="0" y="0"/>
                </a:lnTo>
                <a:close/>
              </a:path>
            </a:pathLst>
          </a:custGeom>
          <a:solidFill>
            <a:srgbClr val="DDFF00">
              <a:alpha val="10196"/>
            </a:srgbClr>
          </a:solidFill>
          <a:ln w="12700">
            <a:solidFill>
              <a:srgbClr val="DDFF00"/>
            </a:solidFill>
            <a:prstDash val="solid"/>
          </a:ln>
        </p:spPr>
      </p:sp>
      <p:sp>
        <p:nvSpPr>
          <p:cNvPr id="43" name="Text 41"/>
          <p:cNvSpPr/>
          <p:nvPr/>
        </p:nvSpPr>
        <p:spPr>
          <a:xfrm>
            <a:off x="8662975" y="1770063"/>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Pop Punk</a:t>
            </a:r>
            <a:endParaRPr lang="en-US" sz="1600" dirty="0"/>
          </a:p>
        </p:txBody>
      </p:sp>
      <p:sp>
        <p:nvSpPr>
          <p:cNvPr id="44" name="Text 42"/>
          <p:cNvSpPr/>
          <p:nvPr/>
        </p:nvSpPr>
        <p:spPr>
          <a:xfrm>
            <a:off x="8662975" y="2055813"/>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Green Day, The Offspring, Blink-182</a:t>
            </a:r>
            <a:endParaRPr lang="en-US" sz="1600" dirty="0"/>
          </a:p>
        </p:txBody>
      </p:sp>
      <p:sp>
        <p:nvSpPr>
          <p:cNvPr id="45" name="Text 43"/>
          <p:cNvSpPr/>
          <p:nvPr/>
        </p:nvSpPr>
        <p:spPr>
          <a:xfrm>
            <a:off x="8662975" y="2309813"/>
            <a:ext cx="2928938" cy="15875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Punk energy with pop hooks, youth themes</a:t>
            </a:r>
            <a:endParaRPr lang="en-US" sz="1600" dirty="0"/>
          </a:p>
        </p:txBody>
      </p:sp>
      <p:sp>
        <p:nvSpPr>
          <p:cNvPr id="46" name="Shape 44"/>
          <p:cNvSpPr/>
          <p:nvPr/>
        </p:nvSpPr>
        <p:spPr>
          <a:xfrm>
            <a:off x="5264919" y="2893219"/>
            <a:ext cx="3135313" cy="960438"/>
          </a:xfrm>
          <a:custGeom>
            <a:avLst/>
            <a:gdLst/>
            <a:ahLst/>
            <a:cxnLst/>
            <a:rect l="l" t="t" r="r" b="b"/>
            <a:pathLst>
              <a:path w="3135313" h="960438">
                <a:moveTo>
                  <a:pt x="0" y="0"/>
                </a:moveTo>
                <a:lnTo>
                  <a:pt x="3135313" y="0"/>
                </a:lnTo>
                <a:lnTo>
                  <a:pt x="3135313" y="960438"/>
                </a:lnTo>
                <a:lnTo>
                  <a:pt x="0" y="960438"/>
                </a:lnTo>
                <a:lnTo>
                  <a:pt x="0" y="0"/>
                </a:lnTo>
                <a:close/>
              </a:path>
            </a:pathLst>
          </a:custGeom>
          <a:solidFill>
            <a:srgbClr val="DDFF00">
              <a:alpha val="10196"/>
            </a:srgbClr>
          </a:solidFill>
          <a:ln w="12700">
            <a:solidFill>
              <a:srgbClr val="DDFF00"/>
            </a:solidFill>
            <a:prstDash val="solid"/>
          </a:ln>
        </p:spPr>
      </p:sp>
      <p:sp>
        <p:nvSpPr>
          <p:cNvPr id="47" name="Text 45"/>
          <p:cNvSpPr/>
          <p:nvPr/>
        </p:nvSpPr>
        <p:spPr>
          <a:xfrm>
            <a:off x="5395888" y="3024188"/>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Industrial Rock</a:t>
            </a:r>
            <a:endParaRPr lang="en-US" sz="1600" dirty="0"/>
          </a:p>
        </p:txBody>
      </p:sp>
      <p:sp>
        <p:nvSpPr>
          <p:cNvPr id="48" name="Text 46"/>
          <p:cNvSpPr/>
          <p:nvPr/>
        </p:nvSpPr>
        <p:spPr>
          <a:xfrm>
            <a:off x="5395888" y="3309938"/>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Nine Inch Nails, Ministry</a:t>
            </a:r>
            <a:endParaRPr lang="en-US" sz="1600" dirty="0"/>
          </a:p>
        </p:txBody>
      </p:sp>
      <p:sp>
        <p:nvSpPr>
          <p:cNvPr id="49" name="Text 47"/>
          <p:cNvSpPr/>
          <p:nvPr/>
        </p:nvSpPr>
        <p:spPr>
          <a:xfrm>
            <a:off x="5395888" y="3563938"/>
            <a:ext cx="2928938" cy="15875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Electronic elements, dark, mechanical sound</a:t>
            </a:r>
            <a:endParaRPr lang="en-US" sz="1600" dirty="0"/>
          </a:p>
        </p:txBody>
      </p:sp>
      <p:sp>
        <p:nvSpPr>
          <p:cNvPr id="50" name="Shape 48"/>
          <p:cNvSpPr/>
          <p:nvPr/>
        </p:nvSpPr>
        <p:spPr>
          <a:xfrm>
            <a:off x="8532006" y="2893219"/>
            <a:ext cx="3135313" cy="960438"/>
          </a:xfrm>
          <a:custGeom>
            <a:avLst/>
            <a:gdLst/>
            <a:ahLst/>
            <a:cxnLst/>
            <a:rect l="l" t="t" r="r" b="b"/>
            <a:pathLst>
              <a:path w="3135313" h="960438">
                <a:moveTo>
                  <a:pt x="0" y="0"/>
                </a:moveTo>
                <a:lnTo>
                  <a:pt x="3135313" y="0"/>
                </a:lnTo>
                <a:lnTo>
                  <a:pt x="3135313" y="960438"/>
                </a:lnTo>
                <a:lnTo>
                  <a:pt x="0" y="960438"/>
                </a:lnTo>
                <a:lnTo>
                  <a:pt x="0" y="0"/>
                </a:lnTo>
                <a:close/>
              </a:path>
            </a:pathLst>
          </a:custGeom>
          <a:solidFill>
            <a:srgbClr val="DDFF00">
              <a:alpha val="10196"/>
            </a:srgbClr>
          </a:solidFill>
          <a:ln w="12700">
            <a:solidFill>
              <a:srgbClr val="DDFF00"/>
            </a:solidFill>
            <a:prstDash val="solid"/>
          </a:ln>
        </p:spPr>
      </p:sp>
      <p:sp>
        <p:nvSpPr>
          <p:cNvPr id="51" name="Text 49"/>
          <p:cNvSpPr/>
          <p:nvPr/>
        </p:nvSpPr>
        <p:spPr>
          <a:xfrm>
            <a:off x="8662975" y="3024188"/>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Ska Punk</a:t>
            </a:r>
            <a:endParaRPr lang="en-US" sz="1600" dirty="0"/>
          </a:p>
        </p:txBody>
      </p:sp>
      <p:sp>
        <p:nvSpPr>
          <p:cNvPr id="52" name="Text 50"/>
          <p:cNvSpPr/>
          <p:nvPr/>
        </p:nvSpPr>
        <p:spPr>
          <a:xfrm>
            <a:off x="8662975" y="3309938"/>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Sublime, No Doubt, Reel Big Fish</a:t>
            </a:r>
            <a:endParaRPr lang="en-US" sz="1600" dirty="0"/>
          </a:p>
        </p:txBody>
      </p:sp>
      <p:sp>
        <p:nvSpPr>
          <p:cNvPr id="53" name="Text 51"/>
          <p:cNvSpPr/>
          <p:nvPr/>
        </p:nvSpPr>
        <p:spPr>
          <a:xfrm>
            <a:off x="8662975" y="3563938"/>
            <a:ext cx="2928938" cy="15875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Ska rhythms mixed with punk energy</a:t>
            </a:r>
            <a:endParaRPr lang="en-US" sz="1600" dirty="0"/>
          </a:p>
        </p:txBody>
      </p:sp>
      <p:sp>
        <p:nvSpPr>
          <p:cNvPr id="54" name="Shape 52"/>
          <p:cNvSpPr/>
          <p:nvPr/>
        </p:nvSpPr>
        <p:spPr>
          <a:xfrm>
            <a:off x="5054575" y="4191000"/>
            <a:ext cx="6818313" cy="1555750"/>
          </a:xfrm>
          <a:custGeom>
            <a:avLst/>
            <a:gdLst/>
            <a:ahLst/>
            <a:cxnLst/>
            <a:rect l="l" t="t" r="r" b="b"/>
            <a:pathLst>
              <a:path w="6818313" h="1555750">
                <a:moveTo>
                  <a:pt x="0" y="0"/>
                </a:moveTo>
                <a:lnTo>
                  <a:pt x="6818313" y="0"/>
                </a:lnTo>
                <a:lnTo>
                  <a:pt x="6818313" y="1555750"/>
                </a:lnTo>
                <a:lnTo>
                  <a:pt x="0" y="1555750"/>
                </a:lnTo>
                <a:lnTo>
                  <a:pt x="0" y="0"/>
                </a:lnTo>
                <a:close/>
              </a:path>
            </a:pathLst>
          </a:custGeom>
          <a:solidFill>
            <a:srgbClr val="DDFF00"/>
          </a:solidFill>
          <a:ln/>
        </p:spPr>
      </p:sp>
      <p:sp>
        <p:nvSpPr>
          <p:cNvPr id="55" name="Text 53"/>
          <p:cNvSpPr/>
          <p:nvPr/>
        </p:nvSpPr>
        <p:spPr>
          <a:xfrm>
            <a:off x="5213325" y="434975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Lollapalooza: The Alternative Festival</a:t>
            </a:r>
            <a:endParaRPr lang="en-US" sz="1600" dirty="0"/>
          </a:p>
        </p:txBody>
      </p:sp>
      <p:sp>
        <p:nvSpPr>
          <p:cNvPr id="56" name="Text 54"/>
          <p:cNvSpPr/>
          <p:nvPr/>
        </p:nvSpPr>
        <p:spPr>
          <a:xfrm>
            <a:off x="5213325" y="4667250"/>
            <a:ext cx="6564313" cy="41275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Launched in 1991 by Jane's Addiction's Perry Farrell,</a:t>
            </a:r>
            <a:pPr>
              <a:lnSpc>
                <a:spcPct val="140000"/>
              </a:lnSpc>
            </a:pPr>
            <a:r>
              <a:rPr lang="en-US" sz="1000" dirty="0">
                <a:solidFill>
                  <a:srgbClr val="000000"/>
                </a:solidFill>
                <a:latin typeface="Liter" pitchFamily="34" charset="0"/>
                <a:ea typeface="Liter" pitchFamily="34" charset="-122"/>
                <a:cs typeface="Liter" pitchFamily="34" charset="-120"/>
              </a:rPr>
              <a:t> Lollapalooza became the premier showcase for alternative rock. The touring festival introduced audiences to diverse acts and helped alternative rock reach mainstream success.</a:t>
            </a:r>
            <a:endParaRPr lang="en-US" sz="1600" dirty="0"/>
          </a:p>
        </p:txBody>
      </p:sp>
      <p:sp>
        <p:nvSpPr>
          <p:cNvPr id="57" name="Text 55"/>
          <p:cNvSpPr/>
          <p:nvPr/>
        </p:nvSpPr>
        <p:spPr>
          <a:xfrm>
            <a:off x="5213325" y="5175250"/>
            <a:ext cx="6564313" cy="41275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The festival's eclectic lineups reflected alternative rock's diversity, featuring everything from grunge and industrial to hip-hop and electronic music.</a:t>
            </a:r>
            <a:endParaRPr lang="en-US" sz="1600" dirty="0"/>
          </a:p>
        </p:txBody>
      </p:sp>
      <p:sp>
        <p:nvSpPr>
          <p:cNvPr id="58" name="Shape 56"/>
          <p:cNvSpPr/>
          <p:nvPr/>
        </p:nvSpPr>
        <p:spPr>
          <a:xfrm>
            <a:off x="5058544" y="5877719"/>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59" name="Text 57"/>
          <p:cNvSpPr/>
          <p:nvPr/>
        </p:nvSpPr>
        <p:spPr>
          <a:xfrm>
            <a:off x="5110138" y="5976938"/>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1991</a:t>
            </a:r>
            <a:endParaRPr lang="en-US" sz="1600" dirty="0"/>
          </a:p>
        </p:txBody>
      </p:sp>
      <p:sp>
        <p:nvSpPr>
          <p:cNvPr id="60" name="Text 58"/>
          <p:cNvSpPr/>
          <p:nvPr/>
        </p:nvSpPr>
        <p:spPr>
          <a:xfrm>
            <a:off x="5129981" y="6262688"/>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Lollapalooza debuts</a:t>
            </a:r>
            <a:endParaRPr lang="en-US" sz="1600" dirty="0"/>
          </a:p>
        </p:txBody>
      </p:sp>
      <p:sp>
        <p:nvSpPr>
          <p:cNvPr id="61" name="Shape 59"/>
          <p:cNvSpPr/>
          <p:nvPr/>
        </p:nvSpPr>
        <p:spPr>
          <a:xfrm>
            <a:off x="7363582" y="5877719"/>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2" name="Text 60"/>
          <p:cNvSpPr/>
          <p:nvPr/>
        </p:nvSpPr>
        <p:spPr>
          <a:xfrm>
            <a:off x="7415175" y="5976938"/>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30M+</a:t>
            </a:r>
            <a:endParaRPr lang="en-US" sz="1600" dirty="0"/>
          </a:p>
        </p:txBody>
      </p:sp>
      <p:sp>
        <p:nvSpPr>
          <p:cNvPr id="63" name="Text 61"/>
          <p:cNvSpPr/>
          <p:nvPr/>
        </p:nvSpPr>
        <p:spPr>
          <a:xfrm>
            <a:off x="7435019" y="6262688"/>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"Nevermind" sales</a:t>
            </a:r>
            <a:endParaRPr lang="en-US" sz="1600" dirty="0"/>
          </a:p>
        </p:txBody>
      </p:sp>
      <p:sp>
        <p:nvSpPr>
          <p:cNvPr id="64" name="Shape 62"/>
          <p:cNvSpPr/>
          <p:nvPr/>
        </p:nvSpPr>
        <p:spPr>
          <a:xfrm>
            <a:off x="9668619" y="5877719"/>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5" name="Text 63"/>
          <p:cNvSpPr/>
          <p:nvPr/>
        </p:nvSpPr>
        <p:spPr>
          <a:xfrm>
            <a:off x="9720213" y="5976938"/>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Gen X</a:t>
            </a:r>
            <a:endParaRPr lang="en-US" sz="1600" dirty="0"/>
          </a:p>
        </p:txBody>
      </p:sp>
      <p:sp>
        <p:nvSpPr>
          <p:cNvPr id="66" name="Text 64"/>
          <p:cNvSpPr/>
          <p:nvPr/>
        </p:nvSpPr>
        <p:spPr>
          <a:xfrm>
            <a:off x="9740057" y="6262688"/>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Generation defined</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pic>
        <p:nvPicPr>
          <p:cNvPr id="2" name="Image 0" descr="https://kimi-web-img.moonshot.cn/img/www.shutterstock.com/4c6f504412851dd875d37809299e08ba4588aec5.jpg">    </p:cNvPr>
          <p:cNvPicPr>
            <a:picLocks noChangeAspect="1"/>
          </p:cNvPicPr>
          <p:nvPr/>
        </p:nvPicPr>
        <p:blipFill>
          <a:blip r:embed="rId1">
            <a:alphaModFix amt="30000"/>
          </a:blip>
          <a:srcRect l="0" r="0" t="480" b="48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96206" y="1638300"/>
            <a:ext cx="1133475"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07</a:t>
            </a:r>
            <a:endParaRPr lang="en-US" sz="1600" dirty="0"/>
          </a:p>
        </p:txBody>
      </p:sp>
      <p:sp>
        <p:nvSpPr>
          <p:cNvPr id="7" name="Shape 4"/>
          <p:cNvSpPr/>
          <p:nvPr/>
        </p:nvSpPr>
        <p:spPr>
          <a:xfrm>
            <a:off x="1828800" y="1752600"/>
            <a:ext cx="3028950" cy="38100"/>
          </a:xfrm>
          <a:custGeom>
            <a:avLst/>
            <a:gdLst/>
            <a:ahLst/>
            <a:cxnLst/>
            <a:rect l="l" t="t" r="r" b="b"/>
            <a:pathLst>
              <a:path w="3028950" h="38100">
                <a:moveTo>
                  <a:pt x="0" y="0"/>
                </a:moveTo>
                <a:lnTo>
                  <a:pt x="3028950" y="0"/>
                </a:lnTo>
                <a:lnTo>
                  <a:pt x="3028950" y="38100"/>
                </a:lnTo>
                <a:lnTo>
                  <a:pt x="0" y="38100"/>
                </a:lnTo>
                <a:lnTo>
                  <a:pt x="0" y="0"/>
                </a:lnTo>
                <a:close/>
              </a:path>
            </a:pathLst>
          </a:custGeom>
          <a:solidFill>
            <a:srgbClr val="DDFF00"/>
          </a:solidFill>
          <a:ln/>
        </p:spPr>
      </p:sp>
      <p:sp>
        <p:nvSpPr>
          <p:cNvPr id="8" name="Text 5"/>
          <p:cNvSpPr/>
          <p:nvPr/>
        </p:nvSpPr>
        <p:spPr>
          <a:xfrm>
            <a:off x="1828800" y="1943100"/>
            <a:ext cx="311467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SEVEN</a:t>
            </a:r>
            <a:endParaRPr lang="en-US" sz="1600" dirty="0"/>
          </a:p>
        </p:txBody>
      </p:sp>
      <p:sp>
        <p:nvSpPr>
          <p:cNvPr id="9" name="Text 6"/>
          <p:cNvSpPr/>
          <p:nvPr/>
        </p:nvSpPr>
        <p:spPr>
          <a:xfrm>
            <a:off x="381000" y="2895600"/>
            <a:ext cx="481965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INDIE ROCK</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REVIVAL</a:t>
            </a:r>
            <a:endParaRPr lang="en-US" sz="1600" dirty="0"/>
          </a:p>
        </p:txBody>
      </p:sp>
      <p:sp>
        <p:nvSpPr>
          <p:cNvPr id="10" name="Text 7"/>
          <p:cNvSpPr/>
          <p:nvPr/>
        </p:nvSpPr>
        <p:spPr>
          <a:xfrm>
            <a:off x="381000" y="4838700"/>
            <a:ext cx="459105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2000s-2010s: Return to Raw, DIY Aesthetics</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1901" y="370186"/>
            <a:ext cx="64380" cy="386281"/>
          </a:xfrm>
          <a:custGeom>
            <a:avLst/>
            <a:gdLst/>
            <a:ahLst/>
            <a:cxnLst/>
            <a:rect l="l" t="t" r="r" b="b"/>
            <a:pathLst>
              <a:path w="64380" h="386281">
                <a:moveTo>
                  <a:pt x="0" y="0"/>
                </a:moveTo>
                <a:lnTo>
                  <a:pt x="64380" y="0"/>
                </a:lnTo>
                <a:lnTo>
                  <a:pt x="64380" y="386281"/>
                </a:lnTo>
                <a:lnTo>
                  <a:pt x="0" y="386281"/>
                </a:lnTo>
                <a:lnTo>
                  <a:pt x="0" y="0"/>
                </a:lnTo>
                <a:close/>
              </a:path>
            </a:pathLst>
          </a:custGeom>
          <a:solidFill>
            <a:srgbClr val="DDFF00"/>
          </a:solidFill>
          <a:ln/>
        </p:spPr>
      </p:sp>
      <p:sp>
        <p:nvSpPr>
          <p:cNvPr id="3" name="Text 1"/>
          <p:cNvSpPr/>
          <p:nvPr/>
        </p:nvSpPr>
        <p:spPr>
          <a:xfrm>
            <a:off x="515042" y="321901"/>
            <a:ext cx="3194867" cy="160950"/>
          </a:xfrm>
          <a:prstGeom prst="rect">
            <a:avLst/>
          </a:prstGeom>
          <a:noFill/>
          <a:ln/>
        </p:spPr>
        <p:txBody>
          <a:bodyPr wrap="square" lIns="0" tIns="0" rIns="0" bIns="0" rtlCol="0" anchor="ctr"/>
          <a:lstStyle/>
          <a:p>
            <a:pPr>
              <a:lnSpc>
                <a:spcPct val="120000"/>
              </a:lnSpc>
            </a:pPr>
            <a:r>
              <a:rPr lang="en-US" sz="887" b="1" spc="89" kern="0" dirty="0">
                <a:solidFill>
                  <a:srgbClr val="DDFF00"/>
                </a:solidFill>
                <a:latin typeface="Liter" pitchFamily="34" charset="0"/>
                <a:ea typeface="Liter" pitchFamily="34" charset="-122"/>
                <a:cs typeface="Liter" pitchFamily="34" charset="-120"/>
              </a:rPr>
              <a:t>CHAPTER 07</a:t>
            </a:r>
            <a:endParaRPr lang="en-US" sz="1600" dirty="0"/>
          </a:p>
        </p:txBody>
      </p:sp>
      <p:sp>
        <p:nvSpPr>
          <p:cNvPr id="4" name="Text 2"/>
          <p:cNvSpPr/>
          <p:nvPr/>
        </p:nvSpPr>
        <p:spPr>
          <a:xfrm>
            <a:off x="515042" y="482851"/>
            <a:ext cx="3283390" cy="321901"/>
          </a:xfrm>
          <a:prstGeom prst="rect">
            <a:avLst/>
          </a:prstGeom>
          <a:noFill/>
          <a:ln/>
        </p:spPr>
        <p:txBody>
          <a:bodyPr wrap="square" lIns="0" tIns="0" rIns="0" bIns="0" rtlCol="0" anchor="ctr"/>
          <a:lstStyle/>
          <a:p>
            <a:pPr>
              <a:lnSpc>
                <a:spcPct val="90000"/>
              </a:lnSpc>
            </a:pPr>
            <a:r>
              <a:rPr lang="en-US" sz="2281" b="1" dirty="0">
                <a:solidFill>
                  <a:srgbClr val="FFFFFF"/>
                </a:solidFill>
                <a:latin typeface="Liter" pitchFamily="34" charset="0"/>
                <a:ea typeface="Liter" pitchFamily="34" charset="-122"/>
                <a:cs typeface="Liter" pitchFamily="34" charset="-120"/>
              </a:rPr>
              <a:t>The Garage Rock Revival</a:t>
            </a:r>
            <a:endParaRPr lang="en-US" sz="1600" dirty="0"/>
          </a:p>
        </p:txBody>
      </p:sp>
      <p:sp>
        <p:nvSpPr>
          <p:cNvPr id="5" name="Shape 3"/>
          <p:cNvSpPr/>
          <p:nvPr/>
        </p:nvSpPr>
        <p:spPr>
          <a:xfrm>
            <a:off x="321901" y="1062273"/>
            <a:ext cx="6808206" cy="1883121"/>
          </a:xfrm>
          <a:custGeom>
            <a:avLst/>
            <a:gdLst/>
            <a:ahLst/>
            <a:cxnLst/>
            <a:rect l="l" t="t" r="r" b="b"/>
            <a:pathLst>
              <a:path w="6808206" h="1883121">
                <a:moveTo>
                  <a:pt x="0" y="0"/>
                </a:moveTo>
                <a:lnTo>
                  <a:pt x="6808206" y="0"/>
                </a:lnTo>
                <a:lnTo>
                  <a:pt x="6808206" y="1883121"/>
                </a:lnTo>
                <a:lnTo>
                  <a:pt x="0" y="1883121"/>
                </a:lnTo>
                <a:lnTo>
                  <a:pt x="0" y="0"/>
                </a:lnTo>
                <a:close/>
              </a:path>
            </a:pathLst>
          </a:custGeom>
          <a:solidFill>
            <a:srgbClr val="DDFF00"/>
          </a:solidFill>
          <a:ln/>
        </p:spPr>
      </p:sp>
      <p:sp>
        <p:nvSpPr>
          <p:cNvPr id="6" name="Text 4"/>
          <p:cNvSpPr/>
          <p:nvPr/>
        </p:nvSpPr>
        <p:spPr>
          <a:xfrm>
            <a:off x="515042" y="1255414"/>
            <a:ext cx="6518495" cy="257521"/>
          </a:xfrm>
          <a:prstGeom prst="rect">
            <a:avLst/>
          </a:prstGeom>
          <a:noFill/>
          <a:ln/>
        </p:spPr>
        <p:txBody>
          <a:bodyPr wrap="square" lIns="0" tIns="0" rIns="0" bIns="0" rtlCol="0" anchor="ctr"/>
          <a:lstStyle/>
          <a:p>
            <a:pPr>
              <a:lnSpc>
                <a:spcPct val="110000"/>
              </a:lnSpc>
            </a:pPr>
            <a:r>
              <a:rPr lang="en-US" sz="1521" b="1" dirty="0">
                <a:solidFill>
                  <a:srgbClr val="000000"/>
                </a:solidFill>
                <a:latin typeface="Liter" pitchFamily="34" charset="0"/>
                <a:ea typeface="Liter" pitchFamily="34" charset="-122"/>
                <a:cs typeface="Liter" pitchFamily="34" charset="-120"/>
              </a:rPr>
              <a:t>Back to Basics</a:t>
            </a:r>
            <a:endParaRPr lang="en-US" sz="1600" dirty="0"/>
          </a:p>
        </p:txBody>
      </p:sp>
      <p:sp>
        <p:nvSpPr>
          <p:cNvPr id="7" name="Text 5"/>
          <p:cNvSpPr/>
          <p:nvPr/>
        </p:nvSpPr>
        <p:spPr>
          <a:xfrm>
            <a:off x="515042" y="1609505"/>
            <a:ext cx="6486305" cy="627707"/>
          </a:xfrm>
          <a:prstGeom prst="rect">
            <a:avLst/>
          </a:prstGeom>
          <a:noFill/>
          <a:ln/>
        </p:spPr>
        <p:txBody>
          <a:bodyPr wrap="square" lIns="0" tIns="0" rIns="0" bIns="0" rtlCol="0" anchor="ctr"/>
          <a:lstStyle/>
          <a:p>
            <a:pPr>
              <a:lnSpc>
                <a:spcPct val="140000"/>
              </a:lnSpc>
            </a:pPr>
            <a:r>
              <a:rPr lang="en-US" sz="1014" b="1" dirty="0">
                <a:solidFill>
                  <a:srgbClr val="000000"/>
                </a:solidFill>
                <a:latin typeface="Liter" pitchFamily="34" charset="0"/>
                <a:ea typeface="Liter" pitchFamily="34" charset="-122"/>
                <a:cs typeface="Liter" pitchFamily="34" charset="-120"/>
              </a:rPr>
              <a:t>The 2000s and 2010s saw a revival of indie and garage rock,</a:t>
            </a:r>
            <a:pPr>
              <a:lnSpc>
                <a:spcPct val="140000"/>
              </a:lnSpc>
            </a:pPr>
            <a:r>
              <a:rPr lang="en-US" sz="1014" dirty="0">
                <a:solidFill>
                  <a:srgbClr val="000000"/>
                </a:solidFill>
                <a:latin typeface="Liter" pitchFamily="34" charset="0"/>
                <a:ea typeface="Liter" pitchFamily="34" charset="-122"/>
                <a:cs typeface="Liter" pitchFamily="34" charset="-120"/>
              </a:rPr>
              <a:t> with bands drawing inspiration from the DIY and underground scenes of the past. This resurgence brought a fresh wave of independent and alternative rock music characterized by raw energy and authenticity.</a:t>
            </a:r>
            <a:endParaRPr lang="en-US" sz="1600" dirty="0"/>
          </a:p>
        </p:txBody>
      </p:sp>
      <p:sp>
        <p:nvSpPr>
          <p:cNvPr id="8" name="Text 6"/>
          <p:cNvSpPr/>
          <p:nvPr/>
        </p:nvSpPr>
        <p:spPr>
          <a:xfrm>
            <a:off x="515042" y="2333782"/>
            <a:ext cx="6486305" cy="418471"/>
          </a:xfrm>
          <a:prstGeom prst="rect">
            <a:avLst/>
          </a:prstGeom>
          <a:noFill/>
          <a:ln/>
        </p:spPr>
        <p:txBody>
          <a:bodyPr wrap="square" lIns="0" tIns="0" rIns="0" bIns="0" rtlCol="0" anchor="ctr"/>
          <a:lstStyle/>
          <a:p>
            <a:pPr>
              <a:lnSpc>
                <a:spcPct val="140000"/>
              </a:lnSpc>
            </a:pPr>
            <a:r>
              <a:rPr lang="en-US" sz="1014" dirty="0">
                <a:solidFill>
                  <a:srgbClr val="000000">
                    <a:alpha val="80000"/>
                  </a:srgbClr>
                </a:solidFill>
                <a:latin typeface="Liter" pitchFamily="34" charset="0"/>
                <a:ea typeface="Liter" pitchFamily="34" charset="-122"/>
                <a:cs typeface="Liter" pitchFamily="34" charset="-120"/>
              </a:rPr>
              <a:t>The movement was defined by a DIY ethos—many bands self-released music and embraced a lo-fi sound. Independent record labels flourished, and scenes developed in cities like New York, Brooklyn, and London.</a:t>
            </a:r>
            <a:endParaRPr lang="en-US" sz="1600" dirty="0"/>
          </a:p>
        </p:txBody>
      </p:sp>
      <p:sp>
        <p:nvSpPr>
          <p:cNvPr id="9" name="Shape 7"/>
          <p:cNvSpPr/>
          <p:nvPr/>
        </p:nvSpPr>
        <p:spPr>
          <a:xfrm>
            <a:off x="329949" y="3082202"/>
            <a:ext cx="6792111" cy="3621386"/>
          </a:xfrm>
          <a:custGeom>
            <a:avLst/>
            <a:gdLst/>
            <a:ahLst/>
            <a:cxnLst/>
            <a:rect l="l" t="t" r="r" b="b"/>
            <a:pathLst>
              <a:path w="6792111" h="3621386">
                <a:moveTo>
                  <a:pt x="0" y="0"/>
                </a:moveTo>
                <a:lnTo>
                  <a:pt x="6792111" y="0"/>
                </a:lnTo>
                <a:lnTo>
                  <a:pt x="6792111" y="3621386"/>
                </a:lnTo>
                <a:lnTo>
                  <a:pt x="0" y="3621386"/>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8947" y="3251200"/>
            <a:ext cx="6534590" cy="225331"/>
          </a:xfrm>
          <a:prstGeom prst="rect">
            <a:avLst/>
          </a:prstGeom>
          <a:noFill/>
          <a:ln/>
        </p:spPr>
        <p:txBody>
          <a:bodyPr wrap="square" lIns="0" tIns="0" rIns="0" bIns="0" rtlCol="0" anchor="ctr"/>
          <a:lstStyle/>
          <a:p>
            <a:pPr>
              <a:lnSpc>
                <a:spcPct val="120000"/>
              </a:lnSpc>
            </a:pPr>
            <a:r>
              <a:rPr lang="en-US" sz="1267" b="1" dirty="0">
                <a:solidFill>
                  <a:srgbClr val="DDFF00"/>
                </a:solidFill>
                <a:latin typeface="Liter" pitchFamily="34" charset="0"/>
                <a:ea typeface="Liter" pitchFamily="34" charset="-122"/>
                <a:cs typeface="Liter" pitchFamily="34" charset="-120"/>
              </a:rPr>
              <a:t>Key Indie Revival Bands</a:t>
            </a:r>
            <a:endParaRPr lang="en-US" sz="1600" dirty="0"/>
          </a:p>
        </p:txBody>
      </p:sp>
      <p:sp>
        <p:nvSpPr>
          <p:cNvPr id="11" name="Shape 9"/>
          <p:cNvSpPr/>
          <p:nvPr/>
        </p:nvSpPr>
        <p:spPr>
          <a:xfrm>
            <a:off x="515042" y="3605291"/>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12" name="Text 10"/>
          <p:cNvSpPr/>
          <p:nvPr/>
        </p:nvSpPr>
        <p:spPr>
          <a:xfrm>
            <a:off x="659897" y="3605291"/>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The Strokes</a:t>
            </a:r>
            <a:endParaRPr lang="en-US" sz="1600" dirty="0"/>
          </a:p>
        </p:txBody>
      </p:sp>
      <p:sp>
        <p:nvSpPr>
          <p:cNvPr id="13" name="Text 11"/>
          <p:cNvSpPr/>
          <p:nvPr/>
        </p:nvSpPr>
        <p:spPr>
          <a:xfrm>
            <a:off x="659897" y="3895002"/>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1998</a:t>
            </a:r>
            <a:endParaRPr lang="en-US" sz="1600" dirty="0"/>
          </a:p>
        </p:txBody>
      </p:sp>
      <p:sp>
        <p:nvSpPr>
          <p:cNvPr id="14" name="Text 12"/>
          <p:cNvSpPr/>
          <p:nvPr/>
        </p:nvSpPr>
        <p:spPr>
          <a:xfrm>
            <a:off x="659897" y="4152523"/>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"Is This It" (2001) - Kicked off the revival. Post-punk influences, stylish image</a:t>
            </a:r>
            <a:endParaRPr lang="en-US" sz="1600" dirty="0"/>
          </a:p>
        </p:txBody>
      </p:sp>
      <p:sp>
        <p:nvSpPr>
          <p:cNvPr id="15" name="Shape 13"/>
          <p:cNvSpPr/>
          <p:nvPr/>
        </p:nvSpPr>
        <p:spPr>
          <a:xfrm>
            <a:off x="3808051" y="3605291"/>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16" name="Text 14"/>
          <p:cNvSpPr/>
          <p:nvPr/>
        </p:nvSpPr>
        <p:spPr>
          <a:xfrm>
            <a:off x="3952906" y="3605291"/>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Arctic Monkeys</a:t>
            </a:r>
            <a:endParaRPr lang="en-US" sz="1600" dirty="0"/>
          </a:p>
        </p:txBody>
      </p:sp>
      <p:sp>
        <p:nvSpPr>
          <p:cNvPr id="17" name="Text 15"/>
          <p:cNvSpPr/>
          <p:nvPr/>
        </p:nvSpPr>
        <p:spPr>
          <a:xfrm>
            <a:off x="3952906" y="3895002"/>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Sheffield, 2002</a:t>
            </a:r>
            <a:endParaRPr lang="en-US" sz="1600" dirty="0"/>
          </a:p>
        </p:txBody>
      </p:sp>
      <p:sp>
        <p:nvSpPr>
          <p:cNvPr id="18" name="Text 16"/>
          <p:cNvSpPr/>
          <p:nvPr/>
        </p:nvSpPr>
        <p:spPr>
          <a:xfrm>
            <a:off x="3952906" y="4152523"/>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"Whatever People Say I Am..." (2006) - UK indie explosion. Witty lyrics, energetic sound</a:t>
            </a:r>
            <a:endParaRPr lang="en-US" sz="1600" dirty="0"/>
          </a:p>
        </p:txBody>
      </p:sp>
      <p:sp>
        <p:nvSpPr>
          <p:cNvPr id="19" name="Shape 17"/>
          <p:cNvSpPr/>
          <p:nvPr/>
        </p:nvSpPr>
        <p:spPr>
          <a:xfrm>
            <a:off x="515042" y="4603184"/>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20" name="Text 18"/>
          <p:cNvSpPr/>
          <p:nvPr/>
        </p:nvSpPr>
        <p:spPr>
          <a:xfrm>
            <a:off x="659897" y="4603184"/>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The White Stripes</a:t>
            </a:r>
            <a:endParaRPr lang="en-US" sz="1600" dirty="0"/>
          </a:p>
        </p:txBody>
      </p:sp>
      <p:sp>
        <p:nvSpPr>
          <p:cNvPr id="21" name="Text 19"/>
          <p:cNvSpPr/>
          <p:nvPr/>
        </p:nvSpPr>
        <p:spPr>
          <a:xfrm>
            <a:off x="659897" y="4892895"/>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Detroit, 1997</a:t>
            </a:r>
            <a:endParaRPr lang="en-US" sz="1600" dirty="0"/>
          </a:p>
        </p:txBody>
      </p:sp>
      <p:sp>
        <p:nvSpPr>
          <p:cNvPr id="22" name="Text 20"/>
          <p:cNvSpPr/>
          <p:nvPr/>
        </p:nvSpPr>
        <p:spPr>
          <a:xfrm>
            <a:off x="659897" y="5150416"/>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"Elephant" (2003) - Raw blues-influenced garage rock. Jack &amp; Meg White duo</a:t>
            </a:r>
            <a:endParaRPr lang="en-US" sz="1600" dirty="0"/>
          </a:p>
        </p:txBody>
      </p:sp>
      <p:sp>
        <p:nvSpPr>
          <p:cNvPr id="23" name="Shape 21"/>
          <p:cNvSpPr/>
          <p:nvPr/>
        </p:nvSpPr>
        <p:spPr>
          <a:xfrm>
            <a:off x="3808051" y="4603184"/>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24" name="Text 22"/>
          <p:cNvSpPr/>
          <p:nvPr/>
        </p:nvSpPr>
        <p:spPr>
          <a:xfrm>
            <a:off x="3952906" y="4603184"/>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Yeah Yeah Yeahs</a:t>
            </a:r>
            <a:endParaRPr lang="en-US" sz="1600" dirty="0"/>
          </a:p>
        </p:txBody>
      </p:sp>
      <p:sp>
        <p:nvSpPr>
          <p:cNvPr id="25" name="Text 23"/>
          <p:cNvSpPr/>
          <p:nvPr/>
        </p:nvSpPr>
        <p:spPr>
          <a:xfrm>
            <a:off x="3952906" y="4892895"/>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2000</a:t>
            </a:r>
            <a:endParaRPr lang="en-US" sz="1600" dirty="0"/>
          </a:p>
        </p:txBody>
      </p:sp>
      <p:sp>
        <p:nvSpPr>
          <p:cNvPr id="26" name="Text 24"/>
          <p:cNvSpPr/>
          <p:nvPr/>
        </p:nvSpPr>
        <p:spPr>
          <a:xfrm>
            <a:off x="3952906" y="5150416"/>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"Fever to Tell" (2003) - Art-punk energy. Karen O's explosive stage presence</a:t>
            </a:r>
            <a:endParaRPr lang="en-US" sz="1600" dirty="0"/>
          </a:p>
        </p:txBody>
      </p:sp>
      <p:sp>
        <p:nvSpPr>
          <p:cNvPr id="27" name="Shape 25"/>
          <p:cNvSpPr/>
          <p:nvPr/>
        </p:nvSpPr>
        <p:spPr>
          <a:xfrm>
            <a:off x="515042" y="5601077"/>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28" name="Text 26"/>
          <p:cNvSpPr/>
          <p:nvPr/>
        </p:nvSpPr>
        <p:spPr>
          <a:xfrm>
            <a:off x="659897" y="5601077"/>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Interpol</a:t>
            </a:r>
            <a:endParaRPr lang="en-US" sz="1600" dirty="0"/>
          </a:p>
        </p:txBody>
      </p:sp>
      <p:sp>
        <p:nvSpPr>
          <p:cNvPr id="29" name="Text 27"/>
          <p:cNvSpPr/>
          <p:nvPr/>
        </p:nvSpPr>
        <p:spPr>
          <a:xfrm>
            <a:off x="659897" y="5890788"/>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1997</a:t>
            </a:r>
            <a:endParaRPr lang="en-US" sz="1600" dirty="0"/>
          </a:p>
        </p:txBody>
      </p:sp>
      <p:sp>
        <p:nvSpPr>
          <p:cNvPr id="30" name="Text 28"/>
          <p:cNvSpPr/>
          <p:nvPr/>
        </p:nvSpPr>
        <p:spPr>
          <a:xfrm>
            <a:off x="659897" y="6148309"/>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"Turn on the Bright Lights" (2002) - Post-punk revival. Dark, atmospheric</a:t>
            </a:r>
            <a:endParaRPr lang="en-US" sz="1600" dirty="0"/>
          </a:p>
        </p:txBody>
      </p:sp>
      <p:sp>
        <p:nvSpPr>
          <p:cNvPr id="31" name="Shape 29"/>
          <p:cNvSpPr/>
          <p:nvPr/>
        </p:nvSpPr>
        <p:spPr>
          <a:xfrm>
            <a:off x="3808051" y="5601077"/>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32" name="Text 30"/>
          <p:cNvSpPr/>
          <p:nvPr/>
        </p:nvSpPr>
        <p:spPr>
          <a:xfrm>
            <a:off x="3952906" y="5601077"/>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Vampire Weekend</a:t>
            </a:r>
            <a:endParaRPr lang="en-US" sz="1600" dirty="0"/>
          </a:p>
        </p:txBody>
      </p:sp>
      <p:sp>
        <p:nvSpPr>
          <p:cNvPr id="33" name="Text 31"/>
          <p:cNvSpPr/>
          <p:nvPr/>
        </p:nvSpPr>
        <p:spPr>
          <a:xfrm>
            <a:off x="3952906" y="5890788"/>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2006</a:t>
            </a:r>
            <a:endParaRPr lang="en-US" sz="1600" dirty="0"/>
          </a:p>
        </p:txBody>
      </p:sp>
      <p:sp>
        <p:nvSpPr>
          <p:cNvPr id="34" name="Text 32"/>
          <p:cNvSpPr/>
          <p:nvPr/>
        </p:nvSpPr>
        <p:spPr>
          <a:xfrm>
            <a:off x="3952906" y="6148309"/>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Self-titled debut (2008) - Indie rock meets African rhythms. Preppy aesthetic</a:t>
            </a:r>
            <a:endParaRPr lang="en-US" sz="1600" dirty="0"/>
          </a:p>
        </p:txBody>
      </p:sp>
      <p:pic>
        <p:nvPicPr>
          <p:cNvPr id="35" name="Image 0" descr="https://kimi-web-img.moonshot.cn/img/www.shutterstock.com/4c6f504412851dd875d37809299e08ba4588aec5.jpg">    </p:cNvPr>
          <p:cNvPicPr>
            <a:picLocks noChangeAspect="1"/>
          </p:cNvPicPr>
          <p:nvPr/>
        </p:nvPicPr>
        <p:blipFill>
          <a:blip r:embed="rId1"/>
          <a:srcRect l="0" r="0" t="51" b="51"/>
          <a:stretch/>
        </p:blipFill>
        <p:spPr>
          <a:xfrm>
            <a:off x="7326454" y="1062273"/>
            <a:ext cx="4538804" cy="2575208"/>
          </a:xfrm>
          <a:prstGeom prst="roundRect">
            <a:avLst>
              <a:gd name="adj" fmla="val 0"/>
            </a:avLst>
          </a:prstGeom>
        </p:spPr>
      </p:pic>
      <p:sp>
        <p:nvSpPr>
          <p:cNvPr id="36" name="Shape 33"/>
          <p:cNvSpPr/>
          <p:nvPr/>
        </p:nvSpPr>
        <p:spPr>
          <a:xfrm>
            <a:off x="7326454" y="1062273"/>
            <a:ext cx="4538804" cy="2575208"/>
          </a:xfrm>
          <a:custGeom>
            <a:avLst/>
            <a:gdLst/>
            <a:ahLst/>
            <a:cxnLst/>
            <a:rect l="l" t="t" r="r" b="b"/>
            <a:pathLst>
              <a:path w="4538804" h="2575208">
                <a:moveTo>
                  <a:pt x="0" y="0"/>
                </a:moveTo>
                <a:lnTo>
                  <a:pt x="4538804" y="0"/>
                </a:lnTo>
                <a:lnTo>
                  <a:pt x="4538804" y="2575208"/>
                </a:lnTo>
                <a:lnTo>
                  <a:pt x="0" y="2575208"/>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37" name="Text 34"/>
          <p:cNvSpPr/>
          <p:nvPr/>
        </p:nvSpPr>
        <p:spPr>
          <a:xfrm>
            <a:off x="7455214" y="3094022"/>
            <a:ext cx="4337616" cy="160950"/>
          </a:xfrm>
          <a:prstGeom prst="rect">
            <a:avLst/>
          </a:prstGeom>
          <a:noFill/>
          <a:ln/>
        </p:spPr>
        <p:txBody>
          <a:bodyPr wrap="square" lIns="0" tIns="0" rIns="0" bIns="0" rtlCol="0" anchor="ctr"/>
          <a:lstStyle/>
          <a:p>
            <a:pPr>
              <a:lnSpc>
                <a:spcPct val="120000"/>
              </a:lnSpc>
            </a:pPr>
            <a:r>
              <a:rPr lang="en-US" sz="887" b="1" dirty="0">
                <a:solidFill>
                  <a:srgbClr val="DDFF00"/>
                </a:solidFill>
                <a:latin typeface="Liter" pitchFamily="34" charset="0"/>
                <a:ea typeface="Liter" pitchFamily="34" charset="-122"/>
                <a:cs typeface="Liter" pitchFamily="34" charset="-120"/>
              </a:rPr>
              <a:t>INDIE ROCK</a:t>
            </a:r>
            <a:endParaRPr lang="en-US" sz="1600" dirty="0"/>
          </a:p>
        </p:txBody>
      </p:sp>
      <p:sp>
        <p:nvSpPr>
          <p:cNvPr id="38" name="Text 35"/>
          <p:cNvSpPr/>
          <p:nvPr/>
        </p:nvSpPr>
        <p:spPr>
          <a:xfrm>
            <a:off x="7455214" y="3287162"/>
            <a:ext cx="4353711"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Live Performance Energy</a:t>
            </a:r>
            <a:endParaRPr lang="en-US" sz="1600" dirty="0"/>
          </a:p>
        </p:txBody>
      </p:sp>
      <p:sp>
        <p:nvSpPr>
          <p:cNvPr id="39" name="Shape 36"/>
          <p:cNvSpPr/>
          <p:nvPr/>
        </p:nvSpPr>
        <p:spPr>
          <a:xfrm>
            <a:off x="7334501" y="3778061"/>
            <a:ext cx="4522709" cy="1625600"/>
          </a:xfrm>
          <a:custGeom>
            <a:avLst/>
            <a:gdLst/>
            <a:ahLst/>
            <a:cxnLst/>
            <a:rect l="l" t="t" r="r" b="b"/>
            <a:pathLst>
              <a:path w="4522709" h="1625600">
                <a:moveTo>
                  <a:pt x="0" y="0"/>
                </a:moveTo>
                <a:lnTo>
                  <a:pt x="4522709" y="0"/>
                </a:lnTo>
                <a:lnTo>
                  <a:pt x="4522709" y="1625600"/>
                </a:lnTo>
                <a:lnTo>
                  <a:pt x="0" y="1625600"/>
                </a:lnTo>
                <a:lnTo>
                  <a:pt x="0" y="0"/>
                </a:lnTo>
                <a:close/>
              </a:path>
            </a:pathLst>
          </a:custGeom>
          <a:solidFill>
            <a:srgbClr val="000000">
              <a:alpha val="0"/>
            </a:srgbClr>
          </a:solidFill>
          <a:ln w="25400">
            <a:solidFill>
              <a:srgbClr val="DDFF00"/>
            </a:solidFill>
            <a:prstDash val="solid"/>
          </a:ln>
        </p:spPr>
      </p:sp>
      <p:sp>
        <p:nvSpPr>
          <p:cNvPr id="40" name="Text 37"/>
          <p:cNvSpPr/>
          <p:nvPr/>
        </p:nvSpPr>
        <p:spPr>
          <a:xfrm>
            <a:off x="7503500" y="3947059"/>
            <a:ext cx="4257141" cy="225331"/>
          </a:xfrm>
          <a:prstGeom prst="rect">
            <a:avLst/>
          </a:prstGeom>
          <a:noFill/>
          <a:ln/>
        </p:spPr>
        <p:txBody>
          <a:bodyPr wrap="square" lIns="0" tIns="0" rIns="0" bIns="0" rtlCol="0" anchor="ctr"/>
          <a:lstStyle/>
          <a:p>
            <a:pPr>
              <a:lnSpc>
                <a:spcPct val="130000"/>
              </a:lnSpc>
            </a:pPr>
            <a:r>
              <a:rPr lang="en-US" sz="1141" b="1" dirty="0">
                <a:solidFill>
                  <a:srgbClr val="DDFF00"/>
                </a:solidFill>
                <a:latin typeface="Liter" pitchFamily="34" charset="0"/>
                <a:ea typeface="Liter" pitchFamily="34" charset="-122"/>
                <a:cs typeface="Liter" pitchFamily="34" charset="-120"/>
              </a:rPr>
              <a:t>DIY Aesthetics</a:t>
            </a:r>
            <a:endParaRPr lang="en-US" sz="1600" dirty="0"/>
          </a:p>
        </p:txBody>
      </p:sp>
      <p:sp>
        <p:nvSpPr>
          <p:cNvPr id="41" name="Shape 38"/>
          <p:cNvSpPr/>
          <p:nvPr/>
        </p:nvSpPr>
        <p:spPr>
          <a:xfrm>
            <a:off x="7503500" y="4333341"/>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2" name="Text 39"/>
          <p:cNvSpPr/>
          <p:nvPr/>
        </p:nvSpPr>
        <p:spPr>
          <a:xfrm>
            <a:off x="7632260" y="4268960"/>
            <a:ext cx="2639588"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Independent Labels:</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Domino, Merge, Sub Pop</a:t>
            </a:r>
            <a:endParaRPr lang="en-US" sz="1600" dirty="0"/>
          </a:p>
        </p:txBody>
      </p:sp>
      <p:sp>
        <p:nvSpPr>
          <p:cNvPr id="43" name="Shape 40"/>
          <p:cNvSpPr/>
          <p:nvPr/>
        </p:nvSpPr>
        <p:spPr>
          <a:xfrm>
            <a:off x="7503500" y="4590861"/>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4" name="Text 41"/>
          <p:cNvSpPr/>
          <p:nvPr/>
        </p:nvSpPr>
        <p:spPr>
          <a:xfrm>
            <a:off x="7632260" y="4526481"/>
            <a:ext cx="2470590"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Lo-fi Production:</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Embracing imperfections</a:t>
            </a:r>
            <a:endParaRPr lang="en-US" sz="1600" dirty="0"/>
          </a:p>
        </p:txBody>
      </p:sp>
      <p:sp>
        <p:nvSpPr>
          <p:cNvPr id="45" name="Shape 42"/>
          <p:cNvSpPr/>
          <p:nvPr/>
        </p:nvSpPr>
        <p:spPr>
          <a:xfrm>
            <a:off x="7503500" y="4848382"/>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6" name="Text 43"/>
          <p:cNvSpPr/>
          <p:nvPr/>
        </p:nvSpPr>
        <p:spPr>
          <a:xfrm>
            <a:off x="7632260" y="4784002"/>
            <a:ext cx="2478638"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Self-Release:</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Bands controlling their music</a:t>
            </a:r>
            <a:endParaRPr lang="en-US" sz="1600" dirty="0"/>
          </a:p>
        </p:txBody>
      </p:sp>
      <p:sp>
        <p:nvSpPr>
          <p:cNvPr id="47" name="Shape 44"/>
          <p:cNvSpPr/>
          <p:nvPr/>
        </p:nvSpPr>
        <p:spPr>
          <a:xfrm>
            <a:off x="7503500" y="5105903"/>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8" name="Text 45"/>
          <p:cNvSpPr/>
          <p:nvPr/>
        </p:nvSpPr>
        <p:spPr>
          <a:xfrm>
            <a:off x="7632260" y="5041523"/>
            <a:ext cx="2752253"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Festival Culture:</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Coachella, Lollapalooza, SXSW</a:t>
            </a:r>
            <a:endParaRPr lang="en-US" sz="1600" dirty="0"/>
          </a:p>
        </p:txBody>
      </p:sp>
      <p:sp>
        <p:nvSpPr>
          <p:cNvPr id="49" name="Shape 46"/>
          <p:cNvSpPr/>
          <p:nvPr/>
        </p:nvSpPr>
        <p:spPr>
          <a:xfrm>
            <a:off x="7326454" y="5540469"/>
            <a:ext cx="4538804" cy="1174939"/>
          </a:xfrm>
          <a:custGeom>
            <a:avLst/>
            <a:gdLst/>
            <a:ahLst/>
            <a:cxnLst/>
            <a:rect l="l" t="t" r="r" b="b"/>
            <a:pathLst>
              <a:path w="4538804" h="1174939">
                <a:moveTo>
                  <a:pt x="0" y="0"/>
                </a:moveTo>
                <a:lnTo>
                  <a:pt x="4538804" y="0"/>
                </a:lnTo>
                <a:lnTo>
                  <a:pt x="4538804" y="1174939"/>
                </a:lnTo>
                <a:lnTo>
                  <a:pt x="0" y="1174939"/>
                </a:lnTo>
                <a:lnTo>
                  <a:pt x="0" y="0"/>
                </a:lnTo>
                <a:close/>
              </a:path>
            </a:pathLst>
          </a:custGeom>
          <a:solidFill>
            <a:srgbClr val="DDFF00"/>
          </a:solidFill>
          <a:ln/>
        </p:spPr>
      </p:sp>
      <p:sp>
        <p:nvSpPr>
          <p:cNvPr id="50" name="Text 47"/>
          <p:cNvSpPr/>
          <p:nvPr/>
        </p:nvSpPr>
        <p:spPr>
          <a:xfrm>
            <a:off x="7455214" y="5669230"/>
            <a:ext cx="4353711" cy="225331"/>
          </a:xfrm>
          <a:prstGeom prst="rect">
            <a:avLst/>
          </a:prstGeom>
          <a:noFill/>
          <a:ln/>
        </p:spPr>
        <p:txBody>
          <a:bodyPr wrap="square" lIns="0" tIns="0" rIns="0" bIns="0" rtlCol="0" anchor="ctr"/>
          <a:lstStyle/>
          <a:p>
            <a:pPr>
              <a:lnSpc>
                <a:spcPct val="130000"/>
              </a:lnSpc>
            </a:pPr>
            <a:r>
              <a:rPr lang="en-US" sz="1141" b="1" dirty="0">
                <a:solidFill>
                  <a:srgbClr val="000000"/>
                </a:solidFill>
                <a:latin typeface="Liter" pitchFamily="34" charset="0"/>
                <a:ea typeface="Liter" pitchFamily="34" charset="-122"/>
                <a:cs typeface="Liter" pitchFamily="34" charset="-120"/>
              </a:rPr>
              <a:t>Diverse Influences</a:t>
            </a:r>
            <a:endParaRPr lang="en-US" sz="1600" dirty="0"/>
          </a:p>
        </p:txBody>
      </p:sp>
      <p:sp>
        <p:nvSpPr>
          <p:cNvPr id="51" name="Text 48"/>
          <p:cNvSpPr/>
          <p:nvPr/>
        </p:nvSpPr>
        <p:spPr>
          <a:xfrm>
            <a:off x="7455214" y="5958941"/>
            <a:ext cx="4345663" cy="627707"/>
          </a:xfrm>
          <a:prstGeom prst="rect">
            <a:avLst/>
          </a:prstGeom>
          <a:noFill/>
          <a:ln/>
        </p:spPr>
        <p:txBody>
          <a:bodyPr wrap="square" lIns="0" tIns="0" rIns="0" bIns="0" rtlCol="0" anchor="ctr"/>
          <a:lstStyle/>
          <a:p>
            <a:pPr>
              <a:lnSpc>
                <a:spcPct val="140000"/>
              </a:lnSpc>
            </a:pPr>
            <a:r>
              <a:rPr lang="en-US" sz="1014" dirty="0">
                <a:solidFill>
                  <a:srgbClr val="000000"/>
                </a:solidFill>
                <a:latin typeface="Liter" pitchFamily="34" charset="0"/>
                <a:ea typeface="Liter" pitchFamily="34" charset="-122"/>
                <a:cs typeface="Liter" pitchFamily="34" charset="-120"/>
              </a:rPr>
              <a:t>Indie revival bands drew from post-punk, new wave, garage rock, and even world music, creating a rich tapestry of sounds that proved rock's continued vitality.</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2" name="Image 0" descr="https://kimi-web-img.moonshot.cn/img/as2.ftcdn.net/b39f1a4ae8df3e9ae1d53a3e0c47194240e66d03.jpg">    </p:cNvPr>
          <p:cNvPicPr>
            <a:picLocks noChangeAspect="1"/>
          </p:cNvPicPr>
          <p:nvPr/>
        </p:nvPicPr>
        <p:blipFill>
          <a:blip r:embed="rId1">
            <a:alphaModFix amt="30000"/>
          </a:blip>
          <a:srcRect l="25022" r="25022"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76"/>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13"/>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1231" y="1638300"/>
            <a:ext cx="1200150"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08</a:t>
            </a:r>
            <a:endParaRPr lang="en-US" sz="1600" dirty="0"/>
          </a:p>
        </p:txBody>
      </p:sp>
      <p:sp>
        <p:nvSpPr>
          <p:cNvPr id="7" name="Shape 4"/>
          <p:cNvSpPr/>
          <p:nvPr/>
        </p:nvSpPr>
        <p:spPr>
          <a:xfrm>
            <a:off x="1828800" y="1752600"/>
            <a:ext cx="4743450" cy="38100"/>
          </a:xfrm>
          <a:custGeom>
            <a:avLst/>
            <a:gdLst/>
            <a:ahLst/>
            <a:cxnLst/>
            <a:rect l="l" t="t" r="r" b="b"/>
            <a:pathLst>
              <a:path w="4743450" h="38100">
                <a:moveTo>
                  <a:pt x="0" y="0"/>
                </a:moveTo>
                <a:lnTo>
                  <a:pt x="4743450" y="0"/>
                </a:lnTo>
                <a:lnTo>
                  <a:pt x="4743450" y="38100"/>
                </a:lnTo>
                <a:lnTo>
                  <a:pt x="0" y="38100"/>
                </a:lnTo>
                <a:lnTo>
                  <a:pt x="0" y="0"/>
                </a:lnTo>
                <a:close/>
              </a:path>
            </a:pathLst>
          </a:custGeom>
          <a:solidFill>
            <a:srgbClr val="DDFF00"/>
          </a:solidFill>
          <a:ln/>
        </p:spPr>
      </p:sp>
      <p:sp>
        <p:nvSpPr>
          <p:cNvPr id="8" name="Text 5"/>
          <p:cNvSpPr/>
          <p:nvPr/>
        </p:nvSpPr>
        <p:spPr>
          <a:xfrm>
            <a:off x="1828800" y="1943100"/>
            <a:ext cx="482917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EIGHT</a:t>
            </a:r>
            <a:endParaRPr lang="en-US" sz="1600" dirty="0"/>
          </a:p>
        </p:txBody>
      </p:sp>
      <p:sp>
        <p:nvSpPr>
          <p:cNvPr id="9" name="Text 6"/>
          <p:cNvSpPr/>
          <p:nvPr/>
        </p:nvSpPr>
        <p:spPr>
          <a:xfrm>
            <a:off x="381000" y="2895600"/>
            <a:ext cx="653415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LEGACY &amp;</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CULTURAL IMPACT</a:t>
            </a:r>
            <a:endParaRPr lang="en-US" sz="1600" dirty="0"/>
          </a:p>
        </p:txBody>
      </p:sp>
      <p:sp>
        <p:nvSpPr>
          <p:cNvPr id="10" name="Text 7"/>
          <p:cNvSpPr/>
          <p:nvPr/>
        </p:nvSpPr>
        <p:spPr>
          <a:xfrm>
            <a:off x="381000" y="4838700"/>
            <a:ext cx="630555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Rock's Enduring Influence on Music &amp; Culture</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3325813"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08</a:t>
            </a:r>
            <a:endParaRPr lang="en-US" sz="1600" dirty="0"/>
          </a:p>
        </p:txBody>
      </p:sp>
      <p:sp>
        <p:nvSpPr>
          <p:cNvPr id="4" name="Text 2"/>
          <p:cNvSpPr/>
          <p:nvPr/>
        </p:nvSpPr>
        <p:spPr>
          <a:xfrm>
            <a:off x="508000" y="476250"/>
            <a:ext cx="3413125"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Rock's Cultural Revolution</a:t>
            </a:r>
            <a:endParaRPr lang="en-US" sz="1600" dirty="0"/>
          </a:p>
        </p:txBody>
      </p:sp>
      <p:sp>
        <p:nvSpPr>
          <p:cNvPr id="5" name="Shape 3"/>
          <p:cNvSpPr/>
          <p:nvPr/>
        </p:nvSpPr>
        <p:spPr>
          <a:xfrm>
            <a:off x="317500" y="1047750"/>
            <a:ext cx="6818313" cy="1857375"/>
          </a:xfrm>
          <a:custGeom>
            <a:avLst/>
            <a:gdLst/>
            <a:ahLst/>
            <a:cxnLst/>
            <a:rect l="l" t="t" r="r" b="b"/>
            <a:pathLst>
              <a:path w="6818313" h="1857375">
                <a:moveTo>
                  <a:pt x="0" y="0"/>
                </a:moveTo>
                <a:lnTo>
                  <a:pt x="6818313" y="0"/>
                </a:lnTo>
                <a:lnTo>
                  <a:pt x="6818313" y="1857375"/>
                </a:lnTo>
                <a:lnTo>
                  <a:pt x="0" y="1857375"/>
                </a:lnTo>
                <a:lnTo>
                  <a:pt x="0" y="0"/>
                </a:lnTo>
                <a:close/>
              </a:path>
            </a:pathLst>
          </a:custGeom>
          <a:solidFill>
            <a:srgbClr val="DDFF00"/>
          </a:solidFill>
          <a:ln/>
        </p:spPr>
      </p:sp>
      <p:sp>
        <p:nvSpPr>
          <p:cNvPr id="6" name="Text 4"/>
          <p:cNvSpPr/>
          <p:nvPr/>
        </p:nvSpPr>
        <p:spPr>
          <a:xfrm>
            <a:off x="508000" y="1238250"/>
            <a:ext cx="653256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More Than Music</a:t>
            </a:r>
            <a:endParaRPr lang="en-US" sz="1600" dirty="0"/>
          </a:p>
        </p:txBody>
      </p:sp>
      <p:sp>
        <p:nvSpPr>
          <p:cNvPr id="7" name="Text 5"/>
          <p:cNvSpPr/>
          <p:nvPr/>
        </p:nvSpPr>
        <p:spPr>
          <a:xfrm>
            <a:off x="508000" y="1587500"/>
            <a:ext cx="65008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Rock music has been far more than just a genre—it's been a cultural force that shaped fashion, youth identity, social movements, and global culture.</a:t>
            </a:r>
            <a:pPr>
              <a:lnSpc>
                <a:spcPct val="140000"/>
              </a:lnSpc>
            </a:pPr>
            <a:r>
              <a:rPr lang="en-US" sz="1000" dirty="0">
                <a:solidFill>
                  <a:srgbClr val="000000"/>
                </a:solidFill>
                <a:latin typeface="Liter" pitchFamily="34" charset="0"/>
                <a:ea typeface="Liter" pitchFamily="34" charset="-122"/>
                <a:cs typeface="Liter" pitchFamily="34" charset="-120"/>
              </a:rPr>
              <a:t> From the rebellious spirit of the 1950s to the grunge revolution of the 1990s, rock has consistently challenged norms and given voice to generations seeking change.</a:t>
            </a:r>
            <a:endParaRPr lang="en-US" sz="1600" dirty="0"/>
          </a:p>
        </p:txBody>
      </p:sp>
      <p:sp>
        <p:nvSpPr>
          <p:cNvPr id="8" name="Text 6"/>
          <p:cNvSpPr/>
          <p:nvPr/>
        </p:nvSpPr>
        <p:spPr>
          <a:xfrm>
            <a:off x="508000" y="2301875"/>
            <a:ext cx="6500813" cy="41275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Rock became a symbol of freedom, rebellion, and self-expression. It broke down racial barriers, fueled countercultural movements, and provided the soundtrack for social revolution.</a:t>
            </a:r>
            <a:endParaRPr lang="en-US" sz="1600" dirty="0"/>
          </a:p>
        </p:txBody>
      </p:sp>
      <p:sp>
        <p:nvSpPr>
          <p:cNvPr id="9" name="Shape 7"/>
          <p:cNvSpPr/>
          <p:nvPr/>
        </p:nvSpPr>
        <p:spPr>
          <a:xfrm>
            <a:off x="325438" y="3040063"/>
            <a:ext cx="6802438" cy="3063875"/>
          </a:xfrm>
          <a:custGeom>
            <a:avLst/>
            <a:gdLst/>
            <a:ahLst/>
            <a:cxnLst/>
            <a:rect l="l" t="t" r="r" b="b"/>
            <a:pathLst>
              <a:path w="6802438" h="3063875">
                <a:moveTo>
                  <a:pt x="0" y="0"/>
                </a:moveTo>
                <a:lnTo>
                  <a:pt x="6802438" y="0"/>
                </a:lnTo>
                <a:lnTo>
                  <a:pt x="6802438" y="3063875"/>
                </a:lnTo>
                <a:lnTo>
                  <a:pt x="0" y="30638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206750"/>
            <a:ext cx="6548438"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Cultural Impact Areas</a:t>
            </a:r>
            <a:endParaRPr lang="en-US" sz="1600" dirty="0"/>
          </a:p>
        </p:txBody>
      </p:sp>
      <p:sp>
        <p:nvSpPr>
          <p:cNvPr id="11" name="Shape 9"/>
          <p:cNvSpPr/>
          <p:nvPr/>
        </p:nvSpPr>
        <p:spPr>
          <a:xfrm>
            <a:off x="496094" y="3559969"/>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12" name="Shape 10"/>
          <p:cNvSpPr/>
          <p:nvPr/>
        </p:nvSpPr>
        <p:spPr>
          <a:xfrm>
            <a:off x="629047" y="3730625"/>
            <a:ext cx="178594" cy="142875"/>
          </a:xfrm>
          <a:custGeom>
            <a:avLst/>
            <a:gdLst/>
            <a:ahLst/>
            <a:cxnLst/>
            <a:rect l="l" t="t" r="r" b="b"/>
            <a:pathLst>
              <a:path w="178594" h="142875">
                <a:moveTo>
                  <a:pt x="89353" y="31254"/>
                </a:moveTo>
                <a:cubicBezTo>
                  <a:pt x="101687" y="31254"/>
                  <a:pt x="111677" y="21264"/>
                  <a:pt x="111677" y="8930"/>
                </a:cubicBezTo>
                <a:lnTo>
                  <a:pt x="126606" y="8930"/>
                </a:lnTo>
                <a:cubicBezTo>
                  <a:pt x="131350" y="8930"/>
                  <a:pt x="135899" y="10799"/>
                  <a:pt x="139247" y="14148"/>
                </a:cubicBezTo>
                <a:lnTo>
                  <a:pt x="172343" y="47272"/>
                </a:lnTo>
                <a:cubicBezTo>
                  <a:pt x="175831" y="50760"/>
                  <a:pt x="175831" y="56424"/>
                  <a:pt x="172343" y="59913"/>
                </a:cubicBezTo>
                <a:lnTo>
                  <a:pt x="158195" y="74061"/>
                </a:lnTo>
                <a:cubicBezTo>
                  <a:pt x="154707" y="77549"/>
                  <a:pt x="149042" y="77549"/>
                  <a:pt x="145554" y="74061"/>
                </a:cubicBezTo>
                <a:lnTo>
                  <a:pt x="134001" y="62508"/>
                </a:lnTo>
                <a:lnTo>
                  <a:pt x="134001" y="125016"/>
                </a:lnTo>
                <a:cubicBezTo>
                  <a:pt x="134001" y="134866"/>
                  <a:pt x="125992" y="142875"/>
                  <a:pt x="116142" y="142875"/>
                </a:cubicBezTo>
                <a:lnTo>
                  <a:pt x="62564" y="142875"/>
                </a:lnTo>
                <a:cubicBezTo>
                  <a:pt x="52713" y="142875"/>
                  <a:pt x="44704" y="134866"/>
                  <a:pt x="44704" y="125016"/>
                </a:cubicBezTo>
                <a:lnTo>
                  <a:pt x="44704" y="62508"/>
                </a:lnTo>
                <a:lnTo>
                  <a:pt x="33151" y="74061"/>
                </a:lnTo>
                <a:cubicBezTo>
                  <a:pt x="29663" y="77549"/>
                  <a:pt x="23999" y="77549"/>
                  <a:pt x="20510" y="74061"/>
                </a:cubicBezTo>
                <a:lnTo>
                  <a:pt x="6390" y="59885"/>
                </a:lnTo>
                <a:cubicBezTo>
                  <a:pt x="2902" y="56397"/>
                  <a:pt x="2902" y="50732"/>
                  <a:pt x="6390" y="47244"/>
                </a:cubicBezTo>
                <a:lnTo>
                  <a:pt x="39486" y="14148"/>
                </a:lnTo>
                <a:cubicBezTo>
                  <a:pt x="42835" y="10799"/>
                  <a:pt x="47383" y="8930"/>
                  <a:pt x="52127" y="8930"/>
                </a:cubicBezTo>
                <a:lnTo>
                  <a:pt x="67056" y="8930"/>
                </a:lnTo>
                <a:cubicBezTo>
                  <a:pt x="67056" y="21264"/>
                  <a:pt x="77046" y="31254"/>
                  <a:pt x="89381" y="31254"/>
                </a:cubicBezTo>
                <a:close/>
              </a:path>
            </a:pathLst>
          </a:custGeom>
          <a:solidFill>
            <a:srgbClr val="DDFF00"/>
          </a:solidFill>
          <a:ln/>
        </p:spPr>
      </p:sp>
      <p:sp>
        <p:nvSpPr>
          <p:cNvPr id="13" name="Text 11"/>
          <p:cNvSpPr/>
          <p:nvPr/>
        </p:nvSpPr>
        <p:spPr>
          <a:xfrm>
            <a:off x="809625" y="3690937"/>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Fashion</a:t>
            </a:r>
            <a:endParaRPr lang="en-US" sz="1600" dirty="0"/>
          </a:p>
        </p:txBody>
      </p:sp>
      <p:sp>
        <p:nvSpPr>
          <p:cNvPr id="14" name="Text 12"/>
          <p:cNvSpPr/>
          <p:nvPr/>
        </p:nvSpPr>
        <p:spPr>
          <a:xfrm>
            <a:off x="627063" y="3976687"/>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From leather jackets and blue jeans to flannel shirts and ripped jeans, rock fashion became a universal language of rebellion and identity</a:t>
            </a:r>
            <a:endParaRPr lang="en-US" sz="1600" dirty="0"/>
          </a:p>
        </p:txBody>
      </p:sp>
      <p:sp>
        <p:nvSpPr>
          <p:cNvPr id="15" name="Shape 13"/>
          <p:cNvSpPr/>
          <p:nvPr/>
        </p:nvSpPr>
        <p:spPr>
          <a:xfrm>
            <a:off x="3794931" y="3559969"/>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16" name="Shape 14"/>
          <p:cNvSpPr/>
          <p:nvPr/>
        </p:nvSpPr>
        <p:spPr>
          <a:xfrm>
            <a:off x="3927884" y="3730625"/>
            <a:ext cx="178594" cy="142875"/>
          </a:xfrm>
          <a:custGeom>
            <a:avLst/>
            <a:gdLst/>
            <a:ahLst/>
            <a:cxnLst/>
            <a:rect l="l" t="t" r="r" b="b"/>
            <a:pathLst>
              <a:path w="178594" h="142875">
                <a:moveTo>
                  <a:pt x="89297" y="4465"/>
                </a:moveTo>
                <a:cubicBezTo>
                  <a:pt x="105314" y="4465"/>
                  <a:pt x="118318" y="17469"/>
                  <a:pt x="118318" y="33486"/>
                </a:cubicBezTo>
                <a:cubicBezTo>
                  <a:pt x="118318" y="49504"/>
                  <a:pt x="105314" y="62508"/>
                  <a:pt x="89297" y="62508"/>
                </a:cubicBezTo>
                <a:cubicBezTo>
                  <a:pt x="73279" y="62508"/>
                  <a:pt x="60275" y="49504"/>
                  <a:pt x="60275" y="33486"/>
                </a:cubicBezTo>
                <a:cubicBezTo>
                  <a:pt x="60275" y="17469"/>
                  <a:pt x="73279" y="4465"/>
                  <a:pt x="89297" y="4465"/>
                </a:cubicBezTo>
                <a:close/>
                <a:moveTo>
                  <a:pt x="26789" y="24557"/>
                </a:moveTo>
                <a:cubicBezTo>
                  <a:pt x="37878" y="24557"/>
                  <a:pt x="46881" y="33559"/>
                  <a:pt x="46881" y="44648"/>
                </a:cubicBezTo>
                <a:cubicBezTo>
                  <a:pt x="46881" y="55737"/>
                  <a:pt x="37878" y="64740"/>
                  <a:pt x="26789" y="64740"/>
                </a:cubicBezTo>
                <a:cubicBezTo>
                  <a:pt x="15700" y="64740"/>
                  <a:pt x="6697" y="55737"/>
                  <a:pt x="6697" y="44648"/>
                </a:cubicBezTo>
                <a:cubicBezTo>
                  <a:pt x="6697" y="33559"/>
                  <a:pt x="15700" y="24557"/>
                  <a:pt x="26789" y="24557"/>
                </a:cubicBezTo>
                <a:close/>
                <a:moveTo>
                  <a:pt x="0" y="116086"/>
                </a:moveTo>
                <a:cubicBezTo>
                  <a:pt x="0" y="96357"/>
                  <a:pt x="15990" y="80367"/>
                  <a:pt x="35719" y="80367"/>
                </a:cubicBezTo>
                <a:cubicBezTo>
                  <a:pt x="39291" y="80367"/>
                  <a:pt x="42751" y="80897"/>
                  <a:pt x="46016" y="81874"/>
                </a:cubicBezTo>
                <a:cubicBezTo>
                  <a:pt x="36835" y="92143"/>
                  <a:pt x="31254" y="105705"/>
                  <a:pt x="31254" y="120551"/>
                </a:cubicBezTo>
                <a:lnTo>
                  <a:pt x="31254" y="125016"/>
                </a:lnTo>
                <a:cubicBezTo>
                  <a:pt x="31254" y="128197"/>
                  <a:pt x="31924" y="131211"/>
                  <a:pt x="33124" y="133945"/>
                </a:cubicBezTo>
                <a:lnTo>
                  <a:pt x="8930" y="133945"/>
                </a:lnTo>
                <a:cubicBezTo>
                  <a:pt x="3990" y="133945"/>
                  <a:pt x="0" y="129955"/>
                  <a:pt x="0" y="125016"/>
                </a:cubicBezTo>
                <a:lnTo>
                  <a:pt x="0" y="116086"/>
                </a:lnTo>
                <a:close/>
                <a:moveTo>
                  <a:pt x="145470" y="133945"/>
                </a:moveTo>
                <a:cubicBezTo>
                  <a:pt x="146670" y="131211"/>
                  <a:pt x="147340" y="128197"/>
                  <a:pt x="147340" y="125016"/>
                </a:cubicBezTo>
                <a:lnTo>
                  <a:pt x="147340" y="120551"/>
                </a:lnTo>
                <a:cubicBezTo>
                  <a:pt x="147340" y="105705"/>
                  <a:pt x="141759" y="92143"/>
                  <a:pt x="132578" y="81874"/>
                </a:cubicBezTo>
                <a:cubicBezTo>
                  <a:pt x="135843" y="80897"/>
                  <a:pt x="139303" y="80367"/>
                  <a:pt x="142875" y="80367"/>
                </a:cubicBezTo>
                <a:cubicBezTo>
                  <a:pt x="162604" y="80367"/>
                  <a:pt x="178594" y="96357"/>
                  <a:pt x="178594" y="116086"/>
                </a:cubicBezTo>
                <a:lnTo>
                  <a:pt x="178594" y="125016"/>
                </a:lnTo>
                <a:cubicBezTo>
                  <a:pt x="178594" y="129955"/>
                  <a:pt x="174603" y="133945"/>
                  <a:pt x="169664" y="133945"/>
                </a:cubicBezTo>
                <a:lnTo>
                  <a:pt x="145470" y="133945"/>
                </a:lnTo>
                <a:close/>
                <a:moveTo>
                  <a:pt x="131713" y="44648"/>
                </a:moveTo>
                <a:cubicBezTo>
                  <a:pt x="131713" y="33559"/>
                  <a:pt x="140716" y="24557"/>
                  <a:pt x="151805" y="24557"/>
                </a:cubicBezTo>
                <a:cubicBezTo>
                  <a:pt x="162894" y="24557"/>
                  <a:pt x="171896" y="33559"/>
                  <a:pt x="171896" y="44648"/>
                </a:cubicBezTo>
                <a:cubicBezTo>
                  <a:pt x="171896" y="55737"/>
                  <a:pt x="162894" y="64740"/>
                  <a:pt x="151805" y="64740"/>
                </a:cubicBezTo>
                <a:cubicBezTo>
                  <a:pt x="140716" y="64740"/>
                  <a:pt x="131713" y="55737"/>
                  <a:pt x="131713" y="44648"/>
                </a:cubicBezTo>
                <a:close/>
                <a:moveTo>
                  <a:pt x="44648" y="120551"/>
                </a:moveTo>
                <a:cubicBezTo>
                  <a:pt x="44648" y="95883"/>
                  <a:pt x="64629" y="75902"/>
                  <a:pt x="89297" y="75902"/>
                </a:cubicBezTo>
                <a:cubicBezTo>
                  <a:pt x="113965" y="75902"/>
                  <a:pt x="133945" y="95883"/>
                  <a:pt x="133945" y="120551"/>
                </a:cubicBezTo>
                <a:lnTo>
                  <a:pt x="133945" y="125016"/>
                </a:lnTo>
                <a:cubicBezTo>
                  <a:pt x="133945" y="129955"/>
                  <a:pt x="129955" y="133945"/>
                  <a:pt x="125016" y="133945"/>
                </a:cubicBezTo>
                <a:lnTo>
                  <a:pt x="53578" y="133945"/>
                </a:lnTo>
                <a:cubicBezTo>
                  <a:pt x="48639" y="133945"/>
                  <a:pt x="44648" y="129955"/>
                  <a:pt x="44648" y="125016"/>
                </a:cubicBezTo>
                <a:lnTo>
                  <a:pt x="44648" y="120551"/>
                </a:lnTo>
                <a:close/>
              </a:path>
            </a:pathLst>
          </a:custGeom>
          <a:solidFill>
            <a:srgbClr val="DDFF00"/>
          </a:solidFill>
          <a:ln/>
        </p:spPr>
      </p:sp>
      <p:sp>
        <p:nvSpPr>
          <p:cNvPr id="17" name="Text 15"/>
          <p:cNvSpPr/>
          <p:nvPr/>
        </p:nvSpPr>
        <p:spPr>
          <a:xfrm>
            <a:off x="4108462" y="3690937"/>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Youth Culture</a:t>
            </a:r>
            <a:endParaRPr lang="en-US" sz="1600" dirty="0"/>
          </a:p>
        </p:txBody>
      </p:sp>
      <p:sp>
        <p:nvSpPr>
          <p:cNvPr id="18" name="Text 16"/>
          <p:cNvSpPr/>
          <p:nvPr/>
        </p:nvSpPr>
        <p:spPr>
          <a:xfrm>
            <a:off x="3925900" y="3976687"/>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Rock gave teenagers a voice and identity, creating generational bonds and empowering youth to challenge authority</a:t>
            </a:r>
            <a:endParaRPr lang="en-US" sz="1600" dirty="0"/>
          </a:p>
        </p:txBody>
      </p:sp>
      <p:sp>
        <p:nvSpPr>
          <p:cNvPr id="19" name="Shape 17"/>
          <p:cNvSpPr/>
          <p:nvPr/>
        </p:nvSpPr>
        <p:spPr>
          <a:xfrm>
            <a:off x="496094" y="4814094"/>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20" name="Shape 18"/>
          <p:cNvSpPr/>
          <p:nvPr/>
        </p:nvSpPr>
        <p:spPr>
          <a:xfrm>
            <a:off x="664766" y="4984750"/>
            <a:ext cx="107156" cy="142875"/>
          </a:xfrm>
          <a:custGeom>
            <a:avLst/>
            <a:gdLst/>
            <a:ahLst/>
            <a:cxnLst/>
            <a:rect l="l" t="t" r="r" b="b"/>
            <a:pathLst>
              <a:path w="107156" h="142875">
                <a:moveTo>
                  <a:pt x="44648" y="0"/>
                </a:moveTo>
                <a:cubicBezTo>
                  <a:pt x="49588" y="0"/>
                  <a:pt x="53578" y="3990"/>
                  <a:pt x="53578" y="8930"/>
                </a:cubicBezTo>
                <a:lnTo>
                  <a:pt x="53578" y="40184"/>
                </a:lnTo>
                <a:lnTo>
                  <a:pt x="35719" y="40184"/>
                </a:lnTo>
                <a:lnTo>
                  <a:pt x="35719" y="8930"/>
                </a:lnTo>
                <a:cubicBezTo>
                  <a:pt x="35719" y="3990"/>
                  <a:pt x="39709" y="0"/>
                  <a:pt x="44648" y="0"/>
                </a:cubicBezTo>
                <a:close/>
                <a:moveTo>
                  <a:pt x="8930" y="17859"/>
                </a:moveTo>
                <a:cubicBezTo>
                  <a:pt x="8930" y="12920"/>
                  <a:pt x="12920" y="8930"/>
                  <a:pt x="17859" y="8930"/>
                </a:cubicBezTo>
                <a:cubicBezTo>
                  <a:pt x="22799" y="8930"/>
                  <a:pt x="26789" y="12920"/>
                  <a:pt x="26789" y="17859"/>
                </a:cubicBezTo>
                <a:lnTo>
                  <a:pt x="26789" y="40184"/>
                </a:lnTo>
                <a:lnTo>
                  <a:pt x="8930" y="40184"/>
                </a:lnTo>
                <a:lnTo>
                  <a:pt x="8930" y="17859"/>
                </a:lnTo>
                <a:close/>
                <a:moveTo>
                  <a:pt x="62508" y="17859"/>
                </a:moveTo>
                <a:cubicBezTo>
                  <a:pt x="62508" y="12920"/>
                  <a:pt x="66498" y="8930"/>
                  <a:pt x="71438" y="8930"/>
                </a:cubicBezTo>
                <a:cubicBezTo>
                  <a:pt x="76377" y="8930"/>
                  <a:pt x="80367" y="12920"/>
                  <a:pt x="80367" y="17859"/>
                </a:cubicBezTo>
                <a:lnTo>
                  <a:pt x="80367" y="44648"/>
                </a:lnTo>
                <a:cubicBezTo>
                  <a:pt x="80367" y="49588"/>
                  <a:pt x="76377" y="53578"/>
                  <a:pt x="71438" y="53578"/>
                </a:cubicBezTo>
                <a:cubicBezTo>
                  <a:pt x="66498" y="53578"/>
                  <a:pt x="62508" y="49588"/>
                  <a:pt x="62508" y="44648"/>
                </a:cubicBezTo>
                <a:lnTo>
                  <a:pt x="62508" y="17859"/>
                </a:lnTo>
                <a:close/>
                <a:moveTo>
                  <a:pt x="89297" y="35719"/>
                </a:moveTo>
                <a:cubicBezTo>
                  <a:pt x="89297" y="30780"/>
                  <a:pt x="93287" y="26789"/>
                  <a:pt x="98227" y="26789"/>
                </a:cubicBezTo>
                <a:cubicBezTo>
                  <a:pt x="103166" y="26789"/>
                  <a:pt x="107156" y="30780"/>
                  <a:pt x="107156" y="35719"/>
                </a:cubicBezTo>
                <a:lnTo>
                  <a:pt x="107156" y="53578"/>
                </a:lnTo>
                <a:cubicBezTo>
                  <a:pt x="107156" y="58517"/>
                  <a:pt x="103166" y="62508"/>
                  <a:pt x="98227" y="62508"/>
                </a:cubicBezTo>
                <a:cubicBezTo>
                  <a:pt x="93287" y="62508"/>
                  <a:pt x="89297" y="58517"/>
                  <a:pt x="89297" y="53578"/>
                </a:cubicBezTo>
                <a:lnTo>
                  <a:pt x="89297" y="35719"/>
                </a:lnTo>
                <a:close/>
                <a:moveTo>
                  <a:pt x="62508" y="60275"/>
                </a:moveTo>
                <a:lnTo>
                  <a:pt x="62508" y="60108"/>
                </a:lnTo>
                <a:cubicBezTo>
                  <a:pt x="65131" y="61615"/>
                  <a:pt x="68173" y="62508"/>
                  <a:pt x="71438" y="62508"/>
                </a:cubicBezTo>
                <a:cubicBezTo>
                  <a:pt x="75121" y="62508"/>
                  <a:pt x="78525" y="61392"/>
                  <a:pt x="81372" y="59494"/>
                </a:cubicBezTo>
                <a:cubicBezTo>
                  <a:pt x="83800" y="66442"/>
                  <a:pt x="90441" y="71438"/>
                  <a:pt x="98227" y="71438"/>
                </a:cubicBezTo>
                <a:cubicBezTo>
                  <a:pt x="101491" y="71438"/>
                  <a:pt x="104533" y="70572"/>
                  <a:pt x="107156" y="69038"/>
                </a:cubicBezTo>
                <a:lnTo>
                  <a:pt x="107156" y="71438"/>
                </a:lnTo>
                <a:cubicBezTo>
                  <a:pt x="107156" y="86032"/>
                  <a:pt x="100152" y="99008"/>
                  <a:pt x="89297" y="107156"/>
                </a:cubicBezTo>
                <a:lnTo>
                  <a:pt x="89297" y="133945"/>
                </a:lnTo>
                <a:cubicBezTo>
                  <a:pt x="89297" y="138885"/>
                  <a:pt x="85306" y="142875"/>
                  <a:pt x="80367" y="142875"/>
                </a:cubicBezTo>
                <a:lnTo>
                  <a:pt x="35719" y="142875"/>
                </a:lnTo>
                <a:cubicBezTo>
                  <a:pt x="30780" y="142875"/>
                  <a:pt x="26789" y="138885"/>
                  <a:pt x="26789" y="133945"/>
                </a:cubicBezTo>
                <a:lnTo>
                  <a:pt x="26789" y="112068"/>
                </a:lnTo>
                <a:cubicBezTo>
                  <a:pt x="21961" y="109863"/>
                  <a:pt x="17525" y="106821"/>
                  <a:pt x="13701" y="102998"/>
                </a:cubicBezTo>
                <a:lnTo>
                  <a:pt x="10464" y="99761"/>
                </a:lnTo>
                <a:cubicBezTo>
                  <a:pt x="3767" y="93064"/>
                  <a:pt x="0" y="83967"/>
                  <a:pt x="0" y="74507"/>
                </a:cubicBezTo>
                <a:lnTo>
                  <a:pt x="0" y="66973"/>
                </a:lnTo>
                <a:cubicBezTo>
                  <a:pt x="0" y="57122"/>
                  <a:pt x="8009" y="49113"/>
                  <a:pt x="17859" y="49113"/>
                </a:cubicBezTo>
                <a:lnTo>
                  <a:pt x="42416" y="49113"/>
                </a:lnTo>
                <a:cubicBezTo>
                  <a:pt x="48583" y="49113"/>
                  <a:pt x="53578" y="54108"/>
                  <a:pt x="53578" y="60275"/>
                </a:cubicBezTo>
                <a:cubicBezTo>
                  <a:pt x="53578" y="66442"/>
                  <a:pt x="48583" y="71438"/>
                  <a:pt x="42416" y="71438"/>
                </a:cubicBezTo>
                <a:lnTo>
                  <a:pt x="26789" y="71438"/>
                </a:lnTo>
                <a:cubicBezTo>
                  <a:pt x="24333" y="71438"/>
                  <a:pt x="22324" y="73447"/>
                  <a:pt x="22324" y="75902"/>
                </a:cubicBezTo>
                <a:cubicBezTo>
                  <a:pt x="22324" y="78358"/>
                  <a:pt x="24333" y="80367"/>
                  <a:pt x="26789" y="80367"/>
                </a:cubicBezTo>
                <a:lnTo>
                  <a:pt x="42416" y="80367"/>
                </a:lnTo>
                <a:cubicBezTo>
                  <a:pt x="53522" y="80367"/>
                  <a:pt x="62508" y="71382"/>
                  <a:pt x="62508" y="60275"/>
                </a:cubicBezTo>
                <a:close/>
              </a:path>
            </a:pathLst>
          </a:custGeom>
          <a:solidFill>
            <a:srgbClr val="DDFF00"/>
          </a:solidFill>
          <a:ln/>
        </p:spPr>
      </p:sp>
      <p:sp>
        <p:nvSpPr>
          <p:cNvPr id="21" name="Text 19"/>
          <p:cNvSpPr/>
          <p:nvPr/>
        </p:nvSpPr>
        <p:spPr>
          <a:xfrm>
            <a:off x="809625" y="4945063"/>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Social Movements</a:t>
            </a:r>
            <a:endParaRPr lang="en-US" sz="1600" dirty="0"/>
          </a:p>
        </p:txBody>
      </p:sp>
      <p:sp>
        <p:nvSpPr>
          <p:cNvPr id="22" name="Text 20"/>
          <p:cNvSpPr/>
          <p:nvPr/>
        </p:nvSpPr>
        <p:spPr>
          <a:xfrm>
            <a:off x="627063" y="5230813"/>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Civil rights, anti-war protests, feminism—rock provided the soundtrack for social change and political activism</a:t>
            </a:r>
            <a:endParaRPr lang="en-US" sz="1600" dirty="0"/>
          </a:p>
        </p:txBody>
      </p:sp>
      <p:sp>
        <p:nvSpPr>
          <p:cNvPr id="23" name="Shape 21"/>
          <p:cNvSpPr/>
          <p:nvPr/>
        </p:nvSpPr>
        <p:spPr>
          <a:xfrm>
            <a:off x="3794931" y="4814094"/>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24" name="Shape 22"/>
          <p:cNvSpPr/>
          <p:nvPr/>
        </p:nvSpPr>
        <p:spPr>
          <a:xfrm>
            <a:off x="3945744" y="4984750"/>
            <a:ext cx="142875" cy="142875"/>
          </a:xfrm>
          <a:custGeom>
            <a:avLst/>
            <a:gdLst/>
            <a:ahLst/>
            <a:cxnLst/>
            <a:rect l="l" t="t" r="r" b="b"/>
            <a:pathLst>
              <a:path w="142875" h="142875">
                <a:moveTo>
                  <a:pt x="98199" y="78135"/>
                </a:moveTo>
                <a:lnTo>
                  <a:pt x="44927" y="78135"/>
                </a:lnTo>
                <a:cubicBezTo>
                  <a:pt x="45737" y="96134"/>
                  <a:pt x="49727" y="112709"/>
                  <a:pt x="55392" y="124848"/>
                </a:cubicBezTo>
                <a:cubicBezTo>
                  <a:pt x="58573" y="131685"/>
                  <a:pt x="62006" y="136513"/>
                  <a:pt x="65187" y="139471"/>
                </a:cubicBezTo>
                <a:cubicBezTo>
                  <a:pt x="68312" y="142401"/>
                  <a:pt x="70461" y="142875"/>
                  <a:pt x="71577" y="142875"/>
                </a:cubicBezTo>
                <a:cubicBezTo>
                  <a:pt x="72693" y="142875"/>
                  <a:pt x="74842" y="142401"/>
                  <a:pt x="77967" y="139471"/>
                </a:cubicBezTo>
                <a:cubicBezTo>
                  <a:pt x="81149" y="136513"/>
                  <a:pt x="84581" y="131657"/>
                  <a:pt x="87762" y="124848"/>
                </a:cubicBezTo>
                <a:cubicBezTo>
                  <a:pt x="93427" y="112709"/>
                  <a:pt x="97417" y="96134"/>
                  <a:pt x="98227" y="78135"/>
                </a:cubicBezTo>
                <a:close/>
                <a:moveTo>
                  <a:pt x="44900" y="64740"/>
                </a:moveTo>
                <a:lnTo>
                  <a:pt x="98171" y="64740"/>
                </a:lnTo>
                <a:cubicBezTo>
                  <a:pt x="97389" y="46741"/>
                  <a:pt x="93399" y="30166"/>
                  <a:pt x="87734" y="18027"/>
                </a:cubicBezTo>
                <a:cubicBezTo>
                  <a:pt x="84553" y="11218"/>
                  <a:pt x="81121" y="6362"/>
                  <a:pt x="77939" y="3404"/>
                </a:cubicBezTo>
                <a:cubicBezTo>
                  <a:pt x="74814" y="474"/>
                  <a:pt x="72665" y="0"/>
                  <a:pt x="71549" y="0"/>
                </a:cubicBezTo>
                <a:cubicBezTo>
                  <a:pt x="70433" y="0"/>
                  <a:pt x="68284" y="474"/>
                  <a:pt x="65159" y="3404"/>
                </a:cubicBezTo>
                <a:cubicBezTo>
                  <a:pt x="61978" y="6362"/>
                  <a:pt x="58545" y="11218"/>
                  <a:pt x="55364" y="18027"/>
                </a:cubicBezTo>
                <a:cubicBezTo>
                  <a:pt x="49699" y="30166"/>
                  <a:pt x="45709" y="46741"/>
                  <a:pt x="44900" y="64740"/>
                </a:cubicBezTo>
                <a:close/>
                <a:moveTo>
                  <a:pt x="31505" y="64740"/>
                </a:moveTo>
                <a:cubicBezTo>
                  <a:pt x="32482" y="40853"/>
                  <a:pt x="38649" y="18669"/>
                  <a:pt x="47662" y="4102"/>
                </a:cubicBezTo>
                <a:cubicBezTo>
                  <a:pt x="21961" y="13199"/>
                  <a:pt x="3042" y="36612"/>
                  <a:pt x="419" y="64740"/>
                </a:cubicBezTo>
                <a:lnTo>
                  <a:pt x="31505" y="64740"/>
                </a:lnTo>
                <a:close/>
                <a:moveTo>
                  <a:pt x="419" y="78135"/>
                </a:moveTo>
                <a:cubicBezTo>
                  <a:pt x="3042" y="106263"/>
                  <a:pt x="21961" y="129676"/>
                  <a:pt x="47662" y="138773"/>
                </a:cubicBezTo>
                <a:cubicBezTo>
                  <a:pt x="38649" y="124206"/>
                  <a:pt x="32482" y="102022"/>
                  <a:pt x="31505" y="78135"/>
                </a:cubicBezTo>
                <a:lnTo>
                  <a:pt x="419" y="78135"/>
                </a:lnTo>
                <a:close/>
                <a:moveTo>
                  <a:pt x="111593" y="78135"/>
                </a:moveTo>
                <a:cubicBezTo>
                  <a:pt x="110617" y="102022"/>
                  <a:pt x="104449" y="124206"/>
                  <a:pt x="95436" y="138773"/>
                </a:cubicBezTo>
                <a:cubicBezTo>
                  <a:pt x="121137" y="129648"/>
                  <a:pt x="140057" y="106263"/>
                  <a:pt x="142680" y="78135"/>
                </a:cubicBezTo>
                <a:lnTo>
                  <a:pt x="111593" y="78135"/>
                </a:lnTo>
                <a:close/>
                <a:moveTo>
                  <a:pt x="142680" y="64740"/>
                </a:moveTo>
                <a:cubicBezTo>
                  <a:pt x="140057" y="36612"/>
                  <a:pt x="121137" y="13199"/>
                  <a:pt x="95436" y="4102"/>
                </a:cubicBezTo>
                <a:cubicBezTo>
                  <a:pt x="104449" y="18669"/>
                  <a:pt x="110617" y="40853"/>
                  <a:pt x="111593" y="64740"/>
                </a:cubicBezTo>
                <a:lnTo>
                  <a:pt x="142680" y="64740"/>
                </a:lnTo>
                <a:close/>
              </a:path>
            </a:pathLst>
          </a:custGeom>
          <a:solidFill>
            <a:srgbClr val="DDFF00"/>
          </a:solidFill>
          <a:ln/>
        </p:spPr>
      </p:sp>
      <p:sp>
        <p:nvSpPr>
          <p:cNvPr id="25" name="Text 23"/>
          <p:cNvSpPr/>
          <p:nvPr/>
        </p:nvSpPr>
        <p:spPr>
          <a:xfrm>
            <a:off x="4108462" y="4945063"/>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Global Influence</a:t>
            </a:r>
            <a:endParaRPr lang="en-US" sz="1600" dirty="0"/>
          </a:p>
        </p:txBody>
      </p:sp>
      <p:sp>
        <p:nvSpPr>
          <p:cNvPr id="26" name="Text 24"/>
          <p:cNvSpPr/>
          <p:nvPr/>
        </p:nvSpPr>
        <p:spPr>
          <a:xfrm>
            <a:off x="3925900" y="5230813"/>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Rock transcended borders, creating a universal language that connected people across cultures and continents</a:t>
            </a:r>
            <a:endParaRPr lang="en-US" sz="1600" dirty="0"/>
          </a:p>
        </p:txBody>
      </p:sp>
      <p:sp>
        <p:nvSpPr>
          <p:cNvPr id="27" name="Shape 25"/>
          <p:cNvSpPr/>
          <p:nvPr/>
        </p:nvSpPr>
        <p:spPr>
          <a:xfrm>
            <a:off x="321469"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28" name="Shape 26"/>
          <p:cNvSpPr/>
          <p:nvPr/>
        </p:nvSpPr>
        <p:spPr>
          <a:xfrm>
            <a:off x="1039006" y="6342063"/>
            <a:ext cx="190500" cy="190500"/>
          </a:xfrm>
          <a:custGeom>
            <a:avLst/>
            <a:gdLst/>
            <a:ahLst/>
            <a:cxnLst/>
            <a:rect l="l" t="t" r="r" b="b"/>
            <a:pathLst>
              <a:path w="190500" h="190500">
                <a:moveTo>
                  <a:pt x="174129" y="2604"/>
                </a:moveTo>
                <a:cubicBezTo>
                  <a:pt x="176957" y="4874"/>
                  <a:pt x="178594" y="8297"/>
                  <a:pt x="178594" y="11906"/>
                </a:cubicBezTo>
                <a:lnTo>
                  <a:pt x="178594" y="125016"/>
                </a:lnTo>
                <a:cubicBezTo>
                  <a:pt x="178594" y="141461"/>
                  <a:pt x="162595" y="154781"/>
                  <a:pt x="142875" y="154781"/>
                </a:cubicBezTo>
                <a:cubicBezTo>
                  <a:pt x="123155" y="154781"/>
                  <a:pt x="107156" y="141461"/>
                  <a:pt x="107156" y="125016"/>
                </a:cubicBezTo>
                <a:cubicBezTo>
                  <a:pt x="107156" y="108570"/>
                  <a:pt x="123155" y="95250"/>
                  <a:pt x="142875" y="95250"/>
                </a:cubicBezTo>
                <a:cubicBezTo>
                  <a:pt x="147042" y="95250"/>
                  <a:pt x="151061" y="95845"/>
                  <a:pt x="154781" y="96962"/>
                </a:cubicBezTo>
                <a:lnTo>
                  <a:pt x="154781" y="53541"/>
                </a:lnTo>
                <a:lnTo>
                  <a:pt x="71438" y="72070"/>
                </a:lnTo>
                <a:lnTo>
                  <a:pt x="71438" y="148828"/>
                </a:lnTo>
                <a:cubicBezTo>
                  <a:pt x="71438" y="165274"/>
                  <a:pt x="55438" y="178594"/>
                  <a:pt x="35719" y="178594"/>
                </a:cubicBezTo>
                <a:cubicBezTo>
                  <a:pt x="15999" y="178594"/>
                  <a:pt x="0" y="165274"/>
                  <a:pt x="0" y="148828"/>
                </a:cubicBezTo>
                <a:cubicBezTo>
                  <a:pt x="0" y="132383"/>
                  <a:pt x="15999" y="119063"/>
                  <a:pt x="35719" y="119063"/>
                </a:cubicBezTo>
                <a:cubicBezTo>
                  <a:pt x="39886" y="119063"/>
                  <a:pt x="43904" y="119658"/>
                  <a:pt x="47625" y="120774"/>
                </a:cubicBezTo>
                <a:lnTo>
                  <a:pt x="47625" y="35719"/>
                </a:lnTo>
                <a:cubicBezTo>
                  <a:pt x="47625" y="30138"/>
                  <a:pt x="51495" y="25301"/>
                  <a:pt x="56964" y="24110"/>
                </a:cubicBezTo>
                <a:lnTo>
                  <a:pt x="164120" y="298"/>
                </a:lnTo>
                <a:cubicBezTo>
                  <a:pt x="167655" y="-484"/>
                  <a:pt x="171338" y="372"/>
                  <a:pt x="174166" y="2642"/>
                </a:cubicBezTo>
                <a:close/>
              </a:path>
            </a:pathLst>
          </a:custGeom>
          <a:solidFill>
            <a:srgbClr val="DDFF00"/>
          </a:solidFill>
          <a:ln/>
        </p:spPr>
      </p:sp>
      <p:sp>
        <p:nvSpPr>
          <p:cNvPr id="29" name="Text 27"/>
          <p:cNvSpPr/>
          <p:nvPr/>
        </p:nvSpPr>
        <p:spPr>
          <a:xfrm>
            <a:off x="392906"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Influenced All Genres</a:t>
            </a:r>
            <a:endParaRPr lang="en-US" sz="1600" dirty="0"/>
          </a:p>
        </p:txBody>
      </p:sp>
      <p:sp>
        <p:nvSpPr>
          <p:cNvPr id="30" name="Shape 28"/>
          <p:cNvSpPr/>
          <p:nvPr/>
        </p:nvSpPr>
        <p:spPr>
          <a:xfrm>
            <a:off x="2050231"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31" name="Shape 29"/>
          <p:cNvSpPr/>
          <p:nvPr/>
        </p:nvSpPr>
        <p:spPr>
          <a:xfrm>
            <a:off x="2779675" y="6342063"/>
            <a:ext cx="166688" cy="190500"/>
          </a:xfrm>
          <a:custGeom>
            <a:avLst/>
            <a:gdLst/>
            <a:ahLst/>
            <a:cxnLst/>
            <a:rect l="l" t="t" r="r" b="b"/>
            <a:pathLst>
              <a:path w="166688" h="190500">
                <a:moveTo>
                  <a:pt x="71438" y="0"/>
                </a:moveTo>
                <a:cubicBezTo>
                  <a:pt x="78023" y="0"/>
                  <a:pt x="83344" y="5321"/>
                  <a:pt x="83344" y="11906"/>
                </a:cubicBezTo>
                <a:lnTo>
                  <a:pt x="83344" y="89297"/>
                </a:lnTo>
                <a:lnTo>
                  <a:pt x="59531" y="89297"/>
                </a:lnTo>
                <a:lnTo>
                  <a:pt x="59531" y="11906"/>
                </a:lnTo>
                <a:cubicBezTo>
                  <a:pt x="59531" y="5321"/>
                  <a:pt x="64852" y="0"/>
                  <a:pt x="71438" y="0"/>
                </a:cubicBezTo>
                <a:close/>
                <a:moveTo>
                  <a:pt x="107156" y="59531"/>
                </a:moveTo>
                <a:cubicBezTo>
                  <a:pt x="113742" y="59531"/>
                  <a:pt x="119063" y="64852"/>
                  <a:pt x="119063" y="71438"/>
                </a:cubicBezTo>
                <a:lnTo>
                  <a:pt x="119063" y="95250"/>
                </a:lnTo>
                <a:cubicBezTo>
                  <a:pt x="119063" y="101836"/>
                  <a:pt x="113742" y="107156"/>
                  <a:pt x="107156" y="107156"/>
                </a:cubicBezTo>
                <a:cubicBezTo>
                  <a:pt x="100571" y="107156"/>
                  <a:pt x="95250" y="101836"/>
                  <a:pt x="95250" y="95250"/>
                </a:cubicBezTo>
                <a:lnTo>
                  <a:pt x="95250" y="71438"/>
                </a:lnTo>
                <a:cubicBezTo>
                  <a:pt x="95250" y="64852"/>
                  <a:pt x="100571" y="59531"/>
                  <a:pt x="107156" y="59531"/>
                </a:cubicBezTo>
                <a:close/>
                <a:moveTo>
                  <a:pt x="130969" y="83344"/>
                </a:moveTo>
                <a:cubicBezTo>
                  <a:pt x="130969" y="76758"/>
                  <a:pt x="136289" y="71438"/>
                  <a:pt x="142875" y="71438"/>
                </a:cubicBezTo>
                <a:cubicBezTo>
                  <a:pt x="149461" y="71438"/>
                  <a:pt x="154781" y="76758"/>
                  <a:pt x="154781" y="83344"/>
                </a:cubicBezTo>
                <a:lnTo>
                  <a:pt x="154781" y="107156"/>
                </a:lnTo>
                <a:cubicBezTo>
                  <a:pt x="154781" y="113742"/>
                  <a:pt x="149461" y="119063"/>
                  <a:pt x="142875" y="119063"/>
                </a:cubicBezTo>
                <a:cubicBezTo>
                  <a:pt x="136289" y="119063"/>
                  <a:pt x="130969" y="113742"/>
                  <a:pt x="130969" y="107156"/>
                </a:cubicBezTo>
                <a:lnTo>
                  <a:pt x="130969" y="83344"/>
                </a:lnTo>
                <a:close/>
                <a:moveTo>
                  <a:pt x="22808" y="19050"/>
                </a:moveTo>
                <a:lnTo>
                  <a:pt x="53541" y="89297"/>
                </a:lnTo>
                <a:lnTo>
                  <a:pt x="27570" y="89297"/>
                </a:lnTo>
                <a:lnTo>
                  <a:pt x="1005" y="28575"/>
                </a:lnTo>
                <a:cubicBezTo>
                  <a:pt x="-1637" y="22547"/>
                  <a:pt x="1116" y="15553"/>
                  <a:pt x="7144" y="12911"/>
                </a:cubicBezTo>
                <a:cubicBezTo>
                  <a:pt x="13171" y="10269"/>
                  <a:pt x="20166" y="13022"/>
                  <a:pt x="22808" y="19050"/>
                </a:cubicBezTo>
                <a:close/>
                <a:moveTo>
                  <a:pt x="32854" y="101389"/>
                </a:moveTo>
                <a:lnTo>
                  <a:pt x="32779" y="101203"/>
                </a:lnTo>
                <a:lnTo>
                  <a:pt x="68461" y="101203"/>
                </a:lnTo>
                <a:cubicBezTo>
                  <a:pt x="76684" y="101203"/>
                  <a:pt x="83344" y="107863"/>
                  <a:pt x="83344" y="116086"/>
                </a:cubicBezTo>
                <a:cubicBezTo>
                  <a:pt x="83344" y="124309"/>
                  <a:pt x="76684" y="130969"/>
                  <a:pt x="68461" y="130969"/>
                </a:cubicBezTo>
                <a:lnTo>
                  <a:pt x="47625" y="130969"/>
                </a:lnTo>
                <a:cubicBezTo>
                  <a:pt x="44351" y="130969"/>
                  <a:pt x="41672" y="133648"/>
                  <a:pt x="41672" y="136922"/>
                </a:cubicBezTo>
                <a:cubicBezTo>
                  <a:pt x="41672" y="140196"/>
                  <a:pt x="44351" y="142875"/>
                  <a:pt x="47625" y="142875"/>
                </a:cubicBezTo>
                <a:lnTo>
                  <a:pt x="68461" y="142875"/>
                </a:lnTo>
                <a:cubicBezTo>
                  <a:pt x="83269" y="142875"/>
                  <a:pt x="95250" y="130894"/>
                  <a:pt x="95250" y="116086"/>
                </a:cubicBezTo>
                <a:lnTo>
                  <a:pt x="95250" y="115863"/>
                </a:lnTo>
                <a:cubicBezTo>
                  <a:pt x="98747" y="117872"/>
                  <a:pt x="102803" y="119063"/>
                  <a:pt x="107156" y="119063"/>
                </a:cubicBezTo>
                <a:cubicBezTo>
                  <a:pt x="112068" y="119063"/>
                  <a:pt x="116607" y="117574"/>
                  <a:pt x="120402" y="115044"/>
                </a:cubicBezTo>
                <a:cubicBezTo>
                  <a:pt x="123639" y="124309"/>
                  <a:pt x="132494" y="130969"/>
                  <a:pt x="142875" y="130969"/>
                </a:cubicBezTo>
                <a:cubicBezTo>
                  <a:pt x="147228" y="130969"/>
                  <a:pt x="151284" y="129815"/>
                  <a:pt x="154781" y="127769"/>
                </a:cubicBezTo>
                <a:lnTo>
                  <a:pt x="154781" y="130969"/>
                </a:lnTo>
                <a:cubicBezTo>
                  <a:pt x="154781" y="163860"/>
                  <a:pt x="128141" y="190500"/>
                  <a:pt x="95250" y="190500"/>
                </a:cubicBezTo>
                <a:lnTo>
                  <a:pt x="72293" y="190500"/>
                </a:lnTo>
                <a:cubicBezTo>
                  <a:pt x="56517" y="190500"/>
                  <a:pt x="41374" y="184212"/>
                  <a:pt x="30212" y="173050"/>
                </a:cubicBezTo>
                <a:lnTo>
                  <a:pt x="25859" y="168734"/>
                </a:lnTo>
                <a:cubicBezTo>
                  <a:pt x="16929" y="159804"/>
                  <a:pt x="11906" y="147675"/>
                  <a:pt x="11906" y="135062"/>
                </a:cubicBezTo>
                <a:lnTo>
                  <a:pt x="11906" y="125016"/>
                </a:lnTo>
                <a:cubicBezTo>
                  <a:pt x="11906" y="112849"/>
                  <a:pt x="21059" y="102803"/>
                  <a:pt x="32854" y="101389"/>
                </a:cubicBezTo>
                <a:close/>
              </a:path>
            </a:pathLst>
          </a:custGeom>
          <a:solidFill>
            <a:srgbClr val="DDFF00"/>
          </a:solidFill>
          <a:ln/>
        </p:spPr>
      </p:sp>
      <p:sp>
        <p:nvSpPr>
          <p:cNvPr id="32" name="Text 30"/>
          <p:cNvSpPr/>
          <p:nvPr/>
        </p:nvSpPr>
        <p:spPr>
          <a:xfrm>
            <a:off x="2121669"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Symbol of Freedom</a:t>
            </a:r>
            <a:endParaRPr lang="en-US" sz="1600" dirty="0"/>
          </a:p>
        </p:txBody>
      </p:sp>
      <p:sp>
        <p:nvSpPr>
          <p:cNvPr id="33" name="Shape 31"/>
          <p:cNvSpPr/>
          <p:nvPr/>
        </p:nvSpPr>
        <p:spPr>
          <a:xfrm>
            <a:off x="3779056"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34" name="Shape 32"/>
          <p:cNvSpPr/>
          <p:nvPr/>
        </p:nvSpPr>
        <p:spPr>
          <a:xfrm>
            <a:off x="4496594" y="6342063"/>
            <a:ext cx="190500" cy="190500"/>
          </a:xfrm>
          <a:custGeom>
            <a:avLst/>
            <a:gdLst/>
            <a:ahLst/>
            <a:cxnLst/>
            <a:rect l="l" t="t" r="r" b="b"/>
            <a:pathLst>
              <a:path w="190500" h="190500">
                <a:moveTo>
                  <a:pt x="89669" y="32407"/>
                </a:moveTo>
                <a:lnTo>
                  <a:pt x="95250" y="40109"/>
                </a:lnTo>
                <a:lnTo>
                  <a:pt x="100831" y="32407"/>
                </a:lnTo>
                <a:cubicBezTo>
                  <a:pt x="110133" y="19534"/>
                  <a:pt x="125090" y="11906"/>
                  <a:pt x="140977" y="11906"/>
                </a:cubicBezTo>
                <a:cubicBezTo>
                  <a:pt x="168325" y="11906"/>
                  <a:pt x="190500" y="34082"/>
                  <a:pt x="190500" y="61429"/>
                </a:cubicBezTo>
                <a:lnTo>
                  <a:pt x="190500" y="62396"/>
                </a:lnTo>
                <a:cubicBezTo>
                  <a:pt x="190500" y="104142"/>
                  <a:pt x="138447" y="152623"/>
                  <a:pt x="111286" y="173348"/>
                </a:cubicBezTo>
                <a:cubicBezTo>
                  <a:pt x="106673" y="176845"/>
                  <a:pt x="101017" y="178594"/>
                  <a:pt x="95250" y="178594"/>
                </a:cubicBezTo>
                <a:cubicBezTo>
                  <a:pt x="89483" y="178594"/>
                  <a:pt x="83790" y="176882"/>
                  <a:pt x="79214" y="173348"/>
                </a:cubicBezTo>
                <a:cubicBezTo>
                  <a:pt x="52053" y="152623"/>
                  <a:pt x="0" y="104142"/>
                  <a:pt x="0" y="62396"/>
                </a:cubicBezTo>
                <a:lnTo>
                  <a:pt x="0" y="61429"/>
                </a:lnTo>
                <a:cubicBezTo>
                  <a:pt x="0" y="34082"/>
                  <a:pt x="22175" y="11906"/>
                  <a:pt x="49523" y="11906"/>
                </a:cubicBezTo>
                <a:cubicBezTo>
                  <a:pt x="65410" y="11906"/>
                  <a:pt x="80367" y="19534"/>
                  <a:pt x="89669" y="32407"/>
                </a:cubicBezTo>
                <a:close/>
              </a:path>
            </a:pathLst>
          </a:custGeom>
          <a:solidFill>
            <a:srgbClr val="DDFF00"/>
          </a:solidFill>
          <a:ln/>
        </p:spPr>
      </p:sp>
      <p:sp>
        <p:nvSpPr>
          <p:cNvPr id="35" name="Text 33"/>
          <p:cNvSpPr/>
          <p:nvPr/>
        </p:nvSpPr>
        <p:spPr>
          <a:xfrm>
            <a:off x="3850494"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Emotional Connection</a:t>
            </a:r>
            <a:endParaRPr lang="en-US" sz="1600" dirty="0"/>
          </a:p>
        </p:txBody>
      </p:sp>
      <p:sp>
        <p:nvSpPr>
          <p:cNvPr id="36" name="Shape 34"/>
          <p:cNvSpPr/>
          <p:nvPr/>
        </p:nvSpPr>
        <p:spPr>
          <a:xfrm>
            <a:off x="5507819"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37" name="Shape 35"/>
          <p:cNvSpPr/>
          <p:nvPr/>
        </p:nvSpPr>
        <p:spPr>
          <a:xfrm>
            <a:off x="6201544" y="6342063"/>
            <a:ext cx="238125" cy="190500"/>
          </a:xfrm>
          <a:custGeom>
            <a:avLst/>
            <a:gdLst/>
            <a:ahLst/>
            <a:cxnLst/>
            <a:rect l="l" t="t" r="r" b="b"/>
            <a:pathLst>
              <a:path w="238125" h="190500">
                <a:moveTo>
                  <a:pt x="0" y="95250"/>
                </a:moveTo>
                <a:cubicBezTo>
                  <a:pt x="0" y="62359"/>
                  <a:pt x="26640" y="35719"/>
                  <a:pt x="59531" y="35719"/>
                </a:cubicBezTo>
                <a:cubicBezTo>
                  <a:pt x="78284" y="35719"/>
                  <a:pt x="95920" y="44537"/>
                  <a:pt x="107156" y="59531"/>
                </a:cubicBezTo>
                <a:lnTo>
                  <a:pt x="119063" y="75419"/>
                </a:lnTo>
                <a:lnTo>
                  <a:pt x="130969" y="59531"/>
                </a:lnTo>
                <a:cubicBezTo>
                  <a:pt x="142205" y="44537"/>
                  <a:pt x="159841" y="35719"/>
                  <a:pt x="178594" y="35719"/>
                </a:cubicBezTo>
                <a:cubicBezTo>
                  <a:pt x="211485" y="35719"/>
                  <a:pt x="238125" y="62359"/>
                  <a:pt x="238125" y="95250"/>
                </a:cubicBezTo>
                <a:cubicBezTo>
                  <a:pt x="238125" y="128141"/>
                  <a:pt x="211485" y="154781"/>
                  <a:pt x="178594" y="154781"/>
                </a:cubicBezTo>
                <a:cubicBezTo>
                  <a:pt x="159841" y="154781"/>
                  <a:pt x="142205" y="145963"/>
                  <a:pt x="130969" y="130969"/>
                </a:cubicBezTo>
                <a:lnTo>
                  <a:pt x="119063" y="115081"/>
                </a:lnTo>
                <a:lnTo>
                  <a:pt x="107156" y="130969"/>
                </a:lnTo>
                <a:cubicBezTo>
                  <a:pt x="95920" y="145963"/>
                  <a:pt x="78284" y="154781"/>
                  <a:pt x="59531" y="154781"/>
                </a:cubicBezTo>
                <a:cubicBezTo>
                  <a:pt x="26640" y="154781"/>
                  <a:pt x="0" y="128141"/>
                  <a:pt x="0" y="95250"/>
                </a:cubicBezTo>
                <a:close/>
                <a:moveTo>
                  <a:pt x="104180" y="95250"/>
                </a:moveTo>
                <a:lnTo>
                  <a:pt x="88106" y="73819"/>
                </a:lnTo>
                <a:cubicBezTo>
                  <a:pt x="81372" y="64815"/>
                  <a:pt x="70768" y="59531"/>
                  <a:pt x="59531" y="59531"/>
                </a:cubicBezTo>
                <a:cubicBezTo>
                  <a:pt x="39812" y="59531"/>
                  <a:pt x="23812" y="75530"/>
                  <a:pt x="23812" y="95250"/>
                </a:cubicBezTo>
                <a:cubicBezTo>
                  <a:pt x="23812" y="114970"/>
                  <a:pt x="39812" y="130969"/>
                  <a:pt x="59531" y="130969"/>
                </a:cubicBezTo>
                <a:cubicBezTo>
                  <a:pt x="70768" y="130969"/>
                  <a:pt x="81372" y="125685"/>
                  <a:pt x="88106" y="116681"/>
                </a:cubicBezTo>
                <a:lnTo>
                  <a:pt x="104180" y="95250"/>
                </a:lnTo>
                <a:close/>
                <a:moveTo>
                  <a:pt x="133945" y="95250"/>
                </a:moveTo>
                <a:lnTo>
                  <a:pt x="150019" y="116681"/>
                </a:lnTo>
                <a:cubicBezTo>
                  <a:pt x="156753" y="125685"/>
                  <a:pt x="167357" y="130969"/>
                  <a:pt x="178594" y="130969"/>
                </a:cubicBezTo>
                <a:cubicBezTo>
                  <a:pt x="198313" y="130969"/>
                  <a:pt x="214313" y="114970"/>
                  <a:pt x="214313" y="95250"/>
                </a:cubicBezTo>
                <a:cubicBezTo>
                  <a:pt x="214313" y="75530"/>
                  <a:pt x="198313" y="59531"/>
                  <a:pt x="178594" y="59531"/>
                </a:cubicBezTo>
                <a:cubicBezTo>
                  <a:pt x="167357" y="59531"/>
                  <a:pt x="156753" y="64815"/>
                  <a:pt x="150019" y="73819"/>
                </a:cubicBezTo>
                <a:lnTo>
                  <a:pt x="133945" y="95250"/>
                </a:lnTo>
                <a:close/>
              </a:path>
            </a:pathLst>
          </a:custGeom>
          <a:solidFill>
            <a:srgbClr val="DDFF00"/>
          </a:solidFill>
          <a:ln/>
        </p:spPr>
      </p:sp>
      <p:sp>
        <p:nvSpPr>
          <p:cNvPr id="38" name="Text 36"/>
          <p:cNvSpPr/>
          <p:nvPr/>
        </p:nvSpPr>
        <p:spPr>
          <a:xfrm>
            <a:off x="5579256"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Timeless Legacy</a:t>
            </a:r>
            <a:endParaRPr lang="en-US" sz="1600" dirty="0"/>
          </a:p>
        </p:txBody>
      </p:sp>
      <p:pic>
        <p:nvPicPr>
          <p:cNvPr id="39" name="Image 0" descr="https://kimi-web-img.moonshot.cn/img/as2.ftcdn.net/b39f1a4ae8df3e9ae1d53a3e0c47194240e66d03.jpg">    </p:cNvPr>
          <p:cNvPicPr>
            <a:picLocks noChangeAspect="1"/>
          </p:cNvPicPr>
          <p:nvPr/>
        </p:nvPicPr>
        <p:blipFill>
          <a:blip r:embed="rId1"/>
          <a:srcRect l="30647" r="30647" t="0" b="0"/>
          <a:stretch/>
        </p:blipFill>
        <p:spPr>
          <a:xfrm>
            <a:off x="7327925" y="1047750"/>
            <a:ext cx="4548188" cy="3302000"/>
          </a:xfrm>
          <a:prstGeom prst="roundRect">
            <a:avLst>
              <a:gd name="adj" fmla="val 0"/>
            </a:avLst>
          </a:prstGeom>
        </p:spPr>
      </p:pic>
      <p:sp>
        <p:nvSpPr>
          <p:cNvPr id="40" name="Shape 37"/>
          <p:cNvSpPr/>
          <p:nvPr/>
        </p:nvSpPr>
        <p:spPr>
          <a:xfrm>
            <a:off x="7327925" y="1047750"/>
            <a:ext cx="4548188" cy="3302000"/>
          </a:xfrm>
          <a:custGeom>
            <a:avLst/>
            <a:gdLst/>
            <a:ahLst/>
            <a:cxnLst/>
            <a:rect l="l" t="t" r="r" b="b"/>
            <a:pathLst>
              <a:path w="4548188" h="3302000">
                <a:moveTo>
                  <a:pt x="0" y="0"/>
                </a:moveTo>
                <a:lnTo>
                  <a:pt x="4548188" y="0"/>
                </a:lnTo>
                <a:lnTo>
                  <a:pt x="4548188" y="3302000"/>
                </a:lnTo>
                <a:lnTo>
                  <a:pt x="0" y="3302000"/>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54925" y="3810000"/>
            <a:ext cx="4349750" cy="158750"/>
          </a:xfrm>
          <a:prstGeom prst="rect">
            <a:avLst/>
          </a:prstGeom>
          <a:noFill/>
          <a:ln/>
        </p:spPr>
        <p:txBody>
          <a:bodyPr wrap="square" lIns="0" tIns="0" rIns="0" bIns="0" rtlCol="0" anchor="ctr"/>
          <a:lstStyle/>
          <a:p>
            <a:pPr>
              <a:lnSpc>
                <a:spcPct val="120000"/>
              </a:lnSpc>
            </a:pPr>
            <a:r>
              <a:rPr lang="en-US" sz="875" b="1" dirty="0">
                <a:solidFill>
                  <a:srgbClr val="DDFF00"/>
                </a:solidFill>
                <a:latin typeface="Liter" pitchFamily="34" charset="0"/>
                <a:ea typeface="Liter" pitchFamily="34" charset="-122"/>
                <a:cs typeface="Liter" pitchFamily="34" charset="-120"/>
              </a:rPr>
              <a:t>ROCK FOREVER</a:t>
            </a:r>
            <a:endParaRPr lang="en-US" sz="1600" dirty="0"/>
          </a:p>
        </p:txBody>
      </p:sp>
      <p:sp>
        <p:nvSpPr>
          <p:cNvPr id="42" name="Text 39"/>
          <p:cNvSpPr/>
          <p:nvPr/>
        </p:nvSpPr>
        <p:spPr>
          <a:xfrm>
            <a:off x="7454925" y="4000500"/>
            <a:ext cx="4365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Crowd Unites</a:t>
            </a:r>
            <a:endParaRPr lang="en-US" sz="1600" dirty="0"/>
          </a:p>
        </p:txBody>
      </p:sp>
      <p:sp>
        <p:nvSpPr>
          <p:cNvPr id="43" name="Shape 40"/>
          <p:cNvSpPr/>
          <p:nvPr/>
        </p:nvSpPr>
        <p:spPr>
          <a:xfrm>
            <a:off x="7335862" y="4484688"/>
            <a:ext cx="4532313" cy="1603375"/>
          </a:xfrm>
          <a:custGeom>
            <a:avLst/>
            <a:gdLst/>
            <a:ahLst/>
            <a:cxnLst/>
            <a:rect l="l" t="t" r="r" b="b"/>
            <a:pathLst>
              <a:path w="4532313" h="1603375">
                <a:moveTo>
                  <a:pt x="0" y="0"/>
                </a:moveTo>
                <a:lnTo>
                  <a:pt x="4532313" y="0"/>
                </a:lnTo>
                <a:lnTo>
                  <a:pt x="4532313" y="1603375"/>
                </a:lnTo>
                <a:lnTo>
                  <a:pt x="0" y="1603375"/>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02550" y="4651375"/>
            <a:ext cx="4270375" cy="222250"/>
          </a:xfrm>
          <a:prstGeom prst="rect">
            <a:avLst/>
          </a:prstGeom>
          <a:noFill/>
          <a:ln/>
        </p:spPr>
        <p:txBody>
          <a:bodyPr wrap="square" lIns="0" tIns="0" rIns="0" bIns="0" rtlCol="0" anchor="ctr"/>
          <a:lstStyle/>
          <a:p>
            <a:pPr>
              <a:lnSpc>
                <a:spcPct val="130000"/>
              </a:lnSpc>
            </a:pPr>
            <a:r>
              <a:rPr lang="en-US" sz="1125" b="1" dirty="0">
                <a:solidFill>
                  <a:srgbClr val="DDFF00"/>
                </a:solidFill>
                <a:latin typeface="Liter" pitchFamily="34" charset="0"/>
                <a:ea typeface="Liter" pitchFamily="34" charset="-122"/>
                <a:cs typeface="Liter" pitchFamily="34" charset="-120"/>
              </a:rPr>
              <a:t>Influence on Other Genres</a:t>
            </a:r>
            <a:endParaRPr lang="en-US" sz="1600" dirty="0"/>
          </a:p>
        </p:txBody>
      </p:sp>
      <p:sp>
        <p:nvSpPr>
          <p:cNvPr id="45" name="Shape 42"/>
          <p:cNvSpPr/>
          <p:nvPr/>
        </p:nvSpPr>
        <p:spPr>
          <a:xfrm>
            <a:off x="7502550" y="5032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46" name="Text 43"/>
          <p:cNvSpPr/>
          <p:nvPr/>
        </p:nvSpPr>
        <p:spPr>
          <a:xfrm>
            <a:off x="7629550" y="4968875"/>
            <a:ext cx="3087688"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Hip-Hop:</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Sampling rock tracks, shared rebellious spirit</a:t>
            </a:r>
            <a:endParaRPr lang="en-US" sz="1600" dirty="0"/>
          </a:p>
        </p:txBody>
      </p:sp>
      <p:sp>
        <p:nvSpPr>
          <p:cNvPr id="47" name="Shape 44"/>
          <p:cNvSpPr/>
          <p:nvPr/>
        </p:nvSpPr>
        <p:spPr>
          <a:xfrm>
            <a:off x="7502550" y="5286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48" name="Text 45"/>
          <p:cNvSpPr/>
          <p:nvPr/>
        </p:nvSpPr>
        <p:spPr>
          <a:xfrm>
            <a:off x="7629550" y="5222875"/>
            <a:ext cx="3048000"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Pop Music:</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Rock's emotive power and stage presence</a:t>
            </a:r>
            <a:endParaRPr lang="en-US" sz="1600" dirty="0"/>
          </a:p>
        </p:txBody>
      </p:sp>
      <p:sp>
        <p:nvSpPr>
          <p:cNvPr id="49" name="Shape 46"/>
          <p:cNvSpPr/>
          <p:nvPr/>
        </p:nvSpPr>
        <p:spPr>
          <a:xfrm>
            <a:off x="7502550" y="5540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50" name="Text 47"/>
          <p:cNvSpPr/>
          <p:nvPr/>
        </p:nvSpPr>
        <p:spPr>
          <a:xfrm>
            <a:off x="7629550" y="5476875"/>
            <a:ext cx="2857500"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Electronic:</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Rock's energy in EDM and dance music</a:t>
            </a:r>
            <a:endParaRPr lang="en-US" sz="1600" dirty="0"/>
          </a:p>
        </p:txBody>
      </p:sp>
      <p:sp>
        <p:nvSpPr>
          <p:cNvPr id="51" name="Shape 48"/>
          <p:cNvSpPr/>
          <p:nvPr/>
        </p:nvSpPr>
        <p:spPr>
          <a:xfrm>
            <a:off x="7502550" y="5794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52" name="Text 49"/>
          <p:cNvSpPr/>
          <p:nvPr/>
        </p:nvSpPr>
        <p:spPr>
          <a:xfrm>
            <a:off x="7629550" y="5730875"/>
            <a:ext cx="3095625"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Country:</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Rock-influenced country rock and alt-country</a:t>
            </a:r>
            <a:endParaRPr lang="en-US" sz="1600" dirty="0"/>
          </a:p>
        </p:txBody>
      </p:sp>
      <p:sp>
        <p:nvSpPr>
          <p:cNvPr id="53" name="Shape 50"/>
          <p:cNvSpPr/>
          <p:nvPr/>
        </p:nvSpPr>
        <p:spPr>
          <a:xfrm>
            <a:off x="7327925" y="6223000"/>
            <a:ext cx="4548188" cy="635000"/>
          </a:xfrm>
          <a:custGeom>
            <a:avLst/>
            <a:gdLst/>
            <a:ahLst/>
            <a:cxnLst/>
            <a:rect l="l" t="t" r="r" b="b"/>
            <a:pathLst>
              <a:path w="4548188" h="635000">
                <a:moveTo>
                  <a:pt x="0" y="0"/>
                </a:moveTo>
                <a:lnTo>
                  <a:pt x="4548188" y="0"/>
                </a:lnTo>
                <a:lnTo>
                  <a:pt x="4548188" y="635000"/>
                </a:lnTo>
                <a:lnTo>
                  <a:pt x="0" y="635000"/>
                </a:lnTo>
                <a:lnTo>
                  <a:pt x="0" y="0"/>
                </a:lnTo>
                <a:close/>
              </a:path>
            </a:pathLst>
          </a:custGeom>
          <a:solidFill>
            <a:srgbClr val="DDFF00"/>
          </a:solidFill>
          <a:ln/>
        </p:spPr>
      </p:sp>
      <p:sp>
        <p:nvSpPr>
          <p:cNvPr id="54" name="Text 51"/>
          <p:cNvSpPr/>
          <p:nvPr/>
        </p:nvSpPr>
        <p:spPr>
          <a:xfrm>
            <a:off x="7423175" y="6350000"/>
            <a:ext cx="4357688" cy="381000"/>
          </a:xfrm>
          <a:prstGeom prst="rect">
            <a:avLst/>
          </a:prstGeom>
          <a:noFill/>
          <a:ln/>
        </p:spPr>
        <p:txBody>
          <a:bodyPr wrap="square" lIns="0" tIns="0" rIns="0" bIns="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"Rock and roll is here to stay."</a:t>
            </a:r>
            <a:endParaRPr lang="en-US" sz="1600" dirty="0"/>
          </a:p>
          <a:p>
            <a:pPr algn="ctr">
              <a:lnSpc>
                <a:spcPct val="130000"/>
              </a:lnSpc>
            </a:pPr>
            <a:r>
              <a:rPr lang="en-US" sz="875" dirty="0">
                <a:solidFill>
                  <a:srgbClr val="000000"/>
                </a:solidFill>
                <a:latin typeface="Liter" pitchFamily="34" charset="0"/>
                <a:ea typeface="Liter" pitchFamily="34" charset="-122"/>
                <a:cs typeface="Liter" pitchFamily="34" charset="-120"/>
              </a:rPr>
              <a:t>— Danny &amp; the Juniors, 1958</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pic>
        <p:nvPicPr>
          <p:cNvPr id="2" name="Image 0" descr="https://kimi-web-img.moonshot.cn/img/thumbs.dreamstime.com/bc3a80f322579d6162ad1e908ccef2ab245287c3.jpg">    </p:cNvPr>
          <p:cNvPicPr>
            <a:picLocks noChangeAspect="1"/>
          </p:cNvPicPr>
          <p:nvPr/>
        </p:nvPicPr>
        <p:blipFill>
          <a:blip r:embed="rId1">
            <a:alphaModFix amt="40000"/>
          </a:blip>
          <a:srcRect l="0" r="0" t="7865" b="786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80000"/>
                </a:srgbClr>
              </a:gs>
              <a:gs pos="100000">
                <a:srgbClr val="000000">
                  <a:alpha val="60000"/>
                </a:srgbClr>
              </a:gs>
            </a:gsLst>
            <a:lin ang="2700000" scaled="1"/>
          </a:gradFill>
          <a:ln/>
        </p:spPr>
      </p:sp>
      <p:sp>
        <p:nvSpPr>
          <p:cNvPr id="4" name="Shape 1"/>
          <p:cNvSpPr/>
          <p:nvPr/>
        </p:nvSpPr>
        <p:spPr>
          <a:xfrm>
            <a:off x="4773976" y="153777"/>
            <a:ext cx="881349" cy="36723"/>
          </a:xfrm>
          <a:custGeom>
            <a:avLst/>
            <a:gdLst/>
            <a:ahLst/>
            <a:cxnLst/>
            <a:rect l="l" t="t" r="r" b="b"/>
            <a:pathLst>
              <a:path w="881349" h="36723">
                <a:moveTo>
                  <a:pt x="0" y="0"/>
                </a:moveTo>
                <a:lnTo>
                  <a:pt x="881349" y="0"/>
                </a:lnTo>
                <a:lnTo>
                  <a:pt x="881349" y="36723"/>
                </a:lnTo>
                <a:lnTo>
                  <a:pt x="0" y="36723"/>
                </a:lnTo>
                <a:lnTo>
                  <a:pt x="0" y="0"/>
                </a:lnTo>
                <a:close/>
              </a:path>
            </a:pathLst>
          </a:custGeom>
          <a:solidFill>
            <a:srgbClr val="DDFF00"/>
          </a:solidFill>
          <a:ln/>
        </p:spPr>
      </p:sp>
      <p:sp>
        <p:nvSpPr>
          <p:cNvPr id="5" name="Shape 2"/>
          <p:cNvSpPr/>
          <p:nvPr/>
        </p:nvSpPr>
        <p:spPr>
          <a:xfrm rot="2700000">
            <a:off x="5698889" y="-224964"/>
            <a:ext cx="550843" cy="550843"/>
          </a:xfrm>
          <a:custGeom>
            <a:avLst/>
            <a:gdLst/>
            <a:ahLst/>
            <a:cxnLst/>
            <a:rect l="l" t="t" r="r" b="b"/>
            <a:pathLst>
              <a:path w="550843" h="550843">
                <a:moveTo>
                  <a:pt x="0" y="0"/>
                </a:moveTo>
                <a:lnTo>
                  <a:pt x="550843" y="0"/>
                </a:lnTo>
                <a:lnTo>
                  <a:pt x="550843" y="550843"/>
                </a:lnTo>
                <a:lnTo>
                  <a:pt x="0" y="550843"/>
                </a:lnTo>
                <a:lnTo>
                  <a:pt x="0" y="0"/>
                </a:lnTo>
                <a:close/>
              </a:path>
            </a:pathLst>
          </a:custGeom>
          <a:solidFill>
            <a:srgbClr val="000000">
              <a:alpha val="0"/>
            </a:srgbClr>
          </a:solidFill>
          <a:ln w="50800">
            <a:solidFill>
              <a:srgbClr val="DDFF00"/>
            </a:solidFill>
            <a:prstDash val="solid"/>
          </a:ln>
          <a:effectLst>
            <a:outerShdw sx="100000" sy="100000" kx="0" ky="0" algn="bl" rotWithShape="0" blurRad="275422" dist="50800" dir="2700000">
              <a:srgbClr val="ddff00">
                <a:alpha val="30196"/>
              </a:srgbClr>
            </a:outerShdw>
          </a:effectLst>
        </p:spPr>
      </p:sp>
      <p:sp>
        <p:nvSpPr>
          <p:cNvPr id="6" name="Shape 3"/>
          <p:cNvSpPr/>
          <p:nvPr/>
        </p:nvSpPr>
        <p:spPr>
          <a:xfrm>
            <a:off x="5985831" y="61970"/>
            <a:ext cx="220337" cy="220337"/>
          </a:xfrm>
          <a:custGeom>
            <a:avLst/>
            <a:gdLst/>
            <a:ahLst/>
            <a:cxnLst/>
            <a:rect l="l" t="t" r="r" b="b"/>
            <a:pathLst>
              <a:path w="220337" h="220337">
                <a:moveTo>
                  <a:pt x="201402" y="3012"/>
                </a:moveTo>
                <a:cubicBezTo>
                  <a:pt x="204673" y="5638"/>
                  <a:pt x="206566" y="9597"/>
                  <a:pt x="206566" y="13771"/>
                </a:cubicBezTo>
                <a:lnTo>
                  <a:pt x="206566" y="144596"/>
                </a:lnTo>
                <a:cubicBezTo>
                  <a:pt x="206566" y="163618"/>
                  <a:pt x="188061" y="179024"/>
                  <a:pt x="165253" y="179024"/>
                </a:cubicBezTo>
                <a:cubicBezTo>
                  <a:pt x="142445" y="179024"/>
                  <a:pt x="123940" y="163618"/>
                  <a:pt x="123940" y="144596"/>
                </a:cubicBezTo>
                <a:cubicBezTo>
                  <a:pt x="123940" y="125575"/>
                  <a:pt x="142445" y="110169"/>
                  <a:pt x="165253" y="110169"/>
                </a:cubicBezTo>
                <a:cubicBezTo>
                  <a:pt x="170073" y="110169"/>
                  <a:pt x="174721" y="110857"/>
                  <a:pt x="179024" y="112148"/>
                </a:cubicBezTo>
                <a:lnTo>
                  <a:pt x="179024" y="61927"/>
                </a:lnTo>
                <a:lnTo>
                  <a:pt x="82627" y="83358"/>
                </a:lnTo>
                <a:lnTo>
                  <a:pt x="82627" y="172139"/>
                </a:lnTo>
                <a:cubicBezTo>
                  <a:pt x="82627" y="191160"/>
                  <a:pt x="64122" y="206566"/>
                  <a:pt x="41313" y="206566"/>
                </a:cubicBezTo>
                <a:cubicBezTo>
                  <a:pt x="18505" y="206566"/>
                  <a:pt x="0" y="191160"/>
                  <a:pt x="0" y="172139"/>
                </a:cubicBezTo>
                <a:cubicBezTo>
                  <a:pt x="0" y="153117"/>
                  <a:pt x="18505" y="137711"/>
                  <a:pt x="41313" y="137711"/>
                </a:cubicBezTo>
                <a:cubicBezTo>
                  <a:pt x="46133" y="137711"/>
                  <a:pt x="50781" y="138399"/>
                  <a:pt x="55084" y="139690"/>
                </a:cubicBezTo>
                <a:lnTo>
                  <a:pt x="55084" y="41313"/>
                </a:lnTo>
                <a:cubicBezTo>
                  <a:pt x="55084" y="34858"/>
                  <a:pt x="59560" y="29264"/>
                  <a:pt x="65886" y="27886"/>
                </a:cubicBezTo>
                <a:lnTo>
                  <a:pt x="189826" y="344"/>
                </a:lnTo>
                <a:cubicBezTo>
                  <a:pt x="193914" y="-559"/>
                  <a:pt x="198175" y="430"/>
                  <a:pt x="201445" y="3055"/>
                </a:cubicBezTo>
                <a:close/>
              </a:path>
            </a:pathLst>
          </a:custGeom>
          <a:solidFill>
            <a:srgbClr val="DDFF00"/>
          </a:solidFill>
          <a:ln/>
        </p:spPr>
      </p:sp>
      <p:sp>
        <p:nvSpPr>
          <p:cNvPr id="7" name="Shape 4"/>
          <p:cNvSpPr/>
          <p:nvPr/>
        </p:nvSpPr>
        <p:spPr>
          <a:xfrm>
            <a:off x="6536675" y="153777"/>
            <a:ext cx="881349" cy="36723"/>
          </a:xfrm>
          <a:custGeom>
            <a:avLst/>
            <a:gdLst/>
            <a:ahLst/>
            <a:cxnLst/>
            <a:rect l="l" t="t" r="r" b="b"/>
            <a:pathLst>
              <a:path w="881349" h="36723">
                <a:moveTo>
                  <a:pt x="0" y="0"/>
                </a:moveTo>
                <a:lnTo>
                  <a:pt x="881349" y="0"/>
                </a:lnTo>
                <a:lnTo>
                  <a:pt x="881349" y="36723"/>
                </a:lnTo>
                <a:lnTo>
                  <a:pt x="0" y="36723"/>
                </a:lnTo>
                <a:lnTo>
                  <a:pt x="0" y="0"/>
                </a:lnTo>
                <a:close/>
              </a:path>
            </a:pathLst>
          </a:custGeom>
          <a:solidFill>
            <a:srgbClr val="DDFF00"/>
          </a:solidFill>
          <a:ln/>
        </p:spPr>
      </p:sp>
      <p:sp>
        <p:nvSpPr>
          <p:cNvPr id="8" name="Text 5"/>
          <p:cNvSpPr/>
          <p:nvPr/>
        </p:nvSpPr>
        <p:spPr>
          <a:xfrm>
            <a:off x="3582347" y="980042"/>
            <a:ext cx="5031036" cy="1762699"/>
          </a:xfrm>
          <a:prstGeom prst="rect">
            <a:avLst/>
          </a:prstGeom>
          <a:noFill/>
          <a:ln/>
        </p:spPr>
        <p:txBody>
          <a:bodyPr wrap="square" lIns="0" tIns="0" rIns="0" bIns="0" rtlCol="0" anchor="ctr"/>
          <a:lstStyle/>
          <a:p>
            <a:pPr algn="ctr">
              <a:lnSpc>
                <a:spcPct val="80000"/>
              </a:lnSpc>
            </a:pPr>
            <a:r>
              <a:rPr lang="en-US" sz="6940" b="1" dirty="0">
                <a:solidFill>
                  <a:srgbClr val="FFFFFF"/>
                </a:solidFill>
                <a:latin typeface="Liter" pitchFamily="34" charset="0"/>
                <a:ea typeface="Liter" pitchFamily="34" charset="-122"/>
                <a:cs typeface="Liter" pitchFamily="34" charset="-120"/>
              </a:rPr>
              <a:t>ROCK WILL</a:t>
            </a:r>
            <a:endParaRPr lang="en-US" sz="1600" dirty="0"/>
          </a:p>
          <a:p>
            <a:pPr algn="ctr">
              <a:lnSpc>
                <a:spcPct val="80000"/>
              </a:lnSpc>
            </a:pPr>
            <a:r>
              <a:rPr lang="en-US" sz="6940" b="1" dirty="0">
                <a:solidFill>
                  <a:srgbClr val="DDFF00"/>
                </a:solidFill>
                <a:latin typeface="Liter" pitchFamily="34" charset="0"/>
                <a:ea typeface="Liter" pitchFamily="34" charset="-122"/>
                <a:cs typeface="Liter" pitchFamily="34" charset="-120"/>
              </a:rPr>
              <a:t>NEVER DIE</a:t>
            </a:r>
            <a:endParaRPr lang="en-US" sz="1600" dirty="0"/>
          </a:p>
        </p:txBody>
      </p:sp>
      <p:sp>
        <p:nvSpPr>
          <p:cNvPr id="9" name="Text 6"/>
          <p:cNvSpPr/>
          <p:nvPr/>
        </p:nvSpPr>
        <p:spPr>
          <a:xfrm>
            <a:off x="2515518" y="3036524"/>
            <a:ext cx="7160964" cy="1432193"/>
          </a:xfrm>
          <a:prstGeom prst="rect">
            <a:avLst/>
          </a:prstGeom>
          <a:noFill/>
          <a:ln/>
        </p:spPr>
        <p:txBody>
          <a:bodyPr wrap="square" lIns="0" tIns="0" rIns="0" bIns="0" rtlCol="0" anchor="ctr"/>
          <a:lstStyle/>
          <a:p>
            <a:pPr algn="ctr">
              <a:lnSpc>
                <a:spcPct val="140000"/>
              </a:lnSpc>
            </a:pPr>
            <a:r>
              <a:rPr lang="en-US" sz="1735" b="1" dirty="0">
                <a:solidFill>
                  <a:srgbClr val="FFFFFF"/>
                </a:solidFill>
                <a:latin typeface="Liter" pitchFamily="34" charset="0"/>
                <a:ea typeface="Liter" pitchFamily="34" charset="-122"/>
                <a:cs typeface="Liter" pitchFamily="34" charset="-120"/>
              </a:rPr>
              <a:t>From blues roots to global phenomenon,</a:t>
            </a:r>
            <a:pPr algn="ctr">
              <a:lnSpc>
                <a:spcPct val="140000"/>
              </a:lnSpc>
            </a:pPr>
            <a:r>
              <a:rPr lang="en-US" sz="1735" dirty="0">
                <a:solidFill>
                  <a:srgbClr val="FFFFFF"/>
                </a:solidFill>
                <a:latin typeface="Liter" pitchFamily="34" charset="0"/>
                <a:ea typeface="Liter" pitchFamily="34" charset="-122"/>
                <a:cs typeface="Liter" pitchFamily="34" charset="-120"/>
              </a:rPr>
              <a:t> rock music has constantly evolved while maintaining its rebellious spirit. Its influence echoes through every genre that followed, proving that authentic, passionate music transcends time.</a:t>
            </a:r>
            <a:endParaRPr lang="en-US" sz="1600" dirty="0"/>
          </a:p>
        </p:txBody>
      </p:sp>
      <p:sp>
        <p:nvSpPr>
          <p:cNvPr id="10" name="Text 7"/>
          <p:cNvSpPr/>
          <p:nvPr/>
        </p:nvSpPr>
        <p:spPr>
          <a:xfrm>
            <a:off x="2524699" y="4689054"/>
            <a:ext cx="7142602" cy="899711"/>
          </a:xfrm>
          <a:prstGeom prst="rect">
            <a:avLst/>
          </a:prstGeom>
          <a:noFill/>
          <a:ln/>
        </p:spPr>
        <p:txBody>
          <a:bodyPr wrap="square" lIns="0" tIns="0" rIns="0" bIns="0" rtlCol="0" anchor="ctr"/>
          <a:lstStyle/>
          <a:p>
            <a:pPr algn="ctr">
              <a:lnSpc>
                <a:spcPct val="140000"/>
              </a:lnSpc>
            </a:pPr>
            <a:r>
              <a:rPr lang="en-US" sz="1446" dirty="0">
                <a:solidFill>
                  <a:srgbClr val="FFFFFF">
                    <a:alpha val="80000"/>
                  </a:srgbClr>
                </a:solidFill>
                <a:latin typeface="Liter" pitchFamily="34" charset="0"/>
                <a:ea typeface="Liter" pitchFamily="34" charset="-122"/>
                <a:cs typeface="Liter" pitchFamily="34" charset="-120"/>
              </a:rPr>
              <a:t>From Chuck Berry's guitar riffs to Kurt Cobain's raw emotion, from The Beatles' revolution to Arctic Monkeys' revival—rock continues to inspire, challenge, and unite generations.</a:t>
            </a:r>
            <a:endParaRPr lang="en-US" sz="1600" dirty="0"/>
          </a:p>
        </p:txBody>
      </p:sp>
      <p:sp>
        <p:nvSpPr>
          <p:cNvPr id="11" name="Shape 8"/>
          <p:cNvSpPr/>
          <p:nvPr/>
        </p:nvSpPr>
        <p:spPr>
          <a:xfrm>
            <a:off x="5233012" y="5877958"/>
            <a:ext cx="734458" cy="36723"/>
          </a:xfrm>
          <a:custGeom>
            <a:avLst/>
            <a:gdLst/>
            <a:ahLst/>
            <a:cxnLst/>
            <a:rect l="l" t="t" r="r" b="b"/>
            <a:pathLst>
              <a:path w="734458" h="36723">
                <a:moveTo>
                  <a:pt x="0" y="0"/>
                </a:moveTo>
                <a:lnTo>
                  <a:pt x="734458" y="0"/>
                </a:lnTo>
                <a:lnTo>
                  <a:pt x="734458" y="36723"/>
                </a:lnTo>
                <a:lnTo>
                  <a:pt x="0" y="36723"/>
                </a:lnTo>
                <a:lnTo>
                  <a:pt x="0" y="0"/>
                </a:lnTo>
                <a:close/>
              </a:path>
            </a:pathLst>
          </a:custGeom>
          <a:solidFill>
            <a:srgbClr val="DDFF00"/>
          </a:solidFill>
          <a:ln/>
        </p:spPr>
      </p:sp>
      <p:sp>
        <p:nvSpPr>
          <p:cNvPr id="12" name="Shape 9"/>
          <p:cNvSpPr/>
          <p:nvPr/>
        </p:nvSpPr>
        <p:spPr>
          <a:xfrm>
            <a:off x="6187807" y="5877958"/>
            <a:ext cx="367229" cy="36723"/>
          </a:xfrm>
          <a:custGeom>
            <a:avLst/>
            <a:gdLst/>
            <a:ahLst/>
            <a:cxnLst/>
            <a:rect l="l" t="t" r="r" b="b"/>
            <a:pathLst>
              <a:path w="367229" h="36723">
                <a:moveTo>
                  <a:pt x="0" y="0"/>
                </a:moveTo>
                <a:lnTo>
                  <a:pt x="367229" y="0"/>
                </a:lnTo>
                <a:lnTo>
                  <a:pt x="367229" y="36723"/>
                </a:lnTo>
                <a:lnTo>
                  <a:pt x="0" y="36723"/>
                </a:lnTo>
                <a:lnTo>
                  <a:pt x="0" y="0"/>
                </a:lnTo>
                <a:close/>
              </a:path>
            </a:pathLst>
          </a:custGeom>
          <a:solidFill>
            <a:srgbClr val="DDFF00"/>
          </a:solidFill>
          <a:ln/>
        </p:spPr>
      </p:sp>
      <p:sp>
        <p:nvSpPr>
          <p:cNvPr id="13" name="Shape 10"/>
          <p:cNvSpPr/>
          <p:nvPr/>
        </p:nvSpPr>
        <p:spPr>
          <a:xfrm>
            <a:off x="6775373" y="5877958"/>
            <a:ext cx="183614" cy="36723"/>
          </a:xfrm>
          <a:custGeom>
            <a:avLst/>
            <a:gdLst/>
            <a:ahLst/>
            <a:cxnLst/>
            <a:rect l="l" t="t" r="r" b="b"/>
            <a:pathLst>
              <a:path w="183614" h="36723">
                <a:moveTo>
                  <a:pt x="0" y="0"/>
                </a:moveTo>
                <a:lnTo>
                  <a:pt x="183614" y="0"/>
                </a:lnTo>
                <a:lnTo>
                  <a:pt x="183614" y="36723"/>
                </a:lnTo>
                <a:lnTo>
                  <a:pt x="0" y="36723"/>
                </a:lnTo>
                <a:lnTo>
                  <a:pt x="0" y="0"/>
                </a:lnTo>
                <a:close/>
              </a:path>
            </a:pathLst>
          </a:custGeom>
          <a:solidFill>
            <a:srgbClr val="DDFF00"/>
          </a:solidFill>
          <a:ln/>
        </p:spPr>
      </p:sp>
      <p:sp>
        <p:nvSpPr>
          <p:cNvPr id="14" name="Text 11"/>
          <p:cNvSpPr/>
          <p:nvPr/>
        </p:nvSpPr>
        <p:spPr>
          <a:xfrm>
            <a:off x="2564291"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70+</a:t>
            </a:r>
            <a:endParaRPr lang="en-US" sz="1600" dirty="0"/>
          </a:p>
        </p:txBody>
      </p:sp>
      <p:sp>
        <p:nvSpPr>
          <p:cNvPr id="15" name="Text 12"/>
          <p:cNvSpPr/>
          <p:nvPr/>
        </p:nvSpPr>
        <p:spPr>
          <a:xfrm>
            <a:off x="2633146"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Years of Rock</a:t>
            </a:r>
            <a:endParaRPr lang="en-US" sz="1600" dirty="0"/>
          </a:p>
        </p:txBody>
      </p:sp>
      <p:sp>
        <p:nvSpPr>
          <p:cNvPr id="16" name="Text 13"/>
          <p:cNvSpPr/>
          <p:nvPr/>
        </p:nvSpPr>
        <p:spPr>
          <a:xfrm>
            <a:off x="4348507"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a:t>
            </a:r>
            <a:endParaRPr lang="en-US" sz="1600" dirty="0"/>
          </a:p>
        </p:txBody>
      </p:sp>
      <p:sp>
        <p:nvSpPr>
          <p:cNvPr id="17" name="Text 14"/>
          <p:cNvSpPr/>
          <p:nvPr/>
        </p:nvSpPr>
        <p:spPr>
          <a:xfrm>
            <a:off x="4417362"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Influence</a:t>
            </a:r>
            <a:endParaRPr lang="en-US" sz="1600" dirty="0"/>
          </a:p>
        </p:txBody>
      </p:sp>
      <p:sp>
        <p:nvSpPr>
          <p:cNvPr id="18" name="Text 15"/>
          <p:cNvSpPr/>
          <p:nvPr/>
        </p:nvSpPr>
        <p:spPr>
          <a:xfrm>
            <a:off x="6132723"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Billions</a:t>
            </a:r>
            <a:endParaRPr lang="en-US" sz="1600" dirty="0"/>
          </a:p>
        </p:txBody>
      </p:sp>
      <p:sp>
        <p:nvSpPr>
          <p:cNvPr id="19" name="Text 16"/>
          <p:cNvSpPr/>
          <p:nvPr/>
        </p:nvSpPr>
        <p:spPr>
          <a:xfrm>
            <a:off x="6201578"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of Fans</a:t>
            </a:r>
            <a:endParaRPr lang="en-US" sz="1600" dirty="0"/>
          </a:p>
        </p:txBody>
      </p:sp>
      <p:sp>
        <p:nvSpPr>
          <p:cNvPr id="20" name="Text 17"/>
          <p:cNvSpPr/>
          <p:nvPr/>
        </p:nvSpPr>
        <p:spPr>
          <a:xfrm>
            <a:off x="7916939"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Forever</a:t>
            </a:r>
            <a:endParaRPr lang="en-US" sz="1600" dirty="0"/>
          </a:p>
        </p:txBody>
      </p:sp>
      <p:sp>
        <p:nvSpPr>
          <p:cNvPr id="21" name="Text 18"/>
          <p:cNvSpPr/>
          <p:nvPr/>
        </p:nvSpPr>
        <p:spPr>
          <a:xfrm>
            <a:off x="7985794"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In Our Hearts</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Evolution of Rock Music</dc:title>
  <dc:subject>The Evolution of Rock Music</dc:subject>
  <dc:creator>Kimi</dc:creator>
  <cp:lastModifiedBy>Kimi</cp:lastModifiedBy>
  <cp:revision>1</cp:revision>
  <dcterms:created xsi:type="dcterms:W3CDTF">2026-03-18T08:15:32Z</dcterms:created>
  <dcterms:modified xsi:type="dcterms:W3CDTF">2026-03-18T08:15:32Z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{"Label":"The Evolution of Rock Music","ContentProducer":"001191110108MACG2KBH8F10000","ProduceID":"19cfffb4-12a2-8b20-8000-0000a3d16f4b","ReservedCode1":"","ContentPropagator":"001191110108MACG2KBH8F20000","PropagateID":"19cfffb4-12a2-8b20-8000-0000a3d16f4b","ReservedCode2":""}</vt:lpwstr>
  </property>
</Properties>
</file>