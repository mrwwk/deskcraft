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jpg" ContentType="image/jpg"/>
  <Override PartName="/ppt/media/image-10-1.jpg" ContentType="image/jpg"/>
  <Override PartName="/ppt/media/image-11-1.jpg" ContentType="image/jpg"/>
  <Override PartName="/ppt/media/image-11-2.jpg" ContentType="image/jpg"/>
  <Override PartName="/ppt/media/image-11-3.webp" ContentType="image/webp"/>
  <Override PartName="/ppt/media/image-11-4.jpg" ContentType="image/jpg"/>
  <Override PartName="/ppt/media/image-12-1.jpg" ContentType="image/jpg"/>
  <Override PartName="/ppt/media/image-14-1.jpg" ContentType="image/jpg"/>
  <Override PartName="/ppt/media/image-16-1.jpg" ContentType="image/jpg"/>
  <Override PartName="/ppt/media/image-1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Art historians consider Starry Night, painted during Van Gogh's time at Saint-Remy asylum in June 1889, as one of the most recognized paintings in Western culture.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webp"/><Relationship Id="rId4" Type="http://schemas.openxmlformats.org/officeDocument/2006/relationships/image" Target="../media/image-11-4.jp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8B"/>
        </a:solidFill>
      </p:bgPr>
    </p:bg>
    <p:spTree>
      <p:nvGrpSpPr>
        <p:cNvPr id="1" name=""/>
        <p:cNvGrpSpPr/>
        <p:nvPr/>
      </p:nvGrpSpPr>
      <p:grpSpPr>
        <a:xfrm>
          <a:off x="0" y="0"/>
          <a:ext cx="0" cy="0"/>
          <a:chOff x="0" y="0"/>
          <a:chExt cx="0" cy="0"/>
        </a:xfrm>
      </p:grpSpPr>
      <p:pic>
        <p:nvPicPr>
          <p:cNvPr id="2" name="Image 0" descr="https://kimi-web-img.moonshot.cn/img/upload.wikimedia.org/2a76e887bbbc41542f357db36c5477fb94cd15f0.jpg">    </p:cNvPr>
          <p:cNvPicPr>
            <a:picLocks noChangeAspect="1"/>
          </p:cNvPicPr>
          <p:nvPr/>
        </p:nvPicPr>
        <p:blipFill>
          <a:blip r:embed="rId1">
            <a:alphaModFix amt="40000"/>
          </a:blip>
          <a:srcRect l="0" r="0" t="14497" b="14497"/>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alpha val="80000"/>
                </a:srgbClr>
              </a:gs>
              <a:gs pos="50000">
                <a:srgbClr val="111111">
                  <a:alpha val="60000"/>
                </a:srgbClr>
              </a:gs>
              <a:gs pos="100000">
                <a:srgbClr val="000000">
                  <a:alpha val="0"/>
                </a:srgbClr>
              </a:gs>
            </a:gsLst>
            <a:lin ang="2700000" scaled="1"/>
          </a:gradFill>
          <a:ln/>
        </p:spPr>
        <p:txBody>
          <a:bodyPr/>
          <a:p/>
        </p:txBody>
      </p:sp>
      <p:sp>
        <p:nvSpPr>
          <p:cNvPr id="4" name="Shape 1"/>
          <p:cNvSpPr/>
          <p:nvPr/>
        </p:nvSpPr>
        <p:spPr>
          <a:xfrm>
            <a:off x="385763" y="763935"/>
            <a:ext cx="2819400" cy="390525"/>
          </a:xfrm>
          <a:custGeom>
            <a:avLst/>
            <a:gdLst/>
            <a:ahLst/>
            <a:cxnLst/>
            <a:rect l="l" t="t" r="r" b="b"/>
            <a:pathLst>
              <a:path w="2819400" h="390525">
                <a:moveTo>
                  <a:pt x="38100" y="0"/>
                </a:moveTo>
                <a:lnTo>
                  <a:pt x="2781300" y="0"/>
                </a:lnTo>
                <a:cubicBezTo>
                  <a:pt x="2802342" y="0"/>
                  <a:pt x="2819400" y="17058"/>
                  <a:pt x="2819400" y="38100"/>
                </a:cubicBezTo>
                <a:lnTo>
                  <a:pt x="2819400" y="352425"/>
                </a:lnTo>
                <a:cubicBezTo>
                  <a:pt x="2819400" y="373467"/>
                  <a:pt x="2802342" y="390525"/>
                  <a:pt x="2781300" y="390525"/>
                </a:cubicBezTo>
                <a:lnTo>
                  <a:pt x="38100" y="390525"/>
                </a:lnTo>
                <a:cubicBezTo>
                  <a:pt x="17058" y="390525"/>
                  <a:pt x="0" y="373467"/>
                  <a:pt x="0" y="352425"/>
                </a:cubicBezTo>
                <a:lnTo>
                  <a:pt x="0" y="38100"/>
                </a:lnTo>
                <a:cubicBezTo>
                  <a:pt x="0" y="17072"/>
                  <a:pt x="17072" y="0"/>
                  <a:pt x="38100" y="0"/>
                </a:cubicBezTo>
                <a:close/>
              </a:path>
            </a:pathLst>
          </a:custGeom>
          <a:solidFill>
            <a:srgbClr val="C9A36A">
              <a:alpha val="20000"/>
            </a:srgbClr>
          </a:solidFill>
          <a:ln w="12700">
            <a:solidFill>
              <a:srgbClr val="C9A36A">
                <a:alpha val="50196"/>
              </a:srgbClr>
            </a:solidFill>
            <a:prstDash val="solid"/>
          </a:ln>
        </p:spPr>
        <p:txBody>
          <a:bodyPr/>
          <a:p/>
        </p:txBody>
      </p:sp>
      <p:sp>
        <p:nvSpPr>
          <p:cNvPr id="5" name="Text 2"/>
          <p:cNvSpPr/>
          <p:nvPr/>
        </p:nvSpPr>
        <p:spPr>
          <a:xfrm>
            <a:off x="581025" y="844897"/>
            <a:ext cx="2505075" cy="228600"/>
          </a:xfrm>
          <a:prstGeom prst="rect">
            <a:avLst/>
          </a:prstGeom>
          <a:noFill/>
          <a:ln/>
        </p:spPr>
        <p:txBody>
          <a:bodyPr wrap="square" lIns="0" tIns="0" rIns="0" bIns="0" rtlCol="0" anchor="ctr"/>
          <a:lstStyle/>
          <a:p>
            <a:pPr>
              <a:lnSpc>
                <a:spcPct val="130000"/>
              </a:lnSpc>
            </a:pPr>
            <a:r>
              <a:rPr lang="en-US" sz="3600" b="1" spc="360" kern="0" dirty="0">
                <a:solidFill>
                  <a:srgbClr val="FFFF00"/>
                </a:solidFill>
                <a:latin typeface="Quattrocento Sans" pitchFamily="34" charset="0"/>
                <a:ea typeface="Quattrocento Sans" pitchFamily="34" charset="-122"/>
                <a:cs typeface="Quattrocento Sans" pitchFamily="34" charset="-120"/>
              </a:rPr>
              <a:t>Art History Lecture</a:t>
            </a:r>
            <a:endParaRPr lang="en-US" sz="1600" dirty="0"/>
          </a:p>
        </p:txBody>
      </p:sp>
      <p:sp>
        <p:nvSpPr>
          <p:cNvPr id="6" name="Text 3"/>
          <p:cNvSpPr/>
          <p:nvPr/>
        </p:nvSpPr>
        <p:spPr>
          <a:xfrm>
            <a:off x="381000" y="1387822"/>
            <a:ext cx="6953250" cy="2609850"/>
          </a:xfrm>
          <a:prstGeom prst="rect">
            <a:avLst/>
          </a:prstGeom>
          <a:noFill/>
          <a:ln/>
        </p:spPr>
        <p:txBody>
          <a:bodyPr wrap="square" lIns="0" tIns="0" rIns="0" bIns="0" rtlCol="0" anchor="ctr"/>
          <a:lstStyle/>
          <a:p>
            <a:pPr>
              <a:lnSpc>
                <a:spcPct val="80000"/>
              </a:lnSpc>
            </a:pPr>
            <a:r>
              <a:rPr lang="en-US" sz="3600" b="1" dirty="0">
                <a:solidFill>
                  <a:srgbClr val="FFFF00"/>
                </a:solidFill>
                <a:latin typeface="Oranienbaum" pitchFamily="34" charset="0"/>
                <a:ea typeface="Oranienbaum" pitchFamily="34" charset="-122"/>
                <a:cs typeface="Oranienbaum" pitchFamily="34" charset="-120"/>
              </a:rPr>
              <a:t>Vincent van Gogh:</a:t>
            </a:r>
            <a:endParaRPr lang="en-US" sz="1600" dirty="0"/>
          </a:p>
          <a:p>
            <a:pPr>
              <a:lnSpc>
                <a:spcPct val="80000"/>
              </a:lnSpc>
            </a:pPr>
            <a:r>
              <a:rPr lang="en-US" sz="3600" b="1" dirty="0">
                <a:solidFill>
                  <a:srgbClr val="FFFF00"/>
                </a:solidFill>
                <a:latin typeface="Oranienbaum" pitchFamily="34" charset="0"/>
                <a:ea typeface="Oranienbaum" pitchFamily="34" charset="-122"/>
                <a:cs typeface="Oranienbaum" pitchFamily="34" charset="-120"/>
              </a:rPr>
              <a:t>A Life of Passionand Color</a:t>
            </a:r>
            <a:endParaRPr lang="en-US" sz="1600" dirty="0"/>
          </a:p>
        </p:txBody>
      </p:sp>
      <p:sp>
        <p:nvSpPr>
          <p:cNvPr id="7" name="Shape 4"/>
          <p:cNvSpPr/>
          <p:nvPr/>
        </p:nvSpPr>
        <p:spPr>
          <a:xfrm>
            <a:off x="381000" y="4298528"/>
            <a:ext cx="1524000" cy="28575"/>
          </a:xfrm>
          <a:custGeom>
            <a:avLst/>
            <a:gdLst/>
            <a:ahLst/>
            <a:cxnLst/>
            <a:rect l="l" t="t" r="r" b="b"/>
            <a:pathLst>
              <a:path w="1524000" h="28575">
                <a:moveTo>
                  <a:pt x="0" y="0"/>
                </a:moveTo>
                <a:lnTo>
                  <a:pt x="1524000" y="0"/>
                </a:lnTo>
                <a:lnTo>
                  <a:pt x="1524000" y="28575"/>
                </a:lnTo>
                <a:lnTo>
                  <a:pt x="0" y="28575"/>
                </a:lnTo>
                <a:lnTo>
                  <a:pt x="0" y="0"/>
                </a:lnTo>
                <a:close/>
              </a:path>
            </a:pathLst>
          </a:custGeom>
          <a:solidFill>
            <a:srgbClr val="C9A36A"/>
          </a:solidFill>
          <a:ln/>
        </p:spPr>
        <p:txBody>
          <a:bodyPr/>
          <a:p/>
        </p:txBody>
      </p:sp>
      <p:sp>
        <p:nvSpPr>
          <p:cNvPr id="8" name="Text 5"/>
          <p:cNvSpPr/>
          <p:nvPr/>
        </p:nvSpPr>
        <p:spPr>
          <a:xfrm>
            <a:off x="381000" y="4631903"/>
            <a:ext cx="6515100" cy="742950"/>
          </a:xfrm>
          <a:prstGeom prst="rect">
            <a:avLst/>
          </a:prstGeom>
          <a:noFill/>
          <a:ln/>
        </p:spPr>
        <p:txBody>
          <a:bodyPr wrap="square" lIns="0" tIns="0" rIns="0" bIns="0" rtlCol="0" anchor="ctr"/>
          <a:lstStyle/>
          <a:p>
            <a:pPr>
              <a:lnSpc>
                <a:spcPct val="140000"/>
              </a:lnSpc>
            </a:pPr>
            <a:r>
              <a:rPr lang="en-US" sz="3600" dirty="0" b="1">
                <a:solidFill>
                  <a:srgbClr val="FFFF00"/>
                </a:solidFill>
                <a:latin typeface="Quattrocento Sans" pitchFamily="34" charset="0"/>
                <a:ea typeface="Quattrocento Sans" pitchFamily="34" charset="-122"/>
                <a:cs typeface="Quattrocento Sans" pitchFamily="34" charset="-120"/>
              </a:rPr>
              <a:t>Exploring the Art, Struggles, and Legacy of a Post-Impressionist Master</a:t>
            </a:r>
            <a:endParaRPr lang="en-US" sz="1600" dirty="0"/>
          </a:p>
        </p:txBody>
      </p:sp>
      <p:sp>
        <p:nvSpPr>
          <p:cNvPr id="9" name="Shape 6"/>
          <p:cNvSpPr/>
          <p:nvPr/>
        </p:nvSpPr>
        <p:spPr>
          <a:xfrm>
            <a:off x="416719" y="5870153"/>
            <a:ext cx="166688" cy="190500"/>
          </a:xfrm>
          <a:custGeom>
            <a:avLst/>
            <a:gdLst/>
            <a:ahLst/>
            <a:cxnLst/>
            <a:rect l="l" t="t" r="r" b="b"/>
            <a:pathLst>
              <a:path w="166688" h="190500">
                <a:moveTo>
                  <a:pt x="47625" y="0"/>
                </a:moveTo>
                <a:cubicBezTo>
                  <a:pt x="54211" y="0"/>
                  <a:pt x="59531" y="5321"/>
                  <a:pt x="59531" y="11906"/>
                </a:cubicBezTo>
                <a:lnTo>
                  <a:pt x="59531" y="23812"/>
                </a:lnTo>
                <a:lnTo>
                  <a:pt x="107156" y="23812"/>
                </a:lnTo>
                <a:lnTo>
                  <a:pt x="107156" y="11906"/>
                </a:lnTo>
                <a:cubicBezTo>
                  <a:pt x="107156" y="5321"/>
                  <a:pt x="112477" y="0"/>
                  <a:pt x="119063" y="0"/>
                </a:cubicBezTo>
                <a:cubicBezTo>
                  <a:pt x="125648" y="0"/>
                  <a:pt x="130969" y="5321"/>
                  <a:pt x="130969" y="11906"/>
                </a:cubicBezTo>
                <a:lnTo>
                  <a:pt x="130969" y="23812"/>
                </a:lnTo>
                <a:lnTo>
                  <a:pt x="142875" y="23812"/>
                </a:lnTo>
                <a:cubicBezTo>
                  <a:pt x="156009" y="23812"/>
                  <a:pt x="166688" y="34491"/>
                  <a:pt x="166688" y="47625"/>
                </a:cubicBezTo>
                <a:lnTo>
                  <a:pt x="166688" y="154781"/>
                </a:lnTo>
                <a:cubicBezTo>
                  <a:pt x="166688" y="167915"/>
                  <a:pt x="156009" y="178594"/>
                  <a:pt x="142875" y="178594"/>
                </a:cubicBezTo>
                <a:lnTo>
                  <a:pt x="23812" y="178594"/>
                </a:lnTo>
                <a:cubicBezTo>
                  <a:pt x="10678" y="178594"/>
                  <a:pt x="0" y="167915"/>
                  <a:pt x="0" y="154781"/>
                </a:cubicBezTo>
                <a:lnTo>
                  <a:pt x="0" y="47625"/>
                </a:lnTo>
                <a:cubicBezTo>
                  <a:pt x="0" y="34491"/>
                  <a:pt x="10678" y="23812"/>
                  <a:pt x="23812" y="23812"/>
                </a:cubicBezTo>
                <a:lnTo>
                  <a:pt x="35719" y="23812"/>
                </a:lnTo>
                <a:lnTo>
                  <a:pt x="35719" y="11906"/>
                </a:lnTo>
                <a:cubicBezTo>
                  <a:pt x="35719" y="5321"/>
                  <a:pt x="41039" y="0"/>
                  <a:pt x="47625" y="0"/>
                </a:cubicBezTo>
                <a:close/>
                <a:moveTo>
                  <a:pt x="23812" y="89297"/>
                </a:moveTo>
                <a:lnTo>
                  <a:pt x="23812" y="101203"/>
                </a:lnTo>
                <a:cubicBezTo>
                  <a:pt x="23812" y="104477"/>
                  <a:pt x="26491" y="107156"/>
                  <a:pt x="29766" y="107156"/>
                </a:cubicBezTo>
                <a:lnTo>
                  <a:pt x="41672" y="107156"/>
                </a:lnTo>
                <a:cubicBezTo>
                  <a:pt x="44946" y="107156"/>
                  <a:pt x="47625" y="104477"/>
                  <a:pt x="47625" y="101203"/>
                </a:cubicBezTo>
                <a:lnTo>
                  <a:pt x="47625" y="89297"/>
                </a:lnTo>
                <a:cubicBezTo>
                  <a:pt x="47625" y="86023"/>
                  <a:pt x="44946" y="83344"/>
                  <a:pt x="41672" y="83344"/>
                </a:cubicBezTo>
                <a:lnTo>
                  <a:pt x="29766" y="83344"/>
                </a:lnTo>
                <a:cubicBezTo>
                  <a:pt x="26491" y="83344"/>
                  <a:pt x="23812" y="86023"/>
                  <a:pt x="23812" y="89297"/>
                </a:cubicBezTo>
                <a:close/>
                <a:moveTo>
                  <a:pt x="71438" y="89297"/>
                </a:moveTo>
                <a:lnTo>
                  <a:pt x="71438" y="101203"/>
                </a:lnTo>
                <a:cubicBezTo>
                  <a:pt x="71438" y="104477"/>
                  <a:pt x="74116" y="107156"/>
                  <a:pt x="77391" y="107156"/>
                </a:cubicBezTo>
                <a:lnTo>
                  <a:pt x="89297" y="107156"/>
                </a:lnTo>
                <a:cubicBezTo>
                  <a:pt x="92571" y="107156"/>
                  <a:pt x="95250" y="104477"/>
                  <a:pt x="95250" y="101203"/>
                </a:cubicBezTo>
                <a:lnTo>
                  <a:pt x="95250" y="89297"/>
                </a:lnTo>
                <a:cubicBezTo>
                  <a:pt x="95250" y="86023"/>
                  <a:pt x="92571" y="83344"/>
                  <a:pt x="89297" y="83344"/>
                </a:cubicBezTo>
                <a:lnTo>
                  <a:pt x="77391" y="83344"/>
                </a:lnTo>
                <a:cubicBezTo>
                  <a:pt x="74116" y="83344"/>
                  <a:pt x="71438" y="86023"/>
                  <a:pt x="71438" y="89297"/>
                </a:cubicBezTo>
                <a:close/>
                <a:moveTo>
                  <a:pt x="125016" y="83344"/>
                </a:moveTo>
                <a:cubicBezTo>
                  <a:pt x="121741" y="83344"/>
                  <a:pt x="119063" y="86023"/>
                  <a:pt x="119063" y="89297"/>
                </a:cubicBezTo>
                <a:lnTo>
                  <a:pt x="119063" y="101203"/>
                </a:lnTo>
                <a:cubicBezTo>
                  <a:pt x="119063" y="104477"/>
                  <a:pt x="121741" y="107156"/>
                  <a:pt x="125016" y="107156"/>
                </a:cubicBezTo>
                <a:lnTo>
                  <a:pt x="136922" y="107156"/>
                </a:lnTo>
                <a:cubicBezTo>
                  <a:pt x="140196" y="107156"/>
                  <a:pt x="142875" y="104477"/>
                  <a:pt x="142875" y="101203"/>
                </a:cubicBezTo>
                <a:lnTo>
                  <a:pt x="142875" y="89297"/>
                </a:lnTo>
                <a:cubicBezTo>
                  <a:pt x="142875" y="86023"/>
                  <a:pt x="140196" y="83344"/>
                  <a:pt x="136922" y="83344"/>
                </a:cubicBezTo>
                <a:lnTo>
                  <a:pt x="125016" y="83344"/>
                </a:lnTo>
                <a:close/>
                <a:moveTo>
                  <a:pt x="23812" y="136922"/>
                </a:moveTo>
                <a:lnTo>
                  <a:pt x="23812" y="148828"/>
                </a:lnTo>
                <a:cubicBezTo>
                  <a:pt x="23812" y="152102"/>
                  <a:pt x="26491" y="154781"/>
                  <a:pt x="29766" y="154781"/>
                </a:cubicBezTo>
                <a:lnTo>
                  <a:pt x="41672" y="154781"/>
                </a:lnTo>
                <a:cubicBezTo>
                  <a:pt x="44946" y="154781"/>
                  <a:pt x="47625" y="152102"/>
                  <a:pt x="47625" y="148828"/>
                </a:cubicBezTo>
                <a:lnTo>
                  <a:pt x="47625" y="136922"/>
                </a:lnTo>
                <a:cubicBezTo>
                  <a:pt x="47625" y="133648"/>
                  <a:pt x="44946" y="130969"/>
                  <a:pt x="41672" y="130969"/>
                </a:cubicBezTo>
                <a:lnTo>
                  <a:pt x="29766" y="130969"/>
                </a:lnTo>
                <a:cubicBezTo>
                  <a:pt x="26491" y="130969"/>
                  <a:pt x="23812" y="133648"/>
                  <a:pt x="23812" y="136922"/>
                </a:cubicBezTo>
                <a:close/>
                <a:moveTo>
                  <a:pt x="77391" y="130969"/>
                </a:moveTo>
                <a:cubicBezTo>
                  <a:pt x="74116" y="130969"/>
                  <a:pt x="71438" y="133648"/>
                  <a:pt x="71438" y="136922"/>
                </a:cubicBezTo>
                <a:lnTo>
                  <a:pt x="71438" y="148828"/>
                </a:lnTo>
                <a:cubicBezTo>
                  <a:pt x="71438" y="152102"/>
                  <a:pt x="74116" y="154781"/>
                  <a:pt x="77391" y="154781"/>
                </a:cubicBezTo>
                <a:lnTo>
                  <a:pt x="89297" y="154781"/>
                </a:lnTo>
                <a:cubicBezTo>
                  <a:pt x="92571" y="154781"/>
                  <a:pt x="95250" y="152102"/>
                  <a:pt x="95250" y="148828"/>
                </a:cubicBezTo>
                <a:lnTo>
                  <a:pt x="95250" y="136922"/>
                </a:lnTo>
                <a:cubicBezTo>
                  <a:pt x="95250" y="133648"/>
                  <a:pt x="92571" y="130969"/>
                  <a:pt x="89297" y="130969"/>
                </a:cubicBezTo>
                <a:lnTo>
                  <a:pt x="77391" y="130969"/>
                </a:lnTo>
                <a:close/>
                <a:moveTo>
                  <a:pt x="119063" y="136922"/>
                </a:moveTo>
                <a:lnTo>
                  <a:pt x="119063" y="148828"/>
                </a:lnTo>
                <a:cubicBezTo>
                  <a:pt x="119063" y="152102"/>
                  <a:pt x="121741" y="154781"/>
                  <a:pt x="125016" y="154781"/>
                </a:cubicBezTo>
                <a:lnTo>
                  <a:pt x="136922" y="154781"/>
                </a:lnTo>
                <a:cubicBezTo>
                  <a:pt x="140196" y="154781"/>
                  <a:pt x="142875" y="152102"/>
                  <a:pt x="142875" y="148828"/>
                </a:cubicBezTo>
                <a:lnTo>
                  <a:pt x="142875" y="136922"/>
                </a:lnTo>
                <a:cubicBezTo>
                  <a:pt x="142875" y="133648"/>
                  <a:pt x="140196" y="130969"/>
                  <a:pt x="136922" y="130969"/>
                </a:cubicBezTo>
                <a:lnTo>
                  <a:pt x="125016" y="130969"/>
                </a:lnTo>
                <a:cubicBezTo>
                  <a:pt x="121741" y="130969"/>
                  <a:pt x="119063" y="133648"/>
                  <a:pt x="119063" y="136922"/>
                </a:cubicBezTo>
                <a:close/>
              </a:path>
            </a:pathLst>
          </a:custGeom>
          <a:solidFill>
            <a:srgbClr val="C9A36A"/>
          </a:solidFill>
          <a:ln/>
        </p:spPr>
        <p:txBody>
          <a:bodyPr/>
          <a:p/>
        </p:txBody>
      </p:sp>
      <p:sp>
        <p:nvSpPr>
          <p:cNvPr id="10" name="Text 7"/>
          <p:cNvSpPr/>
          <p:nvPr/>
        </p:nvSpPr>
        <p:spPr>
          <a:xfrm>
            <a:off x="733425" y="5832053"/>
            <a:ext cx="942975" cy="266700"/>
          </a:xfrm>
          <a:prstGeom prst="rect">
            <a:avLst/>
          </a:prstGeom>
          <a:noFill/>
          <a:ln/>
        </p:spPr>
        <p:txBody>
          <a:bodyPr wrap="square" lIns="0" tIns="0" rIns="0" bIns="0" rtlCol="0" anchor="ctr"/>
          <a:lstStyle/>
          <a:p>
            <a:pPr>
              <a:lnSpc>
                <a:spcPct val="130000"/>
              </a:lnSpc>
            </a:pPr>
            <a:r>
              <a:rPr lang="en-US" sz="3600" dirty="0" b="1">
                <a:solidFill>
                  <a:srgbClr val="FFFF00"/>
                </a:solidFill>
                <a:latin typeface="Quattrocento Sans" pitchFamily="34" charset="0"/>
                <a:ea typeface="Quattrocento Sans" pitchFamily="34" charset="-122"/>
                <a:cs typeface="Quattrocento Sans" pitchFamily="34" charset="-120"/>
              </a:rPr>
              <a:t>1853 - 1890</a:t>
            </a:r>
            <a:endParaRPr lang="en-US" sz="1600" dirty="0"/>
          </a:p>
        </p:txBody>
      </p:sp>
      <p:sp>
        <p:nvSpPr>
          <p:cNvPr id="11" name="Shape 8"/>
          <p:cNvSpPr/>
          <p:nvPr/>
        </p:nvSpPr>
        <p:spPr>
          <a:xfrm>
            <a:off x="1919288" y="5870153"/>
            <a:ext cx="190500" cy="190500"/>
          </a:xfrm>
          <a:custGeom>
            <a:avLst/>
            <a:gdLst/>
            <a:ahLst/>
            <a:cxnLst/>
            <a:rect l="l" t="t" r="r" b="b"/>
            <a:pathLst>
              <a:path w="190500" h="190500">
                <a:moveTo>
                  <a:pt x="190500" y="95250"/>
                </a:moveTo>
                <a:cubicBezTo>
                  <a:pt x="190500" y="95585"/>
                  <a:pt x="190500" y="95920"/>
                  <a:pt x="190500" y="96255"/>
                </a:cubicBezTo>
                <a:cubicBezTo>
                  <a:pt x="190351" y="109835"/>
                  <a:pt x="177998" y="119063"/>
                  <a:pt x="164418" y="119063"/>
                </a:cubicBezTo>
                <a:lnTo>
                  <a:pt x="127992" y="119063"/>
                </a:lnTo>
                <a:cubicBezTo>
                  <a:pt x="118132" y="119063"/>
                  <a:pt x="110133" y="127062"/>
                  <a:pt x="110133" y="136922"/>
                </a:cubicBezTo>
                <a:cubicBezTo>
                  <a:pt x="110133" y="138187"/>
                  <a:pt x="110282" y="139415"/>
                  <a:pt x="110505" y="140605"/>
                </a:cubicBezTo>
                <a:cubicBezTo>
                  <a:pt x="111286" y="144400"/>
                  <a:pt x="112923" y="148047"/>
                  <a:pt x="114523" y="151730"/>
                </a:cubicBezTo>
                <a:cubicBezTo>
                  <a:pt x="116793" y="156865"/>
                  <a:pt x="119025" y="161962"/>
                  <a:pt x="119025" y="167357"/>
                </a:cubicBezTo>
                <a:cubicBezTo>
                  <a:pt x="119025" y="179189"/>
                  <a:pt x="110989" y="189942"/>
                  <a:pt x="99157" y="190426"/>
                </a:cubicBezTo>
                <a:cubicBezTo>
                  <a:pt x="97854" y="190463"/>
                  <a:pt x="96552" y="190500"/>
                  <a:pt x="95213" y="190500"/>
                </a:cubicBezTo>
                <a:cubicBezTo>
                  <a:pt x="42602" y="190500"/>
                  <a:pt x="-37" y="147861"/>
                  <a:pt x="-37" y="95250"/>
                </a:cubicBezTo>
                <a:cubicBezTo>
                  <a:pt x="-37" y="42639"/>
                  <a:pt x="42639" y="0"/>
                  <a:pt x="95250" y="0"/>
                </a:cubicBezTo>
                <a:cubicBezTo>
                  <a:pt x="147861" y="0"/>
                  <a:pt x="190500" y="42639"/>
                  <a:pt x="190500" y="95250"/>
                </a:cubicBezTo>
                <a:close/>
                <a:moveTo>
                  <a:pt x="47625" y="107156"/>
                </a:moveTo>
                <a:cubicBezTo>
                  <a:pt x="47625" y="100585"/>
                  <a:pt x="42290" y="95250"/>
                  <a:pt x="35719" y="95250"/>
                </a:cubicBezTo>
                <a:cubicBezTo>
                  <a:pt x="29148" y="95250"/>
                  <a:pt x="23812" y="100585"/>
                  <a:pt x="23812" y="107156"/>
                </a:cubicBezTo>
                <a:cubicBezTo>
                  <a:pt x="23812" y="113727"/>
                  <a:pt x="29148" y="119063"/>
                  <a:pt x="35719" y="119063"/>
                </a:cubicBezTo>
                <a:cubicBezTo>
                  <a:pt x="42290" y="119063"/>
                  <a:pt x="47625" y="113727"/>
                  <a:pt x="47625" y="107156"/>
                </a:cubicBezTo>
                <a:close/>
                <a:moveTo>
                  <a:pt x="47625" y="71438"/>
                </a:moveTo>
                <a:cubicBezTo>
                  <a:pt x="54196" y="71438"/>
                  <a:pt x="59531" y="66102"/>
                  <a:pt x="59531" y="59531"/>
                </a:cubicBezTo>
                <a:cubicBezTo>
                  <a:pt x="59531" y="52960"/>
                  <a:pt x="54196" y="47625"/>
                  <a:pt x="47625" y="47625"/>
                </a:cubicBezTo>
                <a:cubicBezTo>
                  <a:pt x="41054" y="47625"/>
                  <a:pt x="35719" y="52960"/>
                  <a:pt x="35719" y="59531"/>
                </a:cubicBezTo>
                <a:cubicBezTo>
                  <a:pt x="35719" y="66102"/>
                  <a:pt x="41054" y="71438"/>
                  <a:pt x="47625" y="71438"/>
                </a:cubicBezTo>
                <a:close/>
                <a:moveTo>
                  <a:pt x="107156" y="35719"/>
                </a:moveTo>
                <a:cubicBezTo>
                  <a:pt x="107156" y="29148"/>
                  <a:pt x="101821" y="23812"/>
                  <a:pt x="95250" y="23812"/>
                </a:cubicBezTo>
                <a:cubicBezTo>
                  <a:pt x="88679" y="23812"/>
                  <a:pt x="83344" y="29148"/>
                  <a:pt x="83344" y="35719"/>
                </a:cubicBezTo>
                <a:cubicBezTo>
                  <a:pt x="83344" y="42290"/>
                  <a:pt x="88679" y="47625"/>
                  <a:pt x="95250" y="47625"/>
                </a:cubicBezTo>
                <a:cubicBezTo>
                  <a:pt x="101821" y="47625"/>
                  <a:pt x="107156" y="42290"/>
                  <a:pt x="107156" y="35719"/>
                </a:cubicBezTo>
                <a:close/>
                <a:moveTo>
                  <a:pt x="142875" y="71438"/>
                </a:moveTo>
                <a:cubicBezTo>
                  <a:pt x="149446" y="71438"/>
                  <a:pt x="154781" y="66102"/>
                  <a:pt x="154781" y="59531"/>
                </a:cubicBezTo>
                <a:cubicBezTo>
                  <a:pt x="154781" y="52960"/>
                  <a:pt x="149446" y="47625"/>
                  <a:pt x="142875" y="47625"/>
                </a:cubicBezTo>
                <a:cubicBezTo>
                  <a:pt x="136304" y="47625"/>
                  <a:pt x="130969" y="52960"/>
                  <a:pt x="130969" y="59531"/>
                </a:cubicBezTo>
                <a:cubicBezTo>
                  <a:pt x="130969" y="66102"/>
                  <a:pt x="136304" y="71438"/>
                  <a:pt x="142875" y="71438"/>
                </a:cubicBezTo>
                <a:close/>
              </a:path>
            </a:pathLst>
          </a:custGeom>
          <a:solidFill>
            <a:srgbClr val="C9A36A"/>
          </a:solidFill>
          <a:ln/>
        </p:spPr>
        <p:txBody>
          <a:bodyPr/>
          <a:p/>
        </p:txBody>
      </p:sp>
      <p:sp>
        <p:nvSpPr>
          <p:cNvPr id="12" name="Text 9"/>
          <p:cNvSpPr/>
          <p:nvPr/>
        </p:nvSpPr>
        <p:spPr>
          <a:xfrm>
            <a:off x="2247900" y="5832053"/>
            <a:ext cx="1419225" cy="266700"/>
          </a:xfrm>
          <a:prstGeom prst="rect">
            <a:avLst/>
          </a:prstGeom>
          <a:noFill/>
          <a:ln/>
        </p:spPr>
        <p:txBody>
          <a:bodyPr wrap="square" lIns="0" tIns="0" rIns="0" bIns="0" rtlCol="0" anchor="ctr"/>
          <a:lstStyle/>
          <a:p>
            <a:pPr>
              <a:lnSpc>
                <a:spcPct val="130000"/>
              </a:lnSpc>
            </a:pPr>
            <a:r>
              <a:rPr lang="en-US" sz="3600" dirty="0" b="1">
                <a:solidFill>
                  <a:srgbClr val="FFFF00"/>
                </a:solidFill>
                <a:latin typeface="Quattrocento Sans" pitchFamily="34" charset="0"/>
                <a:ea typeface="Quattrocento Sans" pitchFamily="34" charset="-122"/>
                <a:cs typeface="Quattrocento Sans" pitchFamily="34" charset="-120"/>
              </a:rPr>
              <a:t>860+ Oil Paintings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300" kern="0" dirty="0">
                <a:solidFill>
                  <a:srgbClr val="C9A36A"/>
                </a:solidFill>
                <a:latin typeface="Quattrocento Sans" pitchFamily="34" charset="0"/>
                <a:ea typeface="Quattrocento Sans" pitchFamily="34" charset="-122"/>
                <a:cs typeface="Quattrocento Sans" pitchFamily="34" charset="-120"/>
              </a:rPr>
              <a:t>Lecture Overview</a:t>
            </a:r>
            <a:endParaRPr lang="en-US" sz="1600" dirty="0"/>
          </a:p>
        </p:txBody>
      </p:sp>
      <p:sp>
        <p:nvSpPr>
          <p:cNvPr id="3" name="Text 1"/>
          <p:cNvSpPr/>
          <p:nvPr/>
        </p:nvSpPr>
        <p:spPr>
          <a:xfrm>
            <a:off x="381000" y="723900"/>
            <a:ext cx="11715750" cy="571500"/>
          </a:xfrm>
          <a:prstGeom prst="rect">
            <a:avLst/>
          </a:prstGeom>
          <a:noFill/>
          <a:ln/>
        </p:spPr>
        <p:txBody>
          <a:bodyPr wrap="square" lIns="0" tIns="0" rIns="0" bIns="0" rtlCol="0" anchor="ctr"/>
          <a:lstStyle/>
          <a:p>
            <a:pPr>
              <a:lnSpc>
                <a:spcPct val="80000"/>
              </a:lnSpc>
            </a:pPr>
            <a:r>
              <a:rPr lang="en-US" sz="4500" b="1" dirty="0">
                <a:solidFill>
                  <a:srgbClr val="F2F2F2"/>
                </a:solidFill>
                <a:latin typeface="Oranienbaum" pitchFamily="34" charset="0"/>
                <a:ea typeface="Oranienbaum" pitchFamily="34" charset="-122"/>
                <a:cs typeface="Oranienbaum" pitchFamily="34" charset="-120"/>
              </a:rPr>
              <a:t>Contents</a:t>
            </a:r>
            <a:endParaRPr lang="en-US" sz="1600" dirty="0"/>
          </a:p>
        </p:txBody>
      </p:sp>
      <p:sp>
        <p:nvSpPr>
          <p:cNvPr id="4" name="Shape 2"/>
          <p:cNvSpPr/>
          <p:nvPr/>
        </p:nvSpPr>
        <p:spPr>
          <a:xfrm>
            <a:off x="381000" y="1485900"/>
            <a:ext cx="1219200" cy="28575"/>
          </a:xfrm>
          <a:custGeom>
            <a:avLst/>
            <a:gdLst/>
            <a:ahLst/>
            <a:cxnLst/>
            <a:rect l="l" t="t" r="r" b="b"/>
            <a:pathLst>
              <a:path w="1219200" h="28575">
                <a:moveTo>
                  <a:pt x="0" y="0"/>
                </a:moveTo>
                <a:lnTo>
                  <a:pt x="1219200" y="0"/>
                </a:lnTo>
                <a:lnTo>
                  <a:pt x="1219200" y="28575"/>
                </a:lnTo>
                <a:lnTo>
                  <a:pt x="0" y="28575"/>
                </a:lnTo>
                <a:lnTo>
                  <a:pt x="0" y="0"/>
                </a:lnTo>
                <a:close/>
              </a:path>
            </a:pathLst>
          </a:custGeom>
          <a:solidFill>
            <a:srgbClr val="C9A36A"/>
          </a:solidFill>
          <a:ln/>
        </p:spPr>
      </p:sp>
      <p:sp>
        <p:nvSpPr>
          <p:cNvPr id="5" name="Shape 3"/>
          <p:cNvSpPr/>
          <p:nvPr/>
        </p:nvSpPr>
        <p:spPr>
          <a:xfrm>
            <a:off x="400050" y="1819275"/>
            <a:ext cx="5543550" cy="1343025"/>
          </a:xfrm>
          <a:custGeom>
            <a:avLst/>
            <a:gdLst/>
            <a:ahLst/>
            <a:cxn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p:spPr>
      </p:sp>
      <p:sp>
        <p:nvSpPr>
          <p:cNvPr id="6" name="Shape 4"/>
          <p:cNvSpPr/>
          <p:nvPr/>
        </p:nvSpPr>
        <p:spPr>
          <a:xfrm>
            <a:off x="400050" y="1819275"/>
            <a:ext cx="38100" cy="1343025"/>
          </a:xfrm>
          <a:custGeom>
            <a:avLst/>
            <a:gdLst/>
            <a:ahLst/>
            <a:cxn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p:spPr>
      </p:sp>
      <p:sp>
        <p:nvSpPr>
          <p:cNvPr id="7" name="Shape 5"/>
          <p:cNvSpPr/>
          <p:nvPr/>
        </p:nvSpPr>
        <p:spPr>
          <a:xfrm>
            <a:off x="647700" y="204787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8" name="Text 6"/>
          <p:cNvSpPr/>
          <p:nvPr/>
        </p:nvSpPr>
        <p:spPr>
          <a:xfrm>
            <a:off x="798612" y="2143125"/>
            <a:ext cx="371475"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01</a:t>
            </a:r>
            <a:endParaRPr lang="en-US" sz="1600" dirty="0"/>
          </a:p>
        </p:txBody>
      </p:sp>
      <p:sp>
        <p:nvSpPr>
          <p:cNvPr id="9" name="Text 7"/>
          <p:cNvSpPr/>
          <p:nvPr/>
        </p:nvSpPr>
        <p:spPr>
          <a:xfrm>
            <a:off x="1371600" y="2047875"/>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Early Life and Artistic Beginnings</a:t>
            </a:r>
            <a:endParaRPr lang="en-US" sz="1600" dirty="0"/>
          </a:p>
        </p:txBody>
      </p:sp>
      <p:sp>
        <p:nvSpPr>
          <p:cNvPr id="10" name="Text 8"/>
          <p:cNvSpPr/>
          <p:nvPr/>
        </p:nvSpPr>
        <p:spPr>
          <a:xfrm>
            <a:off x="1371600" y="2428875"/>
            <a:ext cx="4419600" cy="2476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The journey from a troubled youth to a passionate artist</a:t>
            </a:r>
            <a:endParaRPr lang="en-US" sz="1600" dirty="0"/>
          </a:p>
        </p:txBody>
      </p:sp>
      <p:sp>
        <p:nvSpPr>
          <p:cNvPr id="11" name="Shape 9"/>
          <p:cNvSpPr/>
          <p:nvPr/>
        </p:nvSpPr>
        <p:spPr>
          <a:xfrm>
            <a:off x="6267450" y="1819275"/>
            <a:ext cx="5543550" cy="1343025"/>
          </a:xfrm>
          <a:custGeom>
            <a:avLst/>
            <a:gdLst/>
            <a:ahLst/>
            <a:cxn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p:spPr>
      </p:sp>
      <p:sp>
        <p:nvSpPr>
          <p:cNvPr id="12" name="Shape 10"/>
          <p:cNvSpPr/>
          <p:nvPr/>
        </p:nvSpPr>
        <p:spPr>
          <a:xfrm>
            <a:off x="6267450" y="1819275"/>
            <a:ext cx="38100" cy="1343025"/>
          </a:xfrm>
          <a:custGeom>
            <a:avLst/>
            <a:gdLst/>
            <a:ahLst/>
            <a:cxn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p:spPr>
      </p:sp>
      <p:sp>
        <p:nvSpPr>
          <p:cNvPr id="13" name="Shape 11"/>
          <p:cNvSpPr/>
          <p:nvPr/>
        </p:nvSpPr>
        <p:spPr>
          <a:xfrm>
            <a:off x="6515100" y="204787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14" name="Text 12"/>
          <p:cNvSpPr/>
          <p:nvPr/>
        </p:nvSpPr>
        <p:spPr>
          <a:xfrm>
            <a:off x="6639595" y="2143125"/>
            <a:ext cx="428625"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02</a:t>
            </a:r>
            <a:endParaRPr lang="en-US" sz="1600" dirty="0"/>
          </a:p>
        </p:txBody>
      </p:sp>
      <p:sp>
        <p:nvSpPr>
          <p:cNvPr id="15" name="Text 13"/>
          <p:cNvSpPr/>
          <p:nvPr/>
        </p:nvSpPr>
        <p:spPr>
          <a:xfrm>
            <a:off x="7239000" y="2047875"/>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The Evolution of Style</a:t>
            </a:r>
            <a:endParaRPr lang="en-US" sz="1600" dirty="0"/>
          </a:p>
        </p:txBody>
      </p:sp>
      <p:sp>
        <p:nvSpPr>
          <p:cNvPr id="16" name="Text 14"/>
          <p:cNvSpPr/>
          <p:nvPr/>
        </p:nvSpPr>
        <p:spPr>
          <a:xfrm>
            <a:off x="7239000" y="2428875"/>
            <a:ext cx="4419600" cy="2476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From dark realism to vibrant expression across five periods</a:t>
            </a:r>
            <a:endParaRPr lang="en-US" sz="1600" dirty="0"/>
          </a:p>
        </p:txBody>
      </p:sp>
      <p:sp>
        <p:nvSpPr>
          <p:cNvPr id="17" name="Shape 15"/>
          <p:cNvSpPr/>
          <p:nvPr/>
        </p:nvSpPr>
        <p:spPr>
          <a:xfrm>
            <a:off x="400050" y="3352800"/>
            <a:ext cx="5543550" cy="1343025"/>
          </a:xfrm>
          <a:custGeom>
            <a:avLst/>
            <a:gdLst/>
            <a:ahLst/>
            <a:cxn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p:spPr>
      </p:sp>
      <p:sp>
        <p:nvSpPr>
          <p:cNvPr id="18" name="Shape 16"/>
          <p:cNvSpPr/>
          <p:nvPr/>
        </p:nvSpPr>
        <p:spPr>
          <a:xfrm>
            <a:off x="400050" y="3352800"/>
            <a:ext cx="38100" cy="1343025"/>
          </a:xfrm>
          <a:custGeom>
            <a:avLst/>
            <a:gdLst/>
            <a:ahLst/>
            <a:cxn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p:spPr>
      </p:sp>
      <p:sp>
        <p:nvSpPr>
          <p:cNvPr id="19" name="Shape 17"/>
          <p:cNvSpPr/>
          <p:nvPr/>
        </p:nvSpPr>
        <p:spPr>
          <a:xfrm>
            <a:off x="647700" y="35814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20" name="Text 18"/>
          <p:cNvSpPr/>
          <p:nvPr/>
        </p:nvSpPr>
        <p:spPr>
          <a:xfrm>
            <a:off x="771525" y="3676650"/>
            <a:ext cx="428625"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03</a:t>
            </a:r>
            <a:endParaRPr lang="en-US" sz="1600" dirty="0"/>
          </a:p>
        </p:txBody>
      </p:sp>
      <p:sp>
        <p:nvSpPr>
          <p:cNvPr id="21" name="Text 19"/>
          <p:cNvSpPr/>
          <p:nvPr/>
        </p:nvSpPr>
        <p:spPr>
          <a:xfrm>
            <a:off x="1371600" y="3581400"/>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Masterpieces That Define an Era</a:t>
            </a:r>
            <a:endParaRPr lang="en-US" sz="1600" dirty="0"/>
          </a:p>
        </p:txBody>
      </p:sp>
      <p:sp>
        <p:nvSpPr>
          <p:cNvPr id="22" name="Text 20"/>
          <p:cNvSpPr/>
          <p:nvPr/>
        </p:nvSpPr>
        <p:spPr>
          <a:xfrm>
            <a:off x="1371600" y="3962400"/>
            <a:ext cx="4419600" cy="2476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Iconic works that continue to captivate the world</a:t>
            </a:r>
            <a:endParaRPr lang="en-US" sz="1600" dirty="0"/>
          </a:p>
        </p:txBody>
      </p:sp>
      <p:sp>
        <p:nvSpPr>
          <p:cNvPr id="23" name="Shape 21"/>
          <p:cNvSpPr/>
          <p:nvPr/>
        </p:nvSpPr>
        <p:spPr>
          <a:xfrm>
            <a:off x="6267450" y="3352800"/>
            <a:ext cx="5543550" cy="1343025"/>
          </a:xfrm>
          <a:custGeom>
            <a:avLst/>
            <a:gdLst/>
            <a:ahLst/>
            <a:cxn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p:spPr>
      </p:sp>
      <p:sp>
        <p:nvSpPr>
          <p:cNvPr id="24" name="Shape 22"/>
          <p:cNvSpPr/>
          <p:nvPr/>
        </p:nvSpPr>
        <p:spPr>
          <a:xfrm>
            <a:off x="6267450" y="3352800"/>
            <a:ext cx="38100" cy="1343025"/>
          </a:xfrm>
          <a:custGeom>
            <a:avLst/>
            <a:gdLst/>
            <a:ahLst/>
            <a:cxn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p:spPr>
      </p:sp>
      <p:sp>
        <p:nvSpPr>
          <p:cNvPr id="25" name="Shape 23"/>
          <p:cNvSpPr/>
          <p:nvPr/>
        </p:nvSpPr>
        <p:spPr>
          <a:xfrm>
            <a:off x="6515100" y="35814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26" name="Text 24"/>
          <p:cNvSpPr/>
          <p:nvPr/>
        </p:nvSpPr>
        <p:spPr>
          <a:xfrm>
            <a:off x="6632451" y="3676650"/>
            <a:ext cx="438150"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04</a:t>
            </a:r>
            <a:endParaRPr lang="en-US" sz="1600" dirty="0"/>
          </a:p>
        </p:txBody>
      </p:sp>
      <p:sp>
        <p:nvSpPr>
          <p:cNvPr id="27" name="Text 25"/>
          <p:cNvSpPr/>
          <p:nvPr/>
        </p:nvSpPr>
        <p:spPr>
          <a:xfrm>
            <a:off x="7239000" y="3581400"/>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Mental Health and the Price of Genius</a:t>
            </a:r>
            <a:endParaRPr lang="en-US" sz="1600" dirty="0"/>
          </a:p>
        </p:txBody>
      </p:sp>
      <p:sp>
        <p:nvSpPr>
          <p:cNvPr id="28" name="Text 26"/>
          <p:cNvSpPr/>
          <p:nvPr/>
        </p:nvSpPr>
        <p:spPr>
          <a:xfrm>
            <a:off x="7239000" y="3962400"/>
            <a:ext cx="4419600" cy="2476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The complex relationship between creativity and struggle</a:t>
            </a:r>
            <a:endParaRPr lang="en-US" sz="1600" dirty="0"/>
          </a:p>
        </p:txBody>
      </p:sp>
      <p:sp>
        <p:nvSpPr>
          <p:cNvPr id="29" name="Shape 27"/>
          <p:cNvSpPr/>
          <p:nvPr/>
        </p:nvSpPr>
        <p:spPr>
          <a:xfrm>
            <a:off x="400050" y="4886325"/>
            <a:ext cx="5543550" cy="1590675"/>
          </a:xfrm>
          <a:custGeom>
            <a:avLst/>
            <a:gdLst/>
            <a:ahLst/>
            <a:cxnLst/>
            <a:rect l="l" t="t" r="r" b="b"/>
            <a:pathLst>
              <a:path w="5543550" h="1590675">
                <a:moveTo>
                  <a:pt x="38100" y="0"/>
                </a:moveTo>
                <a:lnTo>
                  <a:pt x="5467357" y="0"/>
                </a:lnTo>
                <a:cubicBezTo>
                  <a:pt x="5509437" y="0"/>
                  <a:pt x="5543550" y="34113"/>
                  <a:pt x="5543550" y="76193"/>
                </a:cubicBezTo>
                <a:lnTo>
                  <a:pt x="5543550" y="1514482"/>
                </a:lnTo>
                <a:cubicBezTo>
                  <a:pt x="5543550" y="1556562"/>
                  <a:pt x="5509437" y="1590675"/>
                  <a:pt x="5467357" y="1590675"/>
                </a:cubicBezTo>
                <a:lnTo>
                  <a:pt x="38100" y="1590675"/>
                </a:lnTo>
                <a:cubicBezTo>
                  <a:pt x="17072" y="1590675"/>
                  <a:pt x="0" y="1573603"/>
                  <a:pt x="0" y="1552575"/>
                </a:cubicBezTo>
                <a:lnTo>
                  <a:pt x="0" y="38100"/>
                </a:lnTo>
                <a:cubicBezTo>
                  <a:pt x="0" y="17072"/>
                  <a:pt x="17072" y="0"/>
                  <a:pt x="38100" y="0"/>
                </a:cubicBezTo>
                <a:close/>
              </a:path>
            </a:pathLst>
          </a:custGeom>
          <a:solidFill>
            <a:srgbClr val="1A1A1A"/>
          </a:solidFill>
          <a:ln/>
        </p:spPr>
      </p:sp>
      <p:sp>
        <p:nvSpPr>
          <p:cNvPr id="30" name="Shape 28"/>
          <p:cNvSpPr/>
          <p:nvPr/>
        </p:nvSpPr>
        <p:spPr>
          <a:xfrm>
            <a:off x="400050" y="4886325"/>
            <a:ext cx="38100" cy="1590675"/>
          </a:xfrm>
          <a:custGeom>
            <a:avLst/>
            <a:gdLst/>
            <a:ahLst/>
            <a:cxnLst/>
            <a:rect l="l" t="t" r="r" b="b"/>
            <a:pathLst>
              <a:path w="38100" h="1590675">
                <a:moveTo>
                  <a:pt x="38100" y="0"/>
                </a:moveTo>
                <a:lnTo>
                  <a:pt x="38100" y="0"/>
                </a:lnTo>
                <a:lnTo>
                  <a:pt x="38100" y="1590675"/>
                </a:lnTo>
                <a:lnTo>
                  <a:pt x="38100" y="1590675"/>
                </a:lnTo>
                <a:cubicBezTo>
                  <a:pt x="17072" y="1590675"/>
                  <a:pt x="0" y="1573603"/>
                  <a:pt x="0" y="1552575"/>
                </a:cubicBezTo>
                <a:lnTo>
                  <a:pt x="0" y="38100"/>
                </a:lnTo>
                <a:cubicBezTo>
                  <a:pt x="0" y="17072"/>
                  <a:pt x="17072" y="0"/>
                  <a:pt x="38100" y="0"/>
                </a:cubicBezTo>
                <a:close/>
              </a:path>
            </a:pathLst>
          </a:custGeom>
          <a:solidFill>
            <a:srgbClr val="C9A36A"/>
          </a:solidFill>
          <a:ln/>
        </p:spPr>
      </p:sp>
      <p:sp>
        <p:nvSpPr>
          <p:cNvPr id="31" name="Shape 29"/>
          <p:cNvSpPr/>
          <p:nvPr/>
        </p:nvSpPr>
        <p:spPr>
          <a:xfrm>
            <a:off x="647700" y="511492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32" name="Text 30"/>
          <p:cNvSpPr/>
          <p:nvPr/>
        </p:nvSpPr>
        <p:spPr>
          <a:xfrm>
            <a:off x="772939" y="5210175"/>
            <a:ext cx="428625"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05</a:t>
            </a:r>
            <a:endParaRPr lang="en-US" sz="1600" dirty="0"/>
          </a:p>
        </p:txBody>
      </p:sp>
      <p:sp>
        <p:nvSpPr>
          <p:cNvPr id="33" name="Text 31"/>
          <p:cNvSpPr/>
          <p:nvPr/>
        </p:nvSpPr>
        <p:spPr>
          <a:xfrm>
            <a:off x="1371600" y="5114925"/>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The Unbreakable Bond</a:t>
            </a:r>
            <a:endParaRPr lang="en-US" sz="1600" dirty="0"/>
          </a:p>
        </p:txBody>
      </p:sp>
      <p:sp>
        <p:nvSpPr>
          <p:cNvPr id="34" name="Text 32"/>
          <p:cNvSpPr/>
          <p:nvPr/>
        </p:nvSpPr>
        <p:spPr>
          <a:xfrm>
            <a:off x="1371600" y="5495925"/>
            <a:ext cx="4419600" cy="2476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Vincent and Theo: A brotherhood that sustained genius</a:t>
            </a:r>
            <a:endParaRPr lang="en-US" sz="1600" dirty="0"/>
          </a:p>
        </p:txBody>
      </p:sp>
      <p:sp>
        <p:nvSpPr>
          <p:cNvPr id="35" name="Shape 33"/>
          <p:cNvSpPr/>
          <p:nvPr/>
        </p:nvSpPr>
        <p:spPr>
          <a:xfrm>
            <a:off x="6267450" y="4886325"/>
            <a:ext cx="5543550" cy="1590675"/>
          </a:xfrm>
          <a:custGeom>
            <a:avLst/>
            <a:gdLst/>
            <a:ahLst/>
            <a:cxnLst/>
            <a:rect l="l" t="t" r="r" b="b"/>
            <a:pathLst>
              <a:path w="5543550" h="1590675">
                <a:moveTo>
                  <a:pt x="38100" y="0"/>
                </a:moveTo>
                <a:lnTo>
                  <a:pt x="5467357" y="0"/>
                </a:lnTo>
                <a:cubicBezTo>
                  <a:pt x="5509437" y="0"/>
                  <a:pt x="5543550" y="34113"/>
                  <a:pt x="5543550" y="76193"/>
                </a:cubicBezTo>
                <a:lnTo>
                  <a:pt x="5543550" y="1514482"/>
                </a:lnTo>
                <a:cubicBezTo>
                  <a:pt x="5543550" y="1556562"/>
                  <a:pt x="5509437" y="1590675"/>
                  <a:pt x="5467357" y="1590675"/>
                </a:cubicBezTo>
                <a:lnTo>
                  <a:pt x="38100" y="1590675"/>
                </a:lnTo>
                <a:cubicBezTo>
                  <a:pt x="17072" y="1590675"/>
                  <a:pt x="0" y="1573603"/>
                  <a:pt x="0" y="1552575"/>
                </a:cubicBezTo>
                <a:lnTo>
                  <a:pt x="0" y="38100"/>
                </a:lnTo>
                <a:cubicBezTo>
                  <a:pt x="0" y="17072"/>
                  <a:pt x="17072" y="0"/>
                  <a:pt x="38100" y="0"/>
                </a:cubicBezTo>
                <a:close/>
              </a:path>
            </a:pathLst>
          </a:custGeom>
          <a:solidFill>
            <a:srgbClr val="1A1A1A"/>
          </a:solidFill>
          <a:ln/>
        </p:spPr>
      </p:sp>
      <p:sp>
        <p:nvSpPr>
          <p:cNvPr id="36" name="Shape 34"/>
          <p:cNvSpPr/>
          <p:nvPr/>
        </p:nvSpPr>
        <p:spPr>
          <a:xfrm>
            <a:off x="6267450" y="4886325"/>
            <a:ext cx="38100" cy="1590675"/>
          </a:xfrm>
          <a:custGeom>
            <a:avLst/>
            <a:gdLst/>
            <a:ahLst/>
            <a:cxnLst/>
            <a:rect l="l" t="t" r="r" b="b"/>
            <a:pathLst>
              <a:path w="38100" h="1590675">
                <a:moveTo>
                  <a:pt x="38100" y="0"/>
                </a:moveTo>
                <a:lnTo>
                  <a:pt x="38100" y="0"/>
                </a:lnTo>
                <a:lnTo>
                  <a:pt x="38100" y="1590675"/>
                </a:lnTo>
                <a:lnTo>
                  <a:pt x="38100" y="1590675"/>
                </a:lnTo>
                <a:cubicBezTo>
                  <a:pt x="17072" y="1590675"/>
                  <a:pt x="0" y="1573603"/>
                  <a:pt x="0" y="1552575"/>
                </a:cubicBezTo>
                <a:lnTo>
                  <a:pt x="0" y="38100"/>
                </a:lnTo>
                <a:cubicBezTo>
                  <a:pt x="0" y="17072"/>
                  <a:pt x="17072" y="0"/>
                  <a:pt x="38100" y="0"/>
                </a:cubicBezTo>
                <a:close/>
              </a:path>
            </a:pathLst>
          </a:custGeom>
          <a:solidFill>
            <a:srgbClr val="C9A36A"/>
          </a:solidFill>
          <a:ln/>
        </p:spPr>
      </p:sp>
      <p:sp>
        <p:nvSpPr>
          <p:cNvPr id="37" name="Shape 35"/>
          <p:cNvSpPr/>
          <p:nvPr/>
        </p:nvSpPr>
        <p:spPr>
          <a:xfrm>
            <a:off x="6515100" y="511492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38" name="Text 36"/>
          <p:cNvSpPr/>
          <p:nvPr/>
        </p:nvSpPr>
        <p:spPr>
          <a:xfrm>
            <a:off x="6636767" y="5210175"/>
            <a:ext cx="428625"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06</a:t>
            </a:r>
            <a:endParaRPr lang="en-US" sz="1600" dirty="0"/>
          </a:p>
        </p:txBody>
      </p:sp>
      <p:sp>
        <p:nvSpPr>
          <p:cNvPr id="39" name="Text 37"/>
          <p:cNvSpPr/>
          <p:nvPr/>
        </p:nvSpPr>
        <p:spPr>
          <a:xfrm>
            <a:off x="7239000" y="5114925"/>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Enduring Legacy and Influence</a:t>
            </a:r>
            <a:endParaRPr lang="en-US" sz="1600" dirty="0"/>
          </a:p>
        </p:txBody>
      </p:sp>
      <p:sp>
        <p:nvSpPr>
          <p:cNvPr id="40" name="Text 38"/>
          <p:cNvSpPr/>
          <p:nvPr/>
        </p:nvSpPr>
        <p:spPr>
          <a:xfrm>
            <a:off x="7239000" y="5495925"/>
            <a:ext cx="4419600" cy="49530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From obscurity to becoming one of history's most celebrated artists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pic>
        <p:nvPicPr>
          <p:cNvPr id="2" name="Image 0" descr="https://kimi-web-img.moonshot.cn/img/www.vangoghmuseum.nl/48d599e70a23c6110746497e2c7ace361dc7178c">    </p:cNvPr>
          <p:cNvPicPr>
            <a:picLocks noChangeAspect="1"/>
          </p:cNvPicPr>
          <p:nvPr/>
        </p:nvPicPr>
        <p:blipFill>
          <a:blip r:embed="rId1">
            <a:alphaModFix amt="30000"/>
          </a:blip>
          <a:srcRect l="0" r="0" t="0" b="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sp>
      <p:sp>
        <p:nvSpPr>
          <p:cNvPr id="4" name="Shape 1"/>
          <p:cNvSpPr/>
          <p:nvPr/>
        </p:nvSpPr>
        <p:spPr>
          <a:xfrm>
            <a:off x="385763" y="1231106"/>
            <a:ext cx="933450" cy="809625"/>
          </a:xfrm>
          <a:custGeom>
            <a:avLst/>
            <a:gdLst/>
            <a:ahLst/>
            <a:cxnLst/>
            <a:rect l="l" t="t" r="r" b="b"/>
            <a:pathLst>
              <a:path w="933450" h="809625">
                <a:moveTo>
                  <a:pt x="76202" y="0"/>
                </a:moveTo>
                <a:lnTo>
                  <a:pt x="857248" y="0"/>
                </a:lnTo>
                <a:cubicBezTo>
                  <a:pt x="899333" y="0"/>
                  <a:pt x="933450" y="34117"/>
                  <a:pt x="933450" y="76202"/>
                </a:cubicBezTo>
                <a:lnTo>
                  <a:pt x="933450" y="733423"/>
                </a:lnTo>
                <a:cubicBezTo>
                  <a:pt x="933450" y="775508"/>
                  <a:pt x="899333" y="809625"/>
                  <a:pt x="85724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619125" y="1307306"/>
            <a:ext cx="748680" cy="657225"/>
          </a:xfrm>
          <a:prstGeom prst="rect">
            <a:avLst/>
          </a:prstGeom>
          <a:noFill/>
          <a:ln/>
        </p:spPr>
        <p:txBody>
          <a:bodyPr wrap="square" lIns="0" tIns="0" rIns="0" bIns="0" rtlCol="0" anchor="ctr"/>
          <a:lstStyle/>
          <a:p>
            <a:pPr>
              <a:lnSpc>
                <a:spcPct val="80000"/>
              </a:lnSpc>
            </a:pPr>
            <a:r>
              <a:rPr lang="en-US" sz="4500" b="1" dirty="0">
                <a:solidFill>
                  <a:srgbClr val="C9A36A"/>
                </a:solidFill>
                <a:latin typeface="Oranienbaum" pitchFamily="34" charset="0"/>
                <a:ea typeface="Oranienbaum" pitchFamily="34" charset="-122"/>
                <a:cs typeface="Oranienbaum" pitchFamily="34" charset="-120"/>
              </a:rPr>
              <a:t>01</a:t>
            </a:r>
            <a:endParaRPr lang="en-US" sz="1600" dirty="0"/>
          </a:p>
        </p:txBody>
      </p:sp>
      <p:sp>
        <p:nvSpPr>
          <p:cNvPr id="6" name="Text 3"/>
          <p:cNvSpPr/>
          <p:nvPr/>
        </p:nvSpPr>
        <p:spPr>
          <a:xfrm>
            <a:off x="381000" y="2350294"/>
            <a:ext cx="8877300" cy="1714500"/>
          </a:xfrm>
          <a:prstGeom prst="rect">
            <a:avLst/>
          </a:prstGeom>
          <a:noFill/>
          <a:ln/>
        </p:spPr>
        <p:txBody>
          <a:bodyPr wrap="square" lIns="0" tIns="0" rIns="0" bIns="0" rtlCol="0" anchor="ctr"/>
          <a:lstStyle/>
          <a:p>
            <a:pPr>
              <a:lnSpc>
                <a:spcPct val="100000"/>
              </a:lnSpc>
            </a:pPr>
            <a:r>
              <a:rPr lang="en-US" sz="5400" b="1" dirty="0">
                <a:solidFill>
                  <a:srgbClr val="F2F2F2"/>
                </a:solidFill>
                <a:latin typeface="Oranienbaum" pitchFamily="34" charset="0"/>
                <a:ea typeface="Oranienbaum" pitchFamily="34" charset="-122"/>
                <a:cs typeface="Oranienbaum" pitchFamily="34" charset="-120"/>
              </a:rPr>
              <a:t>Early Life and</a:t>
            </a:r>
            <a:endParaRPr lang="en-US" sz="1600" dirty="0"/>
          </a:p>
          <a:p>
            <a:pPr>
              <a:lnSpc>
                <a:spcPct val="100000"/>
              </a:lnSpc>
            </a:pPr>
            <a:r>
              <a:rPr lang="en-US" sz="5400" b="1" dirty="0">
                <a:solidFill>
                  <a:srgbClr val="F2F2F2"/>
                </a:solidFill>
                <a:latin typeface="Oranienbaum" pitchFamily="34" charset="0"/>
                <a:ea typeface="Oranienbaum" pitchFamily="34" charset="-122"/>
                <a:cs typeface="Oranienbaum" pitchFamily="34" charset="-120"/>
              </a:rPr>
              <a:t>Artistic Beginnings</a:t>
            </a:r>
            <a:endParaRPr lang="en-US" sz="1600" dirty="0"/>
          </a:p>
        </p:txBody>
      </p:sp>
      <p:sp>
        <p:nvSpPr>
          <p:cNvPr id="7" name="Shape 4"/>
          <p:cNvSpPr/>
          <p:nvPr/>
        </p:nvSpPr>
        <p:spPr>
          <a:xfrm>
            <a:off x="381000" y="4369594"/>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sp>
      <p:sp>
        <p:nvSpPr>
          <p:cNvPr id="8" name="Text 5"/>
          <p:cNvSpPr/>
          <p:nvPr/>
        </p:nvSpPr>
        <p:spPr>
          <a:xfrm>
            <a:off x="381000" y="4702969"/>
            <a:ext cx="6543675" cy="933450"/>
          </a:xfrm>
          <a:prstGeom prst="rect">
            <a:avLst/>
          </a:prstGeom>
          <a:noFill/>
          <a:ln/>
        </p:spPr>
        <p:txBody>
          <a:bodyPr wrap="square" lIns="0" tIns="0" rIns="0" bIns="0" rtlCol="0" anchor="ctr"/>
          <a:lstStyle/>
          <a:p>
            <a:pPr>
              <a:lnSpc>
                <a:spcPct val="140000"/>
              </a:lnSpc>
            </a:pPr>
            <a:r>
              <a:rPr lang="en-US" sz="2250" dirty="0">
                <a:solidFill>
                  <a:srgbClr val="B8B8B8"/>
                </a:solidFill>
                <a:latin typeface="Quattrocento Sans" pitchFamily="34" charset="0"/>
                <a:ea typeface="Quattrocento Sans" pitchFamily="34" charset="-122"/>
                <a:cs typeface="Quattrocento Sans" pitchFamily="34" charset="-120"/>
              </a:rPr>
              <a:t>The journey from a troubled youth to a passionate artist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53391" y="353391"/>
            <a:ext cx="11555896" cy="212035"/>
          </a:xfrm>
          <a:prstGeom prst="rect">
            <a:avLst/>
          </a:prstGeom>
          <a:noFill/>
          <a:ln/>
        </p:spPr>
        <p:txBody>
          <a:bodyPr wrap="square" lIns="0" tIns="0" rIns="0" bIns="0" rtlCol="0" anchor="ctr"/>
          <a:lstStyle/>
          <a:p>
            <a:pPr>
              <a:lnSpc>
                <a:spcPct val="130000"/>
              </a:lnSpc>
            </a:pPr>
            <a:r>
              <a:rPr lang="en-US" sz="1113" b="1" spc="223" kern="0" dirty="0">
                <a:solidFill>
                  <a:srgbClr val="C9A36A"/>
                </a:solidFill>
                <a:latin typeface="Quattrocento Sans" pitchFamily="34" charset="0"/>
                <a:ea typeface="Quattrocento Sans" pitchFamily="34" charset="-122"/>
                <a:cs typeface="Quattrocento Sans" pitchFamily="34" charset="-120"/>
              </a:rPr>
              <a:t>Chapter 01</a:t>
            </a:r>
            <a:endParaRPr lang="en-US" sz="1600" dirty="0"/>
          </a:p>
        </p:txBody>
      </p:sp>
      <p:sp>
        <p:nvSpPr>
          <p:cNvPr id="3" name="Text 1"/>
          <p:cNvSpPr/>
          <p:nvPr/>
        </p:nvSpPr>
        <p:spPr>
          <a:xfrm>
            <a:off x="353391" y="636104"/>
            <a:ext cx="11697252" cy="424070"/>
          </a:xfrm>
          <a:prstGeom prst="rect">
            <a:avLst/>
          </a:prstGeom>
          <a:noFill/>
          <a:ln/>
        </p:spPr>
        <p:txBody>
          <a:bodyPr wrap="square" lIns="0" tIns="0" rIns="0" bIns="0" rtlCol="0" anchor="ctr"/>
          <a:lstStyle/>
          <a:p>
            <a:pPr>
              <a:lnSpc>
                <a:spcPct val="80000"/>
              </a:lnSpc>
            </a:pPr>
            <a:r>
              <a:rPr lang="en-US" sz="3339" b="1" dirty="0">
                <a:solidFill>
                  <a:srgbClr val="F2F2F2"/>
                </a:solidFill>
                <a:latin typeface="Oranienbaum" pitchFamily="34" charset="0"/>
                <a:ea typeface="Oranienbaum" pitchFamily="34" charset="-122"/>
                <a:cs typeface="Oranienbaum" pitchFamily="34" charset="-120"/>
              </a:rPr>
              <a:t>From Zundert to the Canvas</a:t>
            </a:r>
            <a:endParaRPr lang="en-US" sz="1600" dirty="0"/>
          </a:p>
        </p:txBody>
      </p:sp>
      <p:sp>
        <p:nvSpPr>
          <p:cNvPr id="4" name="Shape 2"/>
          <p:cNvSpPr/>
          <p:nvPr/>
        </p:nvSpPr>
        <p:spPr>
          <a:xfrm>
            <a:off x="353391" y="1201530"/>
            <a:ext cx="989496" cy="17670"/>
          </a:xfrm>
          <a:custGeom>
            <a:avLst/>
            <a:gdLst/>
            <a:ahLst/>
            <a:cxnLst/>
            <a:rect l="l" t="t" r="r" b="b"/>
            <a:pathLst>
              <a:path w="989496" h="17670">
                <a:moveTo>
                  <a:pt x="0" y="0"/>
                </a:moveTo>
                <a:lnTo>
                  <a:pt x="989496" y="0"/>
                </a:lnTo>
                <a:lnTo>
                  <a:pt x="989496" y="17670"/>
                </a:lnTo>
                <a:lnTo>
                  <a:pt x="0" y="17670"/>
                </a:lnTo>
                <a:lnTo>
                  <a:pt x="0" y="0"/>
                </a:lnTo>
                <a:close/>
              </a:path>
            </a:pathLst>
          </a:custGeom>
          <a:solidFill>
            <a:srgbClr val="C9A36A"/>
          </a:solidFill>
          <a:ln/>
        </p:spPr>
      </p:sp>
      <p:sp>
        <p:nvSpPr>
          <p:cNvPr id="5" name="Shape 3"/>
          <p:cNvSpPr/>
          <p:nvPr/>
        </p:nvSpPr>
        <p:spPr>
          <a:xfrm>
            <a:off x="366643" y="1431235"/>
            <a:ext cx="6188765" cy="1766957"/>
          </a:xfrm>
          <a:custGeom>
            <a:avLst/>
            <a:gdLst/>
            <a:ahLst/>
            <a:cxnLst/>
            <a:rect l="l" t="t" r="r" b="b"/>
            <a:pathLst>
              <a:path w="6188765" h="1766957">
                <a:moveTo>
                  <a:pt x="26504" y="0"/>
                </a:moveTo>
                <a:lnTo>
                  <a:pt x="6118087" y="0"/>
                </a:lnTo>
                <a:cubicBezTo>
                  <a:pt x="6157121" y="0"/>
                  <a:pt x="6188765" y="31644"/>
                  <a:pt x="6188765" y="70678"/>
                </a:cubicBezTo>
                <a:lnTo>
                  <a:pt x="6188765" y="1696278"/>
                </a:lnTo>
                <a:cubicBezTo>
                  <a:pt x="6188765" y="1735313"/>
                  <a:pt x="6157121" y="1766957"/>
                  <a:pt x="6118087" y="1766957"/>
                </a:cubicBezTo>
                <a:lnTo>
                  <a:pt x="26504" y="1766957"/>
                </a:lnTo>
                <a:cubicBezTo>
                  <a:pt x="11866" y="1766957"/>
                  <a:pt x="0" y="1755090"/>
                  <a:pt x="0" y="1740452"/>
                </a:cubicBezTo>
                <a:lnTo>
                  <a:pt x="0" y="26504"/>
                </a:lnTo>
                <a:cubicBezTo>
                  <a:pt x="0" y="11876"/>
                  <a:pt x="11876" y="0"/>
                  <a:pt x="26504" y="0"/>
                </a:cubicBezTo>
                <a:close/>
              </a:path>
            </a:pathLst>
          </a:custGeom>
          <a:solidFill>
            <a:srgbClr val="1A1A1A"/>
          </a:solidFill>
          <a:ln/>
        </p:spPr>
      </p:sp>
      <p:sp>
        <p:nvSpPr>
          <p:cNvPr id="6" name="Shape 4"/>
          <p:cNvSpPr/>
          <p:nvPr/>
        </p:nvSpPr>
        <p:spPr>
          <a:xfrm>
            <a:off x="366643" y="1431235"/>
            <a:ext cx="26504" cy="1766957"/>
          </a:xfrm>
          <a:custGeom>
            <a:avLst/>
            <a:gdLst/>
            <a:ahLst/>
            <a:cxnLst/>
            <a:rect l="l" t="t" r="r" b="b"/>
            <a:pathLst>
              <a:path w="26504" h="1766957">
                <a:moveTo>
                  <a:pt x="26504" y="0"/>
                </a:moveTo>
                <a:lnTo>
                  <a:pt x="26504" y="0"/>
                </a:lnTo>
                <a:lnTo>
                  <a:pt x="26504" y="1766957"/>
                </a:lnTo>
                <a:lnTo>
                  <a:pt x="26504" y="1766957"/>
                </a:lnTo>
                <a:cubicBezTo>
                  <a:pt x="11866" y="1766957"/>
                  <a:pt x="0" y="1755090"/>
                  <a:pt x="0" y="1740452"/>
                </a:cubicBezTo>
                <a:lnTo>
                  <a:pt x="0" y="26504"/>
                </a:lnTo>
                <a:cubicBezTo>
                  <a:pt x="0" y="11876"/>
                  <a:pt x="11876" y="0"/>
                  <a:pt x="26504" y="0"/>
                </a:cubicBezTo>
                <a:close/>
              </a:path>
            </a:pathLst>
          </a:custGeom>
          <a:solidFill>
            <a:srgbClr val="C9A36A"/>
          </a:solidFill>
          <a:ln/>
        </p:spPr>
      </p:sp>
      <p:sp>
        <p:nvSpPr>
          <p:cNvPr id="7" name="Shape 5"/>
          <p:cNvSpPr/>
          <p:nvPr/>
        </p:nvSpPr>
        <p:spPr>
          <a:xfrm>
            <a:off x="644939" y="1678609"/>
            <a:ext cx="159026" cy="212035"/>
          </a:xfrm>
          <a:custGeom>
            <a:avLst/>
            <a:gdLst/>
            <a:ahLst/>
            <a:cxnLst/>
            <a:rect l="l" t="t" r="r" b="b"/>
            <a:pathLst>
              <a:path w="159026" h="212035">
                <a:moveTo>
                  <a:pt x="49696" y="36443"/>
                </a:moveTo>
                <a:cubicBezTo>
                  <a:pt x="49696" y="19987"/>
                  <a:pt x="63056" y="6626"/>
                  <a:pt x="79513" y="6626"/>
                </a:cubicBezTo>
                <a:cubicBezTo>
                  <a:pt x="95970" y="6626"/>
                  <a:pt x="109330" y="19987"/>
                  <a:pt x="109330" y="36443"/>
                </a:cubicBezTo>
                <a:cubicBezTo>
                  <a:pt x="109330" y="52900"/>
                  <a:pt x="95970" y="66261"/>
                  <a:pt x="79513" y="66261"/>
                </a:cubicBezTo>
                <a:cubicBezTo>
                  <a:pt x="63056" y="66261"/>
                  <a:pt x="49696" y="52900"/>
                  <a:pt x="49696" y="36443"/>
                </a:cubicBezTo>
                <a:close/>
                <a:moveTo>
                  <a:pt x="3189" y="59842"/>
                </a:moveTo>
                <a:cubicBezTo>
                  <a:pt x="8573" y="52429"/>
                  <a:pt x="18926" y="50814"/>
                  <a:pt x="26339" y="56197"/>
                </a:cubicBezTo>
                <a:lnTo>
                  <a:pt x="41330" y="67089"/>
                </a:lnTo>
                <a:cubicBezTo>
                  <a:pt x="52429" y="75165"/>
                  <a:pt x="65805" y="79513"/>
                  <a:pt x="79513" y="79513"/>
                </a:cubicBezTo>
                <a:cubicBezTo>
                  <a:pt x="93221" y="79513"/>
                  <a:pt x="106597" y="75165"/>
                  <a:pt x="117696" y="67089"/>
                </a:cubicBezTo>
                <a:lnTo>
                  <a:pt x="132687" y="56156"/>
                </a:lnTo>
                <a:cubicBezTo>
                  <a:pt x="140100" y="50772"/>
                  <a:pt x="150454" y="52429"/>
                  <a:pt x="155837" y="59800"/>
                </a:cubicBezTo>
                <a:cubicBezTo>
                  <a:pt x="161221" y="67172"/>
                  <a:pt x="159564" y="77567"/>
                  <a:pt x="152193" y="82950"/>
                </a:cubicBezTo>
                <a:lnTo>
                  <a:pt x="137201" y="93883"/>
                </a:lnTo>
                <a:cubicBezTo>
                  <a:pt x="131569" y="97983"/>
                  <a:pt x="125564" y="101421"/>
                  <a:pt x="119270" y="104237"/>
                </a:cubicBezTo>
                <a:lnTo>
                  <a:pt x="119270" y="119270"/>
                </a:lnTo>
                <a:lnTo>
                  <a:pt x="39757" y="119270"/>
                </a:lnTo>
                <a:lnTo>
                  <a:pt x="39757" y="104237"/>
                </a:lnTo>
                <a:cubicBezTo>
                  <a:pt x="33462" y="101462"/>
                  <a:pt x="27457" y="97983"/>
                  <a:pt x="21825" y="93883"/>
                </a:cubicBezTo>
                <a:lnTo>
                  <a:pt x="6833" y="82950"/>
                </a:lnTo>
                <a:cubicBezTo>
                  <a:pt x="-580" y="77567"/>
                  <a:pt x="-2195" y="67213"/>
                  <a:pt x="3189" y="59800"/>
                </a:cubicBezTo>
                <a:close/>
                <a:moveTo>
                  <a:pt x="40378" y="136373"/>
                </a:moveTo>
                <a:lnTo>
                  <a:pt x="65474" y="158322"/>
                </a:lnTo>
                <a:lnTo>
                  <a:pt x="54707" y="173728"/>
                </a:lnTo>
                <a:lnTo>
                  <a:pt x="64770" y="183791"/>
                </a:lnTo>
                <a:cubicBezTo>
                  <a:pt x="71230" y="190252"/>
                  <a:pt x="71230" y="200729"/>
                  <a:pt x="64770" y="207231"/>
                </a:cubicBezTo>
                <a:cubicBezTo>
                  <a:pt x="58310" y="213733"/>
                  <a:pt x="47832" y="213691"/>
                  <a:pt x="41330" y="207231"/>
                </a:cubicBezTo>
                <a:lnTo>
                  <a:pt x="21452" y="187353"/>
                </a:lnTo>
                <a:cubicBezTo>
                  <a:pt x="15737" y="181638"/>
                  <a:pt x="14950" y="172692"/>
                  <a:pt x="19547" y="166108"/>
                </a:cubicBezTo>
                <a:lnTo>
                  <a:pt x="40336" y="136373"/>
                </a:lnTo>
                <a:close/>
                <a:moveTo>
                  <a:pt x="93593" y="158322"/>
                </a:moveTo>
                <a:lnTo>
                  <a:pt x="118690" y="136373"/>
                </a:lnTo>
                <a:lnTo>
                  <a:pt x="139479" y="166108"/>
                </a:lnTo>
                <a:cubicBezTo>
                  <a:pt x="144076" y="172692"/>
                  <a:pt x="143289" y="181638"/>
                  <a:pt x="137616" y="187311"/>
                </a:cubicBezTo>
                <a:lnTo>
                  <a:pt x="117737" y="207189"/>
                </a:lnTo>
                <a:cubicBezTo>
                  <a:pt x="111277" y="213650"/>
                  <a:pt x="100799" y="213650"/>
                  <a:pt x="94298" y="207189"/>
                </a:cubicBezTo>
                <a:cubicBezTo>
                  <a:pt x="87796" y="200729"/>
                  <a:pt x="87837" y="190252"/>
                  <a:pt x="94298" y="183750"/>
                </a:cubicBezTo>
                <a:lnTo>
                  <a:pt x="104361" y="173686"/>
                </a:lnTo>
                <a:lnTo>
                  <a:pt x="93593" y="158281"/>
                </a:lnTo>
                <a:close/>
              </a:path>
            </a:pathLst>
          </a:custGeom>
          <a:solidFill>
            <a:srgbClr val="C9A36A"/>
          </a:solidFill>
          <a:ln/>
        </p:spPr>
      </p:sp>
      <p:sp>
        <p:nvSpPr>
          <p:cNvPr id="8" name="Text 6"/>
          <p:cNvSpPr/>
          <p:nvPr/>
        </p:nvSpPr>
        <p:spPr>
          <a:xfrm>
            <a:off x="962991" y="1643270"/>
            <a:ext cx="1784626" cy="282713"/>
          </a:xfrm>
          <a:prstGeom prst="rect">
            <a:avLst/>
          </a:prstGeom>
          <a:noFill/>
          <a:ln/>
        </p:spPr>
        <p:txBody>
          <a:bodyPr wrap="square" lIns="0" tIns="0" rIns="0" bIns="0" rtlCol="0" anchor="ctr"/>
          <a:lstStyle/>
          <a:p>
            <a:pPr>
              <a:lnSpc>
                <a:spcPct val="110000"/>
              </a:lnSpc>
            </a:pPr>
            <a:r>
              <a:rPr lang="en-US" sz="1670" b="1" dirty="0">
                <a:solidFill>
                  <a:srgbClr val="F2F2F2"/>
                </a:solidFill>
                <a:latin typeface="Oranienbaum" pitchFamily="34" charset="0"/>
                <a:ea typeface="Oranienbaum" pitchFamily="34" charset="-122"/>
                <a:cs typeface="Oranienbaum" pitchFamily="34" charset="-120"/>
              </a:rPr>
              <a:t>Birth and Childhood</a:t>
            </a:r>
            <a:endParaRPr lang="en-US" sz="1600" dirty="0"/>
          </a:p>
        </p:txBody>
      </p:sp>
      <p:sp>
        <p:nvSpPr>
          <p:cNvPr id="9" name="Text 7"/>
          <p:cNvSpPr/>
          <p:nvPr/>
        </p:nvSpPr>
        <p:spPr>
          <a:xfrm>
            <a:off x="591930" y="2067339"/>
            <a:ext cx="5822122" cy="918817"/>
          </a:xfrm>
          <a:prstGeom prst="rect">
            <a:avLst/>
          </a:prstGeom>
          <a:noFill/>
          <a:ln/>
        </p:spPr>
        <p:txBody>
          <a:bodyPr wrap="square" lIns="0" tIns="0" rIns="0" bIns="0" rtlCol="0" anchor="ctr"/>
          <a:lstStyle/>
          <a:p>
            <a:pPr>
              <a:lnSpc>
                <a:spcPct val="140000"/>
              </a:lnSpc>
            </a:pPr>
            <a:r>
              <a:rPr lang="en-US" sz="1113" b="1" dirty="0">
                <a:solidFill>
                  <a:srgbClr val="F2F2F2"/>
                </a:solidFill>
                <a:latin typeface="Quattrocento Sans" pitchFamily="34" charset="0"/>
                <a:ea typeface="Quattrocento Sans" pitchFamily="34" charset="-122"/>
                <a:cs typeface="Quattrocento Sans" pitchFamily="34" charset="-120"/>
              </a:rPr>
              <a:t>March 30, 1853</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 Vincent Willem van Gogh was born in Zundert, Netherlands. His childhood was marked by tragedy: a stillborn brother, also named Vincent, had been buried exactly one year earlier at the same church. This ghostly namesake haunted him throughout his life, contributing to his sense of being a replacement child.</a:t>
            </a:r>
            <a:endParaRPr lang="en-US" sz="1600" dirty="0"/>
          </a:p>
        </p:txBody>
      </p:sp>
      <p:sp>
        <p:nvSpPr>
          <p:cNvPr id="10" name="Shape 8"/>
          <p:cNvSpPr/>
          <p:nvPr/>
        </p:nvSpPr>
        <p:spPr>
          <a:xfrm>
            <a:off x="366643" y="3374887"/>
            <a:ext cx="6188765" cy="1537252"/>
          </a:xfrm>
          <a:custGeom>
            <a:avLst/>
            <a:gdLst/>
            <a:ahLst/>
            <a:cxnLst/>
            <a:rect l="l" t="t" r="r" b="b"/>
            <a:pathLst>
              <a:path w="6188765" h="1537252">
                <a:moveTo>
                  <a:pt x="26504" y="0"/>
                </a:moveTo>
                <a:lnTo>
                  <a:pt x="6118082" y="0"/>
                </a:lnTo>
                <a:cubicBezTo>
                  <a:pt x="6157119" y="0"/>
                  <a:pt x="6188765" y="31646"/>
                  <a:pt x="6188765" y="70683"/>
                </a:cubicBezTo>
                <a:lnTo>
                  <a:pt x="6188765" y="1466569"/>
                </a:lnTo>
                <a:cubicBezTo>
                  <a:pt x="6188765" y="1505606"/>
                  <a:pt x="6157119" y="1537252"/>
                  <a:pt x="6118082" y="1537252"/>
                </a:cubicBezTo>
                <a:lnTo>
                  <a:pt x="26504" y="1537252"/>
                </a:lnTo>
                <a:cubicBezTo>
                  <a:pt x="11866" y="1537252"/>
                  <a:pt x="0" y="1525386"/>
                  <a:pt x="0" y="1510748"/>
                </a:cubicBezTo>
                <a:lnTo>
                  <a:pt x="0" y="26504"/>
                </a:lnTo>
                <a:cubicBezTo>
                  <a:pt x="0" y="11876"/>
                  <a:pt x="11876" y="0"/>
                  <a:pt x="26504" y="0"/>
                </a:cubicBezTo>
                <a:close/>
              </a:path>
            </a:pathLst>
          </a:custGeom>
          <a:solidFill>
            <a:srgbClr val="1A1A1A"/>
          </a:solidFill>
          <a:ln/>
        </p:spPr>
      </p:sp>
      <p:sp>
        <p:nvSpPr>
          <p:cNvPr id="11" name="Shape 9"/>
          <p:cNvSpPr/>
          <p:nvPr/>
        </p:nvSpPr>
        <p:spPr>
          <a:xfrm>
            <a:off x="366643" y="3374887"/>
            <a:ext cx="26504" cy="1537252"/>
          </a:xfrm>
          <a:custGeom>
            <a:avLst/>
            <a:gdLst/>
            <a:ahLst/>
            <a:cxnLst/>
            <a:rect l="l" t="t" r="r" b="b"/>
            <a:pathLst>
              <a:path w="26504" h="1537252">
                <a:moveTo>
                  <a:pt x="26504" y="0"/>
                </a:moveTo>
                <a:lnTo>
                  <a:pt x="26504" y="0"/>
                </a:lnTo>
                <a:lnTo>
                  <a:pt x="26504" y="1537252"/>
                </a:lnTo>
                <a:lnTo>
                  <a:pt x="26504" y="1537252"/>
                </a:lnTo>
                <a:cubicBezTo>
                  <a:pt x="11866" y="1537252"/>
                  <a:pt x="0" y="1525386"/>
                  <a:pt x="0" y="1510748"/>
                </a:cubicBezTo>
                <a:lnTo>
                  <a:pt x="0" y="26504"/>
                </a:lnTo>
                <a:cubicBezTo>
                  <a:pt x="0" y="11876"/>
                  <a:pt x="11876" y="0"/>
                  <a:pt x="26504" y="0"/>
                </a:cubicBezTo>
                <a:close/>
              </a:path>
            </a:pathLst>
          </a:custGeom>
          <a:solidFill>
            <a:srgbClr val="C9A36A"/>
          </a:solidFill>
          <a:ln/>
        </p:spPr>
      </p:sp>
      <p:sp>
        <p:nvSpPr>
          <p:cNvPr id="12" name="Shape 10"/>
          <p:cNvSpPr/>
          <p:nvPr/>
        </p:nvSpPr>
        <p:spPr>
          <a:xfrm>
            <a:off x="618435" y="3622261"/>
            <a:ext cx="212035" cy="212035"/>
          </a:xfrm>
          <a:custGeom>
            <a:avLst/>
            <a:gdLst/>
            <a:ahLst/>
            <a:cxnLst/>
            <a:rect l="l" t="t" r="r" b="b"/>
            <a:pathLst>
              <a:path w="212035" h="212035">
                <a:moveTo>
                  <a:pt x="82826" y="19878"/>
                </a:moveTo>
                <a:lnTo>
                  <a:pt x="129209" y="19878"/>
                </a:lnTo>
                <a:cubicBezTo>
                  <a:pt x="131031" y="19878"/>
                  <a:pt x="132522" y="21369"/>
                  <a:pt x="132522" y="23191"/>
                </a:cubicBezTo>
                <a:lnTo>
                  <a:pt x="132522" y="39757"/>
                </a:lnTo>
                <a:lnTo>
                  <a:pt x="79513" y="39757"/>
                </a:lnTo>
                <a:lnTo>
                  <a:pt x="79513" y="23191"/>
                </a:lnTo>
                <a:cubicBezTo>
                  <a:pt x="79513" y="21369"/>
                  <a:pt x="81004" y="19878"/>
                  <a:pt x="82826" y="19878"/>
                </a:cubicBezTo>
                <a:close/>
                <a:moveTo>
                  <a:pt x="59635" y="23191"/>
                </a:moveTo>
                <a:lnTo>
                  <a:pt x="59635" y="39757"/>
                </a:lnTo>
                <a:lnTo>
                  <a:pt x="26504" y="39757"/>
                </a:lnTo>
                <a:cubicBezTo>
                  <a:pt x="11886" y="39757"/>
                  <a:pt x="0" y="51642"/>
                  <a:pt x="0" y="66261"/>
                </a:cubicBezTo>
                <a:lnTo>
                  <a:pt x="0" y="106017"/>
                </a:lnTo>
                <a:lnTo>
                  <a:pt x="212035" y="106017"/>
                </a:lnTo>
                <a:lnTo>
                  <a:pt x="212035" y="66261"/>
                </a:lnTo>
                <a:cubicBezTo>
                  <a:pt x="212035" y="51642"/>
                  <a:pt x="200149" y="39757"/>
                  <a:pt x="185530" y="39757"/>
                </a:cubicBezTo>
                <a:lnTo>
                  <a:pt x="152400" y="39757"/>
                </a:lnTo>
                <a:lnTo>
                  <a:pt x="152400" y="23191"/>
                </a:lnTo>
                <a:cubicBezTo>
                  <a:pt x="152400" y="10395"/>
                  <a:pt x="142005" y="0"/>
                  <a:pt x="129209" y="0"/>
                </a:cubicBezTo>
                <a:lnTo>
                  <a:pt x="82826" y="0"/>
                </a:lnTo>
                <a:cubicBezTo>
                  <a:pt x="70029" y="0"/>
                  <a:pt x="59635" y="10395"/>
                  <a:pt x="59635" y="23191"/>
                </a:cubicBezTo>
                <a:close/>
                <a:moveTo>
                  <a:pt x="212035" y="125896"/>
                </a:moveTo>
                <a:lnTo>
                  <a:pt x="132522" y="125896"/>
                </a:lnTo>
                <a:lnTo>
                  <a:pt x="132522" y="132522"/>
                </a:lnTo>
                <a:cubicBezTo>
                  <a:pt x="132522" y="139852"/>
                  <a:pt x="126600" y="145774"/>
                  <a:pt x="119270" y="145774"/>
                </a:cubicBezTo>
                <a:lnTo>
                  <a:pt x="92765" y="145774"/>
                </a:lnTo>
                <a:cubicBezTo>
                  <a:pt x="85435" y="145774"/>
                  <a:pt x="79513" y="139852"/>
                  <a:pt x="79513" y="132522"/>
                </a:cubicBezTo>
                <a:lnTo>
                  <a:pt x="79513" y="125896"/>
                </a:lnTo>
                <a:lnTo>
                  <a:pt x="0" y="125896"/>
                </a:lnTo>
                <a:lnTo>
                  <a:pt x="0" y="172278"/>
                </a:lnTo>
                <a:cubicBezTo>
                  <a:pt x="0" y="186897"/>
                  <a:pt x="11886" y="198783"/>
                  <a:pt x="26504" y="198783"/>
                </a:cubicBezTo>
                <a:lnTo>
                  <a:pt x="185530" y="198783"/>
                </a:lnTo>
                <a:cubicBezTo>
                  <a:pt x="200149" y="198783"/>
                  <a:pt x="212035" y="186897"/>
                  <a:pt x="212035" y="172278"/>
                </a:cubicBezTo>
                <a:lnTo>
                  <a:pt x="212035" y="125896"/>
                </a:lnTo>
                <a:close/>
              </a:path>
            </a:pathLst>
          </a:custGeom>
          <a:solidFill>
            <a:srgbClr val="C9A36A"/>
          </a:solidFill>
          <a:ln/>
        </p:spPr>
      </p:sp>
      <p:sp>
        <p:nvSpPr>
          <p:cNvPr id="13" name="Text 11"/>
          <p:cNvSpPr/>
          <p:nvPr/>
        </p:nvSpPr>
        <p:spPr>
          <a:xfrm>
            <a:off x="962991" y="3586922"/>
            <a:ext cx="1501913" cy="282713"/>
          </a:xfrm>
          <a:prstGeom prst="rect">
            <a:avLst/>
          </a:prstGeom>
          <a:noFill/>
          <a:ln/>
        </p:spPr>
        <p:txBody>
          <a:bodyPr wrap="square" lIns="0" tIns="0" rIns="0" bIns="0" rtlCol="0" anchor="ctr"/>
          <a:lstStyle/>
          <a:p>
            <a:pPr>
              <a:lnSpc>
                <a:spcPct val="110000"/>
              </a:lnSpc>
            </a:pPr>
            <a:r>
              <a:rPr lang="en-US" sz="1670" b="1" dirty="0">
                <a:solidFill>
                  <a:srgbClr val="F2F2F2"/>
                </a:solidFill>
                <a:latin typeface="Oranienbaum" pitchFamily="34" charset="0"/>
                <a:ea typeface="Oranienbaum" pitchFamily="34" charset="-122"/>
                <a:cs typeface="Oranienbaum" pitchFamily="34" charset="-120"/>
              </a:rPr>
              <a:t>Career Struggles</a:t>
            </a:r>
            <a:endParaRPr lang="en-US" sz="1600" dirty="0"/>
          </a:p>
        </p:txBody>
      </p:sp>
      <p:sp>
        <p:nvSpPr>
          <p:cNvPr id="14" name="Text 12"/>
          <p:cNvSpPr/>
          <p:nvPr/>
        </p:nvSpPr>
        <p:spPr>
          <a:xfrm>
            <a:off x="591930" y="4010991"/>
            <a:ext cx="5822122" cy="689113"/>
          </a:xfrm>
          <a:prstGeom prst="rect">
            <a:avLst/>
          </a:prstGeom>
          <a:noFill/>
          <a:ln/>
        </p:spPr>
        <p:txBody>
          <a:bodyPr wrap="square" lIns="0" tIns="0" rIns="0" bIns="0" rtlCol="0" anchor="ctr"/>
          <a:lstStyle/>
          <a:p>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Before becoming an artist, Van Gogh tried multiple careers: </a:t>
            </a:r>
            <a:pPr>
              <a:lnSpc>
                <a:spcPct val="140000"/>
              </a:lnSpc>
            </a:pPr>
            <a:r>
              <a:rPr lang="en-US" sz="1113" dirty="0">
                <a:solidFill>
                  <a:srgbClr val="F2F2F2"/>
                </a:solidFill>
                <a:latin typeface="Quattrocento Sans" pitchFamily="34" charset="0"/>
                <a:ea typeface="Quattrocento Sans" pitchFamily="34" charset="-122"/>
                <a:cs typeface="Quattrocento Sans" pitchFamily="34" charset="-120"/>
              </a:rPr>
              <a:t>art dealer at Goupil &amp; Cie</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(The Hague, London, Paris), </a:t>
            </a:r>
            <a:pPr>
              <a:lnSpc>
                <a:spcPct val="140000"/>
              </a:lnSpc>
            </a:pPr>
            <a:r>
              <a:rPr lang="en-US" sz="1113" dirty="0">
                <a:solidFill>
                  <a:srgbClr val="F2F2F2"/>
                </a:solidFill>
                <a:latin typeface="Quattrocento Sans" pitchFamily="34" charset="0"/>
                <a:ea typeface="Quattrocento Sans" pitchFamily="34" charset="-122"/>
                <a:cs typeface="Quattrocento Sans" pitchFamily="34" charset="-120"/>
              </a:rPr>
              <a:t>teacher in England</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and </a:t>
            </a:r>
            <a:pPr>
              <a:lnSpc>
                <a:spcPct val="140000"/>
              </a:lnSpc>
            </a:pPr>
            <a:r>
              <a:rPr lang="en-US" sz="1113" dirty="0">
                <a:solidFill>
                  <a:srgbClr val="F2F2F2"/>
                </a:solidFill>
                <a:latin typeface="Quattrocento Sans" pitchFamily="34" charset="0"/>
                <a:ea typeface="Quattrocento Sans" pitchFamily="34" charset="-122"/>
                <a:cs typeface="Quattrocento Sans" pitchFamily="34" charset="-120"/>
              </a:rPr>
              <a:t>preacher among poor miners in Belgium</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Each attempt ended in failure or dismissal, deepening his sense of isolation and purposelessness.</a:t>
            </a:r>
            <a:endParaRPr lang="en-US" sz="1600" dirty="0"/>
          </a:p>
        </p:txBody>
      </p:sp>
      <p:sp>
        <p:nvSpPr>
          <p:cNvPr id="15" name="Shape 13"/>
          <p:cNvSpPr/>
          <p:nvPr/>
        </p:nvSpPr>
        <p:spPr>
          <a:xfrm>
            <a:off x="366643" y="5088835"/>
            <a:ext cx="6188765" cy="1537252"/>
          </a:xfrm>
          <a:custGeom>
            <a:avLst/>
            <a:gdLst/>
            <a:ahLst/>
            <a:cxnLst/>
            <a:rect l="l" t="t" r="r" b="b"/>
            <a:pathLst>
              <a:path w="6188765" h="1537252">
                <a:moveTo>
                  <a:pt x="26504" y="0"/>
                </a:moveTo>
                <a:lnTo>
                  <a:pt x="6118082" y="0"/>
                </a:lnTo>
                <a:cubicBezTo>
                  <a:pt x="6157119" y="0"/>
                  <a:pt x="6188765" y="31646"/>
                  <a:pt x="6188765" y="70683"/>
                </a:cubicBezTo>
                <a:lnTo>
                  <a:pt x="6188765" y="1466569"/>
                </a:lnTo>
                <a:cubicBezTo>
                  <a:pt x="6188765" y="1505606"/>
                  <a:pt x="6157119" y="1537252"/>
                  <a:pt x="6118082" y="1537252"/>
                </a:cubicBezTo>
                <a:lnTo>
                  <a:pt x="26504" y="1537252"/>
                </a:lnTo>
                <a:cubicBezTo>
                  <a:pt x="11866" y="1537252"/>
                  <a:pt x="0" y="1525386"/>
                  <a:pt x="0" y="1510748"/>
                </a:cubicBezTo>
                <a:lnTo>
                  <a:pt x="0" y="26504"/>
                </a:lnTo>
                <a:cubicBezTo>
                  <a:pt x="0" y="11876"/>
                  <a:pt x="11876" y="0"/>
                  <a:pt x="26504" y="0"/>
                </a:cubicBezTo>
                <a:close/>
              </a:path>
            </a:pathLst>
          </a:custGeom>
          <a:solidFill>
            <a:srgbClr val="1A1A1A"/>
          </a:solidFill>
          <a:ln/>
        </p:spPr>
      </p:sp>
      <p:sp>
        <p:nvSpPr>
          <p:cNvPr id="16" name="Shape 14"/>
          <p:cNvSpPr/>
          <p:nvPr/>
        </p:nvSpPr>
        <p:spPr>
          <a:xfrm>
            <a:off x="366643" y="5088835"/>
            <a:ext cx="26504" cy="1537252"/>
          </a:xfrm>
          <a:custGeom>
            <a:avLst/>
            <a:gdLst/>
            <a:ahLst/>
            <a:cxnLst/>
            <a:rect l="l" t="t" r="r" b="b"/>
            <a:pathLst>
              <a:path w="26504" h="1537252">
                <a:moveTo>
                  <a:pt x="26504" y="0"/>
                </a:moveTo>
                <a:lnTo>
                  <a:pt x="26504" y="0"/>
                </a:lnTo>
                <a:lnTo>
                  <a:pt x="26504" y="1537252"/>
                </a:lnTo>
                <a:lnTo>
                  <a:pt x="26504" y="1537252"/>
                </a:lnTo>
                <a:cubicBezTo>
                  <a:pt x="11866" y="1537252"/>
                  <a:pt x="0" y="1525386"/>
                  <a:pt x="0" y="1510748"/>
                </a:cubicBezTo>
                <a:lnTo>
                  <a:pt x="0" y="26504"/>
                </a:lnTo>
                <a:cubicBezTo>
                  <a:pt x="0" y="11876"/>
                  <a:pt x="11876" y="0"/>
                  <a:pt x="26504" y="0"/>
                </a:cubicBezTo>
                <a:close/>
              </a:path>
            </a:pathLst>
          </a:custGeom>
          <a:solidFill>
            <a:srgbClr val="C9A36A"/>
          </a:solidFill>
          <a:ln/>
        </p:spPr>
      </p:sp>
      <p:sp>
        <p:nvSpPr>
          <p:cNvPr id="17" name="Shape 15"/>
          <p:cNvSpPr/>
          <p:nvPr/>
        </p:nvSpPr>
        <p:spPr>
          <a:xfrm>
            <a:off x="605183" y="5336209"/>
            <a:ext cx="238539" cy="212035"/>
          </a:xfrm>
          <a:custGeom>
            <a:avLst/>
            <a:gdLst/>
            <a:ahLst/>
            <a:cxnLst/>
            <a:rect l="l" t="t" r="r" b="b"/>
            <a:pathLst>
              <a:path w="238539" h="212035">
                <a:moveTo>
                  <a:pt x="198990" y="4266"/>
                </a:moveTo>
                <a:lnTo>
                  <a:pt x="107301" y="65433"/>
                </a:lnTo>
                <a:cubicBezTo>
                  <a:pt x="95250" y="73467"/>
                  <a:pt x="87589" y="86512"/>
                  <a:pt x="86346" y="100758"/>
                </a:cubicBezTo>
                <a:cubicBezTo>
                  <a:pt x="112147" y="106059"/>
                  <a:pt x="132480" y="126393"/>
                  <a:pt x="137823" y="152234"/>
                </a:cubicBezTo>
                <a:cubicBezTo>
                  <a:pt x="152110" y="150992"/>
                  <a:pt x="165114" y="143331"/>
                  <a:pt x="173148" y="131279"/>
                </a:cubicBezTo>
                <a:lnTo>
                  <a:pt x="234274" y="39549"/>
                </a:lnTo>
                <a:cubicBezTo>
                  <a:pt x="237048" y="35367"/>
                  <a:pt x="238539" y="30480"/>
                  <a:pt x="238539" y="25428"/>
                </a:cubicBezTo>
                <a:cubicBezTo>
                  <a:pt x="238539" y="11389"/>
                  <a:pt x="227151" y="0"/>
                  <a:pt x="213112" y="0"/>
                </a:cubicBezTo>
                <a:cubicBezTo>
                  <a:pt x="208101" y="0"/>
                  <a:pt x="203172" y="1491"/>
                  <a:pt x="198990" y="4266"/>
                </a:cubicBezTo>
                <a:close/>
                <a:moveTo>
                  <a:pt x="119270" y="165652"/>
                </a:moveTo>
                <a:cubicBezTo>
                  <a:pt x="119270" y="140018"/>
                  <a:pt x="98522" y="119270"/>
                  <a:pt x="72887" y="119270"/>
                </a:cubicBezTo>
                <a:cubicBezTo>
                  <a:pt x="47252" y="119270"/>
                  <a:pt x="26504" y="140018"/>
                  <a:pt x="26504" y="165652"/>
                </a:cubicBezTo>
                <a:cubicBezTo>
                  <a:pt x="26504" y="167267"/>
                  <a:pt x="26587" y="168882"/>
                  <a:pt x="26753" y="170456"/>
                </a:cubicBezTo>
                <a:cubicBezTo>
                  <a:pt x="27498" y="177703"/>
                  <a:pt x="22529" y="185530"/>
                  <a:pt x="15240" y="185530"/>
                </a:cubicBezTo>
                <a:lnTo>
                  <a:pt x="13252" y="185530"/>
                </a:lnTo>
                <a:cubicBezTo>
                  <a:pt x="5922" y="185530"/>
                  <a:pt x="0" y="191453"/>
                  <a:pt x="0" y="198783"/>
                </a:cubicBezTo>
                <a:cubicBezTo>
                  <a:pt x="0" y="206113"/>
                  <a:pt x="5922" y="212035"/>
                  <a:pt x="13252" y="212035"/>
                </a:cubicBezTo>
                <a:lnTo>
                  <a:pt x="72887" y="212035"/>
                </a:lnTo>
                <a:cubicBezTo>
                  <a:pt x="98522" y="212035"/>
                  <a:pt x="119270" y="191287"/>
                  <a:pt x="119270" y="165652"/>
                </a:cubicBezTo>
                <a:close/>
              </a:path>
            </a:pathLst>
          </a:custGeom>
          <a:solidFill>
            <a:srgbClr val="C9A36A"/>
          </a:solidFill>
          <a:ln/>
        </p:spPr>
      </p:sp>
      <p:sp>
        <p:nvSpPr>
          <p:cNvPr id="18" name="Text 16"/>
          <p:cNvSpPr/>
          <p:nvPr/>
        </p:nvSpPr>
        <p:spPr>
          <a:xfrm>
            <a:off x="962991" y="5300870"/>
            <a:ext cx="1625600" cy="282713"/>
          </a:xfrm>
          <a:prstGeom prst="rect">
            <a:avLst/>
          </a:prstGeom>
          <a:noFill/>
          <a:ln/>
        </p:spPr>
        <p:txBody>
          <a:bodyPr wrap="square" lIns="0" tIns="0" rIns="0" bIns="0" rtlCol="0" anchor="ctr"/>
          <a:lstStyle/>
          <a:p>
            <a:pPr>
              <a:lnSpc>
                <a:spcPct val="110000"/>
              </a:lnSpc>
            </a:pPr>
            <a:r>
              <a:rPr lang="en-US" sz="1670" b="1" dirty="0">
                <a:solidFill>
                  <a:srgbClr val="F2F2F2"/>
                </a:solidFill>
                <a:latin typeface="Oranienbaum" pitchFamily="34" charset="0"/>
                <a:ea typeface="Oranienbaum" pitchFamily="34" charset="-122"/>
                <a:cs typeface="Oranienbaum" pitchFamily="34" charset="-120"/>
              </a:rPr>
              <a:t>The Turning Point</a:t>
            </a:r>
            <a:endParaRPr lang="en-US" sz="1600" dirty="0"/>
          </a:p>
        </p:txBody>
      </p:sp>
      <p:sp>
        <p:nvSpPr>
          <p:cNvPr id="19" name="Text 17"/>
          <p:cNvSpPr/>
          <p:nvPr/>
        </p:nvSpPr>
        <p:spPr>
          <a:xfrm>
            <a:off x="591930" y="5724939"/>
            <a:ext cx="5822122" cy="689113"/>
          </a:xfrm>
          <a:prstGeom prst="rect">
            <a:avLst/>
          </a:prstGeom>
          <a:noFill/>
          <a:ln/>
        </p:spPr>
        <p:txBody>
          <a:bodyPr wrap="square" lIns="0" tIns="0" rIns="0" bIns="0" rtlCol="0" anchor="ctr"/>
          <a:lstStyle/>
          <a:p>
            <a:pPr>
              <a:lnSpc>
                <a:spcPct val="140000"/>
              </a:lnSpc>
            </a:pPr>
            <a:r>
              <a:rPr lang="en-US" sz="1113" b="1" dirty="0">
                <a:solidFill>
                  <a:srgbClr val="F2F2F2"/>
                </a:solidFill>
                <a:latin typeface="Quattrocento Sans" pitchFamily="34" charset="0"/>
                <a:ea typeface="Quattrocento Sans" pitchFamily="34" charset="-122"/>
                <a:cs typeface="Quattrocento Sans" pitchFamily="34" charset="-120"/>
              </a:rPr>
              <a:t>1880, Age 27</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 After years of wandering and despair, Van Gogh finally committed himself to art. This late start meant he had only </a:t>
            </a:r>
            <a:pPr>
              <a:lnSpc>
                <a:spcPct val="140000"/>
              </a:lnSpc>
            </a:pPr>
            <a:r>
              <a:rPr lang="en-US" sz="1113" b="1" dirty="0">
                <a:solidFill>
                  <a:srgbClr val="C9A36A"/>
                </a:solidFill>
                <a:latin typeface="Quattrocento Sans" pitchFamily="34" charset="0"/>
                <a:ea typeface="Quattrocento Sans" pitchFamily="34" charset="-122"/>
                <a:cs typeface="Quattrocento Sans" pitchFamily="34" charset="-120"/>
              </a:rPr>
              <a:t>ten years</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to create his entire body of work, making his subsequent productivity all the more remarkable.</a:t>
            </a:r>
            <a:endParaRPr lang="en-US" sz="1600" dirty="0"/>
          </a:p>
        </p:txBody>
      </p:sp>
      <p:sp>
        <p:nvSpPr>
          <p:cNvPr id="20" name="Shape 18"/>
          <p:cNvSpPr/>
          <p:nvPr/>
        </p:nvSpPr>
        <p:spPr>
          <a:xfrm>
            <a:off x="6763509" y="1431235"/>
            <a:ext cx="5071165" cy="2685774"/>
          </a:xfrm>
          <a:custGeom>
            <a:avLst/>
            <a:gdLst/>
            <a:ahLst/>
            <a:cxnLst/>
            <a:rect l="l" t="t" r="r" b="b"/>
            <a:pathLst>
              <a:path w="5071165" h="2685774">
                <a:moveTo>
                  <a:pt x="70690" y="0"/>
                </a:moveTo>
                <a:lnTo>
                  <a:pt x="5000476" y="0"/>
                </a:lnTo>
                <a:cubicBezTo>
                  <a:pt x="5039516" y="0"/>
                  <a:pt x="5071165" y="31649"/>
                  <a:pt x="5071165" y="70690"/>
                </a:cubicBezTo>
                <a:lnTo>
                  <a:pt x="5071165" y="2615084"/>
                </a:lnTo>
                <a:cubicBezTo>
                  <a:pt x="5071165" y="2654125"/>
                  <a:pt x="5039516" y="2685774"/>
                  <a:pt x="5000476" y="2685774"/>
                </a:cubicBezTo>
                <a:lnTo>
                  <a:pt x="70690" y="2685774"/>
                </a:lnTo>
                <a:cubicBezTo>
                  <a:pt x="31649" y="2685774"/>
                  <a:pt x="0" y="2654125"/>
                  <a:pt x="0" y="2615084"/>
                </a:cubicBezTo>
                <a:lnTo>
                  <a:pt x="0" y="70690"/>
                </a:lnTo>
                <a:cubicBezTo>
                  <a:pt x="0" y="31675"/>
                  <a:pt x="31675" y="0"/>
                  <a:pt x="70690" y="0"/>
                </a:cubicBezTo>
                <a:close/>
              </a:path>
            </a:pathLst>
          </a:custGeom>
          <a:solidFill>
            <a:srgbClr val="2B2B2B"/>
          </a:solidFill>
          <a:ln/>
        </p:spPr>
      </p:sp>
      <p:sp>
        <p:nvSpPr>
          <p:cNvPr id="21" name="Text 19"/>
          <p:cNvSpPr/>
          <p:nvPr/>
        </p:nvSpPr>
        <p:spPr>
          <a:xfrm>
            <a:off x="6975544" y="1643270"/>
            <a:ext cx="4735443" cy="247374"/>
          </a:xfrm>
          <a:prstGeom prst="rect">
            <a:avLst/>
          </a:prstGeom>
          <a:noFill/>
          <a:ln/>
        </p:spPr>
        <p:txBody>
          <a:bodyPr wrap="square" lIns="0" tIns="0" rIns="0" bIns="0" rtlCol="0" anchor="ctr"/>
          <a:lstStyle/>
          <a:p>
            <a:pPr>
              <a:lnSpc>
                <a:spcPct val="120000"/>
              </a:lnSpc>
            </a:pPr>
            <a:r>
              <a:rPr lang="en-US" sz="1391" b="1" dirty="0">
                <a:solidFill>
                  <a:srgbClr val="C9A36A"/>
                </a:solidFill>
                <a:latin typeface="Oranienbaum" pitchFamily="34" charset="0"/>
                <a:ea typeface="Oranienbaum" pitchFamily="34" charset="-122"/>
                <a:cs typeface="Oranienbaum" pitchFamily="34" charset="-120"/>
              </a:rPr>
              <a:t>Key Timeline</a:t>
            </a:r>
            <a:endParaRPr lang="en-US" sz="1600" dirty="0"/>
          </a:p>
        </p:txBody>
      </p:sp>
      <p:sp>
        <p:nvSpPr>
          <p:cNvPr id="22" name="Shape 20"/>
          <p:cNvSpPr/>
          <p:nvPr/>
        </p:nvSpPr>
        <p:spPr>
          <a:xfrm>
            <a:off x="6975544" y="2102678"/>
            <a:ext cx="70678" cy="70678"/>
          </a:xfrm>
          <a:custGeom>
            <a:avLst/>
            <a:gdLst/>
            <a:ahLst/>
            <a:cxn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p:spPr>
      </p:sp>
      <p:sp>
        <p:nvSpPr>
          <p:cNvPr id="23" name="Text 21"/>
          <p:cNvSpPr/>
          <p:nvPr/>
        </p:nvSpPr>
        <p:spPr>
          <a:xfrm>
            <a:off x="7152240" y="2032000"/>
            <a:ext cx="1607930" cy="212035"/>
          </a:xfrm>
          <a:prstGeom prst="rect">
            <a:avLst/>
          </a:prstGeom>
          <a:noFill/>
          <a:ln/>
        </p:spPr>
        <p:txBody>
          <a:bodyPr wrap="square" lIns="0" tIns="0" rIns="0" bIns="0" rtlCol="0" anchor="ctr"/>
          <a:lstStyle/>
          <a:p>
            <a:pPr>
              <a:lnSpc>
                <a:spcPct val="130000"/>
              </a:lnSpc>
            </a:pPr>
            <a:r>
              <a:rPr lang="en-US" sz="1113" b="1" dirty="0">
                <a:solidFill>
                  <a:srgbClr val="C9A36A"/>
                </a:solidFill>
                <a:latin typeface="Quattrocento Sans" pitchFamily="34" charset="0"/>
                <a:ea typeface="Quattrocento Sans" pitchFamily="34" charset="-122"/>
                <a:cs typeface="Quattrocento Sans" pitchFamily="34" charset="-120"/>
              </a:rPr>
              <a:t>1853</a:t>
            </a:r>
            <a:endParaRPr lang="en-US" sz="1600" dirty="0"/>
          </a:p>
        </p:txBody>
      </p:sp>
      <p:sp>
        <p:nvSpPr>
          <p:cNvPr id="24" name="Text 22"/>
          <p:cNvSpPr/>
          <p:nvPr/>
        </p:nvSpPr>
        <p:spPr>
          <a:xfrm>
            <a:off x="7152240" y="2244035"/>
            <a:ext cx="1599096" cy="176696"/>
          </a:xfrm>
          <a:prstGeom prst="rect">
            <a:avLst/>
          </a:prstGeom>
          <a:noFill/>
          <a:ln/>
        </p:spPr>
        <p:txBody>
          <a:bodyPr wrap="square" lIns="0" tIns="0" rIns="0" bIns="0" rtlCol="0" anchor="ctr"/>
          <a:lstStyle/>
          <a:p>
            <a:pPr>
              <a:lnSpc>
                <a:spcPct val="120000"/>
              </a:lnSpc>
            </a:pPr>
            <a:r>
              <a:rPr lang="en-US" sz="974" dirty="0">
                <a:solidFill>
                  <a:srgbClr val="B8B8B8"/>
                </a:solidFill>
                <a:latin typeface="Quattrocento Sans" pitchFamily="34" charset="0"/>
                <a:ea typeface="Quattrocento Sans" pitchFamily="34" charset="-122"/>
                <a:cs typeface="Quattrocento Sans" pitchFamily="34" charset="-120"/>
              </a:rPr>
              <a:t>Born in Zundert, Netherlands</a:t>
            </a:r>
            <a:endParaRPr lang="en-US" sz="1600" dirty="0"/>
          </a:p>
        </p:txBody>
      </p:sp>
      <p:sp>
        <p:nvSpPr>
          <p:cNvPr id="25" name="Shape 23"/>
          <p:cNvSpPr/>
          <p:nvPr/>
        </p:nvSpPr>
        <p:spPr>
          <a:xfrm>
            <a:off x="6975544" y="2597426"/>
            <a:ext cx="70678" cy="70678"/>
          </a:xfrm>
          <a:custGeom>
            <a:avLst/>
            <a:gdLst/>
            <a:ahLst/>
            <a:cxn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p:spPr>
      </p:sp>
      <p:sp>
        <p:nvSpPr>
          <p:cNvPr id="26" name="Text 24"/>
          <p:cNvSpPr/>
          <p:nvPr/>
        </p:nvSpPr>
        <p:spPr>
          <a:xfrm>
            <a:off x="7152240" y="2526748"/>
            <a:ext cx="1404730" cy="212035"/>
          </a:xfrm>
          <a:prstGeom prst="rect">
            <a:avLst/>
          </a:prstGeom>
          <a:noFill/>
          <a:ln/>
        </p:spPr>
        <p:txBody>
          <a:bodyPr wrap="square" lIns="0" tIns="0" rIns="0" bIns="0" rtlCol="0" anchor="ctr"/>
          <a:lstStyle/>
          <a:p>
            <a:pPr>
              <a:lnSpc>
                <a:spcPct val="130000"/>
              </a:lnSpc>
            </a:pPr>
            <a:r>
              <a:rPr lang="en-US" sz="1113" b="1" dirty="0">
                <a:solidFill>
                  <a:srgbClr val="C9A36A"/>
                </a:solidFill>
                <a:latin typeface="Quattrocento Sans" pitchFamily="34" charset="0"/>
                <a:ea typeface="Quattrocento Sans" pitchFamily="34" charset="-122"/>
                <a:cs typeface="Quattrocento Sans" pitchFamily="34" charset="-120"/>
              </a:rPr>
              <a:t>1869</a:t>
            </a:r>
            <a:endParaRPr lang="en-US" sz="1600" dirty="0"/>
          </a:p>
        </p:txBody>
      </p:sp>
      <p:sp>
        <p:nvSpPr>
          <p:cNvPr id="27" name="Text 25"/>
          <p:cNvSpPr/>
          <p:nvPr/>
        </p:nvSpPr>
        <p:spPr>
          <a:xfrm>
            <a:off x="7152240" y="2738783"/>
            <a:ext cx="1395896" cy="176696"/>
          </a:xfrm>
          <a:prstGeom prst="rect">
            <a:avLst/>
          </a:prstGeom>
          <a:noFill/>
          <a:ln/>
        </p:spPr>
        <p:txBody>
          <a:bodyPr wrap="square" lIns="0" tIns="0" rIns="0" bIns="0" rtlCol="0" anchor="ctr"/>
          <a:lstStyle/>
          <a:p>
            <a:pPr>
              <a:lnSpc>
                <a:spcPct val="120000"/>
              </a:lnSpc>
            </a:pPr>
            <a:r>
              <a:rPr lang="en-US" sz="974" dirty="0">
                <a:solidFill>
                  <a:srgbClr val="B8B8B8"/>
                </a:solidFill>
                <a:latin typeface="Quattrocento Sans" pitchFamily="34" charset="0"/>
                <a:ea typeface="Quattrocento Sans" pitchFamily="34" charset="-122"/>
                <a:cs typeface="Quattrocento Sans" pitchFamily="34" charset="-120"/>
              </a:rPr>
              <a:t>Begins work as art dealer</a:t>
            </a:r>
            <a:endParaRPr lang="en-US" sz="1600" dirty="0"/>
          </a:p>
        </p:txBody>
      </p:sp>
      <p:sp>
        <p:nvSpPr>
          <p:cNvPr id="28" name="Shape 26"/>
          <p:cNvSpPr/>
          <p:nvPr/>
        </p:nvSpPr>
        <p:spPr>
          <a:xfrm>
            <a:off x="6975544" y="3092174"/>
            <a:ext cx="70678" cy="70678"/>
          </a:xfrm>
          <a:custGeom>
            <a:avLst/>
            <a:gdLst/>
            <a:ahLst/>
            <a:cxn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p:spPr>
      </p:sp>
      <p:sp>
        <p:nvSpPr>
          <p:cNvPr id="29" name="Text 27"/>
          <p:cNvSpPr/>
          <p:nvPr/>
        </p:nvSpPr>
        <p:spPr>
          <a:xfrm>
            <a:off x="7152240" y="3021496"/>
            <a:ext cx="1272209" cy="212035"/>
          </a:xfrm>
          <a:prstGeom prst="rect">
            <a:avLst/>
          </a:prstGeom>
          <a:noFill/>
          <a:ln/>
        </p:spPr>
        <p:txBody>
          <a:bodyPr wrap="square" lIns="0" tIns="0" rIns="0" bIns="0" rtlCol="0" anchor="ctr"/>
          <a:lstStyle/>
          <a:p>
            <a:pPr>
              <a:lnSpc>
                <a:spcPct val="130000"/>
              </a:lnSpc>
            </a:pPr>
            <a:r>
              <a:rPr lang="en-US" sz="1113" b="1" dirty="0">
                <a:solidFill>
                  <a:srgbClr val="C9A36A"/>
                </a:solidFill>
                <a:latin typeface="Quattrocento Sans" pitchFamily="34" charset="0"/>
                <a:ea typeface="Quattrocento Sans" pitchFamily="34" charset="-122"/>
                <a:cs typeface="Quattrocento Sans" pitchFamily="34" charset="-120"/>
              </a:rPr>
              <a:t>1879</a:t>
            </a:r>
            <a:endParaRPr lang="en-US" sz="1600" dirty="0"/>
          </a:p>
        </p:txBody>
      </p:sp>
      <p:sp>
        <p:nvSpPr>
          <p:cNvPr id="30" name="Text 28"/>
          <p:cNvSpPr/>
          <p:nvPr/>
        </p:nvSpPr>
        <p:spPr>
          <a:xfrm>
            <a:off x="7152240" y="3233530"/>
            <a:ext cx="1263374" cy="176696"/>
          </a:xfrm>
          <a:prstGeom prst="rect">
            <a:avLst/>
          </a:prstGeom>
          <a:noFill/>
          <a:ln/>
        </p:spPr>
        <p:txBody>
          <a:bodyPr wrap="square" lIns="0" tIns="0" rIns="0" bIns="0" rtlCol="0" anchor="ctr"/>
          <a:lstStyle/>
          <a:p>
            <a:pPr>
              <a:lnSpc>
                <a:spcPct val="120000"/>
              </a:lnSpc>
            </a:pPr>
            <a:r>
              <a:rPr lang="en-US" sz="974" dirty="0">
                <a:solidFill>
                  <a:srgbClr val="B8B8B8"/>
                </a:solidFill>
                <a:latin typeface="Quattrocento Sans" pitchFamily="34" charset="0"/>
                <a:ea typeface="Quattrocento Sans" pitchFamily="34" charset="-122"/>
                <a:cs typeface="Quattrocento Sans" pitchFamily="34" charset="-120"/>
              </a:rPr>
              <a:t>Dismissed as preacher</a:t>
            </a:r>
            <a:endParaRPr lang="en-US" sz="1600" dirty="0"/>
          </a:p>
        </p:txBody>
      </p:sp>
      <p:sp>
        <p:nvSpPr>
          <p:cNvPr id="31" name="Shape 29"/>
          <p:cNvSpPr/>
          <p:nvPr/>
        </p:nvSpPr>
        <p:spPr>
          <a:xfrm>
            <a:off x="6975544" y="3586922"/>
            <a:ext cx="70678" cy="70678"/>
          </a:xfrm>
          <a:custGeom>
            <a:avLst/>
            <a:gdLst/>
            <a:ahLst/>
            <a:cxn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p:spPr>
      </p:sp>
      <p:sp>
        <p:nvSpPr>
          <p:cNvPr id="32" name="Text 30"/>
          <p:cNvSpPr/>
          <p:nvPr/>
        </p:nvSpPr>
        <p:spPr>
          <a:xfrm>
            <a:off x="7152240" y="3516243"/>
            <a:ext cx="1369391" cy="212035"/>
          </a:xfrm>
          <a:prstGeom prst="rect">
            <a:avLst/>
          </a:prstGeom>
          <a:noFill/>
          <a:ln/>
        </p:spPr>
        <p:txBody>
          <a:bodyPr wrap="square" lIns="0" tIns="0" rIns="0" bIns="0" rtlCol="0" anchor="ctr"/>
          <a:lstStyle/>
          <a:p>
            <a:pPr>
              <a:lnSpc>
                <a:spcPct val="130000"/>
              </a:lnSpc>
            </a:pPr>
            <a:r>
              <a:rPr lang="en-US" sz="1113" b="1" dirty="0">
                <a:solidFill>
                  <a:srgbClr val="C9A36A"/>
                </a:solidFill>
                <a:latin typeface="Quattrocento Sans" pitchFamily="34" charset="0"/>
                <a:ea typeface="Quattrocento Sans" pitchFamily="34" charset="-122"/>
                <a:cs typeface="Quattrocento Sans" pitchFamily="34" charset="-120"/>
              </a:rPr>
              <a:t>1880</a:t>
            </a:r>
            <a:endParaRPr lang="en-US" sz="1600" dirty="0"/>
          </a:p>
        </p:txBody>
      </p:sp>
      <p:sp>
        <p:nvSpPr>
          <p:cNvPr id="33" name="Text 31"/>
          <p:cNvSpPr/>
          <p:nvPr/>
        </p:nvSpPr>
        <p:spPr>
          <a:xfrm>
            <a:off x="7152240" y="3728278"/>
            <a:ext cx="1360557" cy="176696"/>
          </a:xfrm>
          <a:prstGeom prst="rect">
            <a:avLst/>
          </a:prstGeom>
          <a:noFill/>
          <a:ln/>
        </p:spPr>
        <p:txBody>
          <a:bodyPr wrap="square" lIns="0" tIns="0" rIns="0" bIns="0" rtlCol="0" anchor="ctr"/>
          <a:lstStyle/>
          <a:p>
            <a:pPr>
              <a:lnSpc>
                <a:spcPct val="120000"/>
              </a:lnSpc>
            </a:pPr>
            <a:r>
              <a:rPr lang="en-US" sz="974" dirty="0">
                <a:solidFill>
                  <a:srgbClr val="B8B8B8"/>
                </a:solidFill>
                <a:latin typeface="Quattrocento Sans" pitchFamily="34" charset="0"/>
                <a:ea typeface="Quattrocento Sans" pitchFamily="34" charset="-122"/>
                <a:cs typeface="Quattrocento Sans" pitchFamily="34" charset="-120"/>
              </a:rPr>
              <a:t>Commits to art at age 27</a:t>
            </a:r>
            <a:endParaRPr lang="en-US" sz="1600" dirty="0"/>
          </a:p>
        </p:txBody>
      </p:sp>
      <p:sp>
        <p:nvSpPr>
          <p:cNvPr id="34" name="Shape 32"/>
          <p:cNvSpPr/>
          <p:nvPr/>
        </p:nvSpPr>
        <p:spPr>
          <a:xfrm>
            <a:off x="6767927" y="4298122"/>
            <a:ext cx="5062330" cy="2323548"/>
          </a:xfrm>
          <a:custGeom>
            <a:avLst/>
            <a:gdLst/>
            <a:ahLst/>
            <a:cxnLst/>
            <a:rect l="l" t="t" r="r" b="b"/>
            <a:pathLst>
              <a:path w="5062330" h="2323548">
                <a:moveTo>
                  <a:pt x="70682" y="0"/>
                </a:moveTo>
                <a:lnTo>
                  <a:pt x="4991648" y="0"/>
                </a:lnTo>
                <a:cubicBezTo>
                  <a:pt x="5030685" y="0"/>
                  <a:pt x="5062330" y="31646"/>
                  <a:pt x="5062330" y="70682"/>
                </a:cubicBezTo>
                <a:lnTo>
                  <a:pt x="5062330" y="2252866"/>
                </a:lnTo>
                <a:cubicBezTo>
                  <a:pt x="5062330" y="2291902"/>
                  <a:pt x="5030685" y="2323548"/>
                  <a:pt x="4991648" y="2323548"/>
                </a:cubicBezTo>
                <a:lnTo>
                  <a:pt x="70682" y="2323548"/>
                </a:lnTo>
                <a:cubicBezTo>
                  <a:pt x="31646" y="2323548"/>
                  <a:pt x="0" y="2291902"/>
                  <a:pt x="0" y="2252866"/>
                </a:cubicBezTo>
                <a:lnTo>
                  <a:pt x="0" y="70682"/>
                </a:lnTo>
                <a:cubicBezTo>
                  <a:pt x="0" y="31672"/>
                  <a:pt x="31672" y="0"/>
                  <a:pt x="70682"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35" name="Shape 33"/>
          <p:cNvSpPr/>
          <p:nvPr/>
        </p:nvSpPr>
        <p:spPr>
          <a:xfrm>
            <a:off x="9185344" y="4936435"/>
            <a:ext cx="231913" cy="265043"/>
          </a:xfrm>
          <a:custGeom>
            <a:avLst/>
            <a:gdLst/>
            <a:ahLst/>
            <a:cxnLst/>
            <a:rect l="l" t="t" r="r" b="b"/>
            <a:pathLst>
              <a:path w="231913" h="265043">
                <a:moveTo>
                  <a:pt x="0" y="111815"/>
                </a:moveTo>
                <a:cubicBezTo>
                  <a:pt x="0" y="77494"/>
                  <a:pt x="27799" y="49696"/>
                  <a:pt x="62120" y="49696"/>
                </a:cubicBezTo>
                <a:lnTo>
                  <a:pt x="66261" y="49696"/>
                </a:lnTo>
                <a:cubicBezTo>
                  <a:pt x="75424" y="49696"/>
                  <a:pt x="82826" y="57098"/>
                  <a:pt x="82826" y="66261"/>
                </a:cubicBezTo>
                <a:cubicBezTo>
                  <a:pt x="82826" y="75424"/>
                  <a:pt x="75424" y="82826"/>
                  <a:pt x="66261" y="82826"/>
                </a:cubicBezTo>
                <a:lnTo>
                  <a:pt x="62120" y="82826"/>
                </a:lnTo>
                <a:cubicBezTo>
                  <a:pt x="46124" y="82826"/>
                  <a:pt x="33130" y="95819"/>
                  <a:pt x="33130" y="111815"/>
                </a:cubicBezTo>
                <a:lnTo>
                  <a:pt x="33130" y="115957"/>
                </a:lnTo>
                <a:lnTo>
                  <a:pt x="66261" y="115957"/>
                </a:lnTo>
                <a:cubicBezTo>
                  <a:pt x="84534" y="115957"/>
                  <a:pt x="99391" y="130813"/>
                  <a:pt x="99391" y="149087"/>
                </a:cubicBezTo>
                <a:lnTo>
                  <a:pt x="99391" y="182217"/>
                </a:lnTo>
                <a:cubicBezTo>
                  <a:pt x="99391" y="200491"/>
                  <a:pt x="84534" y="215348"/>
                  <a:pt x="66261" y="215348"/>
                </a:cubicBezTo>
                <a:lnTo>
                  <a:pt x="33130" y="215348"/>
                </a:lnTo>
                <a:cubicBezTo>
                  <a:pt x="14857" y="215348"/>
                  <a:pt x="0" y="200491"/>
                  <a:pt x="0" y="182217"/>
                </a:cubicBezTo>
                <a:lnTo>
                  <a:pt x="0" y="111815"/>
                </a:lnTo>
                <a:close/>
                <a:moveTo>
                  <a:pt x="132522" y="111815"/>
                </a:moveTo>
                <a:cubicBezTo>
                  <a:pt x="132522" y="77494"/>
                  <a:pt x="160320" y="49696"/>
                  <a:pt x="194641" y="49696"/>
                </a:cubicBezTo>
                <a:lnTo>
                  <a:pt x="198783" y="49696"/>
                </a:lnTo>
                <a:cubicBezTo>
                  <a:pt x="207945" y="49696"/>
                  <a:pt x="215348" y="57098"/>
                  <a:pt x="215348" y="66261"/>
                </a:cubicBezTo>
                <a:cubicBezTo>
                  <a:pt x="215348" y="75424"/>
                  <a:pt x="207945" y="82826"/>
                  <a:pt x="198783" y="82826"/>
                </a:cubicBezTo>
                <a:lnTo>
                  <a:pt x="194641" y="82826"/>
                </a:lnTo>
                <a:cubicBezTo>
                  <a:pt x="178646" y="82826"/>
                  <a:pt x="165652" y="95819"/>
                  <a:pt x="165652" y="111815"/>
                </a:cubicBezTo>
                <a:lnTo>
                  <a:pt x="165652" y="115957"/>
                </a:lnTo>
                <a:lnTo>
                  <a:pt x="198783" y="115957"/>
                </a:lnTo>
                <a:cubicBezTo>
                  <a:pt x="217056" y="115957"/>
                  <a:pt x="231913" y="130813"/>
                  <a:pt x="231913" y="149087"/>
                </a:cubicBezTo>
                <a:lnTo>
                  <a:pt x="231913" y="182217"/>
                </a:lnTo>
                <a:cubicBezTo>
                  <a:pt x="231913" y="200491"/>
                  <a:pt x="217056" y="215348"/>
                  <a:pt x="198783" y="215348"/>
                </a:cubicBezTo>
                <a:lnTo>
                  <a:pt x="165652" y="215348"/>
                </a:lnTo>
                <a:cubicBezTo>
                  <a:pt x="147379" y="215348"/>
                  <a:pt x="132522" y="200491"/>
                  <a:pt x="132522" y="182217"/>
                </a:cubicBezTo>
                <a:lnTo>
                  <a:pt x="132522" y="111815"/>
                </a:lnTo>
                <a:close/>
              </a:path>
            </a:pathLst>
          </a:custGeom>
          <a:solidFill>
            <a:srgbClr val="C9A36A"/>
          </a:solidFill>
          <a:ln/>
        </p:spPr>
      </p:sp>
      <p:sp>
        <p:nvSpPr>
          <p:cNvPr id="36" name="Text 34"/>
          <p:cNvSpPr/>
          <p:nvPr/>
        </p:nvSpPr>
        <p:spPr>
          <a:xfrm>
            <a:off x="6940205" y="5342835"/>
            <a:ext cx="4717774" cy="291548"/>
          </a:xfrm>
          <a:prstGeom prst="rect">
            <a:avLst/>
          </a:prstGeom>
          <a:noFill/>
          <a:ln/>
        </p:spPr>
        <p:txBody>
          <a:bodyPr wrap="square" lIns="0" tIns="0" rIns="0" bIns="0" rtlCol="0" anchor="ctr"/>
          <a:lstStyle/>
          <a:p>
            <a:pPr algn="ctr">
              <a:lnSpc>
                <a:spcPct val="140000"/>
              </a:lnSpc>
            </a:pPr>
            <a:r>
              <a:rPr lang="en-US" sz="1391" dirty="0">
                <a:solidFill>
                  <a:srgbClr val="F2F2F2"/>
                </a:solidFill>
                <a:latin typeface="Quattrocento Sans" pitchFamily="34" charset="0"/>
                <a:ea typeface="Quattrocento Sans" pitchFamily="34" charset="-122"/>
                <a:cs typeface="Quattrocento Sans" pitchFamily="34" charset="-120"/>
              </a:rPr>
              <a:t>"I am seeking, I am striving, I am in it with all my heart."</a:t>
            </a:r>
            <a:endParaRPr lang="en-US" sz="1600" dirty="0"/>
          </a:p>
        </p:txBody>
      </p:sp>
      <p:sp>
        <p:nvSpPr>
          <p:cNvPr id="37" name="Text 35"/>
          <p:cNvSpPr/>
          <p:nvPr/>
        </p:nvSpPr>
        <p:spPr>
          <a:xfrm>
            <a:off x="6949040" y="5771322"/>
            <a:ext cx="4700104" cy="212035"/>
          </a:xfrm>
          <a:prstGeom prst="rect">
            <a:avLst/>
          </a:prstGeom>
          <a:noFill/>
          <a:ln/>
        </p:spPr>
        <p:txBody>
          <a:bodyPr wrap="square" lIns="0" tIns="0" rIns="0" bIns="0" rtlCol="0" anchor="ctr"/>
          <a:lstStyle/>
          <a:p>
            <a:pPr algn="ctr">
              <a:lnSpc>
                <a:spcPct val="130000"/>
              </a:lnSpc>
            </a:pPr>
            <a:r>
              <a:rPr lang="en-US" sz="1113" dirty="0">
                <a:solidFill>
                  <a:srgbClr val="C9A36A"/>
                </a:solidFill>
                <a:latin typeface="Quattrocento Sans" pitchFamily="34" charset="0"/>
                <a:ea typeface="Quattrocento Sans" pitchFamily="34" charset="-122"/>
                <a:cs typeface="Quattrocento Sans" pitchFamily="34" charset="-120"/>
              </a:rPr>
              <a:t>— Vincent van Gogh</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1"/>
        </a:solidFill>
      </p:bgPr>
    </p:bg>
    <p:spTree>
      <p:nvGrpSpPr>
        <p:cNvPr id="1" name=""/>
        <p:cNvGrpSpPr/>
        <p:nvPr/>
      </p:nvGrpSpPr>
      <p:grpSpPr>
        <a:xfrm>
          <a:off x="0" y="0"/>
          <a:ext cx="0" cy="0"/>
          <a:chOff x="0" y="0"/>
          <a:chExt cx="0" cy="0"/>
        </a:xfrm>
      </p:grpSpPr>
      <p:pic>
        <p:nvPicPr>
          <p:cNvPr id="2" name="Image 0" descr="https://kimi-web-img.moonshot.cn/img/www.bulgarihotels.com/073d061c919dfa0767023631cc6ebbf85d59334d">    </p:cNvPr>
          <p:cNvPicPr>
            <a:picLocks noChangeAspect="1"/>
          </p:cNvPicPr>
          <p:nvPr/>
        </p:nvPicPr>
        <p:blipFill>
          <a:blip r:embed="rId1">
            <a:alphaModFix amt="30000"/>
          </a:blip>
          <a:srcRect l="0" r="0" t="0" b="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txBody>
          <a:bodyPr/>
          <a:p/>
        </p:txBody>
      </p:sp>
      <p:sp>
        <p:nvSpPr>
          <p:cNvPr id="4" name="Shape 1"/>
          <p:cNvSpPr/>
          <p:nvPr/>
        </p:nvSpPr>
        <p:spPr>
          <a:xfrm>
            <a:off x="385763" y="1231106"/>
            <a:ext cx="1038225" cy="809625"/>
          </a:xfrm>
          <a:custGeom>
            <a:avLst/>
            <a:gdLst/>
            <a:ahLst/>
            <a:cxnLst/>
            <a:rect l="l" t="t" r="r" b="b"/>
            <a:pathLst>
              <a:path w="1038225" h="809625">
                <a:moveTo>
                  <a:pt x="76202" y="0"/>
                </a:moveTo>
                <a:lnTo>
                  <a:pt x="962023" y="0"/>
                </a:lnTo>
                <a:cubicBezTo>
                  <a:pt x="1004108" y="0"/>
                  <a:pt x="1038225" y="34117"/>
                  <a:pt x="1038225" y="76202"/>
                </a:cubicBezTo>
                <a:lnTo>
                  <a:pt x="1038225" y="733423"/>
                </a:lnTo>
                <a:cubicBezTo>
                  <a:pt x="1038225" y="775508"/>
                  <a:pt x="1004108" y="809625"/>
                  <a:pt x="962023"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txBody>
          <a:bodyPr/>
          <a:p/>
        </p:txBody>
      </p:sp>
      <p:sp>
        <p:nvSpPr>
          <p:cNvPr id="5" name="Text 2"/>
          <p:cNvSpPr/>
          <p:nvPr/>
        </p:nvSpPr>
        <p:spPr>
          <a:xfrm>
            <a:off x="619125" y="1307306"/>
            <a:ext cx="854422" cy="657225"/>
          </a:xfrm>
          <a:prstGeom prst="rect">
            <a:avLst/>
          </a:prstGeom>
          <a:noFill/>
          <a:ln/>
        </p:spPr>
        <p:txBody>
          <a:bodyPr wrap="square" lIns="0" tIns="0" rIns="0" bIns="0" rtlCol="0" anchor="ctr"/>
          <a:lstStyle/>
          <a:p>
            <a:pPr>
              <a:lnSpc>
                <a:spcPct val="80000"/>
              </a:lnSpc>
            </a:pPr>
            <a:r>
              <a:rPr lang="en-US" sz="4500" b="1" dirty="0" i="1">
                <a:solidFill>
                  <a:srgbClr val="8B0000"/>
                </a:solidFill>
                <a:latin typeface="Oranienbaum" pitchFamily="34" charset="0"/>
                <a:ea typeface="Oranienbaum" pitchFamily="34" charset="-122"/>
                <a:cs typeface="Oranienbaum" pitchFamily="34" charset="-120"/>
              </a:rPr>
              <a:t>02</a:t>
            </a:r>
            <a:endParaRPr lang="en-US" sz="1600" dirty="0"/>
          </a:p>
        </p:txBody>
      </p:sp>
      <p:sp>
        <p:nvSpPr>
          <p:cNvPr id="6" name="Text 3"/>
          <p:cNvSpPr/>
          <p:nvPr/>
        </p:nvSpPr>
        <p:spPr>
          <a:xfrm>
            <a:off x="381000" y="2350294"/>
            <a:ext cx="8877300" cy="1714500"/>
          </a:xfrm>
          <a:prstGeom prst="rect">
            <a:avLst/>
          </a:prstGeom>
          <a:noFill/>
          <a:ln/>
        </p:spPr>
        <p:txBody>
          <a:bodyPr wrap="square" lIns="0" tIns="0" rIns="0" bIns="0" rtlCol="0" anchor="ctr"/>
          <a:lstStyle/>
          <a:p>
            <a:pPr>
              <a:lnSpc>
                <a:spcPct val="100000"/>
              </a:lnSpc>
            </a:pPr>
            <a:r>
              <a:rPr lang="en-US" sz="5400" b="1" dirty="0" i="1">
                <a:solidFill>
                  <a:srgbClr val="8B0000"/>
                </a:solidFill>
                <a:latin typeface="Oranienbaum" pitchFamily="34" charset="0"/>
                <a:ea typeface="Oranienbaum" pitchFamily="34" charset="-122"/>
                <a:cs typeface="Oranienbaum" pitchFamily="34" charset="-120"/>
              </a:rPr>
              <a:t>The Evolution</a:t>
            </a:r>
            <a:endParaRPr lang="en-US" sz="1600" dirty="0"/>
          </a:p>
          <a:p>
            <a:pPr>
              <a:lnSpc>
                <a:spcPct val="100000"/>
              </a:lnSpc>
            </a:pPr>
            <a:r>
              <a:rPr lang="en-US" sz="5400" b="1" dirty="0" i="1">
                <a:solidFill>
                  <a:srgbClr val="8B0000"/>
                </a:solidFill>
                <a:latin typeface="Oranienbaum" pitchFamily="34" charset="0"/>
                <a:ea typeface="Oranienbaum" pitchFamily="34" charset="-122"/>
                <a:cs typeface="Oranienbaum" pitchFamily="34" charset="-120"/>
              </a:rPr>
              <a:t>of Style</a:t>
            </a:r>
            <a:endParaRPr lang="en-US" sz="1600" dirty="0"/>
          </a:p>
        </p:txBody>
      </p:sp>
      <p:sp>
        <p:nvSpPr>
          <p:cNvPr id="7" name="Shape 4"/>
          <p:cNvSpPr/>
          <p:nvPr/>
        </p:nvSpPr>
        <p:spPr>
          <a:xfrm>
            <a:off x="381000" y="4369594"/>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txBody>
          <a:bodyPr/>
          <a:p/>
        </p:txBody>
      </p:sp>
      <p:sp>
        <p:nvSpPr>
          <p:cNvPr id="8" name="Text 5"/>
          <p:cNvSpPr/>
          <p:nvPr/>
        </p:nvSpPr>
        <p:spPr>
          <a:xfrm>
            <a:off x="381000" y="4702969"/>
            <a:ext cx="6543675" cy="933450"/>
          </a:xfrm>
          <a:prstGeom prst="rect">
            <a:avLst/>
          </a:prstGeom>
          <a:noFill/>
          <a:ln/>
        </p:spPr>
        <p:txBody>
          <a:bodyPr wrap="square" lIns="0" tIns="0" rIns="0" bIns="0" rtlCol="0" anchor="ctr"/>
          <a:lstStyle/>
          <a:p>
            <a:pPr>
              <a:lnSpc>
                <a:spcPct val="140000"/>
              </a:lnSpc>
            </a:pPr>
            <a:r>
              <a:rPr lang="en-US" sz="2250" dirty="0" i="1">
                <a:solidFill>
                  <a:srgbClr val="8B0000"/>
                </a:solidFill>
                <a:latin typeface="Quattrocento Sans" pitchFamily="34" charset="0"/>
                <a:ea typeface="Quattrocento Sans" pitchFamily="34" charset="-122"/>
                <a:cs typeface="Quattrocento Sans" pitchFamily="34" charset="-120"/>
              </a:rPr>
              <a:t>A decade of transformation across five distinct artistic periods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23395" y="323395"/>
            <a:ext cx="11609889" cy="194037"/>
          </a:xfrm>
          <a:prstGeom prst="rect">
            <a:avLst/>
          </a:prstGeom>
          <a:noFill/>
          <a:ln/>
        </p:spPr>
        <p:txBody>
          <a:bodyPr wrap="square" lIns="0" tIns="0" rIns="0" bIns="0" rtlCol="0" anchor="ctr"/>
          <a:lstStyle/>
          <a:p>
            <a:pPr>
              <a:lnSpc>
                <a:spcPct val="130000"/>
              </a:lnSpc>
            </a:pPr>
            <a:r>
              <a:rPr lang="en-US" sz="1019" b="1" spc="204" kern="0" dirty="0">
                <a:solidFill>
                  <a:srgbClr val="C9A36A"/>
                </a:solidFill>
                <a:latin typeface="Quattrocento Sans" pitchFamily="34" charset="0"/>
                <a:ea typeface="Quattrocento Sans" pitchFamily="34" charset="-122"/>
                <a:cs typeface="Quattrocento Sans" pitchFamily="34" charset="-120"/>
              </a:rPr>
              <a:t>Chapter 02</a:t>
            </a:r>
            <a:endParaRPr lang="en-US" sz="1600" dirty="0"/>
          </a:p>
        </p:txBody>
      </p:sp>
      <p:sp>
        <p:nvSpPr>
          <p:cNvPr id="3" name="Text 1"/>
          <p:cNvSpPr/>
          <p:nvPr/>
        </p:nvSpPr>
        <p:spPr>
          <a:xfrm>
            <a:off x="323395" y="582111"/>
            <a:ext cx="11739247" cy="388074"/>
          </a:xfrm>
          <a:prstGeom prst="rect">
            <a:avLst/>
          </a:prstGeom>
          <a:noFill/>
          <a:ln/>
        </p:spPr>
        <p:txBody>
          <a:bodyPr wrap="square" lIns="0" tIns="0" rIns="0" bIns="0" rtlCol="0" anchor="ctr"/>
          <a:lstStyle/>
          <a:p>
            <a:pPr>
              <a:lnSpc>
                <a:spcPct val="80000"/>
              </a:lnSpc>
            </a:pPr>
            <a:r>
              <a:rPr lang="en-US" sz="3056" b="1" dirty="0">
                <a:solidFill>
                  <a:srgbClr val="F2F2F2"/>
                </a:solidFill>
                <a:latin typeface="Oranienbaum" pitchFamily="34" charset="0"/>
                <a:ea typeface="Oranienbaum" pitchFamily="34" charset="-122"/>
                <a:cs typeface="Oranienbaum" pitchFamily="34" charset="-120"/>
              </a:rPr>
              <a:t>Five Periods of Artistic Revolution</a:t>
            </a:r>
            <a:endParaRPr lang="en-US" sz="1600" dirty="0"/>
          </a:p>
        </p:txBody>
      </p:sp>
      <p:sp>
        <p:nvSpPr>
          <p:cNvPr id="4" name="Shape 2"/>
          <p:cNvSpPr/>
          <p:nvPr/>
        </p:nvSpPr>
        <p:spPr>
          <a:xfrm>
            <a:off x="323395" y="1099544"/>
            <a:ext cx="905507" cy="16170"/>
          </a:xfrm>
          <a:custGeom>
            <a:avLst/>
            <a:gdLst/>
            <a:ahLst/>
            <a:cxnLst/>
            <a:rect l="l" t="t" r="r" b="b"/>
            <a:pathLst>
              <a:path w="905507" h="16170">
                <a:moveTo>
                  <a:pt x="0" y="0"/>
                </a:moveTo>
                <a:lnTo>
                  <a:pt x="905507" y="0"/>
                </a:lnTo>
                <a:lnTo>
                  <a:pt x="905507" y="16170"/>
                </a:lnTo>
                <a:lnTo>
                  <a:pt x="0" y="16170"/>
                </a:lnTo>
                <a:lnTo>
                  <a:pt x="0" y="0"/>
                </a:lnTo>
                <a:close/>
              </a:path>
            </a:pathLst>
          </a:custGeom>
          <a:solidFill>
            <a:srgbClr val="C9A36A"/>
          </a:solidFill>
          <a:ln/>
        </p:spPr>
      </p:sp>
      <p:sp>
        <p:nvSpPr>
          <p:cNvPr id="5" name="Shape 3"/>
          <p:cNvSpPr/>
          <p:nvPr/>
        </p:nvSpPr>
        <p:spPr>
          <a:xfrm>
            <a:off x="323395" y="1289538"/>
            <a:ext cx="5707926" cy="2227385"/>
          </a:xfrm>
          <a:custGeom>
            <a:avLst/>
            <a:gdLst/>
            <a:ahLst/>
            <a:cxn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p:spPr>
      </p:sp>
      <p:sp>
        <p:nvSpPr>
          <p:cNvPr id="6" name="Shape 4"/>
          <p:cNvSpPr/>
          <p:nvPr/>
        </p:nvSpPr>
        <p:spPr>
          <a:xfrm>
            <a:off x="323395" y="1289538"/>
            <a:ext cx="5707926" cy="24255"/>
          </a:xfrm>
          <a:custGeom>
            <a:avLst/>
            <a:gdLst/>
            <a:ahLst/>
            <a:cxn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p:spPr>
      </p:sp>
      <p:sp>
        <p:nvSpPr>
          <p:cNvPr id="7" name="Text 5"/>
          <p:cNvSpPr/>
          <p:nvPr/>
        </p:nvSpPr>
        <p:spPr>
          <a:xfrm>
            <a:off x="485093" y="1463363"/>
            <a:ext cx="1390599" cy="226377"/>
          </a:xfrm>
          <a:prstGeom prst="rect">
            <a:avLst/>
          </a:prstGeom>
          <a:noFill/>
          <a:ln/>
        </p:spPr>
        <p:txBody>
          <a:bodyPr wrap="square" lIns="0" tIns="0" rIns="0" bIns="0" rtlCol="0" anchor="ctr"/>
          <a:lstStyle/>
          <a:p>
            <a:pPr>
              <a:lnSpc>
                <a:spcPct val="120000"/>
              </a:lnSpc>
            </a:pPr>
            <a:r>
              <a:rPr lang="en-US" sz="1273" b="1" dirty="0">
                <a:solidFill>
                  <a:srgbClr val="F2F2F2"/>
                </a:solidFill>
                <a:latin typeface="Oranienbaum" pitchFamily="34" charset="0"/>
                <a:ea typeface="Oranienbaum" pitchFamily="34" charset="-122"/>
                <a:cs typeface="Oranienbaum" pitchFamily="34" charset="-120"/>
              </a:rPr>
              <a:t>The Hague / Nuenen</a:t>
            </a:r>
            <a:endParaRPr lang="en-US" sz="1600" dirty="0"/>
          </a:p>
        </p:txBody>
      </p:sp>
      <p:sp>
        <p:nvSpPr>
          <p:cNvPr id="8" name="Text 6"/>
          <p:cNvSpPr/>
          <p:nvPr/>
        </p:nvSpPr>
        <p:spPr>
          <a:xfrm>
            <a:off x="5352507" y="1495703"/>
            <a:ext cx="574027"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1880-1886</a:t>
            </a:r>
            <a:endParaRPr lang="en-US" sz="1600" dirty="0"/>
          </a:p>
        </p:txBody>
      </p:sp>
      <p:sp>
        <p:nvSpPr>
          <p:cNvPr id="9" name="Text 7"/>
          <p:cNvSpPr/>
          <p:nvPr/>
        </p:nvSpPr>
        <p:spPr>
          <a:xfrm>
            <a:off x="485093" y="1786759"/>
            <a:ext cx="5449210" cy="630621"/>
          </a:xfrm>
          <a:prstGeom prst="rect">
            <a:avLst/>
          </a:prstGeom>
          <a:noFill/>
          <a:ln/>
        </p:spPr>
        <p:txBody>
          <a:bodyPr wrap="square" lIns="0" tIns="0" rIns="0" bIns="0" rtlCol="0" anchor="ctr"/>
          <a:lstStyle/>
          <a:p>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Van Gogh's early period was characterized by </a:t>
            </a:r>
            <a:pPr>
              <a:lnSpc>
                <a:spcPct val="140000"/>
              </a:lnSpc>
            </a:pPr>
            <a:r>
              <a:rPr lang="en-US" sz="1019" dirty="0">
                <a:solidFill>
                  <a:srgbClr val="F2F2F2"/>
                </a:solidFill>
                <a:latin typeface="Quattrocento Sans" pitchFamily="34" charset="0"/>
                <a:ea typeface="Quattrocento Sans" pitchFamily="34" charset="-122"/>
                <a:cs typeface="Quattrocento Sans" pitchFamily="34" charset="-120"/>
              </a:rPr>
              <a:t>dark, earthy tones</a:t>
            </a:r>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 and a focus on peasant life. Influenced by Dutch Realism and artists like Millet, he depicted the harsh realities of rural existence with rough textures and somber colors.</a:t>
            </a:r>
            <a:endParaRPr lang="en-US" sz="1600" dirty="0"/>
          </a:p>
        </p:txBody>
      </p:sp>
      <p:sp>
        <p:nvSpPr>
          <p:cNvPr id="10" name="Shape 8"/>
          <p:cNvSpPr/>
          <p:nvPr/>
        </p:nvSpPr>
        <p:spPr>
          <a:xfrm>
            <a:off x="485093" y="2514398"/>
            <a:ext cx="5384531" cy="582111"/>
          </a:xfrm>
          <a:custGeom>
            <a:avLst/>
            <a:gdLst/>
            <a:ahLst/>
            <a:cxn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p:spPr>
      </p:sp>
      <p:sp>
        <p:nvSpPr>
          <p:cNvPr id="11" name="Text 9"/>
          <p:cNvSpPr/>
          <p:nvPr/>
        </p:nvSpPr>
        <p:spPr>
          <a:xfrm>
            <a:off x="582111" y="2611416"/>
            <a:ext cx="5247088"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Masterpiece:</a:t>
            </a:r>
            <a:endParaRPr lang="en-US" sz="1600" dirty="0"/>
          </a:p>
        </p:txBody>
      </p:sp>
      <p:sp>
        <p:nvSpPr>
          <p:cNvPr id="12" name="Text 10"/>
          <p:cNvSpPr/>
          <p:nvPr/>
        </p:nvSpPr>
        <p:spPr>
          <a:xfrm>
            <a:off x="582111" y="2805454"/>
            <a:ext cx="5255172" cy="194037"/>
          </a:xfrm>
          <a:prstGeom prst="rect">
            <a:avLst/>
          </a:prstGeom>
          <a:noFill/>
          <a:ln/>
        </p:spPr>
        <p:txBody>
          <a:bodyPr wrap="square" lIns="0" tIns="0" rIns="0" bIns="0" rtlCol="0" anchor="ctr"/>
          <a:lstStyle/>
          <a:p>
            <a:pPr>
              <a:lnSpc>
                <a:spcPct val="130000"/>
              </a:lnSpc>
            </a:pPr>
            <a:r>
              <a:rPr lang="en-US" sz="1019" dirty="0">
                <a:solidFill>
                  <a:srgbClr val="F2F2F2"/>
                </a:solidFill>
                <a:latin typeface="Quattrocento Sans" pitchFamily="34" charset="0"/>
                <a:ea typeface="Quattrocento Sans" pitchFamily="34" charset="-122"/>
                <a:cs typeface="Quattrocento Sans" pitchFamily="34" charset="-120"/>
              </a:rPr>
              <a:t>The Potato Eaters (1885)</a:t>
            </a:r>
            <a:endParaRPr lang="en-US" sz="1600" dirty="0"/>
          </a:p>
        </p:txBody>
      </p:sp>
      <p:sp>
        <p:nvSpPr>
          <p:cNvPr id="13" name="Shape 11"/>
          <p:cNvSpPr/>
          <p:nvPr/>
        </p:nvSpPr>
        <p:spPr>
          <a:xfrm>
            <a:off x="485093"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3D2914"/>
          </a:solidFill>
          <a:ln/>
        </p:spPr>
      </p:sp>
      <p:sp>
        <p:nvSpPr>
          <p:cNvPr id="14" name="Shape 12"/>
          <p:cNvSpPr/>
          <p:nvPr/>
        </p:nvSpPr>
        <p:spPr>
          <a:xfrm>
            <a:off x="679130"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4A3728"/>
          </a:solidFill>
          <a:ln/>
        </p:spPr>
      </p:sp>
      <p:sp>
        <p:nvSpPr>
          <p:cNvPr id="15" name="Shape 13"/>
          <p:cNvSpPr/>
          <p:nvPr/>
        </p:nvSpPr>
        <p:spPr>
          <a:xfrm>
            <a:off x="873167"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2C2416"/>
          </a:solidFill>
          <a:ln/>
        </p:spPr>
      </p:sp>
      <p:sp>
        <p:nvSpPr>
          <p:cNvPr id="16" name="Text 14"/>
          <p:cNvSpPr/>
          <p:nvPr/>
        </p:nvSpPr>
        <p:spPr>
          <a:xfrm>
            <a:off x="1131883" y="3193528"/>
            <a:ext cx="929761" cy="161698"/>
          </a:xfrm>
          <a:prstGeom prst="rect">
            <a:avLst/>
          </a:prstGeom>
          <a:noFill/>
          <a:ln/>
        </p:spPr>
        <p:txBody>
          <a:bodyPr wrap="square" lIns="0" tIns="0" rIns="0" bIns="0" rtlCol="0" anchor="ctr"/>
          <a:lstStyle/>
          <a:p>
            <a:pPr>
              <a:lnSpc>
                <a:spcPct val="120000"/>
              </a:lnSpc>
            </a:pPr>
            <a:r>
              <a:rPr lang="en-US" sz="891" dirty="0">
                <a:solidFill>
                  <a:srgbClr val="A3A3A3"/>
                </a:solidFill>
                <a:latin typeface="Quattrocento Sans" pitchFamily="34" charset="0"/>
                <a:ea typeface="Quattrocento Sans" pitchFamily="34" charset="-122"/>
                <a:cs typeface="Quattrocento Sans" pitchFamily="34" charset="-120"/>
              </a:rPr>
              <a:t>Dark Earth Palette</a:t>
            </a:r>
            <a:endParaRPr lang="en-US" sz="1600" dirty="0"/>
          </a:p>
        </p:txBody>
      </p:sp>
      <p:sp>
        <p:nvSpPr>
          <p:cNvPr id="17" name="Shape 15"/>
          <p:cNvSpPr/>
          <p:nvPr/>
        </p:nvSpPr>
        <p:spPr>
          <a:xfrm>
            <a:off x="6158847" y="1289538"/>
            <a:ext cx="5707926" cy="2227385"/>
          </a:xfrm>
          <a:custGeom>
            <a:avLst/>
            <a:gdLst/>
            <a:ahLst/>
            <a:cxn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p:spPr>
      </p:sp>
      <p:sp>
        <p:nvSpPr>
          <p:cNvPr id="18" name="Shape 16"/>
          <p:cNvSpPr/>
          <p:nvPr/>
        </p:nvSpPr>
        <p:spPr>
          <a:xfrm>
            <a:off x="6158847" y="1289538"/>
            <a:ext cx="5707926" cy="24255"/>
          </a:xfrm>
          <a:custGeom>
            <a:avLst/>
            <a:gdLst/>
            <a:ahLst/>
            <a:cxn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p:spPr>
      </p:sp>
      <p:sp>
        <p:nvSpPr>
          <p:cNvPr id="19" name="Text 17"/>
          <p:cNvSpPr/>
          <p:nvPr/>
        </p:nvSpPr>
        <p:spPr>
          <a:xfrm>
            <a:off x="6320545" y="1463363"/>
            <a:ext cx="856997" cy="226377"/>
          </a:xfrm>
          <a:prstGeom prst="rect">
            <a:avLst/>
          </a:prstGeom>
          <a:noFill/>
          <a:ln/>
        </p:spPr>
        <p:txBody>
          <a:bodyPr wrap="square" lIns="0" tIns="0" rIns="0" bIns="0" rtlCol="0" anchor="ctr"/>
          <a:lstStyle/>
          <a:p>
            <a:pPr>
              <a:lnSpc>
                <a:spcPct val="120000"/>
              </a:lnSpc>
            </a:pPr>
            <a:r>
              <a:rPr lang="en-US" sz="1273" b="1" dirty="0">
                <a:solidFill>
                  <a:srgbClr val="F2F2F2"/>
                </a:solidFill>
                <a:latin typeface="Oranienbaum" pitchFamily="34" charset="0"/>
                <a:ea typeface="Oranienbaum" pitchFamily="34" charset="-122"/>
                <a:cs typeface="Oranienbaum" pitchFamily="34" charset="-120"/>
              </a:rPr>
              <a:t>Paris Period</a:t>
            </a:r>
            <a:endParaRPr lang="en-US" sz="1600" dirty="0"/>
          </a:p>
        </p:txBody>
      </p:sp>
      <p:sp>
        <p:nvSpPr>
          <p:cNvPr id="20" name="Text 18"/>
          <p:cNvSpPr/>
          <p:nvPr/>
        </p:nvSpPr>
        <p:spPr>
          <a:xfrm>
            <a:off x="11198318" y="1495703"/>
            <a:ext cx="557857"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1886-1888</a:t>
            </a:r>
            <a:endParaRPr lang="en-US" sz="1600" dirty="0"/>
          </a:p>
        </p:txBody>
      </p:sp>
      <p:sp>
        <p:nvSpPr>
          <p:cNvPr id="21" name="Text 19"/>
          <p:cNvSpPr/>
          <p:nvPr/>
        </p:nvSpPr>
        <p:spPr>
          <a:xfrm>
            <a:off x="6320545" y="1786759"/>
            <a:ext cx="5449210" cy="630621"/>
          </a:xfrm>
          <a:prstGeom prst="rect">
            <a:avLst/>
          </a:prstGeom>
          <a:noFill/>
          <a:ln/>
        </p:spPr>
        <p:txBody>
          <a:bodyPr wrap="square" lIns="0" tIns="0" rIns="0" bIns="0" rtlCol="0" anchor="ctr"/>
          <a:lstStyle/>
          <a:p>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Moving to Paris transformed his palette. Through brother Theo, he met </a:t>
            </a:r>
            <a:pPr>
              <a:lnSpc>
                <a:spcPct val="140000"/>
              </a:lnSpc>
            </a:pPr>
            <a:r>
              <a:rPr lang="en-US" sz="1019" dirty="0">
                <a:solidFill>
                  <a:srgbClr val="F2F2F2"/>
                </a:solidFill>
                <a:latin typeface="Quattrocento Sans" pitchFamily="34" charset="0"/>
                <a:ea typeface="Quattrocento Sans" pitchFamily="34" charset="-122"/>
                <a:cs typeface="Quattrocento Sans" pitchFamily="34" charset="-120"/>
              </a:rPr>
              <a:t>Impressionists like Pissarro, Degas, and Seurat</a:t>
            </a:r>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 embracing brighter colors, broken brushwork, and the influence of Japanese ukiyo-e prints.</a:t>
            </a:r>
            <a:endParaRPr lang="en-US" sz="1600" dirty="0"/>
          </a:p>
        </p:txBody>
      </p:sp>
      <p:sp>
        <p:nvSpPr>
          <p:cNvPr id="22" name="Shape 20"/>
          <p:cNvSpPr/>
          <p:nvPr/>
        </p:nvSpPr>
        <p:spPr>
          <a:xfrm>
            <a:off x="6320545" y="2514398"/>
            <a:ext cx="5384531" cy="582111"/>
          </a:xfrm>
          <a:custGeom>
            <a:avLst/>
            <a:gdLst/>
            <a:ahLst/>
            <a:cxn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p:spPr>
      </p:sp>
      <p:sp>
        <p:nvSpPr>
          <p:cNvPr id="23" name="Text 21"/>
          <p:cNvSpPr/>
          <p:nvPr/>
        </p:nvSpPr>
        <p:spPr>
          <a:xfrm>
            <a:off x="6417563" y="2611416"/>
            <a:ext cx="5247088"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Key Development:</a:t>
            </a:r>
            <a:endParaRPr lang="en-US" sz="1600" dirty="0"/>
          </a:p>
        </p:txBody>
      </p:sp>
      <p:sp>
        <p:nvSpPr>
          <p:cNvPr id="24" name="Text 22"/>
          <p:cNvSpPr/>
          <p:nvPr/>
        </p:nvSpPr>
        <p:spPr>
          <a:xfrm>
            <a:off x="6417563" y="2805454"/>
            <a:ext cx="5255172" cy="194037"/>
          </a:xfrm>
          <a:prstGeom prst="rect">
            <a:avLst/>
          </a:prstGeom>
          <a:noFill/>
          <a:ln/>
        </p:spPr>
        <p:txBody>
          <a:bodyPr wrap="square" lIns="0" tIns="0" rIns="0" bIns="0" rtlCol="0" anchor="ctr"/>
          <a:lstStyle/>
          <a:p>
            <a:pPr>
              <a:lnSpc>
                <a:spcPct val="130000"/>
              </a:lnSpc>
            </a:pPr>
            <a:r>
              <a:rPr lang="en-US" sz="1019" dirty="0">
                <a:solidFill>
                  <a:srgbClr val="F2F2F2"/>
                </a:solidFill>
                <a:latin typeface="Quattrocento Sans" pitchFamily="34" charset="0"/>
                <a:ea typeface="Quattrocento Sans" pitchFamily="34" charset="-122"/>
                <a:cs typeface="Quattrocento Sans" pitchFamily="34" charset="-120"/>
              </a:rPr>
              <a:t>Discovery of pure color</a:t>
            </a:r>
            <a:endParaRPr lang="en-US" sz="1600" dirty="0"/>
          </a:p>
        </p:txBody>
      </p:sp>
      <p:sp>
        <p:nvSpPr>
          <p:cNvPr id="25" name="Shape 23"/>
          <p:cNvSpPr/>
          <p:nvPr/>
        </p:nvSpPr>
        <p:spPr>
          <a:xfrm>
            <a:off x="6320545"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p:spPr>
      </p:sp>
      <p:sp>
        <p:nvSpPr>
          <p:cNvPr id="26" name="Shape 24"/>
          <p:cNvSpPr/>
          <p:nvPr/>
        </p:nvSpPr>
        <p:spPr>
          <a:xfrm>
            <a:off x="6514582"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87CEEB"/>
          </a:solidFill>
          <a:ln/>
        </p:spPr>
      </p:sp>
      <p:sp>
        <p:nvSpPr>
          <p:cNvPr id="27" name="Shape 25"/>
          <p:cNvSpPr/>
          <p:nvPr/>
        </p:nvSpPr>
        <p:spPr>
          <a:xfrm>
            <a:off x="6708619"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6347"/>
          </a:solidFill>
          <a:ln/>
        </p:spPr>
      </p:sp>
      <p:sp>
        <p:nvSpPr>
          <p:cNvPr id="28" name="Text 26"/>
          <p:cNvSpPr/>
          <p:nvPr/>
        </p:nvSpPr>
        <p:spPr>
          <a:xfrm>
            <a:off x="6967335" y="3193528"/>
            <a:ext cx="1382515" cy="161698"/>
          </a:xfrm>
          <a:prstGeom prst="rect">
            <a:avLst/>
          </a:prstGeom>
          <a:noFill/>
          <a:ln/>
        </p:spPr>
        <p:txBody>
          <a:bodyPr wrap="square" lIns="0" tIns="0" rIns="0" bIns="0" rtlCol="0" anchor="ctr"/>
          <a:lstStyle/>
          <a:p>
            <a:pPr>
              <a:lnSpc>
                <a:spcPct val="120000"/>
              </a:lnSpc>
            </a:pPr>
            <a:r>
              <a:rPr lang="en-US" sz="891" dirty="0">
                <a:solidFill>
                  <a:srgbClr val="A3A3A3"/>
                </a:solidFill>
                <a:latin typeface="Quattrocento Sans" pitchFamily="34" charset="0"/>
                <a:ea typeface="Quattrocento Sans" pitchFamily="34" charset="-122"/>
                <a:cs typeface="Quattrocento Sans" pitchFamily="34" charset="-120"/>
              </a:rPr>
              <a:t>Bright Impressionist Palette</a:t>
            </a:r>
            <a:endParaRPr lang="en-US" sz="1600" dirty="0"/>
          </a:p>
        </p:txBody>
      </p:sp>
      <p:sp>
        <p:nvSpPr>
          <p:cNvPr id="29" name="Shape 27"/>
          <p:cNvSpPr/>
          <p:nvPr/>
        </p:nvSpPr>
        <p:spPr>
          <a:xfrm>
            <a:off x="323395" y="3658408"/>
            <a:ext cx="5707926" cy="2227385"/>
          </a:xfrm>
          <a:custGeom>
            <a:avLst/>
            <a:gdLst/>
            <a:ahLst/>
            <a:cxn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p:spPr>
      </p:sp>
      <p:sp>
        <p:nvSpPr>
          <p:cNvPr id="30" name="Shape 28"/>
          <p:cNvSpPr/>
          <p:nvPr/>
        </p:nvSpPr>
        <p:spPr>
          <a:xfrm>
            <a:off x="323395" y="3658408"/>
            <a:ext cx="5707926" cy="24255"/>
          </a:xfrm>
          <a:custGeom>
            <a:avLst/>
            <a:gdLst/>
            <a:ahLst/>
            <a:cxn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p:spPr>
      </p:sp>
      <p:sp>
        <p:nvSpPr>
          <p:cNvPr id="31" name="Text 29"/>
          <p:cNvSpPr/>
          <p:nvPr/>
        </p:nvSpPr>
        <p:spPr>
          <a:xfrm>
            <a:off x="485093" y="3832233"/>
            <a:ext cx="848912" cy="226377"/>
          </a:xfrm>
          <a:prstGeom prst="rect">
            <a:avLst/>
          </a:prstGeom>
          <a:noFill/>
          <a:ln/>
        </p:spPr>
        <p:txBody>
          <a:bodyPr wrap="square" lIns="0" tIns="0" rIns="0" bIns="0" rtlCol="0" anchor="ctr"/>
          <a:lstStyle/>
          <a:p>
            <a:pPr>
              <a:lnSpc>
                <a:spcPct val="120000"/>
              </a:lnSpc>
            </a:pPr>
            <a:r>
              <a:rPr lang="en-US" sz="1273" b="1" dirty="0">
                <a:solidFill>
                  <a:srgbClr val="F2F2F2"/>
                </a:solidFill>
                <a:latin typeface="Oranienbaum" pitchFamily="34" charset="0"/>
                <a:ea typeface="Oranienbaum" pitchFamily="34" charset="-122"/>
                <a:cs typeface="Oranienbaum" pitchFamily="34" charset="-120"/>
              </a:rPr>
              <a:t>Arles Period</a:t>
            </a:r>
            <a:endParaRPr lang="en-US" sz="1600" dirty="0"/>
          </a:p>
        </p:txBody>
      </p:sp>
      <p:sp>
        <p:nvSpPr>
          <p:cNvPr id="32" name="Text 30"/>
          <p:cNvSpPr/>
          <p:nvPr/>
        </p:nvSpPr>
        <p:spPr>
          <a:xfrm>
            <a:off x="5362739" y="3864573"/>
            <a:ext cx="557857"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1888-1889</a:t>
            </a:r>
            <a:endParaRPr lang="en-US" sz="1600" dirty="0"/>
          </a:p>
        </p:txBody>
      </p:sp>
      <p:sp>
        <p:nvSpPr>
          <p:cNvPr id="33" name="Text 31"/>
          <p:cNvSpPr/>
          <p:nvPr/>
        </p:nvSpPr>
        <p:spPr>
          <a:xfrm>
            <a:off x="485093" y="4155629"/>
            <a:ext cx="5449210" cy="630621"/>
          </a:xfrm>
          <a:prstGeom prst="rect">
            <a:avLst/>
          </a:prstGeom>
          <a:noFill/>
          <a:ln/>
        </p:spPr>
        <p:txBody>
          <a:bodyPr wrap="square" lIns="0" tIns="0" rIns="0" bIns="0" rtlCol="0" anchor="ctr"/>
          <a:lstStyle/>
          <a:p>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Seeking the "Japanese" light of the South, Van Gogh created his most iconic works. The </a:t>
            </a:r>
            <a:pPr>
              <a:lnSpc>
                <a:spcPct val="140000"/>
              </a:lnSpc>
            </a:pPr>
            <a:r>
              <a:rPr lang="en-US" sz="1019" dirty="0">
                <a:solidFill>
                  <a:srgbClr val="F2F2F2"/>
                </a:solidFill>
                <a:latin typeface="Quattrocento Sans" pitchFamily="34" charset="0"/>
                <a:ea typeface="Quattrocento Sans" pitchFamily="34" charset="-122"/>
                <a:cs typeface="Quattrocento Sans" pitchFamily="34" charset="-120"/>
              </a:rPr>
              <a:t>intense Provençal sun</a:t>
            </a:r>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 pushed his colors to pure saturation, developing his signature bold brushwork and emotional expression.</a:t>
            </a:r>
            <a:endParaRPr lang="en-US" sz="1600" dirty="0"/>
          </a:p>
        </p:txBody>
      </p:sp>
      <p:sp>
        <p:nvSpPr>
          <p:cNvPr id="34" name="Shape 32"/>
          <p:cNvSpPr/>
          <p:nvPr/>
        </p:nvSpPr>
        <p:spPr>
          <a:xfrm>
            <a:off x="485093" y="4883268"/>
            <a:ext cx="5384531" cy="582111"/>
          </a:xfrm>
          <a:custGeom>
            <a:avLst/>
            <a:gdLst/>
            <a:ahLst/>
            <a:cxn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p:spPr>
      </p:sp>
      <p:sp>
        <p:nvSpPr>
          <p:cNvPr id="35" name="Text 33"/>
          <p:cNvSpPr/>
          <p:nvPr/>
        </p:nvSpPr>
        <p:spPr>
          <a:xfrm>
            <a:off x="582111" y="4980286"/>
            <a:ext cx="5247088"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Masterpieces:</a:t>
            </a:r>
            <a:endParaRPr lang="en-US" sz="1600" dirty="0"/>
          </a:p>
        </p:txBody>
      </p:sp>
      <p:sp>
        <p:nvSpPr>
          <p:cNvPr id="36" name="Text 34"/>
          <p:cNvSpPr/>
          <p:nvPr/>
        </p:nvSpPr>
        <p:spPr>
          <a:xfrm>
            <a:off x="582111" y="5174324"/>
            <a:ext cx="5255172" cy="194037"/>
          </a:xfrm>
          <a:prstGeom prst="rect">
            <a:avLst/>
          </a:prstGeom>
          <a:noFill/>
          <a:ln/>
        </p:spPr>
        <p:txBody>
          <a:bodyPr wrap="square" lIns="0" tIns="0" rIns="0" bIns="0" rtlCol="0" anchor="ctr"/>
          <a:lstStyle/>
          <a:p>
            <a:pPr>
              <a:lnSpc>
                <a:spcPct val="130000"/>
              </a:lnSpc>
            </a:pPr>
            <a:r>
              <a:rPr lang="en-US" sz="1019" dirty="0">
                <a:solidFill>
                  <a:srgbClr val="F2F2F2"/>
                </a:solidFill>
                <a:latin typeface="Quattrocento Sans" pitchFamily="34" charset="0"/>
                <a:ea typeface="Quattrocento Sans" pitchFamily="34" charset="-122"/>
                <a:cs typeface="Quattrocento Sans" pitchFamily="34" charset="-120"/>
              </a:rPr>
              <a:t>Sunflowers, The Bedroom</a:t>
            </a:r>
            <a:endParaRPr lang="en-US" sz="1600" dirty="0"/>
          </a:p>
        </p:txBody>
      </p:sp>
      <p:sp>
        <p:nvSpPr>
          <p:cNvPr id="37" name="Shape 35"/>
          <p:cNvSpPr/>
          <p:nvPr/>
        </p:nvSpPr>
        <p:spPr>
          <a:xfrm>
            <a:off x="485093"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p:spPr>
      </p:sp>
      <p:sp>
        <p:nvSpPr>
          <p:cNvPr id="38" name="Shape 36"/>
          <p:cNvSpPr/>
          <p:nvPr/>
        </p:nvSpPr>
        <p:spPr>
          <a:xfrm>
            <a:off x="679130"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4169E1"/>
          </a:solidFill>
          <a:ln/>
        </p:spPr>
      </p:sp>
      <p:sp>
        <p:nvSpPr>
          <p:cNvPr id="39" name="Shape 37"/>
          <p:cNvSpPr/>
          <p:nvPr/>
        </p:nvSpPr>
        <p:spPr>
          <a:xfrm>
            <a:off x="873167"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8C00"/>
          </a:solidFill>
          <a:ln/>
        </p:spPr>
      </p:sp>
      <p:sp>
        <p:nvSpPr>
          <p:cNvPr id="40" name="Text 38"/>
          <p:cNvSpPr/>
          <p:nvPr/>
        </p:nvSpPr>
        <p:spPr>
          <a:xfrm>
            <a:off x="1131883" y="5562398"/>
            <a:ext cx="1131883" cy="161698"/>
          </a:xfrm>
          <a:prstGeom prst="rect">
            <a:avLst/>
          </a:prstGeom>
          <a:noFill/>
          <a:ln/>
        </p:spPr>
        <p:txBody>
          <a:bodyPr wrap="square" lIns="0" tIns="0" rIns="0" bIns="0" rtlCol="0" anchor="ctr"/>
          <a:lstStyle/>
          <a:p>
            <a:pPr>
              <a:lnSpc>
                <a:spcPct val="120000"/>
              </a:lnSpc>
            </a:pPr>
            <a:r>
              <a:rPr lang="en-US" sz="891" dirty="0">
                <a:solidFill>
                  <a:srgbClr val="A3A3A3"/>
                </a:solidFill>
                <a:latin typeface="Quattrocento Sans" pitchFamily="34" charset="0"/>
                <a:ea typeface="Quattrocento Sans" pitchFamily="34" charset="-122"/>
                <a:cs typeface="Quattrocento Sans" pitchFamily="34" charset="-120"/>
              </a:rPr>
              <a:t>Pure Color Expression</a:t>
            </a:r>
            <a:endParaRPr lang="en-US" sz="1600" dirty="0"/>
          </a:p>
        </p:txBody>
      </p:sp>
      <p:sp>
        <p:nvSpPr>
          <p:cNvPr id="41" name="Shape 39"/>
          <p:cNvSpPr/>
          <p:nvPr/>
        </p:nvSpPr>
        <p:spPr>
          <a:xfrm>
            <a:off x="6158847" y="3658408"/>
            <a:ext cx="5707926" cy="2227385"/>
          </a:xfrm>
          <a:custGeom>
            <a:avLst/>
            <a:gdLst/>
            <a:ahLst/>
            <a:cxn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p:spPr>
      </p:sp>
      <p:sp>
        <p:nvSpPr>
          <p:cNvPr id="42" name="Shape 40"/>
          <p:cNvSpPr/>
          <p:nvPr/>
        </p:nvSpPr>
        <p:spPr>
          <a:xfrm>
            <a:off x="6158847" y="3658408"/>
            <a:ext cx="5707926" cy="24255"/>
          </a:xfrm>
          <a:custGeom>
            <a:avLst/>
            <a:gdLst/>
            <a:ahLst/>
            <a:cxn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p:spPr>
      </p:sp>
      <p:sp>
        <p:nvSpPr>
          <p:cNvPr id="43" name="Text 41"/>
          <p:cNvSpPr/>
          <p:nvPr/>
        </p:nvSpPr>
        <p:spPr>
          <a:xfrm>
            <a:off x="6320545" y="3832233"/>
            <a:ext cx="832743" cy="226377"/>
          </a:xfrm>
          <a:prstGeom prst="rect">
            <a:avLst/>
          </a:prstGeom>
          <a:noFill/>
          <a:ln/>
        </p:spPr>
        <p:txBody>
          <a:bodyPr wrap="square" lIns="0" tIns="0" rIns="0" bIns="0" rtlCol="0" anchor="ctr"/>
          <a:lstStyle/>
          <a:p>
            <a:pPr>
              <a:lnSpc>
                <a:spcPct val="120000"/>
              </a:lnSpc>
            </a:pPr>
            <a:r>
              <a:rPr lang="en-US" sz="1273" b="1" dirty="0">
                <a:solidFill>
                  <a:srgbClr val="F2F2F2"/>
                </a:solidFill>
                <a:latin typeface="Oranienbaum" pitchFamily="34" charset="0"/>
                <a:ea typeface="Oranienbaum" pitchFamily="34" charset="-122"/>
                <a:cs typeface="Oranienbaum" pitchFamily="34" charset="-120"/>
              </a:rPr>
              <a:t>Saint-Rémy</a:t>
            </a:r>
            <a:endParaRPr lang="en-US" sz="1600" dirty="0"/>
          </a:p>
        </p:txBody>
      </p:sp>
      <p:sp>
        <p:nvSpPr>
          <p:cNvPr id="44" name="Text 42"/>
          <p:cNvSpPr/>
          <p:nvPr/>
        </p:nvSpPr>
        <p:spPr>
          <a:xfrm>
            <a:off x="11188591" y="3864573"/>
            <a:ext cx="574027"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1889-1890</a:t>
            </a:r>
            <a:endParaRPr lang="en-US" sz="1600" dirty="0"/>
          </a:p>
        </p:txBody>
      </p:sp>
      <p:sp>
        <p:nvSpPr>
          <p:cNvPr id="45" name="Text 43"/>
          <p:cNvSpPr/>
          <p:nvPr/>
        </p:nvSpPr>
        <p:spPr>
          <a:xfrm>
            <a:off x="6320545" y="4155629"/>
            <a:ext cx="5449210" cy="630621"/>
          </a:xfrm>
          <a:prstGeom prst="rect">
            <a:avLst/>
          </a:prstGeom>
          <a:noFill/>
          <a:ln/>
        </p:spPr>
        <p:txBody>
          <a:bodyPr wrap="square" lIns="0" tIns="0" rIns="0" bIns="0" rtlCol="0" anchor="ctr"/>
          <a:lstStyle/>
          <a:p>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During his asylum stay, Van Gogh painted </a:t>
            </a:r>
            <a:pPr>
              <a:lnSpc>
                <a:spcPct val="140000"/>
              </a:lnSpc>
            </a:pPr>
            <a:r>
              <a:rPr lang="en-US" sz="1019" dirty="0">
                <a:solidFill>
                  <a:srgbClr val="F2F2F2"/>
                </a:solidFill>
                <a:latin typeface="Quattrocento Sans" pitchFamily="34" charset="0"/>
                <a:ea typeface="Quattrocento Sans" pitchFamily="34" charset="-122"/>
                <a:cs typeface="Quattrocento Sans" pitchFamily="34" charset="-120"/>
              </a:rPr>
              <a:t>over 150 works in one year</a:t>
            </a:r>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 Confined but prolific, he created swirling, visionary masterpieces that channeled his inner turmoil into transcendent beauty.</a:t>
            </a:r>
            <a:endParaRPr lang="en-US" sz="1600" dirty="0"/>
          </a:p>
        </p:txBody>
      </p:sp>
      <p:sp>
        <p:nvSpPr>
          <p:cNvPr id="46" name="Shape 44"/>
          <p:cNvSpPr/>
          <p:nvPr/>
        </p:nvSpPr>
        <p:spPr>
          <a:xfrm>
            <a:off x="6320545" y="4883268"/>
            <a:ext cx="5384531" cy="582111"/>
          </a:xfrm>
          <a:custGeom>
            <a:avLst/>
            <a:gdLst/>
            <a:ahLst/>
            <a:cxn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p:spPr>
      </p:sp>
      <p:sp>
        <p:nvSpPr>
          <p:cNvPr id="47" name="Text 45"/>
          <p:cNvSpPr/>
          <p:nvPr/>
        </p:nvSpPr>
        <p:spPr>
          <a:xfrm>
            <a:off x="6417563" y="4980286"/>
            <a:ext cx="5247088"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Masterpiece:</a:t>
            </a:r>
            <a:endParaRPr lang="en-US" sz="1600" dirty="0"/>
          </a:p>
        </p:txBody>
      </p:sp>
      <p:sp>
        <p:nvSpPr>
          <p:cNvPr id="48" name="Text 46"/>
          <p:cNvSpPr/>
          <p:nvPr/>
        </p:nvSpPr>
        <p:spPr>
          <a:xfrm>
            <a:off x="6417563" y="5174324"/>
            <a:ext cx="5255172" cy="194037"/>
          </a:xfrm>
          <a:prstGeom prst="rect">
            <a:avLst/>
          </a:prstGeom>
          <a:noFill/>
          <a:ln/>
        </p:spPr>
        <p:txBody>
          <a:bodyPr wrap="square" lIns="0" tIns="0" rIns="0" bIns="0" rtlCol="0" anchor="ctr"/>
          <a:lstStyle/>
          <a:p>
            <a:pPr>
              <a:lnSpc>
                <a:spcPct val="130000"/>
              </a:lnSpc>
            </a:pPr>
            <a:r>
              <a:rPr lang="en-US" sz="1019" dirty="0">
                <a:solidFill>
                  <a:srgbClr val="F2F2F2"/>
                </a:solidFill>
                <a:latin typeface="Quattrocento Sans" pitchFamily="34" charset="0"/>
                <a:ea typeface="Quattrocento Sans" pitchFamily="34" charset="-122"/>
                <a:cs typeface="Quattrocento Sans" pitchFamily="34" charset="-120"/>
              </a:rPr>
              <a:t>The Starry Night (1889)</a:t>
            </a:r>
            <a:endParaRPr lang="en-US" sz="1600" dirty="0"/>
          </a:p>
        </p:txBody>
      </p:sp>
      <p:sp>
        <p:nvSpPr>
          <p:cNvPr id="49" name="Shape 47"/>
          <p:cNvSpPr/>
          <p:nvPr/>
        </p:nvSpPr>
        <p:spPr>
          <a:xfrm>
            <a:off x="6320545"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191970"/>
          </a:solidFill>
          <a:ln/>
        </p:spPr>
      </p:sp>
      <p:sp>
        <p:nvSpPr>
          <p:cNvPr id="50" name="Shape 48"/>
          <p:cNvSpPr/>
          <p:nvPr/>
        </p:nvSpPr>
        <p:spPr>
          <a:xfrm>
            <a:off x="6514582"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p:spPr>
      </p:sp>
      <p:sp>
        <p:nvSpPr>
          <p:cNvPr id="51" name="Shape 49"/>
          <p:cNvSpPr/>
          <p:nvPr/>
        </p:nvSpPr>
        <p:spPr>
          <a:xfrm>
            <a:off x="6708619"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228B22"/>
          </a:solidFill>
          <a:ln/>
        </p:spPr>
      </p:sp>
      <p:sp>
        <p:nvSpPr>
          <p:cNvPr id="52" name="Text 50"/>
          <p:cNvSpPr/>
          <p:nvPr/>
        </p:nvSpPr>
        <p:spPr>
          <a:xfrm>
            <a:off x="6967335" y="5562398"/>
            <a:ext cx="873167" cy="161698"/>
          </a:xfrm>
          <a:prstGeom prst="rect">
            <a:avLst/>
          </a:prstGeom>
          <a:noFill/>
          <a:ln/>
        </p:spPr>
        <p:txBody>
          <a:bodyPr wrap="square" lIns="0" tIns="0" rIns="0" bIns="0" rtlCol="0" anchor="ctr"/>
          <a:lstStyle/>
          <a:p>
            <a:pPr>
              <a:lnSpc>
                <a:spcPct val="120000"/>
              </a:lnSpc>
            </a:pPr>
            <a:r>
              <a:rPr lang="en-US" sz="891" dirty="0">
                <a:solidFill>
                  <a:srgbClr val="A3A3A3"/>
                </a:solidFill>
                <a:latin typeface="Quattrocento Sans" pitchFamily="34" charset="0"/>
                <a:ea typeface="Quattrocento Sans" pitchFamily="34" charset="-122"/>
                <a:cs typeface="Quattrocento Sans" pitchFamily="34" charset="-120"/>
              </a:rPr>
              <a:t>Visionary Palette</a:t>
            </a:r>
            <a:endParaRPr lang="en-US" sz="1600" dirty="0"/>
          </a:p>
        </p:txBody>
      </p:sp>
      <p:sp>
        <p:nvSpPr>
          <p:cNvPr id="53" name="Shape 51"/>
          <p:cNvSpPr/>
          <p:nvPr/>
        </p:nvSpPr>
        <p:spPr>
          <a:xfrm>
            <a:off x="335523" y="6015151"/>
            <a:ext cx="11533082" cy="840828"/>
          </a:xfrm>
          <a:custGeom>
            <a:avLst/>
            <a:gdLst/>
            <a:ahLst/>
            <a:cxnLst/>
            <a:rect l="l" t="t" r="r" b="b"/>
            <a:pathLst>
              <a:path w="11533082" h="840828">
                <a:moveTo>
                  <a:pt x="24255" y="0"/>
                </a:moveTo>
                <a:lnTo>
                  <a:pt x="11468406" y="0"/>
                </a:lnTo>
                <a:cubicBezTo>
                  <a:pt x="11504126" y="0"/>
                  <a:pt x="11533082" y="28957"/>
                  <a:pt x="11533082" y="64676"/>
                </a:cubicBezTo>
                <a:lnTo>
                  <a:pt x="11533082" y="776151"/>
                </a:lnTo>
                <a:cubicBezTo>
                  <a:pt x="11533082" y="811871"/>
                  <a:pt x="11504126" y="840828"/>
                  <a:pt x="11468406" y="840828"/>
                </a:cubicBezTo>
                <a:lnTo>
                  <a:pt x="24255" y="840828"/>
                </a:lnTo>
                <a:cubicBezTo>
                  <a:pt x="10859" y="840828"/>
                  <a:pt x="0" y="829968"/>
                  <a:pt x="0" y="816573"/>
                </a:cubicBezTo>
                <a:lnTo>
                  <a:pt x="0" y="24255"/>
                </a:lnTo>
                <a:cubicBezTo>
                  <a:pt x="0" y="10868"/>
                  <a:pt x="10868" y="0"/>
                  <a:pt x="24255" y="0"/>
                </a:cubicBezTo>
                <a:close/>
              </a:path>
            </a:pathLst>
          </a:custGeom>
          <a:solidFill>
            <a:srgbClr val="1A1A1A"/>
          </a:solidFill>
          <a:ln/>
        </p:spPr>
      </p:sp>
      <p:sp>
        <p:nvSpPr>
          <p:cNvPr id="54" name="Shape 52"/>
          <p:cNvSpPr/>
          <p:nvPr/>
        </p:nvSpPr>
        <p:spPr>
          <a:xfrm>
            <a:off x="335523" y="6015151"/>
            <a:ext cx="24255" cy="840828"/>
          </a:xfrm>
          <a:custGeom>
            <a:avLst/>
            <a:gdLst/>
            <a:ahLst/>
            <a:cxnLst/>
            <a:rect l="l" t="t" r="r" b="b"/>
            <a:pathLst>
              <a:path w="24255" h="840828">
                <a:moveTo>
                  <a:pt x="24255" y="0"/>
                </a:moveTo>
                <a:lnTo>
                  <a:pt x="24255" y="0"/>
                </a:lnTo>
                <a:lnTo>
                  <a:pt x="24255" y="840828"/>
                </a:lnTo>
                <a:lnTo>
                  <a:pt x="24255" y="840828"/>
                </a:lnTo>
                <a:cubicBezTo>
                  <a:pt x="10859" y="840828"/>
                  <a:pt x="0" y="829968"/>
                  <a:pt x="0" y="816573"/>
                </a:cubicBezTo>
                <a:lnTo>
                  <a:pt x="0" y="24255"/>
                </a:lnTo>
                <a:cubicBezTo>
                  <a:pt x="0" y="10868"/>
                  <a:pt x="10868" y="0"/>
                  <a:pt x="24255" y="0"/>
                </a:cubicBezTo>
                <a:close/>
              </a:path>
            </a:pathLst>
          </a:custGeom>
          <a:solidFill>
            <a:srgbClr val="C9A36A"/>
          </a:solidFill>
          <a:ln/>
        </p:spPr>
      </p:sp>
      <p:sp>
        <p:nvSpPr>
          <p:cNvPr id="55" name="Text 53"/>
          <p:cNvSpPr/>
          <p:nvPr/>
        </p:nvSpPr>
        <p:spPr>
          <a:xfrm>
            <a:off x="477008" y="6241528"/>
            <a:ext cx="1406769" cy="226377"/>
          </a:xfrm>
          <a:prstGeom prst="rect">
            <a:avLst/>
          </a:prstGeom>
          <a:noFill/>
          <a:ln/>
        </p:spPr>
        <p:txBody>
          <a:bodyPr wrap="square" lIns="0" tIns="0" rIns="0" bIns="0" rtlCol="0" anchor="ctr"/>
          <a:lstStyle/>
          <a:p>
            <a:pPr>
              <a:lnSpc>
                <a:spcPct val="130000"/>
              </a:lnSpc>
            </a:pPr>
            <a:r>
              <a:rPr lang="en-US" sz="1146" b="1" dirty="0">
                <a:solidFill>
                  <a:srgbClr val="F2F2F2"/>
                </a:solidFill>
                <a:latin typeface="Oranienbaum" pitchFamily="34" charset="0"/>
                <a:ea typeface="Oranienbaum" pitchFamily="34" charset="-122"/>
                <a:cs typeface="Oranienbaum" pitchFamily="34" charset="-120"/>
              </a:rPr>
              <a:t>Auvers-sur-Oise Period</a:t>
            </a:r>
            <a:endParaRPr lang="en-US" sz="1600" dirty="0"/>
          </a:p>
        </p:txBody>
      </p:sp>
      <p:sp>
        <p:nvSpPr>
          <p:cNvPr id="56" name="Text 54"/>
          <p:cNvSpPr/>
          <p:nvPr/>
        </p:nvSpPr>
        <p:spPr>
          <a:xfrm>
            <a:off x="477008" y="6467905"/>
            <a:ext cx="1390599" cy="161698"/>
          </a:xfrm>
          <a:prstGeom prst="rect">
            <a:avLst/>
          </a:prstGeom>
          <a:noFill/>
          <a:ln/>
        </p:spPr>
        <p:txBody>
          <a:bodyPr wrap="square" lIns="0" tIns="0" rIns="0" bIns="0" rtlCol="0" anchor="ctr"/>
          <a:lstStyle/>
          <a:p>
            <a:pPr>
              <a:lnSpc>
                <a:spcPct val="120000"/>
              </a:lnSpc>
            </a:pPr>
            <a:r>
              <a:rPr lang="en-US" sz="891" dirty="0">
                <a:solidFill>
                  <a:srgbClr val="C9A36A"/>
                </a:solidFill>
                <a:latin typeface="Quattrocento Sans" pitchFamily="34" charset="0"/>
                <a:ea typeface="Quattrocento Sans" pitchFamily="34" charset="-122"/>
                <a:cs typeface="Quattrocento Sans" pitchFamily="34" charset="-120"/>
              </a:rPr>
              <a:t>1890 • Final Months</a:t>
            </a:r>
            <a:endParaRPr lang="en-US" sz="1600" dirty="0"/>
          </a:p>
        </p:txBody>
      </p:sp>
      <p:sp>
        <p:nvSpPr>
          <p:cNvPr id="57" name="Text 55"/>
          <p:cNvSpPr/>
          <p:nvPr/>
        </p:nvSpPr>
        <p:spPr>
          <a:xfrm>
            <a:off x="6302607" y="6144509"/>
            <a:ext cx="5497719" cy="582111"/>
          </a:xfrm>
          <a:prstGeom prst="rect">
            <a:avLst/>
          </a:prstGeom>
          <a:noFill/>
          <a:ln/>
        </p:spPr>
        <p:txBody>
          <a:bodyPr wrap="square" lIns="0" tIns="0" rIns="0" bIns="0" rtlCol="0" anchor="ctr"/>
          <a:lstStyle/>
          <a:p>
            <a:pPr>
              <a:lnSpc>
                <a:spcPct val="130000"/>
              </a:lnSpc>
            </a:pPr>
            <a:r>
              <a:rPr lang="en-US" sz="1019" dirty="0">
                <a:solidFill>
                  <a:srgbClr val="B8B8B8"/>
                </a:solidFill>
                <a:latin typeface="Quattrocento Sans" pitchFamily="34" charset="0"/>
                <a:ea typeface="Quattrocento Sans" pitchFamily="34" charset="-122"/>
                <a:cs typeface="Quattrocento Sans" pitchFamily="34" charset="-120"/>
              </a:rPr>
              <a:t>In his final two months, Van Gogh produced </a:t>
            </a:r>
            <a:pPr>
              <a:lnSpc>
                <a:spcPct val="130000"/>
              </a:lnSpc>
            </a:pPr>
            <a:r>
              <a:rPr lang="en-US" sz="1019" dirty="0">
                <a:solidFill>
                  <a:srgbClr val="F2F2F2"/>
                </a:solidFill>
                <a:latin typeface="Quattrocento Sans" pitchFamily="34" charset="0"/>
                <a:ea typeface="Quattrocento Sans" pitchFamily="34" charset="-122"/>
                <a:cs typeface="Quattrocento Sans" pitchFamily="34" charset="-120"/>
              </a:rPr>
              <a:t>70+ paintings</a:t>
            </a:r>
            <a:pPr>
              <a:lnSpc>
                <a:spcPct val="130000"/>
              </a:lnSpc>
            </a:pPr>
            <a:r>
              <a:rPr lang="en-US" sz="1019" dirty="0">
                <a:solidFill>
                  <a:srgbClr val="B8B8B8"/>
                </a:solidFill>
                <a:latin typeface="Quattrocento Sans" pitchFamily="34" charset="0"/>
                <a:ea typeface="Quattrocento Sans" pitchFamily="34" charset="-122"/>
                <a:cs typeface="Quattrocento Sans" pitchFamily="34" charset="-120"/>
              </a:rPr>
              <a:t> with urgent, dramatic brushwork. Works like "Wheatfield with Crows" show heightened emotional intensity and a sense of impending tragedy.</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67783" y="367783"/>
            <a:ext cx="11529991" cy="220670"/>
          </a:xfrm>
          <a:prstGeom prst="rect">
            <a:avLst/>
          </a:prstGeom>
          <a:noFill/>
          <a:ln/>
        </p:spPr>
        <p:txBody>
          <a:bodyPr wrap="square" lIns="0" tIns="0" rIns="0" bIns="0" rtlCol="0" anchor="ctr"/>
          <a:lstStyle/>
          <a:p>
            <a:pPr>
              <a:lnSpc>
                <a:spcPct val="120000"/>
              </a:lnSpc>
            </a:pPr>
            <a:r>
              <a:rPr lang="en-US" sz="1158" b="1" spc="232" kern="0" dirty="0">
                <a:solidFill>
                  <a:srgbClr val="C9A36A"/>
                </a:solidFill>
                <a:latin typeface="Quattrocento Sans" pitchFamily="34" charset="0"/>
                <a:ea typeface="Quattrocento Sans" pitchFamily="34" charset="-122"/>
                <a:cs typeface="Quattrocento Sans" pitchFamily="34" charset="-120"/>
              </a:rPr>
              <a:t>Chapter 02</a:t>
            </a:r>
            <a:endParaRPr lang="en-US" sz="1600" dirty="0"/>
          </a:p>
        </p:txBody>
      </p:sp>
      <p:sp>
        <p:nvSpPr>
          <p:cNvPr id="3" name="Text 1"/>
          <p:cNvSpPr/>
          <p:nvPr/>
        </p:nvSpPr>
        <p:spPr>
          <a:xfrm>
            <a:off x="367783" y="662009"/>
            <a:ext cx="11677104" cy="441339"/>
          </a:xfrm>
          <a:prstGeom prst="rect">
            <a:avLst/>
          </a:prstGeom>
          <a:noFill/>
          <a:ln/>
        </p:spPr>
        <p:txBody>
          <a:bodyPr wrap="square" lIns="0" tIns="0" rIns="0" bIns="0" rtlCol="0" anchor="ctr"/>
          <a:lstStyle/>
          <a:p>
            <a:pPr>
              <a:lnSpc>
                <a:spcPct val="80000"/>
              </a:lnSpc>
            </a:pPr>
            <a:r>
              <a:rPr lang="en-US" sz="3475" b="1" dirty="0">
                <a:solidFill>
                  <a:srgbClr val="F2F2F2"/>
                </a:solidFill>
                <a:latin typeface="Oranienbaum" pitchFamily="34" charset="0"/>
                <a:ea typeface="Oranienbaum" pitchFamily="34" charset="-122"/>
                <a:cs typeface="Oranienbaum" pitchFamily="34" charset="-120"/>
              </a:rPr>
              <a:t>Signature Techniques: Impasto and Expressive Brushwork</a:t>
            </a:r>
            <a:endParaRPr lang="en-US" sz="1600" dirty="0"/>
          </a:p>
        </p:txBody>
      </p:sp>
      <p:sp>
        <p:nvSpPr>
          <p:cNvPr id="4" name="Shape 2"/>
          <p:cNvSpPr/>
          <p:nvPr/>
        </p:nvSpPr>
        <p:spPr>
          <a:xfrm>
            <a:off x="367783" y="1250462"/>
            <a:ext cx="1029792" cy="18389"/>
          </a:xfrm>
          <a:custGeom>
            <a:avLst/>
            <a:gdLst/>
            <a:ahLst/>
            <a:cxnLst/>
            <a:rect l="l" t="t" r="r" b="b"/>
            <a:pathLst>
              <a:path w="1029792" h="18389">
                <a:moveTo>
                  <a:pt x="0" y="0"/>
                </a:moveTo>
                <a:lnTo>
                  <a:pt x="1029792" y="0"/>
                </a:lnTo>
                <a:lnTo>
                  <a:pt x="1029792" y="18389"/>
                </a:lnTo>
                <a:lnTo>
                  <a:pt x="0" y="18389"/>
                </a:lnTo>
                <a:lnTo>
                  <a:pt x="0" y="0"/>
                </a:lnTo>
                <a:close/>
              </a:path>
            </a:pathLst>
          </a:custGeom>
          <a:solidFill>
            <a:srgbClr val="C9A36A"/>
          </a:solidFill>
          <a:ln/>
        </p:spPr>
      </p:sp>
      <p:sp>
        <p:nvSpPr>
          <p:cNvPr id="5" name="Shape 3"/>
          <p:cNvSpPr/>
          <p:nvPr/>
        </p:nvSpPr>
        <p:spPr>
          <a:xfrm>
            <a:off x="381575" y="1452742"/>
            <a:ext cx="5604090" cy="3585882"/>
          </a:xfrm>
          <a:custGeom>
            <a:avLst/>
            <a:gdLst/>
            <a:ahLst/>
            <a:cxnLst/>
            <a:rect l="l" t="t" r="r" b="b"/>
            <a:pathLst>
              <a:path w="5604090" h="3585882">
                <a:moveTo>
                  <a:pt x="27584" y="0"/>
                </a:moveTo>
                <a:lnTo>
                  <a:pt x="5530544" y="0"/>
                </a:lnTo>
                <a:cubicBezTo>
                  <a:pt x="5571163" y="0"/>
                  <a:pt x="5604090" y="32928"/>
                  <a:pt x="5604090" y="73546"/>
                </a:cubicBezTo>
                <a:lnTo>
                  <a:pt x="5604090" y="3512336"/>
                </a:lnTo>
                <a:cubicBezTo>
                  <a:pt x="5604090" y="3552954"/>
                  <a:pt x="5571163" y="3585882"/>
                  <a:pt x="5530544" y="3585882"/>
                </a:cubicBezTo>
                <a:lnTo>
                  <a:pt x="27584" y="3585882"/>
                </a:lnTo>
                <a:cubicBezTo>
                  <a:pt x="12350" y="3585882"/>
                  <a:pt x="0" y="3573533"/>
                  <a:pt x="0" y="3558299"/>
                </a:cubicBezTo>
                <a:lnTo>
                  <a:pt x="0" y="27584"/>
                </a:lnTo>
                <a:cubicBezTo>
                  <a:pt x="0" y="12350"/>
                  <a:pt x="12350" y="0"/>
                  <a:pt x="27584" y="0"/>
                </a:cubicBezTo>
                <a:close/>
              </a:path>
            </a:pathLst>
          </a:custGeom>
          <a:solidFill>
            <a:srgbClr val="1A1A1A"/>
          </a:solidFill>
          <a:ln/>
        </p:spPr>
      </p:sp>
      <p:sp>
        <p:nvSpPr>
          <p:cNvPr id="6" name="Shape 4"/>
          <p:cNvSpPr/>
          <p:nvPr/>
        </p:nvSpPr>
        <p:spPr>
          <a:xfrm>
            <a:off x="381575" y="1452742"/>
            <a:ext cx="27584" cy="3585882"/>
          </a:xfrm>
          <a:custGeom>
            <a:avLst/>
            <a:gdLst/>
            <a:ahLst/>
            <a:cxnLst/>
            <a:rect l="l" t="t" r="r" b="b"/>
            <a:pathLst>
              <a:path w="27584" h="3585882">
                <a:moveTo>
                  <a:pt x="27584" y="0"/>
                </a:moveTo>
                <a:lnTo>
                  <a:pt x="27584" y="0"/>
                </a:lnTo>
                <a:lnTo>
                  <a:pt x="27584" y="3585882"/>
                </a:lnTo>
                <a:lnTo>
                  <a:pt x="27584" y="3585882"/>
                </a:lnTo>
                <a:cubicBezTo>
                  <a:pt x="12350" y="3585882"/>
                  <a:pt x="0" y="3573533"/>
                  <a:pt x="0" y="3558299"/>
                </a:cubicBezTo>
                <a:lnTo>
                  <a:pt x="0" y="27584"/>
                </a:lnTo>
                <a:cubicBezTo>
                  <a:pt x="0" y="12360"/>
                  <a:pt x="12360" y="0"/>
                  <a:pt x="27584" y="0"/>
                </a:cubicBezTo>
                <a:close/>
              </a:path>
            </a:pathLst>
          </a:custGeom>
          <a:solidFill>
            <a:srgbClr val="C9A36A"/>
          </a:solidFill>
          <a:ln/>
        </p:spPr>
      </p:sp>
      <p:sp>
        <p:nvSpPr>
          <p:cNvPr id="7" name="Shape 5"/>
          <p:cNvSpPr/>
          <p:nvPr/>
        </p:nvSpPr>
        <p:spPr>
          <a:xfrm>
            <a:off x="579258" y="1636633"/>
            <a:ext cx="441339" cy="441339"/>
          </a:xfrm>
          <a:custGeom>
            <a:avLst/>
            <a:gdLst/>
            <a:ahLst/>
            <a:cxn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p:spPr>
      </p:sp>
      <p:sp>
        <p:nvSpPr>
          <p:cNvPr id="8" name="Shape 6"/>
          <p:cNvSpPr/>
          <p:nvPr/>
        </p:nvSpPr>
        <p:spPr>
          <a:xfrm>
            <a:off x="707982" y="1765357"/>
            <a:ext cx="183891" cy="183891"/>
          </a:xfrm>
          <a:custGeom>
            <a:avLst/>
            <a:gdLst/>
            <a:ahLst/>
            <a:cxnLst/>
            <a:rect l="l" t="t" r="r" b="b"/>
            <a:pathLst>
              <a:path w="183891" h="183891">
                <a:moveTo>
                  <a:pt x="83505" y="1868"/>
                </a:moveTo>
                <a:cubicBezTo>
                  <a:pt x="88857" y="-611"/>
                  <a:pt x="95035" y="-611"/>
                  <a:pt x="100386" y="1868"/>
                </a:cubicBezTo>
                <a:lnTo>
                  <a:pt x="178899" y="38143"/>
                </a:lnTo>
                <a:cubicBezTo>
                  <a:pt x="181952" y="39544"/>
                  <a:pt x="183891" y="42597"/>
                  <a:pt x="183891" y="45973"/>
                </a:cubicBezTo>
                <a:cubicBezTo>
                  <a:pt x="183891" y="49349"/>
                  <a:pt x="181952" y="52402"/>
                  <a:pt x="178899" y="53803"/>
                </a:cubicBezTo>
                <a:lnTo>
                  <a:pt x="100386" y="90078"/>
                </a:lnTo>
                <a:cubicBezTo>
                  <a:pt x="95035" y="92556"/>
                  <a:pt x="88857" y="92556"/>
                  <a:pt x="83505" y="90078"/>
                </a:cubicBezTo>
                <a:lnTo>
                  <a:pt x="4992" y="53803"/>
                </a:lnTo>
                <a:cubicBezTo>
                  <a:pt x="1939" y="52366"/>
                  <a:pt x="0" y="49313"/>
                  <a:pt x="0" y="45973"/>
                </a:cubicBezTo>
                <a:cubicBezTo>
                  <a:pt x="0" y="42633"/>
                  <a:pt x="1939" y="39544"/>
                  <a:pt x="4992" y="38143"/>
                </a:cubicBezTo>
                <a:lnTo>
                  <a:pt x="83505" y="1868"/>
                </a:lnTo>
                <a:close/>
                <a:moveTo>
                  <a:pt x="17276" y="78441"/>
                </a:moveTo>
                <a:lnTo>
                  <a:pt x="76286" y="105702"/>
                </a:lnTo>
                <a:cubicBezTo>
                  <a:pt x="86235" y="110299"/>
                  <a:pt x="97692" y="110299"/>
                  <a:pt x="107641" y="105702"/>
                </a:cubicBezTo>
                <a:lnTo>
                  <a:pt x="166652" y="78441"/>
                </a:lnTo>
                <a:lnTo>
                  <a:pt x="178899" y="84116"/>
                </a:lnTo>
                <a:cubicBezTo>
                  <a:pt x="181952" y="85517"/>
                  <a:pt x="183891" y="88570"/>
                  <a:pt x="183891" y="91946"/>
                </a:cubicBezTo>
                <a:cubicBezTo>
                  <a:pt x="183891" y="95322"/>
                  <a:pt x="181952" y="98375"/>
                  <a:pt x="178899" y="99775"/>
                </a:cubicBezTo>
                <a:lnTo>
                  <a:pt x="100386" y="136051"/>
                </a:lnTo>
                <a:cubicBezTo>
                  <a:pt x="95035" y="138529"/>
                  <a:pt x="88857" y="138529"/>
                  <a:pt x="83505" y="136051"/>
                </a:cubicBezTo>
                <a:lnTo>
                  <a:pt x="4992" y="99775"/>
                </a:lnTo>
                <a:cubicBezTo>
                  <a:pt x="1939" y="98339"/>
                  <a:pt x="0" y="95286"/>
                  <a:pt x="0" y="91946"/>
                </a:cubicBezTo>
                <a:cubicBezTo>
                  <a:pt x="0" y="88605"/>
                  <a:pt x="1939" y="85517"/>
                  <a:pt x="4992" y="84116"/>
                </a:cubicBezTo>
                <a:lnTo>
                  <a:pt x="17240" y="78441"/>
                </a:lnTo>
                <a:close/>
                <a:moveTo>
                  <a:pt x="4992" y="130089"/>
                </a:moveTo>
                <a:lnTo>
                  <a:pt x="17240" y="124414"/>
                </a:lnTo>
                <a:lnTo>
                  <a:pt x="76250" y="151674"/>
                </a:lnTo>
                <a:cubicBezTo>
                  <a:pt x="86199" y="156272"/>
                  <a:pt x="97656" y="156272"/>
                  <a:pt x="107605" y="151674"/>
                </a:cubicBezTo>
                <a:lnTo>
                  <a:pt x="166616" y="124414"/>
                </a:lnTo>
                <a:lnTo>
                  <a:pt x="178863" y="130089"/>
                </a:lnTo>
                <a:cubicBezTo>
                  <a:pt x="181916" y="131490"/>
                  <a:pt x="183855" y="134542"/>
                  <a:pt x="183855" y="137919"/>
                </a:cubicBezTo>
                <a:cubicBezTo>
                  <a:pt x="183855" y="141295"/>
                  <a:pt x="181916" y="144348"/>
                  <a:pt x="178863" y="145748"/>
                </a:cubicBezTo>
                <a:lnTo>
                  <a:pt x="100350" y="182024"/>
                </a:lnTo>
                <a:cubicBezTo>
                  <a:pt x="94999" y="184502"/>
                  <a:pt x="88821" y="184502"/>
                  <a:pt x="83469" y="182024"/>
                </a:cubicBezTo>
                <a:lnTo>
                  <a:pt x="4992" y="145748"/>
                </a:lnTo>
                <a:cubicBezTo>
                  <a:pt x="1939" y="144312"/>
                  <a:pt x="0" y="141259"/>
                  <a:pt x="0" y="137919"/>
                </a:cubicBezTo>
                <a:cubicBezTo>
                  <a:pt x="0" y="134578"/>
                  <a:pt x="1939" y="131490"/>
                  <a:pt x="4992" y="130089"/>
                </a:cubicBezTo>
                <a:close/>
              </a:path>
            </a:pathLst>
          </a:custGeom>
          <a:solidFill>
            <a:srgbClr val="C9A36A"/>
          </a:solidFill>
          <a:ln/>
        </p:spPr>
      </p:sp>
      <p:sp>
        <p:nvSpPr>
          <p:cNvPr id="9" name="Text 7"/>
          <p:cNvSpPr/>
          <p:nvPr/>
        </p:nvSpPr>
        <p:spPr>
          <a:xfrm>
            <a:off x="1130932" y="1710190"/>
            <a:ext cx="2160724" cy="294226"/>
          </a:xfrm>
          <a:prstGeom prst="rect">
            <a:avLst/>
          </a:prstGeom>
          <a:noFill/>
          <a:ln/>
        </p:spPr>
        <p:txBody>
          <a:bodyPr wrap="square" lIns="0" tIns="0" rIns="0" bIns="0" rtlCol="0" anchor="ctr"/>
          <a:lstStyle/>
          <a:p>
            <a:pPr>
              <a:lnSpc>
                <a:spcPct val="110000"/>
              </a:lnSpc>
            </a:pPr>
            <a:r>
              <a:rPr lang="en-US" sz="1738" b="1" dirty="0">
                <a:solidFill>
                  <a:srgbClr val="F2F2F2"/>
                </a:solidFill>
                <a:latin typeface="Oranienbaum" pitchFamily="34" charset="0"/>
                <a:ea typeface="Oranienbaum" pitchFamily="34" charset="-122"/>
                <a:cs typeface="Oranienbaum" pitchFamily="34" charset="-120"/>
              </a:rPr>
              <a:t>The Impasto Technique</a:t>
            </a:r>
            <a:endParaRPr lang="en-US" sz="1600" dirty="0"/>
          </a:p>
        </p:txBody>
      </p:sp>
      <p:sp>
        <p:nvSpPr>
          <p:cNvPr id="10" name="Text 8"/>
          <p:cNvSpPr/>
          <p:nvPr/>
        </p:nvSpPr>
        <p:spPr>
          <a:xfrm>
            <a:off x="579258" y="2225086"/>
            <a:ext cx="5296072" cy="956235"/>
          </a:xfrm>
          <a:prstGeom prst="rect">
            <a:avLst/>
          </a:prstGeom>
          <a:noFill/>
          <a:ln/>
        </p:spPr>
        <p:txBody>
          <a:bodyPr wrap="square" lIns="0" tIns="0" rIns="0" bIns="0" rtlCol="0" anchor="ctr"/>
          <a:lstStyle/>
          <a:p>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Van Gogh revolutionized painting with </a:t>
            </a:r>
            <a:pPr>
              <a:lnSpc>
                <a:spcPct val="140000"/>
              </a:lnSpc>
            </a:pPr>
            <a:r>
              <a:rPr lang="en-US" sz="1158" dirty="0">
                <a:solidFill>
                  <a:srgbClr val="F2F2F2"/>
                </a:solidFill>
                <a:latin typeface="Quattrocento Sans" pitchFamily="34" charset="0"/>
                <a:ea typeface="Quattrocento Sans" pitchFamily="34" charset="-122"/>
                <a:cs typeface="Quattrocento Sans" pitchFamily="34" charset="-120"/>
              </a:rPr>
              <a:t>impasto</a:t>
            </a:r>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—applying paint so thickly that brush or palette knife strokes remain visible, creating a textured, three-dimensional surface. This technique transformed paint from mere color into physical matter with its own presence.</a:t>
            </a:r>
            <a:endParaRPr lang="en-US" sz="1600" dirty="0"/>
          </a:p>
        </p:txBody>
      </p:sp>
      <p:sp>
        <p:nvSpPr>
          <p:cNvPr id="11" name="Shape 9"/>
          <p:cNvSpPr/>
          <p:nvPr/>
        </p:nvSpPr>
        <p:spPr>
          <a:xfrm>
            <a:off x="579258" y="3328434"/>
            <a:ext cx="5222516" cy="1397575"/>
          </a:xfrm>
          <a:custGeom>
            <a:avLst/>
            <a:gdLst/>
            <a:ahLst/>
            <a:cxnLst/>
            <a:rect l="l" t="t" r="r" b="b"/>
            <a:pathLst>
              <a:path w="5222516" h="1397575">
                <a:moveTo>
                  <a:pt x="73554" y="0"/>
                </a:moveTo>
                <a:lnTo>
                  <a:pt x="5148961" y="0"/>
                </a:lnTo>
                <a:cubicBezTo>
                  <a:pt x="5189584" y="0"/>
                  <a:pt x="5222516" y="32931"/>
                  <a:pt x="5222516" y="73554"/>
                </a:cubicBezTo>
                <a:lnTo>
                  <a:pt x="5222516" y="1324020"/>
                </a:lnTo>
                <a:cubicBezTo>
                  <a:pt x="5222516" y="1364643"/>
                  <a:pt x="5189584" y="1397575"/>
                  <a:pt x="5148961" y="1397575"/>
                </a:cubicBezTo>
                <a:lnTo>
                  <a:pt x="73554" y="1397575"/>
                </a:lnTo>
                <a:cubicBezTo>
                  <a:pt x="32931" y="1397575"/>
                  <a:pt x="0" y="1364643"/>
                  <a:pt x="0" y="1324020"/>
                </a:cubicBezTo>
                <a:lnTo>
                  <a:pt x="0" y="73554"/>
                </a:lnTo>
                <a:cubicBezTo>
                  <a:pt x="0" y="32959"/>
                  <a:pt x="32959" y="0"/>
                  <a:pt x="73554" y="0"/>
                </a:cubicBezTo>
                <a:close/>
              </a:path>
            </a:pathLst>
          </a:custGeom>
          <a:solidFill>
            <a:srgbClr val="2B2B2B"/>
          </a:solidFill>
          <a:ln/>
        </p:spPr>
      </p:sp>
      <p:sp>
        <p:nvSpPr>
          <p:cNvPr id="12" name="Text 10"/>
          <p:cNvSpPr/>
          <p:nvPr/>
        </p:nvSpPr>
        <p:spPr>
          <a:xfrm>
            <a:off x="726371" y="3475548"/>
            <a:ext cx="4992652" cy="183891"/>
          </a:xfrm>
          <a:prstGeom prst="rect">
            <a:avLst/>
          </a:prstGeom>
          <a:noFill/>
          <a:ln/>
        </p:spPr>
        <p:txBody>
          <a:bodyPr wrap="square" lIns="0" tIns="0" rIns="0" bIns="0" rtlCol="0" anchor="ctr"/>
          <a:lstStyle/>
          <a:p>
            <a:pPr>
              <a:lnSpc>
                <a:spcPct val="120000"/>
              </a:lnSpc>
            </a:pPr>
            <a:r>
              <a:rPr lang="en-US" sz="1014" b="1" dirty="0">
                <a:solidFill>
                  <a:srgbClr val="C9A36A"/>
                </a:solidFill>
                <a:latin typeface="Quattrocento Sans" pitchFamily="34" charset="0"/>
                <a:ea typeface="Quattrocento Sans" pitchFamily="34" charset="-122"/>
                <a:cs typeface="Quattrocento Sans" pitchFamily="34" charset="-120"/>
              </a:rPr>
              <a:t>Technical Characteristics:</a:t>
            </a:r>
            <a:endParaRPr lang="en-US" sz="1600" dirty="0"/>
          </a:p>
        </p:txBody>
      </p:sp>
      <p:sp>
        <p:nvSpPr>
          <p:cNvPr id="13" name="Text 11"/>
          <p:cNvSpPr/>
          <p:nvPr/>
        </p:nvSpPr>
        <p:spPr>
          <a:xfrm>
            <a:off x="726371" y="3732995"/>
            <a:ext cx="4992652" cy="183891"/>
          </a:xfrm>
          <a:prstGeom prst="rect">
            <a:avLst/>
          </a:prstGeom>
          <a:noFill/>
          <a:ln/>
        </p:spPr>
        <p:txBody>
          <a:bodyPr wrap="square" lIns="0" tIns="0" rIns="0" bIns="0" rtlCol="0" anchor="ctr"/>
          <a:lstStyle/>
          <a:p>
            <a:pPr>
              <a:lnSpc>
                <a:spcPct val="120000"/>
              </a:lnSpc>
            </a:pPr>
            <a:r>
              <a:rPr lang="en-US" sz="1014" dirty="0">
                <a:solidFill>
                  <a:srgbClr val="B8B8B8"/>
                </a:solidFill>
                <a:latin typeface="Quattrocento Sans" pitchFamily="34" charset="0"/>
                <a:ea typeface="Quattrocento Sans" pitchFamily="34" charset="-122"/>
                <a:cs typeface="Quattrocento Sans" pitchFamily="34" charset="-120"/>
              </a:rPr>
              <a:t>• Paint applied straight from tubes without pre-mixing</a:t>
            </a:r>
            <a:endParaRPr lang="en-US" sz="1600" dirty="0"/>
          </a:p>
        </p:txBody>
      </p:sp>
      <p:sp>
        <p:nvSpPr>
          <p:cNvPr id="14" name="Text 12"/>
          <p:cNvSpPr/>
          <p:nvPr/>
        </p:nvSpPr>
        <p:spPr>
          <a:xfrm>
            <a:off x="726371" y="3953665"/>
            <a:ext cx="4992652" cy="183891"/>
          </a:xfrm>
          <a:prstGeom prst="rect">
            <a:avLst/>
          </a:prstGeom>
          <a:noFill/>
          <a:ln/>
        </p:spPr>
        <p:txBody>
          <a:bodyPr wrap="square" lIns="0" tIns="0" rIns="0" bIns="0" rtlCol="0" anchor="ctr"/>
          <a:lstStyle/>
          <a:p>
            <a:pPr>
              <a:lnSpc>
                <a:spcPct val="120000"/>
              </a:lnSpc>
            </a:pPr>
            <a:r>
              <a:rPr lang="en-US" sz="1014" dirty="0">
                <a:solidFill>
                  <a:srgbClr val="B8B8B8"/>
                </a:solidFill>
                <a:latin typeface="Quattrocento Sans" pitchFamily="34" charset="0"/>
                <a:ea typeface="Quattrocento Sans" pitchFamily="34" charset="-122"/>
                <a:cs typeface="Quattrocento Sans" pitchFamily="34" charset="-120"/>
              </a:rPr>
              <a:t>• Thick ridges and valleys catch light dynamically</a:t>
            </a:r>
            <a:endParaRPr lang="en-US" sz="1600" dirty="0"/>
          </a:p>
        </p:txBody>
      </p:sp>
      <p:sp>
        <p:nvSpPr>
          <p:cNvPr id="15" name="Text 13"/>
          <p:cNvSpPr/>
          <p:nvPr/>
        </p:nvSpPr>
        <p:spPr>
          <a:xfrm>
            <a:off x="726371" y="4174335"/>
            <a:ext cx="4992652" cy="183891"/>
          </a:xfrm>
          <a:prstGeom prst="rect">
            <a:avLst/>
          </a:prstGeom>
          <a:noFill/>
          <a:ln/>
        </p:spPr>
        <p:txBody>
          <a:bodyPr wrap="square" lIns="0" tIns="0" rIns="0" bIns="0" rtlCol="0" anchor="ctr"/>
          <a:lstStyle/>
          <a:p>
            <a:pPr>
              <a:lnSpc>
                <a:spcPct val="120000"/>
              </a:lnSpc>
            </a:pPr>
            <a:r>
              <a:rPr lang="en-US" sz="1014" dirty="0">
                <a:solidFill>
                  <a:srgbClr val="B8B8B8"/>
                </a:solidFill>
                <a:latin typeface="Quattrocento Sans" pitchFamily="34" charset="0"/>
                <a:ea typeface="Quattrocento Sans" pitchFamily="34" charset="-122"/>
                <a:cs typeface="Quattrocento Sans" pitchFamily="34" charset="-120"/>
              </a:rPr>
              <a:t>• Creates tactile, sculptural quality on canvas</a:t>
            </a:r>
            <a:endParaRPr lang="en-US" sz="1600" dirty="0"/>
          </a:p>
        </p:txBody>
      </p:sp>
      <p:sp>
        <p:nvSpPr>
          <p:cNvPr id="16" name="Text 14"/>
          <p:cNvSpPr/>
          <p:nvPr/>
        </p:nvSpPr>
        <p:spPr>
          <a:xfrm>
            <a:off x="726371" y="4395005"/>
            <a:ext cx="4992652" cy="183891"/>
          </a:xfrm>
          <a:prstGeom prst="rect">
            <a:avLst/>
          </a:prstGeom>
          <a:noFill/>
          <a:ln/>
        </p:spPr>
        <p:txBody>
          <a:bodyPr wrap="square" lIns="0" tIns="0" rIns="0" bIns="0" rtlCol="0" anchor="ctr"/>
          <a:lstStyle/>
          <a:p>
            <a:pPr>
              <a:lnSpc>
                <a:spcPct val="120000"/>
              </a:lnSpc>
            </a:pPr>
            <a:r>
              <a:rPr lang="en-US" sz="1014" dirty="0">
                <a:solidFill>
                  <a:srgbClr val="B8B8B8"/>
                </a:solidFill>
                <a:latin typeface="Quattrocento Sans" pitchFamily="34" charset="0"/>
                <a:ea typeface="Quattrocento Sans" pitchFamily="34" charset="-122"/>
                <a:cs typeface="Quattrocento Sans" pitchFamily="34" charset="-120"/>
              </a:rPr>
              <a:t>• Enhances emotional intensity through physical texture</a:t>
            </a:r>
            <a:endParaRPr lang="en-US" sz="1600" dirty="0"/>
          </a:p>
        </p:txBody>
      </p:sp>
      <p:sp>
        <p:nvSpPr>
          <p:cNvPr id="17" name="Shape 15"/>
          <p:cNvSpPr/>
          <p:nvPr/>
        </p:nvSpPr>
        <p:spPr>
          <a:xfrm>
            <a:off x="381575" y="5185738"/>
            <a:ext cx="5604090" cy="1673412"/>
          </a:xfrm>
          <a:custGeom>
            <a:avLst/>
            <a:gdLst/>
            <a:ahLst/>
            <a:cxnLst/>
            <a:rect l="l" t="t" r="r" b="b"/>
            <a:pathLst>
              <a:path w="5604090" h="1673412">
                <a:moveTo>
                  <a:pt x="27584" y="0"/>
                </a:moveTo>
                <a:lnTo>
                  <a:pt x="5530527" y="0"/>
                </a:lnTo>
                <a:cubicBezTo>
                  <a:pt x="5571155" y="0"/>
                  <a:pt x="5604090" y="32935"/>
                  <a:pt x="5604090" y="73563"/>
                </a:cubicBezTo>
                <a:lnTo>
                  <a:pt x="5604090" y="1599849"/>
                </a:lnTo>
                <a:cubicBezTo>
                  <a:pt x="5604090" y="1640476"/>
                  <a:pt x="5571155" y="1673412"/>
                  <a:pt x="5530527" y="1673412"/>
                </a:cubicBezTo>
                <a:lnTo>
                  <a:pt x="27584" y="1673412"/>
                </a:lnTo>
                <a:cubicBezTo>
                  <a:pt x="12350" y="1673412"/>
                  <a:pt x="0" y="1661062"/>
                  <a:pt x="0" y="1645828"/>
                </a:cubicBezTo>
                <a:lnTo>
                  <a:pt x="0" y="27584"/>
                </a:lnTo>
                <a:cubicBezTo>
                  <a:pt x="0" y="12360"/>
                  <a:pt x="12360" y="0"/>
                  <a:pt x="27584" y="0"/>
                </a:cubicBezTo>
                <a:close/>
              </a:path>
            </a:pathLst>
          </a:custGeom>
          <a:solidFill>
            <a:srgbClr val="1A1A1A"/>
          </a:solidFill>
          <a:ln/>
        </p:spPr>
      </p:sp>
      <p:sp>
        <p:nvSpPr>
          <p:cNvPr id="18" name="Shape 16"/>
          <p:cNvSpPr/>
          <p:nvPr/>
        </p:nvSpPr>
        <p:spPr>
          <a:xfrm>
            <a:off x="381575" y="5185738"/>
            <a:ext cx="27584" cy="1673412"/>
          </a:xfrm>
          <a:custGeom>
            <a:avLst/>
            <a:gdLst/>
            <a:ahLst/>
            <a:cxnLst/>
            <a:rect l="l" t="t" r="r" b="b"/>
            <a:pathLst>
              <a:path w="27584" h="1673412">
                <a:moveTo>
                  <a:pt x="27584" y="0"/>
                </a:moveTo>
                <a:lnTo>
                  <a:pt x="27584" y="0"/>
                </a:lnTo>
                <a:lnTo>
                  <a:pt x="27584" y="1673412"/>
                </a:lnTo>
                <a:lnTo>
                  <a:pt x="27584" y="1673412"/>
                </a:lnTo>
                <a:cubicBezTo>
                  <a:pt x="12350" y="1673412"/>
                  <a:pt x="0" y="1661062"/>
                  <a:pt x="0" y="1645828"/>
                </a:cubicBezTo>
                <a:lnTo>
                  <a:pt x="0" y="27584"/>
                </a:lnTo>
                <a:cubicBezTo>
                  <a:pt x="0" y="12360"/>
                  <a:pt x="12360" y="0"/>
                  <a:pt x="27584" y="0"/>
                </a:cubicBezTo>
                <a:close/>
              </a:path>
            </a:pathLst>
          </a:custGeom>
          <a:solidFill>
            <a:srgbClr val="C9A36A"/>
          </a:solidFill>
          <a:ln/>
        </p:spPr>
      </p:sp>
      <p:sp>
        <p:nvSpPr>
          <p:cNvPr id="19" name="Shape 17"/>
          <p:cNvSpPr/>
          <p:nvPr/>
        </p:nvSpPr>
        <p:spPr>
          <a:xfrm>
            <a:off x="579258" y="5369629"/>
            <a:ext cx="441339" cy="441339"/>
          </a:xfrm>
          <a:custGeom>
            <a:avLst/>
            <a:gdLst/>
            <a:ahLst/>
            <a:cxn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p:spPr>
      </p:sp>
      <p:sp>
        <p:nvSpPr>
          <p:cNvPr id="20" name="Shape 18"/>
          <p:cNvSpPr/>
          <p:nvPr/>
        </p:nvSpPr>
        <p:spPr>
          <a:xfrm>
            <a:off x="707982" y="5498353"/>
            <a:ext cx="183891" cy="183891"/>
          </a:xfrm>
          <a:custGeom>
            <a:avLst/>
            <a:gdLst/>
            <a:ahLst/>
            <a:cxnLst/>
            <a:rect l="l" t="t" r="r" b="b"/>
            <a:pathLst>
              <a:path w="183891" h="183891">
                <a:moveTo>
                  <a:pt x="103439" y="11493"/>
                </a:moveTo>
                <a:cubicBezTo>
                  <a:pt x="103439" y="17850"/>
                  <a:pt x="108575" y="22986"/>
                  <a:pt x="114932" y="22986"/>
                </a:cubicBezTo>
                <a:lnTo>
                  <a:pt x="129299" y="22986"/>
                </a:lnTo>
                <a:cubicBezTo>
                  <a:pt x="134076" y="22986"/>
                  <a:pt x="137919" y="26829"/>
                  <a:pt x="137919" y="31606"/>
                </a:cubicBezTo>
                <a:cubicBezTo>
                  <a:pt x="137919" y="36383"/>
                  <a:pt x="134076" y="40226"/>
                  <a:pt x="129299" y="40226"/>
                </a:cubicBezTo>
                <a:lnTo>
                  <a:pt x="11493" y="40226"/>
                </a:lnTo>
                <a:cubicBezTo>
                  <a:pt x="5136" y="40226"/>
                  <a:pt x="0" y="45362"/>
                  <a:pt x="0" y="51719"/>
                </a:cubicBezTo>
                <a:cubicBezTo>
                  <a:pt x="0" y="58077"/>
                  <a:pt x="5136" y="63213"/>
                  <a:pt x="11493" y="63213"/>
                </a:cubicBezTo>
                <a:lnTo>
                  <a:pt x="129299" y="63213"/>
                </a:lnTo>
                <a:cubicBezTo>
                  <a:pt x="146754" y="63213"/>
                  <a:pt x="160905" y="49062"/>
                  <a:pt x="160905" y="31606"/>
                </a:cubicBezTo>
                <a:cubicBezTo>
                  <a:pt x="160905" y="14151"/>
                  <a:pt x="146754" y="0"/>
                  <a:pt x="129299" y="0"/>
                </a:cubicBezTo>
                <a:lnTo>
                  <a:pt x="114932" y="0"/>
                </a:lnTo>
                <a:cubicBezTo>
                  <a:pt x="108575" y="0"/>
                  <a:pt x="103439" y="5136"/>
                  <a:pt x="103439" y="11493"/>
                </a:cubicBezTo>
                <a:close/>
                <a:moveTo>
                  <a:pt x="126425" y="137919"/>
                </a:moveTo>
                <a:cubicBezTo>
                  <a:pt x="126425" y="144276"/>
                  <a:pt x="131561" y="149412"/>
                  <a:pt x="137919" y="149412"/>
                </a:cubicBezTo>
                <a:lnTo>
                  <a:pt x="149412" y="149412"/>
                </a:lnTo>
                <a:cubicBezTo>
                  <a:pt x="168447" y="149412"/>
                  <a:pt x="183891" y="133968"/>
                  <a:pt x="183891" y="114932"/>
                </a:cubicBezTo>
                <a:cubicBezTo>
                  <a:pt x="183891" y="95896"/>
                  <a:pt x="168447" y="80452"/>
                  <a:pt x="149412" y="80452"/>
                </a:cubicBezTo>
                <a:lnTo>
                  <a:pt x="11493" y="80452"/>
                </a:lnTo>
                <a:cubicBezTo>
                  <a:pt x="5136" y="80452"/>
                  <a:pt x="0" y="85589"/>
                  <a:pt x="0" y="91946"/>
                </a:cubicBezTo>
                <a:cubicBezTo>
                  <a:pt x="0" y="98303"/>
                  <a:pt x="5136" y="103439"/>
                  <a:pt x="11493" y="103439"/>
                </a:cubicBezTo>
                <a:lnTo>
                  <a:pt x="149412" y="103439"/>
                </a:lnTo>
                <a:cubicBezTo>
                  <a:pt x="155769" y="103439"/>
                  <a:pt x="160905" y="108575"/>
                  <a:pt x="160905" y="114932"/>
                </a:cubicBezTo>
                <a:cubicBezTo>
                  <a:pt x="160905" y="121289"/>
                  <a:pt x="155769" y="126425"/>
                  <a:pt x="149412" y="126425"/>
                </a:cubicBezTo>
                <a:lnTo>
                  <a:pt x="137919" y="126425"/>
                </a:lnTo>
                <a:cubicBezTo>
                  <a:pt x="131561" y="126425"/>
                  <a:pt x="126425" y="131561"/>
                  <a:pt x="126425" y="137919"/>
                </a:cubicBezTo>
                <a:close/>
                <a:moveTo>
                  <a:pt x="45973" y="183891"/>
                </a:moveTo>
                <a:lnTo>
                  <a:pt x="60339" y="183891"/>
                </a:lnTo>
                <a:cubicBezTo>
                  <a:pt x="77795" y="183891"/>
                  <a:pt x="91946" y="169740"/>
                  <a:pt x="91946" y="152285"/>
                </a:cubicBezTo>
                <a:cubicBezTo>
                  <a:pt x="91946" y="134830"/>
                  <a:pt x="77795" y="120679"/>
                  <a:pt x="60339" y="120679"/>
                </a:cubicBezTo>
                <a:lnTo>
                  <a:pt x="11493" y="120679"/>
                </a:lnTo>
                <a:cubicBezTo>
                  <a:pt x="5136" y="120679"/>
                  <a:pt x="0" y="125815"/>
                  <a:pt x="0" y="132172"/>
                </a:cubicBezTo>
                <a:cubicBezTo>
                  <a:pt x="0" y="138529"/>
                  <a:pt x="5136" y="143665"/>
                  <a:pt x="11493" y="143665"/>
                </a:cubicBezTo>
                <a:lnTo>
                  <a:pt x="60339" y="143665"/>
                </a:lnTo>
                <a:cubicBezTo>
                  <a:pt x="65116" y="143665"/>
                  <a:pt x="68959" y="147508"/>
                  <a:pt x="68959" y="152285"/>
                </a:cubicBezTo>
                <a:cubicBezTo>
                  <a:pt x="68959" y="157062"/>
                  <a:pt x="65116" y="160905"/>
                  <a:pt x="60339" y="160905"/>
                </a:cubicBezTo>
                <a:lnTo>
                  <a:pt x="45973" y="160905"/>
                </a:lnTo>
                <a:cubicBezTo>
                  <a:pt x="39616" y="160905"/>
                  <a:pt x="34480" y="166041"/>
                  <a:pt x="34480" y="172398"/>
                </a:cubicBezTo>
                <a:cubicBezTo>
                  <a:pt x="34480" y="178755"/>
                  <a:pt x="39616" y="183891"/>
                  <a:pt x="45973" y="183891"/>
                </a:cubicBezTo>
                <a:close/>
              </a:path>
            </a:pathLst>
          </a:custGeom>
          <a:solidFill>
            <a:srgbClr val="C9A36A"/>
          </a:solidFill>
          <a:ln/>
        </p:spPr>
      </p:sp>
      <p:sp>
        <p:nvSpPr>
          <p:cNvPr id="21" name="Text 19"/>
          <p:cNvSpPr/>
          <p:nvPr/>
        </p:nvSpPr>
        <p:spPr>
          <a:xfrm>
            <a:off x="1130932" y="5443186"/>
            <a:ext cx="2059584" cy="294226"/>
          </a:xfrm>
          <a:prstGeom prst="rect">
            <a:avLst/>
          </a:prstGeom>
          <a:noFill/>
          <a:ln/>
        </p:spPr>
        <p:txBody>
          <a:bodyPr wrap="square" lIns="0" tIns="0" rIns="0" bIns="0" rtlCol="0" anchor="ctr"/>
          <a:lstStyle/>
          <a:p>
            <a:pPr>
              <a:lnSpc>
                <a:spcPct val="110000"/>
              </a:lnSpc>
            </a:pPr>
            <a:r>
              <a:rPr lang="en-US" sz="1738" b="1" dirty="0">
                <a:solidFill>
                  <a:srgbClr val="F2F2F2"/>
                </a:solidFill>
                <a:latin typeface="Oranienbaum" pitchFamily="34" charset="0"/>
                <a:ea typeface="Oranienbaum" pitchFamily="34" charset="-122"/>
                <a:cs typeface="Oranienbaum" pitchFamily="34" charset="-120"/>
              </a:rPr>
              <a:t>Directional Brushwork</a:t>
            </a:r>
            <a:endParaRPr lang="en-US" sz="1600" dirty="0"/>
          </a:p>
        </p:txBody>
      </p:sp>
      <p:sp>
        <p:nvSpPr>
          <p:cNvPr id="22" name="Text 20"/>
          <p:cNvSpPr/>
          <p:nvPr/>
        </p:nvSpPr>
        <p:spPr>
          <a:xfrm>
            <a:off x="579258" y="5958081"/>
            <a:ext cx="5296072" cy="717176"/>
          </a:xfrm>
          <a:prstGeom prst="rect">
            <a:avLst/>
          </a:prstGeom>
          <a:noFill/>
          <a:ln/>
        </p:spPr>
        <p:txBody>
          <a:bodyPr wrap="square" lIns="0" tIns="0" rIns="0" bIns="0" rtlCol="0" anchor="ctr"/>
          <a:lstStyle/>
          <a:p>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His brushstrokes </a:t>
            </a:r>
            <a:pPr>
              <a:lnSpc>
                <a:spcPct val="140000"/>
              </a:lnSpc>
            </a:pPr>
            <a:r>
              <a:rPr lang="en-US" sz="1158" dirty="0">
                <a:solidFill>
                  <a:srgbClr val="F2F2F2"/>
                </a:solidFill>
                <a:latin typeface="Quattrocento Sans" pitchFamily="34" charset="0"/>
                <a:ea typeface="Quattrocento Sans" pitchFamily="34" charset="-122"/>
                <a:cs typeface="Quattrocento Sans" pitchFamily="34" charset="-120"/>
              </a:rPr>
              <a:t>follow the form</a:t>
            </a:r>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 of what he painted—radiating like sunlight, undulating like earth, swirling like wind. This creates visual movement that makes static paintings feel alive with energy.</a:t>
            </a:r>
            <a:endParaRPr lang="en-US" sz="1600" dirty="0"/>
          </a:p>
        </p:txBody>
      </p:sp>
      <p:sp>
        <p:nvSpPr>
          <p:cNvPr id="23" name="Shape 21"/>
          <p:cNvSpPr/>
          <p:nvPr/>
        </p:nvSpPr>
        <p:spPr>
          <a:xfrm>
            <a:off x="6221132" y="1452742"/>
            <a:ext cx="5604090" cy="3585882"/>
          </a:xfrm>
          <a:custGeom>
            <a:avLst/>
            <a:gdLst/>
            <a:ahLst/>
            <a:cxnLst/>
            <a:rect l="l" t="t" r="r" b="b"/>
            <a:pathLst>
              <a:path w="5604090" h="3585882">
                <a:moveTo>
                  <a:pt x="27584" y="0"/>
                </a:moveTo>
                <a:lnTo>
                  <a:pt x="5530544" y="0"/>
                </a:lnTo>
                <a:cubicBezTo>
                  <a:pt x="5571163" y="0"/>
                  <a:pt x="5604090" y="32928"/>
                  <a:pt x="5604090" y="73546"/>
                </a:cubicBezTo>
                <a:lnTo>
                  <a:pt x="5604090" y="3512336"/>
                </a:lnTo>
                <a:cubicBezTo>
                  <a:pt x="5604090" y="3552954"/>
                  <a:pt x="5571163" y="3585882"/>
                  <a:pt x="5530544" y="3585882"/>
                </a:cubicBezTo>
                <a:lnTo>
                  <a:pt x="27584" y="3585882"/>
                </a:lnTo>
                <a:cubicBezTo>
                  <a:pt x="12350" y="3585882"/>
                  <a:pt x="0" y="3573533"/>
                  <a:pt x="0" y="3558299"/>
                </a:cubicBezTo>
                <a:lnTo>
                  <a:pt x="0" y="27584"/>
                </a:lnTo>
                <a:cubicBezTo>
                  <a:pt x="0" y="12350"/>
                  <a:pt x="12350" y="0"/>
                  <a:pt x="27584" y="0"/>
                </a:cubicBezTo>
                <a:close/>
              </a:path>
            </a:pathLst>
          </a:custGeom>
          <a:solidFill>
            <a:srgbClr val="1A1A1A"/>
          </a:solidFill>
          <a:ln/>
        </p:spPr>
      </p:sp>
      <p:sp>
        <p:nvSpPr>
          <p:cNvPr id="24" name="Shape 22"/>
          <p:cNvSpPr/>
          <p:nvPr/>
        </p:nvSpPr>
        <p:spPr>
          <a:xfrm>
            <a:off x="6221132" y="1452742"/>
            <a:ext cx="27584" cy="3585882"/>
          </a:xfrm>
          <a:custGeom>
            <a:avLst/>
            <a:gdLst/>
            <a:ahLst/>
            <a:cxnLst/>
            <a:rect l="l" t="t" r="r" b="b"/>
            <a:pathLst>
              <a:path w="27584" h="3585882">
                <a:moveTo>
                  <a:pt x="27584" y="0"/>
                </a:moveTo>
                <a:lnTo>
                  <a:pt x="27584" y="0"/>
                </a:lnTo>
                <a:lnTo>
                  <a:pt x="27584" y="3585882"/>
                </a:lnTo>
                <a:lnTo>
                  <a:pt x="27584" y="3585882"/>
                </a:lnTo>
                <a:cubicBezTo>
                  <a:pt x="12350" y="3585882"/>
                  <a:pt x="0" y="3573533"/>
                  <a:pt x="0" y="3558299"/>
                </a:cubicBezTo>
                <a:lnTo>
                  <a:pt x="0" y="27584"/>
                </a:lnTo>
                <a:cubicBezTo>
                  <a:pt x="0" y="12360"/>
                  <a:pt x="12360" y="0"/>
                  <a:pt x="27584" y="0"/>
                </a:cubicBezTo>
                <a:close/>
              </a:path>
            </a:pathLst>
          </a:custGeom>
          <a:solidFill>
            <a:srgbClr val="C9A36A"/>
          </a:solidFill>
          <a:ln/>
        </p:spPr>
      </p:sp>
      <p:sp>
        <p:nvSpPr>
          <p:cNvPr id="25" name="Shape 23"/>
          <p:cNvSpPr/>
          <p:nvPr/>
        </p:nvSpPr>
        <p:spPr>
          <a:xfrm>
            <a:off x="6418816" y="1636633"/>
            <a:ext cx="441339" cy="441339"/>
          </a:xfrm>
          <a:custGeom>
            <a:avLst/>
            <a:gdLst/>
            <a:ahLst/>
            <a:cxn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p:spPr>
      </p:sp>
      <p:sp>
        <p:nvSpPr>
          <p:cNvPr id="26" name="Shape 24"/>
          <p:cNvSpPr/>
          <p:nvPr/>
        </p:nvSpPr>
        <p:spPr>
          <a:xfrm>
            <a:off x="6547540" y="1765357"/>
            <a:ext cx="183891" cy="183891"/>
          </a:xfrm>
          <a:custGeom>
            <a:avLst/>
            <a:gdLst/>
            <a:ahLst/>
            <a:cxnLst/>
            <a:rect l="l" t="t" r="r" b="b"/>
            <a:pathLst>
              <a:path w="183891" h="183891">
                <a:moveTo>
                  <a:pt x="183891" y="91946"/>
                </a:moveTo>
                <a:cubicBezTo>
                  <a:pt x="183891" y="92269"/>
                  <a:pt x="183891" y="92592"/>
                  <a:pt x="183891" y="92915"/>
                </a:cubicBezTo>
                <a:cubicBezTo>
                  <a:pt x="183748" y="106025"/>
                  <a:pt x="171824" y="114932"/>
                  <a:pt x="158714" y="114932"/>
                </a:cubicBezTo>
                <a:lnTo>
                  <a:pt x="123552" y="114932"/>
                </a:lnTo>
                <a:cubicBezTo>
                  <a:pt x="114034" y="114932"/>
                  <a:pt x="106312" y="122654"/>
                  <a:pt x="106312" y="132172"/>
                </a:cubicBezTo>
                <a:cubicBezTo>
                  <a:pt x="106312" y="133393"/>
                  <a:pt x="106456" y="134578"/>
                  <a:pt x="106671" y="135728"/>
                </a:cubicBezTo>
                <a:cubicBezTo>
                  <a:pt x="107426" y="139391"/>
                  <a:pt x="109006" y="142911"/>
                  <a:pt x="110550" y="146467"/>
                </a:cubicBezTo>
                <a:cubicBezTo>
                  <a:pt x="112741" y="151423"/>
                  <a:pt x="114896" y="156344"/>
                  <a:pt x="114896" y="161551"/>
                </a:cubicBezTo>
                <a:cubicBezTo>
                  <a:pt x="114896" y="172973"/>
                  <a:pt x="107138" y="183353"/>
                  <a:pt x="95717" y="183820"/>
                </a:cubicBezTo>
                <a:cubicBezTo>
                  <a:pt x="94460" y="183855"/>
                  <a:pt x="93203" y="183891"/>
                  <a:pt x="91910" y="183891"/>
                </a:cubicBezTo>
                <a:cubicBezTo>
                  <a:pt x="41124" y="183891"/>
                  <a:pt x="-36" y="142731"/>
                  <a:pt x="-36" y="91946"/>
                </a:cubicBezTo>
                <a:cubicBezTo>
                  <a:pt x="-36" y="41160"/>
                  <a:pt x="41160" y="0"/>
                  <a:pt x="91946" y="0"/>
                </a:cubicBezTo>
                <a:cubicBezTo>
                  <a:pt x="142731" y="0"/>
                  <a:pt x="183891" y="41160"/>
                  <a:pt x="183891" y="91946"/>
                </a:cubicBezTo>
                <a:close/>
                <a:moveTo>
                  <a:pt x="45973" y="103439"/>
                </a:moveTo>
                <a:cubicBezTo>
                  <a:pt x="45973" y="97096"/>
                  <a:pt x="40823" y="91946"/>
                  <a:pt x="34480" y="91946"/>
                </a:cubicBezTo>
                <a:cubicBezTo>
                  <a:pt x="28136" y="91946"/>
                  <a:pt x="22986" y="97096"/>
                  <a:pt x="22986" y="103439"/>
                </a:cubicBezTo>
                <a:cubicBezTo>
                  <a:pt x="22986" y="109782"/>
                  <a:pt x="28136" y="114932"/>
                  <a:pt x="34480" y="114932"/>
                </a:cubicBezTo>
                <a:cubicBezTo>
                  <a:pt x="40823" y="114932"/>
                  <a:pt x="45973" y="109782"/>
                  <a:pt x="45973" y="103439"/>
                </a:cubicBezTo>
                <a:close/>
                <a:moveTo>
                  <a:pt x="45973" y="68959"/>
                </a:moveTo>
                <a:cubicBezTo>
                  <a:pt x="52316" y="68959"/>
                  <a:pt x="57466" y="63809"/>
                  <a:pt x="57466" y="57466"/>
                </a:cubicBezTo>
                <a:cubicBezTo>
                  <a:pt x="57466" y="51123"/>
                  <a:pt x="52316" y="45973"/>
                  <a:pt x="45973" y="45973"/>
                </a:cubicBezTo>
                <a:cubicBezTo>
                  <a:pt x="39630" y="45973"/>
                  <a:pt x="34480" y="51123"/>
                  <a:pt x="34480" y="57466"/>
                </a:cubicBezTo>
                <a:cubicBezTo>
                  <a:pt x="34480" y="63809"/>
                  <a:pt x="39630" y="68959"/>
                  <a:pt x="45973" y="68959"/>
                </a:cubicBezTo>
                <a:close/>
                <a:moveTo>
                  <a:pt x="103439" y="34480"/>
                </a:moveTo>
                <a:cubicBezTo>
                  <a:pt x="103439" y="28136"/>
                  <a:pt x="98289" y="22986"/>
                  <a:pt x="91946" y="22986"/>
                </a:cubicBezTo>
                <a:cubicBezTo>
                  <a:pt x="85602" y="22986"/>
                  <a:pt x="80452" y="28136"/>
                  <a:pt x="80452" y="34480"/>
                </a:cubicBezTo>
                <a:cubicBezTo>
                  <a:pt x="80452" y="40823"/>
                  <a:pt x="85602" y="45973"/>
                  <a:pt x="91946" y="45973"/>
                </a:cubicBezTo>
                <a:cubicBezTo>
                  <a:pt x="98289" y="45973"/>
                  <a:pt x="103439" y="40823"/>
                  <a:pt x="103439" y="34480"/>
                </a:cubicBezTo>
                <a:close/>
                <a:moveTo>
                  <a:pt x="137919" y="68959"/>
                </a:moveTo>
                <a:cubicBezTo>
                  <a:pt x="144262" y="68959"/>
                  <a:pt x="149412" y="63809"/>
                  <a:pt x="149412" y="57466"/>
                </a:cubicBezTo>
                <a:cubicBezTo>
                  <a:pt x="149412" y="51123"/>
                  <a:pt x="144262" y="45973"/>
                  <a:pt x="137919" y="45973"/>
                </a:cubicBezTo>
                <a:cubicBezTo>
                  <a:pt x="131575" y="45973"/>
                  <a:pt x="126425" y="51123"/>
                  <a:pt x="126425" y="57466"/>
                </a:cubicBezTo>
                <a:cubicBezTo>
                  <a:pt x="126425" y="63809"/>
                  <a:pt x="131575" y="68959"/>
                  <a:pt x="137919" y="68959"/>
                </a:cubicBezTo>
                <a:close/>
              </a:path>
            </a:pathLst>
          </a:custGeom>
          <a:solidFill>
            <a:srgbClr val="C9A36A"/>
          </a:solidFill>
          <a:ln/>
        </p:spPr>
      </p:sp>
      <p:sp>
        <p:nvSpPr>
          <p:cNvPr id="27" name="Text 25"/>
          <p:cNvSpPr/>
          <p:nvPr/>
        </p:nvSpPr>
        <p:spPr>
          <a:xfrm>
            <a:off x="6970490" y="1710190"/>
            <a:ext cx="1986027" cy="294226"/>
          </a:xfrm>
          <a:prstGeom prst="rect">
            <a:avLst/>
          </a:prstGeom>
          <a:noFill/>
          <a:ln/>
        </p:spPr>
        <p:txBody>
          <a:bodyPr wrap="square" lIns="0" tIns="0" rIns="0" bIns="0" rtlCol="0" anchor="ctr"/>
          <a:lstStyle/>
          <a:p>
            <a:pPr>
              <a:lnSpc>
                <a:spcPct val="110000"/>
              </a:lnSpc>
            </a:pPr>
            <a:r>
              <a:rPr lang="en-US" sz="1738" b="1" dirty="0">
                <a:solidFill>
                  <a:srgbClr val="F2F2F2"/>
                </a:solidFill>
                <a:latin typeface="Oranienbaum" pitchFamily="34" charset="0"/>
                <a:ea typeface="Oranienbaum" pitchFamily="34" charset="-122"/>
                <a:cs typeface="Oranienbaum" pitchFamily="34" charset="-120"/>
              </a:rPr>
              <a:t>Color Theory Mastery</a:t>
            </a:r>
            <a:endParaRPr lang="en-US" sz="1600" dirty="0"/>
          </a:p>
        </p:txBody>
      </p:sp>
      <p:sp>
        <p:nvSpPr>
          <p:cNvPr id="28" name="Text 26"/>
          <p:cNvSpPr/>
          <p:nvPr/>
        </p:nvSpPr>
        <p:spPr>
          <a:xfrm>
            <a:off x="6418816" y="2225086"/>
            <a:ext cx="5296072" cy="717176"/>
          </a:xfrm>
          <a:prstGeom prst="rect">
            <a:avLst/>
          </a:prstGeom>
          <a:noFill/>
          <a:ln/>
        </p:spPr>
        <p:txBody>
          <a:bodyPr wrap="square" lIns="0" tIns="0" rIns="0" bIns="0" rtlCol="0" anchor="ctr"/>
          <a:lstStyle/>
          <a:p>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Van Gogh used </a:t>
            </a:r>
            <a:pPr>
              <a:lnSpc>
                <a:spcPct val="140000"/>
              </a:lnSpc>
            </a:pPr>
            <a:r>
              <a:rPr lang="en-US" sz="1158" dirty="0">
                <a:solidFill>
                  <a:srgbClr val="F2F2F2"/>
                </a:solidFill>
                <a:latin typeface="Quattrocento Sans" pitchFamily="34" charset="0"/>
                <a:ea typeface="Quattrocento Sans" pitchFamily="34" charset="-122"/>
                <a:cs typeface="Quattrocento Sans" pitchFamily="34" charset="-120"/>
              </a:rPr>
              <a:t>complementary colors</a:t>
            </a:r>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 (blue-orange, yellow-purple, red-green) in bold contrasts to create visual vibration and emotional intensity. He painted not what he saw, but what he felt.</a:t>
            </a:r>
            <a:endParaRPr lang="en-US" sz="1600" dirty="0"/>
          </a:p>
        </p:txBody>
      </p:sp>
      <p:sp>
        <p:nvSpPr>
          <p:cNvPr id="29" name="Shape 27"/>
          <p:cNvSpPr/>
          <p:nvPr/>
        </p:nvSpPr>
        <p:spPr>
          <a:xfrm>
            <a:off x="6418816" y="3089376"/>
            <a:ext cx="1664217" cy="588452"/>
          </a:xfrm>
          <a:custGeom>
            <a:avLst/>
            <a:gdLst/>
            <a:ahLst/>
            <a:cxn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1" flip="none">
            <a:gsLst>
              <a:gs pos="0">
                <a:srgbClr val="4169E1"/>
              </a:gs>
              <a:gs pos="100000">
                <a:srgbClr val="FFD700"/>
              </a:gs>
            </a:gsLst>
            <a:lin ang="2700000" scaled="1"/>
          </a:gradFill>
          <a:ln/>
        </p:spPr>
      </p:sp>
      <p:sp>
        <p:nvSpPr>
          <p:cNvPr id="30" name="Text 28"/>
          <p:cNvSpPr/>
          <p:nvPr/>
        </p:nvSpPr>
        <p:spPr>
          <a:xfrm>
            <a:off x="6391232" y="3751385"/>
            <a:ext cx="1719385" cy="147113"/>
          </a:xfrm>
          <a:prstGeom prst="rect">
            <a:avLst/>
          </a:prstGeom>
          <a:noFill/>
          <a:ln/>
        </p:spPr>
        <p:txBody>
          <a:bodyPr wrap="square" lIns="0" tIns="0" rIns="0" bIns="0" rtlCol="0" anchor="ctr"/>
          <a:lstStyle/>
          <a:p>
            <a:pPr algn="ctr">
              <a:lnSpc>
                <a:spcPct val="110000"/>
              </a:lnSpc>
            </a:pPr>
            <a:r>
              <a:rPr lang="en-US" sz="869" dirty="0">
                <a:solidFill>
                  <a:srgbClr val="A3A3A3"/>
                </a:solidFill>
                <a:latin typeface="Quattrocento Sans" pitchFamily="34" charset="0"/>
                <a:ea typeface="Quattrocento Sans" pitchFamily="34" charset="-122"/>
                <a:cs typeface="Quattrocento Sans" pitchFamily="34" charset="-120"/>
              </a:rPr>
              <a:t>Blue/Yellow</a:t>
            </a:r>
            <a:endParaRPr lang="en-US" sz="1600" dirty="0"/>
          </a:p>
        </p:txBody>
      </p:sp>
      <p:sp>
        <p:nvSpPr>
          <p:cNvPr id="31" name="Shape 29"/>
          <p:cNvSpPr/>
          <p:nvPr/>
        </p:nvSpPr>
        <p:spPr>
          <a:xfrm>
            <a:off x="8196744" y="3089376"/>
            <a:ext cx="1664217" cy="588452"/>
          </a:xfrm>
          <a:custGeom>
            <a:avLst/>
            <a:gdLst/>
            <a:ahLst/>
            <a:cxn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1" flip="none">
            <a:gsLst>
              <a:gs pos="0">
                <a:srgbClr val="FF6347"/>
              </a:gs>
              <a:gs pos="100000">
                <a:srgbClr val="40E0D0"/>
              </a:gs>
            </a:gsLst>
            <a:lin ang="2700000" scaled="1"/>
          </a:gradFill>
          <a:ln/>
        </p:spPr>
      </p:sp>
      <p:sp>
        <p:nvSpPr>
          <p:cNvPr id="32" name="Text 30"/>
          <p:cNvSpPr/>
          <p:nvPr/>
        </p:nvSpPr>
        <p:spPr>
          <a:xfrm>
            <a:off x="8169160" y="3751385"/>
            <a:ext cx="1719385" cy="147113"/>
          </a:xfrm>
          <a:prstGeom prst="rect">
            <a:avLst/>
          </a:prstGeom>
          <a:noFill/>
          <a:ln/>
        </p:spPr>
        <p:txBody>
          <a:bodyPr wrap="square" lIns="0" tIns="0" rIns="0" bIns="0" rtlCol="0" anchor="ctr"/>
          <a:lstStyle/>
          <a:p>
            <a:pPr algn="ctr">
              <a:lnSpc>
                <a:spcPct val="110000"/>
              </a:lnSpc>
            </a:pPr>
            <a:r>
              <a:rPr lang="en-US" sz="869" dirty="0">
                <a:solidFill>
                  <a:srgbClr val="A3A3A3"/>
                </a:solidFill>
                <a:latin typeface="Quattrocento Sans" pitchFamily="34" charset="0"/>
                <a:ea typeface="Quattrocento Sans" pitchFamily="34" charset="-122"/>
                <a:cs typeface="Quattrocento Sans" pitchFamily="34" charset="-120"/>
              </a:rPr>
              <a:t>Red/Cyan</a:t>
            </a:r>
            <a:endParaRPr lang="en-US" sz="1600" dirty="0"/>
          </a:p>
        </p:txBody>
      </p:sp>
      <p:sp>
        <p:nvSpPr>
          <p:cNvPr id="33" name="Shape 31"/>
          <p:cNvSpPr/>
          <p:nvPr/>
        </p:nvSpPr>
        <p:spPr>
          <a:xfrm>
            <a:off x="9974672" y="3089376"/>
            <a:ext cx="1664217" cy="588452"/>
          </a:xfrm>
          <a:custGeom>
            <a:avLst/>
            <a:gdLst/>
            <a:ahLst/>
            <a:cxn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1" flip="none">
            <a:gsLst>
              <a:gs pos="0">
                <a:srgbClr val="8B4513"/>
              </a:gs>
              <a:gs pos="100000">
                <a:srgbClr val="87CEEB"/>
              </a:gs>
            </a:gsLst>
            <a:lin ang="2700000" scaled="1"/>
          </a:gradFill>
          <a:ln/>
        </p:spPr>
      </p:sp>
      <p:sp>
        <p:nvSpPr>
          <p:cNvPr id="34" name="Text 32"/>
          <p:cNvSpPr/>
          <p:nvPr/>
        </p:nvSpPr>
        <p:spPr>
          <a:xfrm>
            <a:off x="9947088" y="3751385"/>
            <a:ext cx="1719385" cy="147113"/>
          </a:xfrm>
          <a:prstGeom prst="rect">
            <a:avLst/>
          </a:prstGeom>
          <a:noFill/>
          <a:ln/>
        </p:spPr>
        <p:txBody>
          <a:bodyPr wrap="square" lIns="0" tIns="0" rIns="0" bIns="0" rtlCol="0" anchor="ctr"/>
          <a:lstStyle/>
          <a:p>
            <a:pPr algn="ctr">
              <a:lnSpc>
                <a:spcPct val="110000"/>
              </a:lnSpc>
            </a:pPr>
            <a:r>
              <a:rPr lang="en-US" sz="869" dirty="0">
                <a:solidFill>
                  <a:srgbClr val="A3A3A3"/>
                </a:solidFill>
                <a:latin typeface="Quattrocento Sans" pitchFamily="34" charset="0"/>
                <a:ea typeface="Quattrocento Sans" pitchFamily="34" charset="-122"/>
                <a:cs typeface="Quattrocento Sans" pitchFamily="34" charset="-120"/>
              </a:rPr>
              <a:t>Brown/Sky</a:t>
            </a:r>
            <a:endParaRPr lang="en-US" sz="1600" dirty="0"/>
          </a:p>
        </p:txBody>
      </p:sp>
      <p:sp>
        <p:nvSpPr>
          <p:cNvPr id="35" name="Shape 33"/>
          <p:cNvSpPr/>
          <p:nvPr/>
        </p:nvSpPr>
        <p:spPr>
          <a:xfrm>
            <a:off x="6418816" y="4045611"/>
            <a:ext cx="5222516" cy="809122"/>
          </a:xfrm>
          <a:custGeom>
            <a:avLst/>
            <a:gdLst/>
            <a:ahLst/>
            <a:cxnLst/>
            <a:rect l="l" t="t" r="r" b="b"/>
            <a:pathLst>
              <a:path w="5222516" h="809122">
                <a:moveTo>
                  <a:pt x="36775" y="0"/>
                </a:moveTo>
                <a:lnTo>
                  <a:pt x="5185741" y="0"/>
                </a:lnTo>
                <a:cubicBezTo>
                  <a:pt x="5206051" y="0"/>
                  <a:pt x="5222516" y="16465"/>
                  <a:pt x="5222516" y="36775"/>
                </a:cubicBezTo>
                <a:lnTo>
                  <a:pt x="5222516" y="772348"/>
                </a:lnTo>
                <a:cubicBezTo>
                  <a:pt x="5222516" y="792658"/>
                  <a:pt x="5206051" y="809122"/>
                  <a:pt x="5185741" y="809122"/>
                </a:cubicBezTo>
                <a:lnTo>
                  <a:pt x="36775" y="809122"/>
                </a:lnTo>
                <a:cubicBezTo>
                  <a:pt x="16465" y="809122"/>
                  <a:pt x="0" y="792658"/>
                  <a:pt x="0" y="772348"/>
                </a:cubicBezTo>
                <a:lnTo>
                  <a:pt x="0" y="36775"/>
                </a:lnTo>
                <a:cubicBezTo>
                  <a:pt x="0" y="16478"/>
                  <a:pt x="16478" y="0"/>
                  <a:pt x="36775" y="0"/>
                </a:cubicBezTo>
                <a:close/>
              </a:path>
            </a:pathLst>
          </a:custGeom>
          <a:solidFill>
            <a:srgbClr val="2B2B2B"/>
          </a:solidFill>
          <a:ln/>
        </p:spPr>
      </p:sp>
      <p:sp>
        <p:nvSpPr>
          <p:cNvPr id="36" name="Text 34"/>
          <p:cNvSpPr/>
          <p:nvPr/>
        </p:nvSpPr>
        <p:spPr>
          <a:xfrm>
            <a:off x="6529150" y="4155946"/>
            <a:ext cx="5066208" cy="183891"/>
          </a:xfrm>
          <a:prstGeom prst="rect">
            <a:avLst/>
          </a:prstGeom>
          <a:noFill/>
          <a:ln/>
        </p:spPr>
        <p:txBody>
          <a:bodyPr wrap="square" lIns="0" tIns="0" rIns="0" bIns="0" rtlCol="0" anchor="ctr"/>
          <a:lstStyle/>
          <a:p>
            <a:pPr>
              <a:lnSpc>
                <a:spcPct val="120000"/>
              </a:lnSpc>
            </a:pPr>
            <a:r>
              <a:rPr lang="en-US" sz="1014" b="1" dirty="0">
                <a:solidFill>
                  <a:srgbClr val="C9A36A"/>
                </a:solidFill>
                <a:latin typeface="Quattrocento Sans" pitchFamily="34" charset="0"/>
                <a:ea typeface="Quattrocento Sans" pitchFamily="34" charset="-122"/>
                <a:cs typeface="Quattrocento Sans" pitchFamily="34" charset="-120"/>
              </a:rPr>
              <a:t>Philosophy:</a:t>
            </a:r>
            <a:endParaRPr lang="en-US" sz="1600" dirty="0"/>
          </a:p>
        </p:txBody>
      </p:sp>
      <p:sp>
        <p:nvSpPr>
          <p:cNvPr id="37" name="Text 35"/>
          <p:cNvSpPr/>
          <p:nvPr/>
        </p:nvSpPr>
        <p:spPr>
          <a:xfrm>
            <a:off x="6529150" y="4376615"/>
            <a:ext cx="5066208" cy="367783"/>
          </a:xfrm>
          <a:prstGeom prst="rect">
            <a:avLst/>
          </a:prstGeom>
          <a:noFill/>
          <a:ln/>
        </p:spPr>
        <p:txBody>
          <a:bodyPr wrap="square" lIns="0" tIns="0" rIns="0" bIns="0" rtlCol="0" anchor="ctr"/>
          <a:lstStyle/>
          <a:p>
            <a:pPr>
              <a:lnSpc>
                <a:spcPct val="120000"/>
              </a:lnSpc>
            </a:pPr>
            <a:r>
              <a:rPr lang="en-US" sz="1014" dirty="0">
                <a:solidFill>
                  <a:srgbClr val="B8B8B8"/>
                </a:solidFill>
                <a:latin typeface="Quattrocento Sans" pitchFamily="34" charset="0"/>
                <a:ea typeface="Quattrocento Sans" pitchFamily="34" charset="-122"/>
                <a:cs typeface="Quattrocento Sans" pitchFamily="34" charset="-120"/>
              </a:rPr>
              <a:t>"Color expresses something in itself... I use color arbitrarily to express myself more forcefully."</a:t>
            </a:r>
            <a:endParaRPr lang="en-US" sz="1600" dirty="0"/>
          </a:p>
        </p:txBody>
      </p:sp>
      <p:sp>
        <p:nvSpPr>
          <p:cNvPr id="38" name="Shape 36"/>
          <p:cNvSpPr/>
          <p:nvPr/>
        </p:nvSpPr>
        <p:spPr>
          <a:xfrm>
            <a:off x="6221132" y="5185738"/>
            <a:ext cx="5604090" cy="1673412"/>
          </a:xfrm>
          <a:custGeom>
            <a:avLst/>
            <a:gdLst/>
            <a:ahLst/>
            <a:cxnLst/>
            <a:rect l="l" t="t" r="r" b="b"/>
            <a:pathLst>
              <a:path w="5604090" h="1673412">
                <a:moveTo>
                  <a:pt x="27584" y="0"/>
                </a:moveTo>
                <a:lnTo>
                  <a:pt x="5530527" y="0"/>
                </a:lnTo>
                <a:cubicBezTo>
                  <a:pt x="5571155" y="0"/>
                  <a:pt x="5604090" y="32935"/>
                  <a:pt x="5604090" y="73563"/>
                </a:cubicBezTo>
                <a:lnTo>
                  <a:pt x="5604090" y="1599849"/>
                </a:lnTo>
                <a:cubicBezTo>
                  <a:pt x="5604090" y="1640476"/>
                  <a:pt x="5571155" y="1673412"/>
                  <a:pt x="5530527" y="1673412"/>
                </a:cubicBezTo>
                <a:lnTo>
                  <a:pt x="27584" y="1673412"/>
                </a:lnTo>
                <a:cubicBezTo>
                  <a:pt x="12350" y="1673412"/>
                  <a:pt x="0" y="1661062"/>
                  <a:pt x="0" y="1645828"/>
                </a:cubicBezTo>
                <a:lnTo>
                  <a:pt x="0" y="27584"/>
                </a:lnTo>
                <a:cubicBezTo>
                  <a:pt x="0" y="12360"/>
                  <a:pt x="12360" y="0"/>
                  <a:pt x="27584" y="0"/>
                </a:cubicBezTo>
                <a:close/>
              </a:path>
            </a:pathLst>
          </a:custGeom>
          <a:solidFill>
            <a:srgbClr val="1A1A1A"/>
          </a:solidFill>
          <a:ln/>
        </p:spPr>
      </p:sp>
      <p:sp>
        <p:nvSpPr>
          <p:cNvPr id="39" name="Shape 37"/>
          <p:cNvSpPr/>
          <p:nvPr/>
        </p:nvSpPr>
        <p:spPr>
          <a:xfrm>
            <a:off x="6221132" y="5185738"/>
            <a:ext cx="27584" cy="1673412"/>
          </a:xfrm>
          <a:custGeom>
            <a:avLst/>
            <a:gdLst/>
            <a:ahLst/>
            <a:cxnLst/>
            <a:rect l="l" t="t" r="r" b="b"/>
            <a:pathLst>
              <a:path w="27584" h="1673412">
                <a:moveTo>
                  <a:pt x="27584" y="0"/>
                </a:moveTo>
                <a:lnTo>
                  <a:pt x="27584" y="0"/>
                </a:lnTo>
                <a:lnTo>
                  <a:pt x="27584" y="1673412"/>
                </a:lnTo>
                <a:lnTo>
                  <a:pt x="27584" y="1673412"/>
                </a:lnTo>
                <a:cubicBezTo>
                  <a:pt x="12350" y="1673412"/>
                  <a:pt x="0" y="1661062"/>
                  <a:pt x="0" y="1645828"/>
                </a:cubicBezTo>
                <a:lnTo>
                  <a:pt x="0" y="27584"/>
                </a:lnTo>
                <a:cubicBezTo>
                  <a:pt x="0" y="12360"/>
                  <a:pt x="12360" y="0"/>
                  <a:pt x="27584" y="0"/>
                </a:cubicBezTo>
                <a:close/>
              </a:path>
            </a:pathLst>
          </a:custGeom>
          <a:solidFill>
            <a:srgbClr val="C9A36A"/>
          </a:solidFill>
          <a:ln/>
        </p:spPr>
      </p:sp>
      <p:sp>
        <p:nvSpPr>
          <p:cNvPr id="40" name="Shape 38"/>
          <p:cNvSpPr/>
          <p:nvPr/>
        </p:nvSpPr>
        <p:spPr>
          <a:xfrm>
            <a:off x="6418816" y="5369629"/>
            <a:ext cx="441339" cy="441339"/>
          </a:xfrm>
          <a:custGeom>
            <a:avLst/>
            <a:gdLst/>
            <a:ahLst/>
            <a:cxn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p:spPr>
      </p:sp>
      <p:sp>
        <p:nvSpPr>
          <p:cNvPr id="41" name="Shape 39"/>
          <p:cNvSpPr/>
          <p:nvPr/>
        </p:nvSpPr>
        <p:spPr>
          <a:xfrm>
            <a:off x="6559033" y="5498353"/>
            <a:ext cx="160905" cy="183891"/>
          </a:xfrm>
          <a:custGeom>
            <a:avLst/>
            <a:gdLst/>
            <a:ahLst/>
            <a:cxnLst/>
            <a:rect l="l" t="t" r="r" b="b"/>
            <a:pathLst>
              <a:path w="160905" h="183891">
                <a:moveTo>
                  <a:pt x="0" y="34480"/>
                </a:moveTo>
                <a:lnTo>
                  <a:pt x="0" y="10236"/>
                </a:lnTo>
                <a:cubicBezTo>
                  <a:pt x="0" y="7758"/>
                  <a:pt x="2011" y="5747"/>
                  <a:pt x="4490" y="5747"/>
                </a:cubicBezTo>
                <a:cubicBezTo>
                  <a:pt x="5316" y="5747"/>
                  <a:pt x="6106" y="5962"/>
                  <a:pt x="6824" y="6393"/>
                </a:cubicBezTo>
                <a:lnTo>
                  <a:pt x="20831" y="14798"/>
                </a:lnTo>
                <a:cubicBezTo>
                  <a:pt x="29775" y="20149"/>
                  <a:pt x="39975" y="22986"/>
                  <a:pt x="50391" y="22986"/>
                </a:cubicBezTo>
                <a:lnTo>
                  <a:pt x="110514" y="22986"/>
                </a:lnTo>
                <a:cubicBezTo>
                  <a:pt x="120930" y="22986"/>
                  <a:pt x="131166" y="20149"/>
                  <a:pt x="140074" y="14798"/>
                </a:cubicBezTo>
                <a:lnTo>
                  <a:pt x="154081" y="6393"/>
                </a:lnTo>
                <a:cubicBezTo>
                  <a:pt x="154763" y="5962"/>
                  <a:pt x="155589" y="5747"/>
                  <a:pt x="156380" y="5747"/>
                </a:cubicBezTo>
                <a:cubicBezTo>
                  <a:pt x="158858" y="5747"/>
                  <a:pt x="160869" y="7758"/>
                  <a:pt x="160869" y="10236"/>
                </a:cubicBezTo>
                <a:lnTo>
                  <a:pt x="160905" y="34480"/>
                </a:lnTo>
                <a:cubicBezTo>
                  <a:pt x="160905" y="47158"/>
                  <a:pt x="150597" y="57466"/>
                  <a:pt x="137919" y="57466"/>
                </a:cubicBezTo>
                <a:lnTo>
                  <a:pt x="137919" y="80452"/>
                </a:lnTo>
                <a:lnTo>
                  <a:pt x="143665" y="80452"/>
                </a:lnTo>
                <a:cubicBezTo>
                  <a:pt x="150022" y="80452"/>
                  <a:pt x="155158" y="85589"/>
                  <a:pt x="155158" y="91946"/>
                </a:cubicBezTo>
                <a:cubicBezTo>
                  <a:pt x="155158" y="98303"/>
                  <a:pt x="150022" y="103439"/>
                  <a:pt x="143665" y="103439"/>
                </a:cubicBezTo>
                <a:lnTo>
                  <a:pt x="137919" y="103439"/>
                </a:lnTo>
                <a:lnTo>
                  <a:pt x="137919" y="172398"/>
                </a:lnTo>
                <a:cubicBezTo>
                  <a:pt x="137919" y="178755"/>
                  <a:pt x="132783" y="183891"/>
                  <a:pt x="126425" y="183891"/>
                </a:cubicBezTo>
                <a:cubicBezTo>
                  <a:pt x="120068" y="183891"/>
                  <a:pt x="114932" y="178755"/>
                  <a:pt x="114932" y="172398"/>
                </a:cubicBezTo>
                <a:lnTo>
                  <a:pt x="114932" y="103439"/>
                </a:lnTo>
                <a:lnTo>
                  <a:pt x="45973" y="103439"/>
                </a:lnTo>
                <a:lnTo>
                  <a:pt x="45973" y="172398"/>
                </a:lnTo>
                <a:cubicBezTo>
                  <a:pt x="45973" y="178755"/>
                  <a:pt x="40837" y="183891"/>
                  <a:pt x="34480" y="183891"/>
                </a:cubicBezTo>
                <a:cubicBezTo>
                  <a:pt x="28122" y="183891"/>
                  <a:pt x="22986" y="178755"/>
                  <a:pt x="22986" y="172398"/>
                </a:cubicBezTo>
                <a:lnTo>
                  <a:pt x="22986" y="103439"/>
                </a:lnTo>
                <a:lnTo>
                  <a:pt x="17240" y="103439"/>
                </a:lnTo>
                <a:cubicBezTo>
                  <a:pt x="10883" y="103439"/>
                  <a:pt x="5747" y="98303"/>
                  <a:pt x="5747" y="91946"/>
                </a:cubicBezTo>
                <a:cubicBezTo>
                  <a:pt x="5747" y="85589"/>
                  <a:pt x="10883" y="80452"/>
                  <a:pt x="17240" y="80452"/>
                </a:cubicBezTo>
                <a:lnTo>
                  <a:pt x="22986" y="80452"/>
                </a:lnTo>
                <a:lnTo>
                  <a:pt x="22986" y="57466"/>
                </a:lnTo>
                <a:cubicBezTo>
                  <a:pt x="10308" y="57466"/>
                  <a:pt x="0" y="47158"/>
                  <a:pt x="0" y="34480"/>
                </a:cubicBezTo>
                <a:close/>
                <a:moveTo>
                  <a:pt x="45973" y="80452"/>
                </a:moveTo>
                <a:lnTo>
                  <a:pt x="68959" y="80452"/>
                </a:lnTo>
                <a:lnTo>
                  <a:pt x="68959" y="57466"/>
                </a:lnTo>
                <a:lnTo>
                  <a:pt x="45973" y="57466"/>
                </a:lnTo>
                <a:lnTo>
                  <a:pt x="45973" y="80452"/>
                </a:lnTo>
                <a:close/>
                <a:moveTo>
                  <a:pt x="91946" y="80452"/>
                </a:moveTo>
                <a:lnTo>
                  <a:pt x="114932" y="80452"/>
                </a:lnTo>
                <a:lnTo>
                  <a:pt x="114932" y="57466"/>
                </a:lnTo>
                <a:lnTo>
                  <a:pt x="91946" y="57466"/>
                </a:lnTo>
                <a:lnTo>
                  <a:pt x="91946" y="80452"/>
                </a:lnTo>
                <a:close/>
              </a:path>
            </a:pathLst>
          </a:custGeom>
          <a:solidFill>
            <a:srgbClr val="C9A36A"/>
          </a:solidFill>
          <a:ln/>
        </p:spPr>
      </p:sp>
      <p:sp>
        <p:nvSpPr>
          <p:cNvPr id="42" name="Text 40"/>
          <p:cNvSpPr/>
          <p:nvPr/>
        </p:nvSpPr>
        <p:spPr>
          <a:xfrm>
            <a:off x="6970490" y="5443186"/>
            <a:ext cx="1811330" cy="294226"/>
          </a:xfrm>
          <a:prstGeom prst="rect">
            <a:avLst/>
          </a:prstGeom>
          <a:noFill/>
          <a:ln/>
        </p:spPr>
        <p:txBody>
          <a:bodyPr wrap="square" lIns="0" tIns="0" rIns="0" bIns="0" rtlCol="0" anchor="ctr"/>
          <a:lstStyle/>
          <a:p>
            <a:pPr>
              <a:lnSpc>
                <a:spcPct val="110000"/>
              </a:lnSpc>
            </a:pPr>
            <a:r>
              <a:rPr lang="en-US" sz="1738" b="1" dirty="0">
                <a:solidFill>
                  <a:srgbClr val="F2F2F2"/>
                </a:solidFill>
                <a:latin typeface="Oranienbaum" pitchFamily="34" charset="0"/>
                <a:ea typeface="Oranienbaum" pitchFamily="34" charset="-122"/>
                <a:cs typeface="Oranienbaum" pitchFamily="34" charset="-120"/>
              </a:rPr>
              <a:t>Japanese Influence</a:t>
            </a:r>
            <a:endParaRPr lang="en-US" sz="1600" dirty="0"/>
          </a:p>
        </p:txBody>
      </p:sp>
      <p:sp>
        <p:nvSpPr>
          <p:cNvPr id="43" name="Text 41"/>
          <p:cNvSpPr/>
          <p:nvPr/>
        </p:nvSpPr>
        <p:spPr>
          <a:xfrm>
            <a:off x="6418816" y="5958081"/>
            <a:ext cx="5296072" cy="717176"/>
          </a:xfrm>
          <a:prstGeom prst="rect">
            <a:avLst/>
          </a:prstGeom>
          <a:noFill/>
          <a:ln/>
        </p:spPr>
        <p:txBody>
          <a:bodyPr wrap="square" lIns="0" tIns="0" rIns="0" bIns="0" rtlCol="0" anchor="ctr"/>
          <a:lstStyle/>
          <a:p>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Van Gogh collected hundreds of </a:t>
            </a:r>
            <a:pPr>
              <a:lnSpc>
                <a:spcPct val="140000"/>
              </a:lnSpc>
            </a:pPr>
            <a:r>
              <a:rPr lang="en-US" sz="1158" dirty="0">
                <a:solidFill>
                  <a:srgbClr val="F2F2F2"/>
                </a:solidFill>
                <a:latin typeface="Quattrocento Sans" pitchFamily="34" charset="0"/>
                <a:ea typeface="Quattrocento Sans" pitchFamily="34" charset="-122"/>
                <a:cs typeface="Quattrocento Sans" pitchFamily="34" charset="-120"/>
              </a:rPr>
              <a:t>ukiyo-e woodblock prints</a:t>
            </a:r>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 which influenced his use of bold outlines, flat areas of color, cropped compositions, and decorative patterning—liberating him from Western academic conventions.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D3D3D3"/>
        </a:solidFill>
      </p:bgPr>
    </p:bg>
    <p:spTree>
      <p:nvGrpSpPr>
        <p:cNvPr id="1" name=""/>
        <p:cNvGrpSpPr/>
        <p:nvPr/>
      </p:nvGrpSpPr>
      <p:grpSpPr>
        <a:xfrm>
          <a:off x="0" y="0"/>
          <a:ext cx="0" cy="0"/>
          <a:chOff x="0" y="0"/>
          <a:chExt cx="0" cy="0"/>
        </a:xfrm>
      </p:grpSpPr>
      <p:pic>
        <p:nvPicPr>
          <p:cNvPr id="2" name="Image 0" descr="https://kimi-web-img.moonshot.cn/img/shop.getty.edu/b81876162f29e37875b241e9fd9df763d9372e5d.jpeg">    </p:cNvPr>
          <p:cNvPicPr>
            <a:picLocks noChangeAspect="1"/>
          </p:cNvPicPr>
          <p:nvPr/>
        </p:nvPicPr>
        <p:blipFill>
          <a:blip r:embed="rId1">
            <a:alphaModFix amt="30000"/>
          </a:blip>
          <a:srcRect l="0" r="0" t="14248" b="14248"/>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sp>
      <p:sp>
        <p:nvSpPr>
          <p:cNvPr id="4" name="Shape 1"/>
          <p:cNvSpPr/>
          <p:nvPr/>
        </p:nvSpPr>
        <p:spPr>
          <a:xfrm>
            <a:off x="385763" y="1463278"/>
            <a:ext cx="1038225" cy="809625"/>
          </a:xfrm>
          <a:custGeom>
            <a:avLst/>
            <a:gdLst/>
            <a:ahLst/>
            <a:cxnLst/>
            <a:rect l="l" t="t" r="r" b="b"/>
            <a:pathLst>
              <a:path w="1038225" h="809625">
                <a:moveTo>
                  <a:pt x="76202" y="0"/>
                </a:moveTo>
                <a:lnTo>
                  <a:pt x="962023" y="0"/>
                </a:lnTo>
                <a:cubicBezTo>
                  <a:pt x="1004108" y="0"/>
                  <a:pt x="1038225" y="34117"/>
                  <a:pt x="1038225" y="76202"/>
                </a:cubicBezTo>
                <a:lnTo>
                  <a:pt x="1038225" y="733423"/>
                </a:lnTo>
                <a:cubicBezTo>
                  <a:pt x="1038225" y="775508"/>
                  <a:pt x="1004108" y="809625"/>
                  <a:pt x="962023"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619125" y="1539478"/>
            <a:ext cx="857250" cy="657225"/>
          </a:xfrm>
          <a:prstGeom prst="rect">
            <a:avLst/>
          </a:prstGeom>
          <a:noFill/>
          <a:ln/>
        </p:spPr>
        <p:txBody>
          <a:bodyPr wrap="square" lIns="0" tIns="0" rIns="0" bIns="0" rtlCol="0" anchor="ctr"/>
          <a:lstStyle/>
          <a:p>
            <a:pPr>
              <a:lnSpc>
                <a:spcPct val="80000"/>
              </a:lnSpc>
            </a:pPr>
            <a:r>
              <a:rPr lang="en-US" sz="4500" b="1" dirty="0">
                <a:solidFill>
                  <a:srgbClr val="C9A36A"/>
                </a:solidFill>
                <a:latin typeface="Oranienbaum" pitchFamily="34" charset="0"/>
                <a:ea typeface="Oranienbaum" pitchFamily="34" charset="-122"/>
                <a:cs typeface="Oranienbaum" pitchFamily="34" charset="-120"/>
              </a:rPr>
              <a:t>03</a:t>
            </a:r>
            <a:endParaRPr lang="en-US" sz="1600" dirty="0"/>
          </a:p>
        </p:txBody>
      </p:sp>
      <p:sp>
        <p:nvSpPr>
          <p:cNvPr id="6" name="Text 3"/>
          <p:cNvSpPr/>
          <p:nvPr/>
        </p:nvSpPr>
        <p:spPr>
          <a:xfrm>
            <a:off x="381000" y="2582466"/>
            <a:ext cx="8877300" cy="1714500"/>
          </a:xfrm>
          <a:prstGeom prst="rect">
            <a:avLst/>
          </a:prstGeom>
          <a:noFill/>
          <a:ln/>
        </p:spPr>
        <p:txBody>
          <a:bodyPr wrap="square" lIns="0" tIns="0" rIns="0" bIns="0" rtlCol="0" anchor="ctr"/>
          <a:lstStyle/>
          <a:p>
            <a:pPr>
              <a:lnSpc>
                <a:spcPct val="100000"/>
              </a:lnSpc>
            </a:pPr>
            <a:r>
              <a:rPr lang="en-US" sz="5400" b="1" dirty="0">
                <a:solidFill>
                  <a:srgbClr val="F2F2F2"/>
                </a:solidFill>
                <a:latin typeface="Oranienbaum" pitchFamily="34" charset="0"/>
                <a:ea typeface="Oranienbaum" pitchFamily="34" charset="-122"/>
                <a:cs typeface="Oranienbaum" pitchFamily="34" charset="-120"/>
              </a:rPr>
              <a:t>Masterpieces That</a:t>
            </a:r>
            <a:endParaRPr lang="en-US" sz="1600" dirty="0"/>
          </a:p>
          <a:p>
            <a:pPr>
              <a:lnSpc>
                <a:spcPct val="100000"/>
              </a:lnSpc>
            </a:pPr>
            <a:r>
              <a:rPr lang="en-US" sz="5400" b="1" dirty="0">
                <a:solidFill>
                  <a:srgbClr val="F2F2F2"/>
                </a:solidFill>
                <a:latin typeface="Oranienbaum" pitchFamily="34" charset="0"/>
                <a:ea typeface="Oranienbaum" pitchFamily="34" charset="-122"/>
                <a:cs typeface="Oranienbaum" pitchFamily="34" charset="-120"/>
              </a:rPr>
              <a:t>Define an Era</a:t>
            </a:r>
            <a:endParaRPr lang="en-US" sz="1600" dirty="0"/>
          </a:p>
        </p:txBody>
      </p:sp>
      <p:sp>
        <p:nvSpPr>
          <p:cNvPr id="7" name="Shape 4"/>
          <p:cNvSpPr/>
          <p:nvPr/>
        </p:nvSpPr>
        <p:spPr>
          <a:xfrm>
            <a:off x="381000" y="4601766"/>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sp>
      <p:sp>
        <p:nvSpPr>
          <p:cNvPr id="8" name="Text 5"/>
          <p:cNvSpPr/>
          <p:nvPr/>
        </p:nvSpPr>
        <p:spPr>
          <a:xfrm>
            <a:off x="381000" y="4935141"/>
            <a:ext cx="6543675" cy="466725"/>
          </a:xfrm>
          <a:prstGeom prst="rect">
            <a:avLst/>
          </a:prstGeom>
          <a:noFill/>
          <a:ln/>
        </p:spPr>
        <p:txBody>
          <a:bodyPr wrap="square" lIns="0" tIns="0" rIns="0" bIns="0" rtlCol="0" anchor="ctr"/>
          <a:lstStyle/>
          <a:p>
            <a:pPr>
              <a:lnSpc>
                <a:spcPct val="140000"/>
              </a:lnSpc>
            </a:pPr>
            <a:r>
              <a:rPr lang="en-US" sz="2250" dirty="0">
                <a:solidFill>
                  <a:srgbClr val="B8B8B8"/>
                </a:solidFill>
                <a:latin typeface="Quattrocento Sans" pitchFamily="34" charset="0"/>
                <a:ea typeface="Quattrocento Sans" pitchFamily="34" charset="-122"/>
                <a:cs typeface="Quattrocento Sans" pitchFamily="34" charset="-120"/>
              </a:rPr>
              <a:t>Iconic works that continue to captivate the world</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spc="200" kern="0" dirty="0">
                <a:solidFill>
                  <a:srgbClr val="800080"/>
                </a:solidFill>
                <a:latin typeface="Quattrocento Sans" pitchFamily="34" charset="0"/>
                <a:ea typeface="Quattrocento Sans" pitchFamily="34" charset="-122"/>
                <a:cs typeface="Quattrocento Sans" pitchFamily="34" charset="-120"/>
              </a:rPr>
              <a:t>Chapter 03 • Masterpiece Analysis</a:t>
            </a:r>
            <a:endParaRPr lang="en-US" sz="1600" dirty="0"/>
          </a:p>
        </p:txBody>
      </p:sp>
      <p:sp>
        <p:nvSpPr>
          <p:cNvPr id="3" name="Text 1"/>
          <p:cNvSpPr/>
          <p:nvPr/>
        </p:nvSpPr>
        <p:spPr>
          <a:xfrm>
            <a:off x="317500" y="571500"/>
            <a:ext cx="11747500" cy="381000"/>
          </a:xfrm>
          <a:prstGeom prst="rect">
            <a:avLst/>
          </a:prstGeom>
          <a:noFill/>
          <a:ln/>
        </p:spPr>
        <p:txBody>
          <a:bodyPr wrap="square" lIns="0" tIns="0" rIns="0" bIns="0" rtlCol="0" anchor="ctr"/>
          <a:lstStyle/>
          <a:p>
            <a:pPr>
              <a:lnSpc>
                <a:spcPct val="80000"/>
              </a:lnSpc>
            </a:pPr>
            <a:r>
              <a:rPr lang="en-US" sz="3000" b="1" dirty="0">
                <a:solidFill>
                  <a:srgbClr val="800080"/>
                </a:solidFill>
                <a:latin typeface="Oranienbaum" pitchFamily="34" charset="0"/>
                <a:ea typeface="Oranienbaum" pitchFamily="34" charset="-122"/>
                <a:cs typeface="Oranienbaum" pitchFamily="34" charset="-120"/>
              </a:rPr>
              <a:t>The Starry Night: A Visionary Masterpiece</a:t>
            </a:r>
            <a:endParaRPr lang="en-US" sz="1600" dirty="0"/>
          </a:p>
        </p:txBody>
      </p:sp>
      <p:sp>
        <p:nvSpPr>
          <p:cNvPr id="4" name="Shape 2"/>
          <p:cNvSpPr/>
          <p:nvPr/>
        </p:nvSpPr>
        <p:spPr>
          <a:xfrm>
            <a:off x="317500" y="1079500"/>
            <a:ext cx="889000" cy="15875"/>
          </a:xfrm>
          <a:custGeom>
            <a:avLst/>
            <a:gdLst/>
            <a:ahLst/>
            <a:cxnLst/>
            <a:rect l="l" t="t" r="r" b="b"/>
            <a:pathLst>
              <a:path w="889000" h="15875">
                <a:moveTo>
                  <a:pt x="0" y="0"/>
                </a:moveTo>
                <a:lnTo>
                  <a:pt x="889000" y="0"/>
                </a:lnTo>
                <a:lnTo>
                  <a:pt x="889000" y="15875"/>
                </a:lnTo>
                <a:lnTo>
                  <a:pt x="0" y="15875"/>
                </a:lnTo>
                <a:lnTo>
                  <a:pt x="0" y="0"/>
                </a:lnTo>
                <a:close/>
              </a:path>
            </a:pathLst>
          </a:custGeom>
          <a:solidFill>
            <a:srgbClr val="C9A36A"/>
          </a:solidFill>
          <a:ln/>
        </p:spPr>
        <p:txBody>
          <a:bodyPr/>
          <a:p/>
        </p:txBody>
      </p:sp>
      <p:sp>
        <p:nvSpPr>
          <p:cNvPr id="5" name="Shape 3"/>
          <p:cNvSpPr/>
          <p:nvPr/>
        </p:nvSpPr>
        <p:spPr>
          <a:xfrm>
            <a:off x="321469" y="1226344"/>
            <a:ext cx="5103813" cy="4048125"/>
          </a:xfrm>
          <a:custGeom>
            <a:avLst/>
            <a:gdLst/>
            <a:ahLst/>
            <a:cxnLst/>
            <a:rect l="l" t="t" r="r" b="b"/>
            <a:pathLst>
              <a:path w="5103813" h="4048125">
                <a:moveTo>
                  <a:pt x="63515" y="0"/>
                </a:moveTo>
                <a:lnTo>
                  <a:pt x="5040297" y="0"/>
                </a:lnTo>
                <a:cubicBezTo>
                  <a:pt x="5075376" y="0"/>
                  <a:pt x="5103813" y="28437"/>
                  <a:pt x="5103813" y="63515"/>
                </a:cubicBezTo>
                <a:lnTo>
                  <a:pt x="5103813" y="3984610"/>
                </a:lnTo>
                <a:cubicBezTo>
                  <a:pt x="5103813" y="4019688"/>
                  <a:pt x="5075376" y="4048125"/>
                  <a:pt x="5040297" y="4048125"/>
                </a:cubicBezTo>
                <a:lnTo>
                  <a:pt x="63515" y="4048125"/>
                </a:lnTo>
                <a:cubicBezTo>
                  <a:pt x="28437" y="4048125"/>
                  <a:pt x="0" y="4019688"/>
                  <a:pt x="0" y="3984610"/>
                </a:cubicBezTo>
                <a:lnTo>
                  <a:pt x="0" y="63515"/>
                </a:lnTo>
                <a:cubicBezTo>
                  <a:pt x="0" y="28460"/>
                  <a:pt x="28460" y="0"/>
                  <a:pt x="63515" y="0"/>
                </a:cubicBezTo>
                <a:close/>
              </a:path>
            </a:pathLst>
          </a:custGeom>
          <a:solidFill>
            <a:srgbClr val="1A1A1A"/>
          </a:solidFill>
          <a:ln w="12700">
            <a:solidFill>
              <a:srgbClr val="2B2B2B"/>
            </a:solidFill>
            <a:prstDash val="solid"/>
          </a:ln>
        </p:spPr>
        <p:txBody>
          <a:bodyPr/>
          <a:p/>
        </p:txBody>
      </p:sp>
      <p:pic>
        <p:nvPicPr>
          <p:cNvPr id="6" name="Image 0" descr="https://kimi-web-img.moonshot.cn/img/upload.wikimedia.org/2a76e887bbbc41542f357db36c5477fb94cd15f0.jpg">    </p:cNvPr>
          <p:cNvPicPr>
            <a:picLocks noChangeAspect="1"/>
          </p:cNvPicPr>
          <p:nvPr/>
        </p:nvPicPr>
        <p:blipFill>
          <a:blip r:embed="rId1"/>
          <a:srcRect l="41" r="41" t="0" b="0"/>
          <a:stretch/>
        </p:blipFill>
        <p:spPr>
          <a:xfrm>
            <a:off x="325438" y="1230313"/>
            <a:ext cx="5095875" cy="4040188"/>
          </a:xfrm>
          <a:prstGeom prst="roundRect">
            <a:avLst>
              <a:gd name="adj" fmla="val 1572"/>
            </a:avLst>
          </a:prstGeom>
        </p:spPr>
      </p:pic>
      <p:sp>
        <p:nvSpPr>
          <p:cNvPr id="7" name="Shape 4"/>
          <p:cNvSpPr/>
          <p:nvPr/>
        </p:nvSpPr>
        <p:spPr>
          <a:xfrm>
            <a:off x="329406" y="5404631"/>
            <a:ext cx="5099844" cy="1174750"/>
          </a:xfrm>
          <a:custGeom>
            <a:avLst/>
            <a:gdLst/>
            <a:ahLst/>
            <a:cxnLst/>
            <a:rect l="l" t="t" r="r" b="b"/>
            <a:pathLst>
              <a:path w="5099844" h="1174750">
                <a:moveTo>
                  <a:pt x="23813" y="0"/>
                </a:moveTo>
                <a:lnTo>
                  <a:pt x="5036349" y="0"/>
                </a:lnTo>
                <a:cubicBezTo>
                  <a:pt x="5071416" y="0"/>
                  <a:pt x="5099844" y="28428"/>
                  <a:pt x="5099844" y="63495"/>
                </a:cubicBezTo>
                <a:lnTo>
                  <a:pt x="5099844" y="1111255"/>
                </a:lnTo>
                <a:cubicBezTo>
                  <a:pt x="5099844" y="1146322"/>
                  <a:pt x="5071416" y="1174750"/>
                  <a:pt x="5036349" y="1174750"/>
                </a:cubicBezTo>
                <a:lnTo>
                  <a:pt x="23813" y="1174750"/>
                </a:lnTo>
                <a:cubicBezTo>
                  <a:pt x="10670" y="1174750"/>
                  <a:pt x="0" y="1164080"/>
                  <a:pt x="0" y="1150938"/>
                </a:cubicBezTo>
                <a:lnTo>
                  <a:pt x="0" y="23813"/>
                </a:lnTo>
                <a:cubicBezTo>
                  <a:pt x="0" y="10670"/>
                  <a:pt x="10670" y="0"/>
                  <a:pt x="23812" y="0"/>
                </a:cubicBezTo>
                <a:close/>
              </a:path>
            </a:pathLst>
          </a:custGeom>
          <a:solidFill>
            <a:srgbClr val="1A1A1A"/>
          </a:solidFill>
          <a:ln/>
        </p:spPr>
        <p:txBody>
          <a:bodyPr/>
          <a:p/>
        </p:txBody>
      </p:sp>
      <p:sp>
        <p:nvSpPr>
          <p:cNvPr id="8" name="Shape 5"/>
          <p:cNvSpPr/>
          <p:nvPr/>
        </p:nvSpPr>
        <p:spPr>
          <a:xfrm>
            <a:off x="329406" y="5404631"/>
            <a:ext cx="23813" cy="1174750"/>
          </a:xfrm>
          <a:custGeom>
            <a:avLst/>
            <a:gdLst/>
            <a:ahLst/>
            <a:cxnLst/>
            <a:rect l="l" t="t" r="r" b="b"/>
            <a:pathLst>
              <a:path w="23813" h="1174750">
                <a:moveTo>
                  <a:pt x="23813" y="0"/>
                </a:moveTo>
                <a:lnTo>
                  <a:pt x="23813" y="0"/>
                </a:lnTo>
                <a:lnTo>
                  <a:pt x="23813" y="1174750"/>
                </a:lnTo>
                <a:lnTo>
                  <a:pt x="23813" y="1174750"/>
                </a:lnTo>
                <a:cubicBezTo>
                  <a:pt x="10670" y="1174750"/>
                  <a:pt x="0" y="1164080"/>
                  <a:pt x="0" y="1150938"/>
                </a:cubicBezTo>
                <a:lnTo>
                  <a:pt x="0" y="23813"/>
                </a:lnTo>
                <a:cubicBezTo>
                  <a:pt x="0" y="10670"/>
                  <a:pt x="10670" y="0"/>
                  <a:pt x="23812" y="0"/>
                </a:cubicBezTo>
                <a:close/>
              </a:path>
            </a:pathLst>
          </a:custGeom>
          <a:solidFill>
            <a:srgbClr val="C9A36A"/>
          </a:solidFill>
          <a:ln/>
        </p:spPr>
        <p:txBody>
          <a:bodyPr/>
          <a:p/>
        </p:txBody>
      </p:sp>
      <p:sp>
        <p:nvSpPr>
          <p:cNvPr id="9" name="Text 6"/>
          <p:cNvSpPr/>
          <p:nvPr/>
        </p:nvSpPr>
        <p:spPr>
          <a:xfrm>
            <a:off x="468313" y="5531631"/>
            <a:ext cx="4889500" cy="158750"/>
          </a:xfrm>
          <a:prstGeom prst="rect">
            <a:avLst/>
          </a:prstGeom>
          <a:noFill/>
          <a:ln/>
        </p:spPr>
        <p:txBody>
          <a:bodyPr wrap="square" lIns="0" tIns="0" rIns="0" bIns="0" rtlCol="0" anchor="ctr"/>
          <a:lstStyle/>
          <a:p>
            <a:pPr>
              <a:lnSpc>
                <a:spcPct val="120000"/>
              </a:lnSpc>
            </a:pPr>
            <a:r>
              <a:rPr lang="en-US" sz="875" b="1" dirty="0">
                <a:solidFill>
                  <a:srgbClr val="800080"/>
                </a:solidFill>
                <a:latin typeface="Quattrocento Sans" pitchFamily="34" charset="0"/>
                <a:ea typeface="Quattrocento Sans" pitchFamily="34" charset="-122"/>
                <a:cs typeface="Quattrocento Sans" pitchFamily="34" charset="-120"/>
              </a:rPr>
              <a:t>Painting Details</a:t>
            </a:r>
            <a:endParaRPr lang="en-US" sz="1600" dirty="0"/>
          </a:p>
        </p:txBody>
      </p:sp>
      <p:sp>
        <p:nvSpPr>
          <p:cNvPr id="10" name="Text 7"/>
          <p:cNvSpPr/>
          <p:nvPr/>
        </p:nvSpPr>
        <p:spPr>
          <a:xfrm>
            <a:off x="468313" y="5753881"/>
            <a:ext cx="2444750" cy="158750"/>
          </a:xfrm>
          <a:prstGeom prst="rect">
            <a:avLst/>
          </a:prstGeom>
          <a:noFill/>
          <a:ln/>
        </p:spPr>
        <p:txBody>
          <a:bodyPr wrap="square" lIns="0" tIns="0" rIns="0" bIns="0" rtlCol="0" anchor="ctr"/>
          <a:lstStyle/>
          <a:p>
            <a:pPr>
              <a:lnSpc>
                <a:spcPct val="120000"/>
              </a:lnSpc>
            </a:pPr>
            <a:r>
              <a:rPr lang="en-US" sz="875" dirty="0" b="1">
                <a:solidFill>
                  <a:srgbClr val="800080"/>
                </a:solidFill>
                <a:latin typeface="Quattrocento Sans" pitchFamily="34" charset="0"/>
                <a:ea typeface="Quattrocento Sans" pitchFamily="34" charset="-122"/>
                <a:cs typeface="Quattrocento Sans" pitchFamily="34" charset="-120"/>
              </a:rPr>
              <a:t>Year</a:t>
            </a:r>
            <a:endParaRPr lang="en-US" sz="1600" dirty="0"/>
          </a:p>
        </p:txBody>
      </p:sp>
      <p:sp>
        <p:nvSpPr>
          <p:cNvPr id="11" name="Text 8"/>
          <p:cNvSpPr/>
          <p:nvPr/>
        </p:nvSpPr>
        <p:spPr>
          <a:xfrm>
            <a:off x="468313" y="5912631"/>
            <a:ext cx="2444750" cy="158750"/>
          </a:xfrm>
          <a:prstGeom prst="rect">
            <a:avLst/>
          </a:prstGeom>
          <a:noFill/>
          <a:ln/>
        </p:spPr>
        <p:txBody>
          <a:bodyPr wrap="square" lIns="0" tIns="0" rIns="0" bIns="0" rtlCol="0" anchor="ctr"/>
          <a:lstStyle/>
          <a:p>
            <a:pPr>
              <a:lnSpc>
                <a:spcPct val="120000"/>
              </a:lnSpc>
            </a:pPr>
            <a:r>
              <a:rPr lang="en-US" sz="875" b="1" dirty="0">
                <a:solidFill>
                  <a:srgbClr val="800080"/>
                </a:solidFill>
                <a:latin typeface="Quattrocento Sans" pitchFamily="34" charset="0"/>
                <a:ea typeface="Quattrocento Sans" pitchFamily="34" charset="-122"/>
                <a:cs typeface="Quattrocento Sans" pitchFamily="34" charset="-120"/>
              </a:rPr>
              <a:t>June 1889</a:t>
            </a:r>
            <a:endParaRPr lang="en-US" sz="1600" dirty="0"/>
          </a:p>
        </p:txBody>
      </p:sp>
      <p:sp>
        <p:nvSpPr>
          <p:cNvPr id="12" name="Text 9"/>
          <p:cNvSpPr/>
          <p:nvPr/>
        </p:nvSpPr>
        <p:spPr>
          <a:xfrm>
            <a:off x="2918582" y="5753881"/>
            <a:ext cx="2444750" cy="158750"/>
          </a:xfrm>
          <a:prstGeom prst="rect">
            <a:avLst/>
          </a:prstGeom>
          <a:noFill/>
          <a:ln/>
        </p:spPr>
        <p:txBody>
          <a:bodyPr wrap="square" lIns="0" tIns="0" rIns="0" bIns="0" rtlCol="0" anchor="ctr"/>
          <a:lstStyle/>
          <a:p>
            <a:pPr>
              <a:lnSpc>
                <a:spcPct val="120000"/>
              </a:lnSpc>
            </a:pPr>
            <a:r>
              <a:rPr lang="en-US" sz="875" dirty="0" b="1">
                <a:solidFill>
                  <a:srgbClr val="800080"/>
                </a:solidFill>
                <a:latin typeface="Quattrocento Sans" pitchFamily="34" charset="0"/>
                <a:ea typeface="Quattrocento Sans" pitchFamily="34" charset="-122"/>
                <a:cs typeface="Quattrocento Sans" pitchFamily="34" charset="-120"/>
              </a:rPr>
              <a:t>Medium</a:t>
            </a:r>
            <a:endParaRPr lang="en-US" sz="1600" dirty="0"/>
          </a:p>
        </p:txBody>
      </p:sp>
      <p:sp>
        <p:nvSpPr>
          <p:cNvPr id="13" name="Text 10"/>
          <p:cNvSpPr/>
          <p:nvPr/>
        </p:nvSpPr>
        <p:spPr>
          <a:xfrm>
            <a:off x="2918582" y="5912631"/>
            <a:ext cx="2444750" cy="158750"/>
          </a:xfrm>
          <a:prstGeom prst="rect">
            <a:avLst/>
          </a:prstGeom>
          <a:noFill/>
          <a:ln/>
        </p:spPr>
        <p:txBody>
          <a:bodyPr wrap="square" lIns="0" tIns="0" rIns="0" bIns="0" rtlCol="0" anchor="ctr"/>
          <a:lstStyle/>
          <a:p>
            <a:pPr>
              <a:lnSpc>
                <a:spcPct val="120000"/>
              </a:lnSpc>
            </a:pPr>
            <a:r>
              <a:rPr lang="en-US" sz="875" b="1" dirty="0">
                <a:solidFill>
                  <a:srgbClr val="800080"/>
                </a:solidFill>
                <a:latin typeface="Quattrocento Sans" pitchFamily="34" charset="0"/>
                <a:ea typeface="Quattrocento Sans" pitchFamily="34" charset="-122"/>
                <a:cs typeface="Quattrocento Sans" pitchFamily="34" charset="-120"/>
              </a:rPr>
              <a:t>Oil on canvas</a:t>
            </a:r>
            <a:endParaRPr lang="en-US" sz="1600" dirty="0"/>
          </a:p>
        </p:txBody>
      </p:sp>
      <p:sp>
        <p:nvSpPr>
          <p:cNvPr id="14" name="Text 11"/>
          <p:cNvSpPr/>
          <p:nvPr/>
        </p:nvSpPr>
        <p:spPr>
          <a:xfrm>
            <a:off x="468313" y="6134881"/>
            <a:ext cx="2444750" cy="158750"/>
          </a:xfrm>
          <a:prstGeom prst="rect">
            <a:avLst/>
          </a:prstGeom>
          <a:noFill/>
          <a:ln/>
        </p:spPr>
        <p:txBody>
          <a:bodyPr wrap="square" lIns="0" tIns="0" rIns="0" bIns="0" rtlCol="0" anchor="ctr"/>
          <a:lstStyle/>
          <a:p>
            <a:pPr>
              <a:lnSpc>
                <a:spcPct val="120000"/>
              </a:lnSpc>
            </a:pPr>
            <a:r>
              <a:rPr lang="en-US" sz="875" dirty="0" b="1">
                <a:solidFill>
                  <a:srgbClr val="800080"/>
                </a:solidFill>
                <a:latin typeface="Quattrocento Sans" pitchFamily="34" charset="0"/>
                <a:ea typeface="Quattrocento Sans" pitchFamily="34" charset="-122"/>
                <a:cs typeface="Quattrocento Sans" pitchFamily="34" charset="-120"/>
              </a:rPr>
              <a:t>Dimensions</a:t>
            </a:r>
            <a:endParaRPr lang="en-US" sz="1600" dirty="0"/>
          </a:p>
        </p:txBody>
      </p:sp>
      <p:sp>
        <p:nvSpPr>
          <p:cNvPr id="15" name="Text 12"/>
          <p:cNvSpPr/>
          <p:nvPr/>
        </p:nvSpPr>
        <p:spPr>
          <a:xfrm>
            <a:off x="468313" y="6293631"/>
            <a:ext cx="2444750" cy="158750"/>
          </a:xfrm>
          <a:prstGeom prst="rect">
            <a:avLst/>
          </a:prstGeom>
          <a:noFill/>
          <a:ln/>
        </p:spPr>
        <p:txBody>
          <a:bodyPr wrap="square" lIns="0" tIns="0" rIns="0" bIns="0" rtlCol="0" anchor="ctr"/>
          <a:lstStyle/>
          <a:p>
            <a:pPr>
              <a:lnSpc>
                <a:spcPct val="120000"/>
              </a:lnSpc>
            </a:pPr>
            <a:r>
              <a:rPr lang="en-US" sz="875" b="1" dirty="0">
                <a:solidFill>
                  <a:srgbClr val="800080"/>
                </a:solidFill>
                <a:latin typeface="Quattrocento Sans" pitchFamily="34" charset="0"/>
                <a:ea typeface="Quattrocento Sans" pitchFamily="34" charset="-122"/>
                <a:cs typeface="Quattrocento Sans" pitchFamily="34" charset="-120"/>
              </a:rPr>
              <a:t>73.7 × 92.1 cm</a:t>
            </a:r>
            <a:endParaRPr lang="en-US" sz="1600" dirty="0"/>
          </a:p>
        </p:txBody>
      </p:sp>
      <p:sp>
        <p:nvSpPr>
          <p:cNvPr id="16" name="Text 13"/>
          <p:cNvSpPr/>
          <p:nvPr/>
        </p:nvSpPr>
        <p:spPr>
          <a:xfrm>
            <a:off x="2918582" y="6134881"/>
            <a:ext cx="2444750" cy="158750"/>
          </a:xfrm>
          <a:prstGeom prst="rect">
            <a:avLst/>
          </a:prstGeom>
          <a:noFill/>
          <a:ln/>
        </p:spPr>
        <p:txBody>
          <a:bodyPr wrap="square" lIns="0" tIns="0" rIns="0" bIns="0" rtlCol="0" anchor="ctr"/>
          <a:lstStyle/>
          <a:p>
            <a:pPr>
              <a:lnSpc>
                <a:spcPct val="120000"/>
              </a:lnSpc>
            </a:pPr>
            <a:r>
              <a:rPr lang="en-US" sz="875" dirty="0" b="1">
                <a:solidFill>
                  <a:srgbClr val="800080"/>
                </a:solidFill>
                <a:latin typeface="Quattrocento Sans" pitchFamily="34" charset="0"/>
                <a:ea typeface="Quattrocento Sans" pitchFamily="34" charset="-122"/>
                <a:cs typeface="Quattrocento Sans" pitchFamily="34" charset="-120"/>
              </a:rPr>
              <a:t>Location</a:t>
            </a:r>
            <a:endParaRPr lang="en-US" sz="1600" dirty="0"/>
          </a:p>
        </p:txBody>
      </p:sp>
      <p:sp>
        <p:nvSpPr>
          <p:cNvPr id="17" name="Text 14"/>
          <p:cNvSpPr/>
          <p:nvPr/>
        </p:nvSpPr>
        <p:spPr>
          <a:xfrm>
            <a:off x="2918582" y="6293631"/>
            <a:ext cx="2444750" cy="158750"/>
          </a:xfrm>
          <a:prstGeom prst="rect">
            <a:avLst/>
          </a:prstGeom>
          <a:noFill/>
          <a:ln/>
        </p:spPr>
        <p:txBody>
          <a:bodyPr wrap="square" lIns="0" tIns="0" rIns="0" bIns="0" rtlCol="0" anchor="ctr"/>
          <a:lstStyle/>
          <a:p>
            <a:pPr>
              <a:lnSpc>
                <a:spcPct val="120000"/>
              </a:lnSpc>
            </a:pPr>
            <a:r>
              <a:rPr lang="en-US" sz="875" b="1" dirty="0">
                <a:solidFill>
                  <a:srgbClr val="800080"/>
                </a:solidFill>
                <a:latin typeface="Quattrocento Sans" pitchFamily="34" charset="0"/>
                <a:ea typeface="Quattrocento Sans" pitchFamily="34" charset="-122"/>
                <a:cs typeface="Quattrocento Sans" pitchFamily="34" charset="-120"/>
              </a:rPr>
              <a:t>MoMA, New York</a:t>
            </a:r>
            <a:endParaRPr lang="en-US" sz="1600" dirty="0"/>
          </a:p>
        </p:txBody>
      </p:sp>
      <p:sp>
        <p:nvSpPr>
          <p:cNvPr id="18" name="Shape 15"/>
          <p:cNvSpPr/>
          <p:nvPr/>
        </p:nvSpPr>
        <p:spPr>
          <a:xfrm>
            <a:off x="5634819" y="1222375"/>
            <a:ext cx="6242844" cy="2000250"/>
          </a:xfrm>
          <a:custGeom>
            <a:avLst/>
            <a:gdLst/>
            <a:ahLst/>
            <a:cxnLst/>
            <a:rect l="l" t="t" r="r" b="b"/>
            <a:pathLst>
              <a:path w="6242844" h="2000250">
                <a:moveTo>
                  <a:pt x="23812" y="0"/>
                </a:moveTo>
                <a:lnTo>
                  <a:pt x="6179336" y="0"/>
                </a:lnTo>
                <a:cubicBezTo>
                  <a:pt x="6214410" y="0"/>
                  <a:pt x="6242844" y="28433"/>
                  <a:pt x="6242844" y="63508"/>
                </a:cubicBezTo>
                <a:lnTo>
                  <a:pt x="6242844" y="1936742"/>
                </a:lnTo>
                <a:cubicBezTo>
                  <a:pt x="6242844" y="1971817"/>
                  <a:pt x="6214410" y="2000250"/>
                  <a:pt x="6179336" y="2000250"/>
                </a:cubicBezTo>
                <a:lnTo>
                  <a:pt x="23812" y="2000250"/>
                </a:lnTo>
                <a:cubicBezTo>
                  <a:pt x="10661" y="2000250"/>
                  <a:pt x="0" y="1989589"/>
                  <a:pt x="0" y="1976438"/>
                </a:cubicBezTo>
                <a:lnTo>
                  <a:pt x="0" y="23812"/>
                </a:lnTo>
                <a:cubicBezTo>
                  <a:pt x="0" y="10670"/>
                  <a:pt x="10670" y="0"/>
                  <a:pt x="23812" y="0"/>
                </a:cubicBezTo>
                <a:close/>
              </a:path>
            </a:pathLst>
          </a:custGeom>
          <a:solidFill>
            <a:srgbClr val="1A1A1A"/>
          </a:solidFill>
          <a:ln/>
        </p:spPr>
        <p:txBody>
          <a:bodyPr/>
          <a:p/>
        </p:txBody>
      </p:sp>
      <p:sp>
        <p:nvSpPr>
          <p:cNvPr id="19" name="Shape 16"/>
          <p:cNvSpPr/>
          <p:nvPr/>
        </p:nvSpPr>
        <p:spPr>
          <a:xfrm>
            <a:off x="5634819" y="1222375"/>
            <a:ext cx="23813" cy="2000250"/>
          </a:xfrm>
          <a:custGeom>
            <a:avLst/>
            <a:gdLst/>
            <a:ahLst/>
            <a:cxnLst/>
            <a:rect l="l" t="t" r="r" b="b"/>
            <a:pathLst>
              <a:path w="23813" h="2000250">
                <a:moveTo>
                  <a:pt x="23813" y="0"/>
                </a:moveTo>
                <a:lnTo>
                  <a:pt x="23813" y="0"/>
                </a:lnTo>
                <a:lnTo>
                  <a:pt x="23813" y="2000250"/>
                </a:lnTo>
                <a:lnTo>
                  <a:pt x="23813" y="2000250"/>
                </a:lnTo>
                <a:cubicBezTo>
                  <a:pt x="10670" y="2000250"/>
                  <a:pt x="0" y="1989580"/>
                  <a:pt x="0" y="1976438"/>
                </a:cubicBezTo>
                <a:lnTo>
                  <a:pt x="0" y="23813"/>
                </a:lnTo>
                <a:cubicBezTo>
                  <a:pt x="0" y="10670"/>
                  <a:pt x="10670" y="0"/>
                  <a:pt x="23812" y="0"/>
                </a:cubicBezTo>
                <a:close/>
              </a:path>
            </a:pathLst>
          </a:custGeom>
          <a:solidFill>
            <a:srgbClr val="C9A36A"/>
          </a:solidFill>
          <a:ln/>
        </p:spPr>
        <p:txBody>
          <a:bodyPr/>
          <a:p/>
        </p:txBody>
      </p:sp>
      <p:sp>
        <p:nvSpPr>
          <p:cNvPr id="20" name="Text 17"/>
          <p:cNvSpPr/>
          <p:nvPr/>
        </p:nvSpPr>
        <p:spPr>
          <a:xfrm>
            <a:off x="5805475" y="1381125"/>
            <a:ext cx="6008688" cy="254000"/>
          </a:xfrm>
          <a:prstGeom prst="rect">
            <a:avLst/>
          </a:prstGeom>
          <a:noFill/>
          <a:ln/>
        </p:spPr>
        <p:txBody>
          <a:bodyPr wrap="square" lIns="0" tIns="0" rIns="0" bIns="0" rtlCol="0" anchor="ctr"/>
          <a:lstStyle/>
          <a:p>
            <a:pPr>
              <a:lnSpc>
                <a:spcPct val="110000"/>
              </a:lnSpc>
            </a:pPr>
            <a:r>
              <a:rPr lang="en-US" sz="1500" b="1" dirty="0">
                <a:solidFill>
                  <a:srgbClr val="800080"/>
                </a:solidFill>
                <a:latin typeface="Oranienbaum" pitchFamily="34" charset="0"/>
                <a:ea typeface="Oranienbaum" pitchFamily="34" charset="-122"/>
                <a:cs typeface="Oranienbaum" pitchFamily="34" charset="-120"/>
              </a:rPr>
              <a:t>A View from the Asylum</a:t>
            </a:r>
            <a:endParaRPr lang="en-US" sz="1600" dirty="0"/>
          </a:p>
        </p:txBody>
      </p:sp>
      <p:sp>
        <p:nvSpPr>
          <p:cNvPr id="21" name="Text 18"/>
          <p:cNvSpPr/>
          <p:nvPr/>
        </p:nvSpPr>
        <p:spPr>
          <a:xfrm>
            <a:off x="5805475" y="1730375"/>
            <a:ext cx="5976938" cy="619125"/>
          </a:xfrm>
          <a:prstGeom prst="rect">
            <a:avLst/>
          </a:prstGeom>
          <a:noFill/>
          <a:ln/>
        </p:spPr>
        <p:txBody>
          <a:bodyPr wrap="square" lIns="0" tIns="0" rIns="0" bIns="0" rtlCol="0" anchor="ctr"/>
          <a:lstStyle/>
          <a:p>
            <a:pPr>
              <a:lnSpc>
                <a:spcPct val="140000"/>
              </a:lnSpc>
            </a:pPr>
            <a:r>
              <a:rPr lang="en-US" sz="1000" dirty="0" b="1">
                <a:solidFill>
                  <a:srgbClr val="800080"/>
                </a:solidFill>
                <a:latin typeface="Quattrocento Sans" pitchFamily="34" charset="0"/>
                <a:ea typeface="Quattrocento Sans" pitchFamily="34" charset="-122"/>
                <a:cs typeface="Quattrocento Sans" pitchFamily="34" charset="-120"/>
              </a:rPr>
              <a:t>Painted during his stay at </a:t>
            </a:r>
            <a:pPr>
              <a:lnSpc>
                <a:spcPct val="140000"/>
              </a:lnSpc>
            </a:pPr>
            <a:r>
              <a:rPr lang="en-US" sz="1000" dirty="0" b="1">
                <a:solidFill>
                  <a:srgbClr val="800080"/>
                </a:solidFill>
                <a:latin typeface="Quattrocento Sans" pitchFamily="34" charset="0"/>
                <a:ea typeface="Quattrocento Sans" pitchFamily="34" charset="-122"/>
                <a:cs typeface="Quattrocento Sans" pitchFamily="34" charset="-120"/>
              </a:rPr>
              <a:t>Saint-Paul-de-Mausole asylum</a:t>
            </a:r>
            <a:pPr>
              <a:lnSpc>
                <a:spcPct val="140000"/>
              </a:lnSpc>
            </a:pPr>
            <a:r>
              <a:rPr lang="en-US" sz="1000" dirty="0" b="1">
                <a:solidFill>
                  <a:srgbClr val="800080"/>
                </a:solidFill>
                <a:latin typeface="Quattrocento Sans" pitchFamily="34" charset="0"/>
                <a:ea typeface="Quattrocento Sans" pitchFamily="34" charset="-122"/>
                <a:cs typeface="Quattrocento Sans" pitchFamily="34" charset="-120"/>
              </a:rPr>
              <a:t> in Saint-Rémy-de-Provence, "The Starry Night" depicts the view from his bedroom window just before sunrise. However, Van Gogh painted this masterpiece from memory during the day, transforming observation into visionary experience.</a:t>
            </a:r>
            <a:endParaRPr lang="en-US" sz="1600" dirty="0"/>
          </a:p>
        </p:txBody>
      </p:sp>
      <p:sp>
        <p:nvSpPr>
          <p:cNvPr id="22" name="Text 19"/>
          <p:cNvSpPr/>
          <p:nvPr/>
        </p:nvSpPr>
        <p:spPr>
          <a:xfrm>
            <a:off x="5805475" y="2444750"/>
            <a:ext cx="5976938" cy="619125"/>
          </a:xfrm>
          <a:prstGeom prst="rect">
            <a:avLst/>
          </a:prstGeom>
          <a:noFill/>
          <a:ln/>
        </p:spPr>
        <p:txBody>
          <a:bodyPr wrap="square" lIns="0" tIns="0" rIns="0" bIns="0" rtlCol="0" anchor="ctr"/>
          <a:lstStyle/>
          <a:p>
            <a:pPr>
              <a:lnSpc>
                <a:spcPct val="140000"/>
              </a:lnSpc>
            </a:pPr>
            <a:r>
              <a:rPr lang="en-US" sz="1000" dirty="0" b="1">
                <a:solidFill>
                  <a:srgbClr val="800080"/>
                </a:solidFill>
                <a:latin typeface="Quattrocento Sans" pitchFamily="34" charset="0"/>
                <a:ea typeface="Quattrocento Sans" pitchFamily="34" charset="-122"/>
                <a:cs typeface="Quattrocento Sans" pitchFamily="34" charset="-120"/>
              </a:rPr>
              <a:t>The painting represents both his </a:t>
            </a:r>
            <a:pPr>
              <a:lnSpc>
                <a:spcPct val="140000"/>
              </a:lnSpc>
            </a:pPr>
            <a:r>
              <a:rPr lang="en-US" sz="1000" dirty="0" b="1">
                <a:solidFill>
                  <a:srgbClr val="800080"/>
                </a:solidFill>
                <a:latin typeface="Quattrocento Sans" pitchFamily="34" charset="0"/>
                <a:ea typeface="Quattrocento Sans" pitchFamily="34" charset="-122"/>
                <a:cs typeface="Quattrocento Sans" pitchFamily="34" charset="-120"/>
              </a:rPr>
              <a:t>inner turmoil</a:t>
            </a:r>
            <a:pPr>
              <a:lnSpc>
                <a:spcPct val="140000"/>
              </a:lnSpc>
            </a:pPr>
            <a:r>
              <a:rPr lang="en-US" sz="1000" dirty="0" b="1">
                <a:solidFill>
                  <a:srgbClr val="800080"/>
                </a:solidFill>
                <a:latin typeface="Quattrocento Sans" pitchFamily="34" charset="0"/>
                <a:ea typeface="Quattrocento Sans" pitchFamily="34" charset="-122"/>
                <a:cs typeface="Quattrocento Sans" pitchFamily="34" charset="-120"/>
              </a:rPr>
              <a:t> and his </a:t>
            </a:r>
            <a:pPr>
              <a:lnSpc>
                <a:spcPct val="140000"/>
              </a:lnSpc>
            </a:pPr>
            <a:r>
              <a:rPr lang="en-US" sz="1000" dirty="0" b="1">
                <a:solidFill>
                  <a:srgbClr val="800080"/>
                </a:solidFill>
                <a:latin typeface="Quattrocento Sans" pitchFamily="34" charset="0"/>
                <a:ea typeface="Quattrocento Sans" pitchFamily="34" charset="-122"/>
                <a:cs typeface="Quattrocento Sans" pitchFamily="34" charset="-120"/>
              </a:rPr>
              <a:t>transcendent hope</a:t>
            </a:r>
            <a:pPr>
              <a:lnSpc>
                <a:spcPct val="140000"/>
              </a:lnSpc>
            </a:pPr>
            <a:r>
              <a:rPr lang="en-US" sz="1000" dirty="0" b="1">
                <a:solidFill>
                  <a:srgbClr val="800080"/>
                </a:solidFill>
                <a:latin typeface="Quattrocento Sans" pitchFamily="34" charset="0"/>
                <a:ea typeface="Quattrocento Sans" pitchFamily="34" charset="-122"/>
                <a:cs typeface="Quattrocento Sans" pitchFamily="34" charset="-120"/>
              </a:rPr>
              <a:t>—the swirling chaos of the sky contrasted with the peaceful village below, suggesting that even in madness, beauty and meaning can be found.</a:t>
            </a:r>
            <a:endParaRPr lang="en-US" sz="1600" dirty="0"/>
          </a:p>
        </p:txBody>
      </p:sp>
      <p:sp>
        <p:nvSpPr>
          <p:cNvPr id="23" name="Shape 20"/>
          <p:cNvSpPr/>
          <p:nvPr/>
        </p:nvSpPr>
        <p:spPr>
          <a:xfrm>
            <a:off x="5634819" y="3349625"/>
            <a:ext cx="6242844" cy="2079625"/>
          </a:xfrm>
          <a:custGeom>
            <a:avLst/>
            <a:gdLst/>
            <a:ahLst/>
            <a:cxnLst/>
            <a:rect l="l" t="t" r="r" b="b"/>
            <a:pathLst>
              <a:path w="6242844" h="2079625">
                <a:moveTo>
                  <a:pt x="23813" y="0"/>
                </a:moveTo>
                <a:lnTo>
                  <a:pt x="6179353" y="0"/>
                </a:lnTo>
                <a:cubicBezTo>
                  <a:pt x="6214418" y="0"/>
                  <a:pt x="6242844" y="28426"/>
                  <a:pt x="6242844" y="63491"/>
                </a:cubicBezTo>
                <a:lnTo>
                  <a:pt x="6242844" y="2016134"/>
                </a:lnTo>
                <a:cubicBezTo>
                  <a:pt x="6242844" y="2051199"/>
                  <a:pt x="6214418" y="2079625"/>
                  <a:pt x="6179353" y="2079625"/>
                </a:cubicBezTo>
                <a:lnTo>
                  <a:pt x="23813" y="2079625"/>
                </a:lnTo>
                <a:cubicBezTo>
                  <a:pt x="10670" y="2079625"/>
                  <a:pt x="0" y="2068955"/>
                  <a:pt x="0" y="2055813"/>
                </a:cubicBezTo>
                <a:lnTo>
                  <a:pt x="0" y="23813"/>
                </a:lnTo>
                <a:cubicBezTo>
                  <a:pt x="0" y="10670"/>
                  <a:pt x="10670" y="0"/>
                  <a:pt x="23812" y="0"/>
                </a:cubicBezTo>
                <a:close/>
              </a:path>
            </a:pathLst>
          </a:custGeom>
          <a:solidFill>
            <a:srgbClr val="1A1A1A"/>
          </a:solidFill>
          <a:ln/>
        </p:spPr>
        <p:txBody>
          <a:bodyPr/>
          <a:p/>
        </p:txBody>
      </p:sp>
      <p:sp>
        <p:nvSpPr>
          <p:cNvPr id="24" name="Shape 21"/>
          <p:cNvSpPr/>
          <p:nvPr/>
        </p:nvSpPr>
        <p:spPr>
          <a:xfrm>
            <a:off x="5634819" y="3349625"/>
            <a:ext cx="23813" cy="2079625"/>
          </a:xfrm>
          <a:custGeom>
            <a:avLst/>
            <a:gdLst/>
            <a:ahLst/>
            <a:cxnLst/>
            <a:rect l="l" t="t" r="r" b="b"/>
            <a:pathLst>
              <a:path w="23813" h="2079625">
                <a:moveTo>
                  <a:pt x="23813" y="0"/>
                </a:moveTo>
                <a:lnTo>
                  <a:pt x="23813" y="0"/>
                </a:lnTo>
                <a:lnTo>
                  <a:pt x="23813" y="2079625"/>
                </a:lnTo>
                <a:lnTo>
                  <a:pt x="23813" y="2079625"/>
                </a:lnTo>
                <a:cubicBezTo>
                  <a:pt x="10670" y="2079625"/>
                  <a:pt x="0" y="2068955"/>
                  <a:pt x="0" y="2055813"/>
                </a:cubicBezTo>
                <a:lnTo>
                  <a:pt x="0" y="23813"/>
                </a:lnTo>
                <a:cubicBezTo>
                  <a:pt x="0" y="10670"/>
                  <a:pt x="10670" y="0"/>
                  <a:pt x="23812" y="0"/>
                </a:cubicBezTo>
                <a:close/>
              </a:path>
            </a:pathLst>
          </a:custGeom>
          <a:solidFill>
            <a:srgbClr val="C9A36A"/>
          </a:solidFill>
          <a:ln/>
        </p:spPr>
        <p:txBody>
          <a:bodyPr/>
          <a:p/>
        </p:txBody>
      </p:sp>
      <p:sp>
        <p:nvSpPr>
          <p:cNvPr id="25" name="Text 22"/>
          <p:cNvSpPr/>
          <p:nvPr/>
        </p:nvSpPr>
        <p:spPr>
          <a:xfrm>
            <a:off x="5805475" y="3508375"/>
            <a:ext cx="6008688" cy="254000"/>
          </a:xfrm>
          <a:prstGeom prst="rect">
            <a:avLst/>
          </a:prstGeom>
          <a:noFill/>
          <a:ln/>
        </p:spPr>
        <p:txBody>
          <a:bodyPr wrap="square" lIns="0" tIns="0" rIns="0" bIns="0" rtlCol="0" anchor="ctr"/>
          <a:lstStyle/>
          <a:p>
            <a:pPr>
              <a:lnSpc>
                <a:spcPct val="110000"/>
              </a:lnSpc>
            </a:pPr>
            <a:r>
              <a:rPr lang="en-US" sz="1500" b="1" dirty="0">
                <a:solidFill>
                  <a:srgbClr val="800080"/>
                </a:solidFill>
                <a:latin typeface="Oranienbaum" pitchFamily="34" charset="0"/>
                <a:ea typeface="Oranienbaum" pitchFamily="34" charset="-122"/>
                <a:cs typeface="Oranienbaum" pitchFamily="34" charset="-120"/>
              </a:rPr>
              <a:t>Scientific Revelation</a:t>
            </a:r>
            <a:endParaRPr lang="en-US" sz="1600" dirty="0"/>
          </a:p>
        </p:txBody>
      </p:sp>
      <p:sp>
        <p:nvSpPr>
          <p:cNvPr id="26" name="Text 23"/>
          <p:cNvSpPr/>
          <p:nvPr/>
        </p:nvSpPr>
        <p:spPr>
          <a:xfrm>
            <a:off x="5805475" y="3857625"/>
            <a:ext cx="5976938" cy="619125"/>
          </a:xfrm>
          <a:prstGeom prst="rect">
            <a:avLst/>
          </a:prstGeom>
          <a:noFill/>
          <a:ln/>
        </p:spPr>
        <p:txBody>
          <a:bodyPr wrap="square" lIns="0" tIns="0" rIns="0" bIns="0" rtlCol="0" anchor="ctr"/>
          <a:lstStyle/>
          <a:p>
            <a:pPr>
              <a:lnSpc>
                <a:spcPct val="140000"/>
              </a:lnSpc>
            </a:pPr>
            <a:r>
              <a:rPr lang="en-US" sz="1000" dirty="0" b="1">
                <a:solidFill>
                  <a:srgbClr val="800080"/>
                </a:solidFill>
                <a:latin typeface="Quattrocento Sans" pitchFamily="34" charset="0"/>
                <a:ea typeface="Quattrocento Sans" pitchFamily="34" charset="-122"/>
                <a:cs typeface="Quattrocento Sans" pitchFamily="34" charset="-120"/>
              </a:rPr>
              <a:t>In 2006, scientists analyzing the painting's swirling patterns discovered something remarkable: </a:t>
            </a:r>
            <a:pPr>
              <a:lnSpc>
                <a:spcPct val="140000"/>
              </a:lnSpc>
            </a:pPr>
            <a:r>
              <a:rPr lang="en-US" sz="1000" dirty="0" b="1">
                <a:solidFill>
                  <a:srgbClr val="800080"/>
                </a:solidFill>
                <a:latin typeface="Quattrocento Sans" pitchFamily="34" charset="0"/>
                <a:ea typeface="Quattrocento Sans" pitchFamily="34" charset="-122"/>
                <a:cs typeface="Quattrocento Sans" pitchFamily="34" charset="-120"/>
              </a:rPr>
              <a:t>Van Gogh's turbulent brushstrokes accurately depict the physics of fluid turbulence</a:t>
            </a:r>
            <a:pPr>
              <a:lnSpc>
                <a:spcPct val="140000"/>
              </a:lnSpc>
            </a:pPr>
            <a:r>
              <a:rPr lang="en-US" sz="1000" dirty="0" b="1">
                <a:solidFill>
                  <a:srgbClr val="800080"/>
                </a:solidFill>
                <a:latin typeface="Quattrocento Sans" pitchFamily="34" charset="0"/>
                <a:ea typeface="Quattrocento Sans" pitchFamily="34" charset="-122"/>
                <a:cs typeface="Quattrocento Sans" pitchFamily="34" charset="-120"/>
              </a:rPr>
              <a:t>—mathematical patterns that scientists wouldn't fully understand until decades after his death.</a:t>
            </a:r>
            <a:endParaRPr lang="en-US" sz="1600" dirty="0"/>
          </a:p>
        </p:txBody>
      </p:sp>
      <p:sp>
        <p:nvSpPr>
          <p:cNvPr id="27" name="Shape 24"/>
          <p:cNvSpPr/>
          <p:nvPr/>
        </p:nvSpPr>
        <p:spPr>
          <a:xfrm>
            <a:off x="5805475" y="4572000"/>
            <a:ext cx="5913438" cy="698500"/>
          </a:xfrm>
          <a:custGeom>
            <a:avLst/>
            <a:gdLst/>
            <a:ahLst/>
            <a:cxnLst/>
            <a:rect l="l" t="t" r="r" b="b"/>
            <a:pathLst>
              <a:path w="5913438" h="698500">
                <a:moveTo>
                  <a:pt x="31747" y="0"/>
                </a:moveTo>
                <a:lnTo>
                  <a:pt x="5881691" y="0"/>
                </a:lnTo>
                <a:cubicBezTo>
                  <a:pt x="5899224" y="0"/>
                  <a:pt x="5913438" y="14214"/>
                  <a:pt x="5913438" y="31747"/>
                </a:cubicBezTo>
                <a:lnTo>
                  <a:pt x="5913438" y="666753"/>
                </a:lnTo>
                <a:cubicBezTo>
                  <a:pt x="5913437" y="684286"/>
                  <a:pt x="5899224" y="698500"/>
                  <a:pt x="5881691" y="698500"/>
                </a:cubicBezTo>
                <a:lnTo>
                  <a:pt x="31747" y="698500"/>
                </a:lnTo>
                <a:cubicBezTo>
                  <a:pt x="14214" y="698500"/>
                  <a:pt x="0" y="684286"/>
                  <a:pt x="0" y="666753"/>
                </a:cubicBezTo>
                <a:lnTo>
                  <a:pt x="0" y="31747"/>
                </a:lnTo>
                <a:cubicBezTo>
                  <a:pt x="0" y="14225"/>
                  <a:pt x="14225" y="0"/>
                  <a:pt x="31747" y="0"/>
                </a:cubicBezTo>
                <a:close/>
              </a:path>
            </a:pathLst>
          </a:custGeom>
          <a:solidFill>
            <a:srgbClr val="2B2B2B"/>
          </a:solidFill>
          <a:ln/>
        </p:spPr>
        <p:txBody>
          <a:bodyPr/>
          <a:p/>
        </p:txBody>
      </p:sp>
      <p:sp>
        <p:nvSpPr>
          <p:cNvPr id="28" name="Text 25"/>
          <p:cNvSpPr/>
          <p:nvPr/>
        </p:nvSpPr>
        <p:spPr>
          <a:xfrm>
            <a:off x="5900725" y="4667250"/>
            <a:ext cx="5778500" cy="158750"/>
          </a:xfrm>
          <a:prstGeom prst="rect">
            <a:avLst/>
          </a:prstGeom>
          <a:noFill/>
          <a:ln/>
        </p:spPr>
        <p:txBody>
          <a:bodyPr wrap="square" lIns="0" tIns="0" rIns="0" bIns="0" rtlCol="0" anchor="ctr"/>
          <a:lstStyle/>
          <a:p>
            <a:pPr>
              <a:lnSpc>
                <a:spcPct val="120000"/>
              </a:lnSpc>
            </a:pPr>
            <a:r>
              <a:rPr lang="en-US" sz="875" b="1" dirty="0">
                <a:solidFill>
                  <a:srgbClr val="800080"/>
                </a:solidFill>
                <a:latin typeface="Quattrocento Sans" pitchFamily="34" charset="0"/>
                <a:ea typeface="Quattrocento Sans" pitchFamily="34" charset="-122"/>
                <a:cs typeface="Quattrocento Sans" pitchFamily="34" charset="-120"/>
              </a:rPr>
              <a:t>Key Insight:</a:t>
            </a:r>
            <a:endParaRPr lang="en-US" sz="1600" dirty="0"/>
          </a:p>
        </p:txBody>
      </p:sp>
      <p:sp>
        <p:nvSpPr>
          <p:cNvPr id="29" name="Text 26"/>
          <p:cNvSpPr/>
          <p:nvPr/>
        </p:nvSpPr>
        <p:spPr>
          <a:xfrm>
            <a:off x="5900725" y="4857750"/>
            <a:ext cx="5778500" cy="317500"/>
          </a:xfrm>
          <a:prstGeom prst="rect">
            <a:avLst/>
          </a:prstGeom>
          <a:noFill/>
          <a:ln/>
        </p:spPr>
        <p:txBody>
          <a:bodyPr wrap="square" lIns="0" tIns="0" rIns="0" bIns="0" rtlCol="0" anchor="ctr"/>
          <a:lstStyle/>
          <a:p>
            <a:pPr>
              <a:lnSpc>
                <a:spcPct val="120000"/>
              </a:lnSpc>
            </a:pPr>
            <a:r>
              <a:rPr lang="en-US" sz="875" dirty="0" b="1">
                <a:solidFill>
                  <a:srgbClr val="800080"/>
                </a:solidFill>
                <a:latin typeface="Quattrocento Sans" pitchFamily="34" charset="0"/>
                <a:ea typeface="Quattrocento Sans" pitchFamily="34" charset="-122"/>
                <a:cs typeface="Quattrocento Sans" pitchFamily="34" charset="-120"/>
              </a:rPr>
              <a:t>The spiral patterns in "The Starry Night" follow Kolmogorov's theory of turbulence, showing Van Gogh's intuitive grasp of natural phenomena that science would later formalize.</a:t>
            </a:r>
            <a:endParaRPr lang="en-US" sz="1600" dirty="0"/>
          </a:p>
        </p:txBody>
      </p:sp>
      <p:sp>
        <p:nvSpPr>
          <p:cNvPr id="30" name="Shape 27"/>
          <p:cNvSpPr/>
          <p:nvPr/>
        </p:nvSpPr>
        <p:spPr>
          <a:xfrm>
            <a:off x="5626881" y="5560219"/>
            <a:ext cx="6246813" cy="896938"/>
          </a:xfrm>
          <a:custGeom>
            <a:avLst/>
            <a:gdLst/>
            <a:ahLst/>
            <a:cxnLst/>
            <a:rect l="l" t="t" r="r" b="b"/>
            <a:pathLst>
              <a:path w="6246813" h="896938">
                <a:moveTo>
                  <a:pt x="63503" y="0"/>
                </a:moveTo>
                <a:lnTo>
                  <a:pt x="6183309" y="0"/>
                </a:lnTo>
                <a:cubicBezTo>
                  <a:pt x="6218381" y="0"/>
                  <a:pt x="6246812" y="28431"/>
                  <a:pt x="6246812" y="63503"/>
                </a:cubicBezTo>
                <a:lnTo>
                  <a:pt x="6246813" y="833434"/>
                </a:lnTo>
                <a:cubicBezTo>
                  <a:pt x="6246812" y="868506"/>
                  <a:pt x="6218381" y="896938"/>
                  <a:pt x="6183309" y="896938"/>
                </a:cubicBezTo>
                <a:lnTo>
                  <a:pt x="63503" y="896938"/>
                </a:lnTo>
                <a:cubicBezTo>
                  <a:pt x="28431" y="896938"/>
                  <a:pt x="0" y="868506"/>
                  <a:pt x="0" y="833434"/>
                </a:cubicBezTo>
                <a:lnTo>
                  <a:pt x="0" y="63503"/>
                </a:lnTo>
                <a:cubicBezTo>
                  <a:pt x="0" y="28431"/>
                  <a:pt x="28431" y="0"/>
                  <a:pt x="63503"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txBody>
          <a:bodyPr/>
          <a:p/>
        </p:txBody>
      </p:sp>
      <p:sp>
        <p:nvSpPr>
          <p:cNvPr id="31" name="Shape 28"/>
          <p:cNvSpPr/>
          <p:nvPr/>
        </p:nvSpPr>
        <p:spPr>
          <a:xfrm>
            <a:off x="5763803" y="5722938"/>
            <a:ext cx="138906" cy="158750"/>
          </a:xfrm>
          <a:custGeom>
            <a:avLst/>
            <a:gdLst/>
            <a:ahLst/>
            <a:cxnLst/>
            <a:rect l="l" t="t" r="r" b="b"/>
            <a:pathLst>
              <a:path w="138906" h="158750">
                <a:moveTo>
                  <a:pt x="0" y="66973"/>
                </a:moveTo>
                <a:cubicBezTo>
                  <a:pt x="0" y="46416"/>
                  <a:pt x="16650" y="29766"/>
                  <a:pt x="37207" y="29766"/>
                </a:cubicBezTo>
                <a:lnTo>
                  <a:pt x="39688" y="29766"/>
                </a:lnTo>
                <a:cubicBezTo>
                  <a:pt x="45176" y="29766"/>
                  <a:pt x="49609" y="34199"/>
                  <a:pt x="49609" y="39688"/>
                </a:cubicBezTo>
                <a:cubicBezTo>
                  <a:pt x="49609" y="45176"/>
                  <a:pt x="45176" y="49609"/>
                  <a:pt x="39688" y="49609"/>
                </a:cubicBezTo>
                <a:lnTo>
                  <a:pt x="37207" y="49609"/>
                </a:lnTo>
                <a:cubicBezTo>
                  <a:pt x="27626" y="49609"/>
                  <a:pt x="19844" y="57392"/>
                  <a:pt x="19844" y="66973"/>
                </a:cubicBezTo>
                <a:lnTo>
                  <a:pt x="19844" y="69453"/>
                </a:lnTo>
                <a:lnTo>
                  <a:pt x="39688" y="69453"/>
                </a:lnTo>
                <a:cubicBezTo>
                  <a:pt x="50633" y="69453"/>
                  <a:pt x="59531" y="78352"/>
                  <a:pt x="59531" y="89297"/>
                </a:cubicBezTo>
                <a:lnTo>
                  <a:pt x="59531" y="109141"/>
                </a:lnTo>
                <a:cubicBezTo>
                  <a:pt x="59531" y="120086"/>
                  <a:pt x="50633" y="128984"/>
                  <a:pt x="39688" y="128984"/>
                </a:cubicBezTo>
                <a:lnTo>
                  <a:pt x="19844" y="128984"/>
                </a:lnTo>
                <a:cubicBezTo>
                  <a:pt x="8899" y="128984"/>
                  <a:pt x="0" y="120086"/>
                  <a:pt x="0" y="109141"/>
                </a:cubicBezTo>
                <a:lnTo>
                  <a:pt x="0" y="66973"/>
                </a:lnTo>
                <a:close/>
                <a:moveTo>
                  <a:pt x="79375" y="66973"/>
                </a:moveTo>
                <a:cubicBezTo>
                  <a:pt x="79375" y="46416"/>
                  <a:pt x="96025" y="29766"/>
                  <a:pt x="116582" y="29766"/>
                </a:cubicBezTo>
                <a:lnTo>
                  <a:pt x="119062" y="29766"/>
                </a:lnTo>
                <a:cubicBezTo>
                  <a:pt x="124551" y="29766"/>
                  <a:pt x="128984" y="34199"/>
                  <a:pt x="128984" y="39688"/>
                </a:cubicBezTo>
                <a:cubicBezTo>
                  <a:pt x="128984" y="45176"/>
                  <a:pt x="124551" y="49609"/>
                  <a:pt x="119062" y="49609"/>
                </a:cubicBezTo>
                <a:lnTo>
                  <a:pt x="116582" y="49609"/>
                </a:lnTo>
                <a:cubicBezTo>
                  <a:pt x="107001" y="49609"/>
                  <a:pt x="99219" y="57392"/>
                  <a:pt x="99219" y="66973"/>
                </a:cubicBezTo>
                <a:lnTo>
                  <a:pt x="99219" y="69453"/>
                </a:lnTo>
                <a:lnTo>
                  <a:pt x="119062" y="69453"/>
                </a:lnTo>
                <a:cubicBezTo>
                  <a:pt x="130008" y="69453"/>
                  <a:pt x="138906" y="78352"/>
                  <a:pt x="138906" y="89297"/>
                </a:cubicBezTo>
                <a:lnTo>
                  <a:pt x="138906" y="109141"/>
                </a:lnTo>
                <a:cubicBezTo>
                  <a:pt x="138906" y="120086"/>
                  <a:pt x="130008" y="128984"/>
                  <a:pt x="119062" y="128984"/>
                </a:cubicBezTo>
                <a:lnTo>
                  <a:pt x="99219" y="128984"/>
                </a:lnTo>
                <a:cubicBezTo>
                  <a:pt x="88274" y="128984"/>
                  <a:pt x="79375" y="120086"/>
                  <a:pt x="79375" y="109141"/>
                </a:cubicBezTo>
                <a:lnTo>
                  <a:pt x="79375" y="66973"/>
                </a:lnTo>
                <a:close/>
              </a:path>
            </a:pathLst>
          </a:custGeom>
          <a:solidFill>
            <a:srgbClr val="C9A36A"/>
          </a:solidFill>
          <a:ln/>
        </p:spPr>
        <p:txBody>
          <a:bodyPr/>
          <a:p/>
        </p:txBody>
      </p:sp>
      <p:sp>
        <p:nvSpPr>
          <p:cNvPr id="32" name="Text 29"/>
          <p:cNvSpPr/>
          <p:nvPr/>
        </p:nvSpPr>
        <p:spPr>
          <a:xfrm>
            <a:off x="6002486" y="5691188"/>
            <a:ext cx="5802313" cy="412750"/>
          </a:xfrm>
          <a:prstGeom prst="rect">
            <a:avLst/>
          </a:prstGeom>
          <a:noFill/>
          <a:ln/>
        </p:spPr>
        <p:txBody>
          <a:bodyPr wrap="square" lIns="0" tIns="0" rIns="0" bIns="0" rtlCol="0" anchor="ctr"/>
          <a:lstStyle/>
          <a:p>
            <a:pPr>
              <a:lnSpc>
                <a:spcPct val="140000"/>
              </a:lnSpc>
            </a:pPr>
            <a:r>
              <a:rPr lang="en-US" sz="1000" dirty="0" b="1">
                <a:solidFill>
                  <a:srgbClr val="800080"/>
                </a:solidFill>
                <a:latin typeface="Quattrocento Sans" pitchFamily="34" charset="0"/>
                <a:ea typeface="Quattrocento Sans" pitchFamily="34" charset="-122"/>
                <a:cs typeface="Quattrocento Sans" pitchFamily="34" charset="-120"/>
              </a:rPr>
              <a:t>"This morning I saw the countryside from my window a long time before sunrise, with nothing but the morning star, which looked very big."</a:t>
            </a:r>
            <a:endParaRPr lang="en-US" sz="1600" dirty="0"/>
          </a:p>
        </p:txBody>
      </p:sp>
      <p:sp>
        <p:nvSpPr>
          <p:cNvPr id="33" name="Text 30"/>
          <p:cNvSpPr/>
          <p:nvPr/>
        </p:nvSpPr>
        <p:spPr>
          <a:xfrm>
            <a:off x="6002486" y="6167438"/>
            <a:ext cx="5794375" cy="158750"/>
          </a:xfrm>
          <a:prstGeom prst="rect">
            <a:avLst/>
          </a:prstGeom>
          <a:noFill/>
          <a:ln/>
        </p:spPr>
        <p:txBody>
          <a:bodyPr wrap="square" lIns="0" tIns="0" rIns="0" bIns="0" rtlCol="0" anchor="ctr"/>
          <a:lstStyle/>
          <a:p>
            <a:pPr>
              <a:lnSpc>
                <a:spcPct val="120000"/>
              </a:lnSpc>
            </a:pPr>
            <a:r>
              <a:rPr lang="en-US" sz="875" dirty="0" b="1">
                <a:solidFill>
                  <a:srgbClr val="800080"/>
                </a:solidFill>
                <a:latin typeface="Quattrocento Sans" pitchFamily="34" charset="0"/>
                <a:ea typeface="Quattrocento Sans" pitchFamily="34" charset="-122"/>
                <a:cs typeface="Quattrocento Sans" pitchFamily="34" charset="-120"/>
              </a:rPr>
              <a:t>— Letter to Theo, June 1889</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spc="200" kern="0" dirty="0">
                <a:solidFill>
                  <a:srgbClr val="C9A36A"/>
                </a:solidFill>
                <a:latin typeface="Quattrocento Sans" pitchFamily="34" charset="0"/>
                <a:ea typeface="Quattrocento Sans" pitchFamily="34" charset="-122"/>
                <a:cs typeface="Quattrocento Sans" pitchFamily="34" charset="-120"/>
              </a:rPr>
              <a:t>Chapter 03 • Masterpiece Analysis</a:t>
            </a:r>
            <a:endParaRPr lang="en-US" sz="1600" dirty="0"/>
          </a:p>
        </p:txBody>
      </p:sp>
      <p:sp>
        <p:nvSpPr>
          <p:cNvPr id="3" name="Text 1"/>
          <p:cNvSpPr/>
          <p:nvPr/>
        </p:nvSpPr>
        <p:spPr>
          <a:xfrm>
            <a:off x="317500" y="571500"/>
            <a:ext cx="11747500" cy="381000"/>
          </a:xfrm>
          <a:prstGeom prst="rect">
            <a:avLst/>
          </a:prstGeom>
          <a:noFill/>
          <a:ln/>
        </p:spPr>
        <p:txBody>
          <a:bodyPr wrap="square" lIns="0" tIns="0" rIns="0" bIns="0" rtlCol="0" anchor="ctr"/>
          <a:lstStyle/>
          <a:p>
            <a:pPr>
              <a:lnSpc>
                <a:spcPct val="80000"/>
              </a:lnSpc>
            </a:pPr>
            <a:r>
              <a:rPr lang="en-US" sz="3000" b="1" dirty="0">
                <a:solidFill>
                  <a:srgbClr val="F2F2F2"/>
                </a:solidFill>
                <a:latin typeface="Oranienbaum" pitchFamily="34" charset="0"/>
                <a:ea typeface="Oranienbaum" pitchFamily="34" charset="-122"/>
                <a:cs typeface="Oranienbaum" pitchFamily="34" charset="-120"/>
              </a:rPr>
              <a:t>Sunflowers: The Celebration of Color and Light</a:t>
            </a:r>
            <a:endParaRPr lang="en-US" sz="1600" dirty="0"/>
          </a:p>
        </p:txBody>
      </p:sp>
      <p:sp>
        <p:nvSpPr>
          <p:cNvPr id="4" name="Shape 2"/>
          <p:cNvSpPr/>
          <p:nvPr/>
        </p:nvSpPr>
        <p:spPr>
          <a:xfrm>
            <a:off x="317500" y="1079500"/>
            <a:ext cx="889000" cy="15875"/>
          </a:xfrm>
          <a:custGeom>
            <a:avLst/>
            <a:gdLst/>
            <a:ahLst/>
            <a:cxnLst/>
            <a:rect l="l" t="t" r="r" b="b"/>
            <a:pathLst>
              <a:path w="889000" h="15875">
                <a:moveTo>
                  <a:pt x="0" y="0"/>
                </a:moveTo>
                <a:lnTo>
                  <a:pt x="889000" y="0"/>
                </a:lnTo>
                <a:lnTo>
                  <a:pt x="889000" y="15875"/>
                </a:lnTo>
                <a:lnTo>
                  <a:pt x="0" y="15875"/>
                </a:lnTo>
                <a:lnTo>
                  <a:pt x="0" y="0"/>
                </a:lnTo>
                <a:close/>
              </a:path>
            </a:pathLst>
          </a:custGeom>
          <a:solidFill>
            <a:srgbClr val="C9A36A"/>
          </a:solidFill>
          <a:ln/>
        </p:spPr>
      </p:sp>
      <p:sp>
        <p:nvSpPr>
          <p:cNvPr id="5" name="Shape 3"/>
          <p:cNvSpPr/>
          <p:nvPr/>
        </p:nvSpPr>
        <p:spPr>
          <a:xfrm>
            <a:off x="329406" y="1222375"/>
            <a:ext cx="6242844" cy="2000250"/>
          </a:xfrm>
          <a:custGeom>
            <a:avLst/>
            <a:gdLst/>
            <a:ahLst/>
            <a:cxnLst/>
            <a:rect l="l" t="t" r="r" b="b"/>
            <a:pathLst>
              <a:path w="6242844" h="2000250">
                <a:moveTo>
                  <a:pt x="23812" y="0"/>
                </a:moveTo>
                <a:lnTo>
                  <a:pt x="6179336" y="0"/>
                </a:lnTo>
                <a:cubicBezTo>
                  <a:pt x="6214410" y="0"/>
                  <a:pt x="6242844" y="28433"/>
                  <a:pt x="6242844" y="63508"/>
                </a:cubicBezTo>
                <a:lnTo>
                  <a:pt x="6242844" y="1936742"/>
                </a:lnTo>
                <a:cubicBezTo>
                  <a:pt x="6242844" y="1971817"/>
                  <a:pt x="6214410" y="2000250"/>
                  <a:pt x="6179336" y="2000250"/>
                </a:cubicBezTo>
                <a:lnTo>
                  <a:pt x="23812" y="2000250"/>
                </a:lnTo>
                <a:cubicBezTo>
                  <a:pt x="10661" y="2000250"/>
                  <a:pt x="0" y="1989589"/>
                  <a:pt x="0" y="1976438"/>
                </a:cubicBezTo>
                <a:lnTo>
                  <a:pt x="0" y="23812"/>
                </a:lnTo>
                <a:cubicBezTo>
                  <a:pt x="0" y="10670"/>
                  <a:pt x="10670" y="0"/>
                  <a:pt x="23812" y="0"/>
                </a:cubicBezTo>
                <a:close/>
              </a:path>
            </a:pathLst>
          </a:custGeom>
          <a:solidFill>
            <a:srgbClr val="1A1A1A"/>
          </a:solidFill>
          <a:ln/>
        </p:spPr>
      </p:sp>
      <p:sp>
        <p:nvSpPr>
          <p:cNvPr id="6" name="Shape 4"/>
          <p:cNvSpPr/>
          <p:nvPr/>
        </p:nvSpPr>
        <p:spPr>
          <a:xfrm>
            <a:off x="329406" y="1222375"/>
            <a:ext cx="23813" cy="2000250"/>
          </a:xfrm>
          <a:custGeom>
            <a:avLst/>
            <a:gdLst/>
            <a:ahLst/>
            <a:cxnLst/>
            <a:rect l="l" t="t" r="r" b="b"/>
            <a:pathLst>
              <a:path w="23813" h="2000250">
                <a:moveTo>
                  <a:pt x="23813" y="0"/>
                </a:moveTo>
                <a:lnTo>
                  <a:pt x="23813" y="0"/>
                </a:lnTo>
                <a:lnTo>
                  <a:pt x="23813" y="2000250"/>
                </a:lnTo>
                <a:lnTo>
                  <a:pt x="23813" y="2000250"/>
                </a:lnTo>
                <a:cubicBezTo>
                  <a:pt x="10670" y="2000250"/>
                  <a:pt x="0" y="1989580"/>
                  <a:pt x="0" y="1976438"/>
                </a:cubicBezTo>
                <a:lnTo>
                  <a:pt x="0" y="23813"/>
                </a:lnTo>
                <a:cubicBezTo>
                  <a:pt x="0" y="10670"/>
                  <a:pt x="10670" y="0"/>
                  <a:pt x="23812" y="0"/>
                </a:cubicBezTo>
                <a:close/>
              </a:path>
            </a:pathLst>
          </a:custGeom>
          <a:solidFill>
            <a:srgbClr val="C9A36A"/>
          </a:solidFill>
          <a:ln/>
        </p:spPr>
      </p:sp>
      <p:sp>
        <p:nvSpPr>
          <p:cNvPr id="7" name="Text 5"/>
          <p:cNvSpPr/>
          <p:nvPr/>
        </p:nvSpPr>
        <p:spPr>
          <a:xfrm>
            <a:off x="500063" y="1381125"/>
            <a:ext cx="6008688" cy="254000"/>
          </a:xfrm>
          <a:prstGeom prst="rect">
            <a:avLst/>
          </a:prstGeom>
          <a:noFill/>
          <a:ln/>
        </p:spPr>
        <p:txBody>
          <a:bodyPr wrap="square" lIns="0" tIns="0" rIns="0" bIns="0" rtlCol="0" anchor="ctr"/>
          <a:lstStyle/>
          <a:p>
            <a:pPr>
              <a:lnSpc>
                <a:spcPct val="110000"/>
              </a:lnSpc>
            </a:pPr>
            <a:r>
              <a:rPr lang="en-US" sz="1500" b="1" dirty="0">
                <a:solidFill>
                  <a:srgbClr val="F2F2F2"/>
                </a:solidFill>
                <a:latin typeface="Oranienbaum" pitchFamily="34" charset="0"/>
                <a:ea typeface="Oranienbaum" pitchFamily="34" charset="-122"/>
                <a:cs typeface="Oranienbaum" pitchFamily="34" charset="-120"/>
              </a:rPr>
              <a:t>A Series of Joy</a:t>
            </a:r>
            <a:endParaRPr lang="en-US" sz="1600" dirty="0"/>
          </a:p>
        </p:txBody>
      </p:sp>
      <p:sp>
        <p:nvSpPr>
          <p:cNvPr id="8" name="Text 6"/>
          <p:cNvSpPr/>
          <p:nvPr/>
        </p:nvSpPr>
        <p:spPr>
          <a:xfrm>
            <a:off x="500063" y="1730375"/>
            <a:ext cx="5976938" cy="619125"/>
          </a:xfrm>
          <a:prstGeom prst="rect">
            <a:avLst/>
          </a:prstGeom>
          <a:noFill/>
          <a:ln/>
        </p:spPr>
        <p:txBody>
          <a:bodyPr wrap="square" lIns="0" tIns="0" rIns="0" bIns="0" rtlCol="0" anchor="ctr"/>
          <a:lstStyle/>
          <a:p>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Van Gogh painted </a:t>
            </a:r>
            <a:pPr>
              <a:lnSpc>
                <a:spcPct val="140000"/>
              </a:lnSpc>
            </a:pPr>
            <a:r>
              <a:rPr lang="en-US" sz="1000" dirty="0">
                <a:solidFill>
                  <a:srgbClr val="F2F2F2"/>
                </a:solidFill>
                <a:latin typeface="Quattrocento Sans" pitchFamily="34" charset="0"/>
                <a:ea typeface="Quattrocento Sans" pitchFamily="34" charset="-122"/>
                <a:cs typeface="Quattrocento Sans" pitchFamily="34" charset="-120"/>
              </a:rPr>
              <a:t>five versions of sunflowers</a:t>
            </a:r>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 in Arles between 1888-1889, using only three shades of yellow and nothing else. This deliberate limitation was an artistic challenge—to create variety and depth using a single color family.</a:t>
            </a:r>
            <a:endParaRPr lang="en-US" sz="1600" dirty="0"/>
          </a:p>
        </p:txBody>
      </p:sp>
      <p:sp>
        <p:nvSpPr>
          <p:cNvPr id="9" name="Text 7"/>
          <p:cNvSpPr/>
          <p:nvPr/>
        </p:nvSpPr>
        <p:spPr>
          <a:xfrm>
            <a:off x="500063" y="2444750"/>
            <a:ext cx="5976938" cy="619125"/>
          </a:xfrm>
          <a:prstGeom prst="rect">
            <a:avLst/>
          </a:prstGeom>
          <a:noFill/>
          <a:ln/>
        </p:spPr>
        <p:txBody>
          <a:bodyPr wrap="square" lIns="0" tIns="0" rIns="0" bIns="0" rtlCol="0" anchor="ctr"/>
          <a:lstStyle/>
          <a:p>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The flowers represent </a:t>
            </a:r>
            <a:pPr>
              <a:lnSpc>
                <a:spcPct val="140000"/>
              </a:lnSpc>
            </a:pPr>
            <a:r>
              <a:rPr lang="en-US" sz="1000" dirty="0">
                <a:solidFill>
                  <a:srgbClr val="C9A36A"/>
                </a:solidFill>
                <a:latin typeface="Quattrocento Sans" pitchFamily="34" charset="0"/>
                <a:ea typeface="Quattrocento Sans" pitchFamily="34" charset="-122"/>
                <a:cs typeface="Quattrocento Sans" pitchFamily="34" charset="-120"/>
              </a:rPr>
              <a:t>gratitude and friendship</a:t>
            </a:r>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 Van Gogh painted them to decorate the room where his friend Paul Gauguin would stay, hoping to create an artist's colony in the Yellow House. The series embodies his search for joy and connection.</a:t>
            </a:r>
            <a:endParaRPr lang="en-US" sz="1600" dirty="0"/>
          </a:p>
        </p:txBody>
      </p:sp>
      <p:sp>
        <p:nvSpPr>
          <p:cNvPr id="10" name="Shape 8"/>
          <p:cNvSpPr/>
          <p:nvPr/>
        </p:nvSpPr>
        <p:spPr>
          <a:xfrm>
            <a:off x="329406" y="3349625"/>
            <a:ext cx="6242844" cy="2079625"/>
          </a:xfrm>
          <a:custGeom>
            <a:avLst/>
            <a:gdLst/>
            <a:ahLst/>
            <a:cxnLst/>
            <a:rect l="l" t="t" r="r" b="b"/>
            <a:pathLst>
              <a:path w="6242844" h="2079625">
                <a:moveTo>
                  <a:pt x="23813" y="0"/>
                </a:moveTo>
                <a:lnTo>
                  <a:pt x="6179353" y="0"/>
                </a:lnTo>
                <a:cubicBezTo>
                  <a:pt x="6214418" y="0"/>
                  <a:pt x="6242844" y="28426"/>
                  <a:pt x="6242844" y="63491"/>
                </a:cubicBezTo>
                <a:lnTo>
                  <a:pt x="6242844" y="2016134"/>
                </a:lnTo>
                <a:cubicBezTo>
                  <a:pt x="6242844" y="2051199"/>
                  <a:pt x="6214418" y="2079625"/>
                  <a:pt x="6179353" y="2079625"/>
                </a:cubicBezTo>
                <a:lnTo>
                  <a:pt x="23813" y="2079625"/>
                </a:lnTo>
                <a:cubicBezTo>
                  <a:pt x="10670" y="2079625"/>
                  <a:pt x="0" y="2068955"/>
                  <a:pt x="0" y="2055813"/>
                </a:cubicBezTo>
                <a:lnTo>
                  <a:pt x="0" y="23813"/>
                </a:lnTo>
                <a:cubicBezTo>
                  <a:pt x="0" y="10670"/>
                  <a:pt x="10670" y="0"/>
                  <a:pt x="23812" y="0"/>
                </a:cubicBezTo>
                <a:close/>
              </a:path>
            </a:pathLst>
          </a:custGeom>
          <a:solidFill>
            <a:srgbClr val="1A1A1A"/>
          </a:solidFill>
          <a:ln/>
        </p:spPr>
      </p:sp>
      <p:sp>
        <p:nvSpPr>
          <p:cNvPr id="11" name="Shape 9"/>
          <p:cNvSpPr/>
          <p:nvPr/>
        </p:nvSpPr>
        <p:spPr>
          <a:xfrm>
            <a:off x="329406" y="3349625"/>
            <a:ext cx="23813" cy="2079625"/>
          </a:xfrm>
          <a:custGeom>
            <a:avLst/>
            <a:gdLst/>
            <a:ahLst/>
            <a:cxnLst/>
            <a:rect l="l" t="t" r="r" b="b"/>
            <a:pathLst>
              <a:path w="23813" h="2079625">
                <a:moveTo>
                  <a:pt x="23813" y="0"/>
                </a:moveTo>
                <a:lnTo>
                  <a:pt x="23813" y="0"/>
                </a:lnTo>
                <a:lnTo>
                  <a:pt x="23813" y="2079625"/>
                </a:lnTo>
                <a:lnTo>
                  <a:pt x="23813" y="2079625"/>
                </a:lnTo>
                <a:cubicBezTo>
                  <a:pt x="10670" y="2079625"/>
                  <a:pt x="0" y="2068955"/>
                  <a:pt x="0" y="2055813"/>
                </a:cubicBezTo>
                <a:lnTo>
                  <a:pt x="0" y="23813"/>
                </a:lnTo>
                <a:cubicBezTo>
                  <a:pt x="0" y="10670"/>
                  <a:pt x="10670" y="0"/>
                  <a:pt x="23812" y="0"/>
                </a:cubicBezTo>
                <a:close/>
              </a:path>
            </a:pathLst>
          </a:custGeom>
          <a:solidFill>
            <a:srgbClr val="C9A36A"/>
          </a:solidFill>
          <a:ln/>
        </p:spPr>
      </p:sp>
      <p:sp>
        <p:nvSpPr>
          <p:cNvPr id="12" name="Text 10"/>
          <p:cNvSpPr/>
          <p:nvPr/>
        </p:nvSpPr>
        <p:spPr>
          <a:xfrm>
            <a:off x="500063" y="3508375"/>
            <a:ext cx="6008688" cy="254000"/>
          </a:xfrm>
          <a:prstGeom prst="rect">
            <a:avLst/>
          </a:prstGeom>
          <a:noFill/>
          <a:ln/>
        </p:spPr>
        <p:txBody>
          <a:bodyPr wrap="square" lIns="0" tIns="0" rIns="0" bIns="0" rtlCol="0" anchor="ctr"/>
          <a:lstStyle/>
          <a:p>
            <a:pPr>
              <a:lnSpc>
                <a:spcPct val="110000"/>
              </a:lnSpc>
            </a:pPr>
            <a:r>
              <a:rPr lang="en-US" sz="1500" b="1" dirty="0">
                <a:solidFill>
                  <a:srgbClr val="F2F2F2"/>
                </a:solidFill>
                <a:latin typeface="Oranienbaum" pitchFamily="34" charset="0"/>
                <a:ea typeface="Oranienbaum" pitchFamily="34" charset="-122"/>
                <a:cs typeface="Oranienbaum" pitchFamily="34" charset="-120"/>
              </a:rPr>
              <a:t>Color as Emotion</a:t>
            </a:r>
            <a:endParaRPr lang="en-US" sz="1600" dirty="0"/>
          </a:p>
        </p:txBody>
      </p:sp>
      <p:sp>
        <p:nvSpPr>
          <p:cNvPr id="13" name="Text 11"/>
          <p:cNvSpPr/>
          <p:nvPr/>
        </p:nvSpPr>
        <p:spPr>
          <a:xfrm>
            <a:off x="500063" y="3857625"/>
            <a:ext cx="5976938" cy="619125"/>
          </a:xfrm>
          <a:prstGeom prst="rect">
            <a:avLst/>
          </a:prstGeom>
          <a:noFill/>
          <a:ln/>
        </p:spPr>
        <p:txBody>
          <a:bodyPr wrap="square" lIns="0" tIns="0" rIns="0" bIns="0" rtlCol="0" anchor="ctr"/>
          <a:lstStyle/>
          <a:p>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The vibrant yellows were revolutionary. Van Gogh used newly developed </a:t>
            </a:r>
            <a:pPr>
              <a:lnSpc>
                <a:spcPct val="140000"/>
              </a:lnSpc>
            </a:pPr>
            <a:r>
              <a:rPr lang="en-US" sz="1000" dirty="0">
                <a:solidFill>
                  <a:srgbClr val="F2F2F2"/>
                </a:solidFill>
                <a:latin typeface="Quattrocento Sans" pitchFamily="34" charset="0"/>
                <a:ea typeface="Quattrocento Sans" pitchFamily="34" charset="-122"/>
                <a:cs typeface="Quattrocento Sans" pitchFamily="34" charset="-120"/>
              </a:rPr>
              <a:t>chrome yellow pigments</a:t>
            </a:r>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 that were more intense than any previously available. The thick impasto technique makes the petals feel almost three-dimensional, as if reaching toward the viewer.</a:t>
            </a:r>
            <a:endParaRPr lang="en-US" sz="1600" dirty="0"/>
          </a:p>
        </p:txBody>
      </p:sp>
      <p:sp>
        <p:nvSpPr>
          <p:cNvPr id="14" name="Shape 12"/>
          <p:cNvSpPr/>
          <p:nvPr/>
        </p:nvSpPr>
        <p:spPr>
          <a:xfrm>
            <a:off x="500063" y="4572000"/>
            <a:ext cx="5913438" cy="698500"/>
          </a:xfrm>
          <a:custGeom>
            <a:avLst/>
            <a:gdLst/>
            <a:ahLst/>
            <a:cxnLst/>
            <a:rect l="l" t="t" r="r" b="b"/>
            <a:pathLst>
              <a:path w="5913438" h="698500">
                <a:moveTo>
                  <a:pt x="31747" y="0"/>
                </a:moveTo>
                <a:lnTo>
                  <a:pt x="5881691" y="0"/>
                </a:lnTo>
                <a:cubicBezTo>
                  <a:pt x="5899224" y="0"/>
                  <a:pt x="5913438" y="14214"/>
                  <a:pt x="5913438" y="31747"/>
                </a:cubicBezTo>
                <a:lnTo>
                  <a:pt x="5913438" y="666753"/>
                </a:lnTo>
                <a:cubicBezTo>
                  <a:pt x="5913437" y="684286"/>
                  <a:pt x="5899224" y="698500"/>
                  <a:pt x="5881691" y="698500"/>
                </a:cubicBezTo>
                <a:lnTo>
                  <a:pt x="31747" y="698500"/>
                </a:lnTo>
                <a:cubicBezTo>
                  <a:pt x="14214" y="698500"/>
                  <a:pt x="0" y="684286"/>
                  <a:pt x="0" y="666753"/>
                </a:cubicBezTo>
                <a:lnTo>
                  <a:pt x="0" y="31747"/>
                </a:lnTo>
                <a:cubicBezTo>
                  <a:pt x="0" y="14225"/>
                  <a:pt x="14225" y="0"/>
                  <a:pt x="31747" y="0"/>
                </a:cubicBezTo>
                <a:close/>
              </a:path>
            </a:pathLst>
          </a:custGeom>
          <a:solidFill>
            <a:srgbClr val="2B2B2B"/>
          </a:solidFill>
          <a:ln/>
        </p:spPr>
      </p:sp>
      <p:sp>
        <p:nvSpPr>
          <p:cNvPr id="15" name="Text 13"/>
          <p:cNvSpPr/>
          <p:nvPr/>
        </p:nvSpPr>
        <p:spPr>
          <a:xfrm>
            <a:off x="595313" y="4667250"/>
            <a:ext cx="5778500" cy="158750"/>
          </a:xfrm>
          <a:prstGeom prst="rect">
            <a:avLst/>
          </a:prstGeom>
          <a:noFill/>
          <a:ln/>
        </p:spPr>
        <p:txBody>
          <a:bodyPr wrap="square" lIns="0" tIns="0" rIns="0" bIns="0" rtlCol="0" anchor="ctr"/>
          <a:lstStyle/>
          <a:p>
            <a:pPr>
              <a:lnSpc>
                <a:spcPct val="120000"/>
              </a:lnSpc>
            </a:pPr>
            <a:r>
              <a:rPr lang="en-US" sz="875" b="1" dirty="0">
                <a:solidFill>
                  <a:srgbClr val="C9A36A"/>
                </a:solidFill>
                <a:latin typeface="Quattrocento Sans" pitchFamily="34" charset="0"/>
                <a:ea typeface="Quattrocento Sans" pitchFamily="34" charset="-122"/>
                <a:cs typeface="Quattrocento Sans" pitchFamily="34" charset="-120"/>
              </a:rPr>
              <a:t>Symbolic Meaning:</a:t>
            </a:r>
            <a:endParaRPr lang="en-US" sz="1600" dirty="0"/>
          </a:p>
        </p:txBody>
      </p:sp>
      <p:sp>
        <p:nvSpPr>
          <p:cNvPr id="16" name="Text 14"/>
          <p:cNvSpPr/>
          <p:nvPr/>
        </p:nvSpPr>
        <p:spPr>
          <a:xfrm>
            <a:off x="595313" y="4857750"/>
            <a:ext cx="5778500" cy="317500"/>
          </a:xfrm>
          <a:prstGeom prst="rect">
            <a:avLst/>
          </a:prstGeom>
          <a:noFill/>
          <a:ln/>
        </p:spPr>
        <p:txBody>
          <a:bodyPr wrap="square" lIns="0" tIns="0" rIns="0" bIns="0" rtlCol="0" anchor="ctr"/>
          <a:lstStyle/>
          <a:p>
            <a:pPr>
              <a:lnSpc>
                <a:spcPct val="120000"/>
              </a:lnSpc>
            </a:pPr>
            <a:r>
              <a:rPr lang="en-US" sz="875" dirty="0">
                <a:solidFill>
                  <a:srgbClr val="B8B8B8"/>
                </a:solidFill>
                <a:latin typeface="Quattrocento Sans" pitchFamily="34" charset="0"/>
                <a:ea typeface="Quattrocento Sans" pitchFamily="34" charset="-122"/>
                <a:cs typeface="Quattrocento Sans" pitchFamily="34" charset="-120"/>
              </a:rPr>
              <a:t>Sunflowers follow the sun—turning their faces toward light. For Van Gogh, they represented faith, adoration, and the pursuit of light even in darkness.</a:t>
            </a:r>
            <a:endParaRPr lang="en-US" sz="1600" dirty="0"/>
          </a:p>
        </p:txBody>
      </p:sp>
      <p:sp>
        <p:nvSpPr>
          <p:cNvPr id="17" name="Shape 15"/>
          <p:cNvSpPr/>
          <p:nvPr/>
        </p:nvSpPr>
        <p:spPr>
          <a:xfrm>
            <a:off x="321469" y="5560219"/>
            <a:ext cx="6246813" cy="690563"/>
          </a:xfrm>
          <a:custGeom>
            <a:avLst/>
            <a:gdLst/>
            <a:ahLst/>
            <a:cxnLst/>
            <a:rect l="l" t="t" r="r" b="b"/>
            <a:pathLst>
              <a:path w="6246813" h="690563">
                <a:moveTo>
                  <a:pt x="63497" y="0"/>
                </a:moveTo>
                <a:lnTo>
                  <a:pt x="6183315" y="0"/>
                </a:lnTo>
                <a:cubicBezTo>
                  <a:pt x="6218384" y="0"/>
                  <a:pt x="6246813" y="28429"/>
                  <a:pt x="6246813" y="63497"/>
                </a:cubicBezTo>
                <a:lnTo>
                  <a:pt x="6246813" y="627065"/>
                </a:lnTo>
                <a:cubicBezTo>
                  <a:pt x="6246813" y="662134"/>
                  <a:pt x="6218384" y="690563"/>
                  <a:pt x="6183315" y="690563"/>
                </a:cubicBezTo>
                <a:lnTo>
                  <a:pt x="63497" y="690563"/>
                </a:lnTo>
                <a:cubicBezTo>
                  <a:pt x="28429" y="690563"/>
                  <a:pt x="0" y="662134"/>
                  <a:pt x="0" y="627065"/>
                </a:cubicBezTo>
                <a:lnTo>
                  <a:pt x="0" y="63497"/>
                </a:lnTo>
                <a:cubicBezTo>
                  <a:pt x="0" y="28452"/>
                  <a:pt x="28452" y="0"/>
                  <a:pt x="63497"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18" name="Shape 16"/>
          <p:cNvSpPr/>
          <p:nvPr/>
        </p:nvSpPr>
        <p:spPr>
          <a:xfrm>
            <a:off x="482203" y="5722938"/>
            <a:ext cx="138906" cy="158750"/>
          </a:xfrm>
          <a:custGeom>
            <a:avLst/>
            <a:gdLst/>
            <a:ahLst/>
            <a:cxnLst/>
            <a:rect l="l" t="t" r="r" b="b"/>
            <a:pathLst>
              <a:path w="138906" h="158750">
                <a:moveTo>
                  <a:pt x="0" y="66973"/>
                </a:moveTo>
                <a:cubicBezTo>
                  <a:pt x="0" y="46416"/>
                  <a:pt x="16650" y="29766"/>
                  <a:pt x="37207" y="29766"/>
                </a:cubicBezTo>
                <a:lnTo>
                  <a:pt x="39688" y="29766"/>
                </a:lnTo>
                <a:cubicBezTo>
                  <a:pt x="45176" y="29766"/>
                  <a:pt x="49609" y="34199"/>
                  <a:pt x="49609" y="39688"/>
                </a:cubicBezTo>
                <a:cubicBezTo>
                  <a:pt x="49609" y="45176"/>
                  <a:pt x="45176" y="49609"/>
                  <a:pt x="39688" y="49609"/>
                </a:cubicBezTo>
                <a:lnTo>
                  <a:pt x="37207" y="49609"/>
                </a:lnTo>
                <a:cubicBezTo>
                  <a:pt x="27626" y="49609"/>
                  <a:pt x="19844" y="57392"/>
                  <a:pt x="19844" y="66973"/>
                </a:cubicBezTo>
                <a:lnTo>
                  <a:pt x="19844" y="69453"/>
                </a:lnTo>
                <a:lnTo>
                  <a:pt x="39688" y="69453"/>
                </a:lnTo>
                <a:cubicBezTo>
                  <a:pt x="50633" y="69453"/>
                  <a:pt x="59531" y="78352"/>
                  <a:pt x="59531" y="89297"/>
                </a:cubicBezTo>
                <a:lnTo>
                  <a:pt x="59531" y="109141"/>
                </a:lnTo>
                <a:cubicBezTo>
                  <a:pt x="59531" y="120086"/>
                  <a:pt x="50633" y="128984"/>
                  <a:pt x="39688" y="128984"/>
                </a:cubicBezTo>
                <a:lnTo>
                  <a:pt x="19844" y="128984"/>
                </a:lnTo>
                <a:cubicBezTo>
                  <a:pt x="8899" y="128984"/>
                  <a:pt x="0" y="120086"/>
                  <a:pt x="0" y="109141"/>
                </a:cubicBezTo>
                <a:lnTo>
                  <a:pt x="0" y="66973"/>
                </a:lnTo>
                <a:close/>
                <a:moveTo>
                  <a:pt x="79375" y="66973"/>
                </a:moveTo>
                <a:cubicBezTo>
                  <a:pt x="79375" y="46416"/>
                  <a:pt x="96025" y="29766"/>
                  <a:pt x="116582" y="29766"/>
                </a:cubicBezTo>
                <a:lnTo>
                  <a:pt x="119062" y="29766"/>
                </a:lnTo>
                <a:cubicBezTo>
                  <a:pt x="124551" y="29766"/>
                  <a:pt x="128984" y="34199"/>
                  <a:pt x="128984" y="39688"/>
                </a:cubicBezTo>
                <a:cubicBezTo>
                  <a:pt x="128984" y="45176"/>
                  <a:pt x="124551" y="49609"/>
                  <a:pt x="119062" y="49609"/>
                </a:cubicBezTo>
                <a:lnTo>
                  <a:pt x="116582" y="49609"/>
                </a:lnTo>
                <a:cubicBezTo>
                  <a:pt x="107001" y="49609"/>
                  <a:pt x="99219" y="57392"/>
                  <a:pt x="99219" y="66973"/>
                </a:cubicBezTo>
                <a:lnTo>
                  <a:pt x="99219" y="69453"/>
                </a:lnTo>
                <a:lnTo>
                  <a:pt x="119062" y="69453"/>
                </a:lnTo>
                <a:cubicBezTo>
                  <a:pt x="130008" y="69453"/>
                  <a:pt x="138906" y="78352"/>
                  <a:pt x="138906" y="89297"/>
                </a:cubicBezTo>
                <a:lnTo>
                  <a:pt x="138906" y="109141"/>
                </a:lnTo>
                <a:cubicBezTo>
                  <a:pt x="138906" y="120086"/>
                  <a:pt x="130008" y="128984"/>
                  <a:pt x="119062" y="128984"/>
                </a:cubicBezTo>
                <a:lnTo>
                  <a:pt x="99219" y="128984"/>
                </a:lnTo>
                <a:cubicBezTo>
                  <a:pt x="88274" y="128984"/>
                  <a:pt x="79375" y="120086"/>
                  <a:pt x="79375" y="109141"/>
                </a:cubicBezTo>
                <a:lnTo>
                  <a:pt x="79375" y="66973"/>
                </a:lnTo>
                <a:close/>
              </a:path>
            </a:pathLst>
          </a:custGeom>
          <a:solidFill>
            <a:srgbClr val="C9A36A"/>
          </a:solidFill>
          <a:ln/>
        </p:spPr>
      </p:sp>
      <p:sp>
        <p:nvSpPr>
          <p:cNvPr id="19" name="Text 17"/>
          <p:cNvSpPr/>
          <p:nvPr/>
        </p:nvSpPr>
        <p:spPr>
          <a:xfrm>
            <a:off x="746125" y="5691188"/>
            <a:ext cx="1897063" cy="206375"/>
          </a:xfrm>
          <a:prstGeom prst="rect">
            <a:avLst/>
          </a:prstGeom>
          <a:noFill/>
          <a:ln/>
        </p:spPr>
        <p:txBody>
          <a:bodyPr wrap="square" lIns="0" tIns="0" rIns="0" bIns="0" rtlCol="0" anchor="ctr"/>
          <a:lstStyle/>
          <a:p>
            <a:pPr>
              <a:lnSpc>
                <a:spcPct val="140000"/>
              </a:lnSpc>
            </a:pPr>
            <a:r>
              <a:rPr lang="en-US" sz="1000" dirty="0">
                <a:solidFill>
                  <a:srgbClr val="F2F2F2"/>
                </a:solidFill>
                <a:latin typeface="Quattrocento Sans" pitchFamily="34" charset="0"/>
                <a:ea typeface="Quattrocento Sans" pitchFamily="34" charset="-122"/>
                <a:cs typeface="Quattrocento Sans" pitchFamily="34" charset="-120"/>
              </a:rPr>
              <a:t>"The sunflower is mine, in a way."</a:t>
            </a:r>
            <a:endParaRPr lang="en-US" sz="1600" dirty="0"/>
          </a:p>
        </p:txBody>
      </p:sp>
      <p:sp>
        <p:nvSpPr>
          <p:cNvPr id="20" name="Text 18"/>
          <p:cNvSpPr/>
          <p:nvPr/>
        </p:nvSpPr>
        <p:spPr>
          <a:xfrm>
            <a:off x="746125" y="5961063"/>
            <a:ext cx="1889125" cy="158750"/>
          </a:xfrm>
          <a:prstGeom prst="rect">
            <a:avLst/>
          </a:prstGeom>
          <a:noFill/>
          <a:ln/>
        </p:spPr>
        <p:txBody>
          <a:bodyPr wrap="square" lIns="0" tIns="0" rIns="0" bIns="0" rtlCol="0" anchor="ctr"/>
          <a:lstStyle/>
          <a:p>
            <a:pPr>
              <a:lnSpc>
                <a:spcPct val="120000"/>
              </a:lnSpc>
            </a:pPr>
            <a:r>
              <a:rPr lang="en-US" sz="875" dirty="0">
                <a:solidFill>
                  <a:srgbClr val="C9A36A"/>
                </a:solidFill>
                <a:latin typeface="Quattrocento Sans" pitchFamily="34" charset="0"/>
                <a:ea typeface="Quattrocento Sans" pitchFamily="34" charset="-122"/>
                <a:cs typeface="Quattrocento Sans" pitchFamily="34" charset="-120"/>
              </a:rPr>
              <a:t>— Vincent van Gogh</a:t>
            </a:r>
            <a:endParaRPr lang="en-US" sz="1600" dirty="0"/>
          </a:p>
        </p:txBody>
      </p:sp>
      <p:sp>
        <p:nvSpPr>
          <p:cNvPr id="21" name="Shape 19"/>
          <p:cNvSpPr/>
          <p:nvPr/>
        </p:nvSpPr>
        <p:spPr>
          <a:xfrm>
            <a:off x="6763556" y="1226344"/>
            <a:ext cx="5103813" cy="6905625"/>
          </a:xfrm>
          <a:custGeom>
            <a:avLst/>
            <a:gdLst/>
            <a:ahLst/>
            <a:cxnLst/>
            <a:rect l="l" t="t" r="r" b="b"/>
            <a:pathLst>
              <a:path w="5103813" h="6905625">
                <a:moveTo>
                  <a:pt x="63491" y="0"/>
                </a:moveTo>
                <a:lnTo>
                  <a:pt x="5040321" y="0"/>
                </a:lnTo>
                <a:cubicBezTo>
                  <a:pt x="5075386" y="0"/>
                  <a:pt x="5103813" y="28426"/>
                  <a:pt x="5103813" y="63491"/>
                </a:cubicBezTo>
                <a:lnTo>
                  <a:pt x="5103813" y="6842134"/>
                </a:lnTo>
                <a:cubicBezTo>
                  <a:pt x="5103812" y="6877199"/>
                  <a:pt x="5075386" y="6905625"/>
                  <a:pt x="5040321" y="6905625"/>
                </a:cubicBezTo>
                <a:lnTo>
                  <a:pt x="63491" y="6905625"/>
                </a:lnTo>
                <a:cubicBezTo>
                  <a:pt x="28426" y="6905625"/>
                  <a:pt x="0" y="6877199"/>
                  <a:pt x="0" y="6842134"/>
                </a:cubicBezTo>
                <a:lnTo>
                  <a:pt x="0" y="63491"/>
                </a:lnTo>
                <a:cubicBezTo>
                  <a:pt x="0" y="28450"/>
                  <a:pt x="28450" y="0"/>
                  <a:pt x="63491" y="0"/>
                </a:cubicBezTo>
                <a:close/>
              </a:path>
            </a:pathLst>
          </a:custGeom>
          <a:solidFill>
            <a:srgbClr val="1A1A1A"/>
          </a:solidFill>
          <a:ln w="12700">
            <a:solidFill>
              <a:srgbClr val="2B2B2B"/>
            </a:solidFill>
            <a:prstDash val="solid"/>
          </a:ln>
        </p:spPr>
      </p:sp>
      <p:pic>
        <p:nvPicPr>
          <p:cNvPr id="22" name="Image 0" descr="https://kimi-web-img.moonshot.cn/img/c8.alamy.com/4f9d9130455f4d43c482b3a73624e14e2617f7f6.jpg">    </p:cNvPr>
          <p:cNvPicPr>
            <a:picLocks noChangeAspect="1"/>
          </p:cNvPicPr>
          <p:nvPr/>
        </p:nvPicPr>
        <p:blipFill>
          <a:blip r:embed="rId1"/>
          <a:srcRect l="53" r="53" t="0" b="0"/>
          <a:stretch/>
        </p:blipFill>
        <p:spPr>
          <a:xfrm>
            <a:off x="6767525" y="1230313"/>
            <a:ext cx="5095875" cy="6897688"/>
          </a:xfrm>
          <a:prstGeom prst="roundRect">
            <a:avLst>
              <a:gd name="adj" fmla="val 1246"/>
            </a:avLst>
          </a:prstGeom>
        </p:spPr>
      </p:pic>
      <p:sp>
        <p:nvSpPr>
          <p:cNvPr id="23" name="Shape 20"/>
          <p:cNvSpPr/>
          <p:nvPr/>
        </p:nvSpPr>
        <p:spPr>
          <a:xfrm>
            <a:off x="6771494" y="8259837"/>
            <a:ext cx="5099844" cy="1301750"/>
          </a:xfrm>
          <a:custGeom>
            <a:avLst/>
            <a:gdLst/>
            <a:ahLst/>
            <a:cxnLst/>
            <a:rect l="l" t="t" r="r" b="b"/>
            <a:pathLst>
              <a:path w="5099844" h="1301750">
                <a:moveTo>
                  <a:pt x="23813" y="0"/>
                </a:moveTo>
                <a:lnTo>
                  <a:pt x="5036344" y="0"/>
                </a:lnTo>
                <a:cubicBezTo>
                  <a:pt x="5071414" y="0"/>
                  <a:pt x="5099844" y="28430"/>
                  <a:pt x="5099844" y="63499"/>
                </a:cubicBezTo>
                <a:lnTo>
                  <a:pt x="5099844" y="1238251"/>
                </a:lnTo>
                <a:cubicBezTo>
                  <a:pt x="5099844" y="1273320"/>
                  <a:pt x="5071414" y="1301750"/>
                  <a:pt x="5036344" y="1301750"/>
                </a:cubicBezTo>
                <a:lnTo>
                  <a:pt x="23813" y="1301750"/>
                </a:lnTo>
                <a:cubicBezTo>
                  <a:pt x="10670" y="1301750"/>
                  <a:pt x="0" y="1291080"/>
                  <a:pt x="0" y="1277938"/>
                </a:cubicBezTo>
                <a:lnTo>
                  <a:pt x="0" y="23813"/>
                </a:lnTo>
                <a:cubicBezTo>
                  <a:pt x="0" y="10670"/>
                  <a:pt x="10670" y="0"/>
                  <a:pt x="23812" y="0"/>
                </a:cubicBezTo>
                <a:close/>
              </a:path>
            </a:pathLst>
          </a:custGeom>
          <a:solidFill>
            <a:srgbClr val="1A1A1A"/>
          </a:solidFill>
          <a:ln/>
        </p:spPr>
      </p:sp>
      <p:sp>
        <p:nvSpPr>
          <p:cNvPr id="24" name="Shape 21"/>
          <p:cNvSpPr/>
          <p:nvPr/>
        </p:nvSpPr>
        <p:spPr>
          <a:xfrm>
            <a:off x="6771494" y="8259837"/>
            <a:ext cx="23813" cy="1301750"/>
          </a:xfrm>
          <a:custGeom>
            <a:avLst/>
            <a:gdLst/>
            <a:ahLst/>
            <a:cxnLst/>
            <a:rect l="l" t="t" r="r" b="b"/>
            <a:pathLst>
              <a:path w="23813" h="1301750">
                <a:moveTo>
                  <a:pt x="23813" y="0"/>
                </a:moveTo>
                <a:lnTo>
                  <a:pt x="23813" y="0"/>
                </a:lnTo>
                <a:lnTo>
                  <a:pt x="23813" y="1301750"/>
                </a:lnTo>
                <a:lnTo>
                  <a:pt x="23813" y="1301750"/>
                </a:lnTo>
                <a:cubicBezTo>
                  <a:pt x="10670" y="1301750"/>
                  <a:pt x="0" y="1291080"/>
                  <a:pt x="0" y="1277938"/>
                </a:cubicBezTo>
                <a:lnTo>
                  <a:pt x="0" y="23813"/>
                </a:lnTo>
                <a:cubicBezTo>
                  <a:pt x="0" y="10670"/>
                  <a:pt x="10670" y="0"/>
                  <a:pt x="23812" y="0"/>
                </a:cubicBezTo>
                <a:close/>
              </a:path>
            </a:pathLst>
          </a:custGeom>
          <a:solidFill>
            <a:srgbClr val="C9A36A"/>
          </a:solidFill>
          <a:ln/>
        </p:spPr>
      </p:sp>
      <p:sp>
        <p:nvSpPr>
          <p:cNvPr id="25" name="Text 22"/>
          <p:cNvSpPr/>
          <p:nvPr/>
        </p:nvSpPr>
        <p:spPr>
          <a:xfrm>
            <a:off x="6910400" y="8386837"/>
            <a:ext cx="4889500" cy="158750"/>
          </a:xfrm>
          <a:prstGeom prst="rect">
            <a:avLst/>
          </a:prstGeom>
          <a:noFill/>
          <a:ln/>
        </p:spPr>
        <p:txBody>
          <a:bodyPr wrap="square" lIns="0" tIns="0" rIns="0" bIns="0" rtlCol="0" anchor="ctr"/>
          <a:lstStyle/>
          <a:p>
            <a:pPr>
              <a:lnSpc>
                <a:spcPct val="120000"/>
              </a:lnSpc>
            </a:pPr>
            <a:r>
              <a:rPr lang="en-US" sz="875" b="1" dirty="0">
                <a:solidFill>
                  <a:srgbClr val="C9A36A"/>
                </a:solidFill>
                <a:latin typeface="Quattrocento Sans" pitchFamily="34" charset="0"/>
                <a:ea typeface="Quattrocento Sans" pitchFamily="34" charset="-122"/>
                <a:cs typeface="Quattrocento Sans" pitchFamily="34" charset="-120"/>
              </a:rPr>
              <a:t>Series Overview</a:t>
            </a:r>
            <a:endParaRPr lang="en-US" sz="1600" dirty="0"/>
          </a:p>
        </p:txBody>
      </p:sp>
      <p:sp>
        <p:nvSpPr>
          <p:cNvPr id="26" name="Text 23"/>
          <p:cNvSpPr/>
          <p:nvPr/>
        </p:nvSpPr>
        <p:spPr>
          <a:xfrm>
            <a:off x="6910400" y="8609087"/>
            <a:ext cx="857250" cy="158750"/>
          </a:xfrm>
          <a:prstGeom prst="rect">
            <a:avLst/>
          </a:prstGeom>
          <a:noFill/>
          <a:ln/>
        </p:spPr>
        <p:txBody>
          <a:bodyPr wrap="square" lIns="0" tIns="0" rIns="0" bIns="0" rtlCol="0" anchor="ctr"/>
          <a:lstStyle/>
          <a:p>
            <a:pPr>
              <a:lnSpc>
                <a:spcPct val="120000"/>
              </a:lnSpc>
            </a:pPr>
            <a:r>
              <a:rPr lang="en-US" sz="875" dirty="0">
                <a:solidFill>
                  <a:srgbClr val="B8B8B8"/>
                </a:solidFill>
                <a:latin typeface="Quattrocento Sans" pitchFamily="34" charset="0"/>
                <a:ea typeface="Quattrocento Sans" pitchFamily="34" charset="-122"/>
                <a:cs typeface="Quattrocento Sans" pitchFamily="34" charset="-120"/>
              </a:rPr>
              <a:t>Versions Painted</a:t>
            </a:r>
            <a:endParaRPr lang="en-US" sz="1600" dirty="0"/>
          </a:p>
        </p:txBody>
      </p:sp>
      <p:sp>
        <p:nvSpPr>
          <p:cNvPr id="27" name="Text 24"/>
          <p:cNvSpPr/>
          <p:nvPr/>
        </p:nvSpPr>
        <p:spPr>
          <a:xfrm>
            <a:off x="10954246" y="8609087"/>
            <a:ext cx="849313"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5 major versions</a:t>
            </a:r>
            <a:endParaRPr lang="en-US" sz="1600" dirty="0"/>
          </a:p>
        </p:txBody>
      </p:sp>
      <p:sp>
        <p:nvSpPr>
          <p:cNvPr id="28" name="Text 25"/>
          <p:cNvSpPr/>
          <p:nvPr/>
        </p:nvSpPr>
        <p:spPr>
          <a:xfrm>
            <a:off x="6910400" y="8831337"/>
            <a:ext cx="627063" cy="158750"/>
          </a:xfrm>
          <a:prstGeom prst="rect">
            <a:avLst/>
          </a:prstGeom>
          <a:noFill/>
          <a:ln/>
        </p:spPr>
        <p:txBody>
          <a:bodyPr wrap="square" lIns="0" tIns="0" rIns="0" bIns="0" rtlCol="0" anchor="ctr"/>
          <a:lstStyle/>
          <a:p>
            <a:pPr>
              <a:lnSpc>
                <a:spcPct val="120000"/>
              </a:lnSpc>
            </a:pPr>
            <a:r>
              <a:rPr lang="en-US" sz="875" dirty="0">
                <a:solidFill>
                  <a:srgbClr val="B8B8B8"/>
                </a:solidFill>
                <a:latin typeface="Quattrocento Sans" pitchFamily="34" charset="0"/>
                <a:ea typeface="Quattrocento Sans" pitchFamily="34" charset="-122"/>
                <a:cs typeface="Quattrocento Sans" pitchFamily="34" charset="-120"/>
              </a:rPr>
              <a:t>Time Period</a:t>
            </a:r>
            <a:endParaRPr lang="en-US" sz="1600" dirty="0"/>
          </a:p>
        </p:txBody>
      </p:sp>
      <p:sp>
        <p:nvSpPr>
          <p:cNvPr id="29" name="Text 26"/>
          <p:cNvSpPr/>
          <p:nvPr/>
        </p:nvSpPr>
        <p:spPr>
          <a:xfrm>
            <a:off x="11251654" y="8831337"/>
            <a:ext cx="547688"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1888-1889</a:t>
            </a:r>
            <a:endParaRPr lang="en-US" sz="1600" dirty="0"/>
          </a:p>
        </p:txBody>
      </p:sp>
      <p:sp>
        <p:nvSpPr>
          <p:cNvPr id="30" name="Text 27"/>
          <p:cNvSpPr/>
          <p:nvPr/>
        </p:nvSpPr>
        <p:spPr>
          <a:xfrm>
            <a:off x="6910400" y="9053587"/>
            <a:ext cx="714375" cy="158750"/>
          </a:xfrm>
          <a:prstGeom prst="rect">
            <a:avLst/>
          </a:prstGeom>
          <a:noFill/>
          <a:ln/>
        </p:spPr>
        <p:txBody>
          <a:bodyPr wrap="square" lIns="0" tIns="0" rIns="0" bIns="0" rtlCol="0" anchor="ctr"/>
          <a:lstStyle/>
          <a:p>
            <a:pPr>
              <a:lnSpc>
                <a:spcPct val="120000"/>
              </a:lnSpc>
            </a:pPr>
            <a:r>
              <a:rPr lang="en-US" sz="875" dirty="0">
                <a:solidFill>
                  <a:srgbClr val="B8B8B8"/>
                </a:solidFill>
                <a:latin typeface="Quattrocento Sans" pitchFamily="34" charset="0"/>
                <a:ea typeface="Quattrocento Sans" pitchFamily="34" charset="-122"/>
                <a:cs typeface="Quattrocento Sans" pitchFamily="34" charset="-120"/>
              </a:rPr>
              <a:t>Primary Color</a:t>
            </a:r>
            <a:endParaRPr lang="en-US" sz="1600" dirty="0"/>
          </a:p>
        </p:txBody>
      </p:sp>
      <p:sp>
        <p:nvSpPr>
          <p:cNvPr id="31" name="Text 28"/>
          <p:cNvSpPr/>
          <p:nvPr/>
        </p:nvSpPr>
        <p:spPr>
          <a:xfrm>
            <a:off x="11006460" y="9053587"/>
            <a:ext cx="793750"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Chrome Yellow</a:t>
            </a:r>
            <a:endParaRPr lang="en-US" sz="1600" dirty="0"/>
          </a:p>
        </p:txBody>
      </p:sp>
      <p:sp>
        <p:nvSpPr>
          <p:cNvPr id="32" name="Text 29"/>
          <p:cNvSpPr/>
          <p:nvPr/>
        </p:nvSpPr>
        <p:spPr>
          <a:xfrm>
            <a:off x="6910400" y="9275837"/>
            <a:ext cx="714375" cy="158750"/>
          </a:xfrm>
          <a:prstGeom prst="rect">
            <a:avLst/>
          </a:prstGeom>
          <a:noFill/>
          <a:ln/>
        </p:spPr>
        <p:txBody>
          <a:bodyPr wrap="square" lIns="0" tIns="0" rIns="0" bIns="0" rtlCol="0" anchor="ctr"/>
          <a:lstStyle/>
          <a:p>
            <a:pPr>
              <a:lnSpc>
                <a:spcPct val="120000"/>
              </a:lnSpc>
            </a:pPr>
            <a:r>
              <a:rPr lang="en-US" sz="875" dirty="0">
                <a:solidFill>
                  <a:srgbClr val="B8B8B8"/>
                </a:solidFill>
                <a:latin typeface="Quattrocento Sans" pitchFamily="34" charset="0"/>
                <a:ea typeface="Quattrocento Sans" pitchFamily="34" charset="-122"/>
                <a:cs typeface="Quattrocento Sans" pitchFamily="34" charset="-120"/>
              </a:rPr>
              <a:t>Current Value</a:t>
            </a:r>
            <a:endParaRPr lang="en-US" sz="1600" dirty="0"/>
          </a:p>
        </p:txBody>
      </p:sp>
      <p:sp>
        <p:nvSpPr>
          <p:cNvPr id="33" name="Text 30"/>
          <p:cNvSpPr/>
          <p:nvPr/>
        </p:nvSpPr>
        <p:spPr>
          <a:xfrm>
            <a:off x="11105307" y="9275837"/>
            <a:ext cx="698500"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$100+ million</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33342" y="333342"/>
            <a:ext cx="11591984" cy="200005"/>
          </a:xfrm>
          <a:prstGeom prst="rect">
            <a:avLst/>
          </a:prstGeom>
          <a:noFill/>
          <a:ln/>
        </p:spPr>
        <p:txBody>
          <a:bodyPr wrap="square" lIns="0" tIns="0" rIns="0" bIns="0" rtlCol="0" anchor="ctr"/>
          <a:lstStyle/>
          <a:p>
            <a:pPr>
              <a:lnSpc>
                <a:spcPct val="130000"/>
              </a:lnSpc>
            </a:pPr>
            <a:r>
              <a:rPr lang="en-US" sz="1050" b="1" spc="210" kern="0" dirty="0">
                <a:solidFill>
                  <a:srgbClr val="C9A36A"/>
                </a:solidFill>
                <a:latin typeface="Quattrocento Sans" pitchFamily="34" charset="0"/>
                <a:ea typeface="Quattrocento Sans" pitchFamily="34" charset="-122"/>
                <a:cs typeface="Quattrocento Sans" pitchFamily="34" charset="-120"/>
              </a:rPr>
              <a:t>Chapter 03</a:t>
            </a:r>
            <a:endParaRPr lang="en-US" sz="1600" dirty="0"/>
          </a:p>
        </p:txBody>
      </p:sp>
      <p:sp>
        <p:nvSpPr>
          <p:cNvPr id="3" name="Text 1"/>
          <p:cNvSpPr/>
          <p:nvPr/>
        </p:nvSpPr>
        <p:spPr>
          <a:xfrm>
            <a:off x="333342" y="600016"/>
            <a:ext cx="11725321" cy="400011"/>
          </a:xfrm>
          <a:prstGeom prst="rect">
            <a:avLst/>
          </a:prstGeom>
          <a:noFill/>
          <a:ln/>
        </p:spPr>
        <p:txBody>
          <a:bodyPr wrap="square" lIns="0" tIns="0" rIns="0" bIns="0" rtlCol="0" anchor="ctr"/>
          <a:lstStyle/>
          <a:p>
            <a:pPr>
              <a:lnSpc>
                <a:spcPct val="80000"/>
              </a:lnSpc>
            </a:pPr>
            <a:r>
              <a:rPr lang="en-US" sz="3150" b="1" dirty="0">
                <a:solidFill>
                  <a:srgbClr val="F2F2F2"/>
                </a:solidFill>
                <a:latin typeface="Oranienbaum" pitchFamily="34" charset="0"/>
                <a:ea typeface="Oranienbaum" pitchFamily="34" charset="-122"/>
                <a:cs typeface="Oranienbaum" pitchFamily="34" charset="-120"/>
              </a:rPr>
              <a:t>Other Iconic Works: From Irises to Wheatfields</a:t>
            </a:r>
            <a:endParaRPr lang="en-US" sz="1600" dirty="0"/>
          </a:p>
        </p:txBody>
      </p:sp>
      <p:sp>
        <p:nvSpPr>
          <p:cNvPr id="4" name="Shape 2"/>
          <p:cNvSpPr/>
          <p:nvPr/>
        </p:nvSpPr>
        <p:spPr>
          <a:xfrm>
            <a:off x="333342" y="1133364"/>
            <a:ext cx="933359" cy="16667"/>
          </a:xfrm>
          <a:custGeom>
            <a:avLst/>
            <a:gdLst/>
            <a:ahLst/>
            <a:cxnLst/>
            <a:rect l="l" t="t" r="r" b="b"/>
            <a:pathLst>
              <a:path w="933359" h="16667">
                <a:moveTo>
                  <a:pt x="0" y="0"/>
                </a:moveTo>
                <a:lnTo>
                  <a:pt x="933359" y="0"/>
                </a:lnTo>
                <a:lnTo>
                  <a:pt x="933359" y="16667"/>
                </a:lnTo>
                <a:lnTo>
                  <a:pt x="0" y="16667"/>
                </a:lnTo>
                <a:lnTo>
                  <a:pt x="0" y="0"/>
                </a:lnTo>
                <a:close/>
              </a:path>
            </a:pathLst>
          </a:custGeom>
          <a:solidFill>
            <a:srgbClr val="C9A36A"/>
          </a:solidFill>
          <a:ln/>
        </p:spPr>
      </p:sp>
      <p:sp>
        <p:nvSpPr>
          <p:cNvPr id="5" name="Shape 3"/>
          <p:cNvSpPr/>
          <p:nvPr/>
        </p:nvSpPr>
        <p:spPr>
          <a:xfrm>
            <a:off x="337509" y="1320869"/>
            <a:ext cx="5675155" cy="2516735"/>
          </a:xfrm>
          <a:custGeom>
            <a:avLst/>
            <a:gdLst/>
            <a:ahLst/>
            <a:cxn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prstDash val="solid"/>
          </a:ln>
        </p:spPr>
      </p:sp>
      <p:pic>
        <p:nvPicPr>
          <p:cNvPr id="6" name="Image 0" descr="https://kimi-web-img.moonshot.cn/img/sites.create-cdn.net/9b48a0616a011fe838b47170408fbdf8ef2abe7f.jpg">    </p:cNvPr>
          <p:cNvPicPr>
            <a:picLocks noChangeAspect="1"/>
          </p:cNvPicPr>
          <p:nvPr/>
        </p:nvPicPr>
        <p:blipFill>
          <a:blip r:embed="rId1"/>
          <a:srcRect l="0" r="0" t="39706" b="39706"/>
          <a:stretch/>
        </p:blipFill>
        <p:spPr>
          <a:xfrm>
            <a:off x="341676" y="1325036"/>
            <a:ext cx="5666822" cy="1166699"/>
          </a:xfrm>
          <a:prstGeom prst="roundRect">
            <a:avLst>
              <a:gd name="adj" fmla="val 0"/>
            </a:avLst>
          </a:prstGeom>
        </p:spPr>
      </p:pic>
      <p:sp>
        <p:nvSpPr>
          <p:cNvPr id="7" name="Text 4"/>
          <p:cNvSpPr/>
          <p:nvPr/>
        </p:nvSpPr>
        <p:spPr>
          <a:xfrm>
            <a:off x="475013" y="2625072"/>
            <a:ext cx="441679" cy="233340"/>
          </a:xfrm>
          <a:prstGeom prst="rect">
            <a:avLst/>
          </a:prstGeom>
          <a:noFill/>
          <a:ln/>
        </p:spPr>
        <p:txBody>
          <a:bodyPr wrap="square" lIns="0" tIns="0" rIns="0" bIns="0" rtlCol="0" anchor="ctr"/>
          <a:lstStyle/>
          <a:p>
            <a:pPr>
              <a:lnSpc>
                <a:spcPct val="120000"/>
              </a:lnSpc>
            </a:pPr>
            <a:r>
              <a:rPr lang="en-US" sz="1312" b="1" dirty="0">
                <a:solidFill>
                  <a:srgbClr val="F2F2F2"/>
                </a:solidFill>
                <a:latin typeface="Oranienbaum" pitchFamily="34" charset="0"/>
                <a:ea typeface="Oranienbaum" pitchFamily="34" charset="-122"/>
                <a:cs typeface="Oranienbaum" pitchFamily="34" charset="-120"/>
              </a:rPr>
              <a:t>Irises</a:t>
            </a:r>
            <a:endParaRPr lang="en-US" sz="1600" dirty="0"/>
          </a:p>
        </p:txBody>
      </p:sp>
      <p:sp>
        <p:nvSpPr>
          <p:cNvPr id="8" name="Text 5"/>
          <p:cNvSpPr/>
          <p:nvPr/>
        </p:nvSpPr>
        <p:spPr>
          <a:xfrm>
            <a:off x="5639803" y="2658406"/>
            <a:ext cx="291675" cy="166671"/>
          </a:xfrm>
          <a:prstGeom prst="rect">
            <a:avLst/>
          </a:prstGeom>
          <a:noFill/>
          <a:ln/>
        </p:spPr>
        <p:txBody>
          <a:bodyPr wrap="square" lIns="0" tIns="0" rIns="0" bIns="0" rtlCol="0" anchor="ctr"/>
          <a:lstStyle/>
          <a:p>
            <a:pPr>
              <a:lnSpc>
                <a:spcPct val="120000"/>
              </a:lnSpc>
            </a:pPr>
            <a:r>
              <a:rPr lang="en-US" sz="919" dirty="0">
                <a:solidFill>
                  <a:srgbClr val="C9A36A"/>
                </a:solidFill>
                <a:latin typeface="Quattrocento Sans" pitchFamily="34" charset="0"/>
                <a:ea typeface="Quattrocento Sans" pitchFamily="34" charset="-122"/>
                <a:cs typeface="Quattrocento Sans" pitchFamily="34" charset="-120"/>
              </a:rPr>
              <a:t>1889</a:t>
            </a:r>
            <a:endParaRPr lang="en-US" sz="1600" dirty="0"/>
          </a:p>
        </p:txBody>
      </p:sp>
      <p:sp>
        <p:nvSpPr>
          <p:cNvPr id="9" name="Text 6"/>
          <p:cNvSpPr/>
          <p:nvPr/>
        </p:nvSpPr>
        <p:spPr>
          <a:xfrm>
            <a:off x="475013" y="2925080"/>
            <a:ext cx="5458483" cy="408344"/>
          </a:xfrm>
          <a:prstGeom prst="rect">
            <a:avLst/>
          </a:prstGeom>
          <a:noFill/>
          <a:ln/>
        </p:spPr>
        <p:txBody>
          <a:bodyPr wrap="square" lIns="0" tIns="0" rIns="0" bIns="0" rtlCol="0" anchor="ctr"/>
          <a:lstStyle/>
          <a:p>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Painted in the asylum garden, this work showcases Van Gogh's study of color with </a:t>
            </a:r>
            <a:pPr>
              <a:lnSpc>
                <a:spcPct val="140000"/>
              </a:lnSpc>
            </a:pPr>
            <a:r>
              <a:rPr lang="en-US" sz="919" dirty="0">
                <a:solidFill>
                  <a:srgbClr val="F2F2F2"/>
                </a:solidFill>
                <a:latin typeface="Quattrocento Sans" pitchFamily="34" charset="0"/>
                <a:ea typeface="Quattrocento Sans" pitchFamily="34" charset="-122"/>
                <a:cs typeface="Quattrocento Sans" pitchFamily="34" charset="-120"/>
              </a:rPr>
              <a:t>vibrant blues and greens</a:t>
            </a:r>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 Originally the irises were purple, but the pigment faded over time to cobalt blue.</a:t>
            </a:r>
            <a:endParaRPr lang="en-US" sz="1600" dirty="0"/>
          </a:p>
        </p:txBody>
      </p:sp>
      <p:sp>
        <p:nvSpPr>
          <p:cNvPr id="10" name="Shape 7"/>
          <p:cNvSpPr/>
          <p:nvPr/>
        </p:nvSpPr>
        <p:spPr>
          <a:xfrm>
            <a:off x="475013" y="3429260"/>
            <a:ext cx="5400148" cy="266674"/>
          </a:xfrm>
          <a:custGeom>
            <a:avLst/>
            <a:gdLst/>
            <a:ahLst/>
            <a:cxn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p:spPr>
      </p:sp>
      <p:sp>
        <p:nvSpPr>
          <p:cNvPr id="11" name="Text 8"/>
          <p:cNvSpPr/>
          <p:nvPr/>
        </p:nvSpPr>
        <p:spPr>
          <a:xfrm>
            <a:off x="541681" y="3495929"/>
            <a:ext cx="5316812" cy="133337"/>
          </a:xfrm>
          <a:prstGeom prst="rect">
            <a:avLst/>
          </a:prstGeom>
          <a:noFill/>
          <a:ln/>
        </p:spPr>
        <p:txBody>
          <a:bodyPr wrap="square" lIns="0" tIns="0" rIns="0" bIns="0" rtlCol="0" anchor="ctr"/>
          <a:lstStyle/>
          <a:p>
            <a:pPr>
              <a:lnSpc>
                <a:spcPct val="110000"/>
              </a:lnSpc>
            </a:pPr>
            <a:r>
              <a:rPr lang="en-US" sz="787" dirty="0">
                <a:solidFill>
                  <a:srgbClr val="A3A3A3"/>
                </a:solidFill>
                <a:latin typeface="Quattrocento Sans" pitchFamily="34" charset="0"/>
                <a:ea typeface="Quattrocento Sans" pitchFamily="34" charset="-122"/>
                <a:cs typeface="Quattrocento Sans" pitchFamily="34" charset="-120"/>
              </a:rPr>
              <a:t>Location: Getty Center, Los Angeles</a:t>
            </a:r>
            <a:endParaRPr lang="en-US" sz="1600" dirty="0"/>
          </a:p>
        </p:txBody>
      </p:sp>
      <p:sp>
        <p:nvSpPr>
          <p:cNvPr id="12" name="Shape 9"/>
          <p:cNvSpPr/>
          <p:nvPr/>
        </p:nvSpPr>
        <p:spPr>
          <a:xfrm>
            <a:off x="6183958" y="1320869"/>
            <a:ext cx="5675155" cy="2516735"/>
          </a:xfrm>
          <a:custGeom>
            <a:avLst/>
            <a:gdLst/>
            <a:ahLst/>
            <a:cxn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prstDash val="solid"/>
          </a:ln>
        </p:spPr>
      </p:sp>
      <p:pic>
        <p:nvPicPr>
          <p:cNvPr id="13" name="Image 1" descr="https://kimi-web-img.moonshot.cn/img/upload.wikimedia.org/6ceecfefe8b56c93a073ab498d2451d76d158791.jpg">    </p:cNvPr>
          <p:cNvPicPr>
            <a:picLocks noChangeAspect="1"/>
          </p:cNvPicPr>
          <p:nvPr/>
        </p:nvPicPr>
        <p:blipFill>
          <a:blip r:embed="rId2"/>
          <a:srcRect l="0" r="0" t="37560" b="37560"/>
          <a:stretch/>
        </p:blipFill>
        <p:spPr>
          <a:xfrm>
            <a:off x="6188125" y="1325036"/>
            <a:ext cx="5666822" cy="1166699"/>
          </a:xfrm>
          <a:prstGeom prst="roundRect">
            <a:avLst>
              <a:gd name="adj" fmla="val 0"/>
            </a:avLst>
          </a:prstGeom>
        </p:spPr>
      </p:pic>
      <p:sp>
        <p:nvSpPr>
          <p:cNvPr id="14" name="Text 10"/>
          <p:cNvSpPr/>
          <p:nvPr/>
        </p:nvSpPr>
        <p:spPr>
          <a:xfrm>
            <a:off x="6321462" y="2625072"/>
            <a:ext cx="950026" cy="233340"/>
          </a:xfrm>
          <a:prstGeom prst="rect">
            <a:avLst/>
          </a:prstGeom>
          <a:noFill/>
          <a:ln/>
        </p:spPr>
        <p:txBody>
          <a:bodyPr wrap="square" lIns="0" tIns="0" rIns="0" bIns="0" rtlCol="0" anchor="ctr"/>
          <a:lstStyle/>
          <a:p>
            <a:pPr>
              <a:lnSpc>
                <a:spcPct val="120000"/>
              </a:lnSpc>
            </a:pPr>
            <a:r>
              <a:rPr lang="en-US" sz="1312" b="1" dirty="0">
                <a:solidFill>
                  <a:srgbClr val="F2F2F2"/>
                </a:solidFill>
                <a:latin typeface="Oranienbaum" pitchFamily="34" charset="0"/>
                <a:ea typeface="Oranienbaum" pitchFamily="34" charset="-122"/>
                <a:cs typeface="Oranienbaum" pitchFamily="34" charset="-120"/>
              </a:rPr>
              <a:t>The Bedroom</a:t>
            </a:r>
            <a:endParaRPr lang="en-US" sz="1600" dirty="0"/>
          </a:p>
        </p:txBody>
      </p:sp>
      <p:sp>
        <p:nvSpPr>
          <p:cNvPr id="15" name="Text 11"/>
          <p:cNvSpPr/>
          <p:nvPr/>
        </p:nvSpPr>
        <p:spPr>
          <a:xfrm>
            <a:off x="11485600" y="2658406"/>
            <a:ext cx="291675" cy="166671"/>
          </a:xfrm>
          <a:prstGeom prst="rect">
            <a:avLst/>
          </a:prstGeom>
          <a:noFill/>
          <a:ln/>
        </p:spPr>
        <p:txBody>
          <a:bodyPr wrap="square" lIns="0" tIns="0" rIns="0" bIns="0" rtlCol="0" anchor="ctr"/>
          <a:lstStyle/>
          <a:p>
            <a:pPr>
              <a:lnSpc>
                <a:spcPct val="120000"/>
              </a:lnSpc>
            </a:pPr>
            <a:r>
              <a:rPr lang="en-US" sz="919" dirty="0">
                <a:solidFill>
                  <a:srgbClr val="C9A36A"/>
                </a:solidFill>
                <a:latin typeface="Quattrocento Sans" pitchFamily="34" charset="0"/>
                <a:ea typeface="Quattrocento Sans" pitchFamily="34" charset="-122"/>
                <a:cs typeface="Quattrocento Sans" pitchFamily="34" charset="-120"/>
              </a:rPr>
              <a:t>1888</a:t>
            </a:r>
            <a:endParaRPr lang="en-US" sz="1600" dirty="0"/>
          </a:p>
        </p:txBody>
      </p:sp>
      <p:sp>
        <p:nvSpPr>
          <p:cNvPr id="16" name="Text 12"/>
          <p:cNvSpPr/>
          <p:nvPr/>
        </p:nvSpPr>
        <p:spPr>
          <a:xfrm>
            <a:off x="6321462" y="2925080"/>
            <a:ext cx="5458483" cy="408344"/>
          </a:xfrm>
          <a:prstGeom prst="rect">
            <a:avLst/>
          </a:prstGeom>
          <a:noFill/>
          <a:ln/>
        </p:spPr>
        <p:txBody>
          <a:bodyPr wrap="square" lIns="0" tIns="0" rIns="0" bIns="0" rtlCol="0" anchor="ctr"/>
          <a:lstStyle/>
          <a:p>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A glimpse into Van Gogh's personal space in Arles, featuring </a:t>
            </a:r>
            <a:pPr>
              <a:lnSpc>
                <a:spcPct val="140000"/>
              </a:lnSpc>
            </a:pPr>
            <a:r>
              <a:rPr lang="en-US" sz="919" dirty="0">
                <a:solidFill>
                  <a:srgbClr val="F2F2F2"/>
                </a:solidFill>
                <a:latin typeface="Quattrocento Sans" pitchFamily="34" charset="0"/>
                <a:ea typeface="Quattrocento Sans" pitchFamily="34" charset="-122"/>
                <a:cs typeface="Quattrocento Sans" pitchFamily="34" charset="-120"/>
              </a:rPr>
              <a:t>distorted perspective</a:t>
            </a:r>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 and bold colors. The painting reflects his desire for tranquility and simplicity.</a:t>
            </a:r>
            <a:endParaRPr lang="en-US" sz="1600" dirty="0"/>
          </a:p>
        </p:txBody>
      </p:sp>
      <p:sp>
        <p:nvSpPr>
          <p:cNvPr id="17" name="Shape 13"/>
          <p:cNvSpPr/>
          <p:nvPr/>
        </p:nvSpPr>
        <p:spPr>
          <a:xfrm>
            <a:off x="6321462" y="3429260"/>
            <a:ext cx="5400148" cy="266674"/>
          </a:xfrm>
          <a:custGeom>
            <a:avLst/>
            <a:gdLst/>
            <a:ahLst/>
            <a:cxn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p:spPr>
      </p:sp>
      <p:sp>
        <p:nvSpPr>
          <p:cNvPr id="18" name="Text 14"/>
          <p:cNvSpPr/>
          <p:nvPr/>
        </p:nvSpPr>
        <p:spPr>
          <a:xfrm>
            <a:off x="6388130" y="3495929"/>
            <a:ext cx="5316812" cy="133337"/>
          </a:xfrm>
          <a:prstGeom prst="rect">
            <a:avLst/>
          </a:prstGeom>
          <a:noFill/>
          <a:ln/>
        </p:spPr>
        <p:txBody>
          <a:bodyPr wrap="square" lIns="0" tIns="0" rIns="0" bIns="0" rtlCol="0" anchor="ctr"/>
          <a:lstStyle/>
          <a:p>
            <a:pPr>
              <a:lnSpc>
                <a:spcPct val="110000"/>
              </a:lnSpc>
            </a:pPr>
            <a:r>
              <a:rPr lang="en-US" sz="787" dirty="0">
                <a:solidFill>
                  <a:srgbClr val="A3A3A3"/>
                </a:solidFill>
                <a:latin typeface="Quattrocento Sans" pitchFamily="34" charset="0"/>
                <a:ea typeface="Quattrocento Sans" pitchFamily="34" charset="-122"/>
                <a:cs typeface="Quattrocento Sans" pitchFamily="34" charset="-120"/>
              </a:rPr>
              <a:t>Location: Van Gogh Museum, Amsterdam</a:t>
            </a:r>
            <a:endParaRPr lang="en-US" sz="1600" dirty="0"/>
          </a:p>
        </p:txBody>
      </p:sp>
      <p:sp>
        <p:nvSpPr>
          <p:cNvPr id="19" name="Shape 15"/>
          <p:cNvSpPr/>
          <p:nvPr/>
        </p:nvSpPr>
        <p:spPr>
          <a:xfrm>
            <a:off x="337509" y="4008443"/>
            <a:ext cx="5675155" cy="2516735"/>
          </a:xfrm>
          <a:custGeom>
            <a:avLst/>
            <a:gdLst/>
            <a:ahLst/>
            <a:cxn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prstDash val="solid"/>
          </a:ln>
        </p:spPr>
      </p:sp>
      <p:pic>
        <p:nvPicPr>
          <p:cNvPr id="20" name="Image 2" descr="https://kimi-web-img.moonshot.cn/img/www.heritage-print.com/9f552bae75a4fe49264fbcc65f9c2da141a58ddc.webp">    </p:cNvPr>
          <p:cNvPicPr>
            <a:picLocks noChangeAspect="1"/>
          </p:cNvPicPr>
          <p:nvPr/>
        </p:nvPicPr>
        <p:blipFill>
          <a:blip r:embed="rId3"/>
          <a:srcRect l="0" r="0" t="43206" b="43206"/>
          <a:stretch/>
        </p:blipFill>
        <p:spPr>
          <a:xfrm>
            <a:off x="341676" y="4012610"/>
            <a:ext cx="5666822" cy="1166699"/>
          </a:xfrm>
          <a:prstGeom prst="roundRect">
            <a:avLst>
              <a:gd name="adj" fmla="val 0"/>
            </a:avLst>
          </a:prstGeom>
        </p:spPr>
      </p:pic>
      <p:sp>
        <p:nvSpPr>
          <p:cNvPr id="21" name="Text 16"/>
          <p:cNvSpPr/>
          <p:nvPr/>
        </p:nvSpPr>
        <p:spPr>
          <a:xfrm>
            <a:off x="475013" y="5312645"/>
            <a:ext cx="1583377" cy="233340"/>
          </a:xfrm>
          <a:prstGeom prst="rect">
            <a:avLst/>
          </a:prstGeom>
          <a:noFill/>
          <a:ln/>
        </p:spPr>
        <p:txBody>
          <a:bodyPr wrap="square" lIns="0" tIns="0" rIns="0" bIns="0" rtlCol="0" anchor="ctr"/>
          <a:lstStyle/>
          <a:p>
            <a:pPr>
              <a:lnSpc>
                <a:spcPct val="120000"/>
              </a:lnSpc>
            </a:pPr>
            <a:r>
              <a:rPr lang="en-US" sz="1312" b="1" dirty="0">
                <a:solidFill>
                  <a:srgbClr val="F2F2F2"/>
                </a:solidFill>
                <a:latin typeface="Oranienbaum" pitchFamily="34" charset="0"/>
                <a:ea typeface="Oranienbaum" pitchFamily="34" charset="-122"/>
                <a:cs typeface="Oranienbaum" pitchFamily="34" charset="-120"/>
              </a:rPr>
              <a:t>Wheatfield with Crows</a:t>
            </a:r>
            <a:endParaRPr lang="en-US" sz="1600" dirty="0"/>
          </a:p>
        </p:txBody>
      </p:sp>
      <p:sp>
        <p:nvSpPr>
          <p:cNvPr id="22" name="Text 17"/>
          <p:cNvSpPr/>
          <p:nvPr/>
        </p:nvSpPr>
        <p:spPr>
          <a:xfrm>
            <a:off x="5629190" y="5345979"/>
            <a:ext cx="300008" cy="166671"/>
          </a:xfrm>
          <a:prstGeom prst="rect">
            <a:avLst/>
          </a:prstGeom>
          <a:noFill/>
          <a:ln/>
        </p:spPr>
        <p:txBody>
          <a:bodyPr wrap="square" lIns="0" tIns="0" rIns="0" bIns="0" rtlCol="0" anchor="ctr"/>
          <a:lstStyle/>
          <a:p>
            <a:pPr>
              <a:lnSpc>
                <a:spcPct val="120000"/>
              </a:lnSpc>
            </a:pPr>
            <a:r>
              <a:rPr lang="en-US" sz="919" dirty="0">
                <a:solidFill>
                  <a:srgbClr val="C9A36A"/>
                </a:solidFill>
                <a:latin typeface="Quattrocento Sans" pitchFamily="34" charset="0"/>
                <a:ea typeface="Quattrocento Sans" pitchFamily="34" charset="-122"/>
                <a:cs typeface="Quattrocento Sans" pitchFamily="34" charset="-120"/>
              </a:rPr>
              <a:t>1890</a:t>
            </a:r>
            <a:endParaRPr lang="en-US" sz="1600" dirty="0"/>
          </a:p>
        </p:txBody>
      </p:sp>
      <p:sp>
        <p:nvSpPr>
          <p:cNvPr id="23" name="Text 18"/>
          <p:cNvSpPr/>
          <p:nvPr/>
        </p:nvSpPr>
        <p:spPr>
          <a:xfrm>
            <a:off x="475013" y="5612653"/>
            <a:ext cx="5458483" cy="408344"/>
          </a:xfrm>
          <a:prstGeom prst="rect">
            <a:avLst/>
          </a:prstGeom>
          <a:noFill/>
          <a:ln/>
        </p:spPr>
        <p:txBody>
          <a:bodyPr wrap="square" lIns="0" tIns="0" rIns="0" bIns="0" rtlCol="0" anchor="ctr"/>
          <a:lstStyle/>
          <a:p>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Often considered his final painting, this work shows </a:t>
            </a:r>
            <a:pPr>
              <a:lnSpc>
                <a:spcPct val="140000"/>
              </a:lnSpc>
            </a:pPr>
            <a:r>
              <a:rPr lang="en-US" sz="919" dirty="0">
                <a:solidFill>
                  <a:srgbClr val="F2F2F2"/>
                </a:solidFill>
                <a:latin typeface="Quattrocento Sans" pitchFamily="34" charset="0"/>
                <a:ea typeface="Quattrocento Sans" pitchFamily="34" charset="-122"/>
                <a:cs typeface="Quattrocento Sans" pitchFamily="34" charset="-120"/>
              </a:rPr>
              <a:t>menacing skies</a:t>
            </a:r>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 dark crows, and a dead-end path—interpreted as expressing his emotional turmoil and foreshadowing his death.</a:t>
            </a:r>
            <a:endParaRPr lang="en-US" sz="1600" dirty="0"/>
          </a:p>
        </p:txBody>
      </p:sp>
      <p:sp>
        <p:nvSpPr>
          <p:cNvPr id="24" name="Shape 19"/>
          <p:cNvSpPr/>
          <p:nvPr/>
        </p:nvSpPr>
        <p:spPr>
          <a:xfrm>
            <a:off x="475013" y="6116834"/>
            <a:ext cx="5400148" cy="266674"/>
          </a:xfrm>
          <a:custGeom>
            <a:avLst/>
            <a:gdLst/>
            <a:ahLst/>
            <a:cxn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p:spPr>
      </p:sp>
      <p:sp>
        <p:nvSpPr>
          <p:cNvPr id="25" name="Text 20"/>
          <p:cNvSpPr/>
          <p:nvPr/>
        </p:nvSpPr>
        <p:spPr>
          <a:xfrm>
            <a:off x="541681" y="6183502"/>
            <a:ext cx="5316812" cy="133337"/>
          </a:xfrm>
          <a:prstGeom prst="rect">
            <a:avLst/>
          </a:prstGeom>
          <a:noFill/>
          <a:ln/>
        </p:spPr>
        <p:txBody>
          <a:bodyPr wrap="square" lIns="0" tIns="0" rIns="0" bIns="0" rtlCol="0" anchor="ctr"/>
          <a:lstStyle/>
          <a:p>
            <a:pPr>
              <a:lnSpc>
                <a:spcPct val="110000"/>
              </a:lnSpc>
            </a:pPr>
            <a:r>
              <a:rPr lang="en-US" sz="787" dirty="0">
                <a:solidFill>
                  <a:srgbClr val="A3A3A3"/>
                </a:solidFill>
                <a:latin typeface="Quattrocento Sans" pitchFamily="34" charset="0"/>
                <a:ea typeface="Quattrocento Sans" pitchFamily="34" charset="-122"/>
                <a:cs typeface="Quattrocento Sans" pitchFamily="34" charset="-120"/>
              </a:rPr>
              <a:t>Location: Van Gogh Museum, Amsterdam</a:t>
            </a:r>
            <a:endParaRPr lang="en-US" sz="1600" dirty="0"/>
          </a:p>
        </p:txBody>
      </p:sp>
      <p:sp>
        <p:nvSpPr>
          <p:cNvPr id="26" name="Shape 21"/>
          <p:cNvSpPr/>
          <p:nvPr/>
        </p:nvSpPr>
        <p:spPr>
          <a:xfrm>
            <a:off x="6183958" y="4008443"/>
            <a:ext cx="5675155" cy="2516735"/>
          </a:xfrm>
          <a:custGeom>
            <a:avLst/>
            <a:gdLst/>
            <a:ahLst/>
            <a:cxn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prstDash val="solid"/>
          </a:ln>
        </p:spPr>
      </p:sp>
      <p:pic>
        <p:nvPicPr>
          <p:cNvPr id="27" name="Image 3" descr="https://kimi-web-img.moonshot.cn/img/uploads6.wikiart.org/e198c367c7c66fc80e9e20d02a0d73fc80dee568.jpg">    </p:cNvPr>
          <p:cNvPicPr>
            <a:picLocks noChangeAspect="1"/>
          </p:cNvPicPr>
          <p:nvPr/>
        </p:nvPicPr>
        <p:blipFill>
          <a:blip r:embed="rId4"/>
          <a:srcRect l="0" r="0" t="35937" b="35937"/>
          <a:stretch/>
        </p:blipFill>
        <p:spPr>
          <a:xfrm>
            <a:off x="6188125" y="4012610"/>
            <a:ext cx="5666822" cy="1166699"/>
          </a:xfrm>
          <a:prstGeom prst="roundRect">
            <a:avLst>
              <a:gd name="adj" fmla="val 0"/>
            </a:avLst>
          </a:prstGeom>
        </p:spPr>
      </p:pic>
      <p:sp>
        <p:nvSpPr>
          <p:cNvPr id="28" name="Text 22"/>
          <p:cNvSpPr/>
          <p:nvPr/>
        </p:nvSpPr>
        <p:spPr>
          <a:xfrm>
            <a:off x="6321462" y="5312645"/>
            <a:ext cx="1175032" cy="233340"/>
          </a:xfrm>
          <a:prstGeom prst="rect">
            <a:avLst/>
          </a:prstGeom>
          <a:noFill/>
          <a:ln/>
        </p:spPr>
        <p:txBody>
          <a:bodyPr wrap="square" lIns="0" tIns="0" rIns="0" bIns="0" rtlCol="0" anchor="ctr"/>
          <a:lstStyle/>
          <a:p>
            <a:pPr>
              <a:lnSpc>
                <a:spcPct val="120000"/>
              </a:lnSpc>
            </a:pPr>
            <a:r>
              <a:rPr lang="en-US" sz="1312" b="1" dirty="0">
                <a:solidFill>
                  <a:srgbClr val="F2F2F2"/>
                </a:solidFill>
                <a:latin typeface="Oranienbaum" pitchFamily="34" charset="0"/>
                <a:ea typeface="Oranienbaum" pitchFamily="34" charset="-122"/>
                <a:cs typeface="Oranienbaum" pitchFamily="34" charset="-120"/>
              </a:rPr>
              <a:t>Almond Blossom</a:t>
            </a:r>
            <a:endParaRPr lang="en-US" sz="1600" dirty="0"/>
          </a:p>
        </p:txBody>
      </p:sp>
      <p:sp>
        <p:nvSpPr>
          <p:cNvPr id="29" name="Text 23"/>
          <p:cNvSpPr/>
          <p:nvPr/>
        </p:nvSpPr>
        <p:spPr>
          <a:xfrm>
            <a:off x="11475639" y="5345979"/>
            <a:ext cx="300008" cy="166671"/>
          </a:xfrm>
          <a:prstGeom prst="rect">
            <a:avLst/>
          </a:prstGeom>
          <a:noFill/>
          <a:ln/>
        </p:spPr>
        <p:txBody>
          <a:bodyPr wrap="square" lIns="0" tIns="0" rIns="0" bIns="0" rtlCol="0" anchor="ctr"/>
          <a:lstStyle/>
          <a:p>
            <a:pPr>
              <a:lnSpc>
                <a:spcPct val="120000"/>
              </a:lnSpc>
            </a:pPr>
            <a:r>
              <a:rPr lang="en-US" sz="919" dirty="0">
                <a:solidFill>
                  <a:srgbClr val="C9A36A"/>
                </a:solidFill>
                <a:latin typeface="Quattrocento Sans" pitchFamily="34" charset="0"/>
                <a:ea typeface="Quattrocento Sans" pitchFamily="34" charset="-122"/>
                <a:cs typeface="Quattrocento Sans" pitchFamily="34" charset="-120"/>
              </a:rPr>
              <a:t>1890</a:t>
            </a:r>
            <a:endParaRPr lang="en-US" sz="1600" dirty="0"/>
          </a:p>
        </p:txBody>
      </p:sp>
      <p:sp>
        <p:nvSpPr>
          <p:cNvPr id="30" name="Text 24"/>
          <p:cNvSpPr/>
          <p:nvPr/>
        </p:nvSpPr>
        <p:spPr>
          <a:xfrm>
            <a:off x="6321462" y="5612653"/>
            <a:ext cx="5458483" cy="408344"/>
          </a:xfrm>
          <a:prstGeom prst="rect">
            <a:avLst/>
          </a:prstGeom>
          <a:noFill/>
          <a:ln/>
        </p:spPr>
        <p:txBody>
          <a:bodyPr wrap="square" lIns="0" tIns="0" rIns="0" bIns="0" rtlCol="0" anchor="ctr"/>
          <a:lstStyle/>
          <a:p>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Painted as a gift for his newborn nephew, this work shows </a:t>
            </a:r>
            <a:pPr>
              <a:lnSpc>
                <a:spcPct val="140000"/>
              </a:lnSpc>
            </a:pPr>
            <a:r>
              <a:rPr lang="en-US" sz="919" dirty="0">
                <a:solidFill>
                  <a:srgbClr val="F2F2F2"/>
                </a:solidFill>
                <a:latin typeface="Quattrocento Sans" pitchFamily="34" charset="0"/>
                <a:ea typeface="Quattrocento Sans" pitchFamily="34" charset="-122"/>
                <a:cs typeface="Quattrocento Sans" pitchFamily="34" charset="-120"/>
              </a:rPr>
              <a:t>delicate branches against turquoise sky</a:t>
            </a:r>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 It represents new life and hope, heavily influenced by Japanese prints.</a:t>
            </a:r>
            <a:endParaRPr lang="en-US" sz="1600" dirty="0"/>
          </a:p>
        </p:txBody>
      </p:sp>
      <p:sp>
        <p:nvSpPr>
          <p:cNvPr id="31" name="Shape 25"/>
          <p:cNvSpPr/>
          <p:nvPr/>
        </p:nvSpPr>
        <p:spPr>
          <a:xfrm>
            <a:off x="6321462" y="6116834"/>
            <a:ext cx="5400148" cy="266674"/>
          </a:xfrm>
          <a:custGeom>
            <a:avLst/>
            <a:gdLst/>
            <a:ahLst/>
            <a:cxn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p:spPr>
      </p:sp>
      <p:sp>
        <p:nvSpPr>
          <p:cNvPr id="32" name="Text 26"/>
          <p:cNvSpPr/>
          <p:nvPr/>
        </p:nvSpPr>
        <p:spPr>
          <a:xfrm>
            <a:off x="6388130" y="6183502"/>
            <a:ext cx="5316812" cy="133337"/>
          </a:xfrm>
          <a:prstGeom prst="rect">
            <a:avLst/>
          </a:prstGeom>
          <a:noFill/>
          <a:ln/>
        </p:spPr>
        <p:txBody>
          <a:bodyPr wrap="square" lIns="0" tIns="0" rIns="0" bIns="0" rtlCol="0" anchor="ctr"/>
          <a:lstStyle/>
          <a:p>
            <a:pPr>
              <a:lnSpc>
                <a:spcPct val="110000"/>
              </a:lnSpc>
            </a:pPr>
            <a:r>
              <a:rPr lang="en-US" sz="787" dirty="0">
                <a:solidFill>
                  <a:srgbClr val="A3A3A3"/>
                </a:solidFill>
                <a:latin typeface="Quattrocento Sans" pitchFamily="34" charset="0"/>
                <a:ea typeface="Quattrocento Sans" pitchFamily="34" charset="-122"/>
                <a:cs typeface="Quattrocento Sans" pitchFamily="34" charset="-120"/>
              </a:rPr>
              <a:t>Location: Van Gogh Museum, Amsterdam</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111"/>
        </a:solidFill>
      </p:bgPr>
    </p:bg>
    <p:spTree>
      <p:nvGrpSpPr>
        <p:cNvPr id="1" name=""/>
        <p:cNvGrpSpPr/>
        <p:nvPr/>
      </p:nvGrpSpPr>
      <p:grpSpPr>
        <a:xfrm>
          <a:off x="0" y="0"/>
          <a:ext cx="0" cy="0"/>
          <a:chOff x="0" y="0"/>
          <a:chExt cx="0" cy="0"/>
        </a:xfrm>
      </p:grpSpPr>
      <p:pic>
        <p:nvPicPr>
          <p:cNvPr id="2" name="Image 0" descr="https://kimi-web-img.moonshot.cn/img/i.ebayimg.com/08bccc0dd267205a28a7ec6381bc55ac6cebafa5.jpg">    </p:cNvPr>
          <p:cNvPicPr>
            <a:picLocks noChangeAspect="1"/>
          </p:cNvPicPr>
          <p:nvPr/>
        </p:nvPicPr>
        <p:blipFill>
          <a:blip r:embed="rId1">
            <a:alphaModFix amt="30000"/>
          </a:blip>
          <a:srcRect l="0" r="0" t="15875" b="15875"/>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sp>
      <p:sp>
        <p:nvSpPr>
          <p:cNvPr id="4" name="Shape 1"/>
          <p:cNvSpPr/>
          <p:nvPr/>
        </p:nvSpPr>
        <p:spPr>
          <a:xfrm>
            <a:off x="385763" y="1231106"/>
            <a:ext cx="1066800" cy="809625"/>
          </a:xfrm>
          <a:custGeom>
            <a:avLst/>
            <a:gdLst/>
            <a:ahLst/>
            <a:cxnLst/>
            <a:rect l="l" t="t" r="r" b="b"/>
            <a:pathLst>
              <a:path w="1066800" h="809625">
                <a:moveTo>
                  <a:pt x="76202" y="0"/>
                </a:moveTo>
                <a:lnTo>
                  <a:pt x="990598" y="0"/>
                </a:lnTo>
                <a:cubicBezTo>
                  <a:pt x="1032683" y="0"/>
                  <a:pt x="1066800" y="34117"/>
                  <a:pt x="1066800" y="76202"/>
                </a:cubicBezTo>
                <a:lnTo>
                  <a:pt x="1066800" y="733423"/>
                </a:lnTo>
                <a:cubicBezTo>
                  <a:pt x="1066800" y="775508"/>
                  <a:pt x="1032683" y="809625"/>
                  <a:pt x="99059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619125" y="1307306"/>
            <a:ext cx="882997" cy="657225"/>
          </a:xfrm>
          <a:prstGeom prst="rect">
            <a:avLst/>
          </a:prstGeom>
          <a:noFill/>
          <a:ln/>
        </p:spPr>
        <p:txBody>
          <a:bodyPr wrap="square" lIns="0" tIns="0" rIns="0" bIns="0" rtlCol="0" anchor="ctr"/>
          <a:lstStyle/>
          <a:p>
            <a:pPr>
              <a:lnSpc>
                <a:spcPct val="80000"/>
              </a:lnSpc>
            </a:pPr>
            <a:r>
              <a:rPr lang="en-US" sz="4500" b="1" dirty="0">
                <a:solidFill>
                  <a:srgbClr val="C9A36A"/>
                </a:solidFill>
                <a:latin typeface="Oranienbaum" pitchFamily="34" charset="0"/>
                <a:ea typeface="Oranienbaum" pitchFamily="34" charset="-122"/>
                <a:cs typeface="Oranienbaum" pitchFamily="34" charset="-120"/>
              </a:rPr>
              <a:t>04</a:t>
            </a:r>
            <a:endParaRPr lang="en-US" sz="1600" dirty="0"/>
          </a:p>
        </p:txBody>
      </p:sp>
      <p:sp>
        <p:nvSpPr>
          <p:cNvPr id="6" name="Text 3"/>
          <p:cNvSpPr/>
          <p:nvPr/>
        </p:nvSpPr>
        <p:spPr>
          <a:xfrm>
            <a:off x="381000" y="2350294"/>
            <a:ext cx="8877300" cy="1714500"/>
          </a:xfrm>
          <a:prstGeom prst="rect">
            <a:avLst/>
          </a:prstGeom>
          <a:noFill/>
          <a:ln/>
        </p:spPr>
        <p:txBody>
          <a:bodyPr wrap="square" lIns="0" tIns="0" rIns="0" bIns="0" rtlCol="0" anchor="ctr"/>
          <a:lstStyle/>
          <a:p>
            <a:pPr>
              <a:lnSpc>
                <a:spcPct val="100000"/>
              </a:lnSpc>
            </a:pPr>
            <a:r>
              <a:rPr lang="en-US" sz="5400" b="1" dirty="0">
                <a:solidFill>
                  <a:srgbClr val="F2F2F2"/>
                </a:solidFill>
                <a:latin typeface="Oranienbaum" pitchFamily="34" charset="0"/>
                <a:ea typeface="Oranienbaum" pitchFamily="34" charset="-122"/>
                <a:cs typeface="Oranienbaum" pitchFamily="34" charset="-120"/>
              </a:rPr>
              <a:t>Mental Health and</a:t>
            </a:r>
            <a:endParaRPr lang="en-US" sz="1600" dirty="0"/>
          </a:p>
          <a:p>
            <a:pPr>
              <a:lnSpc>
                <a:spcPct val="100000"/>
              </a:lnSpc>
            </a:pPr>
            <a:r>
              <a:rPr lang="en-US" sz="5400" b="1" dirty="0">
                <a:solidFill>
                  <a:srgbClr val="F2F2F2"/>
                </a:solidFill>
                <a:latin typeface="Oranienbaum" pitchFamily="34" charset="0"/>
                <a:ea typeface="Oranienbaum" pitchFamily="34" charset="-122"/>
                <a:cs typeface="Oranienbaum" pitchFamily="34" charset="-120"/>
              </a:rPr>
              <a:t>the Price of Genius</a:t>
            </a:r>
            <a:endParaRPr lang="en-US" sz="1600" dirty="0"/>
          </a:p>
        </p:txBody>
      </p:sp>
      <p:sp>
        <p:nvSpPr>
          <p:cNvPr id="7" name="Shape 4"/>
          <p:cNvSpPr/>
          <p:nvPr/>
        </p:nvSpPr>
        <p:spPr>
          <a:xfrm>
            <a:off x="381000" y="4369594"/>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sp>
      <p:sp>
        <p:nvSpPr>
          <p:cNvPr id="8" name="Text 5"/>
          <p:cNvSpPr/>
          <p:nvPr/>
        </p:nvSpPr>
        <p:spPr>
          <a:xfrm>
            <a:off x="381000" y="4702969"/>
            <a:ext cx="6543675" cy="933450"/>
          </a:xfrm>
          <a:prstGeom prst="rect">
            <a:avLst/>
          </a:prstGeom>
          <a:noFill/>
          <a:ln/>
        </p:spPr>
        <p:txBody>
          <a:bodyPr wrap="square" lIns="0" tIns="0" rIns="0" bIns="0" rtlCol="0" anchor="ctr"/>
          <a:lstStyle/>
          <a:p>
            <a:pPr>
              <a:lnSpc>
                <a:spcPct val="140000"/>
              </a:lnSpc>
            </a:pPr>
            <a:r>
              <a:rPr lang="en-US" sz="2250" dirty="0">
                <a:solidFill>
                  <a:srgbClr val="B8B8B8"/>
                </a:solidFill>
                <a:latin typeface="Quattrocento Sans" pitchFamily="34" charset="0"/>
                <a:ea typeface="Quattrocento Sans" pitchFamily="34" charset="-122"/>
                <a:cs typeface="Quattrocento Sans" pitchFamily="34" charset="-120"/>
              </a:rPr>
              <a:t>The complex relationship between creativity and psychological struggle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37729" y="337729"/>
            <a:ext cx="11584089" cy="202637"/>
          </a:xfrm>
          <a:prstGeom prst="rect">
            <a:avLst/>
          </a:prstGeom>
          <a:noFill/>
          <a:ln/>
        </p:spPr>
        <p:txBody>
          <a:bodyPr wrap="square" lIns="0" tIns="0" rIns="0" bIns="0" rtlCol="0" anchor="ctr"/>
          <a:lstStyle/>
          <a:p>
            <a:pPr>
              <a:lnSpc>
                <a:spcPct val="130000"/>
              </a:lnSpc>
            </a:pPr>
            <a:r>
              <a:rPr lang="en-US" sz="1064" b="1" spc="213" kern="0" dirty="0">
                <a:solidFill>
                  <a:srgbClr val="C9A36A"/>
                </a:solidFill>
                <a:latin typeface="Quattrocento Sans" pitchFamily="34" charset="0"/>
                <a:ea typeface="Quattrocento Sans" pitchFamily="34" charset="-122"/>
                <a:cs typeface="Quattrocento Sans" pitchFamily="34" charset="-120"/>
              </a:rPr>
              <a:t>Chapter 04</a:t>
            </a:r>
            <a:endParaRPr lang="en-US" sz="1600" dirty="0"/>
          </a:p>
        </p:txBody>
      </p:sp>
      <p:sp>
        <p:nvSpPr>
          <p:cNvPr id="3" name="Text 1"/>
          <p:cNvSpPr/>
          <p:nvPr/>
        </p:nvSpPr>
        <p:spPr>
          <a:xfrm>
            <a:off x="337729" y="607911"/>
            <a:ext cx="11719180" cy="405274"/>
          </a:xfrm>
          <a:prstGeom prst="rect">
            <a:avLst/>
          </a:prstGeom>
          <a:noFill/>
          <a:ln/>
        </p:spPr>
        <p:txBody>
          <a:bodyPr wrap="square" lIns="0" tIns="0" rIns="0" bIns="0" rtlCol="0" anchor="ctr"/>
          <a:lstStyle/>
          <a:p>
            <a:pPr>
              <a:lnSpc>
                <a:spcPct val="80000"/>
              </a:lnSpc>
            </a:pPr>
            <a:r>
              <a:rPr lang="en-US" sz="3191" b="1" dirty="0">
                <a:solidFill>
                  <a:srgbClr val="F2F2F2"/>
                </a:solidFill>
                <a:latin typeface="Oranienbaum" pitchFamily="34" charset="0"/>
                <a:ea typeface="Oranienbaum" pitchFamily="34" charset="-122"/>
                <a:cs typeface="Oranienbaum" pitchFamily="34" charset="-120"/>
              </a:rPr>
              <a:t>The Struggle Within: Mental Health and Artistic Creation</a:t>
            </a:r>
            <a:endParaRPr lang="en-US" sz="1600" dirty="0"/>
          </a:p>
        </p:txBody>
      </p:sp>
      <p:sp>
        <p:nvSpPr>
          <p:cNvPr id="4" name="Shape 2"/>
          <p:cNvSpPr/>
          <p:nvPr/>
        </p:nvSpPr>
        <p:spPr>
          <a:xfrm>
            <a:off x="337729" y="1148277"/>
            <a:ext cx="945640" cy="16886"/>
          </a:xfrm>
          <a:custGeom>
            <a:avLst/>
            <a:gdLst/>
            <a:ahLst/>
            <a:cxnLst/>
            <a:rect l="l" t="t" r="r" b="b"/>
            <a:pathLst>
              <a:path w="945640" h="16886">
                <a:moveTo>
                  <a:pt x="0" y="0"/>
                </a:moveTo>
                <a:lnTo>
                  <a:pt x="945640" y="0"/>
                </a:lnTo>
                <a:lnTo>
                  <a:pt x="945640" y="16886"/>
                </a:lnTo>
                <a:lnTo>
                  <a:pt x="0" y="16886"/>
                </a:lnTo>
                <a:lnTo>
                  <a:pt x="0" y="0"/>
                </a:lnTo>
                <a:close/>
              </a:path>
            </a:pathLst>
          </a:custGeom>
          <a:solidFill>
            <a:srgbClr val="C9A36A"/>
          </a:solidFill>
          <a:ln/>
        </p:spPr>
      </p:sp>
      <p:sp>
        <p:nvSpPr>
          <p:cNvPr id="5" name="Shape 3"/>
          <p:cNvSpPr/>
          <p:nvPr/>
        </p:nvSpPr>
        <p:spPr>
          <a:xfrm>
            <a:off x="350393" y="1334028"/>
            <a:ext cx="5644288" cy="3309740"/>
          </a:xfrm>
          <a:custGeom>
            <a:avLst/>
            <a:gdLst/>
            <a:ahLst/>
            <a:cxnLst/>
            <a:rect l="l" t="t" r="r" b="b"/>
            <a:pathLst>
              <a:path w="5644288" h="3309740">
                <a:moveTo>
                  <a:pt x="25330" y="0"/>
                </a:moveTo>
                <a:lnTo>
                  <a:pt x="5576736" y="0"/>
                </a:lnTo>
                <a:cubicBezTo>
                  <a:pt x="5614044" y="0"/>
                  <a:pt x="5644288" y="30244"/>
                  <a:pt x="5644288" y="67552"/>
                </a:cubicBezTo>
                <a:lnTo>
                  <a:pt x="5644288" y="3242188"/>
                </a:lnTo>
                <a:cubicBezTo>
                  <a:pt x="5644288" y="3279496"/>
                  <a:pt x="5614044" y="3309740"/>
                  <a:pt x="5576736" y="3309740"/>
                </a:cubicBezTo>
                <a:lnTo>
                  <a:pt x="25330" y="3309740"/>
                </a:lnTo>
                <a:cubicBezTo>
                  <a:pt x="11340" y="3309740"/>
                  <a:pt x="0" y="3298399"/>
                  <a:pt x="0" y="3284410"/>
                </a:cubicBezTo>
                <a:lnTo>
                  <a:pt x="0" y="25330"/>
                </a:lnTo>
                <a:cubicBezTo>
                  <a:pt x="0" y="11350"/>
                  <a:pt x="11350" y="0"/>
                  <a:pt x="25330" y="0"/>
                </a:cubicBezTo>
                <a:close/>
              </a:path>
            </a:pathLst>
          </a:custGeom>
          <a:solidFill>
            <a:srgbClr val="1A1A1A"/>
          </a:solidFill>
          <a:ln/>
        </p:spPr>
      </p:sp>
      <p:sp>
        <p:nvSpPr>
          <p:cNvPr id="6" name="Shape 4"/>
          <p:cNvSpPr/>
          <p:nvPr/>
        </p:nvSpPr>
        <p:spPr>
          <a:xfrm>
            <a:off x="350393" y="1334028"/>
            <a:ext cx="25330" cy="3309740"/>
          </a:xfrm>
          <a:custGeom>
            <a:avLst/>
            <a:gdLst/>
            <a:ahLst/>
            <a:cxnLst/>
            <a:rect l="l" t="t" r="r" b="b"/>
            <a:pathLst>
              <a:path w="25330" h="3309740">
                <a:moveTo>
                  <a:pt x="25330" y="0"/>
                </a:moveTo>
                <a:lnTo>
                  <a:pt x="25330" y="0"/>
                </a:lnTo>
                <a:lnTo>
                  <a:pt x="25330" y="3309740"/>
                </a:lnTo>
                <a:lnTo>
                  <a:pt x="25330" y="3309740"/>
                </a:lnTo>
                <a:cubicBezTo>
                  <a:pt x="11340" y="3309740"/>
                  <a:pt x="0" y="3298399"/>
                  <a:pt x="0" y="3284410"/>
                </a:cubicBezTo>
                <a:lnTo>
                  <a:pt x="0" y="25330"/>
                </a:lnTo>
                <a:cubicBezTo>
                  <a:pt x="0" y="11350"/>
                  <a:pt x="11350" y="0"/>
                  <a:pt x="25330" y="0"/>
                </a:cubicBezTo>
                <a:close/>
              </a:path>
            </a:pathLst>
          </a:custGeom>
          <a:solidFill>
            <a:srgbClr val="C9A36A"/>
          </a:solidFill>
          <a:ln/>
        </p:spPr>
      </p:sp>
      <p:sp>
        <p:nvSpPr>
          <p:cNvPr id="7" name="Shape 5"/>
          <p:cNvSpPr/>
          <p:nvPr/>
        </p:nvSpPr>
        <p:spPr>
          <a:xfrm>
            <a:off x="531922" y="1502892"/>
            <a:ext cx="405274" cy="405274"/>
          </a:xfrm>
          <a:custGeom>
            <a:avLst/>
            <a:gdLst/>
            <a:ahLst/>
            <a:cxn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p:spPr>
      </p:sp>
      <p:sp>
        <p:nvSpPr>
          <p:cNvPr id="8" name="Shape 6"/>
          <p:cNvSpPr/>
          <p:nvPr/>
        </p:nvSpPr>
        <p:spPr>
          <a:xfrm>
            <a:off x="650127" y="1621097"/>
            <a:ext cx="168864" cy="168864"/>
          </a:xfrm>
          <a:custGeom>
            <a:avLst/>
            <a:gdLst/>
            <a:ahLst/>
            <a:cxnLst/>
            <a:rect l="l" t="t" r="r" b="b"/>
            <a:pathLst>
              <a:path w="168864" h="168864">
                <a:moveTo>
                  <a:pt x="39578" y="18470"/>
                </a:moveTo>
                <a:cubicBezTo>
                  <a:pt x="39578" y="8278"/>
                  <a:pt x="47856" y="0"/>
                  <a:pt x="58047" y="0"/>
                </a:cubicBezTo>
                <a:lnTo>
                  <a:pt x="65963" y="0"/>
                </a:lnTo>
                <a:cubicBezTo>
                  <a:pt x="71800" y="0"/>
                  <a:pt x="76517" y="4716"/>
                  <a:pt x="76517" y="10554"/>
                </a:cubicBezTo>
                <a:lnTo>
                  <a:pt x="76517" y="158310"/>
                </a:lnTo>
                <a:cubicBezTo>
                  <a:pt x="76517" y="164148"/>
                  <a:pt x="71800" y="168864"/>
                  <a:pt x="65963" y="168864"/>
                </a:cubicBezTo>
                <a:lnTo>
                  <a:pt x="55409" y="168864"/>
                </a:lnTo>
                <a:cubicBezTo>
                  <a:pt x="45580" y="168864"/>
                  <a:pt x="37302" y="162136"/>
                  <a:pt x="34960" y="153033"/>
                </a:cubicBezTo>
                <a:cubicBezTo>
                  <a:pt x="34729" y="153033"/>
                  <a:pt x="34531" y="153033"/>
                  <a:pt x="34301" y="153033"/>
                </a:cubicBezTo>
                <a:cubicBezTo>
                  <a:pt x="19723" y="153033"/>
                  <a:pt x="7916" y="141226"/>
                  <a:pt x="7916" y="126648"/>
                </a:cubicBezTo>
                <a:cubicBezTo>
                  <a:pt x="7916" y="120712"/>
                  <a:pt x="9894" y="115237"/>
                  <a:pt x="13193" y="110817"/>
                </a:cubicBezTo>
                <a:cubicBezTo>
                  <a:pt x="6794" y="106002"/>
                  <a:pt x="2639" y="98350"/>
                  <a:pt x="2639" y="89709"/>
                </a:cubicBezTo>
                <a:cubicBezTo>
                  <a:pt x="2639" y="79518"/>
                  <a:pt x="8443" y="70646"/>
                  <a:pt x="16886" y="66259"/>
                </a:cubicBezTo>
                <a:cubicBezTo>
                  <a:pt x="14545" y="62302"/>
                  <a:pt x="13193" y="57684"/>
                  <a:pt x="13193" y="52770"/>
                </a:cubicBezTo>
                <a:cubicBezTo>
                  <a:pt x="13193" y="38192"/>
                  <a:pt x="25000" y="26385"/>
                  <a:pt x="39578" y="26385"/>
                </a:cubicBezTo>
                <a:lnTo>
                  <a:pt x="39578" y="18470"/>
                </a:lnTo>
                <a:close/>
                <a:moveTo>
                  <a:pt x="129287" y="18470"/>
                </a:moveTo>
                <a:lnTo>
                  <a:pt x="129287" y="26385"/>
                </a:lnTo>
                <a:cubicBezTo>
                  <a:pt x="143864" y="26385"/>
                  <a:pt x="155672" y="38192"/>
                  <a:pt x="155672" y="52770"/>
                </a:cubicBezTo>
                <a:cubicBezTo>
                  <a:pt x="155672" y="57717"/>
                  <a:pt x="154320" y="62335"/>
                  <a:pt x="151978" y="66259"/>
                </a:cubicBezTo>
                <a:cubicBezTo>
                  <a:pt x="160454" y="70646"/>
                  <a:pt x="166226" y="79485"/>
                  <a:pt x="166226" y="89709"/>
                </a:cubicBezTo>
                <a:cubicBezTo>
                  <a:pt x="166226" y="98350"/>
                  <a:pt x="162070" y="106002"/>
                  <a:pt x="155672" y="110817"/>
                </a:cubicBezTo>
                <a:cubicBezTo>
                  <a:pt x="158970" y="115237"/>
                  <a:pt x="160949" y="120712"/>
                  <a:pt x="160949" y="126648"/>
                </a:cubicBezTo>
                <a:cubicBezTo>
                  <a:pt x="160949" y="141226"/>
                  <a:pt x="149141" y="153033"/>
                  <a:pt x="134564" y="153033"/>
                </a:cubicBezTo>
                <a:cubicBezTo>
                  <a:pt x="134333" y="153033"/>
                  <a:pt x="134135" y="153033"/>
                  <a:pt x="133904" y="153033"/>
                </a:cubicBezTo>
                <a:cubicBezTo>
                  <a:pt x="131562" y="162136"/>
                  <a:pt x="123284" y="168864"/>
                  <a:pt x="113456" y="168864"/>
                </a:cubicBezTo>
                <a:lnTo>
                  <a:pt x="102902" y="168864"/>
                </a:lnTo>
                <a:cubicBezTo>
                  <a:pt x="97064" y="168864"/>
                  <a:pt x="92348" y="164148"/>
                  <a:pt x="92348" y="158310"/>
                </a:cubicBezTo>
                <a:lnTo>
                  <a:pt x="92348" y="10554"/>
                </a:lnTo>
                <a:cubicBezTo>
                  <a:pt x="92348" y="4716"/>
                  <a:pt x="97064" y="0"/>
                  <a:pt x="102902" y="0"/>
                </a:cubicBezTo>
                <a:lnTo>
                  <a:pt x="110817" y="0"/>
                </a:lnTo>
                <a:cubicBezTo>
                  <a:pt x="121008" y="0"/>
                  <a:pt x="129287" y="8278"/>
                  <a:pt x="129287" y="18470"/>
                </a:cubicBezTo>
                <a:close/>
              </a:path>
            </a:pathLst>
          </a:custGeom>
          <a:solidFill>
            <a:srgbClr val="C9A36A"/>
          </a:solidFill>
          <a:ln/>
        </p:spPr>
      </p:sp>
      <p:sp>
        <p:nvSpPr>
          <p:cNvPr id="9" name="Text 7"/>
          <p:cNvSpPr/>
          <p:nvPr/>
        </p:nvSpPr>
        <p:spPr>
          <a:xfrm>
            <a:off x="1038515" y="1570438"/>
            <a:ext cx="1621097" cy="270183"/>
          </a:xfrm>
          <a:prstGeom prst="rect">
            <a:avLst/>
          </a:prstGeom>
          <a:noFill/>
          <a:ln/>
        </p:spPr>
        <p:txBody>
          <a:bodyPr wrap="square" lIns="0" tIns="0" rIns="0" bIns="0" rtlCol="0" anchor="ctr"/>
          <a:lstStyle/>
          <a:p>
            <a:pPr>
              <a:lnSpc>
                <a:spcPct val="110000"/>
              </a:lnSpc>
            </a:pPr>
            <a:r>
              <a:rPr lang="en-US" sz="1596" b="1" dirty="0">
                <a:solidFill>
                  <a:srgbClr val="F2F2F2"/>
                </a:solidFill>
                <a:latin typeface="Oranienbaum" pitchFamily="34" charset="0"/>
                <a:ea typeface="Oranienbaum" pitchFamily="34" charset="-122"/>
                <a:cs typeface="Oranienbaum" pitchFamily="34" charset="-120"/>
              </a:rPr>
              <a:t>Possible Diagnoses</a:t>
            </a:r>
            <a:endParaRPr lang="en-US" sz="1600" dirty="0"/>
          </a:p>
        </p:txBody>
      </p:sp>
      <p:sp>
        <p:nvSpPr>
          <p:cNvPr id="10" name="Text 8"/>
          <p:cNvSpPr/>
          <p:nvPr/>
        </p:nvSpPr>
        <p:spPr>
          <a:xfrm>
            <a:off x="531922" y="2043258"/>
            <a:ext cx="5361440" cy="439047"/>
          </a:xfrm>
          <a:prstGeom prst="rect">
            <a:avLst/>
          </a:prstGeom>
          <a:noFill/>
          <a:ln/>
        </p:spPr>
        <p:txBody>
          <a:bodyPr wrap="square" lIns="0" tIns="0" rIns="0" bIns="0" rtlCol="0" anchor="ctr"/>
          <a:lstStyle/>
          <a:p>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Modern psychiatrists have proposed various diagnoses for Van Gogh's condition, though no consensus exists. The leading theories include:</a:t>
            </a:r>
            <a:endParaRPr lang="en-US" sz="1600" dirty="0"/>
          </a:p>
        </p:txBody>
      </p:sp>
      <p:sp>
        <p:nvSpPr>
          <p:cNvPr id="11" name="Shape 9"/>
          <p:cNvSpPr/>
          <p:nvPr/>
        </p:nvSpPr>
        <p:spPr>
          <a:xfrm>
            <a:off x="531922" y="2617396"/>
            <a:ext cx="5293895" cy="574139"/>
          </a:xfrm>
          <a:custGeom>
            <a:avLst/>
            <a:gdLst/>
            <a:ahLst/>
            <a:cxn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p:spPr>
      </p:sp>
      <p:sp>
        <p:nvSpPr>
          <p:cNvPr id="12" name="Text 10"/>
          <p:cNvSpPr/>
          <p:nvPr/>
        </p:nvSpPr>
        <p:spPr>
          <a:xfrm>
            <a:off x="633241" y="2718715"/>
            <a:ext cx="5150360" cy="168864"/>
          </a:xfrm>
          <a:prstGeom prst="rect">
            <a:avLst/>
          </a:prstGeom>
          <a:noFill/>
          <a:ln/>
        </p:spPr>
        <p:txBody>
          <a:bodyPr wrap="square" lIns="0" tIns="0" rIns="0" bIns="0" rtlCol="0" anchor="ctr"/>
          <a:lstStyle/>
          <a:p>
            <a:pPr>
              <a:lnSpc>
                <a:spcPct val="120000"/>
              </a:lnSpc>
            </a:pPr>
            <a:r>
              <a:rPr lang="en-US" sz="931" b="1" dirty="0">
                <a:solidFill>
                  <a:srgbClr val="C9A36A"/>
                </a:solidFill>
                <a:latin typeface="Quattrocento Sans" pitchFamily="34" charset="0"/>
                <a:ea typeface="Quattrocento Sans" pitchFamily="34" charset="-122"/>
                <a:cs typeface="Quattrocento Sans" pitchFamily="34" charset="-120"/>
              </a:rPr>
              <a:t>Bipolar Disorder</a:t>
            </a:r>
            <a:endParaRPr lang="en-US" sz="1600" dirty="0"/>
          </a:p>
        </p:txBody>
      </p:sp>
      <p:sp>
        <p:nvSpPr>
          <p:cNvPr id="13" name="Text 11"/>
          <p:cNvSpPr/>
          <p:nvPr/>
        </p:nvSpPr>
        <p:spPr>
          <a:xfrm>
            <a:off x="633241" y="2921352"/>
            <a:ext cx="5150360" cy="168864"/>
          </a:xfrm>
          <a:prstGeom prst="rect">
            <a:avLst/>
          </a:prstGeom>
          <a:noFill/>
          <a:ln/>
        </p:spPr>
        <p:txBody>
          <a:bodyPr wrap="square" lIns="0" tIns="0" rIns="0" bIns="0" rtlCol="0" anchor="ctr"/>
          <a:lstStyle/>
          <a:p>
            <a:pPr>
              <a:lnSpc>
                <a:spcPct val="120000"/>
              </a:lnSpc>
            </a:pPr>
            <a:r>
              <a:rPr lang="en-US" sz="931" dirty="0">
                <a:solidFill>
                  <a:srgbClr val="B8B8B8"/>
                </a:solidFill>
                <a:latin typeface="Quattrocento Sans" pitchFamily="34" charset="0"/>
                <a:ea typeface="Quattrocento Sans" pitchFamily="34" charset="-122"/>
                <a:cs typeface="Quattrocento Sans" pitchFamily="34" charset="-120"/>
              </a:rPr>
              <a:t>Cycles of intense creativity and deep depression match his productive patterns</a:t>
            </a:r>
            <a:endParaRPr lang="en-US" sz="1600" dirty="0"/>
          </a:p>
        </p:txBody>
      </p:sp>
      <p:sp>
        <p:nvSpPr>
          <p:cNvPr id="14" name="Shape 12"/>
          <p:cNvSpPr/>
          <p:nvPr/>
        </p:nvSpPr>
        <p:spPr>
          <a:xfrm>
            <a:off x="531922" y="3259080"/>
            <a:ext cx="5293895" cy="574139"/>
          </a:xfrm>
          <a:custGeom>
            <a:avLst/>
            <a:gdLst/>
            <a:ahLst/>
            <a:cxn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p:spPr>
      </p:sp>
      <p:sp>
        <p:nvSpPr>
          <p:cNvPr id="15" name="Text 13"/>
          <p:cNvSpPr/>
          <p:nvPr/>
        </p:nvSpPr>
        <p:spPr>
          <a:xfrm>
            <a:off x="633241" y="3360399"/>
            <a:ext cx="5150360" cy="168864"/>
          </a:xfrm>
          <a:prstGeom prst="rect">
            <a:avLst/>
          </a:prstGeom>
          <a:noFill/>
          <a:ln/>
        </p:spPr>
        <p:txBody>
          <a:bodyPr wrap="square" lIns="0" tIns="0" rIns="0" bIns="0" rtlCol="0" anchor="ctr"/>
          <a:lstStyle/>
          <a:p>
            <a:pPr>
              <a:lnSpc>
                <a:spcPct val="120000"/>
              </a:lnSpc>
            </a:pPr>
            <a:r>
              <a:rPr lang="en-US" sz="931" b="1" dirty="0">
                <a:solidFill>
                  <a:srgbClr val="C9A36A"/>
                </a:solidFill>
                <a:latin typeface="Quattrocento Sans" pitchFamily="34" charset="0"/>
                <a:ea typeface="Quattrocento Sans" pitchFamily="34" charset="-122"/>
                <a:cs typeface="Quattrocento Sans" pitchFamily="34" charset="-120"/>
              </a:rPr>
              <a:t>Temporal Lobe Epilepsy</a:t>
            </a:r>
            <a:endParaRPr lang="en-US" sz="1600" dirty="0"/>
          </a:p>
        </p:txBody>
      </p:sp>
      <p:sp>
        <p:nvSpPr>
          <p:cNvPr id="16" name="Text 14"/>
          <p:cNvSpPr/>
          <p:nvPr/>
        </p:nvSpPr>
        <p:spPr>
          <a:xfrm>
            <a:off x="633241" y="3563036"/>
            <a:ext cx="5150360" cy="168864"/>
          </a:xfrm>
          <a:prstGeom prst="rect">
            <a:avLst/>
          </a:prstGeom>
          <a:noFill/>
          <a:ln/>
        </p:spPr>
        <p:txBody>
          <a:bodyPr wrap="square" lIns="0" tIns="0" rIns="0" bIns="0" rtlCol="0" anchor="ctr"/>
          <a:lstStyle/>
          <a:p>
            <a:pPr>
              <a:lnSpc>
                <a:spcPct val="120000"/>
              </a:lnSpc>
            </a:pPr>
            <a:r>
              <a:rPr lang="en-US" sz="931" dirty="0">
                <a:solidFill>
                  <a:srgbClr val="B8B8B8"/>
                </a:solidFill>
                <a:latin typeface="Quattrocento Sans" pitchFamily="34" charset="0"/>
                <a:ea typeface="Quattrocento Sans" pitchFamily="34" charset="-122"/>
                <a:cs typeface="Quattrocento Sans" pitchFamily="34" charset="-120"/>
              </a:rPr>
              <a:t>Could explain his religious fervor, altered perceptions, and aura experiences</a:t>
            </a:r>
            <a:endParaRPr lang="en-US" sz="1600" dirty="0"/>
          </a:p>
        </p:txBody>
      </p:sp>
      <p:sp>
        <p:nvSpPr>
          <p:cNvPr id="17" name="Shape 15"/>
          <p:cNvSpPr/>
          <p:nvPr/>
        </p:nvSpPr>
        <p:spPr>
          <a:xfrm>
            <a:off x="531922" y="3900765"/>
            <a:ext cx="5293895" cy="574139"/>
          </a:xfrm>
          <a:custGeom>
            <a:avLst/>
            <a:gdLst/>
            <a:ahLst/>
            <a:cxn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p:spPr>
      </p:sp>
      <p:sp>
        <p:nvSpPr>
          <p:cNvPr id="18" name="Text 16"/>
          <p:cNvSpPr/>
          <p:nvPr/>
        </p:nvSpPr>
        <p:spPr>
          <a:xfrm>
            <a:off x="633241" y="4002083"/>
            <a:ext cx="5150360" cy="168864"/>
          </a:xfrm>
          <a:prstGeom prst="rect">
            <a:avLst/>
          </a:prstGeom>
          <a:noFill/>
          <a:ln/>
        </p:spPr>
        <p:txBody>
          <a:bodyPr wrap="square" lIns="0" tIns="0" rIns="0" bIns="0" rtlCol="0" anchor="ctr"/>
          <a:lstStyle/>
          <a:p>
            <a:pPr>
              <a:lnSpc>
                <a:spcPct val="120000"/>
              </a:lnSpc>
            </a:pPr>
            <a:r>
              <a:rPr lang="en-US" sz="931" b="1" dirty="0">
                <a:solidFill>
                  <a:srgbClr val="C9A36A"/>
                </a:solidFill>
                <a:latin typeface="Quattrocento Sans" pitchFamily="34" charset="0"/>
                <a:ea typeface="Quattrocento Sans" pitchFamily="34" charset="-122"/>
                <a:cs typeface="Quattrocento Sans" pitchFamily="34" charset="-120"/>
              </a:rPr>
              <a:t>Schizophrenia</a:t>
            </a:r>
            <a:endParaRPr lang="en-US" sz="1600" dirty="0"/>
          </a:p>
        </p:txBody>
      </p:sp>
      <p:sp>
        <p:nvSpPr>
          <p:cNvPr id="19" name="Text 17"/>
          <p:cNvSpPr/>
          <p:nvPr/>
        </p:nvSpPr>
        <p:spPr>
          <a:xfrm>
            <a:off x="633241" y="4204720"/>
            <a:ext cx="5150360" cy="168864"/>
          </a:xfrm>
          <a:prstGeom prst="rect">
            <a:avLst/>
          </a:prstGeom>
          <a:noFill/>
          <a:ln/>
        </p:spPr>
        <p:txBody>
          <a:bodyPr wrap="square" lIns="0" tIns="0" rIns="0" bIns="0" rtlCol="0" anchor="ctr"/>
          <a:lstStyle/>
          <a:p>
            <a:pPr>
              <a:lnSpc>
                <a:spcPct val="120000"/>
              </a:lnSpc>
            </a:pPr>
            <a:r>
              <a:rPr lang="en-US" sz="931" dirty="0">
                <a:solidFill>
                  <a:srgbClr val="B8B8B8"/>
                </a:solidFill>
                <a:latin typeface="Quattrocento Sans" pitchFamily="34" charset="0"/>
                <a:ea typeface="Quattrocento Sans" pitchFamily="34" charset="-122"/>
                <a:cs typeface="Quattrocento Sans" pitchFamily="34" charset="-120"/>
              </a:rPr>
              <a:t>His psychotic episodes, paranoia, and hallucinations support this theory</a:t>
            </a:r>
            <a:endParaRPr lang="en-US" sz="1600" dirty="0"/>
          </a:p>
        </p:txBody>
      </p:sp>
      <p:sp>
        <p:nvSpPr>
          <p:cNvPr id="20" name="Shape 18"/>
          <p:cNvSpPr/>
          <p:nvPr/>
        </p:nvSpPr>
        <p:spPr>
          <a:xfrm>
            <a:off x="350393" y="4778859"/>
            <a:ext cx="5644288" cy="1536665"/>
          </a:xfrm>
          <a:custGeom>
            <a:avLst/>
            <a:gdLst/>
            <a:ahLst/>
            <a:cxnLst/>
            <a:rect l="l" t="t" r="r" b="b"/>
            <a:pathLst>
              <a:path w="5644288" h="1536665">
                <a:moveTo>
                  <a:pt x="25330" y="0"/>
                </a:moveTo>
                <a:lnTo>
                  <a:pt x="5576736" y="0"/>
                </a:lnTo>
                <a:cubicBezTo>
                  <a:pt x="5614044" y="0"/>
                  <a:pt x="5644288" y="30244"/>
                  <a:pt x="5644288" y="67552"/>
                </a:cubicBezTo>
                <a:lnTo>
                  <a:pt x="5644288" y="1469113"/>
                </a:lnTo>
                <a:cubicBezTo>
                  <a:pt x="5644288" y="1506421"/>
                  <a:pt x="5614044" y="1536665"/>
                  <a:pt x="5576736" y="1536665"/>
                </a:cubicBezTo>
                <a:lnTo>
                  <a:pt x="25330" y="1536665"/>
                </a:lnTo>
                <a:cubicBezTo>
                  <a:pt x="11340" y="1536665"/>
                  <a:pt x="0" y="1525324"/>
                  <a:pt x="0" y="1511335"/>
                </a:cubicBezTo>
                <a:lnTo>
                  <a:pt x="0" y="25330"/>
                </a:lnTo>
                <a:cubicBezTo>
                  <a:pt x="0" y="11350"/>
                  <a:pt x="11350" y="0"/>
                  <a:pt x="25330" y="0"/>
                </a:cubicBezTo>
                <a:close/>
              </a:path>
            </a:pathLst>
          </a:custGeom>
          <a:solidFill>
            <a:srgbClr val="1A1A1A"/>
          </a:solidFill>
          <a:ln/>
        </p:spPr>
      </p:sp>
      <p:sp>
        <p:nvSpPr>
          <p:cNvPr id="21" name="Shape 19"/>
          <p:cNvSpPr/>
          <p:nvPr/>
        </p:nvSpPr>
        <p:spPr>
          <a:xfrm>
            <a:off x="350393" y="4778859"/>
            <a:ext cx="25330" cy="1536665"/>
          </a:xfrm>
          <a:custGeom>
            <a:avLst/>
            <a:gdLst/>
            <a:ahLst/>
            <a:cxnLst/>
            <a:rect l="l" t="t" r="r" b="b"/>
            <a:pathLst>
              <a:path w="25330" h="1536665">
                <a:moveTo>
                  <a:pt x="25330" y="0"/>
                </a:moveTo>
                <a:lnTo>
                  <a:pt x="25330" y="0"/>
                </a:lnTo>
                <a:lnTo>
                  <a:pt x="25330" y="1536665"/>
                </a:lnTo>
                <a:lnTo>
                  <a:pt x="25330" y="1536665"/>
                </a:lnTo>
                <a:cubicBezTo>
                  <a:pt x="11340" y="1536665"/>
                  <a:pt x="0" y="1525324"/>
                  <a:pt x="0" y="1511335"/>
                </a:cubicBezTo>
                <a:lnTo>
                  <a:pt x="0" y="25330"/>
                </a:lnTo>
                <a:cubicBezTo>
                  <a:pt x="0" y="11350"/>
                  <a:pt x="11350" y="0"/>
                  <a:pt x="25330" y="0"/>
                </a:cubicBezTo>
                <a:close/>
              </a:path>
            </a:pathLst>
          </a:custGeom>
          <a:solidFill>
            <a:srgbClr val="C9A36A"/>
          </a:solidFill>
          <a:ln/>
        </p:spPr>
      </p:sp>
      <p:sp>
        <p:nvSpPr>
          <p:cNvPr id="22" name="Shape 20"/>
          <p:cNvSpPr/>
          <p:nvPr/>
        </p:nvSpPr>
        <p:spPr>
          <a:xfrm>
            <a:off x="531922" y="4947723"/>
            <a:ext cx="405274" cy="405274"/>
          </a:xfrm>
          <a:custGeom>
            <a:avLst/>
            <a:gdLst/>
            <a:ahLst/>
            <a:cxn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p:spPr>
      </p:sp>
      <p:sp>
        <p:nvSpPr>
          <p:cNvPr id="23" name="Shape 21"/>
          <p:cNvSpPr/>
          <p:nvPr/>
        </p:nvSpPr>
        <p:spPr>
          <a:xfrm>
            <a:off x="639573" y="5065928"/>
            <a:ext cx="189972" cy="168864"/>
          </a:xfrm>
          <a:custGeom>
            <a:avLst/>
            <a:gdLst/>
            <a:ahLst/>
            <a:cxnLst/>
            <a:rect l="l" t="t" r="r" b="b"/>
            <a:pathLst>
              <a:path w="189972" h="168864">
                <a:moveTo>
                  <a:pt x="42216" y="21108"/>
                </a:moveTo>
                <a:cubicBezTo>
                  <a:pt x="42216" y="9466"/>
                  <a:pt x="51682" y="0"/>
                  <a:pt x="63324" y="0"/>
                </a:cubicBezTo>
                <a:lnTo>
                  <a:pt x="126648" y="0"/>
                </a:lnTo>
                <a:cubicBezTo>
                  <a:pt x="138291" y="0"/>
                  <a:pt x="147756" y="9466"/>
                  <a:pt x="147756" y="21108"/>
                </a:cubicBezTo>
                <a:lnTo>
                  <a:pt x="147756" y="42216"/>
                </a:lnTo>
                <a:lnTo>
                  <a:pt x="168864" y="42216"/>
                </a:lnTo>
                <a:cubicBezTo>
                  <a:pt x="180507" y="42216"/>
                  <a:pt x="189972" y="51682"/>
                  <a:pt x="189972" y="63324"/>
                </a:cubicBezTo>
                <a:lnTo>
                  <a:pt x="189972" y="147756"/>
                </a:lnTo>
                <a:cubicBezTo>
                  <a:pt x="189972" y="159399"/>
                  <a:pt x="180507" y="168864"/>
                  <a:pt x="168864" y="168864"/>
                </a:cubicBezTo>
                <a:lnTo>
                  <a:pt x="21108" y="168864"/>
                </a:lnTo>
                <a:cubicBezTo>
                  <a:pt x="9466" y="168864"/>
                  <a:pt x="0" y="159399"/>
                  <a:pt x="0" y="147756"/>
                </a:cubicBezTo>
                <a:lnTo>
                  <a:pt x="0" y="63324"/>
                </a:lnTo>
                <a:cubicBezTo>
                  <a:pt x="0" y="51682"/>
                  <a:pt x="9466" y="42216"/>
                  <a:pt x="21108" y="42216"/>
                </a:cubicBezTo>
                <a:lnTo>
                  <a:pt x="42216" y="42216"/>
                </a:lnTo>
                <a:lnTo>
                  <a:pt x="42216" y="21108"/>
                </a:lnTo>
                <a:close/>
                <a:moveTo>
                  <a:pt x="89709" y="116094"/>
                </a:moveTo>
                <a:cubicBezTo>
                  <a:pt x="83871" y="116094"/>
                  <a:pt x="79155" y="120811"/>
                  <a:pt x="79155" y="126648"/>
                </a:cubicBezTo>
                <a:lnTo>
                  <a:pt x="79155" y="153033"/>
                </a:lnTo>
                <a:lnTo>
                  <a:pt x="110817" y="153033"/>
                </a:lnTo>
                <a:lnTo>
                  <a:pt x="110817" y="126648"/>
                </a:lnTo>
                <a:cubicBezTo>
                  <a:pt x="110817" y="120811"/>
                  <a:pt x="106101" y="116094"/>
                  <a:pt x="100263" y="116094"/>
                </a:cubicBezTo>
                <a:lnTo>
                  <a:pt x="89709" y="116094"/>
                </a:lnTo>
                <a:close/>
                <a:moveTo>
                  <a:pt x="42216" y="121371"/>
                </a:moveTo>
                <a:lnTo>
                  <a:pt x="42216" y="110817"/>
                </a:lnTo>
                <a:cubicBezTo>
                  <a:pt x="42216" y="107915"/>
                  <a:pt x="39841" y="105540"/>
                  <a:pt x="36939" y="105540"/>
                </a:cubicBezTo>
                <a:lnTo>
                  <a:pt x="26385" y="105540"/>
                </a:lnTo>
                <a:cubicBezTo>
                  <a:pt x="23483" y="105540"/>
                  <a:pt x="21108" y="107915"/>
                  <a:pt x="21108" y="110817"/>
                </a:cubicBezTo>
                <a:lnTo>
                  <a:pt x="21108" y="121371"/>
                </a:lnTo>
                <a:cubicBezTo>
                  <a:pt x="21108" y="124274"/>
                  <a:pt x="23483" y="126648"/>
                  <a:pt x="26385" y="126648"/>
                </a:cubicBezTo>
                <a:lnTo>
                  <a:pt x="36939" y="126648"/>
                </a:lnTo>
                <a:cubicBezTo>
                  <a:pt x="39841" y="126648"/>
                  <a:pt x="42216" y="124274"/>
                  <a:pt x="42216" y="121371"/>
                </a:cubicBezTo>
                <a:close/>
                <a:moveTo>
                  <a:pt x="36939" y="84432"/>
                </a:moveTo>
                <a:cubicBezTo>
                  <a:pt x="39841" y="84432"/>
                  <a:pt x="42216" y="82057"/>
                  <a:pt x="42216" y="79155"/>
                </a:cubicBezTo>
                <a:lnTo>
                  <a:pt x="42216" y="68601"/>
                </a:lnTo>
                <a:cubicBezTo>
                  <a:pt x="42216" y="65699"/>
                  <a:pt x="39841" y="63324"/>
                  <a:pt x="36939" y="63324"/>
                </a:cubicBezTo>
                <a:lnTo>
                  <a:pt x="26385" y="63324"/>
                </a:lnTo>
                <a:cubicBezTo>
                  <a:pt x="23483" y="63324"/>
                  <a:pt x="21108" y="65699"/>
                  <a:pt x="21108" y="68601"/>
                </a:cubicBezTo>
                <a:lnTo>
                  <a:pt x="21108" y="79155"/>
                </a:lnTo>
                <a:cubicBezTo>
                  <a:pt x="21108" y="82057"/>
                  <a:pt x="23483" y="84432"/>
                  <a:pt x="26385" y="84432"/>
                </a:cubicBezTo>
                <a:lnTo>
                  <a:pt x="36939" y="84432"/>
                </a:lnTo>
                <a:close/>
                <a:moveTo>
                  <a:pt x="168864" y="121371"/>
                </a:moveTo>
                <a:lnTo>
                  <a:pt x="168864" y="110817"/>
                </a:lnTo>
                <a:cubicBezTo>
                  <a:pt x="168864" y="107915"/>
                  <a:pt x="166490" y="105540"/>
                  <a:pt x="163587" y="105540"/>
                </a:cubicBezTo>
                <a:lnTo>
                  <a:pt x="153033" y="105540"/>
                </a:lnTo>
                <a:cubicBezTo>
                  <a:pt x="150131" y="105540"/>
                  <a:pt x="147756" y="107915"/>
                  <a:pt x="147756" y="110817"/>
                </a:cubicBezTo>
                <a:lnTo>
                  <a:pt x="147756" y="121371"/>
                </a:lnTo>
                <a:cubicBezTo>
                  <a:pt x="147756" y="124274"/>
                  <a:pt x="150131" y="126648"/>
                  <a:pt x="153033" y="126648"/>
                </a:cubicBezTo>
                <a:lnTo>
                  <a:pt x="163587" y="126648"/>
                </a:lnTo>
                <a:cubicBezTo>
                  <a:pt x="166490" y="126648"/>
                  <a:pt x="168864" y="124274"/>
                  <a:pt x="168864" y="121371"/>
                </a:cubicBezTo>
                <a:close/>
                <a:moveTo>
                  <a:pt x="163587" y="84432"/>
                </a:moveTo>
                <a:cubicBezTo>
                  <a:pt x="166490" y="84432"/>
                  <a:pt x="168864" y="82057"/>
                  <a:pt x="168864" y="79155"/>
                </a:cubicBezTo>
                <a:lnTo>
                  <a:pt x="168864" y="68601"/>
                </a:lnTo>
                <a:cubicBezTo>
                  <a:pt x="168864" y="65699"/>
                  <a:pt x="166490" y="63324"/>
                  <a:pt x="163587" y="63324"/>
                </a:cubicBezTo>
                <a:lnTo>
                  <a:pt x="153033" y="63324"/>
                </a:lnTo>
                <a:cubicBezTo>
                  <a:pt x="150131" y="63324"/>
                  <a:pt x="147756" y="65699"/>
                  <a:pt x="147756" y="68601"/>
                </a:cubicBezTo>
                <a:lnTo>
                  <a:pt x="147756" y="79155"/>
                </a:lnTo>
                <a:cubicBezTo>
                  <a:pt x="147756" y="82057"/>
                  <a:pt x="150131" y="84432"/>
                  <a:pt x="153033" y="84432"/>
                </a:cubicBezTo>
                <a:lnTo>
                  <a:pt x="163587" y="84432"/>
                </a:lnTo>
                <a:close/>
                <a:moveTo>
                  <a:pt x="87071" y="34301"/>
                </a:moveTo>
                <a:lnTo>
                  <a:pt x="87071" y="44855"/>
                </a:lnTo>
                <a:lnTo>
                  <a:pt x="76517" y="44855"/>
                </a:lnTo>
                <a:cubicBezTo>
                  <a:pt x="73614" y="44855"/>
                  <a:pt x="71240" y="47229"/>
                  <a:pt x="71240" y="50132"/>
                </a:cubicBezTo>
                <a:lnTo>
                  <a:pt x="71240" y="55409"/>
                </a:lnTo>
                <a:cubicBezTo>
                  <a:pt x="71240" y="58311"/>
                  <a:pt x="73614" y="60686"/>
                  <a:pt x="76517" y="60686"/>
                </a:cubicBezTo>
                <a:lnTo>
                  <a:pt x="87071" y="60686"/>
                </a:lnTo>
                <a:lnTo>
                  <a:pt x="87071" y="71240"/>
                </a:lnTo>
                <a:cubicBezTo>
                  <a:pt x="87071" y="74142"/>
                  <a:pt x="89445" y="76517"/>
                  <a:pt x="92348" y="76517"/>
                </a:cubicBezTo>
                <a:lnTo>
                  <a:pt x="97625" y="76517"/>
                </a:lnTo>
                <a:cubicBezTo>
                  <a:pt x="100527" y="76517"/>
                  <a:pt x="102902" y="74142"/>
                  <a:pt x="102902" y="71240"/>
                </a:cubicBezTo>
                <a:lnTo>
                  <a:pt x="102902" y="60686"/>
                </a:lnTo>
                <a:lnTo>
                  <a:pt x="113456" y="60686"/>
                </a:lnTo>
                <a:cubicBezTo>
                  <a:pt x="116358" y="60686"/>
                  <a:pt x="118733" y="58311"/>
                  <a:pt x="118733" y="55409"/>
                </a:cubicBezTo>
                <a:lnTo>
                  <a:pt x="118733" y="50132"/>
                </a:lnTo>
                <a:cubicBezTo>
                  <a:pt x="118733" y="47229"/>
                  <a:pt x="116358" y="44855"/>
                  <a:pt x="113456" y="44855"/>
                </a:cubicBezTo>
                <a:lnTo>
                  <a:pt x="102902" y="44855"/>
                </a:lnTo>
                <a:lnTo>
                  <a:pt x="102902" y="34301"/>
                </a:lnTo>
                <a:cubicBezTo>
                  <a:pt x="102902" y="31398"/>
                  <a:pt x="100527" y="29024"/>
                  <a:pt x="97625" y="29024"/>
                </a:cubicBezTo>
                <a:lnTo>
                  <a:pt x="92348" y="29024"/>
                </a:lnTo>
                <a:cubicBezTo>
                  <a:pt x="89445" y="29024"/>
                  <a:pt x="87071" y="31398"/>
                  <a:pt x="87071" y="34301"/>
                </a:cubicBezTo>
                <a:close/>
              </a:path>
            </a:pathLst>
          </a:custGeom>
          <a:solidFill>
            <a:srgbClr val="C9A36A"/>
          </a:solidFill>
          <a:ln/>
        </p:spPr>
      </p:sp>
      <p:sp>
        <p:nvSpPr>
          <p:cNvPr id="24" name="Text 22"/>
          <p:cNvSpPr/>
          <p:nvPr/>
        </p:nvSpPr>
        <p:spPr>
          <a:xfrm>
            <a:off x="1038515" y="5015269"/>
            <a:ext cx="1722416" cy="270183"/>
          </a:xfrm>
          <a:prstGeom prst="rect">
            <a:avLst/>
          </a:prstGeom>
          <a:noFill/>
          <a:ln/>
        </p:spPr>
        <p:txBody>
          <a:bodyPr wrap="square" lIns="0" tIns="0" rIns="0" bIns="0" rtlCol="0" anchor="ctr"/>
          <a:lstStyle/>
          <a:p>
            <a:pPr>
              <a:lnSpc>
                <a:spcPct val="110000"/>
              </a:lnSpc>
            </a:pPr>
            <a:r>
              <a:rPr lang="en-US" sz="1596" b="1" dirty="0">
                <a:solidFill>
                  <a:srgbClr val="F2F2F2"/>
                </a:solidFill>
                <a:latin typeface="Oranienbaum" pitchFamily="34" charset="0"/>
                <a:ea typeface="Oranienbaum" pitchFamily="34" charset="-122"/>
                <a:cs typeface="Oranienbaum" pitchFamily="34" charset="-120"/>
              </a:rPr>
              <a:t>Asylum Productivity</a:t>
            </a:r>
            <a:endParaRPr lang="en-US" sz="1600" dirty="0"/>
          </a:p>
        </p:txBody>
      </p:sp>
      <p:sp>
        <p:nvSpPr>
          <p:cNvPr id="25" name="Text 23"/>
          <p:cNvSpPr/>
          <p:nvPr/>
        </p:nvSpPr>
        <p:spPr>
          <a:xfrm>
            <a:off x="531922" y="5488089"/>
            <a:ext cx="5361440" cy="658571"/>
          </a:xfrm>
          <a:prstGeom prst="rect">
            <a:avLst/>
          </a:prstGeom>
          <a:noFill/>
          <a:ln/>
        </p:spPr>
        <p:txBody>
          <a:bodyPr wrap="square" lIns="0" tIns="0" rIns="0" bIns="0" rtlCol="0" anchor="ctr"/>
          <a:lstStyle/>
          <a:p>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Paradoxically, his time at Saint-Rémy was one of his most productive periods. Despite confinement and mental anguish, he created </a:t>
            </a:r>
            <a:pPr>
              <a:lnSpc>
                <a:spcPct val="140000"/>
              </a:lnSpc>
            </a:pPr>
            <a:r>
              <a:rPr lang="en-US" sz="1064" dirty="0">
                <a:solidFill>
                  <a:srgbClr val="F2F2F2"/>
                </a:solidFill>
                <a:latin typeface="Quattrocento Sans" pitchFamily="34" charset="0"/>
                <a:ea typeface="Quattrocento Sans" pitchFamily="34" charset="-122"/>
                <a:cs typeface="Quattrocento Sans" pitchFamily="34" charset="-120"/>
              </a:rPr>
              <a:t>over 150 works in one year</a:t>
            </a:r>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 including "The Starry Night" and "Irises." His art became both therapy and transcendence.</a:t>
            </a:r>
            <a:endParaRPr lang="en-US" sz="1600" dirty="0"/>
          </a:p>
        </p:txBody>
      </p:sp>
      <p:sp>
        <p:nvSpPr>
          <p:cNvPr id="26" name="Shape 24"/>
          <p:cNvSpPr/>
          <p:nvPr/>
        </p:nvSpPr>
        <p:spPr>
          <a:xfrm>
            <a:off x="6208070" y="1334028"/>
            <a:ext cx="5644288" cy="3208421"/>
          </a:xfrm>
          <a:custGeom>
            <a:avLst/>
            <a:gdLst/>
            <a:ahLst/>
            <a:cxnLst/>
            <a:rect l="l" t="t" r="r" b="b"/>
            <a:pathLst>
              <a:path w="5644288" h="3208421">
                <a:moveTo>
                  <a:pt x="25330" y="0"/>
                </a:moveTo>
                <a:lnTo>
                  <a:pt x="5576751" y="0"/>
                </a:lnTo>
                <a:cubicBezTo>
                  <a:pt x="5614051" y="0"/>
                  <a:pt x="5644288" y="30237"/>
                  <a:pt x="5644288" y="67537"/>
                </a:cubicBezTo>
                <a:lnTo>
                  <a:pt x="5644288" y="3140884"/>
                </a:lnTo>
                <a:cubicBezTo>
                  <a:pt x="5644288" y="3178184"/>
                  <a:pt x="5614051" y="3208421"/>
                  <a:pt x="5576751" y="3208421"/>
                </a:cubicBezTo>
                <a:lnTo>
                  <a:pt x="25330" y="3208421"/>
                </a:lnTo>
                <a:cubicBezTo>
                  <a:pt x="11340" y="3208421"/>
                  <a:pt x="0" y="3197081"/>
                  <a:pt x="0" y="3183091"/>
                </a:cubicBezTo>
                <a:lnTo>
                  <a:pt x="0" y="25330"/>
                </a:lnTo>
                <a:cubicBezTo>
                  <a:pt x="0" y="11350"/>
                  <a:pt x="11350" y="0"/>
                  <a:pt x="25330" y="0"/>
                </a:cubicBezTo>
                <a:close/>
              </a:path>
            </a:pathLst>
          </a:custGeom>
          <a:solidFill>
            <a:srgbClr val="1A1A1A"/>
          </a:solidFill>
          <a:ln/>
        </p:spPr>
      </p:sp>
      <p:sp>
        <p:nvSpPr>
          <p:cNvPr id="27" name="Shape 25"/>
          <p:cNvSpPr/>
          <p:nvPr/>
        </p:nvSpPr>
        <p:spPr>
          <a:xfrm>
            <a:off x="6208070" y="1334028"/>
            <a:ext cx="25330" cy="3208421"/>
          </a:xfrm>
          <a:custGeom>
            <a:avLst/>
            <a:gdLst/>
            <a:ahLst/>
            <a:cxnLst/>
            <a:rect l="l" t="t" r="r" b="b"/>
            <a:pathLst>
              <a:path w="25330" h="3208421">
                <a:moveTo>
                  <a:pt x="25330" y="0"/>
                </a:moveTo>
                <a:lnTo>
                  <a:pt x="25330" y="0"/>
                </a:lnTo>
                <a:lnTo>
                  <a:pt x="25330" y="3208421"/>
                </a:lnTo>
                <a:lnTo>
                  <a:pt x="25330" y="3208421"/>
                </a:lnTo>
                <a:cubicBezTo>
                  <a:pt x="11340" y="3208421"/>
                  <a:pt x="0" y="3197081"/>
                  <a:pt x="0" y="3183091"/>
                </a:cubicBezTo>
                <a:lnTo>
                  <a:pt x="0" y="25330"/>
                </a:lnTo>
                <a:cubicBezTo>
                  <a:pt x="0" y="11350"/>
                  <a:pt x="11350" y="0"/>
                  <a:pt x="25330" y="0"/>
                </a:cubicBezTo>
                <a:close/>
              </a:path>
            </a:pathLst>
          </a:custGeom>
          <a:solidFill>
            <a:srgbClr val="C9A36A"/>
          </a:solidFill>
          <a:ln/>
        </p:spPr>
      </p:sp>
      <p:sp>
        <p:nvSpPr>
          <p:cNvPr id="28" name="Shape 26"/>
          <p:cNvSpPr/>
          <p:nvPr/>
        </p:nvSpPr>
        <p:spPr>
          <a:xfrm>
            <a:off x="6389600" y="1502892"/>
            <a:ext cx="405274" cy="405274"/>
          </a:xfrm>
          <a:custGeom>
            <a:avLst/>
            <a:gdLst/>
            <a:ahLst/>
            <a:cxn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p:spPr>
      </p:sp>
      <p:sp>
        <p:nvSpPr>
          <p:cNvPr id="29" name="Shape 27"/>
          <p:cNvSpPr/>
          <p:nvPr/>
        </p:nvSpPr>
        <p:spPr>
          <a:xfrm>
            <a:off x="6507805" y="1621097"/>
            <a:ext cx="168864" cy="168864"/>
          </a:xfrm>
          <a:custGeom>
            <a:avLst/>
            <a:gdLst/>
            <a:ahLst/>
            <a:cxnLst/>
            <a:rect l="l" t="t" r="r" b="b"/>
            <a:pathLst>
              <a:path w="168864" h="168864">
                <a:moveTo>
                  <a:pt x="63324" y="84432"/>
                </a:moveTo>
                <a:lnTo>
                  <a:pt x="50296" y="97460"/>
                </a:lnTo>
                <a:cubicBezTo>
                  <a:pt x="46141" y="95844"/>
                  <a:pt x="41655" y="94986"/>
                  <a:pt x="36939" y="94986"/>
                </a:cubicBezTo>
                <a:cubicBezTo>
                  <a:pt x="16524" y="94986"/>
                  <a:pt x="0" y="111510"/>
                  <a:pt x="0" y="131925"/>
                </a:cubicBezTo>
                <a:cubicBezTo>
                  <a:pt x="0" y="152341"/>
                  <a:pt x="16524" y="168864"/>
                  <a:pt x="36939" y="168864"/>
                </a:cubicBezTo>
                <a:cubicBezTo>
                  <a:pt x="57354" y="168864"/>
                  <a:pt x="73878" y="152341"/>
                  <a:pt x="73878" y="131925"/>
                </a:cubicBezTo>
                <a:cubicBezTo>
                  <a:pt x="73878" y="127209"/>
                  <a:pt x="72988" y="122723"/>
                  <a:pt x="71405" y="118568"/>
                </a:cubicBezTo>
                <a:lnTo>
                  <a:pt x="164643" y="25330"/>
                </a:lnTo>
                <a:cubicBezTo>
                  <a:pt x="166984" y="22988"/>
                  <a:pt x="166984" y="19228"/>
                  <a:pt x="164643" y="16886"/>
                </a:cubicBezTo>
                <a:cubicBezTo>
                  <a:pt x="155309" y="7553"/>
                  <a:pt x="140204" y="7553"/>
                  <a:pt x="130870" y="16886"/>
                </a:cubicBezTo>
                <a:lnTo>
                  <a:pt x="84432" y="63324"/>
                </a:lnTo>
                <a:lnTo>
                  <a:pt x="71405" y="50296"/>
                </a:lnTo>
                <a:cubicBezTo>
                  <a:pt x="73021" y="46141"/>
                  <a:pt x="73878" y="41655"/>
                  <a:pt x="73878" y="36939"/>
                </a:cubicBezTo>
                <a:cubicBezTo>
                  <a:pt x="73878" y="16524"/>
                  <a:pt x="57354" y="0"/>
                  <a:pt x="36939" y="0"/>
                </a:cubicBezTo>
                <a:cubicBezTo>
                  <a:pt x="16524" y="0"/>
                  <a:pt x="0" y="16524"/>
                  <a:pt x="0" y="36939"/>
                </a:cubicBezTo>
                <a:cubicBezTo>
                  <a:pt x="0" y="57354"/>
                  <a:pt x="16524" y="73878"/>
                  <a:pt x="36939" y="73878"/>
                </a:cubicBezTo>
                <a:cubicBezTo>
                  <a:pt x="41655" y="73878"/>
                  <a:pt x="46141" y="72988"/>
                  <a:pt x="50296" y="71405"/>
                </a:cubicBezTo>
                <a:lnTo>
                  <a:pt x="63324" y="84432"/>
                </a:lnTo>
                <a:close/>
                <a:moveTo>
                  <a:pt x="95613" y="116721"/>
                </a:moveTo>
                <a:lnTo>
                  <a:pt x="130870" y="151978"/>
                </a:lnTo>
                <a:cubicBezTo>
                  <a:pt x="140204" y="161312"/>
                  <a:pt x="155309" y="161312"/>
                  <a:pt x="164643" y="151978"/>
                </a:cubicBezTo>
                <a:cubicBezTo>
                  <a:pt x="166984" y="149636"/>
                  <a:pt x="166984" y="145876"/>
                  <a:pt x="164643" y="143535"/>
                </a:cubicBezTo>
                <a:lnTo>
                  <a:pt x="116721" y="95613"/>
                </a:lnTo>
                <a:lnTo>
                  <a:pt x="95613" y="116721"/>
                </a:lnTo>
                <a:close/>
                <a:moveTo>
                  <a:pt x="21108" y="36939"/>
                </a:moveTo>
                <a:cubicBezTo>
                  <a:pt x="21108" y="28202"/>
                  <a:pt x="28202" y="21108"/>
                  <a:pt x="36939" y="21108"/>
                </a:cubicBezTo>
                <a:cubicBezTo>
                  <a:pt x="45676" y="21108"/>
                  <a:pt x="52770" y="28202"/>
                  <a:pt x="52770" y="36939"/>
                </a:cubicBezTo>
                <a:cubicBezTo>
                  <a:pt x="52770" y="45676"/>
                  <a:pt x="45676" y="52770"/>
                  <a:pt x="36939" y="52770"/>
                </a:cubicBezTo>
                <a:cubicBezTo>
                  <a:pt x="28202" y="52770"/>
                  <a:pt x="21108" y="45676"/>
                  <a:pt x="21108" y="36939"/>
                </a:cubicBezTo>
                <a:close/>
                <a:moveTo>
                  <a:pt x="36939" y="116094"/>
                </a:moveTo>
                <a:cubicBezTo>
                  <a:pt x="45676" y="116094"/>
                  <a:pt x="52770" y="123188"/>
                  <a:pt x="52770" y="131925"/>
                </a:cubicBezTo>
                <a:cubicBezTo>
                  <a:pt x="52770" y="140663"/>
                  <a:pt x="45676" y="147756"/>
                  <a:pt x="36939" y="147756"/>
                </a:cubicBezTo>
                <a:cubicBezTo>
                  <a:pt x="28202" y="147756"/>
                  <a:pt x="21108" y="140663"/>
                  <a:pt x="21108" y="131925"/>
                </a:cubicBezTo>
                <a:cubicBezTo>
                  <a:pt x="21108" y="123188"/>
                  <a:pt x="28202" y="116094"/>
                  <a:pt x="36939" y="116094"/>
                </a:cubicBezTo>
                <a:close/>
              </a:path>
            </a:pathLst>
          </a:custGeom>
          <a:solidFill>
            <a:srgbClr val="C9A36A"/>
          </a:solidFill>
          <a:ln/>
        </p:spPr>
      </p:sp>
      <p:sp>
        <p:nvSpPr>
          <p:cNvPr id="30" name="Text 28"/>
          <p:cNvSpPr/>
          <p:nvPr/>
        </p:nvSpPr>
        <p:spPr>
          <a:xfrm>
            <a:off x="6896192" y="1570438"/>
            <a:ext cx="1435346" cy="270183"/>
          </a:xfrm>
          <a:prstGeom prst="rect">
            <a:avLst/>
          </a:prstGeom>
          <a:noFill/>
          <a:ln/>
        </p:spPr>
        <p:txBody>
          <a:bodyPr wrap="square" lIns="0" tIns="0" rIns="0" bIns="0" rtlCol="0" anchor="ctr"/>
          <a:lstStyle/>
          <a:p>
            <a:pPr>
              <a:lnSpc>
                <a:spcPct val="110000"/>
              </a:lnSpc>
            </a:pPr>
            <a:r>
              <a:rPr lang="en-US" sz="1596" b="1" dirty="0">
                <a:solidFill>
                  <a:srgbClr val="F2F2F2"/>
                </a:solidFill>
                <a:latin typeface="Oranienbaum" pitchFamily="34" charset="0"/>
                <a:ea typeface="Oranienbaum" pitchFamily="34" charset="-122"/>
                <a:cs typeface="Oranienbaum" pitchFamily="34" charset="-120"/>
              </a:rPr>
              <a:t>The Ear Incident</a:t>
            </a:r>
            <a:endParaRPr lang="en-US" sz="1600" dirty="0"/>
          </a:p>
        </p:txBody>
      </p:sp>
      <p:sp>
        <p:nvSpPr>
          <p:cNvPr id="31" name="Text 29"/>
          <p:cNvSpPr/>
          <p:nvPr/>
        </p:nvSpPr>
        <p:spPr>
          <a:xfrm>
            <a:off x="6389600" y="2043258"/>
            <a:ext cx="5361440" cy="658571"/>
          </a:xfrm>
          <a:prstGeom prst="rect">
            <a:avLst/>
          </a:prstGeom>
          <a:noFill/>
          <a:ln/>
        </p:spPr>
        <p:txBody>
          <a:bodyPr wrap="square" lIns="0" tIns="0" rIns="0" bIns="0" rtlCol="0" anchor="ctr"/>
          <a:lstStyle/>
          <a:p>
            <a:pPr>
              <a:lnSpc>
                <a:spcPct val="140000"/>
              </a:lnSpc>
            </a:pPr>
            <a:r>
              <a:rPr lang="en-US" sz="1064" b="1" dirty="0">
                <a:solidFill>
                  <a:srgbClr val="F2F2F2"/>
                </a:solidFill>
                <a:latin typeface="Quattrocento Sans" pitchFamily="34" charset="0"/>
                <a:ea typeface="Quattrocento Sans" pitchFamily="34" charset="-122"/>
                <a:cs typeface="Quattrocento Sans" pitchFamily="34" charset="-120"/>
              </a:rPr>
              <a:t>December 23, 1888</a:t>
            </a:r>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 — After a heated argument with Paul Gauguin in Arles, Van Gogh suffered a severe mental breakdown. He </a:t>
            </a:r>
            <a:pPr>
              <a:lnSpc>
                <a:spcPct val="140000"/>
              </a:lnSpc>
            </a:pPr>
            <a:r>
              <a:rPr lang="en-US" sz="1064" dirty="0">
                <a:solidFill>
                  <a:srgbClr val="F2F2F2"/>
                </a:solidFill>
                <a:latin typeface="Quattrocento Sans" pitchFamily="34" charset="0"/>
                <a:ea typeface="Quattrocento Sans" pitchFamily="34" charset="-122"/>
                <a:cs typeface="Quattrocento Sans" pitchFamily="34" charset="-120"/>
              </a:rPr>
              <a:t>severed part of his left ear</a:t>
            </a:r>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 with a razor, wrapped it in paper, and delivered it to a woman at a nearby brothel.</a:t>
            </a:r>
            <a:endParaRPr lang="en-US" sz="1600" dirty="0"/>
          </a:p>
        </p:txBody>
      </p:sp>
      <p:sp>
        <p:nvSpPr>
          <p:cNvPr id="32" name="Text 30"/>
          <p:cNvSpPr/>
          <p:nvPr/>
        </p:nvSpPr>
        <p:spPr>
          <a:xfrm>
            <a:off x="6389600" y="2836920"/>
            <a:ext cx="5361440" cy="658571"/>
          </a:xfrm>
          <a:prstGeom prst="rect">
            <a:avLst/>
          </a:prstGeom>
          <a:noFill/>
          <a:ln/>
        </p:spPr>
        <p:txBody>
          <a:bodyPr wrap="square" lIns="0" tIns="0" rIns="0" bIns="0" rtlCol="0" anchor="ctr"/>
          <a:lstStyle/>
          <a:p>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The incident marked a turning point. Gauguin left Arles permanently, and Van Gogh was hospitalized. The exact circumstances remain debated—some theories suggest Gauguin may have been involved, while others attribute it solely to Van Gogh's psychosis.</a:t>
            </a:r>
            <a:endParaRPr lang="en-US" sz="1600" dirty="0"/>
          </a:p>
        </p:txBody>
      </p:sp>
      <p:sp>
        <p:nvSpPr>
          <p:cNvPr id="33" name="Shape 31"/>
          <p:cNvSpPr/>
          <p:nvPr/>
        </p:nvSpPr>
        <p:spPr>
          <a:xfrm>
            <a:off x="6389600" y="3630582"/>
            <a:ext cx="5293895" cy="743003"/>
          </a:xfrm>
          <a:custGeom>
            <a:avLst/>
            <a:gdLst/>
            <a:ahLst/>
            <a:cxnLst/>
            <a:rect l="l" t="t" r="r" b="b"/>
            <a:pathLst>
              <a:path w="5293895" h="743003">
                <a:moveTo>
                  <a:pt x="33769" y="0"/>
                </a:moveTo>
                <a:lnTo>
                  <a:pt x="5260125" y="0"/>
                </a:lnTo>
                <a:cubicBezTo>
                  <a:pt x="5278776" y="0"/>
                  <a:pt x="5293895" y="15119"/>
                  <a:pt x="5293895" y="33769"/>
                </a:cubicBezTo>
                <a:lnTo>
                  <a:pt x="5293895" y="709233"/>
                </a:lnTo>
                <a:cubicBezTo>
                  <a:pt x="5293895" y="727884"/>
                  <a:pt x="5278776" y="743003"/>
                  <a:pt x="5260125" y="743003"/>
                </a:cubicBezTo>
                <a:lnTo>
                  <a:pt x="33769" y="743003"/>
                </a:lnTo>
                <a:cubicBezTo>
                  <a:pt x="15132" y="743003"/>
                  <a:pt x="0" y="727871"/>
                  <a:pt x="0" y="709233"/>
                </a:cubicBezTo>
                <a:lnTo>
                  <a:pt x="0" y="33769"/>
                </a:lnTo>
                <a:cubicBezTo>
                  <a:pt x="0" y="15132"/>
                  <a:pt x="15132" y="0"/>
                  <a:pt x="33769" y="0"/>
                </a:cubicBezTo>
                <a:close/>
              </a:path>
            </a:pathLst>
          </a:custGeom>
          <a:solidFill>
            <a:srgbClr val="2B2B2B"/>
          </a:solidFill>
          <a:ln/>
        </p:spPr>
      </p:sp>
      <p:sp>
        <p:nvSpPr>
          <p:cNvPr id="34" name="Text 32"/>
          <p:cNvSpPr/>
          <p:nvPr/>
        </p:nvSpPr>
        <p:spPr>
          <a:xfrm>
            <a:off x="6490918" y="3731900"/>
            <a:ext cx="5150360" cy="168864"/>
          </a:xfrm>
          <a:prstGeom prst="rect">
            <a:avLst/>
          </a:prstGeom>
          <a:noFill/>
          <a:ln/>
        </p:spPr>
        <p:txBody>
          <a:bodyPr wrap="square" lIns="0" tIns="0" rIns="0" bIns="0" rtlCol="0" anchor="ctr"/>
          <a:lstStyle/>
          <a:p>
            <a:pPr>
              <a:lnSpc>
                <a:spcPct val="120000"/>
              </a:lnSpc>
            </a:pPr>
            <a:r>
              <a:rPr lang="en-US" sz="931" b="1" dirty="0">
                <a:solidFill>
                  <a:srgbClr val="C9A36A"/>
                </a:solidFill>
                <a:latin typeface="Quattrocento Sans" pitchFamily="34" charset="0"/>
                <a:ea typeface="Quattrocento Sans" pitchFamily="34" charset="-122"/>
                <a:cs typeface="Quattrocento Sans" pitchFamily="34" charset="-120"/>
              </a:rPr>
              <a:t>Aftermath:</a:t>
            </a:r>
            <a:endParaRPr lang="en-US" sz="1600" dirty="0"/>
          </a:p>
        </p:txBody>
      </p:sp>
      <p:sp>
        <p:nvSpPr>
          <p:cNvPr id="35" name="Text 33"/>
          <p:cNvSpPr/>
          <p:nvPr/>
        </p:nvSpPr>
        <p:spPr>
          <a:xfrm>
            <a:off x="6490918" y="3934537"/>
            <a:ext cx="5150360" cy="337729"/>
          </a:xfrm>
          <a:prstGeom prst="rect">
            <a:avLst/>
          </a:prstGeom>
          <a:noFill/>
          <a:ln/>
        </p:spPr>
        <p:txBody>
          <a:bodyPr wrap="square" lIns="0" tIns="0" rIns="0" bIns="0" rtlCol="0" anchor="ctr"/>
          <a:lstStyle/>
          <a:p>
            <a:pPr>
              <a:lnSpc>
                <a:spcPct val="120000"/>
              </a:lnSpc>
            </a:pPr>
            <a:r>
              <a:rPr lang="en-US" sz="931" dirty="0">
                <a:solidFill>
                  <a:srgbClr val="B8B8B8"/>
                </a:solidFill>
                <a:latin typeface="Quattrocento Sans" pitchFamily="34" charset="0"/>
                <a:ea typeface="Quattrocento Sans" pitchFamily="34" charset="-122"/>
                <a:cs typeface="Quattrocento Sans" pitchFamily="34" charset="-120"/>
              </a:rPr>
              <a:t>Van Gogh painted "Self-Portrait with Bandaged Ear" (1889) as both documentation and artistic transformation of trauma.</a:t>
            </a:r>
            <a:endParaRPr lang="en-US" sz="1600" dirty="0"/>
          </a:p>
        </p:txBody>
      </p:sp>
      <p:sp>
        <p:nvSpPr>
          <p:cNvPr id="36" name="Shape 34"/>
          <p:cNvSpPr/>
          <p:nvPr/>
        </p:nvSpPr>
        <p:spPr>
          <a:xfrm>
            <a:off x="6199627" y="4681762"/>
            <a:ext cx="5648510" cy="1832177"/>
          </a:xfrm>
          <a:custGeom>
            <a:avLst/>
            <a:gdLst/>
            <a:ahLst/>
            <a:cxnLst/>
            <a:rect l="l" t="t" r="r" b="b"/>
            <a:pathLst>
              <a:path w="5648510" h="1832177">
                <a:moveTo>
                  <a:pt x="67552" y="0"/>
                </a:moveTo>
                <a:lnTo>
                  <a:pt x="5580957" y="0"/>
                </a:lnTo>
                <a:cubicBezTo>
                  <a:pt x="5618240" y="0"/>
                  <a:pt x="5648510" y="30269"/>
                  <a:pt x="5648510" y="67552"/>
                </a:cubicBezTo>
                <a:lnTo>
                  <a:pt x="5648510" y="1764625"/>
                </a:lnTo>
                <a:cubicBezTo>
                  <a:pt x="5648510" y="1801908"/>
                  <a:pt x="5618240" y="1832177"/>
                  <a:pt x="5580957" y="1832177"/>
                </a:cubicBezTo>
                <a:lnTo>
                  <a:pt x="67552" y="1832177"/>
                </a:lnTo>
                <a:cubicBezTo>
                  <a:pt x="30269" y="1832177"/>
                  <a:pt x="0" y="1801908"/>
                  <a:pt x="0" y="1764625"/>
                </a:cubicBezTo>
                <a:lnTo>
                  <a:pt x="0" y="67552"/>
                </a:lnTo>
                <a:cubicBezTo>
                  <a:pt x="0" y="30269"/>
                  <a:pt x="30269" y="0"/>
                  <a:pt x="67552"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37" name="Shape 35"/>
          <p:cNvSpPr/>
          <p:nvPr/>
        </p:nvSpPr>
        <p:spPr>
          <a:xfrm>
            <a:off x="8930083" y="4905507"/>
            <a:ext cx="189972" cy="253296"/>
          </a:xfrm>
          <a:custGeom>
            <a:avLst/>
            <a:gdLst/>
            <a:ahLst/>
            <a:cxnLst/>
            <a:rect l="l" t="t" r="r" b="b"/>
            <a:pathLst>
              <a:path w="189972" h="253296">
                <a:moveTo>
                  <a:pt x="144903" y="189972"/>
                </a:moveTo>
                <a:cubicBezTo>
                  <a:pt x="148515" y="178940"/>
                  <a:pt x="155738" y="168947"/>
                  <a:pt x="163901" y="160339"/>
                </a:cubicBezTo>
                <a:cubicBezTo>
                  <a:pt x="180078" y="143320"/>
                  <a:pt x="189972" y="120316"/>
                  <a:pt x="189972" y="94986"/>
                </a:cubicBezTo>
                <a:cubicBezTo>
                  <a:pt x="189972" y="42546"/>
                  <a:pt x="147426" y="0"/>
                  <a:pt x="94986" y="0"/>
                </a:cubicBezTo>
                <a:cubicBezTo>
                  <a:pt x="42546" y="0"/>
                  <a:pt x="0" y="42546"/>
                  <a:pt x="0" y="94986"/>
                </a:cubicBezTo>
                <a:cubicBezTo>
                  <a:pt x="0" y="120316"/>
                  <a:pt x="9894" y="143320"/>
                  <a:pt x="26072" y="160339"/>
                </a:cubicBezTo>
                <a:cubicBezTo>
                  <a:pt x="34235" y="168947"/>
                  <a:pt x="41507" y="178940"/>
                  <a:pt x="45069" y="189972"/>
                </a:cubicBezTo>
                <a:lnTo>
                  <a:pt x="144854" y="189972"/>
                </a:lnTo>
                <a:close/>
                <a:moveTo>
                  <a:pt x="142479" y="213719"/>
                </a:moveTo>
                <a:lnTo>
                  <a:pt x="47493" y="213719"/>
                </a:lnTo>
                <a:lnTo>
                  <a:pt x="47493" y="221634"/>
                </a:lnTo>
                <a:cubicBezTo>
                  <a:pt x="47493" y="243501"/>
                  <a:pt x="65204" y="261212"/>
                  <a:pt x="87071" y="261212"/>
                </a:cubicBezTo>
                <a:lnTo>
                  <a:pt x="102902" y="261212"/>
                </a:lnTo>
                <a:cubicBezTo>
                  <a:pt x="124768" y="261212"/>
                  <a:pt x="142479" y="243501"/>
                  <a:pt x="142479" y="221634"/>
                </a:cubicBezTo>
                <a:lnTo>
                  <a:pt x="142479" y="213719"/>
                </a:lnTo>
                <a:close/>
                <a:moveTo>
                  <a:pt x="91028" y="55409"/>
                </a:moveTo>
                <a:cubicBezTo>
                  <a:pt x="71339" y="55409"/>
                  <a:pt x="55409" y="71339"/>
                  <a:pt x="55409" y="91028"/>
                </a:cubicBezTo>
                <a:cubicBezTo>
                  <a:pt x="55409" y="97608"/>
                  <a:pt x="50115" y="102902"/>
                  <a:pt x="43535" y="102902"/>
                </a:cubicBezTo>
                <a:cubicBezTo>
                  <a:pt x="36956" y="102902"/>
                  <a:pt x="31662" y="97608"/>
                  <a:pt x="31662" y="91028"/>
                </a:cubicBezTo>
                <a:cubicBezTo>
                  <a:pt x="31662" y="58228"/>
                  <a:pt x="58228" y="31662"/>
                  <a:pt x="91028" y="31662"/>
                </a:cubicBezTo>
                <a:cubicBezTo>
                  <a:pt x="97608" y="31662"/>
                  <a:pt x="102902" y="36956"/>
                  <a:pt x="102902" y="43535"/>
                </a:cubicBezTo>
                <a:cubicBezTo>
                  <a:pt x="102902" y="50115"/>
                  <a:pt x="97608" y="55409"/>
                  <a:pt x="91028" y="55409"/>
                </a:cubicBezTo>
                <a:close/>
              </a:path>
            </a:pathLst>
          </a:custGeom>
          <a:solidFill>
            <a:srgbClr val="C9A36A"/>
          </a:solidFill>
          <a:ln/>
        </p:spPr>
      </p:sp>
      <p:sp>
        <p:nvSpPr>
          <p:cNvPr id="38" name="Text 36"/>
          <p:cNvSpPr/>
          <p:nvPr/>
        </p:nvSpPr>
        <p:spPr>
          <a:xfrm>
            <a:off x="6330497" y="5293895"/>
            <a:ext cx="5386770" cy="236410"/>
          </a:xfrm>
          <a:prstGeom prst="rect">
            <a:avLst/>
          </a:prstGeom>
          <a:noFill/>
          <a:ln/>
        </p:spPr>
        <p:txBody>
          <a:bodyPr wrap="square" lIns="0" tIns="0" rIns="0" bIns="0" rtlCol="0" anchor="ctr"/>
          <a:lstStyle/>
          <a:p>
            <a:pPr algn="ctr">
              <a:lnSpc>
                <a:spcPct val="120000"/>
              </a:lnSpc>
            </a:pPr>
            <a:r>
              <a:rPr lang="en-US" sz="1330" b="1" dirty="0">
                <a:solidFill>
                  <a:srgbClr val="F2F2F2"/>
                </a:solidFill>
                <a:latin typeface="Oranienbaum" pitchFamily="34" charset="0"/>
                <a:ea typeface="Oranienbaum" pitchFamily="34" charset="-122"/>
                <a:cs typeface="Oranienbaum" pitchFamily="34" charset="-120"/>
              </a:rPr>
              <a:t>The Paradox of Creativity</a:t>
            </a:r>
            <a:endParaRPr lang="en-US" sz="1600" dirty="0"/>
          </a:p>
        </p:txBody>
      </p:sp>
      <p:sp>
        <p:nvSpPr>
          <p:cNvPr id="39" name="Text 37"/>
          <p:cNvSpPr/>
          <p:nvPr/>
        </p:nvSpPr>
        <p:spPr>
          <a:xfrm>
            <a:off x="6338940" y="5631623"/>
            <a:ext cx="5369884" cy="658571"/>
          </a:xfrm>
          <a:prstGeom prst="rect">
            <a:avLst/>
          </a:prstGeom>
          <a:noFill/>
          <a:ln/>
        </p:spPr>
        <p:txBody>
          <a:bodyPr wrap="square" lIns="0" tIns="0" rIns="0" bIns="0" rtlCol="0" anchor="ctr"/>
          <a:lstStyle/>
          <a:p>
            <a:pPr algn="ct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Van Gogh's mental illness both tormented him and fueled his art. His suffering gave him unique vision, while his art provided temporary relief from suffering. This complex relationship between madness and genius continues to fascinate scholars and artists today.</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111"/>
        </a:solidFill>
      </p:bgPr>
    </p:bg>
    <p:spTree>
      <p:nvGrpSpPr>
        <p:cNvPr id="1" name=""/>
        <p:cNvGrpSpPr/>
        <p:nvPr/>
      </p:nvGrpSpPr>
      <p:grpSpPr>
        <a:xfrm>
          <a:off x="0" y="0"/>
          <a:ext cx="0" cy="0"/>
          <a:chOff x="0" y="0"/>
          <a:chExt cx="0" cy="0"/>
        </a:xfrm>
      </p:grpSpPr>
      <p:pic>
        <p:nvPicPr>
          <p:cNvPr id="2" name="Image 0" descr="https://kimi-web-img.moonshot.cn/img/uploads8.wikiart.org/39849e7c9be0c2a673ff1ee95a77a3d5eeec3e8f.jpg">    </p:cNvPr>
          <p:cNvPicPr>
            <a:picLocks noChangeAspect="1"/>
          </p:cNvPicPr>
          <p:nvPr/>
        </p:nvPicPr>
        <p:blipFill>
          <a:blip r:embed="rId1">
            <a:alphaModFix amt="30000"/>
          </a:blip>
          <a:srcRect l="0" r="0" t="14608" b="14608"/>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sp>
      <p:sp>
        <p:nvSpPr>
          <p:cNvPr id="4" name="Shape 1"/>
          <p:cNvSpPr/>
          <p:nvPr/>
        </p:nvSpPr>
        <p:spPr>
          <a:xfrm>
            <a:off x="385763" y="1463278"/>
            <a:ext cx="1028700" cy="809625"/>
          </a:xfrm>
          <a:custGeom>
            <a:avLst/>
            <a:gdLst/>
            <a:ahLst/>
            <a:cxnLst/>
            <a:rect l="l" t="t" r="r" b="b"/>
            <a:pathLst>
              <a:path w="1028700" h="809625">
                <a:moveTo>
                  <a:pt x="76202" y="0"/>
                </a:moveTo>
                <a:lnTo>
                  <a:pt x="952498" y="0"/>
                </a:lnTo>
                <a:cubicBezTo>
                  <a:pt x="994583" y="0"/>
                  <a:pt x="1028700" y="34117"/>
                  <a:pt x="1028700" y="76202"/>
                </a:cubicBezTo>
                <a:lnTo>
                  <a:pt x="1028700" y="733423"/>
                </a:lnTo>
                <a:cubicBezTo>
                  <a:pt x="1028700" y="775508"/>
                  <a:pt x="994583" y="809625"/>
                  <a:pt x="95249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619125" y="1539478"/>
            <a:ext cx="851595" cy="657225"/>
          </a:xfrm>
          <a:prstGeom prst="rect">
            <a:avLst/>
          </a:prstGeom>
          <a:noFill/>
          <a:ln/>
        </p:spPr>
        <p:txBody>
          <a:bodyPr wrap="square" lIns="0" tIns="0" rIns="0" bIns="0" rtlCol="0" anchor="ctr"/>
          <a:lstStyle/>
          <a:p>
            <a:pPr>
              <a:lnSpc>
                <a:spcPct val="80000"/>
              </a:lnSpc>
            </a:pPr>
            <a:r>
              <a:rPr lang="en-US" sz="4500" b="1" dirty="0">
                <a:solidFill>
                  <a:srgbClr val="C9A36A"/>
                </a:solidFill>
                <a:latin typeface="Oranienbaum" pitchFamily="34" charset="0"/>
                <a:ea typeface="Oranienbaum" pitchFamily="34" charset="-122"/>
                <a:cs typeface="Oranienbaum" pitchFamily="34" charset="-120"/>
              </a:rPr>
              <a:t>05</a:t>
            </a:r>
            <a:endParaRPr lang="en-US" sz="1600" dirty="0"/>
          </a:p>
        </p:txBody>
      </p:sp>
      <p:sp>
        <p:nvSpPr>
          <p:cNvPr id="6" name="Text 3"/>
          <p:cNvSpPr/>
          <p:nvPr/>
        </p:nvSpPr>
        <p:spPr>
          <a:xfrm>
            <a:off x="381000" y="2582466"/>
            <a:ext cx="8877300" cy="1714500"/>
          </a:xfrm>
          <a:prstGeom prst="rect">
            <a:avLst/>
          </a:prstGeom>
          <a:noFill/>
          <a:ln/>
        </p:spPr>
        <p:txBody>
          <a:bodyPr wrap="square" lIns="0" tIns="0" rIns="0" bIns="0" rtlCol="0" anchor="ctr"/>
          <a:lstStyle/>
          <a:p>
            <a:pPr>
              <a:lnSpc>
                <a:spcPct val="100000"/>
              </a:lnSpc>
            </a:pPr>
            <a:r>
              <a:rPr lang="en-US" sz="5400" b="1" dirty="0">
                <a:solidFill>
                  <a:srgbClr val="F2F2F2"/>
                </a:solidFill>
                <a:latin typeface="Oranienbaum" pitchFamily="34" charset="0"/>
                <a:ea typeface="Oranienbaum" pitchFamily="34" charset="-122"/>
                <a:cs typeface="Oranienbaum" pitchFamily="34" charset="-120"/>
              </a:rPr>
              <a:t>The Unbreakable</a:t>
            </a:r>
            <a:endParaRPr lang="en-US" sz="1600" dirty="0"/>
          </a:p>
          <a:p>
            <a:pPr>
              <a:lnSpc>
                <a:spcPct val="100000"/>
              </a:lnSpc>
            </a:pPr>
            <a:r>
              <a:rPr lang="en-US" sz="5400" b="1" dirty="0">
                <a:solidFill>
                  <a:srgbClr val="F2F2F2"/>
                </a:solidFill>
                <a:latin typeface="Oranienbaum" pitchFamily="34" charset="0"/>
                <a:ea typeface="Oranienbaum" pitchFamily="34" charset="-122"/>
                <a:cs typeface="Oranienbaum" pitchFamily="34" charset="-120"/>
              </a:rPr>
              <a:t>Bond: Vincent and Theo</a:t>
            </a:r>
            <a:endParaRPr lang="en-US" sz="1600" dirty="0"/>
          </a:p>
        </p:txBody>
      </p:sp>
      <p:sp>
        <p:nvSpPr>
          <p:cNvPr id="7" name="Shape 4"/>
          <p:cNvSpPr/>
          <p:nvPr/>
        </p:nvSpPr>
        <p:spPr>
          <a:xfrm>
            <a:off x="381000" y="4601766"/>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sp>
      <p:sp>
        <p:nvSpPr>
          <p:cNvPr id="8" name="Text 5"/>
          <p:cNvSpPr/>
          <p:nvPr/>
        </p:nvSpPr>
        <p:spPr>
          <a:xfrm>
            <a:off x="381000" y="4935141"/>
            <a:ext cx="6543675" cy="466725"/>
          </a:xfrm>
          <a:prstGeom prst="rect">
            <a:avLst/>
          </a:prstGeom>
          <a:noFill/>
          <a:ln/>
        </p:spPr>
        <p:txBody>
          <a:bodyPr wrap="square" lIns="0" tIns="0" rIns="0" bIns="0" rtlCol="0" anchor="ctr"/>
          <a:lstStyle/>
          <a:p>
            <a:pPr>
              <a:lnSpc>
                <a:spcPct val="140000"/>
              </a:lnSpc>
            </a:pPr>
            <a:r>
              <a:rPr lang="en-US" sz="2250" dirty="0">
                <a:solidFill>
                  <a:srgbClr val="B8B8B8"/>
                </a:solidFill>
                <a:latin typeface="Quattrocento Sans" pitchFamily="34" charset="0"/>
                <a:ea typeface="Quattrocento Sans" pitchFamily="34" charset="-122"/>
                <a:cs typeface="Quattrocento Sans" pitchFamily="34" charset="-120"/>
              </a:rPr>
              <a:t>A brotherhood that sustained an artistic genius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20420" y="320420"/>
            <a:ext cx="11615243" cy="192252"/>
          </a:xfrm>
          <a:prstGeom prst="rect">
            <a:avLst/>
          </a:prstGeom>
          <a:noFill/>
          <a:ln/>
        </p:spPr>
        <p:txBody>
          <a:bodyPr wrap="square" lIns="0" tIns="0" rIns="0" bIns="0" rtlCol="0" anchor="ctr"/>
          <a:lstStyle/>
          <a:p>
            <a:pPr>
              <a:lnSpc>
                <a:spcPct val="130000"/>
              </a:lnSpc>
            </a:pPr>
            <a:r>
              <a:rPr lang="en-US" sz="1009" b="1" spc="202" kern="0" dirty="0">
                <a:solidFill>
                  <a:srgbClr val="C9A36A"/>
                </a:solidFill>
                <a:latin typeface="Quattrocento Sans" pitchFamily="34" charset="0"/>
                <a:ea typeface="Quattrocento Sans" pitchFamily="34" charset="-122"/>
                <a:cs typeface="Quattrocento Sans" pitchFamily="34" charset="-120"/>
              </a:rPr>
              <a:t>Chapter 05</a:t>
            </a:r>
            <a:endParaRPr lang="en-US" sz="1600" dirty="0"/>
          </a:p>
        </p:txBody>
      </p:sp>
      <p:sp>
        <p:nvSpPr>
          <p:cNvPr id="3" name="Text 1"/>
          <p:cNvSpPr/>
          <p:nvPr/>
        </p:nvSpPr>
        <p:spPr>
          <a:xfrm>
            <a:off x="320420" y="576757"/>
            <a:ext cx="11743411" cy="384505"/>
          </a:xfrm>
          <a:prstGeom prst="rect">
            <a:avLst/>
          </a:prstGeom>
          <a:noFill/>
          <a:ln/>
        </p:spPr>
        <p:txBody>
          <a:bodyPr wrap="square" lIns="0" tIns="0" rIns="0" bIns="0" rtlCol="0" anchor="ctr"/>
          <a:lstStyle/>
          <a:p>
            <a:pPr>
              <a:lnSpc>
                <a:spcPct val="80000"/>
              </a:lnSpc>
            </a:pPr>
            <a:r>
              <a:rPr lang="en-US" sz="3028" b="1" dirty="0">
                <a:solidFill>
                  <a:srgbClr val="F2F2F2"/>
                </a:solidFill>
                <a:latin typeface="Oranienbaum" pitchFamily="34" charset="0"/>
                <a:ea typeface="Oranienbaum" pitchFamily="34" charset="-122"/>
                <a:cs typeface="Oranienbaum" pitchFamily="34" charset="-120"/>
              </a:rPr>
              <a:t>Theo van Gogh: The Brother Behind the Artist</a:t>
            </a:r>
            <a:endParaRPr lang="en-US" sz="1600" dirty="0"/>
          </a:p>
        </p:txBody>
      </p:sp>
      <p:sp>
        <p:nvSpPr>
          <p:cNvPr id="4" name="Shape 2"/>
          <p:cNvSpPr/>
          <p:nvPr/>
        </p:nvSpPr>
        <p:spPr>
          <a:xfrm>
            <a:off x="320420" y="1089430"/>
            <a:ext cx="897177" cy="16021"/>
          </a:xfrm>
          <a:custGeom>
            <a:avLst/>
            <a:gdLst/>
            <a:ahLst/>
            <a:cxnLst/>
            <a:rect l="l" t="t" r="r" b="b"/>
            <a:pathLst>
              <a:path w="897177" h="16021">
                <a:moveTo>
                  <a:pt x="0" y="0"/>
                </a:moveTo>
                <a:lnTo>
                  <a:pt x="897177" y="0"/>
                </a:lnTo>
                <a:lnTo>
                  <a:pt x="897177" y="16021"/>
                </a:lnTo>
                <a:lnTo>
                  <a:pt x="0" y="16021"/>
                </a:lnTo>
                <a:lnTo>
                  <a:pt x="0" y="0"/>
                </a:lnTo>
                <a:close/>
              </a:path>
            </a:pathLst>
          </a:custGeom>
          <a:solidFill>
            <a:srgbClr val="C9A36A"/>
          </a:solidFill>
          <a:ln/>
        </p:spPr>
      </p:sp>
      <p:sp>
        <p:nvSpPr>
          <p:cNvPr id="5" name="Shape 3"/>
          <p:cNvSpPr/>
          <p:nvPr/>
        </p:nvSpPr>
        <p:spPr>
          <a:xfrm>
            <a:off x="332436" y="1265661"/>
            <a:ext cx="6236184" cy="3043995"/>
          </a:xfrm>
          <a:custGeom>
            <a:avLst/>
            <a:gdLst/>
            <a:ahLst/>
            <a:cxnLst/>
            <a:rect l="l" t="t" r="r" b="b"/>
            <a:pathLst>
              <a:path w="6236184" h="3043995">
                <a:moveTo>
                  <a:pt x="24032" y="0"/>
                </a:moveTo>
                <a:lnTo>
                  <a:pt x="6172108" y="0"/>
                </a:lnTo>
                <a:cubicBezTo>
                  <a:pt x="6207496" y="0"/>
                  <a:pt x="6236184" y="28688"/>
                  <a:pt x="6236184" y="64076"/>
                </a:cubicBezTo>
                <a:lnTo>
                  <a:pt x="6236184" y="2979919"/>
                </a:lnTo>
                <a:cubicBezTo>
                  <a:pt x="6236184" y="3015307"/>
                  <a:pt x="6207496" y="3043995"/>
                  <a:pt x="6172108" y="3043995"/>
                </a:cubicBezTo>
                <a:lnTo>
                  <a:pt x="24032" y="3043995"/>
                </a:lnTo>
                <a:cubicBezTo>
                  <a:pt x="10759" y="3043995"/>
                  <a:pt x="0" y="3033235"/>
                  <a:pt x="0" y="3019963"/>
                </a:cubicBezTo>
                <a:lnTo>
                  <a:pt x="0" y="24032"/>
                </a:lnTo>
                <a:cubicBezTo>
                  <a:pt x="0" y="10768"/>
                  <a:pt x="10768" y="0"/>
                  <a:pt x="24032" y="0"/>
                </a:cubicBezTo>
                <a:close/>
              </a:path>
            </a:pathLst>
          </a:custGeom>
          <a:solidFill>
            <a:srgbClr val="1A1A1A"/>
          </a:solidFill>
          <a:ln/>
        </p:spPr>
      </p:sp>
      <p:sp>
        <p:nvSpPr>
          <p:cNvPr id="6" name="Shape 4"/>
          <p:cNvSpPr/>
          <p:nvPr/>
        </p:nvSpPr>
        <p:spPr>
          <a:xfrm>
            <a:off x="332436" y="1265661"/>
            <a:ext cx="24032" cy="3043995"/>
          </a:xfrm>
          <a:custGeom>
            <a:avLst/>
            <a:gdLst/>
            <a:ahLst/>
            <a:cxnLst/>
            <a:rect l="l" t="t" r="r" b="b"/>
            <a:pathLst>
              <a:path w="24032" h="3043995">
                <a:moveTo>
                  <a:pt x="24032" y="0"/>
                </a:moveTo>
                <a:lnTo>
                  <a:pt x="24032" y="0"/>
                </a:lnTo>
                <a:lnTo>
                  <a:pt x="24032" y="3043995"/>
                </a:lnTo>
                <a:lnTo>
                  <a:pt x="24032" y="3043995"/>
                </a:lnTo>
                <a:cubicBezTo>
                  <a:pt x="10759" y="3043995"/>
                  <a:pt x="0" y="3033235"/>
                  <a:pt x="0" y="3019963"/>
                </a:cubicBezTo>
                <a:lnTo>
                  <a:pt x="0" y="24032"/>
                </a:lnTo>
                <a:cubicBezTo>
                  <a:pt x="0" y="10768"/>
                  <a:pt x="10768" y="0"/>
                  <a:pt x="24032" y="0"/>
                </a:cubicBezTo>
                <a:close/>
              </a:path>
            </a:pathLst>
          </a:custGeom>
          <a:solidFill>
            <a:srgbClr val="C9A36A"/>
          </a:solidFill>
          <a:ln/>
        </p:spPr>
      </p:sp>
      <p:sp>
        <p:nvSpPr>
          <p:cNvPr id="7" name="Shape 5"/>
          <p:cNvSpPr/>
          <p:nvPr/>
        </p:nvSpPr>
        <p:spPr>
          <a:xfrm>
            <a:off x="504662" y="1425871"/>
            <a:ext cx="384505" cy="384505"/>
          </a:xfrm>
          <a:custGeom>
            <a:avLst/>
            <a:gdLst/>
            <a:ahLst/>
            <a:cxn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p:spPr>
      </p:sp>
      <p:sp>
        <p:nvSpPr>
          <p:cNvPr id="8" name="Shape 6"/>
          <p:cNvSpPr/>
          <p:nvPr/>
        </p:nvSpPr>
        <p:spPr>
          <a:xfrm>
            <a:off x="616809" y="1538018"/>
            <a:ext cx="160210" cy="160210"/>
          </a:xfrm>
          <a:custGeom>
            <a:avLst/>
            <a:gdLst/>
            <a:ahLst/>
            <a:cxnLst/>
            <a:rect l="l" t="t" r="r" b="b"/>
            <a:pathLst>
              <a:path w="160210" h="160210">
                <a:moveTo>
                  <a:pt x="15020" y="20026"/>
                </a:moveTo>
                <a:cubicBezTo>
                  <a:pt x="6728" y="20026"/>
                  <a:pt x="0" y="26754"/>
                  <a:pt x="0" y="35046"/>
                </a:cubicBezTo>
                <a:cubicBezTo>
                  <a:pt x="0" y="39771"/>
                  <a:pt x="2222" y="44214"/>
                  <a:pt x="6008" y="47062"/>
                </a:cubicBezTo>
                <a:lnTo>
                  <a:pt x="71093" y="95876"/>
                </a:lnTo>
                <a:cubicBezTo>
                  <a:pt x="76444" y="99881"/>
                  <a:pt x="83766" y="99881"/>
                  <a:pt x="89117" y="95876"/>
                </a:cubicBezTo>
                <a:lnTo>
                  <a:pt x="154202" y="47062"/>
                </a:lnTo>
                <a:cubicBezTo>
                  <a:pt x="157989" y="44214"/>
                  <a:pt x="160210" y="39771"/>
                  <a:pt x="160210" y="35046"/>
                </a:cubicBezTo>
                <a:cubicBezTo>
                  <a:pt x="160210" y="26754"/>
                  <a:pt x="153483" y="20026"/>
                  <a:pt x="145191" y="20026"/>
                </a:cubicBezTo>
                <a:lnTo>
                  <a:pt x="15020" y="20026"/>
                </a:lnTo>
                <a:close/>
                <a:moveTo>
                  <a:pt x="0" y="61330"/>
                </a:moveTo>
                <a:lnTo>
                  <a:pt x="0" y="120158"/>
                </a:lnTo>
                <a:cubicBezTo>
                  <a:pt x="0" y="131203"/>
                  <a:pt x="8981" y="140184"/>
                  <a:pt x="20026" y="140184"/>
                </a:cubicBezTo>
                <a:lnTo>
                  <a:pt x="140184" y="140184"/>
                </a:lnTo>
                <a:cubicBezTo>
                  <a:pt x="151230" y="140184"/>
                  <a:pt x="160210" y="131203"/>
                  <a:pt x="160210" y="120158"/>
                </a:cubicBezTo>
                <a:lnTo>
                  <a:pt x="160210" y="61330"/>
                </a:lnTo>
                <a:lnTo>
                  <a:pt x="98129" y="107892"/>
                </a:lnTo>
                <a:cubicBezTo>
                  <a:pt x="87459" y="115902"/>
                  <a:pt x="72752" y="115902"/>
                  <a:pt x="62081" y="107892"/>
                </a:cubicBezTo>
                <a:lnTo>
                  <a:pt x="0" y="61330"/>
                </a:lnTo>
                <a:close/>
              </a:path>
            </a:pathLst>
          </a:custGeom>
          <a:solidFill>
            <a:srgbClr val="C9A36A"/>
          </a:solidFill>
          <a:ln/>
        </p:spPr>
      </p:sp>
      <p:sp>
        <p:nvSpPr>
          <p:cNvPr id="9" name="Text 7"/>
          <p:cNvSpPr/>
          <p:nvPr/>
        </p:nvSpPr>
        <p:spPr>
          <a:xfrm>
            <a:off x="985293" y="1489955"/>
            <a:ext cx="2627448" cy="256336"/>
          </a:xfrm>
          <a:prstGeom prst="rect">
            <a:avLst/>
          </a:prstGeom>
          <a:noFill/>
          <a:ln/>
        </p:spPr>
        <p:txBody>
          <a:bodyPr wrap="square" lIns="0" tIns="0" rIns="0" bIns="0" rtlCol="0" anchor="ctr"/>
          <a:lstStyle/>
          <a:p>
            <a:pPr>
              <a:lnSpc>
                <a:spcPct val="110000"/>
              </a:lnSpc>
            </a:pPr>
            <a:r>
              <a:rPr lang="en-US" sz="1514" b="1" dirty="0">
                <a:solidFill>
                  <a:srgbClr val="F2F2F2"/>
                </a:solidFill>
                <a:latin typeface="Oranienbaum" pitchFamily="34" charset="0"/>
                <a:ea typeface="Oranienbaum" pitchFamily="34" charset="-122"/>
                <a:cs typeface="Oranienbaum" pitchFamily="34" charset="-120"/>
              </a:rPr>
              <a:t>600+ Letters: A Lifelong Dialogue</a:t>
            </a:r>
            <a:endParaRPr lang="en-US" sz="1600" dirty="0"/>
          </a:p>
        </p:txBody>
      </p:sp>
      <p:sp>
        <p:nvSpPr>
          <p:cNvPr id="10" name="Text 8"/>
          <p:cNvSpPr/>
          <p:nvPr/>
        </p:nvSpPr>
        <p:spPr>
          <a:xfrm>
            <a:off x="504662" y="1938544"/>
            <a:ext cx="5967832"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Vincent and Theo maintained an extraordinary correspondence throughout their lives. These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600+ letters</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provide unparalleled insight into Vincent's artistic process, philosophical thoughts, daily struggles, and emotional states.</a:t>
            </a:r>
            <a:endParaRPr lang="en-US" sz="1600" dirty="0"/>
          </a:p>
        </p:txBody>
      </p:sp>
      <p:sp>
        <p:nvSpPr>
          <p:cNvPr id="11" name="Text 9"/>
          <p:cNvSpPr/>
          <p:nvPr/>
        </p:nvSpPr>
        <p:spPr>
          <a:xfrm>
            <a:off x="504662" y="2691532"/>
            <a:ext cx="5967832"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 letters reveal Vincent's theories on color, his admiration for other artists, his religious doubts, his mental health battles, and his unwavering commitment to art. They form one of the most important documents in art history.</a:t>
            </a:r>
            <a:endParaRPr lang="en-US" sz="1600" dirty="0"/>
          </a:p>
        </p:txBody>
      </p:sp>
      <p:sp>
        <p:nvSpPr>
          <p:cNvPr id="12" name="Shape 10"/>
          <p:cNvSpPr/>
          <p:nvPr/>
        </p:nvSpPr>
        <p:spPr>
          <a:xfrm>
            <a:off x="504662" y="3444520"/>
            <a:ext cx="5903748" cy="704925"/>
          </a:xfrm>
          <a:custGeom>
            <a:avLst/>
            <a:gdLst/>
            <a:ahLst/>
            <a:cxnLst/>
            <a:rect l="l" t="t" r="r" b="b"/>
            <a:pathLst>
              <a:path w="5903748" h="704925">
                <a:moveTo>
                  <a:pt x="32039" y="0"/>
                </a:moveTo>
                <a:lnTo>
                  <a:pt x="5871709" y="0"/>
                </a:lnTo>
                <a:cubicBezTo>
                  <a:pt x="5889403" y="0"/>
                  <a:pt x="5903748" y="14344"/>
                  <a:pt x="5903748" y="32039"/>
                </a:cubicBezTo>
                <a:lnTo>
                  <a:pt x="5903748" y="672886"/>
                </a:lnTo>
                <a:cubicBezTo>
                  <a:pt x="5903748" y="690581"/>
                  <a:pt x="5889403" y="704925"/>
                  <a:pt x="5871709"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p:spPr>
      </p:sp>
      <p:sp>
        <p:nvSpPr>
          <p:cNvPr id="13" name="Text 11"/>
          <p:cNvSpPr/>
          <p:nvPr/>
        </p:nvSpPr>
        <p:spPr>
          <a:xfrm>
            <a:off x="600788" y="3540647"/>
            <a:ext cx="5767569"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Historical Value:</a:t>
            </a:r>
            <a:endParaRPr lang="en-US" sz="1600" dirty="0"/>
          </a:p>
        </p:txBody>
      </p:sp>
      <p:sp>
        <p:nvSpPr>
          <p:cNvPr id="14" name="Text 12"/>
          <p:cNvSpPr/>
          <p:nvPr/>
        </p:nvSpPr>
        <p:spPr>
          <a:xfrm>
            <a:off x="600788" y="3732899"/>
            <a:ext cx="5767569" cy="32042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Published as "The Letters of Vincent van Gogh," these documents are essential reading for understanding his life and work.</a:t>
            </a:r>
            <a:endParaRPr lang="en-US" sz="1600" dirty="0"/>
          </a:p>
        </p:txBody>
      </p:sp>
      <p:sp>
        <p:nvSpPr>
          <p:cNvPr id="15" name="Shape 13"/>
          <p:cNvSpPr/>
          <p:nvPr/>
        </p:nvSpPr>
        <p:spPr>
          <a:xfrm>
            <a:off x="332436" y="4437824"/>
            <a:ext cx="6236184" cy="2210901"/>
          </a:xfrm>
          <a:custGeom>
            <a:avLst/>
            <a:gdLst/>
            <a:ahLst/>
            <a:cxnLst/>
            <a:rect l="l" t="t" r="r" b="b"/>
            <a:pathLst>
              <a:path w="6236184" h="2210901">
                <a:moveTo>
                  <a:pt x="24032" y="0"/>
                </a:moveTo>
                <a:lnTo>
                  <a:pt x="6172090" y="0"/>
                </a:lnTo>
                <a:cubicBezTo>
                  <a:pt x="6207488" y="0"/>
                  <a:pt x="6236184" y="28696"/>
                  <a:pt x="6236184" y="64094"/>
                </a:cubicBezTo>
                <a:lnTo>
                  <a:pt x="6236184" y="2146807"/>
                </a:lnTo>
                <a:cubicBezTo>
                  <a:pt x="6236184" y="2182206"/>
                  <a:pt x="6207488" y="2210901"/>
                  <a:pt x="6172090" y="2210901"/>
                </a:cubicBezTo>
                <a:lnTo>
                  <a:pt x="24032" y="2210901"/>
                </a:lnTo>
                <a:cubicBezTo>
                  <a:pt x="10759" y="2210901"/>
                  <a:pt x="0" y="2200142"/>
                  <a:pt x="0" y="2186870"/>
                </a:cubicBezTo>
                <a:lnTo>
                  <a:pt x="0" y="24032"/>
                </a:lnTo>
                <a:cubicBezTo>
                  <a:pt x="0" y="10768"/>
                  <a:pt x="10768" y="0"/>
                  <a:pt x="24032" y="0"/>
                </a:cubicBezTo>
                <a:close/>
              </a:path>
            </a:pathLst>
          </a:custGeom>
          <a:solidFill>
            <a:srgbClr val="1A1A1A"/>
          </a:solidFill>
          <a:ln/>
        </p:spPr>
      </p:sp>
      <p:sp>
        <p:nvSpPr>
          <p:cNvPr id="16" name="Shape 14"/>
          <p:cNvSpPr/>
          <p:nvPr/>
        </p:nvSpPr>
        <p:spPr>
          <a:xfrm>
            <a:off x="332436" y="4437824"/>
            <a:ext cx="24032" cy="2210901"/>
          </a:xfrm>
          <a:custGeom>
            <a:avLst/>
            <a:gdLst/>
            <a:ahLst/>
            <a:cxnLst/>
            <a:rect l="l" t="t" r="r" b="b"/>
            <a:pathLst>
              <a:path w="24032" h="2210901">
                <a:moveTo>
                  <a:pt x="24032" y="0"/>
                </a:moveTo>
                <a:lnTo>
                  <a:pt x="24032" y="0"/>
                </a:lnTo>
                <a:lnTo>
                  <a:pt x="24032" y="2210901"/>
                </a:lnTo>
                <a:lnTo>
                  <a:pt x="24032" y="2210901"/>
                </a:lnTo>
                <a:cubicBezTo>
                  <a:pt x="10759" y="2210901"/>
                  <a:pt x="0" y="2200142"/>
                  <a:pt x="0" y="2186870"/>
                </a:cubicBezTo>
                <a:lnTo>
                  <a:pt x="0" y="24032"/>
                </a:lnTo>
                <a:cubicBezTo>
                  <a:pt x="0" y="10768"/>
                  <a:pt x="10768" y="0"/>
                  <a:pt x="24032" y="0"/>
                </a:cubicBezTo>
                <a:close/>
              </a:path>
            </a:pathLst>
          </a:custGeom>
          <a:solidFill>
            <a:srgbClr val="C9A36A"/>
          </a:solidFill>
          <a:ln/>
        </p:spPr>
      </p:sp>
      <p:sp>
        <p:nvSpPr>
          <p:cNvPr id="17" name="Shape 15"/>
          <p:cNvSpPr/>
          <p:nvPr/>
        </p:nvSpPr>
        <p:spPr>
          <a:xfrm>
            <a:off x="504662" y="4598034"/>
            <a:ext cx="384505" cy="384505"/>
          </a:xfrm>
          <a:custGeom>
            <a:avLst/>
            <a:gdLst/>
            <a:ahLst/>
            <a:cxn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p:spPr>
      </p:sp>
      <p:sp>
        <p:nvSpPr>
          <p:cNvPr id="18" name="Shape 16"/>
          <p:cNvSpPr/>
          <p:nvPr/>
        </p:nvSpPr>
        <p:spPr>
          <a:xfrm>
            <a:off x="626823" y="4710181"/>
            <a:ext cx="140184" cy="160210"/>
          </a:xfrm>
          <a:custGeom>
            <a:avLst/>
            <a:gdLst/>
            <a:ahLst/>
            <a:cxnLst/>
            <a:rect l="l" t="t" r="r" b="b"/>
            <a:pathLst>
              <a:path w="140184" h="160210">
                <a:moveTo>
                  <a:pt x="22936" y="60079"/>
                </a:moveTo>
                <a:cubicBezTo>
                  <a:pt x="31541" y="31135"/>
                  <a:pt x="58358" y="10013"/>
                  <a:pt x="90118" y="10013"/>
                </a:cubicBezTo>
                <a:lnTo>
                  <a:pt x="110145" y="10013"/>
                </a:lnTo>
                <a:cubicBezTo>
                  <a:pt x="115683" y="10013"/>
                  <a:pt x="120158" y="14488"/>
                  <a:pt x="120158" y="20026"/>
                </a:cubicBezTo>
                <a:cubicBezTo>
                  <a:pt x="120158" y="25565"/>
                  <a:pt x="115683" y="30039"/>
                  <a:pt x="110145" y="30039"/>
                </a:cubicBezTo>
                <a:lnTo>
                  <a:pt x="90118" y="30039"/>
                </a:lnTo>
                <a:cubicBezTo>
                  <a:pt x="69591" y="30039"/>
                  <a:pt x="51943" y="42399"/>
                  <a:pt x="44214" y="60079"/>
                </a:cubicBezTo>
                <a:lnTo>
                  <a:pt x="85112" y="60079"/>
                </a:lnTo>
                <a:cubicBezTo>
                  <a:pt x="89273" y="60079"/>
                  <a:pt x="92622" y="63427"/>
                  <a:pt x="92622" y="67589"/>
                </a:cubicBezTo>
                <a:cubicBezTo>
                  <a:pt x="92622" y="71750"/>
                  <a:pt x="89273" y="75099"/>
                  <a:pt x="85112" y="75099"/>
                </a:cubicBezTo>
                <a:lnTo>
                  <a:pt x="40303" y="75099"/>
                </a:lnTo>
                <a:cubicBezTo>
                  <a:pt x="40146" y="76757"/>
                  <a:pt x="40053" y="78415"/>
                  <a:pt x="40053" y="80105"/>
                </a:cubicBezTo>
                <a:cubicBezTo>
                  <a:pt x="40053" y="81795"/>
                  <a:pt x="40146" y="83453"/>
                  <a:pt x="40303" y="85112"/>
                </a:cubicBezTo>
                <a:lnTo>
                  <a:pt x="85112" y="85112"/>
                </a:lnTo>
                <a:cubicBezTo>
                  <a:pt x="89273" y="85112"/>
                  <a:pt x="92622" y="88460"/>
                  <a:pt x="92622" y="92622"/>
                </a:cubicBezTo>
                <a:cubicBezTo>
                  <a:pt x="92622" y="96783"/>
                  <a:pt x="89273" y="100131"/>
                  <a:pt x="85112" y="100131"/>
                </a:cubicBezTo>
                <a:lnTo>
                  <a:pt x="44214" y="100131"/>
                </a:lnTo>
                <a:cubicBezTo>
                  <a:pt x="51943" y="117811"/>
                  <a:pt x="69591" y="130171"/>
                  <a:pt x="90118" y="130171"/>
                </a:cubicBezTo>
                <a:lnTo>
                  <a:pt x="110145" y="130171"/>
                </a:lnTo>
                <a:cubicBezTo>
                  <a:pt x="115683" y="130171"/>
                  <a:pt x="120158" y="134645"/>
                  <a:pt x="120158" y="140184"/>
                </a:cubicBezTo>
                <a:cubicBezTo>
                  <a:pt x="120158" y="145722"/>
                  <a:pt x="115683" y="150197"/>
                  <a:pt x="110145" y="150197"/>
                </a:cubicBezTo>
                <a:lnTo>
                  <a:pt x="90118" y="150197"/>
                </a:lnTo>
                <a:cubicBezTo>
                  <a:pt x="58358" y="150197"/>
                  <a:pt x="31541" y="129076"/>
                  <a:pt x="22936" y="100131"/>
                </a:cubicBezTo>
                <a:lnTo>
                  <a:pt x="12516" y="100131"/>
                </a:lnTo>
                <a:cubicBezTo>
                  <a:pt x="8355" y="100131"/>
                  <a:pt x="5007" y="96783"/>
                  <a:pt x="5007" y="92622"/>
                </a:cubicBezTo>
                <a:cubicBezTo>
                  <a:pt x="5007" y="88460"/>
                  <a:pt x="8355" y="85112"/>
                  <a:pt x="12516" y="85112"/>
                </a:cubicBezTo>
                <a:lnTo>
                  <a:pt x="20214" y="85112"/>
                </a:lnTo>
                <a:cubicBezTo>
                  <a:pt x="19995" y="81826"/>
                  <a:pt x="19995" y="78384"/>
                  <a:pt x="20214" y="75099"/>
                </a:cubicBezTo>
                <a:lnTo>
                  <a:pt x="12516" y="75099"/>
                </a:lnTo>
                <a:cubicBezTo>
                  <a:pt x="8355" y="75099"/>
                  <a:pt x="5007" y="71750"/>
                  <a:pt x="5007" y="67589"/>
                </a:cubicBezTo>
                <a:cubicBezTo>
                  <a:pt x="5007" y="63427"/>
                  <a:pt x="8355" y="60079"/>
                  <a:pt x="12516" y="60079"/>
                </a:cubicBezTo>
                <a:lnTo>
                  <a:pt x="22936" y="60079"/>
                </a:lnTo>
                <a:close/>
              </a:path>
            </a:pathLst>
          </a:custGeom>
          <a:solidFill>
            <a:srgbClr val="C9A36A"/>
          </a:solidFill>
          <a:ln/>
        </p:spPr>
      </p:sp>
      <p:sp>
        <p:nvSpPr>
          <p:cNvPr id="19" name="Text 17"/>
          <p:cNvSpPr/>
          <p:nvPr/>
        </p:nvSpPr>
        <p:spPr>
          <a:xfrm>
            <a:off x="985293" y="4662118"/>
            <a:ext cx="2611427" cy="256336"/>
          </a:xfrm>
          <a:prstGeom prst="rect">
            <a:avLst/>
          </a:prstGeom>
          <a:noFill/>
          <a:ln/>
        </p:spPr>
        <p:txBody>
          <a:bodyPr wrap="square" lIns="0" tIns="0" rIns="0" bIns="0" rtlCol="0" anchor="ctr"/>
          <a:lstStyle/>
          <a:p>
            <a:pPr>
              <a:lnSpc>
                <a:spcPct val="110000"/>
              </a:lnSpc>
            </a:pPr>
            <a:r>
              <a:rPr lang="en-US" sz="1514" b="1" dirty="0">
                <a:solidFill>
                  <a:srgbClr val="F2F2F2"/>
                </a:solidFill>
                <a:latin typeface="Oranienbaum" pitchFamily="34" charset="0"/>
                <a:ea typeface="Oranienbaum" pitchFamily="34" charset="-122"/>
                <a:cs typeface="Oranienbaum" pitchFamily="34" charset="-120"/>
              </a:rPr>
              <a:t>Financial and Emotional Support</a:t>
            </a:r>
            <a:endParaRPr lang="en-US" sz="1600" dirty="0"/>
          </a:p>
        </p:txBody>
      </p:sp>
      <p:sp>
        <p:nvSpPr>
          <p:cNvPr id="20" name="Text 18"/>
          <p:cNvSpPr/>
          <p:nvPr/>
        </p:nvSpPr>
        <p:spPr>
          <a:xfrm>
            <a:off x="504662" y="5110707"/>
            <a:ext cx="5967832"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Theo, an art dealer at Goupil &amp; Cie in Paris, provided Vincent with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monthly financial support</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throughout his career—approximately 150 francs per month, enough for basic living expenses and art supplies. Without this support, Vincent could not have devoted himself fully to painting.</a:t>
            </a:r>
            <a:endParaRPr lang="en-US" sz="1600" dirty="0"/>
          </a:p>
        </p:txBody>
      </p:sp>
      <p:sp>
        <p:nvSpPr>
          <p:cNvPr id="21" name="Text 19"/>
          <p:cNvSpPr/>
          <p:nvPr/>
        </p:nvSpPr>
        <p:spPr>
          <a:xfrm>
            <a:off x="504662" y="5863695"/>
            <a:ext cx="5967832"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Beyond money, Theo offered </a:t>
            </a:r>
            <a:pPr>
              <a:lnSpc>
                <a:spcPct val="140000"/>
              </a:lnSpc>
            </a:pPr>
            <a:r>
              <a:rPr lang="en-US" sz="1009" dirty="0">
                <a:solidFill>
                  <a:srgbClr val="C9A36A"/>
                </a:solidFill>
                <a:latin typeface="Quattrocento Sans" pitchFamily="34" charset="0"/>
                <a:ea typeface="Quattrocento Sans" pitchFamily="34" charset="-122"/>
                <a:cs typeface="Quattrocento Sans" pitchFamily="34" charset="-120"/>
              </a:rPr>
              <a:t>unwavering emotional encouragement</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He believed in Vincent's talent when no one else did, defended him against critics, and promoted his work to galleries and collectors, though with little success during Vincent's lifetime.</a:t>
            </a:r>
            <a:endParaRPr lang="en-US" sz="1600" dirty="0"/>
          </a:p>
        </p:txBody>
      </p:sp>
      <p:sp>
        <p:nvSpPr>
          <p:cNvPr id="22" name="Shape 20"/>
          <p:cNvSpPr/>
          <p:nvPr/>
        </p:nvSpPr>
        <p:spPr>
          <a:xfrm>
            <a:off x="6763063" y="1269666"/>
            <a:ext cx="5102696" cy="3772951"/>
          </a:xfrm>
          <a:custGeom>
            <a:avLst/>
            <a:gdLst/>
            <a:ahLst/>
            <a:cxnLst/>
            <a:rect l="l" t="t" r="r" b="b"/>
            <a:pathLst>
              <a:path w="5102696" h="3772951">
                <a:moveTo>
                  <a:pt x="64102" y="0"/>
                </a:moveTo>
                <a:lnTo>
                  <a:pt x="5038594" y="0"/>
                </a:lnTo>
                <a:cubicBezTo>
                  <a:pt x="5073997" y="0"/>
                  <a:pt x="5102696" y="28700"/>
                  <a:pt x="5102696" y="64102"/>
                </a:cubicBezTo>
                <a:lnTo>
                  <a:pt x="5102696" y="3708849"/>
                </a:lnTo>
                <a:cubicBezTo>
                  <a:pt x="5102696" y="3744252"/>
                  <a:pt x="5073997" y="3772951"/>
                  <a:pt x="5038594" y="3772951"/>
                </a:cubicBezTo>
                <a:lnTo>
                  <a:pt x="64102" y="3772951"/>
                </a:lnTo>
                <a:cubicBezTo>
                  <a:pt x="28700" y="3772951"/>
                  <a:pt x="0" y="3744252"/>
                  <a:pt x="0" y="3708849"/>
                </a:cubicBezTo>
                <a:lnTo>
                  <a:pt x="0" y="64102"/>
                </a:lnTo>
                <a:cubicBezTo>
                  <a:pt x="0" y="28700"/>
                  <a:pt x="28700" y="0"/>
                  <a:pt x="64102"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23" name="Shape 21"/>
          <p:cNvSpPr/>
          <p:nvPr/>
        </p:nvSpPr>
        <p:spPr>
          <a:xfrm>
            <a:off x="9170222" y="1433882"/>
            <a:ext cx="288378" cy="288378"/>
          </a:xfrm>
          <a:custGeom>
            <a:avLst/>
            <a:gdLst/>
            <a:ahLst/>
            <a:cxnLst/>
            <a:rect l="l" t="t" r="r" b="b"/>
            <a:pathLst>
              <a:path w="288378" h="288378">
                <a:moveTo>
                  <a:pt x="135741" y="49058"/>
                </a:moveTo>
                <a:lnTo>
                  <a:pt x="144189" y="60717"/>
                </a:lnTo>
                <a:lnTo>
                  <a:pt x="152638" y="49058"/>
                </a:lnTo>
                <a:cubicBezTo>
                  <a:pt x="166719" y="29570"/>
                  <a:pt x="189361" y="18024"/>
                  <a:pt x="213411" y="18024"/>
                </a:cubicBezTo>
                <a:cubicBezTo>
                  <a:pt x="254809" y="18024"/>
                  <a:pt x="288378" y="51593"/>
                  <a:pt x="288378" y="92991"/>
                </a:cubicBezTo>
                <a:lnTo>
                  <a:pt x="288378" y="94455"/>
                </a:lnTo>
                <a:cubicBezTo>
                  <a:pt x="288378" y="157651"/>
                  <a:pt x="209581" y="231041"/>
                  <a:pt x="168465" y="262413"/>
                </a:cubicBezTo>
                <a:cubicBezTo>
                  <a:pt x="161481" y="267708"/>
                  <a:pt x="152919" y="270355"/>
                  <a:pt x="144189" y="270355"/>
                </a:cubicBezTo>
                <a:cubicBezTo>
                  <a:pt x="135459" y="270355"/>
                  <a:pt x="126841" y="267764"/>
                  <a:pt x="119914" y="262413"/>
                </a:cubicBezTo>
                <a:cubicBezTo>
                  <a:pt x="78797" y="231041"/>
                  <a:pt x="0" y="157651"/>
                  <a:pt x="0" y="94455"/>
                </a:cubicBezTo>
                <a:lnTo>
                  <a:pt x="0" y="92991"/>
                </a:lnTo>
                <a:cubicBezTo>
                  <a:pt x="0" y="51593"/>
                  <a:pt x="33569" y="18024"/>
                  <a:pt x="74967" y="18024"/>
                </a:cubicBezTo>
                <a:cubicBezTo>
                  <a:pt x="99017" y="18024"/>
                  <a:pt x="121660" y="29570"/>
                  <a:pt x="135741" y="49058"/>
                </a:cubicBezTo>
                <a:close/>
              </a:path>
            </a:pathLst>
          </a:custGeom>
          <a:solidFill>
            <a:srgbClr val="C9A36A"/>
          </a:solidFill>
          <a:ln/>
        </p:spPr>
      </p:sp>
      <p:sp>
        <p:nvSpPr>
          <p:cNvPr id="24" name="Text 22"/>
          <p:cNvSpPr/>
          <p:nvPr/>
        </p:nvSpPr>
        <p:spPr>
          <a:xfrm>
            <a:off x="6879215" y="1818386"/>
            <a:ext cx="4870392" cy="256336"/>
          </a:xfrm>
          <a:prstGeom prst="rect">
            <a:avLst/>
          </a:prstGeom>
          <a:noFill/>
          <a:ln/>
        </p:spPr>
        <p:txBody>
          <a:bodyPr wrap="square" lIns="0" tIns="0" rIns="0" bIns="0" rtlCol="0" anchor="ctr"/>
          <a:lstStyle/>
          <a:p>
            <a:pPr algn="ctr">
              <a:lnSpc>
                <a:spcPct val="110000"/>
              </a:lnSpc>
            </a:pPr>
            <a:r>
              <a:rPr lang="en-US" sz="1514" b="1" dirty="0">
                <a:solidFill>
                  <a:srgbClr val="F2F2F2"/>
                </a:solidFill>
                <a:latin typeface="Oranienbaum" pitchFamily="34" charset="0"/>
                <a:ea typeface="Oranienbaum" pitchFamily="34" charset="-122"/>
                <a:cs typeface="Oranienbaum" pitchFamily="34" charset="-120"/>
              </a:rPr>
              <a:t>A Tragic End</a:t>
            </a:r>
            <a:endParaRPr lang="en-US" sz="1600" dirty="0"/>
          </a:p>
        </p:txBody>
      </p:sp>
      <p:sp>
        <p:nvSpPr>
          <p:cNvPr id="25" name="Text 23"/>
          <p:cNvSpPr/>
          <p:nvPr/>
        </p:nvSpPr>
        <p:spPr>
          <a:xfrm>
            <a:off x="6927278" y="2202891"/>
            <a:ext cx="4838350"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 bond between the brothers was so profound that Theo's health declined rapidly after Vincent's death.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Just six months later</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on January 25, 1891, Theo died at age 33, likely from complications of syphilis and dementia paralytica.</a:t>
            </a:r>
            <a:endParaRPr lang="en-US" sz="1600" dirty="0"/>
          </a:p>
        </p:txBody>
      </p:sp>
      <p:sp>
        <p:nvSpPr>
          <p:cNvPr id="26" name="Text 24"/>
          <p:cNvSpPr/>
          <p:nvPr/>
        </p:nvSpPr>
        <p:spPr>
          <a:xfrm>
            <a:off x="6927278" y="2955879"/>
            <a:ext cx="4838350"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Theo was buried in Utrecht, but in 1914, his remains were exhumed and reinterred beside Vincent's grave in Auvers-sur-Oise, fulfilling their wish to be together in death as they were in life.</a:t>
            </a:r>
            <a:endParaRPr lang="en-US" sz="1600" dirty="0"/>
          </a:p>
        </p:txBody>
      </p:sp>
      <p:sp>
        <p:nvSpPr>
          <p:cNvPr id="27" name="Shape 25"/>
          <p:cNvSpPr/>
          <p:nvPr/>
        </p:nvSpPr>
        <p:spPr>
          <a:xfrm>
            <a:off x="6927278" y="3708867"/>
            <a:ext cx="4774265" cy="704925"/>
          </a:xfrm>
          <a:custGeom>
            <a:avLst/>
            <a:gdLst/>
            <a:ahLst/>
            <a:cxnLst/>
            <a:rect l="l" t="t" r="r" b="b"/>
            <a:pathLst>
              <a:path w="4774265" h="704925">
                <a:moveTo>
                  <a:pt x="32039" y="0"/>
                </a:moveTo>
                <a:lnTo>
                  <a:pt x="4742227" y="0"/>
                </a:lnTo>
                <a:cubicBezTo>
                  <a:pt x="4759921" y="0"/>
                  <a:pt x="4774265" y="14344"/>
                  <a:pt x="4774265" y="32039"/>
                </a:cubicBezTo>
                <a:lnTo>
                  <a:pt x="4774265" y="672886"/>
                </a:lnTo>
                <a:cubicBezTo>
                  <a:pt x="4774265" y="690581"/>
                  <a:pt x="4759921" y="704925"/>
                  <a:pt x="4742227"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p:spPr>
      </p:sp>
      <p:sp>
        <p:nvSpPr>
          <p:cNvPr id="28" name="Text 26"/>
          <p:cNvSpPr/>
          <p:nvPr/>
        </p:nvSpPr>
        <p:spPr>
          <a:xfrm>
            <a:off x="7023405" y="3804993"/>
            <a:ext cx="4638087"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Jo van Gogh-Bonger's Role:</a:t>
            </a:r>
            <a:endParaRPr lang="en-US" sz="1600" dirty="0"/>
          </a:p>
        </p:txBody>
      </p:sp>
      <p:sp>
        <p:nvSpPr>
          <p:cNvPr id="29" name="Text 27"/>
          <p:cNvSpPr/>
          <p:nvPr/>
        </p:nvSpPr>
        <p:spPr>
          <a:xfrm>
            <a:off x="7023405" y="3997246"/>
            <a:ext cx="4638087" cy="32042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Theo's widow Johanna dedicated her life to promoting Vincent's work, organizing exhibitions and publishing his letters, ensuring his posthumous recognition.</a:t>
            </a:r>
            <a:endParaRPr lang="en-US" sz="1600" dirty="0"/>
          </a:p>
        </p:txBody>
      </p:sp>
      <p:sp>
        <p:nvSpPr>
          <p:cNvPr id="30" name="Shape 28"/>
          <p:cNvSpPr/>
          <p:nvPr/>
        </p:nvSpPr>
        <p:spPr>
          <a:xfrm>
            <a:off x="6771073" y="5174791"/>
            <a:ext cx="5098691" cy="1473934"/>
          </a:xfrm>
          <a:custGeom>
            <a:avLst/>
            <a:gdLst/>
            <a:ahLst/>
            <a:cxnLst/>
            <a:rect l="l" t="t" r="r" b="b"/>
            <a:pathLst>
              <a:path w="5098691" h="1473934">
                <a:moveTo>
                  <a:pt x="24032" y="0"/>
                </a:moveTo>
                <a:lnTo>
                  <a:pt x="5034605" y="0"/>
                </a:lnTo>
                <a:cubicBezTo>
                  <a:pt x="5069999" y="0"/>
                  <a:pt x="5098691" y="28693"/>
                  <a:pt x="5098691" y="64087"/>
                </a:cubicBezTo>
                <a:lnTo>
                  <a:pt x="5098691" y="1409848"/>
                </a:lnTo>
                <a:cubicBezTo>
                  <a:pt x="5098691" y="1445242"/>
                  <a:pt x="5069999" y="1473934"/>
                  <a:pt x="5034605" y="1473934"/>
                </a:cubicBezTo>
                <a:lnTo>
                  <a:pt x="24032" y="1473934"/>
                </a:lnTo>
                <a:cubicBezTo>
                  <a:pt x="10768" y="1473934"/>
                  <a:pt x="0" y="1463166"/>
                  <a:pt x="0" y="1449903"/>
                </a:cubicBezTo>
                <a:lnTo>
                  <a:pt x="0" y="24032"/>
                </a:lnTo>
                <a:cubicBezTo>
                  <a:pt x="0" y="10768"/>
                  <a:pt x="10768" y="0"/>
                  <a:pt x="24032" y="0"/>
                </a:cubicBezTo>
                <a:close/>
              </a:path>
            </a:pathLst>
          </a:custGeom>
          <a:solidFill>
            <a:srgbClr val="1A1A1A"/>
          </a:solidFill>
          <a:ln/>
        </p:spPr>
      </p:sp>
      <p:sp>
        <p:nvSpPr>
          <p:cNvPr id="31" name="Shape 29"/>
          <p:cNvSpPr/>
          <p:nvPr/>
        </p:nvSpPr>
        <p:spPr>
          <a:xfrm>
            <a:off x="6771073" y="5174791"/>
            <a:ext cx="24032" cy="1473934"/>
          </a:xfrm>
          <a:custGeom>
            <a:avLst/>
            <a:gdLst/>
            <a:ahLst/>
            <a:cxnLst/>
            <a:rect l="l" t="t" r="r" b="b"/>
            <a:pathLst>
              <a:path w="24032" h="1473934">
                <a:moveTo>
                  <a:pt x="24032" y="0"/>
                </a:moveTo>
                <a:lnTo>
                  <a:pt x="24032" y="0"/>
                </a:lnTo>
                <a:lnTo>
                  <a:pt x="24032" y="1473934"/>
                </a:lnTo>
                <a:lnTo>
                  <a:pt x="24032" y="1473934"/>
                </a:lnTo>
                <a:cubicBezTo>
                  <a:pt x="10759" y="1473934"/>
                  <a:pt x="0" y="1463175"/>
                  <a:pt x="0" y="1449903"/>
                </a:cubicBezTo>
                <a:lnTo>
                  <a:pt x="0" y="24032"/>
                </a:lnTo>
                <a:cubicBezTo>
                  <a:pt x="0" y="10768"/>
                  <a:pt x="10768" y="0"/>
                  <a:pt x="24032" y="0"/>
                </a:cubicBezTo>
                <a:close/>
              </a:path>
            </a:pathLst>
          </a:custGeom>
          <a:solidFill>
            <a:srgbClr val="C9A36A"/>
          </a:solidFill>
          <a:ln/>
        </p:spPr>
      </p:sp>
      <p:sp>
        <p:nvSpPr>
          <p:cNvPr id="32" name="Text 30"/>
          <p:cNvSpPr/>
          <p:nvPr/>
        </p:nvSpPr>
        <p:spPr>
          <a:xfrm>
            <a:off x="6943299" y="5335001"/>
            <a:ext cx="4846360" cy="224294"/>
          </a:xfrm>
          <a:prstGeom prst="rect">
            <a:avLst/>
          </a:prstGeom>
          <a:noFill/>
          <a:ln/>
        </p:spPr>
        <p:txBody>
          <a:bodyPr wrap="square" lIns="0" tIns="0" rIns="0" bIns="0" rtlCol="0" anchor="ctr"/>
          <a:lstStyle/>
          <a:p>
            <a:pPr>
              <a:lnSpc>
                <a:spcPct val="120000"/>
              </a:lnSpc>
            </a:pPr>
            <a:r>
              <a:rPr lang="en-US" sz="1262" b="1" dirty="0">
                <a:solidFill>
                  <a:srgbClr val="F2F2F2"/>
                </a:solidFill>
                <a:latin typeface="Oranienbaum" pitchFamily="34" charset="0"/>
                <a:ea typeface="Oranienbaum" pitchFamily="34" charset="-122"/>
                <a:cs typeface="Oranienbaum" pitchFamily="34" charset="-120"/>
              </a:rPr>
              <a:t>Theo's Legacy</a:t>
            </a:r>
            <a:endParaRPr lang="en-US" sz="1600" dirty="0"/>
          </a:p>
        </p:txBody>
      </p:sp>
      <p:sp>
        <p:nvSpPr>
          <p:cNvPr id="33" name="Shape 31"/>
          <p:cNvSpPr/>
          <p:nvPr/>
        </p:nvSpPr>
        <p:spPr>
          <a:xfrm>
            <a:off x="6959320" y="5687464"/>
            <a:ext cx="128168" cy="128168"/>
          </a:xfrm>
          <a:custGeom>
            <a:avLst/>
            <a:gdLst/>
            <a:ahLst/>
            <a:cxn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p:spPr>
      </p:sp>
      <p:sp>
        <p:nvSpPr>
          <p:cNvPr id="34" name="Text 32"/>
          <p:cNvSpPr/>
          <p:nvPr/>
        </p:nvSpPr>
        <p:spPr>
          <a:xfrm>
            <a:off x="7167594" y="5655422"/>
            <a:ext cx="2042681" cy="16021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Enabled Vincent to create 860+ paintings</a:t>
            </a:r>
            <a:endParaRPr lang="en-US" sz="1600" dirty="0"/>
          </a:p>
        </p:txBody>
      </p:sp>
      <p:sp>
        <p:nvSpPr>
          <p:cNvPr id="35" name="Shape 33"/>
          <p:cNvSpPr/>
          <p:nvPr/>
        </p:nvSpPr>
        <p:spPr>
          <a:xfrm>
            <a:off x="6959320" y="5911758"/>
            <a:ext cx="128168" cy="128168"/>
          </a:xfrm>
          <a:custGeom>
            <a:avLst/>
            <a:gdLst/>
            <a:ahLst/>
            <a:cxn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p:spPr>
      </p:sp>
      <p:sp>
        <p:nvSpPr>
          <p:cNvPr id="36" name="Text 34"/>
          <p:cNvSpPr/>
          <p:nvPr/>
        </p:nvSpPr>
        <p:spPr>
          <a:xfrm>
            <a:off x="7167594" y="5879716"/>
            <a:ext cx="2002628" cy="16021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Preserved Vincent's letters and artworks</a:t>
            </a:r>
            <a:endParaRPr lang="en-US" sz="1600" dirty="0"/>
          </a:p>
        </p:txBody>
      </p:sp>
      <p:sp>
        <p:nvSpPr>
          <p:cNvPr id="37" name="Shape 35"/>
          <p:cNvSpPr/>
          <p:nvPr/>
        </p:nvSpPr>
        <p:spPr>
          <a:xfrm>
            <a:off x="6959320" y="6136053"/>
            <a:ext cx="128168" cy="128168"/>
          </a:xfrm>
          <a:custGeom>
            <a:avLst/>
            <a:gdLst/>
            <a:ahLst/>
            <a:cxn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p:spPr>
      </p:sp>
      <p:sp>
        <p:nvSpPr>
          <p:cNvPr id="38" name="Text 36"/>
          <p:cNvSpPr/>
          <p:nvPr/>
        </p:nvSpPr>
        <p:spPr>
          <a:xfrm>
            <a:off x="7167594" y="6104011"/>
            <a:ext cx="2226922" cy="16021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Laid foundation for Van Gogh Museum (1973)</a:t>
            </a:r>
            <a:endParaRPr lang="en-US" sz="1600" dirty="0"/>
          </a:p>
        </p:txBody>
      </p:sp>
      <p:sp>
        <p:nvSpPr>
          <p:cNvPr id="39" name="Shape 37"/>
          <p:cNvSpPr/>
          <p:nvPr/>
        </p:nvSpPr>
        <p:spPr>
          <a:xfrm>
            <a:off x="6959320" y="6360347"/>
            <a:ext cx="128168" cy="128168"/>
          </a:xfrm>
          <a:custGeom>
            <a:avLst/>
            <a:gdLst/>
            <a:ahLst/>
            <a:cxn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p:spPr>
      </p:sp>
      <p:sp>
        <p:nvSpPr>
          <p:cNvPr id="40" name="Text 38"/>
          <p:cNvSpPr/>
          <p:nvPr/>
        </p:nvSpPr>
        <p:spPr>
          <a:xfrm>
            <a:off x="7167594" y="6328305"/>
            <a:ext cx="2331059" cy="16021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Symbol of artistic patronage and brotherly love</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111"/>
        </a:solidFill>
      </p:bgPr>
    </p:bg>
    <p:spTree>
      <p:nvGrpSpPr>
        <p:cNvPr id="1" name=""/>
        <p:cNvGrpSpPr/>
        <p:nvPr/>
      </p:nvGrpSpPr>
      <p:grpSpPr>
        <a:xfrm>
          <a:off x="0" y="0"/>
          <a:ext cx="0" cy="0"/>
          <a:chOff x="0" y="0"/>
          <a:chExt cx="0" cy="0"/>
        </a:xfrm>
      </p:grpSpPr>
      <p:pic>
        <p:nvPicPr>
          <p:cNvPr id="2" name="Image 0" descr="https://kimi-web-img.moonshot.cn/img/c4.wallpaperflare.com/457c938cd175c38cffbd33357f67a9ceaf467afb.jpg">    </p:cNvPr>
          <p:cNvPicPr>
            <a:picLocks noChangeAspect="1"/>
          </p:cNvPicPr>
          <p:nvPr/>
        </p:nvPicPr>
        <p:blipFill>
          <a:blip r:embed="rId1">
            <a:alphaModFix amt="30000"/>
          </a:blip>
          <a:srcRect l="0" r="0" t="61" b="61"/>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sp>
      <p:sp>
        <p:nvSpPr>
          <p:cNvPr id="4" name="Shape 1"/>
          <p:cNvSpPr/>
          <p:nvPr/>
        </p:nvSpPr>
        <p:spPr>
          <a:xfrm>
            <a:off x="385763" y="1231106"/>
            <a:ext cx="1047750" cy="809625"/>
          </a:xfrm>
          <a:custGeom>
            <a:avLst/>
            <a:gdLst/>
            <a:ahLst/>
            <a:cxnLst/>
            <a:rect l="l" t="t" r="r" b="b"/>
            <a:pathLst>
              <a:path w="1047750" h="809625">
                <a:moveTo>
                  <a:pt x="76202" y="0"/>
                </a:moveTo>
                <a:lnTo>
                  <a:pt x="971548" y="0"/>
                </a:lnTo>
                <a:cubicBezTo>
                  <a:pt x="1013633" y="0"/>
                  <a:pt x="1047750" y="34117"/>
                  <a:pt x="1047750" y="76202"/>
                </a:cubicBezTo>
                <a:lnTo>
                  <a:pt x="1047750" y="733423"/>
                </a:lnTo>
                <a:cubicBezTo>
                  <a:pt x="1047750" y="775508"/>
                  <a:pt x="1013633" y="809625"/>
                  <a:pt x="97154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619125" y="1307306"/>
            <a:ext cx="865882" cy="657225"/>
          </a:xfrm>
          <a:prstGeom prst="rect">
            <a:avLst/>
          </a:prstGeom>
          <a:noFill/>
          <a:ln/>
        </p:spPr>
        <p:txBody>
          <a:bodyPr wrap="square" lIns="0" tIns="0" rIns="0" bIns="0" rtlCol="0" anchor="ctr"/>
          <a:lstStyle/>
          <a:p>
            <a:pPr>
              <a:lnSpc>
                <a:spcPct val="80000"/>
              </a:lnSpc>
            </a:pPr>
            <a:r>
              <a:rPr lang="en-US" sz="4500" b="1" dirty="0">
                <a:solidFill>
                  <a:srgbClr val="C9A36A"/>
                </a:solidFill>
                <a:latin typeface="Oranienbaum" pitchFamily="34" charset="0"/>
                <a:ea typeface="Oranienbaum" pitchFamily="34" charset="-122"/>
                <a:cs typeface="Oranienbaum" pitchFamily="34" charset="-120"/>
              </a:rPr>
              <a:t>06</a:t>
            </a:r>
            <a:endParaRPr lang="en-US" sz="1600" dirty="0"/>
          </a:p>
        </p:txBody>
      </p:sp>
      <p:sp>
        <p:nvSpPr>
          <p:cNvPr id="6" name="Text 3"/>
          <p:cNvSpPr/>
          <p:nvPr/>
        </p:nvSpPr>
        <p:spPr>
          <a:xfrm>
            <a:off x="381000" y="2350294"/>
            <a:ext cx="8877300" cy="1714500"/>
          </a:xfrm>
          <a:prstGeom prst="rect">
            <a:avLst/>
          </a:prstGeom>
          <a:noFill/>
          <a:ln/>
        </p:spPr>
        <p:txBody>
          <a:bodyPr wrap="square" lIns="0" tIns="0" rIns="0" bIns="0" rtlCol="0" anchor="ctr"/>
          <a:lstStyle/>
          <a:p>
            <a:pPr>
              <a:lnSpc>
                <a:spcPct val="100000"/>
              </a:lnSpc>
            </a:pPr>
            <a:r>
              <a:rPr lang="en-US" sz="5400" b="1" dirty="0">
                <a:solidFill>
                  <a:srgbClr val="F2F2F2"/>
                </a:solidFill>
                <a:latin typeface="Oranienbaum" pitchFamily="34" charset="0"/>
                <a:ea typeface="Oranienbaum" pitchFamily="34" charset="-122"/>
                <a:cs typeface="Oranienbaum" pitchFamily="34" charset="-120"/>
              </a:rPr>
              <a:t>Enduring Legacy</a:t>
            </a:r>
            <a:endParaRPr lang="en-US" sz="1600" dirty="0"/>
          </a:p>
          <a:p>
            <a:pPr>
              <a:lnSpc>
                <a:spcPct val="100000"/>
              </a:lnSpc>
            </a:pPr>
            <a:r>
              <a:rPr lang="en-US" sz="5400" b="1" dirty="0">
                <a:solidFill>
                  <a:srgbClr val="F2F2F2"/>
                </a:solidFill>
                <a:latin typeface="Oranienbaum" pitchFamily="34" charset="0"/>
                <a:ea typeface="Oranienbaum" pitchFamily="34" charset="-122"/>
                <a:cs typeface="Oranienbaum" pitchFamily="34" charset="-120"/>
              </a:rPr>
              <a:t>and Influence</a:t>
            </a:r>
            <a:endParaRPr lang="en-US" sz="1600" dirty="0"/>
          </a:p>
        </p:txBody>
      </p:sp>
      <p:sp>
        <p:nvSpPr>
          <p:cNvPr id="7" name="Shape 4"/>
          <p:cNvSpPr/>
          <p:nvPr/>
        </p:nvSpPr>
        <p:spPr>
          <a:xfrm>
            <a:off x="381000" y="4369594"/>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sp>
      <p:sp>
        <p:nvSpPr>
          <p:cNvPr id="8" name="Text 5"/>
          <p:cNvSpPr/>
          <p:nvPr/>
        </p:nvSpPr>
        <p:spPr>
          <a:xfrm>
            <a:off x="381000" y="4702969"/>
            <a:ext cx="6543675" cy="933450"/>
          </a:xfrm>
          <a:prstGeom prst="rect">
            <a:avLst/>
          </a:prstGeom>
          <a:noFill/>
          <a:ln/>
        </p:spPr>
        <p:txBody>
          <a:bodyPr wrap="square" lIns="0" tIns="0" rIns="0" bIns="0" rtlCol="0" anchor="ctr"/>
          <a:lstStyle/>
          <a:p>
            <a:pPr>
              <a:lnSpc>
                <a:spcPct val="140000"/>
              </a:lnSpc>
            </a:pPr>
            <a:r>
              <a:rPr lang="en-US" sz="2250" dirty="0">
                <a:solidFill>
                  <a:srgbClr val="B8B8B8"/>
                </a:solidFill>
                <a:latin typeface="Quattrocento Sans" pitchFamily="34" charset="0"/>
                <a:ea typeface="Quattrocento Sans" pitchFamily="34" charset="-122"/>
                <a:cs typeface="Quattrocento Sans" pitchFamily="34" charset="-120"/>
              </a:rPr>
              <a:t>From obscurity to becoming one of history's most celebrated artists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20420" y="320420"/>
            <a:ext cx="11615243" cy="192252"/>
          </a:xfrm>
          <a:prstGeom prst="rect">
            <a:avLst/>
          </a:prstGeom>
          <a:noFill/>
          <a:ln/>
        </p:spPr>
        <p:txBody>
          <a:bodyPr wrap="square" lIns="0" tIns="0" rIns="0" bIns="0" rtlCol="0" anchor="ctr"/>
          <a:lstStyle/>
          <a:p>
            <a:pPr>
              <a:lnSpc>
                <a:spcPct val="130000"/>
              </a:lnSpc>
            </a:pPr>
            <a:r>
              <a:rPr lang="en-US" sz="1009" b="1" spc="202" kern="0" dirty="0">
                <a:solidFill>
                  <a:srgbClr val="C9A36A"/>
                </a:solidFill>
                <a:latin typeface="Quattrocento Sans" pitchFamily="34" charset="0"/>
                <a:ea typeface="Quattrocento Sans" pitchFamily="34" charset="-122"/>
                <a:cs typeface="Quattrocento Sans" pitchFamily="34" charset="-120"/>
              </a:rPr>
              <a:t>Chapter 06</a:t>
            </a:r>
            <a:endParaRPr lang="en-US" sz="1600" dirty="0"/>
          </a:p>
        </p:txBody>
      </p:sp>
      <p:sp>
        <p:nvSpPr>
          <p:cNvPr id="3" name="Text 1"/>
          <p:cNvSpPr/>
          <p:nvPr/>
        </p:nvSpPr>
        <p:spPr>
          <a:xfrm>
            <a:off x="320420" y="576757"/>
            <a:ext cx="11743411" cy="384505"/>
          </a:xfrm>
          <a:prstGeom prst="rect">
            <a:avLst/>
          </a:prstGeom>
          <a:noFill/>
          <a:ln/>
        </p:spPr>
        <p:txBody>
          <a:bodyPr wrap="square" lIns="0" tIns="0" rIns="0" bIns="0" rtlCol="0" anchor="ctr"/>
          <a:lstStyle/>
          <a:p>
            <a:pPr>
              <a:lnSpc>
                <a:spcPct val="80000"/>
              </a:lnSpc>
            </a:pPr>
            <a:r>
              <a:rPr lang="en-US" sz="3028" b="1" dirty="0">
                <a:solidFill>
                  <a:srgbClr val="F2F2F2"/>
                </a:solidFill>
                <a:latin typeface="Oranienbaum" pitchFamily="34" charset="0"/>
                <a:ea typeface="Oranienbaum" pitchFamily="34" charset="-122"/>
                <a:cs typeface="Oranienbaum" pitchFamily="34" charset="-120"/>
              </a:rPr>
              <a:t>Posthumous Recognition and Global Impact</a:t>
            </a:r>
            <a:endParaRPr lang="en-US" sz="1600" dirty="0"/>
          </a:p>
        </p:txBody>
      </p:sp>
      <p:sp>
        <p:nvSpPr>
          <p:cNvPr id="4" name="Shape 2"/>
          <p:cNvSpPr/>
          <p:nvPr/>
        </p:nvSpPr>
        <p:spPr>
          <a:xfrm>
            <a:off x="320420" y="1089430"/>
            <a:ext cx="897177" cy="16021"/>
          </a:xfrm>
          <a:custGeom>
            <a:avLst/>
            <a:gdLst/>
            <a:ahLst/>
            <a:cxnLst/>
            <a:rect l="l" t="t" r="r" b="b"/>
            <a:pathLst>
              <a:path w="897177" h="16021">
                <a:moveTo>
                  <a:pt x="0" y="0"/>
                </a:moveTo>
                <a:lnTo>
                  <a:pt x="897177" y="0"/>
                </a:lnTo>
                <a:lnTo>
                  <a:pt x="897177" y="16021"/>
                </a:lnTo>
                <a:lnTo>
                  <a:pt x="0" y="16021"/>
                </a:lnTo>
                <a:lnTo>
                  <a:pt x="0" y="0"/>
                </a:lnTo>
                <a:close/>
              </a:path>
            </a:pathLst>
          </a:custGeom>
          <a:solidFill>
            <a:srgbClr val="C9A36A"/>
          </a:solidFill>
          <a:ln/>
        </p:spPr>
      </p:sp>
      <p:sp>
        <p:nvSpPr>
          <p:cNvPr id="5" name="Shape 3"/>
          <p:cNvSpPr/>
          <p:nvPr/>
        </p:nvSpPr>
        <p:spPr>
          <a:xfrm>
            <a:off x="332436" y="1265661"/>
            <a:ext cx="5667438" cy="3043995"/>
          </a:xfrm>
          <a:custGeom>
            <a:avLst/>
            <a:gdLst/>
            <a:ahLst/>
            <a:cxnLst/>
            <a:rect l="l" t="t" r="r" b="b"/>
            <a:pathLst>
              <a:path w="5667438" h="3043995">
                <a:moveTo>
                  <a:pt x="24032" y="0"/>
                </a:moveTo>
                <a:lnTo>
                  <a:pt x="5603361" y="0"/>
                </a:lnTo>
                <a:cubicBezTo>
                  <a:pt x="5638750" y="0"/>
                  <a:pt x="5667438" y="28688"/>
                  <a:pt x="5667438" y="64076"/>
                </a:cubicBezTo>
                <a:lnTo>
                  <a:pt x="5667438" y="2979919"/>
                </a:lnTo>
                <a:cubicBezTo>
                  <a:pt x="5667438" y="3015307"/>
                  <a:pt x="5638750" y="3043995"/>
                  <a:pt x="5603361" y="3043995"/>
                </a:cubicBezTo>
                <a:lnTo>
                  <a:pt x="24032" y="3043995"/>
                </a:lnTo>
                <a:cubicBezTo>
                  <a:pt x="10759" y="3043995"/>
                  <a:pt x="0" y="3033235"/>
                  <a:pt x="0" y="3019963"/>
                </a:cubicBezTo>
                <a:lnTo>
                  <a:pt x="0" y="24032"/>
                </a:lnTo>
                <a:cubicBezTo>
                  <a:pt x="0" y="10768"/>
                  <a:pt x="10768" y="0"/>
                  <a:pt x="24032" y="0"/>
                </a:cubicBezTo>
                <a:close/>
              </a:path>
            </a:pathLst>
          </a:custGeom>
          <a:solidFill>
            <a:srgbClr val="1A1A1A"/>
          </a:solidFill>
          <a:ln/>
        </p:spPr>
      </p:sp>
      <p:sp>
        <p:nvSpPr>
          <p:cNvPr id="6" name="Shape 4"/>
          <p:cNvSpPr/>
          <p:nvPr/>
        </p:nvSpPr>
        <p:spPr>
          <a:xfrm>
            <a:off x="332436" y="1265661"/>
            <a:ext cx="24032" cy="3043995"/>
          </a:xfrm>
          <a:custGeom>
            <a:avLst/>
            <a:gdLst/>
            <a:ahLst/>
            <a:cxnLst/>
            <a:rect l="l" t="t" r="r" b="b"/>
            <a:pathLst>
              <a:path w="24032" h="3043995">
                <a:moveTo>
                  <a:pt x="24032" y="0"/>
                </a:moveTo>
                <a:lnTo>
                  <a:pt x="24032" y="0"/>
                </a:lnTo>
                <a:lnTo>
                  <a:pt x="24032" y="3043995"/>
                </a:lnTo>
                <a:lnTo>
                  <a:pt x="24032" y="3043995"/>
                </a:lnTo>
                <a:cubicBezTo>
                  <a:pt x="10759" y="3043995"/>
                  <a:pt x="0" y="3033235"/>
                  <a:pt x="0" y="3019963"/>
                </a:cubicBezTo>
                <a:lnTo>
                  <a:pt x="0" y="24032"/>
                </a:lnTo>
                <a:cubicBezTo>
                  <a:pt x="0" y="10768"/>
                  <a:pt x="10768" y="0"/>
                  <a:pt x="24032" y="0"/>
                </a:cubicBezTo>
                <a:close/>
              </a:path>
            </a:pathLst>
          </a:custGeom>
          <a:solidFill>
            <a:srgbClr val="C9A36A"/>
          </a:solidFill>
          <a:ln/>
        </p:spPr>
      </p:sp>
      <p:sp>
        <p:nvSpPr>
          <p:cNvPr id="7" name="Shape 5"/>
          <p:cNvSpPr/>
          <p:nvPr/>
        </p:nvSpPr>
        <p:spPr>
          <a:xfrm>
            <a:off x="504662" y="1425871"/>
            <a:ext cx="384505" cy="384505"/>
          </a:xfrm>
          <a:custGeom>
            <a:avLst/>
            <a:gdLst/>
            <a:ahLst/>
            <a:cxn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p:spPr>
      </p:sp>
      <p:sp>
        <p:nvSpPr>
          <p:cNvPr id="8" name="Shape 6"/>
          <p:cNvSpPr/>
          <p:nvPr/>
        </p:nvSpPr>
        <p:spPr>
          <a:xfrm>
            <a:off x="616809" y="1538018"/>
            <a:ext cx="160210" cy="160210"/>
          </a:xfrm>
          <a:custGeom>
            <a:avLst/>
            <a:gdLst/>
            <a:ahLst/>
            <a:cxnLst/>
            <a:rect l="l" t="t" r="r" b="b"/>
            <a:pathLst>
              <a:path w="160210" h="160210">
                <a:moveTo>
                  <a:pt x="20026" y="20026"/>
                </a:moveTo>
                <a:cubicBezTo>
                  <a:pt x="20026" y="14488"/>
                  <a:pt x="15552" y="10013"/>
                  <a:pt x="10013" y="10013"/>
                </a:cubicBezTo>
                <a:cubicBezTo>
                  <a:pt x="4475" y="10013"/>
                  <a:pt x="0" y="14488"/>
                  <a:pt x="0" y="20026"/>
                </a:cubicBezTo>
                <a:lnTo>
                  <a:pt x="0" y="125164"/>
                </a:lnTo>
                <a:cubicBezTo>
                  <a:pt x="0" y="138995"/>
                  <a:pt x="11202" y="150197"/>
                  <a:pt x="25033" y="150197"/>
                </a:cubicBezTo>
                <a:lnTo>
                  <a:pt x="150197" y="150197"/>
                </a:lnTo>
                <a:cubicBezTo>
                  <a:pt x="155736" y="150197"/>
                  <a:pt x="160210" y="145722"/>
                  <a:pt x="160210" y="140184"/>
                </a:cubicBezTo>
                <a:cubicBezTo>
                  <a:pt x="160210" y="134645"/>
                  <a:pt x="155736" y="130171"/>
                  <a:pt x="150197" y="130171"/>
                </a:cubicBezTo>
                <a:lnTo>
                  <a:pt x="25033" y="130171"/>
                </a:lnTo>
                <a:cubicBezTo>
                  <a:pt x="22279" y="130171"/>
                  <a:pt x="20026" y="127918"/>
                  <a:pt x="20026" y="125164"/>
                </a:cubicBezTo>
                <a:lnTo>
                  <a:pt x="20026" y="20026"/>
                </a:lnTo>
                <a:close/>
                <a:moveTo>
                  <a:pt x="147256" y="47124"/>
                </a:moveTo>
                <a:cubicBezTo>
                  <a:pt x="151167" y="43213"/>
                  <a:pt x="151167" y="36861"/>
                  <a:pt x="147256" y="32949"/>
                </a:cubicBezTo>
                <a:cubicBezTo>
                  <a:pt x="143344" y="29038"/>
                  <a:pt x="136992" y="29038"/>
                  <a:pt x="133081" y="32949"/>
                </a:cubicBezTo>
                <a:lnTo>
                  <a:pt x="100131" y="65930"/>
                </a:lnTo>
                <a:lnTo>
                  <a:pt x="82170" y="48000"/>
                </a:lnTo>
                <a:cubicBezTo>
                  <a:pt x="78259" y="44089"/>
                  <a:pt x="71907" y="44089"/>
                  <a:pt x="67995" y="48000"/>
                </a:cubicBezTo>
                <a:lnTo>
                  <a:pt x="37956" y="78040"/>
                </a:lnTo>
                <a:cubicBezTo>
                  <a:pt x="34045" y="81951"/>
                  <a:pt x="34045" y="88303"/>
                  <a:pt x="37956" y="92215"/>
                </a:cubicBezTo>
                <a:cubicBezTo>
                  <a:pt x="41867" y="96126"/>
                  <a:pt x="48220" y="96126"/>
                  <a:pt x="52131" y="92215"/>
                </a:cubicBezTo>
                <a:lnTo>
                  <a:pt x="75099" y="69247"/>
                </a:lnTo>
                <a:lnTo>
                  <a:pt x="93060" y="87208"/>
                </a:lnTo>
                <a:cubicBezTo>
                  <a:pt x="96971" y="91120"/>
                  <a:pt x="103323" y="91120"/>
                  <a:pt x="107234" y="87208"/>
                </a:cubicBezTo>
                <a:lnTo>
                  <a:pt x="147287" y="47156"/>
                </a:lnTo>
                <a:close/>
              </a:path>
            </a:pathLst>
          </a:custGeom>
          <a:solidFill>
            <a:srgbClr val="C9A36A"/>
          </a:solidFill>
          <a:ln/>
        </p:spPr>
      </p:sp>
      <p:sp>
        <p:nvSpPr>
          <p:cNvPr id="9" name="Text 7"/>
          <p:cNvSpPr/>
          <p:nvPr/>
        </p:nvSpPr>
        <p:spPr>
          <a:xfrm>
            <a:off x="985293" y="1489955"/>
            <a:ext cx="1938544" cy="256336"/>
          </a:xfrm>
          <a:prstGeom prst="rect">
            <a:avLst/>
          </a:prstGeom>
          <a:noFill/>
          <a:ln/>
        </p:spPr>
        <p:txBody>
          <a:bodyPr wrap="square" lIns="0" tIns="0" rIns="0" bIns="0" rtlCol="0" anchor="ctr"/>
          <a:lstStyle/>
          <a:p>
            <a:pPr>
              <a:lnSpc>
                <a:spcPct val="110000"/>
              </a:lnSpc>
            </a:pPr>
            <a:r>
              <a:rPr lang="en-US" sz="1514" b="1" dirty="0">
                <a:solidFill>
                  <a:srgbClr val="F2F2F2"/>
                </a:solidFill>
                <a:latin typeface="Oranienbaum" pitchFamily="34" charset="0"/>
                <a:ea typeface="Oranienbaum" pitchFamily="34" charset="-122"/>
                <a:cs typeface="Oranienbaum" pitchFamily="34" charset="-120"/>
              </a:rPr>
              <a:t>From Obscurity to Fame</a:t>
            </a:r>
            <a:endParaRPr lang="en-US" sz="1600" dirty="0"/>
          </a:p>
        </p:txBody>
      </p:sp>
      <p:sp>
        <p:nvSpPr>
          <p:cNvPr id="10" name="Text 8"/>
          <p:cNvSpPr/>
          <p:nvPr/>
        </p:nvSpPr>
        <p:spPr>
          <a:xfrm>
            <a:off x="504662" y="1938544"/>
            <a:ext cx="5399085"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During his lifetime, Van Gogh sold only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one painting</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 Red Vineyard" (1890), purchased by Belgian artist Anna Boch for 400 francs. He died in poverty and relative obscurity, considered a madman and failure by most.</a:t>
            </a:r>
            <a:endParaRPr lang="en-US" sz="1600" dirty="0"/>
          </a:p>
        </p:txBody>
      </p:sp>
      <p:sp>
        <p:nvSpPr>
          <p:cNvPr id="11" name="Text 9"/>
          <p:cNvSpPr/>
          <p:nvPr/>
        </p:nvSpPr>
        <p:spPr>
          <a:xfrm>
            <a:off x="504662" y="2691532"/>
            <a:ext cx="5399085"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After his death, Theo and later Theo's widow </a:t>
            </a:r>
            <a:pPr>
              <a:lnSpc>
                <a:spcPct val="140000"/>
              </a:lnSpc>
            </a:pPr>
            <a:r>
              <a:rPr lang="en-US" sz="1009" dirty="0">
                <a:solidFill>
                  <a:srgbClr val="C9A36A"/>
                </a:solidFill>
                <a:latin typeface="Quattrocento Sans" pitchFamily="34" charset="0"/>
                <a:ea typeface="Quattrocento Sans" pitchFamily="34" charset="-122"/>
                <a:cs typeface="Quattrocento Sans" pitchFamily="34" charset="-120"/>
              </a:rPr>
              <a:t>Johanna van Gogh-Bonger</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worked tirelessly to promote his work. Johanna organized exhibitions across Europe, published his letters, and built relationships with collectors and critics who gradually recognized his genius.</a:t>
            </a:r>
            <a:endParaRPr lang="en-US" sz="1600" dirty="0"/>
          </a:p>
        </p:txBody>
      </p:sp>
      <p:sp>
        <p:nvSpPr>
          <p:cNvPr id="12" name="Shape 10"/>
          <p:cNvSpPr/>
          <p:nvPr/>
        </p:nvSpPr>
        <p:spPr>
          <a:xfrm>
            <a:off x="504662" y="3444520"/>
            <a:ext cx="5335001" cy="704925"/>
          </a:xfrm>
          <a:custGeom>
            <a:avLst/>
            <a:gdLst/>
            <a:ahLst/>
            <a:cxnLst/>
            <a:rect l="l" t="t" r="r" b="b"/>
            <a:pathLst>
              <a:path w="5335001" h="704925">
                <a:moveTo>
                  <a:pt x="32039" y="0"/>
                </a:moveTo>
                <a:lnTo>
                  <a:pt x="5302962" y="0"/>
                </a:lnTo>
                <a:cubicBezTo>
                  <a:pt x="5320657" y="0"/>
                  <a:pt x="5335001" y="14344"/>
                  <a:pt x="5335001" y="32039"/>
                </a:cubicBezTo>
                <a:lnTo>
                  <a:pt x="5335001" y="672886"/>
                </a:lnTo>
                <a:cubicBezTo>
                  <a:pt x="5335001" y="690581"/>
                  <a:pt x="5320657" y="704925"/>
                  <a:pt x="5302962"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p:spPr>
      </p:sp>
      <p:sp>
        <p:nvSpPr>
          <p:cNvPr id="13" name="Text 11"/>
          <p:cNvSpPr/>
          <p:nvPr/>
        </p:nvSpPr>
        <p:spPr>
          <a:xfrm>
            <a:off x="600788" y="3540647"/>
            <a:ext cx="5198823"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Turning Point:</a:t>
            </a:r>
            <a:endParaRPr lang="en-US" sz="1600" dirty="0"/>
          </a:p>
        </p:txBody>
      </p:sp>
      <p:sp>
        <p:nvSpPr>
          <p:cNvPr id="14" name="Text 12"/>
          <p:cNvSpPr/>
          <p:nvPr/>
        </p:nvSpPr>
        <p:spPr>
          <a:xfrm>
            <a:off x="600788" y="3732899"/>
            <a:ext cx="5198823" cy="32042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A 1901 retrospective in Paris brought Van Gogh to the attention of the avant-garde, sparking his posthumous rise to fame.</a:t>
            </a:r>
            <a:endParaRPr lang="en-US" sz="1600" dirty="0"/>
          </a:p>
        </p:txBody>
      </p:sp>
      <p:sp>
        <p:nvSpPr>
          <p:cNvPr id="15" name="Shape 13"/>
          <p:cNvSpPr/>
          <p:nvPr/>
        </p:nvSpPr>
        <p:spPr>
          <a:xfrm>
            <a:off x="332436" y="4437824"/>
            <a:ext cx="5667438" cy="2002628"/>
          </a:xfrm>
          <a:custGeom>
            <a:avLst/>
            <a:gdLst/>
            <a:ahLst/>
            <a:cxnLst/>
            <a:rect l="l" t="t" r="r" b="b"/>
            <a:pathLst>
              <a:path w="5667438" h="2002628">
                <a:moveTo>
                  <a:pt x="24032" y="0"/>
                </a:moveTo>
                <a:lnTo>
                  <a:pt x="5603353" y="0"/>
                </a:lnTo>
                <a:cubicBezTo>
                  <a:pt x="5638746" y="0"/>
                  <a:pt x="5667438" y="28691"/>
                  <a:pt x="5667438" y="64084"/>
                </a:cubicBezTo>
                <a:lnTo>
                  <a:pt x="5667438" y="1938544"/>
                </a:lnTo>
                <a:cubicBezTo>
                  <a:pt x="5667438" y="1973937"/>
                  <a:pt x="5638746" y="2002628"/>
                  <a:pt x="5603353" y="2002628"/>
                </a:cubicBezTo>
                <a:lnTo>
                  <a:pt x="24032" y="2002628"/>
                </a:lnTo>
                <a:cubicBezTo>
                  <a:pt x="10759" y="2002628"/>
                  <a:pt x="0" y="1991869"/>
                  <a:pt x="0" y="1978597"/>
                </a:cubicBezTo>
                <a:lnTo>
                  <a:pt x="0" y="24032"/>
                </a:lnTo>
                <a:cubicBezTo>
                  <a:pt x="0" y="10768"/>
                  <a:pt x="10768" y="0"/>
                  <a:pt x="24032" y="0"/>
                </a:cubicBezTo>
                <a:close/>
              </a:path>
            </a:pathLst>
          </a:custGeom>
          <a:solidFill>
            <a:srgbClr val="1A1A1A"/>
          </a:solidFill>
          <a:ln/>
        </p:spPr>
      </p:sp>
      <p:sp>
        <p:nvSpPr>
          <p:cNvPr id="16" name="Shape 14"/>
          <p:cNvSpPr/>
          <p:nvPr/>
        </p:nvSpPr>
        <p:spPr>
          <a:xfrm>
            <a:off x="332436" y="4437824"/>
            <a:ext cx="24032" cy="2002628"/>
          </a:xfrm>
          <a:custGeom>
            <a:avLst/>
            <a:gdLst/>
            <a:ahLst/>
            <a:cxnLst/>
            <a:rect l="l" t="t" r="r" b="b"/>
            <a:pathLst>
              <a:path w="24032" h="2002628">
                <a:moveTo>
                  <a:pt x="24032" y="0"/>
                </a:moveTo>
                <a:lnTo>
                  <a:pt x="24032" y="0"/>
                </a:lnTo>
                <a:lnTo>
                  <a:pt x="24032" y="2002628"/>
                </a:lnTo>
                <a:lnTo>
                  <a:pt x="24032" y="2002628"/>
                </a:lnTo>
                <a:cubicBezTo>
                  <a:pt x="10759" y="2002628"/>
                  <a:pt x="0" y="1991869"/>
                  <a:pt x="0" y="1978597"/>
                </a:cubicBezTo>
                <a:lnTo>
                  <a:pt x="0" y="24032"/>
                </a:lnTo>
                <a:cubicBezTo>
                  <a:pt x="0" y="10768"/>
                  <a:pt x="10768" y="0"/>
                  <a:pt x="24032" y="0"/>
                </a:cubicBezTo>
                <a:close/>
              </a:path>
            </a:pathLst>
          </a:custGeom>
          <a:solidFill>
            <a:srgbClr val="C9A36A"/>
          </a:solidFill>
          <a:ln/>
        </p:spPr>
      </p:sp>
      <p:sp>
        <p:nvSpPr>
          <p:cNvPr id="17" name="Shape 15"/>
          <p:cNvSpPr/>
          <p:nvPr/>
        </p:nvSpPr>
        <p:spPr>
          <a:xfrm>
            <a:off x="504662" y="4598034"/>
            <a:ext cx="384505" cy="384505"/>
          </a:xfrm>
          <a:custGeom>
            <a:avLst/>
            <a:gdLst/>
            <a:ahLst/>
            <a:cxn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p:spPr>
      </p:sp>
      <p:sp>
        <p:nvSpPr>
          <p:cNvPr id="18" name="Shape 16"/>
          <p:cNvSpPr/>
          <p:nvPr/>
        </p:nvSpPr>
        <p:spPr>
          <a:xfrm>
            <a:off x="616809" y="4710181"/>
            <a:ext cx="160210" cy="160210"/>
          </a:xfrm>
          <a:custGeom>
            <a:avLst/>
            <a:gdLst/>
            <a:ahLst/>
            <a:cxnLst/>
            <a:rect l="l" t="t" r="r" b="b"/>
            <a:pathLst>
              <a:path w="160210" h="160210">
                <a:moveTo>
                  <a:pt x="74692" y="1596"/>
                </a:moveTo>
                <a:cubicBezTo>
                  <a:pt x="77977" y="-532"/>
                  <a:pt x="82233" y="-532"/>
                  <a:pt x="85518" y="1596"/>
                </a:cubicBezTo>
                <a:lnTo>
                  <a:pt x="155610" y="46655"/>
                </a:lnTo>
                <a:cubicBezTo>
                  <a:pt x="159334" y="49064"/>
                  <a:pt x="161055" y="53633"/>
                  <a:pt x="159803" y="57888"/>
                </a:cubicBezTo>
                <a:cubicBezTo>
                  <a:pt x="158552" y="62144"/>
                  <a:pt x="154640" y="65085"/>
                  <a:pt x="150197" y="65085"/>
                </a:cubicBezTo>
                <a:lnTo>
                  <a:pt x="140184" y="65085"/>
                </a:lnTo>
                <a:lnTo>
                  <a:pt x="140184" y="130171"/>
                </a:lnTo>
                <a:lnTo>
                  <a:pt x="156205" y="142187"/>
                </a:lnTo>
                <a:cubicBezTo>
                  <a:pt x="158740" y="144064"/>
                  <a:pt x="160210" y="147037"/>
                  <a:pt x="160210" y="150197"/>
                </a:cubicBezTo>
                <a:cubicBezTo>
                  <a:pt x="160210" y="155736"/>
                  <a:pt x="155736" y="160210"/>
                  <a:pt x="150197" y="160210"/>
                </a:cubicBezTo>
                <a:lnTo>
                  <a:pt x="10013" y="160210"/>
                </a:lnTo>
                <a:cubicBezTo>
                  <a:pt x="4475" y="160210"/>
                  <a:pt x="0" y="155736"/>
                  <a:pt x="0" y="150197"/>
                </a:cubicBezTo>
                <a:cubicBezTo>
                  <a:pt x="0" y="147037"/>
                  <a:pt x="1471" y="144064"/>
                  <a:pt x="4005" y="142187"/>
                </a:cubicBezTo>
                <a:lnTo>
                  <a:pt x="20026" y="130171"/>
                </a:lnTo>
                <a:lnTo>
                  <a:pt x="20026" y="130171"/>
                </a:lnTo>
                <a:lnTo>
                  <a:pt x="20026" y="65085"/>
                </a:lnTo>
                <a:lnTo>
                  <a:pt x="10013" y="65085"/>
                </a:lnTo>
                <a:cubicBezTo>
                  <a:pt x="5570" y="65085"/>
                  <a:pt x="1658" y="62144"/>
                  <a:pt x="407" y="57888"/>
                </a:cubicBezTo>
                <a:cubicBezTo>
                  <a:pt x="-845" y="53633"/>
                  <a:pt x="876" y="49033"/>
                  <a:pt x="4600" y="46655"/>
                </a:cubicBezTo>
                <a:lnTo>
                  <a:pt x="74692" y="1596"/>
                </a:lnTo>
                <a:close/>
                <a:moveTo>
                  <a:pt x="105138" y="65085"/>
                </a:moveTo>
                <a:lnTo>
                  <a:pt x="105138" y="130171"/>
                </a:lnTo>
                <a:lnTo>
                  <a:pt x="125164" y="130171"/>
                </a:lnTo>
                <a:lnTo>
                  <a:pt x="125164" y="65085"/>
                </a:lnTo>
                <a:lnTo>
                  <a:pt x="105138" y="65085"/>
                </a:lnTo>
                <a:close/>
                <a:moveTo>
                  <a:pt x="70092" y="130171"/>
                </a:moveTo>
                <a:lnTo>
                  <a:pt x="90118" y="130171"/>
                </a:lnTo>
                <a:lnTo>
                  <a:pt x="90118" y="65085"/>
                </a:lnTo>
                <a:lnTo>
                  <a:pt x="70092" y="65085"/>
                </a:lnTo>
                <a:lnTo>
                  <a:pt x="70092" y="130171"/>
                </a:lnTo>
                <a:close/>
                <a:moveTo>
                  <a:pt x="35046" y="65085"/>
                </a:moveTo>
                <a:lnTo>
                  <a:pt x="35046" y="130171"/>
                </a:lnTo>
                <a:lnTo>
                  <a:pt x="55072" y="130171"/>
                </a:lnTo>
                <a:lnTo>
                  <a:pt x="55072" y="65085"/>
                </a:lnTo>
                <a:lnTo>
                  <a:pt x="35046" y="65085"/>
                </a:lnTo>
                <a:close/>
              </a:path>
            </a:pathLst>
          </a:custGeom>
          <a:solidFill>
            <a:srgbClr val="C9A36A"/>
          </a:solidFill>
          <a:ln/>
        </p:spPr>
      </p:sp>
      <p:sp>
        <p:nvSpPr>
          <p:cNvPr id="19" name="Text 17"/>
          <p:cNvSpPr/>
          <p:nvPr/>
        </p:nvSpPr>
        <p:spPr>
          <a:xfrm>
            <a:off x="985293" y="4662118"/>
            <a:ext cx="1513987" cy="256336"/>
          </a:xfrm>
          <a:prstGeom prst="rect">
            <a:avLst/>
          </a:prstGeom>
          <a:noFill/>
          <a:ln/>
        </p:spPr>
        <p:txBody>
          <a:bodyPr wrap="square" lIns="0" tIns="0" rIns="0" bIns="0" rtlCol="0" anchor="ctr"/>
          <a:lstStyle/>
          <a:p>
            <a:pPr>
              <a:lnSpc>
                <a:spcPct val="110000"/>
              </a:lnSpc>
            </a:pPr>
            <a:r>
              <a:rPr lang="en-US" sz="1514" b="1" dirty="0">
                <a:solidFill>
                  <a:srgbClr val="F2F2F2"/>
                </a:solidFill>
                <a:latin typeface="Oranienbaum" pitchFamily="34" charset="0"/>
                <a:ea typeface="Oranienbaum" pitchFamily="34" charset="-122"/>
                <a:cs typeface="Oranienbaum" pitchFamily="34" charset="-120"/>
              </a:rPr>
              <a:t>Van Gogh Museum</a:t>
            </a:r>
            <a:endParaRPr lang="en-US" sz="1600" dirty="0"/>
          </a:p>
        </p:txBody>
      </p:sp>
      <p:sp>
        <p:nvSpPr>
          <p:cNvPr id="20" name="Text 18"/>
          <p:cNvSpPr/>
          <p:nvPr/>
        </p:nvSpPr>
        <p:spPr>
          <a:xfrm>
            <a:off x="504662" y="5110707"/>
            <a:ext cx="5399085" cy="416547"/>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Established in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1973</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in Amsterdam's Museumplein, the Van Gogh Museum houses the </a:t>
            </a:r>
            <a:pPr>
              <a:lnSpc>
                <a:spcPct val="140000"/>
              </a:lnSpc>
            </a:pPr>
            <a:r>
              <a:rPr lang="en-US" sz="1009" dirty="0">
                <a:solidFill>
                  <a:srgbClr val="C9A36A"/>
                </a:solidFill>
                <a:latin typeface="Quattrocento Sans" pitchFamily="34" charset="0"/>
                <a:ea typeface="Quattrocento Sans" pitchFamily="34" charset="-122"/>
                <a:cs typeface="Quattrocento Sans" pitchFamily="34" charset="-120"/>
              </a:rPr>
              <a:t>world's largest collection</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of his works—over 200 paintings, 500 drawings, and 700 letters.</a:t>
            </a:r>
            <a:endParaRPr lang="en-US" sz="1600" dirty="0"/>
          </a:p>
        </p:txBody>
      </p:sp>
      <p:sp>
        <p:nvSpPr>
          <p:cNvPr id="21" name="Text 19"/>
          <p:cNvSpPr/>
          <p:nvPr/>
        </p:nvSpPr>
        <p:spPr>
          <a:xfrm>
            <a:off x="504662" y="5655422"/>
            <a:ext cx="5399085"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 museum, founded by Vincent's nephew Vincent Willem van Gogh, attracts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2+ million visitors annually</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making it one of the world's most popular art museums and a testament to his enduring appeal.</a:t>
            </a:r>
            <a:endParaRPr lang="en-US" sz="1600" dirty="0"/>
          </a:p>
        </p:txBody>
      </p:sp>
      <p:sp>
        <p:nvSpPr>
          <p:cNvPr id="22" name="Shape 20"/>
          <p:cNvSpPr/>
          <p:nvPr/>
        </p:nvSpPr>
        <p:spPr>
          <a:xfrm>
            <a:off x="6203203" y="1265661"/>
            <a:ext cx="5667438" cy="3556668"/>
          </a:xfrm>
          <a:custGeom>
            <a:avLst/>
            <a:gdLst/>
            <a:ahLst/>
            <a:cxnLst/>
            <a:rect l="l" t="t" r="r" b="b"/>
            <a:pathLst>
              <a:path w="5667438" h="3556668">
                <a:moveTo>
                  <a:pt x="24032" y="0"/>
                </a:moveTo>
                <a:lnTo>
                  <a:pt x="5603346" y="0"/>
                </a:lnTo>
                <a:cubicBezTo>
                  <a:pt x="5638743" y="0"/>
                  <a:pt x="5667438" y="28695"/>
                  <a:pt x="5667438" y="64091"/>
                </a:cubicBezTo>
                <a:lnTo>
                  <a:pt x="5667438" y="3492576"/>
                </a:lnTo>
                <a:cubicBezTo>
                  <a:pt x="5667438" y="3527973"/>
                  <a:pt x="5638743" y="3556668"/>
                  <a:pt x="5603346" y="3556668"/>
                </a:cubicBezTo>
                <a:lnTo>
                  <a:pt x="24032" y="3556668"/>
                </a:lnTo>
                <a:cubicBezTo>
                  <a:pt x="10759" y="3556668"/>
                  <a:pt x="0" y="3545908"/>
                  <a:pt x="0" y="3532636"/>
                </a:cubicBezTo>
                <a:lnTo>
                  <a:pt x="0" y="24032"/>
                </a:lnTo>
                <a:cubicBezTo>
                  <a:pt x="0" y="10768"/>
                  <a:pt x="10768" y="0"/>
                  <a:pt x="24032" y="0"/>
                </a:cubicBezTo>
                <a:close/>
              </a:path>
            </a:pathLst>
          </a:custGeom>
          <a:solidFill>
            <a:srgbClr val="1A1A1A"/>
          </a:solidFill>
          <a:ln/>
        </p:spPr>
      </p:sp>
      <p:sp>
        <p:nvSpPr>
          <p:cNvPr id="23" name="Shape 21"/>
          <p:cNvSpPr/>
          <p:nvPr/>
        </p:nvSpPr>
        <p:spPr>
          <a:xfrm>
            <a:off x="6203203" y="1265661"/>
            <a:ext cx="24032" cy="3556668"/>
          </a:xfrm>
          <a:custGeom>
            <a:avLst/>
            <a:gdLst/>
            <a:ahLst/>
            <a:cxnLst/>
            <a:rect l="l" t="t" r="r" b="b"/>
            <a:pathLst>
              <a:path w="24032" h="3556668">
                <a:moveTo>
                  <a:pt x="24032" y="0"/>
                </a:moveTo>
                <a:lnTo>
                  <a:pt x="24032" y="0"/>
                </a:lnTo>
                <a:lnTo>
                  <a:pt x="24032" y="3556668"/>
                </a:lnTo>
                <a:lnTo>
                  <a:pt x="24032" y="3556668"/>
                </a:lnTo>
                <a:cubicBezTo>
                  <a:pt x="10759" y="3556668"/>
                  <a:pt x="0" y="3545908"/>
                  <a:pt x="0" y="3532636"/>
                </a:cubicBezTo>
                <a:lnTo>
                  <a:pt x="0" y="24032"/>
                </a:lnTo>
                <a:cubicBezTo>
                  <a:pt x="0" y="10768"/>
                  <a:pt x="10768" y="0"/>
                  <a:pt x="24032" y="0"/>
                </a:cubicBezTo>
                <a:close/>
              </a:path>
            </a:pathLst>
          </a:custGeom>
          <a:solidFill>
            <a:srgbClr val="C9A36A"/>
          </a:solidFill>
          <a:ln/>
        </p:spPr>
      </p:sp>
      <p:sp>
        <p:nvSpPr>
          <p:cNvPr id="24" name="Shape 22"/>
          <p:cNvSpPr/>
          <p:nvPr/>
        </p:nvSpPr>
        <p:spPr>
          <a:xfrm>
            <a:off x="6375429" y="1425871"/>
            <a:ext cx="384505" cy="384505"/>
          </a:xfrm>
          <a:custGeom>
            <a:avLst/>
            <a:gdLst/>
            <a:ahLst/>
            <a:cxn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p:spPr>
      </p:sp>
      <p:sp>
        <p:nvSpPr>
          <p:cNvPr id="25" name="Shape 23"/>
          <p:cNvSpPr/>
          <p:nvPr/>
        </p:nvSpPr>
        <p:spPr>
          <a:xfrm>
            <a:off x="6517616" y="1538018"/>
            <a:ext cx="100131" cy="160210"/>
          </a:xfrm>
          <a:custGeom>
            <a:avLst/>
            <a:gdLst/>
            <a:ahLst/>
            <a:cxnLst/>
            <a:rect l="l" t="t" r="r" b="b"/>
            <a:pathLst>
              <a:path w="100131" h="160210">
                <a:moveTo>
                  <a:pt x="42556" y="7510"/>
                </a:moveTo>
                <a:cubicBezTo>
                  <a:pt x="42556" y="3348"/>
                  <a:pt x="45904" y="0"/>
                  <a:pt x="50066" y="0"/>
                </a:cubicBezTo>
                <a:cubicBezTo>
                  <a:pt x="54227" y="0"/>
                  <a:pt x="57576" y="3348"/>
                  <a:pt x="57576" y="7510"/>
                </a:cubicBezTo>
                <a:lnTo>
                  <a:pt x="57576" y="20026"/>
                </a:lnTo>
                <a:lnTo>
                  <a:pt x="75099" y="20026"/>
                </a:lnTo>
                <a:cubicBezTo>
                  <a:pt x="80637" y="20026"/>
                  <a:pt x="85112" y="24501"/>
                  <a:pt x="85112" y="30039"/>
                </a:cubicBezTo>
                <a:cubicBezTo>
                  <a:pt x="85112" y="35578"/>
                  <a:pt x="80637" y="40053"/>
                  <a:pt x="75099" y="40053"/>
                </a:cubicBezTo>
                <a:lnTo>
                  <a:pt x="39145" y="40053"/>
                </a:lnTo>
                <a:cubicBezTo>
                  <a:pt x="31354" y="40053"/>
                  <a:pt x="25033" y="46373"/>
                  <a:pt x="25033" y="54165"/>
                </a:cubicBezTo>
                <a:cubicBezTo>
                  <a:pt x="25033" y="61205"/>
                  <a:pt x="30196" y="67151"/>
                  <a:pt x="37142" y="68152"/>
                </a:cubicBezTo>
                <a:lnTo>
                  <a:pt x="65805" y="72251"/>
                </a:lnTo>
                <a:cubicBezTo>
                  <a:pt x="82640" y="74660"/>
                  <a:pt x="95125" y="89054"/>
                  <a:pt x="95125" y="106045"/>
                </a:cubicBezTo>
                <a:cubicBezTo>
                  <a:pt x="95125" y="124914"/>
                  <a:pt x="79824" y="140184"/>
                  <a:pt x="60986" y="140184"/>
                </a:cubicBezTo>
                <a:lnTo>
                  <a:pt x="57576" y="140184"/>
                </a:lnTo>
                <a:lnTo>
                  <a:pt x="57576" y="152700"/>
                </a:lnTo>
                <a:cubicBezTo>
                  <a:pt x="57576" y="156862"/>
                  <a:pt x="54227" y="160210"/>
                  <a:pt x="50066" y="160210"/>
                </a:cubicBezTo>
                <a:cubicBezTo>
                  <a:pt x="45904" y="160210"/>
                  <a:pt x="42556" y="156862"/>
                  <a:pt x="42556" y="152700"/>
                </a:cubicBezTo>
                <a:lnTo>
                  <a:pt x="42556" y="140184"/>
                </a:lnTo>
                <a:lnTo>
                  <a:pt x="20026" y="140184"/>
                </a:lnTo>
                <a:cubicBezTo>
                  <a:pt x="14488" y="140184"/>
                  <a:pt x="10013" y="135709"/>
                  <a:pt x="10013" y="130171"/>
                </a:cubicBezTo>
                <a:cubicBezTo>
                  <a:pt x="10013" y="124632"/>
                  <a:pt x="14488" y="120158"/>
                  <a:pt x="20026" y="120158"/>
                </a:cubicBezTo>
                <a:lnTo>
                  <a:pt x="60986" y="120158"/>
                </a:lnTo>
                <a:cubicBezTo>
                  <a:pt x="68778" y="120158"/>
                  <a:pt x="75099" y="113837"/>
                  <a:pt x="75099" y="106045"/>
                </a:cubicBezTo>
                <a:cubicBezTo>
                  <a:pt x="75099" y="99005"/>
                  <a:pt x="69936" y="93060"/>
                  <a:pt x="62989" y="92058"/>
                </a:cubicBezTo>
                <a:lnTo>
                  <a:pt x="34326" y="87959"/>
                </a:lnTo>
                <a:cubicBezTo>
                  <a:pt x="17492" y="85581"/>
                  <a:pt x="5007" y="71156"/>
                  <a:pt x="5007" y="54165"/>
                </a:cubicBezTo>
                <a:cubicBezTo>
                  <a:pt x="5007" y="35328"/>
                  <a:pt x="20308" y="20026"/>
                  <a:pt x="39145" y="20026"/>
                </a:cubicBezTo>
                <a:lnTo>
                  <a:pt x="42556" y="20026"/>
                </a:lnTo>
                <a:lnTo>
                  <a:pt x="42556" y="7510"/>
                </a:lnTo>
                <a:close/>
              </a:path>
            </a:pathLst>
          </a:custGeom>
          <a:solidFill>
            <a:srgbClr val="C9A36A"/>
          </a:solidFill>
          <a:ln/>
        </p:spPr>
      </p:sp>
      <p:sp>
        <p:nvSpPr>
          <p:cNvPr id="26" name="Text 24"/>
          <p:cNvSpPr/>
          <p:nvPr/>
        </p:nvSpPr>
        <p:spPr>
          <a:xfrm>
            <a:off x="6856060" y="1489955"/>
            <a:ext cx="1610113" cy="256336"/>
          </a:xfrm>
          <a:prstGeom prst="rect">
            <a:avLst/>
          </a:prstGeom>
          <a:noFill/>
          <a:ln/>
        </p:spPr>
        <p:txBody>
          <a:bodyPr wrap="square" lIns="0" tIns="0" rIns="0" bIns="0" rtlCol="0" anchor="ctr"/>
          <a:lstStyle/>
          <a:p>
            <a:pPr>
              <a:lnSpc>
                <a:spcPct val="110000"/>
              </a:lnSpc>
            </a:pPr>
            <a:r>
              <a:rPr lang="en-US" sz="1514" b="1" dirty="0">
                <a:solidFill>
                  <a:srgbClr val="F2F2F2"/>
                </a:solidFill>
                <a:latin typeface="Oranienbaum" pitchFamily="34" charset="0"/>
                <a:ea typeface="Oranienbaum" pitchFamily="34" charset="-122"/>
                <a:cs typeface="Oranienbaum" pitchFamily="34" charset="-120"/>
              </a:rPr>
              <a:t>Market Value Today</a:t>
            </a:r>
            <a:endParaRPr lang="en-US" sz="1600" dirty="0"/>
          </a:p>
        </p:txBody>
      </p:sp>
      <p:sp>
        <p:nvSpPr>
          <p:cNvPr id="27" name="Text 25"/>
          <p:cNvSpPr/>
          <p:nvPr/>
        </p:nvSpPr>
        <p:spPr>
          <a:xfrm>
            <a:off x="6375429" y="1938544"/>
            <a:ext cx="5399085" cy="208273"/>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Van Gogh's works now command some of the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highest prices in the art market</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a:t>
            </a:r>
            <a:endParaRPr lang="en-US" sz="1600" dirty="0"/>
          </a:p>
        </p:txBody>
      </p:sp>
      <p:sp>
        <p:nvSpPr>
          <p:cNvPr id="28" name="Shape 26"/>
          <p:cNvSpPr/>
          <p:nvPr/>
        </p:nvSpPr>
        <p:spPr>
          <a:xfrm>
            <a:off x="6375429" y="2274986"/>
            <a:ext cx="5335001" cy="544715"/>
          </a:xfrm>
          <a:custGeom>
            <a:avLst/>
            <a:gdLst/>
            <a:ahLst/>
            <a:cxn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p:spPr>
      </p:sp>
      <p:sp>
        <p:nvSpPr>
          <p:cNvPr id="29" name="Text 27"/>
          <p:cNvSpPr/>
          <p:nvPr/>
        </p:nvSpPr>
        <p:spPr>
          <a:xfrm>
            <a:off x="6471555" y="2387133"/>
            <a:ext cx="1401840"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Portrait of Dr. Gachet (1990)</a:t>
            </a:r>
            <a:endParaRPr lang="en-US" sz="1600" dirty="0"/>
          </a:p>
        </p:txBody>
      </p:sp>
      <p:sp>
        <p:nvSpPr>
          <p:cNvPr id="30" name="Text 28"/>
          <p:cNvSpPr/>
          <p:nvPr/>
        </p:nvSpPr>
        <p:spPr>
          <a:xfrm>
            <a:off x="10907564" y="2371112"/>
            <a:ext cx="769009" cy="192252"/>
          </a:xfrm>
          <a:prstGeom prst="rect">
            <a:avLst/>
          </a:prstGeom>
          <a:noFill/>
          <a:ln/>
        </p:spPr>
        <p:txBody>
          <a:bodyPr wrap="square" lIns="0" tIns="0" rIns="0" bIns="0" rtlCol="0" anchor="ctr"/>
          <a:lstStyle/>
          <a:p>
            <a:pPr>
              <a:lnSpc>
                <a:spcPct val="130000"/>
              </a:lnSpc>
            </a:pPr>
            <a:r>
              <a:rPr lang="en-US" sz="1009" b="1" dirty="0">
                <a:solidFill>
                  <a:srgbClr val="F2F2F2"/>
                </a:solidFill>
                <a:latin typeface="Quattrocento Sans" pitchFamily="34" charset="0"/>
                <a:ea typeface="Quattrocento Sans" pitchFamily="34" charset="-122"/>
                <a:cs typeface="Quattrocento Sans" pitchFamily="34" charset="-120"/>
              </a:rPr>
              <a:t>$82.5 million</a:t>
            </a:r>
            <a:endParaRPr lang="en-US" sz="1600" dirty="0"/>
          </a:p>
        </p:txBody>
      </p:sp>
      <p:sp>
        <p:nvSpPr>
          <p:cNvPr id="31" name="Text 29"/>
          <p:cNvSpPr/>
          <p:nvPr/>
        </p:nvSpPr>
        <p:spPr>
          <a:xfrm>
            <a:off x="6471555" y="2595406"/>
            <a:ext cx="5190812" cy="128168"/>
          </a:xfrm>
          <a:prstGeom prst="rect">
            <a:avLst/>
          </a:prstGeom>
          <a:noFill/>
          <a:ln/>
        </p:spPr>
        <p:txBody>
          <a:bodyPr wrap="square" lIns="0" tIns="0" rIns="0" bIns="0" rtlCol="0" anchor="ctr"/>
          <a:lstStyle/>
          <a:p>
            <a:pPr>
              <a:lnSpc>
                <a:spcPct val="110000"/>
              </a:lnSpc>
            </a:pPr>
            <a:r>
              <a:rPr lang="en-US" sz="757" dirty="0">
                <a:solidFill>
                  <a:srgbClr val="B8B8B8"/>
                </a:solidFill>
                <a:latin typeface="Quattrocento Sans" pitchFamily="34" charset="0"/>
                <a:ea typeface="Quattrocento Sans" pitchFamily="34" charset="-122"/>
                <a:cs typeface="Quattrocento Sans" pitchFamily="34" charset="-120"/>
              </a:rPr>
              <a:t>Held record for most expensive painting for 16 years</a:t>
            </a:r>
            <a:endParaRPr lang="en-US" sz="1600" dirty="0"/>
          </a:p>
        </p:txBody>
      </p:sp>
      <p:sp>
        <p:nvSpPr>
          <p:cNvPr id="32" name="Shape 30"/>
          <p:cNvSpPr/>
          <p:nvPr/>
        </p:nvSpPr>
        <p:spPr>
          <a:xfrm>
            <a:off x="6375429" y="2915827"/>
            <a:ext cx="5335001" cy="544715"/>
          </a:xfrm>
          <a:custGeom>
            <a:avLst/>
            <a:gdLst/>
            <a:ahLst/>
            <a:cxn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p:spPr>
      </p:sp>
      <p:sp>
        <p:nvSpPr>
          <p:cNvPr id="33" name="Text 31"/>
          <p:cNvSpPr/>
          <p:nvPr/>
        </p:nvSpPr>
        <p:spPr>
          <a:xfrm>
            <a:off x="6471555" y="3027974"/>
            <a:ext cx="616809"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Irises (1987)</a:t>
            </a:r>
            <a:endParaRPr lang="en-US" sz="1600" dirty="0"/>
          </a:p>
        </p:txBody>
      </p:sp>
      <p:sp>
        <p:nvSpPr>
          <p:cNvPr id="34" name="Text 32"/>
          <p:cNvSpPr/>
          <p:nvPr/>
        </p:nvSpPr>
        <p:spPr>
          <a:xfrm>
            <a:off x="10904999" y="3011953"/>
            <a:ext cx="769009" cy="192252"/>
          </a:xfrm>
          <a:prstGeom prst="rect">
            <a:avLst/>
          </a:prstGeom>
          <a:noFill/>
          <a:ln/>
        </p:spPr>
        <p:txBody>
          <a:bodyPr wrap="square" lIns="0" tIns="0" rIns="0" bIns="0" rtlCol="0" anchor="ctr"/>
          <a:lstStyle/>
          <a:p>
            <a:pPr>
              <a:lnSpc>
                <a:spcPct val="130000"/>
              </a:lnSpc>
            </a:pPr>
            <a:r>
              <a:rPr lang="en-US" sz="1009" b="1" dirty="0">
                <a:solidFill>
                  <a:srgbClr val="F2F2F2"/>
                </a:solidFill>
                <a:latin typeface="Quattrocento Sans" pitchFamily="34" charset="0"/>
                <a:ea typeface="Quattrocento Sans" pitchFamily="34" charset="-122"/>
                <a:cs typeface="Quattrocento Sans" pitchFamily="34" charset="-120"/>
              </a:rPr>
              <a:t>$53.9 million</a:t>
            </a:r>
            <a:endParaRPr lang="en-US" sz="1600" dirty="0"/>
          </a:p>
        </p:txBody>
      </p:sp>
      <p:sp>
        <p:nvSpPr>
          <p:cNvPr id="35" name="Text 33"/>
          <p:cNvSpPr/>
          <p:nvPr/>
        </p:nvSpPr>
        <p:spPr>
          <a:xfrm>
            <a:off x="6471555" y="3236247"/>
            <a:ext cx="5190812" cy="128168"/>
          </a:xfrm>
          <a:prstGeom prst="rect">
            <a:avLst/>
          </a:prstGeom>
          <a:noFill/>
          <a:ln/>
        </p:spPr>
        <p:txBody>
          <a:bodyPr wrap="square" lIns="0" tIns="0" rIns="0" bIns="0" rtlCol="0" anchor="ctr"/>
          <a:lstStyle/>
          <a:p>
            <a:pPr>
              <a:lnSpc>
                <a:spcPct val="110000"/>
              </a:lnSpc>
            </a:pPr>
            <a:r>
              <a:rPr lang="en-US" sz="757" dirty="0">
                <a:solidFill>
                  <a:srgbClr val="B8B8B8"/>
                </a:solidFill>
                <a:latin typeface="Quattrocento Sans" pitchFamily="34" charset="0"/>
                <a:ea typeface="Quattrocento Sans" pitchFamily="34" charset="-122"/>
                <a:cs typeface="Quattrocento Sans" pitchFamily="34" charset="-120"/>
              </a:rPr>
              <a:t>Set record at the time; now worth $100+ million</a:t>
            </a:r>
            <a:endParaRPr lang="en-US" sz="1600" dirty="0"/>
          </a:p>
        </p:txBody>
      </p:sp>
      <p:sp>
        <p:nvSpPr>
          <p:cNvPr id="36" name="Shape 34"/>
          <p:cNvSpPr/>
          <p:nvPr/>
        </p:nvSpPr>
        <p:spPr>
          <a:xfrm>
            <a:off x="6375429" y="3556668"/>
            <a:ext cx="5335001" cy="544715"/>
          </a:xfrm>
          <a:custGeom>
            <a:avLst/>
            <a:gdLst/>
            <a:ahLst/>
            <a:cxn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p:spPr>
      </p:sp>
      <p:sp>
        <p:nvSpPr>
          <p:cNvPr id="37" name="Text 35"/>
          <p:cNvSpPr/>
          <p:nvPr/>
        </p:nvSpPr>
        <p:spPr>
          <a:xfrm>
            <a:off x="6471555" y="3668815"/>
            <a:ext cx="1257650"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Sunflowers (private sale)</a:t>
            </a:r>
            <a:endParaRPr lang="en-US" sz="1600" dirty="0"/>
          </a:p>
        </p:txBody>
      </p:sp>
      <p:sp>
        <p:nvSpPr>
          <p:cNvPr id="38" name="Text 36"/>
          <p:cNvSpPr/>
          <p:nvPr/>
        </p:nvSpPr>
        <p:spPr>
          <a:xfrm>
            <a:off x="10872706" y="3652794"/>
            <a:ext cx="801051" cy="192252"/>
          </a:xfrm>
          <a:prstGeom prst="rect">
            <a:avLst/>
          </a:prstGeom>
          <a:noFill/>
          <a:ln/>
        </p:spPr>
        <p:txBody>
          <a:bodyPr wrap="square" lIns="0" tIns="0" rIns="0" bIns="0" rtlCol="0" anchor="ctr"/>
          <a:lstStyle/>
          <a:p>
            <a:pPr>
              <a:lnSpc>
                <a:spcPct val="130000"/>
              </a:lnSpc>
            </a:pPr>
            <a:r>
              <a:rPr lang="en-US" sz="1009" b="1" dirty="0">
                <a:solidFill>
                  <a:srgbClr val="F2F2F2"/>
                </a:solidFill>
                <a:latin typeface="Quattrocento Sans" pitchFamily="34" charset="0"/>
                <a:ea typeface="Quattrocento Sans" pitchFamily="34" charset="-122"/>
                <a:cs typeface="Quattrocento Sans" pitchFamily="34" charset="-120"/>
              </a:rPr>
              <a:t>$100+ million</a:t>
            </a:r>
            <a:endParaRPr lang="en-US" sz="1600" dirty="0"/>
          </a:p>
        </p:txBody>
      </p:sp>
      <p:sp>
        <p:nvSpPr>
          <p:cNvPr id="39" name="Text 37"/>
          <p:cNvSpPr/>
          <p:nvPr/>
        </p:nvSpPr>
        <p:spPr>
          <a:xfrm>
            <a:off x="6471555" y="3877088"/>
            <a:ext cx="5190812" cy="128168"/>
          </a:xfrm>
          <a:prstGeom prst="rect">
            <a:avLst/>
          </a:prstGeom>
          <a:noFill/>
          <a:ln/>
        </p:spPr>
        <p:txBody>
          <a:bodyPr wrap="square" lIns="0" tIns="0" rIns="0" bIns="0" rtlCol="0" anchor="ctr"/>
          <a:lstStyle/>
          <a:p>
            <a:pPr>
              <a:lnSpc>
                <a:spcPct val="110000"/>
              </a:lnSpc>
            </a:pPr>
            <a:r>
              <a:rPr lang="en-US" sz="757" dirty="0">
                <a:solidFill>
                  <a:srgbClr val="B8B8B8"/>
                </a:solidFill>
                <a:latin typeface="Quattrocento Sans" pitchFamily="34" charset="0"/>
                <a:ea typeface="Quattrocento Sans" pitchFamily="34" charset="-122"/>
                <a:cs typeface="Quattrocento Sans" pitchFamily="34" charset="-120"/>
              </a:rPr>
              <a:t>Estimated value if sold today</a:t>
            </a:r>
            <a:endParaRPr lang="en-US" sz="1600" dirty="0"/>
          </a:p>
        </p:txBody>
      </p:sp>
      <p:sp>
        <p:nvSpPr>
          <p:cNvPr id="40" name="Text 38"/>
          <p:cNvSpPr/>
          <p:nvPr/>
        </p:nvSpPr>
        <p:spPr>
          <a:xfrm>
            <a:off x="6375429" y="4229551"/>
            <a:ext cx="5391075" cy="32042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The dramatic contrast between his poverty in life and the value of his work today symbolizes the tragedy of unrecognized genius.</a:t>
            </a:r>
            <a:endParaRPr lang="en-US" sz="1600" dirty="0"/>
          </a:p>
        </p:txBody>
      </p:sp>
      <p:sp>
        <p:nvSpPr>
          <p:cNvPr id="41" name="Shape 39"/>
          <p:cNvSpPr/>
          <p:nvPr/>
        </p:nvSpPr>
        <p:spPr>
          <a:xfrm>
            <a:off x="6195193" y="4954502"/>
            <a:ext cx="5671443" cy="1578071"/>
          </a:xfrm>
          <a:custGeom>
            <a:avLst/>
            <a:gdLst/>
            <a:ahLst/>
            <a:cxnLst/>
            <a:rect l="l" t="t" r="r" b="b"/>
            <a:pathLst>
              <a:path w="5671443" h="1578071">
                <a:moveTo>
                  <a:pt x="64085" y="0"/>
                </a:moveTo>
                <a:lnTo>
                  <a:pt x="5607357" y="0"/>
                </a:lnTo>
                <a:cubicBezTo>
                  <a:pt x="5642751" y="0"/>
                  <a:pt x="5671443" y="28692"/>
                  <a:pt x="5671443" y="64085"/>
                </a:cubicBezTo>
                <a:lnTo>
                  <a:pt x="5671443" y="1513985"/>
                </a:lnTo>
                <a:cubicBezTo>
                  <a:pt x="5671443" y="1549379"/>
                  <a:pt x="5642751" y="1578071"/>
                  <a:pt x="5607357" y="1578071"/>
                </a:cubicBezTo>
                <a:lnTo>
                  <a:pt x="64085" y="1578071"/>
                </a:lnTo>
                <a:cubicBezTo>
                  <a:pt x="28692" y="1578071"/>
                  <a:pt x="0" y="1549379"/>
                  <a:pt x="0" y="1513985"/>
                </a:cubicBezTo>
                <a:lnTo>
                  <a:pt x="0" y="64085"/>
                </a:lnTo>
                <a:cubicBezTo>
                  <a:pt x="0" y="28716"/>
                  <a:pt x="28716" y="0"/>
                  <a:pt x="64085"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42" name="Shape 40"/>
          <p:cNvSpPr/>
          <p:nvPr/>
        </p:nvSpPr>
        <p:spPr>
          <a:xfrm>
            <a:off x="8912321" y="5118717"/>
            <a:ext cx="240315" cy="240315"/>
          </a:xfrm>
          <a:custGeom>
            <a:avLst/>
            <a:gdLst/>
            <a:ahLst/>
            <a:cxnLst/>
            <a:rect l="l" t="t" r="r" b="b"/>
            <a:pathLst>
              <a:path w="240315" h="240315">
                <a:moveTo>
                  <a:pt x="165170" y="131422"/>
                </a:moveTo>
                <a:lnTo>
                  <a:pt x="75568" y="131422"/>
                </a:lnTo>
                <a:cubicBezTo>
                  <a:pt x="76929" y="161697"/>
                  <a:pt x="83641" y="189577"/>
                  <a:pt x="93169" y="209994"/>
                </a:cubicBezTo>
                <a:cubicBezTo>
                  <a:pt x="98520" y="221494"/>
                  <a:pt x="104293" y="229614"/>
                  <a:pt x="109644" y="234589"/>
                </a:cubicBezTo>
                <a:cubicBezTo>
                  <a:pt x="114901" y="239517"/>
                  <a:pt x="118515" y="240315"/>
                  <a:pt x="120392" y="240315"/>
                </a:cubicBezTo>
                <a:cubicBezTo>
                  <a:pt x="122270" y="240315"/>
                  <a:pt x="125884" y="239517"/>
                  <a:pt x="131141" y="234589"/>
                </a:cubicBezTo>
                <a:cubicBezTo>
                  <a:pt x="136492" y="229614"/>
                  <a:pt x="142265" y="221447"/>
                  <a:pt x="147616" y="209994"/>
                </a:cubicBezTo>
                <a:cubicBezTo>
                  <a:pt x="157144" y="189577"/>
                  <a:pt x="163856" y="161697"/>
                  <a:pt x="165217" y="131422"/>
                </a:cubicBezTo>
                <a:close/>
                <a:moveTo>
                  <a:pt x="75521" y="108893"/>
                </a:moveTo>
                <a:lnTo>
                  <a:pt x="165123" y="108893"/>
                </a:lnTo>
                <a:cubicBezTo>
                  <a:pt x="163809" y="78619"/>
                  <a:pt x="157097" y="50738"/>
                  <a:pt x="147569" y="30321"/>
                </a:cubicBezTo>
                <a:cubicBezTo>
                  <a:pt x="142218" y="18869"/>
                  <a:pt x="136445" y="10702"/>
                  <a:pt x="131094" y="5726"/>
                </a:cubicBezTo>
                <a:cubicBezTo>
                  <a:pt x="125837" y="798"/>
                  <a:pt x="122223" y="0"/>
                  <a:pt x="120345" y="0"/>
                </a:cubicBezTo>
                <a:cubicBezTo>
                  <a:pt x="118468" y="0"/>
                  <a:pt x="114854" y="798"/>
                  <a:pt x="109597" y="5726"/>
                </a:cubicBezTo>
                <a:cubicBezTo>
                  <a:pt x="104246" y="10702"/>
                  <a:pt x="98473" y="18869"/>
                  <a:pt x="93122" y="30321"/>
                </a:cubicBezTo>
                <a:cubicBezTo>
                  <a:pt x="83594" y="50738"/>
                  <a:pt x="76882" y="78619"/>
                  <a:pt x="75521" y="108893"/>
                </a:cubicBezTo>
                <a:close/>
                <a:moveTo>
                  <a:pt x="52991" y="108893"/>
                </a:moveTo>
                <a:cubicBezTo>
                  <a:pt x="54634" y="68715"/>
                  <a:pt x="65007" y="31401"/>
                  <a:pt x="80168" y="6900"/>
                </a:cubicBezTo>
                <a:cubicBezTo>
                  <a:pt x="36939" y="22201"/>
                  <a:pt x="5116" y="61581"/>
                  <a:pt x="704" y="108893"/>
                </a:cubicBezTo>
                <a:lnTo>
                  <a:pt x="52991" y="108893"/>
                </a:lnTo>
                <a:close/>
                <a:moveTo>
                  <a:pt x="704" y="131422"/>
                </a:moveTo>
                <a:cubicBezTo>
                  <a:pt x="5116" y="178735"/>
                  <a:pt x="36939" y="218114"/>
                  <a:pt x="80168" y="233416"/>
                </a:cubicBezTo>
                <a:cubicBezTo>
                  <a:pt x="65007" y="208915"/>
                  <a:pt x="54634" y="171600"/>
                  <a:pt x="52991" y="131422"/>
                </a:cubicBezTo>
                <a:lnTo>
                  <a:pt x="704" y="131422"/>
                </a:lnTo>
                <a:close/>
                <a:moveTo>
                  <a:pt x="187699" y="131422"/>
                </a:moveTo>
                <a:cubicBezTo>
                  <a:pt x="186057" y="171600"/>
                  <a:pt x="175684" y="208915"/>
                  <a:pt x="160523" y="233416"/>
                </a:cubicBezTo>
                <a:cubicBezTo>
                  <a:pt x="203752" y="218067"/>
                  <a:pt x="235575" y="178735"/>
                  <a:pt x="239987" y="131422"/>
                </a:cubicBezTo>
                <a:lnTo>
                  <a:pt x="187699" y="131422"/>
                </a:lnTo>
                <a:close/>
                <a:moveTo>
                  <a:pt x="239987" y="108893"/>
                </a:moveTo>
                <a:cubicBezTo>
                  <a:pt x="235575" y="61581"/>
                  <a:pt x="203752" y="22201"/>
                  <a:pt x="160523" y="6900"/>
                </a:cubicBezTo>
                <a:cubicBezTo>
                  <a:pt x="175684" y="31401"/>
                  <a:pt x="186057" y="68715"/>
                  <a:pt x="187699" y="108893"/>
                </a:cubicBezTo>
                <a:lnTo>
                  <a:pt x="239987" y="108893"/>
                </a:lnTo>
                <a:close/>
              </a:path>
            </a:pathLst>
          </a:custGeom>
          <a:solidFill>
            <a:srgbClr val="C9A36A"/>
          </a:solidFill>
          <a:ln/>
        </p:spPr>
      </p:sp>
      <p:sp>
        <p:nvSpPr>
          <p:cNvPr id="43" name="Text 41"/>
          <p:cNvSpPr/>
          <p:nvPr/>
        </p:nvSpPr>
        <p:spPr>
          <a:xfrm>
            <a:off x="6319356" y="5455159"/>
            <a:ext cx="5423117" cy="224294"/>
          </a:xfrm>
          <a:prstGeom prst="rect">
            <a:avLst/>
          </a:prstGeom>
          <a:noFill/>
          <a:ln/>
        </p:spPr>
        <p:txBody>
          <a:bodyPr wrap="square" lIns="0" tIns="0" rIns="0" bIns="0" rtlCol="0" anchor="ctr"/>
          <a:lstStyle/>
          <a:p>
            <a:pPr algn="ctr">
              <a:lnSpc>
                <a:spcPct val="120000"/>
              </a:lnSpc>
            </a:pPr>
            <a:r>
              <a:rPr lang="en-US" sz="1262" b="1" dirty="0">
                <a:solidFill>
                  <a:srgbClr val="F2F2F2"/>
                </a:solidFill>
                <a:latin typeface="Oranienbaum" pitchFamily="34" charset="0"/>
                <a:ea typeface="Oranienbaum" pitchFamily="34" charset="-122"/>
                <a:cs typeface="Oranienbaum" pitchFamily="34" charset="-120"/>
              </a:rPr>
              <a:t>Global Recognition</a:t>
            </a:r>
            <a:endParaRPr lang="en-US" sz="1600" dirty="0"/>
          </a:p>
        </p:txBody>
      </p:sp>
      <p:sp>
        <p:nvSpPr>
          <p:cNvPr id="44" name="Text 42"/>
          <p:cNvSpPr/>
          <p:nvPr/>
        </p:nvSpPr>
        <p:spPr>
          <a:xfrm>
            <a:off x="6327366" y="5743537"/>
            <a:ext cx="5407096" cy="624820"/>
          </a:xfrm>
          <a:prstGeom prst="rect">
            <a:avLst/>
          </a:prstGeom>
          <a:noFill/>
          <a:ln/>
        </p:spPr>
        <p:txBody>
          <a:bodyPr wrap="square" lIns="0" tIns="0" rIns="0" bIns="0" rtlCol="0" anchor="ctr"/>
          <a:lstStyle/>
          <a:p>
            <a:pPr algn="ct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Van Gogh is now one of the most recognized artists worldwide. His works are housed in major museums across the globe, from the MoMA in New York to the Musée d'Orsay in Paris, attracting millions of admirers annually.</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35868" y="335868"/>
            <a:ext cx="11587438" cy="201521"/>
          </a:xfrm>
          <a:prstGeom prst="rect">
            <a:avLst/>
          </a:prstGeom>
          <a:noFill/>
          <a:ln/>
        </p:spPr>
        <p:txBody>
          <a:bodyPr wrap="square" lIns="0" tIns="0" rIns="0" bIns="0" rtlCol="0" anchor="ctr"/>
          <a:lstStyle/>
          <a:p>
            <a:pPr>
              <a:lnSpc>
                <a:spcPct val="130000"/>
              </a:lnSpc>
            </a:pPr>
            <a:r>
              <a:rPr lang="en-US" sz="1058" b="1" spc="212" kern="0" dirty="0">
                <a:solidFill>
                  <a:srgbClr val="C9A36A"/>
                </a:solidFill>
                <a:latin typeface="Quattrocento Sans" pitchFamily="34" charset="0"/>
                <a:ea typeface="Quattrocento Sans" pitchFamily="34" charset="-122"/>
                <a:cs typeface="Quattrocento Sans" pitchFamily="34" charset="-120"/>
              </a:rPr>
              <a:t>Chapter 06</a:t>
            </a:r>
            <a:endParaRPr lang="en-US" sz="1600" dirty="0"/>
          </a:p>
        </p:txBody>
      </p:sp>
      <p:sp>
        <p:nvSpPr>
          <p:cNvPr id="3" name="Text 1"/>
          <p:cNvSpPr/>
          <p:nvPr/>
        </p:nvSpPr>
        <p:spPr>
          <a:xfrm>
            <a:off x="335868" y="604562"/>
            <a:ext cx="11721785" cy="403041"/>
          </a:xfrm>
          <a:prstGeom prst="rect">
            <a:avLst/>
          </a:prstGeom>
          <a:noFill/>
          <a:ln/>
        </p:spPr>
        <p:txBody>
          <a:bodyPr wrap="square" lIns="0" tIns="0" rIns="0" bIns="0" rtlCol="0" anchor="ctr"/>
          <a:lstStyle/>
          <a:p>
            <a:pPr>
              <a:lnSpc>
                <a:spcPct val="80000"/>
              </a:lnSpc>
            </a:pPr>
            <a:r>
              <a:rPr lang="en-US" sz="3174" b="1" dirty="0">
                <a:solidFill>
                  <a:srgbClr val="F2F2F2"/>
                </a:solidFill>
                <a:latin typeface="Oranienbaum" pitchFamily="34" charset="0"/>
                <a:ea typeface="Oranienbaum" pitchFamily="34" charset="-122"/>
                <a:cs typeface="Oranienbaum" pitchFamily="34" charset="-120"/>
              </a:rPr>
              <a:t>Inspiring Generations: Van Gogh's Artistic Descendants</a:t>
            </a:r>
            <a:endParaRPr lang="en-US" sz="1600" dirty="0"/>
          </a:p>
        </p:txBody>
      </p:sp>
      <p:sp>
        <p:nvSpPr>
          <p:cNvPr id="4" name="Shape 2"/>
          <p:cNvSpPr/>
          <p:nvPr/>
        </p:nvSpPr>
        <p:spPr>
          <a:xfrm>
            <a:off x="335868" y="1141950"/>
            <a:ext cx="940430" cy="16793"/>
          </a:xfrm>
          <a:custGeom>
            <a:avLst/>
            <a:gdLst/>
            <a:ahLst/>
            <a:cxnLst/>
            <a:rect l="l" t="t" r="r" b="b"/>
            <a:pathLst>
              <a:path w="940430" h="16793">
                <a:moveTo>
                  <a:pt x="0" y="0"/>
                </a:moveTo>
                <a:lnTo>
                  <a:pt x="940430" y="0"/>
                </a:lnTo>
                <a:lnTo>
                  <a:pt x="940430" y="16793"/>
                </a:lnTo>
                <a:lnTo>
                  <a:pt x="0" y="16793"/>
                </a:lnTo>
                <a:lnTo>
                  <a:pt x="0" y="0"/>
                </a:lnTo>
                <a:close/>
              </a:path>
            </a:pathLst>
          </a:custGeom>
          <a:solidFill>
            <a:srgbClr val="C9A36A"/>
          </a:solidFill>
          <a:ln/>
        </p:spPr>
      </p:sp>
      <p:sp>
        <p:nvSpPr>
          <p:cNvPr id="5" name="Shape 3"/>
          <p:cNvSpPr/>
          <p:nvPr/>
        </p:nvSpPr>
        <p:spPr>
          <a:xfrm>
            <a:off x="335868" y="1339273"/>
            <a:ext cx="3753322" cy="2850678"/>
          </a:xfrm>
          <a:custGeom>
            <a:avLst/>
            <a:gdLst/>
            <a:ahLst/>
            <a:cxn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p:spPr>
      </p:sp>
      <p:sp>
        <p:nvSpPr>
          <p:cNvPr id="6" name="Shape 4"/>
          <p:cNvSpPr/>
          <p:nvPr/>
        </p:nvSpPr>
        <p:spPr>
          <a:xfrm>
            <a:off x="335868" y="1339273"/>
            <a:ext cx="3753322" cy="25190"/>
          </a:xfrm>
          <a:custGeom>
            <a:avLst/>
            <a:gdLst/>
            <a:ahLst/>
            <a:cxn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p:spPr>
      </p:sp>
      <p:sp>
        <p:nvSpPr>
          <p:cNvPr id="7" name="Shape 5"/>
          <p:cNvSpPr/>
          <p:nvPr/>
        </p:nvSpPr>
        <p:spPr>
          <a:xfrm>
            <a:off x="503802" y="1519802"/>
            <a:ext cx="403041" cy="403041"/>
          </a:xfrm>
          <a:custGeom>
            <a:avLst/>
            <a:gdLst/>
            <a:ahLst/>
            <a:cxn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p:spPr>
      </p:sp>
      <p:sp>
        <p:nvSpPr>
          <p:cNvPr id="8" name="Shape 6"/>
          <p:cNvSpPr/>
          <p:nvPr/>
        </p:nvSpPr>
        <p:spPr>
          <a:xfrm>
            <a:off x="631851" y="1637355"/>
            <a:ext cx="146942" cy="167934"/>
          </a:xfrm>
          <a:custGeom>
            <a:avLst/>
            <a:gdLst/>
            <a:ahLst/>
            <a:cxnLst/>
            <a:rect l="l" t="t" r="r" b="b"/>
            <a:pathLst>
              <a:path w="146942" h="167934">
                <a:moveTo>
                  <a:pt x="52643" y="-8659"/>
                </a:moveTo>
                <a:cubicBezTo>
                  <a:pt x="55694" y="-11217"/>
                  <a:pt x="60187" y="-11119"/>
                  <a:pt x="63106" y="-8364"/>
                </a:cubicBezTo>
                <a:cubicBezTo>
                  <a:pt x="67141" y="-4559"/>
                  <a:pt x="70749" y="-361"/>
                  <a:pt x="74225" y="3903"/>
                </a:cubicBezTo>
                <a:cubicBezTo>
                  <a:pt x="78653" y="9315"/>
                  <a:pt x="83967" y="16465"/>
                  <a:pt x="89084" y="24960"/>
                </a:cubicBezTo>
                <a:cubicBezTo>
                  <a:pt x="90789" y="22730"/>
                  <a:pt x="92364" y="20762"/>
                  <a:pt x="93741" y="19089"/>
                </a:cubicBezTo>
                <a:cubicBezTo>
                  <a:pt x="94102" y="18663"/>
                  <a:pt x="94463" y="18204"/>
                  <a:pt x="94824" y="17745"/>
                </a:cubicBezTo>
                <a:cubicBezTo>
                  <a:pt x="97415" y="14530"/>
                  <a:pt x="100629" y="10496"/>
                  <a:pt x="104926" y="10496"/>
                </a:cubicBezTo>
                <a:cubicBezTo>
                  <a:pt x="109321" y="10496"/>
                  <a:pt x="112404" y="14399"/>
                  <a:pt x="115028" y="17745"/>
                </a:cubicBezTo>
                <a:cubicBezTo>
                  <a:pt x="115455" y="18302"/>
                  <a:pt x="115881" y="18827"/>
                  <a:pt x="116307" y="19319"/>
                </a:cubicBezTo>
                <a:cubicBezTo>
                  <a:pt x="119686" y="23386"/>
                  <a:pt x="124179" y="29257"/>
                  <a:pt x="128673" y="36506"/>
                </a:cubicBezTo>
                <a:cubicBezTo>
                  <a:pt x="137594" y="50905"/>
                  <a:pt x="146909" y="71405"/>
                  <a:pt x="146909" y="94430"/>
                </a:cubicBezTo>
                <a:cubicBezTo>
                  <a:pt x="146909" y="135003"/>
                  <a:pt x="114011" y="167901"/>
                  <a:pt x="73438" y="167901"/>
                </a:cubicBezTo>
                <a:cubicBezTo>
                  <a:pt x="32865" y="167901"/>
                  <a:pt x="0" y="135036"/>
                  <a:pt x="0" y="94463"/>
                </a:cubicBezTo>
                <a:cubicBezTo>
                  <a:pt x="0" y="64582"/>
                  <a:pt x="13481" y="38704"/>
                  <a:pt x="26404" y="20664"/>
                </a:cubicBezTo>
                <a:cubicBezTo>
                  <a:pt x="32931" y="11578"/>
                  <a:pt x="39425" y="4297"/>
                  <a:pt x="44312" y="-689"/>
                </a:cubicBezTo>
                <a:cubicBezTo>
                  <a:pt x="47002" y="-3444"/>
                  <a:pt x="49724" y="-6166"/>
                  <a:pt x="52676" y="-8626"/>
                </a:cubicBezTo>
                <a:close/>
                <a:moveTo>
                  <a:pt x="74029" y="136446"/>
                </a:moveTo>
                <a:cubicBezTo>
                  <a:pt x="82327" y="136446"/>
                  <a:pt x="89674" y="134150"/>
                  <a:pt x="96595" y="129558"/>
                </a:cubicBezTo>
                <a:cubicBezTo>
                  <a:pt x="110403" y="119915"/>
                  <a:pt x="114110" y="100629"/>
                  <a:pt x="105811" y="85476"/>
                </a:cubicBezTo>
                <a:cubicBezTo>
                  <a:pt x="104335" y="82524"/>
                  <a:pt x="100564" y="82327"/>
                  <a:pt x="98432" y="84820"/>
                </a:cubicBezTo>
                <a:lnTo>
                  <a:pt x="90166" y="94430"/>
                </a:lnTo>
                <a:cubicBezTo>
                  <a:pt x="88001" y="96923"/>
                  <a:pt x="84098" y="96857"/>
                  <a:pt x="82065" y="94266"/>
                </a:cubicBezTo>
                <a:cubicBezTo>
                  <a:pt x="76390" y="87017"/>
                  <a:pt x="65960" y="73799"/>
                  <a:pt x="60646" y="67042"/>
                </a:cubicBezTo>
                <a:cubicBezTo>
                  <a:pt x="58875" y="64779"/>
                  <a:pt x="55661" y="64418"/>
                  <a:pt x="53595" y="66419"/>
                </a:cubicBezTo>
                <a:cubicBezTo>
                  <a:pt x="47592" y="72257"/>
                  <a:pt x="36703" y="85049"/>
                  <a:pt x="36703" y="100629"/>
                </a:cubicBezTo>
                <a:cubicBezTo>
                  <a:pt x="36703" y="123130"/>
                  <a:pt x="53299" y="136446"/>
                  <a:pt x="73996" y="136446"/>
                </a:cubicBezTo>
                <a:close/>
              </a:path>
            </a:pathLst>
          </a:custGeom>
          <a:solidFill>
            <a:srgbClr val="C9A36A"/>
          </a:solidFill>
          <a:ln/>
        </p:spPr>
      </p:sp>
      <p:sp>
        <p:nvSpPr>
          <p:cNvPr id="9" name="Text 7"/>
          <p:cNvSpPr/>
          <p:nvPr/>
        </p:nvSpPr>
        <p:spPr>
          <a:xfrm>
            <a:off x="1007603" y="1603769"/>
            <a:ext cx="1603769" cy="235107"/>
          </a:xfrm>
          <a:prstGeom prst="rect">
            <a:avLst/>
          </a:prstGeom>
          <a:noFill/>
          <a:ln/>
        </p:spPr>
        <p:txBody>
          <a:bodyPr wrap="square" lIns="0" tIns="0" rIns="0" bIns="0" rtlCol="0" anchor="ctr"/>
          <a:lstStyle/>
          <a:p>
            <a:pPr>
              <a:lnSpc>
                <a:spcPct val="120000"/>
              </a:lnSpc>
            </a:pPr>
            <a:r>
              <a:rPr lang="en-US" sz="1322" b="1" dirty="0">
                <a:solidFill>
                  <a:srgbClr val="F2F2F2"/>
                </a:solidFill>
                <a:latin typeface="Oranienbaum" pitchFamily="34" charset="0"/>
                <a:ea typeface="Oranienbaum" pitchFamily="34" charset="-122"/>
                <a:cs typeface="Oranienbaum" pitchFamily="34" charset="-120"/>
              </a:rPr>
              <a:t>German Expressionism</a:t>
            </a:r>
            <a:endParaRPr lang="en-US" sz="1600" dirty="0"/>
          </a:p>
        </p:txBody>
      </p:sp>
      <p:sp>
        <p:nvSpPr>
          <p:cNvPr id="10" name="Text 8"/>
          <p:cNvSpPr/>
          <p:nvPr/>
        </p:nvSpPr>
        <p:spPr>
          <a:xfrm>
            <a:off x="503802" y="2057190"/>
            <a:ext cx="3484628" cy="1091570"/>
          </a:xfrm>
          <a:prstGeom prst="rect">
            <a:avLst/>
          </a:prstGeom>
          <a:noFill/>
          <a:ln/>
        </p:spPr>
        <p:txBody>
          <a:bodyPr wrap="square" lIns="0" tIns="0" rIns="0" bIns="0" rtlCol="0" anchor="ctr"/>
          <a:lstStyle/>
          <a:p>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Artists of </a:t>
            </a:r>
            <a:pPr>
              <a:lnSpc>
                <a:spcPct val="140000"/>
              </a:lnSpc>
            </a:pPr>
            <a:r>
              <a:rPr lang="en-US" sz="1058" dirty="0">
                <a:solidFill>
                  <a:srgbClr val="F2F2F2"/>
                </a:solidFill>
                <a:latin typeface="Quattrocento Sans" pitchFamily="34" charset="0"/>
                <a:ea typeface="Quattrocento Sans" pitchFamily="34" charset="-122"/>
                <a:cs typeface="Quattrocento Sans" pitchFamily="34" charset="-120"/>
              </a:rPr>
              <a:t>Die Brücke</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(The Bridge) and </a:t>
            </a:r>
            <a:pPr>
              <a:lnSpc>
                <a:spcPct val="140000"/>
              </a:lnSpc>
            </a:pPr>
            <a:r>
              <a:rPr lang="en-US" sz="1058" dirty="0">
                <a:solidFill>
                  <a:srgbClr val="F2F2F2"/>
                </a:solidFill>
                <a:latin typeface="Quattrocento Sans" pitchFamily="34" charset="0"/>
                <a:ea typeface="Quattrocento Sans" pitchFamily="34" charset="-122"/>
                <a:cs typeface="Quattrocento Sans" pitchFamily="34" charset="-120"/>
              </a:rPr>
              <a:t>Der Blaue Reiter</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(The Blue Rider) movements saw Van Gogh as their spiritual predecessor. </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Ernst Ludwig Kirchner</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Erich Heckel</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and </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Karl Schmidt-Rottluff</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adopted his raw emotional intensity, bold colors, and distorted forms.</a:t>
            </a:r>
            <a:endParaRPr lang="en-US" sz="1600" dirty="0"/>
          </a:p>
        </p:txBody>
      </p:sp>
      <p:sp>
        <p:nvSpPr>
          <p:cNvPr id="11" name="Shape 9"/>
          <p:cNvSpPr/>
          <p:nvPr/>
        </p:nvSpPr>
        <p:spPr>
          <a:xfrm>
            <a:off x="503802" y="3283107"/>
            <a:ext cx="3417455" cy="738909"/>
          </a:xfrm>
          <a:custGeom>
            <a:avLst/>
            <a:gdLst/>
            <a:ahLst/>
            <a:cxnLst/>
            <a:rect l="l" t="t" r="r" b="b"/>
            <a:pathLst>
              <a:path w="3417455" h="738909">
                <a:moveTo>
                  <a:pt x="33583" y="0"/>
                </a:moveTo>
                <a:lnTo>
                  <a:pt x="3383871" y="0"/>
                </a:lnTo>
                <a:cubicBezTo>
                  <a:pt x="3402419" y="0"/>
                  <a:pt x="3417455" y="15036"/>
                  <a:pt x="3417455" y="33583"/>
                </a:cubicBezTo>
                <a:lnTo>
                  <a:pt x="3417455" y="705326"/>
                </a:lnTo>
                <a:cubicBezTo>
                  <a:pt x="3417455" y="723873"/>
                  <a:pt x="3402419" y="738909"/>
                  <a:pt x="3383871" y="738909"/>
                </a:cubicBezTo>
                <a:lnTo>
                  <a:pt x="33583" y="738909"/>
                </a:lnTo>
                <a:cubicBezTo>
                  <a:pt x="15048" y="738909"/>
                  <a:pt x="0" y="723861"/>
                  <a:pt x="0" y="705326"/>
                </a:cubicBezTo>
                <a:lnTo>
                  <a:pt x="0" y="33583"/>
                </a:lnTo>
                <a:cubicBezTo>
                  <a:pt x="0" y="15048"/>
                  <a:pt x="15048" y="0"/>
                  <a:pt x="33583" y="0"/>
                </a:cubicBezTo>
                <a:close/>
              </a:path>
            </a:pathLst>
          </a:custGeom>
          <a:solidFill>
            <a:srgbClr val="2B2B2B"/>
          </a:solidFill>
          <a:ln/>
        </p:spPr>
      </p:sp>
      <p:sp>
        <p:nvSpPr>
          <p:cNvPr id="12" name="Text 10"/>
          <p:cNvSpPr/>
          <p:nvPr/>
        </p:nvSpPr>
        <p:spPr>
          <a:xfrm>
            <a:off x="604562" y="3383868"/>
            <a:ext cx="3274711"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Key Influence:</a:t>
            </a:r>
            <a:endParaRPr lang="en-US" sz="1600" dirty="0"/>
          </a:p>
        </p:txBody>
      </p:sp>
      <p:sp>
        <p:nvSpPr>
          <p:cNvPr id="13" name="Text 11"/>
          <p:cNvSpPr/>
          <p:nvPr/>
        </p:nvSpPr>
        <p:spPr>
          <a:xfrm>
            <a:off x="604562" y="3585388"/>
            <a:ext cx="3274711" cy="335868"/>
          </a:xfrm>
          <a:prstGeom prst="rect">
            <a:avLst/>
          </a:prstGeom>
          <a:noFill/>
          <a:ln/>
        </p:spPr>
        <p:txBody>
          <a:bodyPr wrap="square" lIns="0" tIns="0" rIns="0" bIns="0" rtlCol="0" anchor="ctr"/>
          <a:lstStyle/>
          <a:p>
            <a:pPr>
              <a:lnSpc>
                <a:spcPct val="120000"/>
              </a:lnSpc>
            </a:pPr>
            <a:r>
              <a:rPr lang="en-US" sz="926" dirty="0">
                <a:solidFill>
                  <a:srgbClr val="B8B8B8"/>
                </a:solidFill>
                <a:latin typeface="Quattrocento Sans" pitchFamily="34" charset="0"/>
                <a:ea typeface="Quattrocento Sans" pitchFamily="34" charset="-122"/>
                <a:cs typeface="Quattrocento Sans" pitchFamily="34" charset="-120"/>
              </a:rPr>
              <a:t>Van Gogh's use of color to express inner states became central to Expressionist philosophy</a:t>
            </a:r>
            <a:endParaRPr lang="en-US" sz="1600" dirty="0"/>
          </a:p>
        </p:txBody>
      </p:sp>
      <p:sp>
        <p:nvSpPr>
          <p:cNvPr id="14" name="Shape 12"/>
          <p:cNvSpPr/>
          <p:nvPr/>
        </p:nvSpPr>
        <p:spPr>
          <a:xfrm>
            <a:off x="4221963" y="1339273"/>
            <a:ext cx="3753322" cy="2850678"/>
          </a:xfrm>
          <a:custGeom>
            <a:avLst/>
            <a:gdLst/>
            <a:ahLst/>
            <a:cxn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p:spPr>
      </p:sp>
      <p:sp>
        <p:nvSpPr>
          <p:cNvPr id="15" name="Shape 13"/>
          <p:cNvSpPr/>
          <p:nvPr/>
        </p:nvSpPr>
        <p:spPr>
          <a:xfrm>
            <a:off x="4221963" y="1339273"/>
            <a:ext cx="3753322" cy="25190"/>
          </a:xfrm>
          <a:custGeom>
            <a:avLst/>
            <a:gdLst/>
            <a:ahLst/>
            <a:cxn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p:spPr>
      </p:sp>
      <p:sp>
        <p:nvSpPr>
          <p:cNvPr id="16" name="Shape 14"/>
          <p:cNvSpPr/>
          <p:nvPr/>
        </p:nvSpPr>
        <p:spPr>
          <a:xfrm>
            <a:off x="4389897" y="1519802"/>
            <a:ext cx="403041" cy="403041"/>
          </a:xfrm>
          <a:custGeom>
            <a:avLst/>
            <a:gdLst/>
            <a:ahLst/>
            <a:cxn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p:spPr>
      </p:sp>
      <p:sp>
        <p:nvSpPr>
          <p:cNvPr id="17" name="Shape 15"/>
          <p:cNvSpPr/>
          <p:nvPr/>
        </p:nvSpPr>
        <p:spPr>
          <a:xfrm>
            <a:off x="4507450" y="1637355"/>
            <a:ext cx="167934" cy="167934"/>
          </a:xfrm>
          <a:custGeom>
            <a:avLst/>
            <a:gdLst/>
            <a:ahLst/>
            <a:cxnLst/>
            <a:rect l="l" t="t" r="r" b="b"/>
            <a:pathLst>
              <a:path w="167934" h="167934">
                <a:moveTo>
                  <a:pt x="76915" y="30471"/>
                </a:moveTo>
                <a:cubicBezTo>
                  <a:pt x="81605" y="44542"/>
                  <a:pt x="76817" y="58744"/>
                  <a:pt x="66222" y="62221"/>
                </a:cubicBezTo>
                <a:cubicBezTo>
                  <a:pt x="55628" y="65698"/>
                  <a:pt x="43230" y="57104"/>
                  <a:pt x="38540" y="43033"/>
                </a:cubicBezTo>
                <a:cubicBezTo>
                  <a:pt x="33849" y="28962"/>
                  <a:pt x="38638" y="14760"/>
                  <a:pt x="49232" y="11283"/>
                </a:cubicBezTo>
                <a:cubicBezTo>
                  <a:pt x="59826" y="7806"/>
                  <a:pt x="72225" y="16400"/>
                  <a:pt x="76915" y="30471"/>
                </a:cubicBezTo>
                <a:close/>
                <a:moveTo>
                  <a:pt x="32931" y="65140"/>
                </a:moveTo>
                <a:cubicBezTo>
                  <a:pt x="39130" y="75767"/>
                  <a:pt x="37621" y="88132"/>
                  <a:pt x="29585" y="92724"/>
                </a:cubicBezTo>
                <a:cubicBezTo>
                  <a:pt x="21549" y="97316"/>
                  <a:pt x="10004" y="92429"/>
                  <a:pt x="3838" y="81802"/>
                </a:cubicBezTo>
                <a:cubicBezTo>
                  <a:pt x="-2329" y="71175"/>
                  <a:pt x="-853" y="58810"/>
                  <a:pt x="7183" y="54218"/>
                </a:cubicBezTo>
                <a:cubicBezTo>
                  <a:pt x="15219" y="49626"/>
                  <a:pt x="26764" y="54513"/>
                  <a:pt x="32931" y="65140"/>
                </a:cubicBezTo>
                <a:close/>
                <a:moveTo>
                  <a:pt x="22697" y="131592"/>
                </a:moveTo>
                <a:cubicBezTo>
                  <a:pt x="39884" y="85246"/>
                  <a:pt x="70421" y="73471"/>
                  <a:pt x="83967" y="73471"/>
                </a:cubicBezTo>
                <a:cubicBezTo>
                  <a:pt x="97513" y="73471"/>
                  <a:pt x="128050" y="85246"/>
                  <a:pt x="145237" y="131592"/>
                </a:cubicBezTo>
                <a:cubicBezTo>
                  <a:pt x="146417" y="134774"/>
                  <a:pt x="146942" y="138185"/>
                  <a:pt x="146942" y="141596"/>
                </a:cubicBezTo>
                <a:lnTo>
                  <a:pt x="146942" y="142121"/>
                </a:lnTo>
                <a:cubicBezTo>
                  <a:pt x="146942" y="150583"/>
                  <a:pt x="140087" y="157438"/>
                  <a:pt x="131625" y="157438"/>
                </a:cubicBezTo>
                <a:cubicBezTo>
                  <a:pt x="127853" y="157438"/>
                  <a:pt x="124114" y="156979"/>
                  <a:pt x="120473" y="156060"/>
                </a:cubicBezTo>
                <a:lnTo>
                  <a:pt x="91609" y="148845"/>
                </a:lnTo>
                <a:cubicBezTo>
                  <a:pt x="86591" y="147598"/>
                  <a:pt x="81343" y="147598"/>
                  <a:pt x="76325" y="148845"/>
                </a:cubicBezTo>
                <a:lnTo>
                  <a:pt x="47461" y="156060"/>
                </a:lnTo>
                <a:cubicBezTo>
                  <a:pt x="43820" y="156979"/>
                  <a:pt x="40081" y="157438"/>
                  <a:pt x="36309" y="157438"/>
                </a:cubicBezTo>
                <a:cubicBezTo>
                  <a:pt x="27847" y="157438"/>
                  <a:pt x="20992" y="150583"/>
                  <a:pt x="20992" y="142121"/>
                </a:cubicBezTo>
                <a:lnTo>
                  <a:pt x="20992" y="141596"/>
                </a:lnTo>
                <a:cubicBezTo>
                  <a:pt x="20992" y="138185"/>
                  <a:pt x="21517" y="134774"/>
                  <a:pt x="22697" y="131592"/>
                </a:cubicBezTo>
                <a:close/>
                <a:moveTo>
                  <a:pt x="138349" y="92724"/>
                </a:moveTo>
                <a:cubicBezTo>
                  <a:pt x="130313" y="88132"/>
                  <a:pt x="128804" y="75767"/>
                  <a:pt x="135003" y="65140"/>
                </a:cubicBezTo>
                <a:cubicBezTo>
                  <a:pt x="141202" y="54513"/>
                  <a:pt x="152715" y="49626"/>
                  <a:pt x="160751" y="54218"/>
                </a:cubicBezTo>
                <a:cubicBezTo>
                  <a:pt x="168787" y="58810"/>
                  <a:pt x="170295" y="71175"/>
                  <a:pt x="164096" y="81802"/>
                </a:cubicBezTo>
                <a:cubicBezTo>
                  <a:pt x="157897" y="92429"/>
                  <a:pt x="146385" y="97316"/>
                  <a:pt x="138349" y="92724"/>
                </a:cubicBezTo>
                <a:close/>
                <a:moveTo>
                  <a:pt x="101712" y="62221"/>
                </a:moveTo>
                <a:cubicBezTo>
                  <a:pt x="91117" y="58744"/>
                  <a:pt x="86329" y="44542"/>
                  <a:pt x="91019" y="30471"/>
                </a:cubicBezTo>
                <a:cubicBezTo>
                  <a:pt x="95709" y="16400"/>
                  <a:pt x="108107" y="7806"/>
                  <a:pt x="118702" y="11283"/>
                </a:cubicBezTo>
                <a:cubicBezTo>
                  <a:pt x="129296" y="14760"/>
                  <a:pt x="134085" y="28962"/>
                  <a:pt x="129394" y="43033"/>
                </a:cubicBezTo>
                <a:cubicBezTo>
                  <a:pt x="124704" y="57104"/>
                  <a:pt x="112306" y="65698"/>
                  <a:pt x="101712" y="62221"/>
                </a:cubicBezTo>
                <a:close/>
              </a:path>
            </a:pathLst>
          </a:custGeom>
          <a:solidFill>
            <a:srgbClr val="C9A36A"/>
          </a:solidFill>
          <a:ln/>
        </p:spPr>
      </p:sp>
      <p:sp>
        <p:nvSpPr>
          <p:cNvPr id="18" name="Text 16"/>
          <p:cNvSpPr/>
          <p:nvPr/>
        </p:nvSpPr>
        <p:spPr>
          <a:xfrm>
            <a:off x="4893698" y="1603769"/>
            <a:ext cx="638149" cy="235107"/>
          </a:xfrm>
          <a:prstGeom prst="rect">
            <a:avLst/>
          </a:prstGeom>
          <a:noFill/>
          <a:ln/>
        </p:spPr>
        <p:txBody>
          <a:bodyPr wrap="square" lIns="0" tIns="0" rIns="0" bIns="0" rtlCol="0" anchor="ctr"/>
          <a:lstStyle/>
          <a:p>
            <a:pPr>
              <a:lnSpc>
                <a:spcPct val="120000"/>
              </a:lnSpc>
            </a:pPr>
            <a:r>
              <a:rPr lang="en-US" sz="1322" b="1" dirty="0">
                <a:solidFill>
                  <a:srgbClr val="F2F2F2"/>
                </a:solidFill>
                <a:latin typeface="Oranienbaum" pitchFamily="34" charset="0"/>
                <a:ea typeface="Oranienbaum" pitchFamily="34" charset="-122"/>
                <a:cs typeface="Oranienbaum" pitchFamily="34" charset="-120"/>
              </a:rPr>
              <a:t>Fauvism</a:t>
            </a:r>
            <a:endParaRPr lang="en-US" sz="1600" dirty="0"/>
          </a:p>
        </p:txBody>
      </p:sp>
      <p:sp>
        <p:nvSpPr>
          <p:cNvPr id="19" name="Text 17"/>
          <p:cNvSpPr/>
          <p:nvPr/>
        </p:nvSpPr>
        <p:spPr>
          <a:xfrm>
            <a:off x="4389897" y="2057190"/>
            <a:ext cx="3484628" cy="1259504"/>
          </a:xfrm>
          <a:prstGeom prst="rect">
            <a:avLst/>
          </a:prstGeom>
          <a:noFill/>
          <a:ln/>
        </p:spPr>
        <p:txBody>
          <a:bodyPr wrap="square" lIns="0" tIns="0" rIns="0" bIns="0" rtlCol="0" anchor="ctr"/>
          <a:lstStyle/>
          <a:p>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The Fauves—</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Henri Matisse</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André Derain</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Maurice de Vlaminck</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—pushed Van Gogh's chromatic freedom even further. They liberated color from descriptive representation, using pure, saturated hues for emotional impact, directly following Van Gogh's example.</a:t>
            </a:r>
            <a:endParaRPr lang="en-US" sz="1600" dirty="0"/>
          </a:p>
        </p:txBody>
      </p:sp>
      <p:sp>
        <p:nvSpPr>
          <p:cNvPr id="20" name="Shape 18"/>
          <p:cNvSpPr/>
          <p:nvPr/>
        </p:nvSpPr>
        <p:spPr>
          <a:xfrm>
            <a:off x="4389897" y="3451041"/>
            <a:ext cx="3417455" cy="570975"/>
          </a:xfrm>
          <a:custGeom>
            <a:avLst/>
            <a:gdLst/>
            <a:ahLst/>
            <a:cxnLst/>
            <a:rect l="l" t="t" r="r" b="b"/>
            <a:pathLst>
              <a:path w="3417455" h="570975">
                <a:moveTo>
                  <a:pt x="33585" y="0"/>
                </a:moveTo>
                <a:lnTo>
                  <a:pt x="3383870" y="0"/>
                </a:lnTo>
                <a:cubicBezTo>
                  <a:pt x="3402418" y="0"/>
                  <a:pt x="3417455" y="15036"/>
                  <a:pt x="3417455" y="33585"/>
                </a:cubicBezTo>
                <a:lnTo>
                  <a:pt x="3417455" y="537390"/>
                </a:lnTo>
                <a:cubicBezTo>
                  <a:pt x="3417455" y="555926"/>
                  <a:pt x="3402406" y="570975"/>
                  <a:pt x="3383870" y="570975"/>
                </a:cubicBezTo>
                <a:lnTo>
                  <a:pt x="33585" y="570975"/>
                </a:lnTo>
                <a:cubicBezTo>
                  <a:pt x="15036" y="570975"/>
                  <a:pt x="0" y="555939"/>
                  <a:pt x="0" y="537390"/>
                </a:cubicBezTo>
                <a:lnTo>
                  <a:pt x="0" y="33585"/>
                </a:lnTo>
                <a:cubicBezTo>
                  <a:pt x="0" y="15036"/>
                  <a:pt x="15036" y="0"/>
                  <a:pt x="33585" y="0"/>
                </a:cubicBezTo>
                <a:close/>
              </a:path>
            </a:pathLst>
          </a:custGeom>
          <a:solidFill>
            <a:srgbClr val="2B2B2B"/>
          </a:solidFill>
          <a:ln/>
        </p:spPr>
      </p:sp>
      <p:sp>
        <p:nvSpPr>
          <p:cNvPr id="21" name="Text 19"/>
          <p:cNvSpPr/>
          <p:nvPr/>
        </p:nvSpPr>
        <p:spPr>
          <a:xfrm>
            <a:off x="4490657" y="3551802"/>
            <a:ext cx="3274711"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Key Influence:</a:t>
            </a:r>
            <a:endParaRPr lang="en-US" sz="1600" dirty="0"/>
          </a:p>
        </p:txBody>
      </p:sp>
      <p:sp>
        <p:nvSpPr>
          <p:cNvPr id="22" name="Text 20"/>
          <p:cNvSpPr/>
          <p:nvPr/>
        </p:nvSpPr>
        <p:spPr>
          <a:xfrm>
            <a:off x="4490657" y="3753322"/>
            <a:ext cx="3274711" cy="167934"/>
          </a:xfrm>
          <a:prstGeom prst="rect">
            <a:avLst/>
          </a:prstGeom>
          <a:noFill/>
          <a:ln/>
        </p:spPr>
        <p:txBody>
          <a:bodyPr wrap="square" lIns="0" tIns="0" rIns="0" bIns="0" rtlCol="0" anchor="ctr"/>
          <a:lstStyle/>
          <a:p>
            <a:pPr>
              <a:lnSpc>
                <a:spcPct val="120000"/>
              </a:lnSpc>
            </a:pPr>
            <a:r>
              <a:rPr lang="en-US" sz="926" dirty="0">
                <a:solidFill>
                  <a:srgbClr val="B8B8B8"/>
                </a:solidFill>
                <a:latin typeface="Quattrocento Sans" pitchFamily="34" charset="0"/>
                <a:ea typeface="Quattrocento Sans" pitchFamily="34" charset="-122"/>
                <a:cs typeface="Quattrocento Sans" pitchFamily="34" charset="-120"/>
              </a:rPr>
              <a:t>Van Gogh's arbitrary color choices validated their wild palette</a:t>
            </a:r>
            <a:endParaRPr lang="en-US" sz="1600" dirty="0"/>
          </a:p>
        </p:txBody>
      </p:sp>
      <p:sp>
        <p:nvSpPr>
          <p:cNvPr id="23" name="Shape 21"/>
          <p:cNvSpPr/>
          <p:nvPr/>
        </p:nvSpPr>
        <p:spPr>
          <a:xfrm>
            <a:off x="8108058" y="1339273"/>
            <a:ext cx="3753322" cy="2850678"/>
          </a:xfrm>
          <a:custGeom>
            <a:avLst/>
            <a:gdLst/>
            <a:ahLst/>
            <a:cxn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p:spPr>
      </p:sp>
      <p:sp>
        <p:nvSpPr>
          <p:cNvPr id="24" name="Shape 22"/>
          <p:cNvSpPr/>
          <p:nvPr/>
        </p:nvSpPr>
        <p:spPr>
          <a:xfrm>
            <a:off x="8108058" y="1339273"/>
            <a:ext cx="3753322" cy="25190"/>
          </a:xfrm>
          <a:custGeom>
            <a:avLst/>
            <a:gdLst/>
            <a:ahLst/>
            <a:cxn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p:spPr>
      </p:sp>
      <p:sp>
        <p:nvSpPr>
          <p:cNvPr id="25" name="Shape 23"/>
          <p:cNvSpPr/>
          <p:nvPr/>
        </p:nvSpPr>
        <p:spPr>
          <a:xfrm>
            <a:off x="8275992" y="1519802"/>
            <a:ext cx="403041" cy="403041"/>
          </a:xfrm>
          <a:custGeom>
            <a:avLst/>
            <a:gdLst/>
            <a:ahLst/>
            <a:cxn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p:spPr>
      </p:sp>
      <p:sp>
        <p:nvSpPr>
          <p:cNvPr id="26" name="Shape 24"/>
          <p:cNvSpPr/>
          <p:nvPr/>
        </p:nvSpPr>
        <p:spPr>
          <a:xfrm>
            <a:off x="8393545" y="1637355"/>
            <a:ext cx="167934" cy="167934"/>
          </a:xfrm>
          <a:custGeom>
            <a:avLst/>
            <a:gdLst/>
            <a:ahLst/>
            <a:cxnLst/>
            <a:rect l="l" t="t" r="r" b="b"/>
            <a:pathLst>
              <a:path w="167934" h="167934">
                <a:moveTo>
                  <a:pt x="83967" y="0"/>
                </a:moveTo>
                <a:cubicBezTo>
                  <a:pt x="37588" y="0"/>
                  <a:pt x="0" y="37588"/>
                  <a:pt x="0" y="83967"/>
                </a:cubicBezTo>
                <a:cubicBezTo>
                  <a:pt x="0" y="130346"/>
                  <a:pt x="37588" y="167934"/>
                  <a:pt x="83967" y="167934"/>
                </a:cubicBezTo>
                <a:cubicBezTo>
                  <a:pt x="106533" y="167934"/>
                  <a:pt x="127033" y="159012"/>
                  <a:pt x="142121" y="144515"/>
                </a:cubicBezTo>
                <a:cubicBezTo>
                  <a:pt x="144515" y="142219"/>
                  <a:pt x="145204" y="138644"/>
                  <a:pt x="143859" y="135626"/>
                </a:cubicBezTo>
                <a:cubicBezTo>
                  <a:pt x="142514" y="132609"/>
                  <a:pt x="139365" y="130739"/>
                  <a:pt x="136053" y="131002"/>
                </a:cubicBezTo>
                <a:cubicBezTo>
                  <a:pt x="134446" y="131133"/>
                  <a:pt x="132838" y="131198"/>
                  <a:pt x="131198" y="131198"/>
                </a:cubicBezTo>
                <a:cubicBezTo>
                  <a:pt x="97874" y="131198"/>
                  <a:pt x="70847" y="104171"/>
                  <a:pt x="70847" y="70847"/>
                </a:cubicBezTo>
                <a:cubicBezTo>
                  <a:pt x="70847" y="47199"/>
                  <a:pt x="84459" y="26699"/>
                  <a:pt x="104335" y="16793"/>
                </a:cubicBezTo>
                <a:cubicBezTo>
                  <a:pt x="107320" y="15317"/>
                  <a:pt x="109026" y="12103"/>
                  <a:pt x="108632" y="8790"/>
                </a:cubicBezTo>
                <a:cubicBezTo>
                  <a:pt x="108239" y="5478"/>
                  <a:pt x="105811" y="2788"/>
                  <a:pt x="102564" y="2066"/>
                </a:cubicBezTo>
                <a:cubicBezTo>
                  <a:pt x="96562" y="722"/>
                  <a:pt x="90330" y="0"/>
                  <a:pt x="83967" y="0"/>
                </a:cubicBezTo>
                <a:close/>
              </a:path>
            </a:pathLst>
          </a:custGeom>
          <a:solidFill>
            <a:srgbClr val="C9A36A"/>
          </a:solidFill>
          <a:ln/>
        </p:spPr>
      </p:sp>
      <p:sp>
        <p:nvSpPr>
          <p:cNvPr id="27" name="Text 25"/>
          <p:cNvSpPr/>
          <p:nvPr/>
        </p:nvSpPr>
        <p:spPr>
          <a:xfrm>
            <a:off x="8779793" y="1603769"/>
            <a:ext cx="814479" cy="235107"/>
          </a:xfrm>
          <a:prstGeom prst="rect">
            <a:avLst/>
          </a:prstGeom>
          <a:noFill/>
          <a:ln/>
        </p:spPr>
        <p:txBody>
          <a:bodyPr wrap="square" lIns="0" tIns="0" rIns="0" bIns="0" rtlCol="0" anchor="ctr"/>
          <a:lstStyle/>
          <a:p>
            <a:pPr>
              <a:lnSpc>
                <a:spcPct val="120000"/>
              </a:lnSpc>
            </a:pPr>
            <a:r>
              <a:rPr lang="en-US" sz="1322" b="1" dirty="0">
                <a:solidFill>
                  <a:srgbClr val="F2F2F2"/>
                </a:solidFill>
                <a:latin typeface="Oranienbaum" pitchFamily="34" charset="0"/>
                <a:ea typeface="Oranienbaum" pitchFamily="34" charset="-122"/>
                <a:cs typeface="Oranienbaum" pitchFamily="34" charset="-120"/>
              </a:rPr>
              <a:t>Symbolism</a:t>
            </a:r>
            <a:endParaRPr lang="en-US" sz="1600" dirty="0"/>
          </a:p>
        </p:txBody>
      </p:sp>
      <p:sp>
        <p:nvSpPr>
          <p:cNvPr id="28" name="Text 26"/>
          <p:cNvSpPr/>
          <p:nvPr/>
        </p:nvSpPr>
        <p:spPr>
          <a:xfrm>
            <a:off x="8275992" y="2057190"/>
            <a:ext cx="3484628" cy="1259504"/>
          </a:xfrm>
          <a:prstGeom prst="rect">
            <a:avLst/>
          </a:prstGeom>
          <a:noFill/>
          <a:ln/>
        </p:spPr>
        <p:txBody>
          <a:bodyPr wrap="square" lIns="0" tIns="0" rIns="0" bIns="0" rtlCol="0" anchor="ctr"/>
          <a:lstStyle/>
          <a:p>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Symbolist artists found in Van Gogh's landscapes and night skies a </a:t>
            </a:r>
            <a:pPr>
              <a:lnSpc>
                <a:spcPct val="140000"/>
              </a:lnSpc>
            </a:pPr>
            <a:r>
              <a:rPr lang="en-US" sz="1058" dirty="0">
                <a:solidFill>
                  <a:srgbClr val="F2F2F2"/>
                </a:solidFill>
                <a:latin typeface="Quattrocento Sans" pitchFamily="34" charset="0"/>
                <a:ea typeface="Quattrocento Sans" pitchFamily="34" charset="-122"/>
                <a:cs typeface="Quattrocento Sans" pitchFamily="34" charset="-120"/>
              </a:rPr>
              <a:t>visual translation of spiritual and emotional states</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His ability to imbue nature with psychological meaning resonated with their desire to express the ineffable.</a:t>
            </a:r>
            <a:endParaRPr lang="en-US" sz="1600" dirty="0"/>
          </a:p>
        </p:txBody>
      </p:sp>
      <p:sp>
        <p:nvSpPr>
          <p:cNvPr id="29" name="Shape 27"/>
          <p:cNvSpPr/>
          <p:nvPr/>
        </p:nvSpPr>
        <p:spPr>
          <a:xfrm>
            <a:off x="8275992" y="3451041"/>
            <a:ext cx="3417455" cy="570975"/>
          </a:xfrm>
          <a:custGeom>
            <a:avLst/>
            <a:gdLst/>
            <a:ahLst/>
            <a:cxnLst/>
            <a:rect l="l" t="t" r="r" b="b"/>
            <a:pathLst>
              <a:path w="3417455" h="570975">
                <a:moveTo>
                  <a:pt x="33585" y="0"/>
                </a:moveTo>
                <a:lnTo>
                  <a:pt x="3383870" y="0"/>
                </a:lnTo>
                <a:cubicBezTo>
                  <a:pt x="3402418" y="0"/>
                  <a:pt x="3417455" y="15036"/>
                  <a:pt x="3417455" y="33585"/>
                </a:cubicBezTo>
                <a:lnTo>
                  <a:pt x="3417455" y="537390"/>
                </a:lnTo>
                <a:cubicBezTo>
                  <a:pt x="3417455" y="555926"/>
                  <a:pt x="3402406" y="570975"/>
                  <a:pt x="3383870" y="570975"/>
                </a:cubicBezTo>
                <a:lnTo>
                  <a:pt x="33585" y="570975"/>
                </a:lnTo>
                <a:cubicBezTo>
                  <a:pt x="15036" y="570975"/>
                  <a:pt x="0" y="555939"/>
                  <a:pt x="0" y="537390"/>
                </a:cubicBezTo>
                <a:lnTo>
                  <a:pt x="0" y="33585"/>
                </a:lnTo>
                <a:cubicBezTo>
                  <a:pt x="0" y="15036"/>
                  <a:pt x="15036" y="0"/>
                  <a:pt x="33585" y="0"/>
                </a:cubicBezTo>
                <a:close/>
              </a:path>
            </a:pathLst>
          </a:custGeom>
          <a:solidFill>
            <a:srgbClr val="2B2B2B"/>
          </a:solidFill>
          <a:ln/>
        </p:spPr>
      </p:sp>
      <p:sp>
        <p:nvSpPr>
          <p:cNvPr id="30" name="Text 28"/>
          <p:cNvSpPr/>
          <p:nvPr/>
        </p:nvSpPr>
        <p:spPr>
          <a:xfrm>
            <a:off x="8376752" y="3551802"/>
            <a:ext cx="3274711"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Key Influence:</a:t>
            </a:r>
            <a:endParaRPr lang="en-US" sz="1600" dirty="0"/>
          </a:p>
        </p:txBody>
      </p:sp>
      <p:sp>
        <p:nvSpPr>
          <p:cNvPr id="31" name="Text 29"/>
          <p:cNvSpPr/>
          <p:nvPr/>
        </p:nvSpPr>
        <p:spPr>
          <a:xfrm>
            <a:off x="8376752" y="3753322"/>
            <a:ext cx="3274711" cy="167934"/>
          </a:xfrm>
          <a:prstGeom prst="rect">
            <a:avLst/>
          </a:prstGeom>
          <a:noFill/>
          <a:ln/>
        </p:spPr>
        <p:txBody>
          <a:bodyPr wrap="square" lIns="0" tIns="0" rIns="0" bIns="0" rtlCol="0" anchor="ctr"/>
          <a:lstStyle/>
          <a:p>
            <a:pPr>
              <a:lnSpc>
                <a:spcPct val="120000"/>
              </a:lnSpc>
            </a:pPr>
            <a:r>
              <a:rPr lang="en-US" sz="926" dirty="0">
                <a:solidFill>
                  <a:srgbClr val="B8B8B8"/>
                </a:solidFill>
                <a:latin typeface="Quattrocento Sans" pitchFamily="34" charset="0"/>
                <a:ea typeface="Quattrocento Sans" pitchFamily="34" charset="-122"/>
                <a:cs typeface="Quattrocento Sans" pitchFamily="34" charset="-120"/>
              </a:rPr>
              <a:t>Van Gogh's symbolic use of cypresses, stars, and wheatfields</a:t>
            </a:r>
            <a:endParaRPr lang="en-US" sz="1600" dirty="0"/>
          </a:p>
        </p:txBody>
      </p:sp>
      <p:sp>
        <p:nvSpPr>
          <p:cNvPr id="32" name="Shape 30"/>
          <p:cNvSpPr/>
          <p:nvPr/>
        </p:nvSpPr>
        <p:spPr>
          <a:xfrm>
            <a:off x="348463" y="4324298"/>
            <a:ext cx="5680364" cy="2317488"/>
          </a:xfrm>
          <a:custGeom>
            <a:avLst/>
            <a:gdLst/>
            <a:ahLst/>
            <a:cxnLst/>
            <a:rect l="l" t="t" r="r" b="b"/>
            <a:pathLst>
              <a:path w="5680364" h="2317488">
                <a:moveTo>
                  <a:pt x="25190" y="0"/>
                </a:moveTo>
                <a:lnTo>
                  <a:pt x="5613180" y="0"/>
                </a:lnTo>
                <a:cubicBezTo>
                  <a:pt x="5650284" y="0"/>
                  <a:pt x="5680364" y="30079"/>
                  <a:pt x="5680364" y="67184"/>
                </a:cubicBezTo>
                <a:lnTo>
                  <a:pt x="5680364" y="2250304"/>
                </a:lnTo>
                <a:cubicBezTo>
                  <a:pt x="5680364" y="2287408"/>
                  <a:pt x="5650284" y="2317488"/>
                  <a:pt x="5613180" y="2317488"/>
                </a:cubicBezTo>
                <a:lnTo>
                  <a:pt x="25190" y="2317488"/>
                </a:lnTo>
                <a:cubicBezTo>
                  <a:pt x="11278" y="2317488"/>
                  <a:pt x="0" y="2306210"/>
                  <a:pt x="0" y="2292298"/>
                </a:cubicBezTo>
                <a:lnTo>
                  <a:pt x="0" y="25190"/>
                </a:lnTo>
                <a:cubicBezTo>
                  <a:pt x="0" y="11278"/>
                  <a:pt x="11278" y="0"/>
                  <a:pt x="25190" y="0"/>
                </a:cubicBezTo>
                <a:close/>
              </a:path>
            </a:pathLst>
          </a:custGeom>
          <a:solidFill>
            <a:srgbClr val="1A1A1A"/>
          </a:solidFill>
          <a:ln/>
        </p:spPr>
      </p:sp>
      <p:sp>
        <p:nvSpPr>
          <p:cNvPr id="33" name="Shape 31"/>
          <p:cNvSpPr/>
          <p:nvPr/>
        </p:nvSpPr>
        <p:spPr>
          <a:xfrm>
            <a:off x="348463" y="4324298"/>
            <a:ext cx="25190" cy="2317488"/>
          </a:xfrm>
          <a:custGeom>
            <a:avLst/>
            <a:gdLst/>
            <a:ahLst/>
            <a:cxnLst/>
            <a:rect l="l" t="t" r="r" b="b"/>
            <a:pathLst>
              <a:path w="25190" h="2317488">
                <a:moveTo>
                  <a:pt x="25190" y="0"/>
                </a:moveTo>
                <a:lnTo>
                  <a:pt x="25190" y="0"/>
                </a:lnTo>
                <a:lnTo>
                  <a:pt x="25190" y="2317488"/>
                </a:lnTo>
                <a:lnTo>
                  <a:pt x="25190" y="2317488"/>
                </a:lnTo>
                <a:cubicBezTo>
                  <a:pt x="11278" y="2317488"/>
                  <a:pt x="0" y="2306210"/>
                  <a:pt x="0" y="2292298"/>
                </a:cubicBezTo>
                <a:lnTo>
                  <a:pt x="0" y="25190"/>
                </a:lnTo>
                <a:cubicBezTo>
                  <a:pt x="0" y="11278"/>
                  <a:pt x="11278" y="0"/>
                  <a:pt x="25190" y="0"/>
                </a:cubicBezTo>
                <a:close/>
              </a:path>
            </a:pathLst>
          </a:custGeom>
          <a:solidFill>
            <a:srgbClr val="C9A36A"/>
          </a:solidFill>
          <a:ln/>
        </p:spPr>
      </p:sp>
      <p:sp>
        <p:nvSpPr>
          <p:cNvPr id="34" name="Shape 32"/>
          <p:cNvSpPr/>
          <p:nvPr/>
        </p:nvSpPr>
        <p:spPr>
          <a:xfrm>
            <a:off x="528992" y="4492231"/>
            <a:ext cx="403041" cy="403041"/>
          </a:xfrm>
          <a:custGeom>
            <a:avLst/>
            <a:gdLst/>
            <a:ahLst/>
            <a:cxn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p:spPr>
      </p:sp>
      <p:sp>
        <p:nvSpPr>
          <p:cNvPr id="35" name="Shape 33"/>
          <p:cNvSpPr/>
          <p:nvPr/>
        </p:nvSpPr>
        <p:spPr>
          <a:xfrm>
            <a:off x="625554" y="4609785"/>
            <a:ext cx="209917" cy="167934"/>
          </a:xfrm>
          <a:custGeom>
            <a:avLst/>
            <a:gdLst/>
            <a:ahLst/>
            <a:cxnLst/>
            <a:rect l="l" t="t" r="r" b="b"/>
            <a:pathLst>
              <a:path w="209917" h="167934">
                <a:moveTo>
                  <a:pt x="104959" y="5248"/>
                </a:moveTo>
                <a:cubicBezTo>
                  <a:pt x="123785" y="5248"/>
                  <a:pt x="139070" y="20533"/>
                  <a:pt x="139070" y="39360"/>
                </a:cubicBezTo>
                <a:cubicBezTo>
                  <a:pt x="139070" y="58186"/>
                  <a:pt x="123785" y="73471"/>
                  <a:pt x="104959" y="73471"/>
                </a:cubicBezTo>
                <a:cubicBezTo>
                  <a:pt x="86132" y="73471"/>
                  <a:pt x="70847" y="58186"/>
                  <a:pt x="70847" y="39360"/>
                </a:cubicBezTo>
                <a:cubicBezTo>
                  <a:pt x="70847" y="20533"/>
                  <a:pt x="86132" y="5248"/>
                  <a:pt x="104959" y="5248"/>
                </a:cubicBezTo>
                <a:close/>
                <a:moveTo>
                  <a:pt x="31488" y="28864"/>
                </a:moveTo>
                <a:cubicBezTo>
                  <a:pt x="44521" y="28864"/>
                  <a:pt x="55103" y="39445"/>
                  <a:pt x="55103" y="52479"/>
                </a:cubicBezTo>
                <a:cubicBezTo>
                  <a:pt x="55103" y="65513"/>
                  <a:pt x="44521" y="76095"/>
                  <a:pt x="31488" y="76095"/>
                </a:cubicBezTo>
                <a:cubicBezTo>
                  <a:pt x="18454" y="76095"/>
                  <a:pt x="7872" y="65513"/>
                  <a:pt x="7872" y="52479"/>
                </a:cubicBezTo>
                <a:cubicBezTo>
                  <a:pt x="7872" y="39445"/>
                  <a:pt x="18454" y="28864"/>
                  <a:pt x="31488" y="28864"/>
                </a:cubicBezTo>
                <a:close/>
                <a:moveTo>
                  <a:pt x="0" y="136446"/>
                </a:moveTo>
                <a:cubicBezTo>
                  <a:pt x="0" y="113257"/>
                  <a:pt x="18794" y="94463"/>
                  <a:pt x="41983" y="94463"/>
                </a:cubicBezTo>
                <a:cubicBezTo>
                  <a:pt x="46182" y="94463"/>
                  <a:pt x="50249" y="95086"/>
                  <a:pt x="54087" y="96234"/>
                </a:cubicBezTo>
                <a:cubicBezTo>
                  <a:pt x="43295" y="108304"/>
                  <a:pt x="36736" y="124245"/>
                  <a:pt x="36736" y="141694"/>
                </a:cubicBezTo>
                <a:lnTo>
                  <a:pt x="36736" y="146942"/>
                </a:lnTo>
                <a:cubicBezTo>
                  <a:pt x="36736" y="150681"/>
                  <a:pt x="37523" y="154224"/>
                  <a:pt x="38933" y="157438"/>
                </a:cubicBezTo>
                <a:lnTo>
                  <a:pt x="10496" y="157438"/>
                </a:lnTo>
                <a:cubicBezTo>
                  <a:pt x="4690" y="157438"/>
                  <a:pt x="0" y="152748"/>
                  <a:pt x="0" y="146942"/>
                </a:cubicBezTo>
                <a:lnTo>
                  <a:pt x="0" y="136446"/>
                </a:lnTo>
                <a:close/>
                <a:moveTo>
                  <a:pt x="170984" y="157438"/>
                </a:moveTo>
                <a:cubicBezTo>
                  <a:pt x="172395" y="154224"/>
                  <a:pt x="173182" y="150681"/>
                  <a:pt x="173182" y="146942"/>
                </a:cubicBezTo>
                <a:lnTo>
                  <a:pt x="173182" y="141694"/>
                </a:lnTo>
                <a:cubicBezTo>
                  <a:pt x="173182" y="124245"/>
                  <a:pt x="166622" y="108304"/>
                  <a:pt x="155831" y="96234"/>
                </a:cubicBezTo>
                <a:cubicBezTo>
                  <a:pt x="159668" y="95086"/>
                  <a:pt x="163736" y="94463"/>
                  <a:pt x="167934" y="94463"/>
                </a:cubicBezTo>
                <a:cubicBezTo>
                  <a:pt x="191123" y="94463"/>
                  <a:pt x="209917" y="113257"/>
                  <a:pt x="209917" y="136446"/>
                </a:cubicBezTo>
                <a:lnTo>
                  <a:pt x="209917" y="146942"/>
                </a:lnTo>
                <a:cubicBezTo>
                  <a:pt x="209917" y="152748"/>
                  <a:pt x="205227" y="157438"/>
                  <a:pt x="199421" y="157438"/>
                </a:cubicBezTo>
                <a:lnTo>
                  <a:pt x="170984" y="157438"/>
                </a:lnTo>
                <a:close/>
                <a:moveTo>
                  <a:pt x="154814" y="52479"/>
                </a:moveTo>
                <a:cubicBezTo>
                  <a:pt x="154814" y="39445"/>
                  <a:pt x="165396" y="28864"/>
                  <a:pt x="178430" y="28864"/>
                </a:cubicBezTo>
                <a:cubicBezTo>
                  <a:pt x="191464" y="28864"/>
                  <a:pt x="202045" y="39445"/>
                  <a:pt x="202045" y="52479"/>
                </a:cubicBezTo>
                <a:cubicBezTo>
                  <a:pt x="202045" y="65513"/>
                  <a:pt x="191464" y="76095"/>
                  <a:pt x="178430" y="76095"/>
                </a:cubicBezTo>
                <a:cubicBezTo>
                  <a:pt x="165396" y="76095"/>
                  <a:pt x="154814" y="65513"/>
                  <a:pt x="154814" y="52479"/>
                </a:cubicBezTo>
                <a:close/>
                <a:moveTo>
                  <a:pt x="52479" y="141694"/>
                </a:moveTo>
                <a:cubicBezTo>
                  <a:pt x="52479" y="112699"/>
                  <a:pt x="75964" y="89215"/>
                  <a:pt x="104959" y="89215"/>
                </a:cubicBezTo>
                <a:cubicBezTo>
                  <a:pt x="133954" y="89215"/>
                  <a:pt x="157438" y="112699"/>
                  <a:pt x="157438" y="141694"/>
                </a:cubicBezTo>
                <a:lnTo>
                  <a:pt x="157438" y="146942"/>
                </a:lnTo>
                <a:cubicBezTo>
                  <a:pt x="157438" y="152748"/>
                  <a:pt x="152748" y="157438"/>
                  <a:pt x="146942" y="157438"/>
                </a:cubicBezTo>
                <a:lnTo>
                  <a:pt x="62975" y="157438"/>
                </a:lnTo>
                <a:cubicBezTo>
                  <a:pt x="57170" y="157438"/>
                  <a:pt x="52479" y="152748"/>
                  <a:pt x="52479" y="146942"/>
                </a:cubicBezTo>
                <a:lnTo>
                  <a:pt x="52479" y="141694"/>
                </a:lnTo>
                <a:close/>
              </a:path>
            </a:pathLst>
          </a:custGeom>
          <a:solidFill>
            <a:srgbClr val="C9A36A"/>
          </a:solidFill>
          <a:ln/>
        </p:spPr>
      </p:sp>
      <p:sp>
        <p:nvSpPr>
          <p:cNvPr id="36" name="Text 34"/>
          <p:cNvSpPr/>
          <p:nvPr/>
        </p:nvSpPr>
        <p:spPr>
          <a:xfrm>
            <a:off x="1032793" y="4576198"/>
            <a:ext cx="1242711" cy="235107"/>
          </a:xfrm>
          <a:prstGeom prst="rect">
            <a:avLst/>
          </a:prstGeom>
          <a:noFill/>
          <a:ln/>
        </p:spPr>
        <p:txBody>
          <a:bodyPr wrap="square" lIns="0" tIns="0" rIns="0" bIns="0" rtlCol="0" anchor="ctr"/>
          <a:lstStyle/>
          <a:p>
            <a:pPr>
              <a:lnSpc>
                <a:spcPct val="120000"/>
              </a:lnSpc>
            </a:pPr>
            <a:r>
              <a:rPr lang="en-US" sz="1322" b="1" dirty="0">
                <a:solidFill>
                  <a:srgbClr val="F2F2F2"/>
                </a:solidFill>
                <a:latin typeface="Oranienbaum" pitchFamily="34" charset="0"/>
                <a:ea typeface="Oranienbaum" pitchFamily="34" charset="-122"/>
                <a:cs typeface="Oranienbaum" pitchFamily="34" charset="-120"/>
              </a:rPr>
              <a:t>Individual Artists</a:t>
            </a:r>
            <a:endParaRPr lang="en-US" sz="1600" dirty="0"/>
          </a:p>
        </p:txBody>
      </p:sp>
      <p:sp>
        <p:nvSpPr>
          <p:cNvPr id="37" name="Shape 35"/>
          <p:cNvSpPr/>
          <p:nvPr/>
        </p:nvSpPr>
        <p:spPr>
          <a:xfrm>
            <a:off x="528992" y="5029620"/>
            <a:ext cx="2619769" cy="671736"/>
          </a:xfrm>
          <a:custGeom>
            <a:avLst/>
            <a:gdLst/>
            <a:ahLst/>
            <a:cxn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p:spPr>
      </p:sp>
      <p:sp>
        <p:nvSpPr>
          <p:cNvPr id="38" name="Text 36"/>
          <p:cNvSpPr/>
          <p:nvPr/>
        </p:nvSpPr>
        <p:spPr>
          <a:xfrm>
            <a:off x="629752" y="5130380"/>
            <a:ext cx="2477025"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Edvard Munch</a:t>
            </a:r>
            <a:endParaRPr lang="en-US" sz="1600" dirty="0"/>
          </a:p>
        </p:txBody>
      </p:sp>
      <p:sp>
        <p:nvSpPr>
          <p:cNvPr id="39" name="Text 37"/>
          <p:cNvSpPr/>
          <p:nvPr/>
        </p:nvSpPr>
        <p:spPr>
          <a:xfrm>
            <a:off x="629752" y="5331901"/>
            <a:ext cx="2468628" cy="134347"/>
          </a:xfrm>
          <a:prstGeom prst="rect">
            <a:avLst/>
          </a:prstGeom>
          <a:noFill/>
          <a:ln/>
        </p:spPr>
        <p:txBody>
          <a:bodyPr wrap="square" lIns="0" tIns="0" rIns="0" bIns="0" rtlCol="0" anchor="ctr"/>
          <a:lstStyle/>
          <a:p>
            <a:pPr>
              <a:lnSpc>
                <a:spcPct val="110000"/>
              </a:lnSpc>
            </a:pPr>
            <a:r>
              <a:rPr lang="en-US" sz="793" dirty="0">
                <a:solidFill>
                  <a:srgbClr val="B8B8B8"/>
                </a:solidFill>
                <a:latin typeface="Quattrocento Sans" pitchFamily="34" charset="0"/>
                <a:ea typeface="Quattrocento Sans" pitchFamily="34" charset="-122"/>
                <a:cs typeface="Quattrocento Sans" pitchFamily="34" charset="-120"/>
              </a:rPr>
              <a:t>Adopted emotional line and psychological intensity</a:t>
            </a:r>
            <a:endParaRPr lang="en-US" sz="1600" dirty="0"/>
          </a:p>
        </p:txBody>
      </p:sp>
      <p:sp>
        <p:nvSpPr>
          <p:cNvPr id="40" name="Shape 38"/>
          <p:cNvSpPr/>
          <p:nvPr/>
        </p:nvSpPr>
        <p:spPr>
          <a:xfrm>
            <a:off x="3246241" y="5029620"/>
            <a:ext cx="2619769" cy="671736"/>
          </a:xfrm>
          <a:custGeom>
            <a:avLst/>
            <a:gdLst/>
            <a:ahLst/>
            <a:cxn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p:spPr>
      </p:sp>
      <p:sp>
        <p:nvSpPr>
          <p:cNvPr id="41" name="Text 39"/>
          <p:cNvSpPr/>
          <p:nvPr/>
        </p:nvSpPr>
        <p:spPr>
          <a:xfrm>
            <a:off x="3347001" y="5130380"/>
            <a:ext cx="2477025"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Wassily Kandinsky</a:t>
            </a:r>
            <a:endParaRPr lang="en-US" sz="1600" dirty="0"/>
          </a:p>
        </p:txBody>
      </p:sp>
      <p:sp>
        <p:nvSpPr>
          <p:cNvPr id="42" name="Text 40"/>
          <p:cNvSpPr/>
          <p:nvPr/>
        </p:nvSpPr>
        <p:spPr>
          <a:xfrm>
            <a:off x="3347001" y="5331901"/>
            <a:ext cx="2468628" cy="268694"/>
          </a:xfrm>
          <a:prstGeom prst="rect">
            <a:avLst/>
          </a:prstGeom>
          <a:noFill/>
          <a:ln/>
        </p:spPr>
        <p:txBody>
          <a:bodyPr wrap="square" lIns="0" tIns="0" rIns="0" bIns="0" rtlCol="0" anchor="ctr"/>
          <a:lstStyle/>
          <a:p>
            <a:pPr>
              <a:lnSpc>
                <a:spcPct val="110000"/>
              </a:lnSpc>
            </a:pPr>
            <a:r>
              <a:rPr lang="en-US" sz="793" dirty="0">
                <a:solidFill>
                  <a:srgbClr val="B8B8B8"/>
                </a:solidFill>
                <a:latin typeface="Quattrocento Sans" pitchFamily="34" charset="0"/>
                <a:ea typeface="Quattrocento Sans" pitchFamily="34" charset="-122"/>
                <a:cs typeface="Quattrocento Sans" pitchFamily="34" charset="-120"/>
              </a:rPr>
              <a:t>Drew from Van Gogh's color symbolism toward abstraction</a:t>
            </a:r>
            <a:endParaRPr lang="en-US" sz="1600" dirty="0"/>
          </a:p>
        </p:txBody>
      </p:sp>
      <p:sp>
        <p:nvSpPr>
          <p:cNvPr id="43" name="Shape 41"/>
          <p:cNvSpPr/>
          <p:nvPr/>
        </p:nvSpPr>
        <p:spPr>
          <a:xfrm>
            <a:off x="528992" y="5802116"/>
            <a:ext cx="2619769" cy="671736"/>
          </a:xfrm>
          <a:custGeom>
            <a:avLst/>
            <a:gdLst/>
            <a:ahLst/>
            <a:cxn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p:spPr>
      </p:sp>
      <p:sp>
        <p:nvSpPr>
          <p:cNvPr id="44" name="Text 42"/>
          <p:cNvSpPr/>
          <p:nvPr/>
        </p:nvSpPr>
        <p:spPr>
          <a:xfrm>
            <a:off x="629752" y="5902876"/>
            <a:ext cx="2477025"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Francis Bacon</a:t>
            </a:r>
            <a:endParaRPr lang="en-US" sz="1600" dirty="0"/>
          </a:p>
        </p:txBody>
      </p:sp>
      <p:sp>
        <p:nvSpPr>
          <p:cNvPr id="45" name="Text 43"/>
          <p:cNvSpPr/>
          <p:nvPr/>
        </p:nvSpPr>
        <p:spPr>
          <a:xfrm>
            <a:off x="629752" y="6104397"/>
            <a:ext cx="2468628" cy="268694"/>
          </a:xfrm>
          <a:prstGeom prst="rect">
            <a:avLst/>
          </a:prstGeom>
          <a:noFill/>
          <a:ln/>
        </p:spPr>
        <p:txBody>
          <a:bodyPr wrap="square" lIns="0" tIns="0" rIns="0" bIns="0" rtlCol="0" anchor="ctr"/>
          <a:lstStyle/>
          <a:p>
            <a:pPr>
              <a:lnSpc>
                <a:spcPct val="110000"/>
              </a:lnSpc>
            </a:pPr>
            <a:r>
              <a:rPr lang="en-US" sz="793" dirty="0">
                <a:solidFill>
                  <a:srgbClr val="B8B8B8"/>
                </a:solidFill>
                <a:latin typeface="Quattrocento Sans" pitchFamily="34" charset="0"/>
                <a:ea typeface="Quattrocento Sans" pitchFamily="34" charset="-122"/>
                <a:cs typeface="Quattrocento Sans" pitchFamily="34" charset="-120"/>
              </a:rPr>
              <a:t>Inspired by Van Gogh's emotional rawness and distortion</a:t>
            </a:r>
            <a:endParaRPr lang="en-US" sz="1600" dirty="0"/>
          </a:p>
        </p:txBody>
      </p:sp>
      <p:sp>
        <p:nvSpPr>
          <p:cNvPr id="46" name="Shape 44"/>
          <p:cNvSpPr/>
          <p:nvPr/>
        </p:nvSpPr>
        <p:spPr>
          <a:xfrm>
            <a:off x="3246241" y="5802116"/>
            <a:ext cx="2619769" cy="671736"/>
          </a:xfrm>
          <a:custGeom>
            <a:avLst/>
            <a:gdLst/>
            <a:ahLst/>
            <a:cxn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p:spPr>
      </p:sp>
      <p:sp>
        <p:nvSpPr>
          <p:cNvPr id="47" name="Text 45"/>
          <p:cNvSpPr/>
          <p:nvPr/>
        </p:nvSpPr>
        <p:spPr>
          <a:xfrm>
            <a:off x="3347001" y="5902876"/>
            <a:ext cx="2477025"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Jackson Pollock</a:t>
            </a:r>
            <a:endParaRPr lang="en-US" sz="1600" dirty="0"/>
          </a:p>
        </p:txBody>
      </p:sp>
      <p:sp>
        <p:nvSpPr>
          <p:cNvPr id="48" name="Text 46"/>
          <p:cNvSpPr/>
          <p:nvPr/>
        </p:nvSpPr>
        <p:spPr>
          <a:xfrm>
            <a:off x="3347001" y="6104397"/>
            <a:ext cx="2468628" cy="268694"/>
          </a:xfrm>
          <a:prstGeom prst="rect">
            <a:avLst/>
          </a:prstGeom>
          <a:noFill/>
          <a:ln/>
        </p:spPr>
        <p:txBody>
          <a:bodyPr wrap="square" lIns="0" tIns="0" rIns="0" bIns="0" rtlCol="0" anchor="ctr"/>
          <a:lstStyle/>
          <a:p>
            <a:pPr>
              <a:lnSpc>
                <a:spcPct val="110000"/>
              </a:lnSpc>
            </a:pPr>
            <a:r>
              <a:rPr lang="en-US" sz="793" dirty="0">
                <a:solidFill>
                  <a:srgbClr val="B8B8B8"/>
                </a:solidFill>
                <a:latin typeface="Quattrocento Sans" pitchFamily="34" charset="0"/>
                <a:ea typeface="Quattrocento Sans" pitchFamily="34" charset="-122"/>
                <a:cs typeface="Quattrocento Sans" pitchFamily="34" charset="-120"/>
              </a:rPr>
              <a:t>Abstract expressionism echoes Van Gogh's gestural energy</a:t>
            </a:r>
            <a:endParaRPr lang="en-US" sz="1600" dirty="0"/>
          </a:p>
        </p:txBody>
      </p:sp>
      <p:sp>
        <p:nvSpPr>
          <p:cNvPr id="49" name="Shape 47"/>
          <p:cNvSpPr/>
          <p:nvPr/>
        </p:nvSpPr>
        <p:spPr>
          <a:xfrm>
            <a:off x="6169209" y="4328496"/>
            <a:ext cx="5684562" cy="2309091"/>
          </a:xfrm>
          <a:custGeom>
            <a:avLst/>
            <a:gdLst/>
            <a:ahLst/>
            <a:cxnLst/>
            <a:rect l="l" t="t" r="r" b="b"/>
            <a:pathLst>
              <a:path w="5684562" h="2309091">
                <a:moveTo>
                  <a:pt x="67171" y="0"/>
                </a:moveTo>
                <a:lnTo>
                  <a:pt x="5617391" y="0"/>
                </a:lnTo>
                <a:cubicBezTo>
                  <a:pt x="5654488" y="0"/>
                  <a:pt x="5684562" y="30074"/>
                  <a:pt x="5684562" y="67171"/>
                </a:cubicBezTo>
                <a:lnTo>
                  <a:pt x="5684562" y="2241919"/>
                </a:lnTo>
                <a:cubicBezTo>
                  <a:pt x="5684562" y="2279017"/>
                  <a:pt x="5654488" y="2309091"/>
                  <a:pt x="5617391" y="2309091"/>
                </a:cubicBezTo>
                <a:lnTo>
                  <a:pt x="67171" y="2309091"/>
                </a:lnTo>
                <a:cubicBezTo>
                  <a:pt x="30074" y="2309091"/>
                  <a:pt x="0" y="2279017"/>
                  <a:pt x="0" y="2241919"/>
                </a:cubicBezTo>
                <a:lnTo>
                  <a:pt x="0" y="67171"/>
                </a:lnTo>
                <a:cubicBezTo>
                  <a:pt x="0" y="30099"/>
                  <a:pt x="30099" y="0"/>
                  <a:pt x="67171"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50" name="Shape 48"/>
          <p:cNvSpPr/>
          <p:nvPr/>
        </p:nvSpPr>
        <p:spPr>
          <a:xfrm>
            <a:off x="8823482" y="4752529"/>
            <a:ext cx="377851" cy="302281"/>
          </a:xfrm>
          <a:custGeom>
            <a:avLst/>
            <a:gdLst/>
            <a:ahLst/>
            <a:cxnLst/>
            <a:rect l="l" t="t" r="r" b="b"/>
            <a:pathLst>
              <a:path w="377851" h="302281">
                <a:moveTo>
                  <a:pt x="0" y="151140"/>
                </a:moveTo>
                <a:cubicBezTo>
                  <a:pt x="0" y="98950"/>
                  <a:pt x="42272" y="56678"/>
                  <a:pt x="94463" y="56678"/>
                </a:cubicBezTo>
                <a:cubicBezTo>
                  <a:pt x="124219" y="56678"/>
                  <a:pt x="152203" y="70670"/>
                  <a:pt x="170033" y="94463"/>
                </a:cubicBezTo>
                <a:lnTo>
                  <a:pt x="188926" y="119673"/>
                </a:lnTo>
                <a:lnTo>
                  <a:pt x="207818" y="94463"/>
                </a:lnTo>
                <a:cubicBezTo>
                  <a:pt x="225648" y="70670"/>
                  <a:pt x="253633" y="56678"/>
                  <a:pt x="283388" y="56678"/>
                </a:cubicBezTo>
                <a:cubicBezTo>
                  <a:pt x="335579" y="56678"/>
                  <a:pt x="377851" y="98950"/>
                  <a:pt x="377851" y="151140"/>
                </a:cubicBezTo>
                <a:cubicBezTo>
                  <a:pt x="377851" y="203331"/>
                  <a:pt x="335579" y="245603"/>
                  <a:pt x="283388" y="245603"/>
                </a:cubicBezTo>
                <a:cubicBezTo>
                  <a:pt x="253633" y="245603"/>
                  <a:pt x="225648" y="231611"/>
                  <a:pt x="207818" y="207818"/>
                </a:cubicBezTo>
                <a:lnTo>
                  <a:pt x="188926" y="182608"/>
                </a:lnTo>
                <a:lnTo>
                  <a:pt x="170033" y="207818"/>
                </a:lnTo>
                <a:cubicBezTo>
                  <a:pt x="152203" y="231611"/>
                  <a:pt x="124219" y="245603"/>
                  <a:pt x="94463" y="245603"/>
                </a:cubicBezTo>
                <a:cubicBezTo>
                  <a:pt x="42272" y="245603"/>
                  <a:pt x="0" y="203331"/>
                  <a:pt x="0" y="151140"/>
                </a:cubicBezTo>
                <a:close/>
                <a:moveTo>
                  <a:pt x="165310" y="151140"/>
                </a:moveTo>
                <a:lnTo>
                  <a:pt x="139805" y="117134"/>
                </a:lnTo>
                <a:cubicBezTo>
                  <a:pt x="129119" y="102846"/>
                  <a:pt x="112293" y="94463"/>
                  <a:pt x="94463" y="94463"/>
                </a:cubicBezTo>
                <a:cubicBezTo>
                  <a:pt x="63172" y="94463"/>
                  <a:pt x="37785" y="119850"/>
                  <a:pt x="37785" y="151140"/>
                </a:cubicBezTo>
                <a:cubicBezTo>
                  <a:pt x="37785" y="182431"/>
                  <a:pt x="63172" y="207818"/>
                  <a:pt x="94463" y="207818"/>
                </a:cubicBezTo>
                <a:cubicBezTo>
                  <a:pt x="112293" y="207818"/>
                  <a:pt x="129119" y="199435"/>
                  <a:pt x="139805" y="185147"/>
                </a:cubicBezTo>
                <a:lnTo>
                  <a:pt x="165310" y="151140"/>
                </a:lnTo>
                <a:close/>
                <a:moveTo>
                  <a:pt x="212541" y="151140"/>
                </a:moveTo>
                <a:lnTo>
                  <a:pt x="238046" y="185147"/>
                </a:lnTo>
                <a:cubicBezTo>
                  <a:pt x="248732" y="199435"/>
                  <a:pt x="265559" y="207818"/>
                  <a:pt x="283388" y="207818"/>
                </a:cubicBezTo>
                <a:cubicBezTo>
                  <a:pt x="314679" y="207818"/>
                  <a:pt x="340066" y="182431"/>
                  <a:pt x="340066" y="151140"/>
                </a:cubicBezTo>
                <a:cubicBezTo>
                  <a:pt x="340066" y="119850"/>
                  <a:pt x="314679" y="94463"/>
                  <a:pt x="283388" y="94463"/>
                </a:cubicBezTo>
                <a:cubicBezTo>
                  <a:pt x="265559" y="94463"/>
                  <a:pt x="248732" y="102846"/>
                  <a:pt x="238046" y="117134"/>
                </a:cubicBezTo>
                <a:lnTo>
                  <a:pt x="212541" y="151140"/>
                </a:lnTo>
                <a:close/>
              </a:path>
            </a:pathLst>
          </a:custGeom>
          <a:solidFill>
            <a:srgbClr val="C9A36A"/>
          </a:solidFill>
          <a:ln/>
        </p:spPr>
      </p:sp>
      <p:sp>
        <p:nvSpPr>
          <p:cNvPr id="51" name="Text 49"/>
          <p:cNvSpPr/>
          <p:nvPr/>
        </p:nvSpPr>
        <p:spPr>
          <a:xfrm>
            <a:off x="6290961" y="5189157"/>
            <a:ext cx="5441058" cy="268694"/>
          </a:xfrm>
          <a:prstGeom prst="rect">
            <a:avLst/>
          </a:prstGeom>
          <a:noFill/>
          <a:ln/>
        </p:spPr>
        <p:txBody>
          <a:bodyPr wrap="square" lIns="0" tIns="0" rIns="0" bIns="0" rtlCol="0" anchor="ctr"/>
          <a:lstStyle/>
          <a:p>
            <a:pPr algn="ctr">
              <a:lnSpc>
                <a:spcPct val="110000"/>
              </a:lnSpc>
            </a:pPr>
            <a:r>
              <a:rPr lang="en-US" sz="1587" b="1" dirty="0">
                <a:solidFill>
                  <a:srgbClr val="F2F2F2"/>
                </a:solidFill>
                <a:latin typeface="Oranienbaum" pitchFamily="34" charset="0"/>
                <a:ea typeface="Oranienbaum" pitchFamily="34" charset="-122"/>
                <a:cs typeface="Oranienbaum" pitchFamily="34" charset="-120"/>
              </a:rPr>
              <a:t>Continuing Influence</a:t>
            </a:r>
            <a:endParaRPr lang="en-US" sz="1600" dirty="0"/>
          </a:p>
        </p:txBody>
      </p:sp>
      <p:sp>
        <p:nvSpPr>
          <p:cNvPr id="52" name="Text 50"/>
          <p:cNvSpPr/>
          <p:nvPr/>
        </p:nvSpPr>
        <p:spPr>
          <a:xfrm>
            <a:off x="6307754" y="5558612"/>
            <a:ext cx="5407471" cy="654942"/>
          </a:xfrm>
          <a:prstGeom prst="rect">
            <a:avLst/>
          </a:prstGeom>
          <a:noFill/>
          <a:ln/>
        </p:spPr>
        <p:txBody>
          <a:bodyPr wrap="square" lIns="0" tIns="0" rIns="0" bIns="0" rtlCol="0" anchor="ctr"/>
          <a:lstStyle/>
          <a:p>
            <a:pPr algn="ct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Van Gogh's influence extends into contemporary art, street art, and popular culture. His techniques, color theories, and emotional approach continue to inspire artists worldwide, proving that his vision transcends time and movements.</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111"/>
        </a:solidFill>
      </p:bgPr>
    </p:bg>
    <p:spTree>
      <p:nvGrpSpPr>
        <p:cNvPr id="1" name=""/>
        <p:cNvGrpSpPr/>
        <p:nvPr/>
      </p:nvGrpSpPr>
      <p:grpSpPr>
        <a:xfrm>
          <a:off x="0" y="0"/>
          <a:ext cx="0" cy="0"/>
          <a:chOff x="0" y="0"/>
          <a:chExt cx="0" cy="0"/>
        </a:xfrm>
      </p:grpSpPr>
      <p:pic>
        <p:nvPicPr>
          <p:cNvPr id="2" name="Image 0" descr="https://kimi-web-img.moonshot.cn/img/puzzlesgalore.co.uk/b0dcfa1593c51a1113b7c39a6e545249ed67b0d8.jpg">    </p:cNvPr>
          <p:cNvPicPr>
            <a:picLocks noChangeAspect="1"/>
          </p:cNvPicPr>
          <p:nvPr/>
        </p:nvPicPr>
        <p:blipFill>
          <a:blip r:embed="rId1">
            <a:alphaModFix amt="25000"/>
          </a:blip>
          <a:srcRect l="0" r="0" t="10238" b="10238"/>
          <a:stretch/>
        </p:blipFill>
        <p:spPr>
          <a:xfrm>
            <a:off x="0" y="0"/>
            <a:ext cx="12192000" cy="6856854"/>
          </a:xfrm>
          <a:prstGeom prst="roundRect">
            <a:avLst>
              <a:gd name="adj" fmla="val 0"/>
            </a:avLst>
          </a:prstGeom>
        </p:spPr>
      </p:pic>
      <p:sp>
        <p:nvSpPr>
          <p:cNvPr id="3" name="Shape 0"/>
          <p:cNvSpPr/>
          <p:nvPr/>
        </p:nvSpPr>
        <p:spPr>
          <a:xfrm>
            <a:off x="0" y="0"/>
            <a:ext cx="12192000" cy="6856854"/>
          </a:xfrm>
          <a:custGeom>
            <a:avLst/>
            <a:gdLst/>
            <a:ahLst/>
            <a:cxnLst/>
            <a:rect l="l" t="t" r="r" b="b"/>
            <a:pathLst>
              <a:path w="12192000" h="6856854">
                <a:moveTo>
                  <a:pt x="0" y="0"/>
                </a:moveTo>
                <a:lnTo>
                  <a:pt x="12192000" y="0"/>
                </a:lnTo>
                <a:lnTo>
                  <a:pt x="12192000" y="6856854"/>
                </a:lnTo>
                <a:lnTo>
                  <a:pt x="0" y="6856854"/>
                </a:lnTo>
                <a:lnTo>
                  <a:pt x="0" y="0"/>
                </a:lnTo>
                <a:close/>
              </a:path>
            </a:pathLst>
          </a:custGeom>
          <a:gradFill rotWithShape="1" flip="none">
            <a:gsLst>
              <a:gs pos="0">
                <a:srgbClr val="111111">
                  <a:alpha val="95000"/>
                </a:srgbClr>
              </a:gs>
              <a:gs pos="50000">
                <a:srgbClr val="111111">
                  <a:alpha val="85000"/>
                </a:srgbClr>
              </a:gs>
              <a:gs pos="100000">
                <a:srgbClr val="111111">
                  <a:alpha val="70000"/>
                </a:srgbClr>
              </a:gs>
            </a:gsLst>
            <a:lin ang="2700000" scaled="1"/>
          </a:gradFill>
          <a:ln/>
        </p:spPr>
      </p:sp>
      <p:sp>
        <p:nvSpPr>
          <p:cNvPr id="4" name="Shape 1"/>
          <p:cNvSpPr/>
          <p:nvPr/>
        </p:nvSpPr>
        <p:spPr>
          <a:xfrm>
            <a:off x="5847419" y="-123753"/>
            <a:ext cx="495014" cy="440012"/>
          </a:xfrm>
          <a:custGeom>
            <a:avLst/>
            <a:gdLst/>
            <a:ahLst/>
            <a:cxnLst/>
            <a:rect l="l" t="t" r="r" b="b"/>
            <a:pathLst>
              <a:path w="495014" h="440012">
                <a:moveTo>
                  <a:pt x="265984" y="-16243"/>
                </a:moveTo>
                <a:cubicBezTo>
                  <a:pt x="262460" y="-23118"/>
                  <a:pt x="255327" y="-27501"/>
                  <a:pt x="247593" y="-27501"/>
                </a:cubicBezTo>
                <a:cubicBezTo>
                  <a:pt x="239858" y="-27501"/>
                  <a:pt x="232725" y="-23118"/>
                  <a:pt x="229202" y="-16243"/>
                </a:cubicBezTo>
                <a:lnTo>
                  <a:pt x="165950" y="107683"/>
                </a:lnTo>
                <a:lnTo>
                  <a:pt x="28532" y="129511"/>
                </a:lnTo>
                <a:cubicBezTo>
                  <a:pt x="20883" y="130715"/>
                  <a:pt x="14524" y="136129"/>
                  <a:pt x="12118" y="143520"/>
                </a:cubicBezTo>
                <a:cubicBezTo>
                  <a:pt x="9711" y="150910"/>
                  <a:pt x="11688" y="158989"/>
                  <a:pt x="17102" y="164489"/>
                </a:cubicBezTo>
                <a:lnTo>
                  <a:pt x="115417" y="262890"/>
                </a:lnTo>
                <a:lnTo>
                  <a:pt x="93760" y="400308"/>
                </a:lnTo>
                <a:cubicBezTo>
                  <a:pt x="92557" y="407956"/>
                  <a:pt x="95737" y="415691"/>
                  <a:pt x="102011" y="420246"/>
                </a:cubicBezTo>
                <a:cubicBezTo>
                  <a:pt x="108284" y="424801"/>
                  <a:pt x="116534" y="425488"/>
                  <a:pt x="123496" y="421965"/>
                </a:cubicBezTo>
                <a:lnTo>
                  <a:pt x="247593" y="358885"/>
                </a:lnTo>
                <a:lnTo>
                  <a:pt x="371604" y="421965"/>
                </a:lnTo>
                <a:cubicBezTo>
                  <a:pt x="378479" y="425488"/>
                  <a:pt x="386815" y="424801"/>
                  <a:pt x="393089" y="420246"/>
                </a:cubicBezTo>
                <a:cubicBezTo>
                  <a:pt x="399362" y="415691"/>
                  <a:pt x="402542" y="408042"/>
                  <a:pt x="401339" y="400308"/>
                </a:cubicBezTo>
                <a:lnTo>
                  <a:pt x="379596" y="262890"/>
                </a:lnTo>
                <a:lnTo>
                  <a:pt x="477912" y="164489"/>
                </a:lnTo>
                <a:cubicBezTo>
                  <a:pt x="483412" y="158989"/>
                  <a:pt x="485302" y="150910"/>
                  <a:pt x="482896" y="143520"/>
                </a:cubicBezTo>
                <a:cubicBezTo>
                  <a:pt x="480490" y="136129"/>
                  <a:pt x="474216" y="130715"/>
                  <a:pt x="466482" y="129511"/>
                </a:cubicBezTo>
                <a:lnTo>
                  <a:pt x="329150" y="107683"/>
                </a:lnTo>
                <a:lnTo>
                  <a:pt x="265984" y="-16243"/>
                </a:lnTo>
                <a:close/>
              </a:path>
            </a:pathLst>
          </a:custGeom>
          <a:solidFill>
            <a:srgbClr val="C9A36A"/>
          </a:solidFill>
          <a:ln/>
        </p:spPr>
      </p:sp>
      <p:sp>
        <p:nvSpPr>
          <p:cNvPr id="5" name="Text 2"/>
          <p:cNvSpPr/>
          <p:nvPr/>
        </p:nvSpPr>
        <p:spPr>
          <a:xfrm>
            <a:off x="4616760" y="829606"/>
            <a:ext cx="2960914" cy="1375038"/>
          </a:xfrm>
          <a:prstGeom prst="rect">
            <a:avLst/>
          </a:prstGeom>
          <a:noFill/>
          <a:ln/>
        </p:spPr>
        <p:txBody>
          <a:bodyPr wrap="square" lIns="0" tIns="0" rIns="0" bIns="0" rtlCol="0" anchor="ctr"/>
          <a:lstStyle/>
          <a:p>
            <a:pPr algn="ctr">
              <a:lnSpc>
                <a:spcPct val="100000"/>
              </a:lnSpc>
            </a:pPr>
            <a:r>
              <a:rPr lang="en-US" sz="4331" b="1" dirty="0">
                <a:solidFill>
                  <a:srgbClr val="F2F2F2"/>
                </a:solidFill>
                <a:latin typeface="Oranienbaum" pitchFamily="34" charset="0"/>
                <a:ea typeface="Oranienbaum" pitchFamily="34" charset="-122"/>
                <a:cs typeface="Oranienbaum" pitchFamily="34" charset="-120"/>
              </a:rPr>
              <a:t>The Eternal</a:t>
            </a:r>
            <a:endParaRPr lang="en-US" sz="1600" dirty="0"/>
          </a:p>
          <a:p>
            <a:pPr algn="ctr">
              <a:lnSpc>
                <a:spcPct val="100000"/>
              </a:lnSpc>
            </a:pPr>
            <a:r>
              <a:rPr lang="en-US" sz="4331" b="1" dirty="0">
                <a:solidFill>
                  <a:srgbClr val="C9A36A"/>
                </a:solidFill>
                <a:latin typeface="Oranienbaum" pitchFamily="34" charset="0"/>
                <a:ea typeface="Oranienbaum" pitchFamily="34" charset="-122"/>
                <a:cs typeface="Oranienbaum" pitchFamily="34" charset="-120"/>
              </a:rPr>
              <a:t>Starry Night</a:t>
            </a:r>
            <a:endParaRPr lang="en-US" sz="1600" dirty="0"/>
          </a:p>
        </p:txBody>
      </p:sp>
      <p:sp>
        <p:nvSpPr>
          <p:cNvPr id="6" name="Shape 3"/>
          <p:cNvSpPr/>
          <p:nvPr/>
        </p:nvSpPr>
        <p:spPr>
          <a:xfrm>
            <a:off x="5361572" y="2497985"/>
            <a:ext cx="1466707" cy="0"/>
          </a:xfrm>
          <a:custGeom>
            <a:avLst/>
            <a:gdLst/>
            <a:ahLst/>
            <a:cxnLst/>
            <a:rect l="l" t="t" r="r" b="b"/>
            <a:pathLst>
              <a:path w="1466707" h="0">
                <a:moveTo>
                  <a:pt x="0" y="0"/>
                </a:moveTo>
                <a:lnTo>
                  <a:pt x="1466707" y="0"/>
                </a:lnTo>
                <a:lnTo>
                  <a:pt x="1466707" y="0"/>
                </a:lnTo>
                <a:lnTo>
                  <a:pt x="0" y="0"/>
                </a:lnTo>
                <a:lnTo>
                  <a:pt x="0" y="0"/>
                </a:lnTo>
                <a:close/>
              </a:path>
            </a:pathLst>
          </a:custGeom>
          <a:solidFill>
            <a:srgbClr val="C9A36A"/>
          </a:solidFill>
          <a:ln/>
        </p:spPr>
      </p:sp>
      <p:sp>
        <p:nvSpPr>
          <p:cNvPr id="7" name="Text 4"/>
          <p:cNvSpPr/>
          <p:nvPr/>
        </p:nvSpPr>
        <p:spPr>
          <a:xfrm>
            <a:off x="2528995" y="2791326"/>
            <a:ext cx="7131862" cy="898358"/>
          </a:xfrm>
          <a:prstGeom prst="rect">
            <a:avLst/>
          </a:prstGeom>
          <a:noFill/>
          <a:ln/>
        </p:spPr>
        <p:txBody>
          <a:bodyPr wrap="square" lIns="0" tIns="0" rIns="0" bIns="0" rtlCol="0" anchor="ctr"/>
          <a:lstStyle/>
          <a:p>
            <a:pPr algn="ctr">
              <a:lnSpc>
                <a:spcPct val="140000"/>
              </a:lnSpc>
            </a:pPr>
            <a:r>
              <a:rPr lang="en-US" sz="1444" dirty="0">
                <a:solidFill>
                  <a:srgbClr val="B8B8B8"/>
                </a:solidFill>
                <a:latin typeface="Quattrocento Sans" pitchFamily="34" charset="0"/>
                <a:ea typeface="Quattrocento Sans" pitchFamily="34" charset="-122"/>
                <a:cs typeface="Quattrocento Sans" pitchFamily="34" charset="-120"/>
              </a:rPr>
              <a:t>Vincent van Gogh's life reminds us that </a:t>
            </a:r>
            <a:pPr algn="ctr">
              <a:lnSpc>
                <a:spcPct val="140000"/>
              </a:lnSpc>
            </a:pPr>
            <a:r>
              <a:rPr lang="en-US" sz="1444" dirty="0">
                <a:solidFill>
                  <a:srgbClr val="F2F2F2"/>
                </a:solidFill>
                <a:latin typeface="Quattrocento Sans" pitchFamily="34" charset="0"/>
                <a:ea typeface="Quattrocento Sans" pitchFamily="34" charset="-122"/>
                <a:cs typeface="Quattrocento Sans" pitchFamily="34" charset="-120"/>
              </a:rPr>
              <a:t>true artistic genius often comes with great personal cost</a:t>
            </a:r>
            <a:pPr algn="ctr">
              <a:lnSpc>
                <a:spcPct val="140000"/>
              </a:lnSpc>
            </a:pPr>
            <a:r>
              <a:rPr lang="en-US" sz="1444" dirty="0">
                <a:solidFill>
                  <a:srgbClr val="B8B8B8"/>
                </a:solidFill>
                <a:latin typeface="Quattrocento Sans" pitchFamily="34" charset="0"/>
                <a:ea typeface="Quattrocento Sans" pitchFamily="34" charset="-122"/>
                <a:cs typeface="Quattrocento Sans" pitchFamily="34" charset="-120"/>
              </a:rPr>
              <a:t>. His ability to transform pain into beauty, isolation into connection, and madness into masterpieces continues to inspire millions worldwide.</a:t>
            </a:r>
            <a:endParaRPr lang="en-US" sz="1600" dirty="0"/>
          </a:p>
        </p:txBody>
      </p:sp>
      <p:sp>
        <p:nvSpPr>
          <p:cNvPr id="8" name="Text 5"/>
          <p:cNvSpPr/>
          <p:nvPr/>
        </p:nvSpPr>
        <p:spPr>
          <a:xfrm>
            <a:off x="2528995" y="3905107"/>
            <a:ext cx="7131862" cy="302508"/>
          </a:xfrm>
          <a:prstGeom prst="rect">
            <a:avLst/>
          </a:prstGeom>
          <a:noFill/>
          <a:ln/>
        </p:spPr>
        <p:txBody>
          <a:bodyPr wrap="square" lIns="0" tIns="0" rIns="0" bIns="0" rtlCol="0" anchor="ctr"/>
          <a:lstStyle/>
          <a:p>
            <a:pPr algn="ctr">
              <a:lnSpc>
                <a:spcPct val="140000"/>
              </a:lnSpc>
            </a:pPr>
            <a:r>
              <a:rPr lang="en-US" sz="1444" dirty="0">
                <a:solidFill>
                  <a:srgbClr val="B8B8B8"/>
                </a:solidFill>
                <a:latin typeface="Quattrocento Sans" pitchFamily="34" charset="0"/>
                <a:ea typeface="Quattrocento Sans" pitchFamily="34" charset="-122"/>
                <a:cs typeface="Quattrocento Sans" pitchFamily="34" charset="-120"/>
              </a:rPr>
              <a:t>As he once wrote to Theo:</a:t>
            </a:r>
            <a:endParaRPr lang="en-US" sz="1600" dirty="0"/>
          </a:p>
        </p:txBody>
      </p:sp>
      <p:sp>
        <p:nvSpPr>
          <p:cNvPr id="9" name="Shape 6"/>
          <p:cNvSpPr/>
          <p:nvPr/>
        </p:nvSpPr>
        <p:spPr>
          <a:xfrm>
            <a:off x="2714410" y="4574292"/>
            <a:ext cx="6765185" cy="1778382"/>
          </a:xfrm>
          <a:custGeom>
            <a:avLst/>
            <a:gdLst/>
            <a:ahLst/>
            <a:cxnLst/>
            <a:rect l="l" t="t" r="r" b="b"/>
            <a:pathLst>
              <a:path w="6765185" h="1778382">
                <a:moveTo>
                  <a:pt x="73340" y="0"/>
                </a:moveTo>
                <a:lnTo>
                  <a:pt x="6691844" y="0"/>
                </a:lnTo>
                <a:cubicBezTo>
                  <a:pt x="6732349" y="0"/>
                  <a:pt x="6765185" y="32836"/>
                  <a:pt x="6765185" y="73340"/>
                </a:cubicBezTo>
                <a:lnTo>
                  <a:pt x="6765185" y="1705041"/>
                </a:lnTo>
                <a:cubicBezTo>
                  <a:pt x="6765185" y="1745546"/>
                  <a:pt x="6732349" y="1778382"/>
                  <a:pt x="6691844" y="1778382"/>
                </a:cubicBezTo>
                <a:lnTo>
                  <a:pt x="73340" y="1778382"/>
                </a:lnTo>
                <a:cubicBezTo>
                  <a:pt x="32836" y="1778382"/>
                  <a:pt x="0" y="1745546"/>
                  <a:pt x="0" y="1705041"/>
                </a:cubicBezTo>
                <a:lnTo>
                  <a:pt x="0" y="73340"/>
                </a:lnTo>
                <a:cubicBezTo>
                  <a:pt x="0" y="32863"/>
                  <a:pt x="32863" y="0"/>
                  <a:pt x="73340"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10" name="Shape 7"/>
          <p:cNvSpPr/>
          <p:nvPr/>
        </p:nvSpPr>
        <p:spPr>
          <a:xfrm>
            <a:off x="5976902" y="4872217"/>
            <a:ext cx="240632" cy="275008"/>
          </a:xfrm>
          <a:custGeom>
            <a:avLst/>
            <a:gdLst/>
            <a:ahLst/>
            <a:cxnLst/>
            <a:rect l="l" t="t" r="r" b="b"/>
            <a:pathLst>
              <a:path w="240632" h="275008">
                <a:moveTo>
                  <a:pt x="0" y="116019"/>
                </a:moveTo>
                <a:cubicBezTo>
                  <a:pt x="0" y="80407"/>
                  <a:pt x="28844" y="51564"/>
                  <a:pt x="64455" y="51564"/>
                </a:cubicBezTo>
                <a:lnTo>
                  <a:pt x="68752" y="51564"/>
                </a:lnTo>
                <a:cubicBezTo>
                  <a:pt x="78259" y="51564"/>
                  <a:pt x="85940" y="59245"/>
                  <a:pt x="85940" y="68752"/>
                </a:cubicBezTo>
                <a:cubicBezTo>
                  <a:pt x="85940" y="78259"/>
                  <a:pt x="78259" y="85940"/>
                  <a:pt x="68752" y="85940"/>
                </a:cubicBezTo>
                <a:lnTo>
                  <a:pt x="64455" y="85940"/>
                </a:lnTo>
                <a:cubicBezTo>
                  <a:pt x="47858" y="85940"/>
                  <a:pt x="34376" y="99422"/>
                  <a:pt x="34376" y="116019"/>
                </a:cubicBezTo>
                <a:lnTo>
                  <a:pt x="34376" y="120316"/>
                </a:lnTo>
                <a:lnTo>
                  <a:pt x="68752" y="120316"/>
                </a:lnTo>
                <a:cubicBezTo>
                  <a:pt x="87712" y="120316"/>
                  <a:pt x="103128" y="135731"/>
                  <a:pt x="103128" y="154692"/>
                </a:cubicBezTo>
                <a:lnTo>
                  <a:pt x="103128" y="189068"/>
                </a:lnTo>
                <a:cubicBezTo>
                  <a:pt x="103128" y="208028"/>
                  <a:pt x="87712" y="223444"/>
                  <a:pt x="68752" y="223444"/>
                </a:cubicBezTo>
                <a:lnTo>
                  <a:pt x="34376" y="223444"/>
                </a:lnTo>
                <a:cubicBezTo>
                  <a:pt x="15415" y="223444"/>
                  <a:pt x="0" y="208028"/>
                  <a:pt x="0" y="189068"/>
                </a:cubicBezTo>
                <a:lnTo>
                  <a:pt x="0" y="116019"/>
                </a:lnTo>
                <a:close/>
                <a:moveTo>
                  <a:pt x="137504" y="116019"/>
                </a:moveTo>
                <a:cubicBezTo>
                  <a:pt x="137504" y="80407"/>
                  <a:pt x="166347" y="51564"/>
                  <a:pt x="201959" y="51564"/>
                </a:cubicBezTo>
                <a:lnTo>
                  <a:pt x="206256" y="51564"/>
                </a:lnTo>
                <a:cubicBezTo>
                  <a:pt x="215763" y="51564"/>
                  <a:pt x="223444" y="59245"/>
                  <a:pt x="223444" y="68752"/>
                </a:cubicBezTo>
                <a:cubicBezTo>
                  <a:pt x="223444" y="78259"/>
                  <a:pt x="215763" y="85940"/>
                  <a:pt x="206256" y="85940"/>
                </a:cubicBezTo>
                <a:lnTo>
                  <a:pt x="201959" y="85940"/>
                </a:lnTo>
                <a:cubicBezTo>
                  <a:pt x="185362" y="85940"/>
                  <a:pt x="171880" y="99422"/>
                  <a:pt x="171880" y="116019"/>
                </a:cubicBezTo>
                <a:lnTo>
                  <a:pt x="171880" y="120316"/>
                </a:lnTo>
                <a:lnTo>
                  <a:pt x="206256" y="120316"/>
                </a:lnTo>
                <a:cubicBezTo>
                  <a:pt x="225216" y="120316"/>
                  <a:pt x="240632" y="135731"/>
                  <a:pt x="240632" y="154692"/>
                </a:cubicBezTo>
                <a:lnTo>
                  <a:pt x="240632" y="189068"/>
                </a:lnTo>
                <a:cubicBezTo>
                  <a:pt x="240632" y="208028"/>
                  <a:pt x="225216" y="223444"/>
                  <a:pt x="206256" y="223444"/>
                </a:cubicBezTo>
                <a:lnTo>
                  <a:pt x="171880" y="223444"/>
                </a:lnTo>
                <a:cubicBezTo>
                  <a:pt x="152919" y="223444"/>
                  <a:pt x="137504" y="208028"/>
                  <a:pt x="137504" y="189068"/>
                </a:cubicBezTo>
                <a:lnTo>
                  <a:pt x="137504" y="116019"/>
                </a:lnTo>
                <a:close/>
              </a:path>
            </a:pathLst>
          </a:custGeom>
          <a:solidFill>
            <a:srgbClr val="C9A36A"/>
          </a:solidFill>
          <a:ln/>
        </p:spPr>
      </p:sp>
      <p:sp>
        <p:nvSpPr>
          <p:cNvPr id="11" name="Text 8"/>
          <p:cNvSpPr/>
          <p:nvPr/>
        </p:nvSpPr>
        <p:spPr>
          <a:xfrm>
            <a:off x="3030669" y="5293895"/>
            <a:ext cx="6132668" cy="357510"/>
          </a:xfrm>
          <a:prstGeom prst="rect">
            <a:avLst/>
          </a:prstGeom>
          <a:noFill/>
          <a:ln/>
        </p:spPr>
        <p:txBody>
          <a:bodyPr wrap="square" lIns="0" tIns="0" rIns="0" bIns="0" rtlCol="0" anchor="ctr"/>
          <a:lstStyle/>
          <a:p>
            <a:pPr algn="ctr">
              <a:lnSpc>
                <a:spcPct val="140000"/>
              </a:lnSpc>
            </a:pPr>
            <a:r>
              <a:rPr lang="en-US" sz="1732" dirty="0">
                <a:solidFill>
                  <a:srgbClr val="F2F2F2"/>
                </a:solidFill>
                <a:latin typeface="Quattrocento Sans" pitchFamily="34" charset="0"/>
                <a:ea typeface="Quattrocento Sans" pitchFamily="34" charset="-122"/>
                <a:cs typeface="Quattrocento Sans" pitchFamily="34" charset="-120"/>
              </a:rPr>
              <a:t>"What would life be if we had no courage to attempt anything?"</a:t>
            </a:r>
            <a:endParaRPr lang="en-US" sz="1600" dirty="0"/>
          </a:p>
        </p:txBody>
      </p:sp>
      <p:sp>
        <p:nvSpPr>
          <p:cNvPr id="12" name="Text 9"/>
          <p:cNvSpPr/>
          <p:nvPr/>
        </p:nvSpPr>
        <p:spPr>
          <a:xfrm>
            <a:off x="3044419" y="5798075"/>
            <a:ext cx="6105167" cy="256674"/>
          </a:xfrm>
          <a:prstGeom prst="rect">
            <a:avLst/>
          </a:prstGeom>
          <a:noFill/>
          <a:ln/>
        </p:spPr>
        <p:txBody>
          <a:bodyPr wrap="square" lIns="0" tIns="0" rIns="0" bIns="0" rtlCol="0" anchor="ctr"/>
          <a:lstStyle/>
          <a:p>
            <a:pPr algn="ctr">
              <a:lnSpc>
                <a:spcPct val="130000"/>
              </a:lnSpc>
            </a:pPr>
            <a:r>
              <a:rPr lang="en-US" sz="1299" dirty="0">
                <a:solidFill>
                  <a:srgbClr val="C9A36A"/>
                </a:solidFill>
                <a:latin typeface="Quattrocento Sans" pitchFamily="34" charset="0"/>
                <a:ea typeface="Quattrocento Sans" pitchFamily="34" charset="-122"/>
                <a:cs typeface="Quattrocento Sans" pitchFamily="34" charset="-120"/>
              </a:rPr>
              <a:t>— Vincent van Gogh</a:t>
            </a:r>
            <a:endParaRPr lang="en-US" sz="1600" dirty="0"/>
          </a:p>
        </p:txBody>
      </p:sp>
      <p:sp>
        <p:nvSpPr>
          <p:cNvPr id="13" name="Shape 10"/>
          <p:cNvSpPr/>
          <p:nvPr/>
        </p:nvSpPr>
        <p:spPr>
          <a:xfrm>
            <a:off x="3387176" y="6760602"/>
            <a:ext cx="183338" cy="183338"/>
          </a:xfrm>
          <a:custGeom>
            <a:avLst/>
            <a:gdLst/>
            <a:ahLst/>
            <a:cxnLst/>
            <a:rect l="l" t="t" r="r" b="b"/>
            <a:pathLst>
              <a:path w="183338" h="183338">
                <a:moveTo>
                  <a:pt x="183338" y="91669"/>
                </a:moveTo>
                <a:cubicBezTo>
                  <a:pt x="183338" y="91991"/>
                  <a:pt x="183338" y="92314"/>
                  <a:pt x="183338" y="92636"/>
                </a:cubicBezTo>
                <a:cubicBezTo>
                  <a:pt x="183195" y="105706"/>
                  <a:pt x="171307" y="114586"/>
                  <a:pt x="158237" y="114586"/>
                </a:cubicBezTo>
                <a:lnTo>
                  <a:pt x="123180" y="114586"/>
                </a:lnTo>
                <a:cubicBezTo>
                  <a:pt x="113691" y="114586"/>
                  <a:pt x="105992" y="122285"/>
                  <a:pt x="105992" y="131774"/>
                </a:cubicBezTo>
                <a:cubicBezTo>
                  <a:pt x="105992" y="132992"/>
                  <a:pt x="106136" y="134174"/>
                  <a:pt x="106351" y="135319"/>
                </a:cubicBezTo>
                <a:cubicBezTo>
                  <a:pt x="107103" y="138972"/>
                  <a:pt x="108678" y="142481"/>
                  <a:pt x="110218" y="146026"/>
                </a:cubicBezTo>
                <a:cubicBezTo>
                  <a:pt x="112402" y="150968"/>
                  <a:pt x="114551" y="155873"/>
                  <a:pt x="114551" y="161066"/>
                </a:cubicBezTo>
                <a:cubicBezTo>
                  <a:pt x="114551" y="172453"/>
                  <a:pt x="106816" y="182801"/>
                  <a:pt x="95429" y="183267"/>
                </a:cubicBezTo>
                <a:cubicBezTo>
                  <a:pt x="94176" y="183303"/>
                  <a:pt x="92922" y="183338"/>
                  <a:pt x="91633" y="183338"/>
                </a:cubicBezTo>
                <a:cubicBezTo>
                  <a:pt x="41000" y="183338"/>
                  <a:pt x="-36" y="142302"/>
                  <a:pt x="-36" y="91669"/>
                </a:cubicBezTo>
                <a:cubicBezTo>
                  <a:pt x="-36" y="41036"/>
                  <a:pt x="41036" y="0"/>
                  <a:pt x="91669" y="0"/>
                </a:cubicBezTo>
                <a:cubicBezTo>
                  <a:pt x="142302" y="0"/>
                  <a:pt x="183338" y="41036"/>
                  <a:pt x="183338" y="91669"/>
                </a:cubicBezTo>
                <a:close/>
                <a:moveTo>
                  <a:pt x="45835" y="103128"/>
                </a:moveTo>
                <a:cubicBezTo>
                  <a:pt x="45835" y="96804"/>
                  <a:pt x="40700" y="91669"/>
                  <a:pt x="34376" y="91669"/>
                </a:cubicBezTo>
                <a:cubicBezTo>
                  <a:pt x="28052" y="91669"/>
                  <a:pt x="22917" y="96804"/>
                  <a:pt x="22917" y="103128"/>
                </a:cubicBezTo>
                <a:cubicBezTo>
                  <a:pt x="22917" y="109452"/>
                  <a:pt x="28052" y="114586"/>
                  <a:pt x="34376" y="114586"/>
                </a:cubicBezTo>
                <a:cubicBezTo>
                  <a:pt x="40700" y="114586"/>
                  <a:pt x="45835" y="109452"/>
                  <a:pt x="45835" y="103128"/>
                </a:cubicBezTo>
                <a:close/>
                <a:moveTo>
                  <a:pt x="45835" y="68752"/>
                </a:moveTo>
                <a:cubicBezTo>
                  <a:pt x="52159" y="68752"/>
                  <a:pt x="57293" y="63617"/>
                  <a:pt x="57293" y="57293"/>
                </a:cubicBezTo>
                <a:cubicBezTo>
                  <a:pt x="57293" y="50969"/>
                  <a:pt x="52159" y="45835"/>
                  <a:pt x="45835" y="45835"/>
                </a:cubicBezTo>
                <a:cubicBezTo>
                  <a:pt x="39510" y="45835"/>
                  <a:pt x="34376" y="50969"/>
                  <a:pt x="34376" y="57293"/>
                </a:cubicBezTo>
                <a:cubicBezTo>
                  <a:pt x="34376" y="63617"/>
                  <a:pt x="39510" y="68752"/>
                  <a:pt x="45835" y="68752"/>
                </a:cubicBezTo>
                <a:close/>
                <a:moveTo>
                  <a:pt x="103128" y="34376"/>
                </a:moveTo>
                <a:cubicBezTo>
                  <a:pt x="103128" y="28052"/>
                  <a:pt x="97993" y="22917"/>
                  <a:pt x="91669" y="22917"/>
                </a:cubicBezTo>
                <a:cubicBezTo>
                  <a:pt x="85345" y="22917"/>
                  <a:pt x="80211" y="28052"/>
                  <a:pt x="80211" y="34376"/>
                </a:cubicBezTo>
                <a:cubicBezTo>
                  <a:pt x="80211" y="40700"/>
                  <a:pt x="85345" y="45835"/>
                  <a:pt x="91669" y="45835"/>
                </a:cubicBezTo>
                <a:cubicBezTo>
                  <a:pt x="97993" y="45835"/>
                  <a:pt x="103128" y="40700"/>
                  <a:pt x="103128" y="34376"/>
                </a:cubicBezTo>
                <a:close/>
                <a:moveTo>
                  <a:pt x="137504" y="68752"/>
                </a:moveTo>
                <a:cubicBezTo>
                  <a:pt x="143828" y="68752"/>
                  <a:pt x="148962" y="63617"/>
                  <a:pt x="148962" y="57293"/>
                </a:cubicBezTo>
                <a:cubicBezTo>
                  <a:pt x="148962" y="50969"/>
                  <a:pt x="143828" y="45835"/>
                  <a:pt x="137504" y="45835"/>
                </a:cubicBezTo>
                <a:cubicBezTo>
                  <a:pt x="131180" y="45835"/>
                  <a:pt x="126045" y="50969"/>
                  <a:pt x="126045" y="57293"/>
                </a:cubicBezTo>
                <a:cubicBezTo>
                  <a:pt x="126045" y="63617"/>
                  <a:pt x="131180" y="68752"/>
                  <a:pt x="137504" y="68752"/>
                </a:cubicBezTo>
                <a:close/>
              </a:path>
            </a:pathLst>
          </a:custGeom>
          <a:solidFill>
            <a:srgbClr val="C9A36A"/>
          </a:solidFill>
          <a:ln/>
        </p:spPr>
      </p:sp>
      <p:sp>
        <p:nvSpPr>
          <p:cNvPr id="14" name="Text 11"/>
          <p:cNvSpPr/>
          <p:nvPr/>
        </p:nvSpPr>
        <p:spPr>
          <a:xfrm>
            <a:off x="3662183" y="6723934"/>
            <a:ext cx="1127531" cy="256674"/>
          </a:xfrm>
          <a:prstGeom prst="rect">
            <a:avLst/>
          </a:prstGeom>
          <a:noFill/>
          <a:ln/>
        </p:spPr>
        <p:txBody>
          <a:bodyPr wrap="square" lIns="0" tIns="0" rIns="0" bIns="0" rtlCol="0" anchor="ctr"/>
          <a:lstStyle/>
          <a:p>
            <a:pPr algn="ctr">
              <a:lnSpc>
                <a:spcPct val="130000"/>
              </a:lnSpc>
            </a:pPr>
            <a:r>
              <a:rPr lang="en-US" sz="1299" dirty="0">
                <a:solidFill>
                  <a:srgbClr val="A3A3A3"/>
                </a:solidFill>
                <a:latin typeface="Quattrocento Sans" pitchFamily="34" charset="0"/>
                <a:ea typeface="Quattrocento Sans" pitchFamily="34" charset="-122"/>
                <a:cs typeface="Quattrocento Sans" pitchFamily="34" charset="-120"/>
              </a:rPr>
              <a:t>860+ Paintings</a:t>
            </a:r>
            <a:endParaRPr lang="en-US" sz="1600" dirty="0"/>
          </a:p>
        </p:txBody>
      </p:sp>
      <p:sp>
        <p:nvSpPr>
          <p:cNvPr id="15" name="Shape 12"/>
          <p:cNvSpPr/>
          <p:nvPr/>
        </p:nvSpPr>
        <p:spPr>
          <a:xfrm>
            <a:off x="5137699" y="6760602"/>
            <a:ext cx="183338" cy="183338"/>
          </a:xfrm>
          <a:custGeom>
            <a:avLst/>
            <a:gdLst/>
            <a:ahLst/>
            <a:cxnLst/>
            <a:rect l="l" t="t" r="r" b="b"/>
            <a:pathLst>
              <a:path w="183338" h="183338">
                <a:moveTo>
                  <a:pt x="86298" y="31189"/>
                </a:moveTo>
                <a:lnTo>
                  <a:pt x="91669" y="38601"/>
                </a:lnTo>
                <a:lnTo>
                  <a:pt x="97040" y="31189"/>
                </a:lnTo>
                <a:cubicBezTo>
                  <a:pt x="105992" y="18799"/>
                  <a:pt x="120387" y="11459"/>
                  <a:pt x="135678" y="11459"/>
                </a:cubicBezTo>
                <a:cubicBezTo>
                  <a:pt x="161997" y="11459"/>
                  <a:pt x="183338" y="32800"/>
                  <a:pt x="183338" y="59119"/>
                </a:cubicBezTo>
                <a:lnTo>
                  <a:pt x="183338" y="60050"/>
                </a:lnTo>
                <a:cubicBezTo>
                  <a:pt x="183338" y="100227"/>
                  <a:pt x="133243" y="146886"/>
                  <a:pt x="107103" y="166831"/>
                </a:cubicBezTo>
                <a:cubicBezTo>
                  <a:pt x="102662" y="170197"/>
                  <a:pt x="97219" y="171880"/>
                  <a:pt x="91669" y="171880"/>
                </a:cubicBezTo>
                <a:cubicBezTo>
                  <a:pt x="86119" y="171880"/>
                  <a:pt x="80640" y="170233"/>
                  <a:pt x="76236" y="166831"/>
                </a:cubicBezTo>
                <a:cubicBezTo>
                  <a:pt x="50096" y="146886"/>
                  <a:pt x="0" y="100227"/>
                  <a:pt x="0" y="60050"/>
                </a:cubicBezTo>
                <a:lnTo>
                  <a:pt x="0" y="59119"/>
                </a:lnTo>
                <a:cubicBezTo>
                  <a:pt x="0" y="32800"/>
                  <a:pt x="21342" y="11459"/>
                  <a:pt x="47661" y="11459"/>
                </a:cubicBezTo>
                <a:cubicBezTo>
                  <a:pt x="62951" y="11459"/>
                  <a:pt x="77346" y="18799"/>
                  <a:pt x="86298" y="31189"/>
                </a:cubicBezTo>
                <a:close/>
              </a:path>
            </a:pathLst>
          </a:custGeom>
          <a:solidFill>
            <a:srgbClr val="C9A36A"/>
          </a:solidFill>
          <a:ln/>
        </p:spPr>
      </p:sp>
      <p:sp>
        <p:nvSpPr>
          <p:cNvPr id="16" name="Text 13"/>
          <p:cNvSpPr/>
          <p:nvPr/>
        </p:nvSpPr>
        <p:spPr>
          <a:xfrm>
            <a:off x="5412707" y="6723934"/>
            <a:ext cx="1714214" cy="256674"/>
          </a:xfrm>
          <a:prstGeom prst="rect">
            <a:avLst/>
          </a:prstGeom>
          <a:noFill/>
          <a:ln/>
        </p:spPr>
        <p:txBody>
          <a:bodyPr wrap="square" lIns="0" tIns="0" rIns="0" bIns="0" rtlCol="0" anchor="ctr"/>
          <a:lstStyle/>
          <a:p>
            <a:pPr algn="ctr">
              <a:lnSpc>
                <a:spcPct val="130000"/>
              </a:lnSpc>
            </a:pPr>
            <a:r>
              <a:rPr lang="en-US" sz="1299" dirty="0">
                <a:solidFill>
                  <a:srgbClr val="A3A3A3"/>
                </a:solidFill>
                <a:latin typeface="Quattrocento Sans" pitchFamily="34" charset="0"/>
                <a:ea typeface="Quattrocento Sans" pitchFamily="34" charset="-122"/>
                <a:cs typeface="Quattrocento Sans" pitchFamily="34" charset="-120"/>
              </a:rPr>
              <a:t>134 Years of Inspiration</a:t>
            </a:r>
            <a:endParaRPr lang="en-US" sz="1600" dirty="0"/>
          </a:p>
        </p:txBody>
      </p:sp>
      <p:sp>
        <p:nvSpPr>
          <p:cNvPr id="17" name="Shape 14"/>
          <p:cNvSpPr/>
          <p:nvPr/>
        </p:nvSpPr>
        <p:spPr>
          <a:xfrm>
            <a:off x="7453062" y="6760602"/>
            <a:ext cx="229173" cy="183338"/>
          </a:xfrm>
          <a:custGeom>
            <a:avLst/>
            <a:gdLst/>
            <a:ahLst/>
            <a:cxnLst/>
            <a:rect l="l" t="t" r="r" b="b"/>
            <a:pathLst>
              <a:path w="229173" h="183338">
                <a:moveTo>
                  <a:pt x="0" y="91669"/>
                </a:moveTo>
                <a:cubicBezTo>
                  <a:pt x="0" y="60015"/>
                  <a:pt x="25639" y="34376"/>
                  <a:pt x="57293" y="34376"/>
                </a:cubicBezTo>
                <a:cubicBezTo>
                  <a:pt x="75341" y="34376"/>
                  <a:pt x="92314" y="42863"/>
                  <a:pt x="103128" y="57293"/>
                </a:cubicBezTo>
                <a:lnTo>
                  <a:pt x="114586" y="72583"/>
                </a:lnTo>
                <a:lnTo>
                  <a:pt x="126045" y="57293"/>
                </a:lnTo>
                <a:cubicBezTo>
                  <a:pt x="136859" y="42863"/>
                  <a:pt x="153832" y="34376"/>
                  <a:pt x="171880" y="34376"/>
                </a:cubicBezTo>
                <a:cubicBezTo>
                  <a:pt x="203534" y="34376"/>
                  <a:pt x="229173" y="60015"/>
                  <a:pt x="229173" y="91669"/>
                </a:cubicBezTo>
                <a:cubicBezTo>
                  <a:pt x="229173" y="123324"/>
                  <a:pt x="203534" y="148962"/>
                  <a:pt x="171880" y="148962"/>
                </a:cubicBezTo>
                <a:cubicBezTo>
                  <a:pt x="153832" y="148962"/>
                  <a:pt x="136859" y="140476"/>
                  <a:pt x="126045" y="126045"/>
                </a:cubicBezTo>
                <a:lnTo>
                  <a:pt x="114586" y="110755"/>
                </a:lnTo>
                <a:lnTo>
                  <a:pt x="103128" y="126045"/>
                </a:lnTo>
                <a:cubicBezTo>
                  <a:pt x="92314" y="140476"/>
                  <a:pt x="75341" y="148962"/>
                  <a:pt x="57293" y="148962"/>
                </a:cubicBezTo>
                <a:cubicBezTo>
                  <a:pt x="25639" y="148962"/>
                  <a:pt x="0" y="123324"/>
                  <a:pt x="0" y="91669"/>
                </a:cubicBezTo>
                <a:close/>
                <a:moveTo>
                  <a:pt x="100263" y="91669"/>
                </a:moveTo>
                <a:lnTo>
                  <a:pt x="84794" y="71044"/>
                </a:lnTo>
                <a:cubicBezTo>
                  <a:pt x="78313" y="62378"/>
                  <a:pt x="68107" y="57293"/>
                  <a:pt x="57293" y="57293"/>
                </a:cubicBezTo>
                <a:cubicBezTo>
                  <a:pt x="38315" y="57293"/>
                  <a:pt x="22917" y="72691"/>
                  <a:pt x="22917" y="91669"/>
                </a:cubicBezTo>
                <a:cubicBezTo>
                  <a:pt x="22917" y="110648"/>
                  <a:pt x="38315" y="126045"/>
                  <a:pt x="57293" y="126045"/>
                </a:cubicBezTo>
                <a:cubicBezTo>
                  <a:pt x="68107" y="126045"/>
                  <a:pt x="78313" y="120960"/>
                  <a:pt x="84794" y="112295"/>
                </a:cubicBezTo>
                <a:lnTo>
                  <a:pt x="100263" y="91669"/>
                </a:lnTo>
                <a:close/>
                <a:moveTo>
                  <a:pt x="128910" y="91669"/>
                </a:moveTo>
                <a:lnTo>
                  <a:pt x="144379" y="112295"/>
                </a:lnTo>
                <a:cubicBezTo>
                  <a:pt x="150860" y="120960"/>
                  <a:pt x="161066" y="126045"/>
                  <a:pt x="171880" y="126045"/>
                </a:cubicBezTo>
                <a:cubicBezTo>
                  <a:pt x="190858" y="126045"/>
                  <a:pt x="206256" y="110648"/>
                  <a:pt x="206256" y="91669"/>
                </a:cubicBezTo>
                <a:cubicBezTo>
                  <a:pt x="206256" y="72691"/>
                  <a:pt x="190858" y="57293"/>
                  <a:pt x="171880" y="57293"/>
                </a:cubicBezTo>
                <a:cubicBezTo>
                  <a:pt x="161066" y="57293"/>
                  <a:pt x="150860" y="62378"/>
                  <a:pt x="144379" y="71044"/>
                </a:cubicBezTo>
                <a:lnTo>
                  <a:pt x="128910" y="91669"/>
                </a:lnTo>
                <a:close/>
              </a:path>
            </a:pathLst>
          </a:custGeom>
          <a:solidFill>
            <a:srgbClr val="C9A36A"/>
          </a:solidFill>
          <a:ln/>
        </p:spPr>
      </p:sp>
      <p:sp>
        <p:nvSpPr>
          <p:cNvPr id="18" name="Text 15"/>
          <p:cNvSpPr/>
          <p:nvPr/>
        </p:nvSpPr>
        <p:spPr>
          <a:xfrm>
            <a:off x="7750987" y="6723934"/>
            <a:ext cx="1118364" cy="256674"/>
          </a:xfrm>
          <a:prstGeom prst="rect">
            <a:avLst/>
          </a:prstGeom>
          <a:noFill/>
          <a:ln/>
        </p:spPr>
        <p:txBody>
          <a:bodyPr wrap="square" lIns="0" tIns="0" rIns="0" bIns="0" rtlCol="0" anchor="ctr"/>
          <a:lstStyle/>
          <a:p>
            <a:pPr algn="ctr">
              <a:lnSpc>
                <a:spcPct val="130000"/>
              </a:lnSpc>
            </a:pPr>
            <a:r>
              <a:rPr lang="en-US" sz="1299" dirty="0">
                <a:solidFill>
                  <a:srgbClr val="A3A3A3"/>
                </a:solidFill>
                <a:latin typeface="Quattrocento Sans" pitchFamily="34" charset="0"/>
                <a:ea typeface="Quattrocento Sans" pitchFamily="34" charset="-122"/>
                <a:cs typeface="Quattrocento Sans" pitchFamily="34" charset="-120"/>
              </a:rPr>
              <a:t>Eternal Legacy</a:t>
            </a:r>
            <a:endParaRPr lang="en-US" sz="1600" dirty="0"/>
          </a:p>
        </p:txBody>
      </p:sp>
    </p:spTree>
  </p:cSld>
  <p:clrMapOvr>
    <a:masterClrMapping/>
  </p:clrMapOvr>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Vincent van Gogh: A Life of Passion and Color</dc:title>
  <dc:subject>Vincent van Gogh: A Life of Passion and Color</dc:subject>
  <dc:creator>Kimi</dc:creator>
  <cp:lastModifiedBy>Kimi</cp:lastModifiedBy>
  <cp:revision>1</cp:revision>
  <dcterms:created xsi:type="dcterms:W3CDTF">2026-03-18T09:17:45Z</dcterms:created>
  <dcterms:modified xsi:type="dcterms:W3CDTF">2026-03-18T09:17:45Z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{"Label":"Vincent van Gogh: A Life of Passion and Color","ContentProducer":"001191110108MACG2KBH8F10000","ProduceID":"19d001f9-a072-8573-8000-0000f311a15c","ReservedCode1":"","ContentPropagator":"001191110108MACG2KBH8F20000","PropagateID":"19d001f9-a072-8573-8000-0000f311a15c","ReservedCode2":""}</vt:lpwstr>
  </property>
</Properties>
</file>