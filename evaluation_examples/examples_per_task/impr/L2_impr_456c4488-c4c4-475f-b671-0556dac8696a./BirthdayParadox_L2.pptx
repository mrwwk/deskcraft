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41565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663303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 i="1">
                <a:solidFill>
                  <a:srgbClr val="86868B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Probability Theory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311003"/>
            <a:ext cx="66103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spc="-225" kern="0" dirty="0" i="1">
                <a:solidFill>
                  <a:srgbClr val="1D1D1D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The Birthday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spc="-225" kern="0" dirty="0" i="1">
                <a:solidFill>
                  <a:srgbClr val="1D1D1D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Paradox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787503"/>
            <a:ext cx="42672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 i="1">
                <a:solidFill>
                  <a:srgbClr val="86868B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When Probability Defies Intuition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244" y="6296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9613" y="62865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>
                <a:solidFill>
                  <a:srgbClr val="86868B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Mathematical Exploration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89250" y="6296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4050" y="62865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>
                <a:solidFill>
                  <a:srgbClr val="86868B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Probability &amp; Statistics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7145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2829" y="1790700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Birthday Paradox?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2829" y="22098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 that challenges our intuition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0" y="1714500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2264" y="17907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 Behind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2264" y="2209800"/>
            <a:ext cx="4486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 using complementary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1473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 Intuition Fails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1473" y="481965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 and cognitive biases at play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878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878" y="4819650"/>
            <a:ext cx="447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cryptography and beyond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665015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1988865"/>
            <a:ext cx="951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407965"/>
            <a:ext cx="99060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Paradox?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450035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33595" y="2476500"/>
            <a:ext cx="29337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Question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24038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many people must be in a room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there to be a greater than 50% chance that at least two of them share the same birthday?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Guess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919537"/>
            <a:ext cx="1838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9109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757738"/>
            <a:ext cx="5562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people assume you need about half the days in a year—seems logical, right?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6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3246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Answer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3919537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197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600" y="4757738"/>
            <a:ext cx="5562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 23 people gives you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probability of a shared birthday. This is why it's called a paradox.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6015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91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result seems wrong but is mathematically proven true.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Distribution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Probability Milestones</a:t>
            </a:r>
            <a:endParaRPr lang="en-US" sz="1600" dirty="0"/>
          </a:p>
        </p:txBody>
      </p:sp>
      <p:pic>
        <p:nvPicPr>
          <p:cNvPr id="4" name="Image 0" descr="https://kimi-img.moonshot.cn/pub/slides/26-03-18-15:50:06-d6t5ibkchmthi8jl2q0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219200"/>
            <a:ext cx="6115050" cy="52578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14170" y="1504950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3"/>
          <p:cNvSpPr/>
          <p:nvPr/>
        </p:nvSpPr>
        <p:spPr>
          <a:xfrm>
            <a:off x="7014195" y="15049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30033" y="1614488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14195" y="1924050"/>
            <a:ext cx="4943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14195" y="23050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50-50 threshold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14170" y="26479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Text 8"/>
          <p:cNvSpPr/>
          <p:nvPr/>
        </p:nvSpPr>
        <p:spPr>
          <a:xfrm>
            <a:off x="7014195" y="26479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79432" y="27479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4195" y="30289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70.6%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14170" y="35242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" name="Text 12"/>
          <p:cNvSpPr/>
          <p:nvPr/>
        </p:nvSpPr>
        <p:spPr>
          <a:xfrm>
            <a:off x="7014195" y="35242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75413" y="36242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14195" y="39052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4170" y="44005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Text 16"/>
          <p:cNvSpPr/>
          <p:nvPr/>
        </p:nvSpPr>
        <p:spPr>
          <a:xfrm>
            <a:off x="7014195" y="44005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81739" y="45005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14195" y="47815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99.2%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14170" y="5276850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Text 20"/>
          <p:cNvSpPr/>
          <p:nvPr/>
        </p:nvSpPr>
        <p:spPr>
          <a:xfrm>
            <a:off x="7014195" y="52768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39397" y="53768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14195" y="56578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14195" y="60007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Virtually guaranteed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7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631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Behind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88760" y="247650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52625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calculating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least one match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directly, we calculate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matches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subtract from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805113"/>
            <a:ext cx="4029075" cy="809625"/>
          </a:xfrm>
          <a:custGeom>
            <a:avLst/>
            <a:gdLst/>
            <a:ahLst/>
            <a:cxn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5325" y="3038475"/>
            <a:ext cx="3552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P(match) = 1 − P(no match)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are only two possibilities: either at least two people share a birthday, or everyone has unique birthdays.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are complementary events, so their probabilities must sum to 1 (or 100%).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865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Advantage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65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Calculating "no matches" is much easier because we can build it step by step, person by person.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65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sequential approach makes the complex problem tractable.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6286500"/>
            <a:ext cx="1126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complementary approach is a fundamental technique in probability theory.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Calculation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76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375" y="1571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1533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person enters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838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unique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365/365 =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22621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375" y="22574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2193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 person enters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5241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364/365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29479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375" y="29432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9051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Third person enters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32099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363/365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956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375" y="35909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368617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continues...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243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375" y="4238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4200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23rd person enters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4505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343/365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497205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" y="521017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Formula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000" y="55149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P(no match) = (365/365) × (364/365) × (363/365) × ... × (343/365)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1000" y="58959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P(at least one match) = 1 − 0.493 =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0.507 (50.7%)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Key Insight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of Combinations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95487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we're not making 23 comparisons. We're making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comparisons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—every possible pair of people.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86063"/>
            <a:ext cx="5514975" cy="1419225"/>
          </a:xfrm>
          <a:custGeom>
            <a:avLst/>
            <a:gdLst/>
            <a:ahLst/>
            <a:cxn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30194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of Pairs Formula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33242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C(n,2) = n × (n−1) /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37433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n = 23: 23 × 22 / 2 = 253 pairs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6025" y="19954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050" y="1995487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6964" y="209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6050" y="23764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6025" y="2833688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050" y="2833688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1888" y="2943225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6050" y="3252788"/>
            <a:ext cx="545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3633788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half the days in a year!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96025" y="39766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050" y="3976687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7268" y="4076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6050" y="43576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972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90525" y="52530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628650" y="5205413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crucial 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the probability for any single pair is low (1/365 ≈ 0.27%), having 253 chances makes a match likely. This is why combinations grow quadratically (n²), not linearly.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5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4405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 Fails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1645" y="2476500"/>
            <a:ext cx="32956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Bias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Self-Reference Trap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01930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naturally think about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"someone sharing MY birthday"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"any two people sharing a birthday."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subtle shift in perspective completely changes the mathematics.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A: Matching YOUR Birthday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person has a 1/365 chance of matching your specific birthday.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what our intuition expects—and it feels right.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B: Any Two People 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65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65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65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there are 253 unique pairs, each a potential match.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the actual birthday paradox—and it feels wrong.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psychological trap: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We're wired to think about ourselves as the reference point, not the entire group's pairwise combinations.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Limitation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 vs. Linear Thinking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6215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brains struggle with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expect probabilities to scale linearly, but combinations grow quadratically (n²).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Think (Linear)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47800" y="33051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3305175"/>
            <a:ext cx="895350" cy="76200"/>
          </a:xfrm>
          <a:custGeom>
            <a:avLst/>
            <a:gdLst/>
            <a:ahLst/>
            <a:cxn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3810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people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47800" y="36480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3648075"/>
            <a:ext cx="1781175" cy="76200"/>
          </a:xfrm>
          <a:custGeom>
            <a:avLst/>
            <a:gdLst/>
            <a:ahLst/>
            <a:cxn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" y="39147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people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47800" y="39909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3990975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" y="42957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intuition expects probability to increase proportionally with group size.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Actually Works (Quadratic)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65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3300" y="3305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3300" y="3305175"/>
            <a:ext cx="447675" cy="76200"/>
          </a:xfrm>
          <a:custGeom>
            <a:avLst/>
            <a:gdLst/>
            <a:ahLst/>
            <a:cxn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201400" y="32480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53300" y="36480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3300" y="3648075"/>
            <a:ext cx="1847850" cy="76200"/>
          </a:xfrm>
          <a:custGeom>
            <a:avLst/>
            <a:gdLst/>
            <a:ahLst/>
            <a:cxn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11201400" y="35909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0" y="3990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people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53300" y="4067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353300" y="4067175"/>
            <a:ext cx="3581400" cy="76200"/>
          </a:xfrm>
          <a:custGeom>
            <a:avLst/>
            <a:gdLst/>
            <a:ahLst/>
            <a:cxn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3914775"/>
            <a:ext cx="67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6500" y="44481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number of pairs explodes quadratically, making matches inevitable.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00538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528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650" y="5238750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effect: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new person doesn't just add one comparison—they add comparisons with everyone already in the room. This is why the probability curve rises so steeply.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6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53575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practice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3505" y="2476500"/>
            <a:ext cx="3286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Cryptography: The Birthday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49041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 isn't just a mathematical curiosity—it has serious implications for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security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5967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used to verify data integrity. Finding two inputs that produce the same hash (a collision) follows the same mathematics as the birthday paradox.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444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vulnerability is exploited in "birthday attacks" to forge digital signatures and compromise security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96025" y="1849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496050" y="1849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MD5 (128-bit)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6050" y="2115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2^64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6050" y="2458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96025" y="28015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6050" y="28015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SHA-1 (160-bit)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6050" y="30682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2^80 attempts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6050" y="34111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96025" y="3754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6050" y="3754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(256-bit)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4020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2^128 attempts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6050" y="4363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78750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381000" y="5020866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36376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Signatures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Attackers can forge signatures by finding colliding documents.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862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5148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672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data can be substituted without detection.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24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84010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Design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534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 need twice the expected bit length for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Broader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Practical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&amp;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Actuaries use similar probability models to assess risk pools and calculate premiums for group policies.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2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" name="Shape 7"/>
          <p:cNvSpPr/>
          <p:nvPr/>
        </p:nvSpPr>
        <p:spPr>
          <a:xfrm>
            <a:off x="4324350" y="208121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42672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Coincidences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672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explain why seemingly improbable coincidences happen more often than we expect in daily life.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19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34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to analyze audience overlap and optimize ad targeting across different platforms and campaigns.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37671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3810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Networks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4529138"/>
            <a:ext cx="3733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Powers friend suggestion algorithms by calculating the probability of shared connections in large networks.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72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24350" y="37671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42672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DNA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72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in forensic science to calculate the probability of DNA profile matches in large databases.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34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1975" y="3767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4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Sampling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34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Informs the design of statistical sampling methods and quality control processes in manufacturing.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principle: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mathematics of the birthday paradox appears wherever we need to understand collision probabilities in large sets.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62865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715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1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Number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needed for a 50.7% chance of a shared birthday—far fewer than intuition suggests.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93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7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Culprit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 arises from counting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possible pairs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(253 with 23 people), not just comparing to one person.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1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Intuition's Blind Spot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brains think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combinations grow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quadratically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underestimate exponential growth.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93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7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mathematics underlies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attacks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cryptography, affecting digital security worldwide.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34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" y="5867400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birthday paradox reminds us that intuition is a poor guide to probability."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6248400"/>
            <a:ext cx="773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A lesson in mathematical thinking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64279" y="59817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73804" y="6210300"/>
            <a:ext cx="173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Theory &amp;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Birthday Paradox</dc:title>
  <dc:subject>The Birthday Paradox</dc:subject>
  <dc:creator>Kimi</dc:creator>
  <cp:lastModifiedBy>Kimi</cp:lastModifiedBy>
  <cp:revision>1</cp:revision>
  <dcterms:created xsi:type="dcterms:W3CDTF">2026-03-18T07:50:35Z</dcterms:created>
  <dcterms:modified xsi:type="dcterms:W3CDTF">2026-03-18T07:50:35Z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</Properties>
</file>