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8-1.jpg" ContentType="image/jpg"/>
  <Override PartName="/ppt/media/image-20-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38726" y="2266950"/>
            <a:ext cx="914400" cy="19050"/>
          </a:xfrm>
          <a:custGeom>
            <a:avLst/>
            <a:gdLst/>
            <a:ahLst/>
            <a:cxnLst/>
            <a:rect l="l" t="t" r="r" b="b"/>
            <a:pathLst>
              <a:path w="914400" h="19050">
                <a:moveTo>
                  <a:pt x="0" y="0"/>
                </a:moveTo>
                <a:lnTo>
                  <a:pt x="914400" y="0"/>
                </a:lnTo>
                <a:lnTo>
                  <a:pt x="914400" y="19050"/>
                </a:lnTo>
                <a:lnTo>
                  <a:pt x="0" y="19050"/>
                </a:lnTo>
                <a:lnTo>
                  <a:pt x="0" y="0"/>
                </a:lnTo>
                <a:close/>
              </a:path>
            </a:pathLst>
          </a:custGeom>
          <a:solidFill>
            <a:srgbClr val="0984E3"/>
          </a:solidFill>
          <a:ln/>
        </p:spPr>
      </p:sp>
      <p:sp>
        <p:nvSpPr>
          <p:cNvPr id="3" name="Text 1"/>
          <p:cNvSpPr/>
          <p:nvPr/>
        </p:nvSpPr>
        <p:spPr>
          <a:xfrm>
            <a:off x="3633936" y="2514600"/>
            <a:ext cx="4924425" cy="914400"/>
          </a:xfrm>
          <a:prstGeom prst="rect">
            <a:avLst/>
          </a:prstGeom>
          <a:noFill/>
          <a:ln/>
        </p:spPr>
        <p:txBody>
          <a:bodyPr wrap="square" lIns="0" tIns="0" rIns="0" bIns="0" rtlCol="0" anchor="ctr"/>
          <a:lstStyle/>
          <a:p>
            <a:pPr algn="ctr">
              <a:lnSpc>
                <a:spcPct val="80000"/>
              </a:lnSpc>
            </a:pPr>
            <a:r>
              <a:rPr lang="en-US" sz="7200" b="1" spc="-180" kern="0" dirty="0">
                <a:solidFill>
                  <a:srgbClr val="2D3436"/>
                </a:solidFill>
                <a:latin typeface="Oranienbaum" pitchFamily="34" charset="0"/>
                <a:ea typeface="Oranienbaum" pitchFamily="34" charset="-122"/>
                <a:cs typeface="Oranienbaum" pitchFamily="34" charset="-120"/>
              </a:rPr>
              <a:t>Game Theory</a:t>
            </a:r>
            <a:endParaRPr lang="en-US" sz="1600" dirty="0"/>
          </a:p>
        </p:txBody>
      </p:sp>
      <p:sp>
        <p:nvSpPr>
          <p:cNvPr id="4" name="Shape 2"/>
          <p:cNvSpPr/>
          <p:nvPr/>
        </p:nvSpPr>
        <p:spPr>
          <a:xfrm>
            <a:off x="5638726" y="3657600"/>
            <a:ext cx="914400" cy="19050"/>
          </a:xfrm>
          <a:custGeom>
            <a:avLst/>
            <a:gdLst/>
            <a:ahLst/>
            <a:cxnLst/>
            <a:rect l="l" t="t" r="r" b="b"/>
            <a:pathLst>
              <a:path w="914400" h="19050">
                <a:moveTo>
                  <a:pt x="0" y="0"/>
                </a:moveTo>
                <a:lnTo>
                  <a:pt x="914400" y="0"/>
                </a:lnTo>
                <a:lnTo>
                  <a:pt x="914400" y="19050"/>
                </a:lnTo>
                <a:lnTo>
                  <a:pt x="0" y="19050"/>
                </a:lnTo>
                <a:lnTo>
                  <a:pt x="0" y="0"/>
                </a:lnTo>
                <a:close/>
              </a:path>
            </a:pathLst>
          </a:custGeom>
          <a:solidFill>
            <a:srgbClr val="0984E3"/>
          </a:solidFill>
          <a:ln/>
        </p:spPr>
      </p:sp>
      <p:sp>
        <p:nvSpPr>
          <p:cNvPr id="5" name="Text 3"/>
          <p:cNvSpPr/>
          <p:nvPr/>
        </p:nvSpPr>
        <p:spPr>
          <a:xfrm>
            <a:off x="3545681" y="4286250"/>
            <a:ext cx="5095875" cy="304800"/>
          </a:xfrm>
          <a:prstGeom prst="rect">
            <a:avLst/>
          </a:prstGeom>
          <a:noFill/>
          <a:ln/>
        </p:spPr>
        <p:txBody>
          <a:bodyPr wrap="square" lIns="0" tIns="0" rIns="0" bIns="0" rtlCol="0" anchor="ctr"/>
          <a:lstStyle/>
          <a:p>
            <a:pPr algn="ctr">
              <a:lnSpc>
                <a:spcPct val="110000"/>
              </a:lnSpc>
            </a:pPr>
            <a:r>
              <a:rPr lang="en-US" sz="1800" spc="45" kern="0" dirty="0">
                <a:solidFill>
                  <a:srgbClr val="636E72"/>
                </a:solidFill>
                <a:latin typeface="Liter" pitchFamily="34" charset="0"/>
                <a:ea typeface="Liter" pitchFamily="34" charset="-122"/>
                <a:cs typeface="Liter" pitchFamily="34" charset="-120"/>
              </a:rPr>
              <a:t>The Mathematics of Strategic Decision-Making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Contents</a:t>
            </a:r>
            <a:endParaRPr lang="en-US" sz="1600" dirty="0"/>
          </a:p>
        </p:txBody>
      </p:sp>
      <p:sp>
        <p:nvSpPr>
          <p:cNvPr id="3" name="Shape 1"/>
          <p:cNvSpPr/>
          <p:nvPr/>
        </p:nvSpPr>
        <p:spPr>
          <a:xfrm>
            <a:off x="381000" y="952500"/>
            <a:ext cx="762000" cy="19050"/>
          </a:xfrm>
          <a:custGeom>
            <a:avLst/>
            <a:gdLst/>
            <a:ahLst/>
            <a:cxnLst/>
            <a:rect l="l" t="t" r="r" b="b"/>
            <a:pathLst>
              <a:path w="762000" h="19050">
                <a:moveTo>
                  <a:pt x="0" y="0"/>
                </a:moveTo>
                <a:lnTo>
                  <a:pt x="762000" y="0"/>
                </a:lnTo>
                <a:lnTo>
                  <a:pt x="762000" y="19050"/>
                </a:lnTo>
                <a:lnTo>
                  <a:pt x="0" y="19050"/>
                </a:lnTo>
                <a:lnTo>
                  <a:pt x="0" y="0"/>
                </a:lnTo>
                <a:close/>
              </a:path>
            </a:pathLst>
          </a:custGeom>
          <a:solidFill>
            <a:srgbClr val="0984E3"/>
          </a:solidFill>
          <a:ln/>
        </p:spPr>
      </p:sp>
      <p:sp>
        <p:nvSpPr>
          <p:cNvPr id="4" name="Text 2"/>
          <p:cNvSpPr/>
          <p:nvPr/>
        </p:nvSpPr>
        <p:spPr>
          <a:xfrm>
            <a:off x="381000" y="1428750"/>
            <a:ext cx="75247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01</a:t>
            </a:r>
            <a:endParaRPr lang="en-US" sz="1600" dirty="0"/>
          </a:p>
        </p:txBody>
      </p:sp>
      <p:sp>
        <p:nvSpPr>
          <p:cNvPr id="5" name="Text 3"/>
          <p:cNvSpPr/>
          <p:nvPr/>
        </p:nvSpPr>
        <p:spPr>
          <a:xfrm>
            <a:off x="1034430" y="1504950"/>
            <a:ext cx="41910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Introduction to Game Theory</a:t>
            </a:r>
            <a:endParaRPr lang="en-US" sz="1600" dirty="0"/>
          </a:p>
        </p:txBody>
      </p:sp>
      <p:sp>
        <p:nvSpPr>
          <p:cNvPr id="6" name="Text 4"/>
          <p:cNvSpPr/>
          <p:nvPr/>
        </p:nvSpPr>
        <p:spPr>
          <a:xfrm>
            <a:off x="1034430" y="1885950"/>
            <a:ext cx="4162425"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Defining the mathematical study of strategic interaction</a:t>
            </a:r>
            <a:endParaRPr lang="en-US" sz="1600" dirty="0"/>
          </a:p>
        </p:txBody>
      </p:sp>
      <p:sp>
        <p:nvSpPr>
          <p:cNvPr id="7" name="Text 5"/>
          <p:cNvSpPr/>
          <p:nvPr/>
        </p:nvSpPr>
        <p:spPr>
          <a:xfrm>
            <a:off x="6400800" y="1428750"/>
            <a:ext cx="857250"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02</a:t>
            </a:r>
            <a:endParaRPr lang="en-US" sz="1600" dirty="0"/>
          </a:p>
        </p:txBody>
      </p:sp>
      <p:sp>
        <p:nvSpPr>
          <p:cNvPr id="8" name="Text 6"/>
          <p:cNvSpPr/>
          <p:nvPr/>
        </p:nvSpPr>
        <p:spPr>
          <a:xfrm>
            <a:off x="7159972" y="1504950"/>
            <a:ext cx="47625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Historical Foundations</a:t>
            </a:r>
            <a:endParaRPr lang="en-US" sz="1600" dirty="0"/>
          </a:p>
        </p:txBody>
      </p:sp>
      <p:sp>
        <p:nvSpPr>
          <p:cNvPr id="9" name="Text 7"/>
          <p:cNvSpPr/>
          <p:nvPr/>
        </p:nvSpPr>
        <p:spPr>
          <a:xfrm>
            <a:off x="7159972" y="1885950"/>
            <a:ext cx="4733925" cy="56197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From von Neumann to Nash: The evolution of strategic thinking</a:t>
            </a:r>
            <a:endParaRPr lang="en-US" sz="1600" dirty="0"/>
          </a:p>
        </p:txBody>
      </p:sp>
      <p:sp>
        <p:nvSpPr>
          <p:cNvPr id="10" name="Text 8"/>
          <p:cNvSpPr/>
          <p:nvPr/>
        </p:nvSpPr>
        <p:spPr>
          <a:xfrm>
            <a:off x="381000" y="2824163"/>
            <a:ext cx="857250"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03</a:t>
            </a:r>
            <a:endParaRPr lang="en-US" sz="1600" dirty="0"/>
          </a:p>
        </p:txBody>
      </p:sp>
      <p:sp>
        <p:nvSpPr>
          <p:cNvPr id="11" name="Text 9"/>
          <p:cNvSpPr/>
          <p:nvPr/>
        </p:nvSpPr>
        <p:spPr>
          <a:xfrm>
            <a:off x="1143000" y="2900363"/>
            <a:ext cx="397192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Core Concepts &amp; Mathematical Framework</a:t>
            </a:r>
            <a:endParaRPr lang="en-US" sz="1600" dirty="0"/>
          </a:p>
        </p:txBody>
      </p:sp>
      <p:sp>
        <p:nvSpPr>
          <p:cNvPr id="12" name="Text 10"/>
          <p:cNvSpPr/>
          <p:nvPr/>
        </p:nvSpPr>
        <p:spPr>
          <a:xfrm>
            <a:off x="1143000" y="3281363"/>
            <a:ext cx="394335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The essential building blocks of strategic analysis</a:t>
            </a:r>
            <a:endParaRPr lang="en-US" sz="1600" dirty="0"/>
          </a:p>
        </p:txBody>
      </p:sp>
      <p:sp>
        <p:nvSpPr>
          <p:cNvPr id="13" name="Text 11"/>
          <p:cNvSpPr/>
          <p:nvPr/>
        </p:nvSpPr>
        <p:spPr>
          <a:xfrm>
            <a:off x="6400800" y="2824163"/>
            <a:ext cx="88582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04</a:t>
            </a:r>
            <a:endParaRPr lang="en-US" sz="1600" dirty="0"/>
          </a:p>
        </p:txBody>
      </p:sp>
      <p:sp>
        <p:nvSpPr>
          <p:cNvPr id="14" name="Text 12"/>
          <p:cNvSpPr/>
          <p:nvPr/>
        </p:nvSpPr>
        <p:spPr>
          <a:xfrm>
            <a:off x="7188547" y="2900363"/>
            <a:ext cx="2476500"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Types of Games</a:t>
            </a:r>
            <a:endParaRPr lang="en-US" sz="1600" dirty="0"/>
          </a:p>
        </p:txBody>
      </p:sp>
      <p:sp>
        <p:nvSpPr>
          <p:cNvPr id="15" name="Text 13"/>
          <p:cNvSpPr/>
          <p:nvPr/>
        </p:nvSpPr>
        <p:spPr>
          <a:xfrm>
            <a:off x="7188547" y="3281363"/>
            <a:ext cx="2447925"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Classifying strategic interactions</a:t>
            </a:r>
            <a:endParaRPr lang="en-US" sz="1600" dirty="0"/>
          </a:p>
        </p:txBody>
      </p:sp>
      <p:sp>
        <p:nvSpPr>
          <p:cNvPr id="16" name="Text 14"/>
          <p:cNvSpPr/>
          <p:nvPr/>
        </p:nvSpPr>
        <p:spPr>
          <a:xfrm>
            <a:off x="381000" y="3940969"/>
            <a:ext cx="84772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05</a:t>
            </a:r>
            <a:endParaRPr lang="en-US" sz="1600" dirty="0"/>
          </a:p>
        </p:txBody>
      </p:sp>
      <p:sp>
        <p:nvSpPr>
          <p:cNvPr id="17" name="Text 15"/>
          <p:cNvSpPr/>
          <p:nvPr/>
        </p:nvSpPr>
        <p:spPr>
          <a:xfrm>
            <a:off x="1137345" y="4017169"/>
            <a:ext cx="286702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Classic Game Models</a:t>
            </a:r>
            <a:endParaRPr lang="en-US" sz="1600" dirty="0"/>
          </a:p>
        </p:txBody>
      </p:sp>
      <p:sp>
        <p:nvSpPr>
          <p:cNvPr id="18" name="Text 16"/>
          <p:cNvSpPr/>
          <p:nvPr/>
        </p:nvSpPr>
        <p:spPr>
          <a:xfrm>
            <a:off x="1137345" y="4398169"/>
            <a:ext cx="283845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Iconic examples that shaped the field</a:t>
            </a:r>
            <a:endParaRPr lang="en-US" sz="1600" dirty="0"/>
          </a:p>
        </p:txBody>
      </p:sp>
      <p:sp>
        <p:nvSpPr>
          <p:cNvPr id="19" name="Text 17"/>
          <p:cNvSpPr/>
          <p:nvPr/>
        </p:nvSpPr>
        <p:spPr>
          <a:xfrm>
            <a:off x="6400800" y="3940969"/>
            <a:ext cx="866775" cy="571500"/>
          </a:xfrm>
          <a:prstGeom prst="rect">
            <a:avLst/>
          </a:prstGeom>
          <a:noFill/>
          <a:ln/>
        </p:spPr>
        <p:txBody>
          <a:bodyPr wrap="square" lIns="0" tIns="0" rIns="0" bIns="0" rtlCol="0" anchor="ctr"/>
          <a:lstStyle/>
          <a:p>
            <a:pPr>
              <a:lnSpc>
                <a:spcPct val="80000"/>
              </a:lnSpc>
            </a:pPr>
            <a:r>
              <a:rPr lang="en-US" sz="4500" b="1" dirty="0">
                <a:solidFill>
                  <a:srgbClr val="0984E3">
                    <a:alpha val="20000"/>
                  </a:srgbClr>
                </a:solidFill>
                <a:latin typeface="Oranienbaum" pitchFamily="34" charset="0"/>
                <a:ea typeface="Oranienbaum" pitchFamily="34" charset="-122"/>
                <a:cs typeface="Oranienbaum" pitchFamily="34" charset="-120"/>
              </a:rPr>
              <a:t>06</a:t>
            </a:r>
            <a:endParaRPr lang="en-US" sz="1600" dirty="0"/>
          </a:p>
        </p:txBody>
      </p:sp>
      <p:sp>
        <p:nvSpPr>
          <p:cNvPr id="20" name="Text 18"/>
          <p:cNvSpPr/>
          <p:nvPr/>
        </p:nvSpPr>
        <p:spPr>
          <a:xfrm>
            <a:off x="7171432" y="4017169"/>
            <a:ext cx="30765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Real-World Applications</a:t>
            </a:r>
            <a:endParaRPr lang="en-US" sz="1600" dirty="0"/>
          </a:p>
        </p:txBody>
      </p:sp>
      <p:sp>
        <p:nvSpPr>
          <p:cNvPr id="21" name="Text 19"/>
          <p:cNvSpPr/>
          <p:nvPr/>
        </p:nvSpPr>
        <p:spPr>
          <a:xfrm>
            <a:off x="7171432" y="4398169"/>
            <a:ext cx="3048000" cy="276225"/>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Game theory in action across disciplines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01</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Introduction to</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Game Theory</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Defining the mathematical study of strategic interaction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i="1">
                <a:solidFill>
                  <a:srgbClr val="00008B"/>
                </a:solidFill>
                <a:latin typeface="Quattrocento Sans" pitchFamily="34" charset="0"/>
                <a:ea typeface="Quattrocento Sans" pitchFamily="34" charset="-122"/>
                <a:cs typeface="Quattrocento Sans" pitchFamily="34" charset="-120"/>
              </a:rPr>
              <a:t>INTRODUCTION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i="1">
                <a:solidFill>
                  <a:srgbClr val="00008B"/>
                </a:solidFill>
                <a:latin typeface="Oranienbaum" pitchFamily="34" charset="0"/>
                <a:ea typeface="Oranienbaum" pitchFamily="34" charset="-122"/>
                <a:cs typeface="Oranienbaum" pitchFamily="34" charset="-120"/>
              </a:rPr>
              <a:t>What is Game Theory?</a:t>
            </a:r>
            <a:endParaRPr lang="en-US" sz="1600" dirty="0"/>
          </a:p>
        </p:txBody>
      </p:sp>
      <p:sp>
        <p:nvSpPr>
          <p:cNvPr id="4" name="Text 2"/>
          <p:cNvSpPr/>
          <p:nvPr/>
        </p:nvSpPr>
        <p:spPr>
          <a:xfrm>
            <a:off x="381000" y="1371600"/>
            <a:ext cx="6829425" cy="1238250"/>
          </a:xfrm>
          <a:prstGeom prst="rect">
            <a:avLst/>
          </a:prstGeom>
          <a:noFill/>
          <a:ln/>
        </p:spPr>
        <p:txBody>
          <a:bodyPr wrap="square" lIns="0" tIns="0" rIns="0" bIns="0" rtlCol="0" anchor="ctr"/>
          <a:lstStyle/>
          <a:p>
            <a:pPr>
              <a:lnSpc>
                <a:spcPct val="140000"/>
              </a:lnSpc>
            </a:pPr>
            <a:r>
              <a:rPr lang="en-US" sz="1500" b="1" dirty="0" i="1">
                <a:solidFill>
                  <a:srgbClr val="00008B"/>
                </a:solidFill>
                <a:latin typeface="Quattrocento Sans" pitchFamily="34" charset="0"/>
                <a:ea typeface="Quattrocento Sans" pitchFamily="34" charset="-122"/>
                <a:cs typeface="Quattrocento Sans" pitchFamily="34" charset="-120"/>
              </a:rPr>
              <a:t>Game theory is a mathematical framework for analyzing strategic interactions among rational decision-makers.</a:t>
            </a:r>
            <a:pPr>
              <a:lnSpc>
                <a:spcPct val="140000"/>
              </a:lnSpc>
            </a:pPr>
            <a:r>
              <a:rPr lang="en-US" sz="1500" dirty="0" i="1">
                <a:solidFill>
                  <a:srgbClr val="00008B"/>
                </a:solidFill>
                <a:latin typeface="Quattrocento Sans" pitchFamily="34" charset="0"/>
                <a:ea typeface="Quattrocento Sans" pitchFamily="34" charset="-122"/>
                <a:cs typeface="Quattrocento Sans" pitchFamily="34" charset="-120"/>
              </a:rPr>
              <a:t> It provides a structured approach to understanding how individuals or groups make decisions in situations where the outcome depends on the choices of multiple participants.</a:t>
            </a:r>
            <a:endParaRPr lang="en-US" sz="1600" dirty="0"/>
          </a:p>
        </p:txBody>
      </p:sp>
      <p:sp>
        <p:nvSpPr>
          <p:cNvPr id="5" name="Text 3"/>
          <p:cNvSpPr/>
          <p:nvPr/>
        </p:nvSpPr>
        <p:spPr>
          <a:xfrm>
            <a:off x="381000" y="2838450"/>
            <a:ext cx="6819900" cy="1114425"/>
          </a:xfrm>
          <a:prstGeom prst="rect">
            <a:avLst/>
          </a:prstGeom>
          <a:noFill/>
          <a:ln/>
        </p:spPr>
        <p:txBody>
          <a:bodyPr wrap="square" lIns="0" tIns="0" rIns="0" bIns="0" rtlCol="0" anchor="ctr"/>
          <a:lstStyle/>
          <a:p>
            <a:pPr>
              <a:lnSpc>
                <a:spcPct val="140000"/>
              </a:lnSpc>
            </a:pPr>
            <a:r>
              <a:rPr lang="en-US" sz="1350" dirty="0" i="1">
                <a:solidFill>
                  <a:srgbClr val="00008B"/>
                </a:solidFill>
                <a:latin typeface="Quattrocento Sans" pitchFamily="34" charset="0"/>
                <a:ea typeface="Quattrocento Sans" pitchFamily="34" charset="-122"/>
                <a:cs typeface="Quattrocento Sans" pitchFamily="34" charset="-120"/>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lang="en-US" sz="1600" dirty="0"/>
          </a:p>
        </p:txBody>
      </p:sp>
      <p:sp>
        <p:nvSpPr>
          <p:cNvPr id="6" name="Shape 4"/>
          <p:cNvSpPr/>
          <p:nvPr/>
        </p:nvSpPr>
        <p:spPr>
          <a:xfrm>
            <a:off x="400050" y="4986338"/>
            <a:ext cx="6715125" cy="1362075"/>
          </a:xfrm>
          <a:custGeom>
            <a:avLst/>
            <a:gdLst/>
            <a:ahLst/>
            <a:cxnLst/>
            <a:rect l="l" t="t" r="r" b="b"/>
            <a:pathLst>
              <a:path w="6715125" h="1362075">
                <a:moveTo>
                  <a:pt x="0" y="0"/>
                </a:moveTo>
                <a:lnTo>
                  <a:pt x="6715125" y="0"/>
                </a:lnTo>
                <a:lnTo>
                  <a:pt x="6715125" y="1362075"/>
                </a:lnTo>
                <a:lnTo>
                  <a:pt x="0" y="1362075"/>
                </a:lnTo>
                <a:lnTo>
                  <a:pt x="0" y="0"/>
                </a:lnTo>
                <a:close/>
              </a:path>
            </a:pathLst>
          </a:custGeom>
          <a:solidFill>
            <a:srgbClr val="F8F9FA"/>
          </a:solidFill>
          <a:ln/>
        </p:spPr>
        <p:txBody>
          <a:bodyPr/>
          <a:p/>
        </p:txBody>
      </p:sp>
      <p:sp>
        <p:nvSpPr>
          <p:cNvPr id="7" name="Shape 5"/>
          <p:cNvSpPr/>
          <p:nvPr/>
        </p:nvSpPr>
        <p:spPr>
          <a:xfrm>
            <a:off x="400050" y="4986338"/>
            <a:ext cx="38100" cy="1362075"/>
          </a:xfrm>
          <a:custGeom>
            <a:avLst/>
            <a:gdLst/>
            <a:ahLst/>
            <a:cxnLst/>
            <a:rect l="l" t="t" r="r" b="b"/>
            <a:pathLst>
              <a:path w="38100" h="1362075">
                <a:moveTo>
                  <a:pt x="0" y="0"/>
                </a:moveTo>
                <a:lnTo>
                  <a:pt x="38100" y="0"/>
                </a:lnTo>
                <a:lnTo>
                  <a:pt x="38100" y="1362075"/>
                </a:lnTo>
                <a:lnTo>
                  <a:pt x="0" y="1362075"/>
                </a:lnTo>
                <a:lnTo>
                  <a:pt x="0" y="0"/>
                </a:lnTo>
                <a:close/>
              </a:path>
            </a:pathLst>
          </a:custGeom>
          <a:solidFill>
            <a:srgbClr val="0984E3"/>
          </a:solidFill>
          <a:ln/>
        </p:spPr>
        <p:txBody>
          <a:bodyPr/>
          <a:p/>
        </p:txBody>
      </p:sp>
      <p:sp>
        <p:nvSpPr>
          <p:cNvPr id="8" name="Text 6"/>
          <p:cNvSpPr/>
          <p:nvPr/>
        </p:nvSpPr>
        <p:spPr>
          <a:xfrm>
            <a:off x="647700" y="5214938"/>
            <a:ext cx="6324600" cy="561975"/>
          </a:xfrm>
          <a:prstGeom prst="rect">
            <a:avLst/>
          </a:prstGeom>
          <a:noFill/>
          <a:ln/>
        </p:spPr>
        <p:txBody>
          <a:bodyPr wrap="square" lIns="0" tIns="0" rIns="0" bIns="0" rtlCol="0" anchor="ctr"/>
          <a:lstStyle/>
          <a:p>
            <a:pPr>
              <a:lnSpc>
                <a:spcPct val="140000"/>
              </a:lnSpc>
            </a:pPr>
            <a:r>
              <a:rPr lang="en-US" sz="1350" dirty="0" i="1">
                <a:solidFill>
                  <a:srgbClr val="00008B"/>
                </a:solidFill>
                <a:latin typeface="Quattrocento Sans" pitchFamily="34" charset="0"/>
                <a:ea typeface="Quattrocento Sans" pitchFamily="34" charset="-122"/>
                <a:cs typeface="Quattrocento Sans" pitchFamily="34" charset="-120"/>
              </a:rPr>
              <a:t>"Game theory is the study of mathematical models of strategic interaction among rational decision-makers."</a:t>
            </a:r>
            <a:endParaRPr lang="en-US" sz="1600" dirty="0"/>
          </a:p>
        </p:txBody>
      </p:sp>
      <p:sp>
        <p:nvSpPr>
          <p:cNvPr id="9" name="Text 7"/>
          <p:cNvSpPr/>
          <p:nvPr/>
        </p:nvSpPr>
        <p:spPr>
          <a:xfrm>
            <a:off x="647700" y="5886450"/>
            <a:ext cx="6315075" cy="228600"/>
          </a:xfrm>
          <a:prstGeom prst="rect">
            <a:avLst/>
          </a:prstGeom>
          <a:noFill/>
          <a:ln/>
        </p:spPr>
        <p:txBody>
          <a:bodyPr wrap="square" lIns="0" tIns="0" rIns="0" bIns="0" rtlCol="0" anchor="ctr"/>
          <a:lstStyle/>
          <a:p>
            <a:pPr>
              <a:lnSpc>
                <a:spcPct val="130000"/>
              </a:lnSpc>
            </a:pPr>
            <a:r>
              <a:rPr lang="en-US" sz="1200" dirty="0" i="1">
                <a:solidFill>
                  <a:srgbClr val="00008B"/>
                </a:solidFill>
                <a:latin typeface="Quattrocento Sans" pitchFamily="34" charset="0"/>
                <a:ea typeface="Quattrocento Sans" pitchFamily="34" charset="-122"/>
                <a:cs typeface="Quattrocento Sans" pitchFamily="34" charset="-120"/>
              </a:rPr>
              <a:t>— Roger Myerson, Nobel Laureate 2007</a:t>
            </a:r>
            <a:endParaRPr lang="en-US" sz="1600" dirty="0"/>
          </a:p>
        </p:txBody>
      </p:sp>
      <p:sp>
        <p:nvSpPr>
          <p:cNvPr id="10" name="Shape 8"/>
          <p:cNvSpPr/>
          <p:nvPr/>
        </p:nvSpPr>
        <p:spPr>
          <a:xfrm>
            <a:off x="7426598" y="137636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txBody>
          <a:bodyPr/>
          <a:p/>
        </p:txBody>
      </p:sp>
      <p:sp>
        <p:nvSpPr>
          <p:cNvPr id="11" name="Shape 9"/>
          <p:cNvSpPr/>
          <p:nvPr/>
        </p:nvSpPr>
        <p:spPr>
          <a:xfrm>
            <a:off x="7659960" y="16097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txBody>
          <a:bodyPr/>
          <a:p/>
        </p:txBody>
      </p:sp>
      <p:sp>
        <p:nvSpPr>
          <p:cNvPr id="12" name="Shape 10"/>
          <p:cNvSpPr/>
          <p:nvPr/>
        </p:nvSpPr>
        <p:spPr>
          <a:xfrm>
            <a:off x="7745685" y="1714500"/>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p:spPr>
        <p:txBody>
          <a:bodyPr/>
          <a:p/>
        </p:txBody>
      </p:sp>
      <p:sp>
        <p:nvSpPr>
          <p:cNvPr id="13" name="Text 11"/>
          <p:cNvSpPr/>
          <p:nvPr/>
        </p:nvSpPr>
        <p:spPr>
          <a:xfrm>
            <a:off x="8155260" y="1666875"/>
            <a:ext cx="638175" cy="266700"/>
          </a:xfrm>
          <a:prstGeom prst="rect">
            <a:avLst/>
          </a:prstGeom>
          <a:noFill/>
          <a:ln/>
        </p:spPr>
        <p:txBody>
          <a:bodyPr wrap="square" lIns="0" tIns="0" rIns="0" bIns="0" rtlCol="0" anchor="ctr"/>
          <a:lstStyle/>
          <a:p>
            <a:pPr>
              <a:lnSpc>
                <a:spcPct val="120000"/>
              </a:lnSpc>
            </a:pPr>
            <a:r>
              <a:rPr lang="en-US" sz="1500" b="1" dirty="0" i="1">
                <a:solidFill>
                  <a:srgbClr val="00008B"/>
                </a:solidFill>
                <a:latin typeface="Oranienbaum" pitchFamily="34" charset="0"/>
                <a:ea typeface="Oranienbaum" pitchFamily="34" charset="-122"/>
                <a:cs typeface="Oranienbaum" pitchFamily="34" charset="-120"/>
              </a:rPr>
              <a:t>Players</a:t>
            </a:r>
            <a:endParaRPr lang="en-US" sz="1600" dirty="0"/>
          </a:p>
        </p:txBody>
      </p:sp>
      <p:sp>
        <p:nvSpPr>
          <p:cNvPr id="14" name="Text 12"/>
          <p:cNvSpPr/>
          <p:nvPr/>
        </p:nvSpPr>
        <p:spPr>
          <a:xfrm>
            <a:off x="7659960" y="2143125"/>
            <a:ext cx="3990975" cy="495300"/>
          </a:xfrm>
          <a:prstGeom prst="rect">
            <a:avLst/>
          </a:prstGeom>
          <a:noFill/>
          <a:ln/>
        </p:spPr>
        <p:txBody>
          <a:bodyPr wrap="square" lIns="0" tIns="0" rIns="0" bIns="0" rtlCol="0" anchor="ctr"/>
          <a:lstStyle/>
          <a:p>
            <a:pPr>
              <a:lnSpc>
                <a:spcPct val="140000"/>
              </a:lnSpc>
            </a:pPr>
            <a:r>
              <a:rPr lang="en-US" sz="1200" dirty="0" i="1">
                <a:solidFill>
                  <a:srgbClr val="00008B"/>
                </a:solidFill>
                <a:latin typeface="Quattrocento Sans" pitchFamily="34" charset="0"/>
                <a:ea typeface="Quattrocento Sans" pitchFamily="34" charset="-122"/>
                <a:cs typeface="Quattrocento Sans" pitchFamily="34" charset="-120"/>
              </a:rPr>
              <a:t>Decision-makers whose choices influence outcomes. Games may involve two players or many.</a:t>
            </a:r>
            <a:endParaRPr lang="en-US" sz="1600" dirty="0"/>
          </a:p>
        </p:txBody>
      </p:sp>
      <p:sp>
        <p:nvSpPr>
          <p:cNvPr id="15" name="Shape 13"/>
          <p:cNvSpPr/>
          <p:nvPr/>
        </p:nvSpPr>
        <p:spPr>
          <a:xfrm>
            <a:off x="7426598" y="310991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txBody>
          <a:bodyPr/>
          <a:p/>
        </p:txBody>
      </p:sp>
      <p:sp>
        <p:nvSpPr>
          <p:cNvPr id="16" name="Shape 14"/>
          <p:cNvSpPr/>
          <p:nvPr/>
        </p:nvSpPr>
        <p:spPr>
          <a:xfrm>
            <a:off x="7659960" y="334327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txBody>
          <a:bodyPr/>
          <a:p/>
        </p:txBody>
      </p:sp>
      <p:sp>
        <p:nvSpPr>
          <p:cNvPr id="17" name="Shape 15"/>
          <p:cNvSpPr/>
          <p:nvPr/>
        </p:nvSpPr>
        <p:spPr>
          <a:xfrm>
            <a:off x="7767117" y="3448050"/>
            <a:ext cx="171450" cy="171450"/>
          </a:xfrm>
          <a:custGeom>
            <a:avLst/>
            <a:gdLst/>
            <a:ahLst/>
            <a:cxn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p:spPr>
        <p:txBody>
          <a:bodyPr/>
          <a:p/>
        </p:txBody>
      </p:sp>
      <p:sp>
        <p:nvSpPr>
          <p:cNvPr id="18" name="Text 16"/>
          <p:cNvSpPr/>
          <p:nvPr/>
        </p:nvSpPr>
        <p:spPr>
          <a:xfrm>
            <a:off x="8155260" y="3400425"/>
            <a:ext cx="866775" cy="266700"/>
          </a:xfrm>
          <a:prstGeom prst="rect">
            <a:avLst/>
          </a:prstGeom>
          <a:noFill/>
          <a:ln/>
        </p:spPr>
        <p:txBody>
          <a:bodyPr wrap="square" lIns="0" tIns="0" rIns="0" bIns="0" rtlCol="0" anchor="ctr"/>
          <a:lstStyle/>
          <a:p>
            <a:pPr>
              <a:lnSpc>
                <a:spcPct val="120000"/>
              </a:lnSpc>
            </a:pPr>
            <a:r>
              <a:rPr lang="en-US" sz="1500" b="1" dirty="0" i="1">
                <a:solidFill>
                  <a:srgbClr val="00008B"/>
                </a:solidFill>
                <a:latin typeface="Oranienbaum" pitchFamily="34" charset="0"/>
                <a:ea typeface="Oranienbaum" pitchFamily="34" charset="-122"/>
                <a:cs typeface="Oranienbaum" pitchFamily="34" charset="-120"/>
              </a:rPr>
              <a:t>Strategies</a:t>
            </a:r>
            <a:endParaRPr lang="en-US" sz="1600" dirty="0"/>
          </a:p>
        </p:txBody>
      </p:sp>
      <p:sp>
        <p:nvSpPr>
          <p:cNvPr id="19" name="Text 17"/>
          <p:cNvSpPr/>
          <p:nvPr/>
        </p:nvSpPr>
        <p:spPr>
          <a:xfrm>
            <a:off x="7659960" y="3876675"/>
            <a:ext cx="3990975" cy="495300"/>
          </a:xfrm>
          <a:prstGeom prst="rect">
            <a:avLst/>
          </a:prstGeom>
          <a:noFill/>
          <a:ln/>
        </p:spPr>
        <p:txBody>
          <a:bodyPr wrap="square" lIns="0" tIns="0" rIns="0" bIns="0" rtlCol="0" anchor="ctr"/>
          <a:lstStyle/>
          <a:p>
            <a:pPr>
              <a:lnSpc>
                <a:spcPct val="140000"/>
              </a:lnSpc>
            </a:pPr>
            <a:r>
              <a:rPr lang="en-US" sz="1200" dirty="0" i="1">
                <a:solidFill>
                  <a:srgbClr val="00008B"/>
                </a:solidFill>
                <a:latin typeface="Quattrocento Sans" pitchFamily="34" charset="0"/>
                <a:ea typeface="Quattrocento Sans" pitchFamily="34" charset="-122"/>
                <a:cs typeface="Quattrocento Sans" pitchFamily="34" charset="-120"/>
              </a:rPr>
              <a:t>Complete plans of action available to each player, specifying choices at every decision point.</a:t>
            </a:r>
            <a:endParaRPr lang="en-US" sz="1600" dirty="0"/>
          </a:p>
        </p:txBody>
      </p:sp>
      <p:sp>
        <p:nvSpPr>
          <p:cNvPr id="20" name="Shape 18"/>
          <p:cNvSpPr/>
          <p:nvPr/>
        </p:nvSpPr>
        <p:spPr>
          <a:xfrm>
            <a:off x="7426598" y="4843463"/>
            <a:ext cx="4381500" cy="1495425"/>
          </a:xfrm>
          <a:custGeom>
            <a:avLst/>
            <a:gdLst/>
            <a:ahLst/>
            <a:cxn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prstDash val="solid"/>
          </a:ln>
        </p:spPr>
        <p:txBody>
          <a:bodyPr/>
          <a:p/>
        </p:txBody>
      </p:sp>
      <p:sp>
        <p:nvSpPr>
          <p:cNvPr id="21" name="Shape 19"/>
          <p:cNvSpPr/>
          <p:nvPr/>
        </p:nvSpPr>
        <p:spPr>
          <a:xfrm>
            <a:off x="7659960" y="50768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0984E3"/>
          </a:solidFill>
          <a:ln/>
        </p:spPr>
        <p:txBody>
          <a:bodyPr/>
          <a:p/>
        </p:txBody>
      </p:sp>
      <p:sp>
        <p:nvSpPr>
          <p:cNvPr id="22" name="Shape 20"/>
          <p:cNvSpPr/>
          <p:nvPr/>
        </p:nvSpPr>
        <p:spPr>
          <a:xfrm>
            <a:off x="7767117" y="5181600"/>
            <a:ext cx="171450" cy="171450"/>
          </a:xfrm>
          <a:custGeom>
            <a:avLst/>
            <a:gdLst/>
            <a:ahLst/>
            <a:cxn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p:spPr>
        <p:txBody>
          <a:bodyPr/>
          <a:p/>
        </p:txBody>
      </p:sp>
      <p:sp>
        <p:nvSpPr>
          <p:cNvPr id="23" name="Text 21"/>
          <p:cNvSpPr/>
          <p:nvPr/>
        </p:nvSpPr>
        <p:spPr>
          <a:xfrm>
            <a:off x="8155260" y="5133975"/>
            <a:ext cx="657225" cy="266700"/>
          </a:xfrm>
          <a:prstGeom prst="rect">
            <a:avLst/>
          </a:prstGeom>
          <a:noFill/>
          <a:ln/>
        </p:spPr>
        <p:txBody>
          <a:bodyPr wrap="square" lIns="0" tIns="0" rIns="0" bIns="0" rtlCol="0" anchor="ctr"/>
          <a:lstStyle/>
          <a:p>
            <a:pPr>
              <a:lnSpc>
                <a:spcPct val="120000"/>
              </a:lnSpc>
            </a:pPr>
            <a:r>
              <a:rPr lang="en-US" sz="1500" b="1" dirty="0" i="1">
                <a:solidFill>
                  <a:srgbClr val="00008B"/>
                </a:solidFill>
                <a:latin typeface="Oranienbaum" pitchFamily="34" charset="0"/>
                <a:ea typeface="Oranienbaum" pitchFamily="34" charset="-122"/>
                <a:cs typeface="Oranienbaum" pitchFamily="34" charset="-120"/>
              </a:rPr>
              <a:t>Payoffs</a:t>
            </a:r>
            <a:endParaRPr lang="en-US" sz="1600" dirty="0"/>
          </a:p>
        </p:txBody>
      </p:sp>
      <p:sp>
        <p:nvSpPr>
          <p:cNvPr id="24" name="Text 22"/>
          <p:cNvSpPr/>
          <p:nvPr/>
        </p:nvSpPr>
        <p:spPr>
          <a:xfrm>
            <a:off x="7659960" y="5610225"/>
            <a:ext cx="3990975" cy="495300"/>
          </a:xfrm>
          <a:prstGeom prst="rect">
            <a:avLst/>
          </a:prstGeom>
          <a:noFill/>
          <a:ln/>
        </p:spPr>
        <p:txBody>
          <a:bodyPr wrap="square" lIns="0" tIns="0" rIns="0" bIns="0" rtlCol="0" anchor="ctr"/>
          <a:lstStyle/>
          <a:p>
            <a:pPr>
              <a:lnSpc>
                <a:spcPct val="140000"/>
              </a:lnSpc>
            </a:pPr>
            <a:r>
              <a:rPr lang="en-US" sz="1200" dirty="0" i="1">
                <a:solidFill>
                  <a:srgbClr val="00008B"/>
                </a:solidFill>
                <a:latin typeface="Quattrocento Sans" pitchFamily="34" charset="0"/>
                <a:ea typeface="Quattrocento Sans" pitchFamily="34" charset="-122"/>
                <a:cs typeface="Quattrocento Sans" pitchFamily="34" charset="-120"/>
              </a:rPr>
              <a:t>Numerical values representing utility or benefit received by players for each outcome.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02</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Historical</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Foundations</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From von Neumann to Nash: The evolution of strategic thinking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4255" y="324255"/>
            <a:ext cx="11608340" cy="194553"/>
          </a:xfrm>
          <a:prstGeom prst="rect">
            <a:avLst/>
          </a:prstGeom>
          <a:noFill/>
          <a:ln/>
        </p:spPr>
        <p:txBody>
          <a:bodyPr wrap="square" lIns="0" tIns="0" rIns="0" bIns="0" rtlCol="0" anchor="ctr"/>
          <a:lstStyle/>
          <a:p>
            <a:pPr>
              <a:lnSpc>
                <a:spcPct val="130000"/>
              </a:lnSpc>
            </a:pPr>
            <a:r>
              <a:rPr lang="en-US" sz="1021" b="1" spc="51" kern="0" dirty="0">
                <a:solidFill>
                  <a:srgbClr val="0984E3"/>
                </a:solidFill>
                <a:latin typeface="Quattrocento Sans" pitchFamily="34" charset="0"/>
                <a:ea typeface="Quattrocento Sans" pitchFamily="34" charset="-122"/>
                <a:cs typeface="Quattrocento Sans" pitchFamily="34" charset="-120"/>
              </a:rPr>
              <a:t>HISTORICAL DEVELOPMENT</a:t>
            </a:r>
            <a:endParaRPr lang="en-US" sz="1600" dirty="0"/>
          </a:p>
        </p:txBody>
      </p:sp>
      <p:sp>
        <p:nvSpPr>
          <p:cNvPr id="3" name="Text 1"/>
          <p:cNvSpPr/>
          <p:nvPr/>
        </p:nvSpPr>
        <p:spPr>
          <a:xfrm>
            <a:off x="324255" y="583660"/>
            <a:ext cx="11738043" cy="389106"/>
          </a:xfrm>
          <a:prstGeom prst="rect">
            <a:avLst/>
          </a:prstGeom>
          <a:noFill/>
          <a:ln/>
        </p:spPr>
        <p:txBody>
          <a:bodyPr wrap="square" lIns="0" tIns="0" rIns="0" bIns="0" rtlCol="0" anchor="ctr"/>
          <a:lstStyle/>
          <a:p>
            <a:pPr>
              <a:lnSpc>
                <a:spcPct val="80000"/>
              </a:lnSpc>
            </a:pPr>
            <a:r>
              <a:rPr lang="en-US" sz="3064" b="1" dirty="0">
                <a:solidFill>
                  <a:srgbClr val="2D3436"/>
                </a:solidFill>
                <a:latin typeface="Oranienbaum" pitchFamily="34" charset="0"/>
                <a:ea typeface="Oranienbaum" pitchFamily="34" charset="-122"/>
                <a:cs typeface="Oranienbaum" pitchFamily="34" charset="-120"/>
              </a:rPr>
              <a:t>The Pioneers of Game Theory</a:t>
            </a:r>
            <a:endParaRPr lang="en-US" sz="1600" dirty="0"/>
          </a:p>
        </p:txBody>
      </p:sp>
      <p:sp>
        <p:nvSpPr>
          <p:cNvPr id="4" name="Shape 2"/>
          <p:cNvSpPr/>
          <p:nvPr/>
        </p:nvSpPr>
        <p:spPr>
          <a:xfrm>
            <a:off x="6096000" y="1167319"/>
            <a:ext cx="16213" cy="4977319"/>
          </a:xfrm>
          <a:custGeom>
            <a:avLst/>
            <a:gdLst/>
            <a:ahLst/>
            <a:cxnLst/>
            <a:rect l="l" t="t" r="r" b="b"/>
            <a:pathLst>
              <a:path w="16213" h="4977319">
                <a:moveTo>
                  <a:pt x="0" y="0"/>
                </a:moveTo>
                <a:lnTo>
                  <a:pt x="16213" y="0"/>
                </a:lnTo>
                <a:lnTo>
                  <a:pt x="16213" y="4977319"/>
                </a:lnTo>
                <a:lnTo>
                  <a:pt x="0" y="4977319"/>
                </a:lnTo>
                <a:lnTo>
                  <a:pt x="0" y="0"/>
                </a:lnTo>
                <a:close/>
              </a:path>
            </a:pathLst>
          </a:custGeom>
          <a:solidFill>
            <a:srgbClr val="E0E0E0"/>
          </a:solidFill>
          <a:ln/>
        </p:spPr>
      </p:sp>
      <p:sp>
        <p:nvSpPr>
          <p:cNvPr id="5" name="Shape 3"/>
          <p:cNvSpPr/>
          <p:nvPr/>
        </p:nvSpPr>
        <p:spPr>
          <a:xfrm>
            <a:off x="1637869" y="1171372"/>
            <a:ext cx="3866745" cy="721468"/>
          </a:xfrm>
          <a:custGeom>
            <a:avLst/>
            <a:gdLst/>
            <a:ahLst/>
            <a:cxn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prstDash val="solid"/>
          </a:ln>
        </p:spPr>
      </p:sp>
      <p:sp>
        <p:nvSpPr>
          <p:cNvPr id="6" name="Text 4"/>
          <p:cNvSpPr/>
          <p:nvPr/>
        </p:nvSpPr>
        <p:spPr>
          <a:xfrm>
            <a:off x="1698667" y="1305128"/>
            <a:ext cx="3672191" cy="226979"/>
          </a:xfrm>
          <a:prstGeom prst="rect">
            <a:avLst/>
          </a:prstGeom>
          <a:noFill/>
          <a:ln/>
        </p:spPr>
        <p:txBody>
          <a:bodyPr wrap="square" lIns="0" tIns="0" rIns="0" bIns="0" rtlCol="0" anchor="ctr"/>
          <a:lstStyle/>
          <a:p>
            <a:pPr algn="r">
              <a:lnSpc>
                <a:spcPct val="130000"/>
              </a:lnSpc>
            </a:pPr>
            <a:r>
              <a:rPr lang="en-US" sz="1149" b="1" dirty="0">
                <a:solidFill>
                  <a:srgbClr val="2D3436"/>
                </a:solidFill>
                <a:latin typeface="Oranienbaum" pitchFamily="34" charset="0"/>
                <a:ea typeface="Oranienbaum" pitchFamily="34" charset="-122"/>
                <a:cs typeface="Oranienbaum" pitchFamily="34" charset="-120"/>
              </a:rPr>
              <a:t>1912 — Ernst Zermelo</a:t>
            </a:r>
            <a:endParaRPr lang="en-US" sz="1600" dirty="0"/>
          </a:p>
        </p:txBody>
      </p:sp>
      <p:sp>
        <p:nvSpPr>
          <p:cNvPr id="7" name="Text 5"/>
          <p:cNvSpPr/>
          <p:nvPr/>
        </p:nvSpPr>
        <p:spPr>
          <a:xfrm>
            <a:off x="1706774" y="1564532"/>
            <a:ext cx="3664085" cy="194553"/>
          </a:xfrm>
          <a:prstGeom prst="rect">
            <a:avLst/>
          </a:prstGeom>
          <a:noFill/>
          <a:ln/>
        </p:spPr>
        <p:txBody>
          <a:bodyPr wrap="square" lIns="0" tIns="0" rIns="0" bIns="0" rtlCol="0" anchor="ctr"/>
          <a:lstStyle/>
          <a:p>
            <a:pPr algn="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Proved chess is determined; laid early mathematical foundations</a:t>
            </a:r>
            <a:endParaRPr lang="en-US" sz="1600" dirty="0"/>
          </a:p>
        </p:txBody>
      </p:sp>
      <p:sp>
        <p:nvSpPr>
          <p:cNvPr id="8" name="Shape 6"/>
          <p:cNvSpPr/>
          <p:nvPr/>
        </p:nvSpPr>
        <p:spPr>
          <a:xfrm>
            <a:off x="6683713" y="2030649"/>
            <a:ext cx="3291191" cy="721468"/>
          </a:xfrm>
          <a:custGeom>
            <a:avLst/>
            <a:gdLst/>
            <a:ahLst/>
            <a:cxn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prstDash val="solid"/>
          </a:ln>
        </p:spPr>
      </p:sp>
      <p:sp>
        <p:nvSpPr>
          <p:cNvPr id="9" name="Text 7"/>
          <p:cNvSpPr/>
          <p:nvPr/>
        </p:nvSpPr>
        <p:spPr>
          <a:xfrm>
            <a:off x="6817468" y="2164404"/>
            <a:ext cx="3096638"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1921 — Émile Borel</a:t>
            </a:r>
            <a:endParaRPr lang="en-US" sz="1600" dirty="0"/>
          </a:p>
        </p:txBody>
      </p:sp>
      <p:sp>
        <p:nvSpPr>
          <p:cNvPr id="10" name="Text 8"/>
          <p:cNvSpPr/>
          <p:nvPr/>
        </p:nvSpPr>
        <p:spPr>
          <a:xfrm>
            <a:off x="6817468" y="2423809"/>
            <a:ext cx="3088532" cy="194553"/>
          </a:xfrm>
          <a:prstGeom prst="rect">
            <a:avLst/>
          </a:prstGeom>
          <a:noFill/>
          <a:ln/>
        </p:spPr>
        <p:txBody>
          <a:bodyPr wrap="square" lIns="0" tIns="0" rIns="0" bIns="0" rtlCol="0" anchor="ctr"/>
          <a:lstStyle/>
          <a:p>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Posed fundamental questions about optimal strategies</a:t>
            </a:r>
            <a:endParaRPr lang="en-US" sz="1600" dirty="0"/>
          </a:p>
        </p:txBody>
      </p:sp>
      <p:sp>
        <p:nvSpPr>
          <p:cNvPr id="11" name="Shape 9"/>
          <p:cNvSpPr/>
          <p:nvPr/>
        </p:nvSpPr>
        <p:spPr>
          <a:xfrm>
            <a:off x="633754" y="2885872"/>
            <a:ext cx="4880043" cy="713362"/>
          </a:xfrm>
          <a:custGeom>
            <a:avLst/>
            <a:gdLst/>
            <a:ahLst/>
            <a:cxnLst/>
            <a:rect l="l" t="t" r="r" b="b"/>
            <a:pathLst>
              <a:path w="4880043" h="713362">
                <a:moveTo>
                  <a:pt x="0" y="0"/>
                </a:moveTo>
                <a:lnTo>
                  <a:pt x="4880043" y="0"/>
                </a:lnTo>
                <a:lnTo>
                  <a:pt x="4880043" y="713362"/>
                </a:lnTo>
                <a:lnTo>
                  <a:pt x="0" y="713362"/>
                </a:lnTo>
                <a:lnTo>
                  <a:pt x="0" y="0"/>
                </a:lnTo>
                <a:close/>
              </a:path>
            </a:pathLst>
          </a:custGeom>
          <a:solidFill>
            <a:srgbClr val="F8F9FA"/>
          </a:solidFill>
          <a:ln/>
        </p:spPr>
      </p:sp>
      <p:sp>
        <p:nvSpPr>
          <p:cNvPr id="12" name="Shape 10"/>
          <p:cNvSpPr/>
          <p:nvPr/>
        </p:nvSpPr>
        <p:spPr>
          <a:xfrm>
            <a:off x="633754" y="2885872"/>
            <a:ext cx="32426" cy="713362"/>
          </a:xfrm>
          <a:custGeom>
            <a:avLst/>
            <a:gdLst/>
            <a:ahLst/>
            <a:cxnLst/>
            <a:rect l="l" t="t" r="r" b="b"/>
            <a:pathLst>
              <a:path w="32426" h="713362">
                <a:moveTo>
                  <a:pt x="0" y="0"/>
                </a:moveTo>
                <a:lnTo>
                  <a:pt x="32426" y="0"/>
                </a:lnTo>
                <a:lnTo>
                  <a:pt x="32426" y="713362"/>
                </a:lnTo>
                <a:lnTo>
                  <a:pt x="0" y="713362"/>
                </a:lnTo>
                <a:lnTo>
                  <a:pt x="0" y="0"/>
                </a:lnTo>
                <a:close/>
              </a:path>
            </a:pathLst>
          </a:custGeom>
          <a:solidFill>
            <a:srgbClr val="0984E3"/>
          </a:solidFill>
          <a:ln/>
        </p:spPr>
      </p:sp>
      <p:sp>
        <p:nvSpPr>
          <p:cNvPr id="13" name="Text 11"/>
          <p:cNvSpPr/>
          <p:nvPr/>
        </p:nvSpPr>
        <p:spPr>
          <a:xfrm>
            <a:off x="706712" y="3015574"/>
            <a:ext cx="4677383" cy="226979"/>
          </a:xfrm>
          <a:prstGeom prst="rect">
            <a:avLst/>
          </a:prstGeom>
          <a:noFill/>
          <a:ln/>
        </p:spPr>
        <p:txBody>
          <a:bodyPr wrap="square" lIns="0" tIns="0" rIns="0" bIns="0" rtlCol="0" anchor="ctr"/>
          <a:lstStyle/>
          <a:p>
            <a:pPr algn="r">
              <a:lnSpc>
                <a:spcPct val="130000"/>
              </a:lnSpc>
            </a:pPr>
            <a:r>
              <a:rPr lang="en-US" sz="1149" b="1" dirty="0">
                <a:solidFill>
                  <a:srgbClr val="2D3436"/>
                </a:solidFill>
                <a:latin typeface="Oranienbaum" pitchFamily="34" charset="0"/>
                <a:ea typeface="Oranienbaum" pitchFamily="34" charset="-122"/>
                <a:cs typeface="Oranienbaum" pitchFamily="34" charset="-120"/>
              </a:rPr>
              <a:t>1928 — John von Neumann</a:t>
            </a:r>
            <a:endParaRPr lang="en-US" sz="1600" dirty="0"/>
          </a:p>
        </p:txBody>
      </p:sp>
      <p:sp>
        <p:nvSpPr>
          <p:cNvPr id="14" name="Text 12"/>
          <p:cNvSpPr/>
          <p:nvPr/>
        </p:nvSpPr>
        <p:spPr>
          <a:xfrm>
            <a:off x="714818" y="3274979"/>
            <a:ext cx="4669277" cy="194553"/>
          </a:xfrm>
          <a:prstGeom prst="rect">
            <a:avLst/>
          </a:prstGeom>
          <a:noFill/>
          <a:ln/>
        </p:spPr>
        <p:txBody>
          <a:bodyPr wrap="square" lIns="0" tIns="0" rIns="0" bIns="0" rtlCol="0" anchor="ctr"/>
          <a:lstStyle/>
          <a:p>
            <a:pPr algn="r">
              <a:lnSpc>
                <a:spcPct val="130000"/>
              </a:lnSpc>
            </a:pPr>
            <a:r>
              <a:rPr lang="en-US" sz="1021" b="1" dirty="0">
                <a:solidFill>
                  <a:srgbClr val="636E72"/>
                </a:solidFill>
                <a:latin typeface="Quattrocento Sans" pitchFamily="34" charset="0"/>
                <a:ea typeface="Quattrocento Sans" pitchFamily="34" charset="-122"/>
                <a:cs typeface="Quattrocento Sans" pitchFamily="34" charset="-120"/>
              </a:rPr>
              <a:t>Minimax Theorem:</a:t>
            </a:r>
            <a:pPr algn="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 Proved all two-person zero-sum games have optimal solutions</a:t>
            </a:r>
            <a:endParaRPr lang="en-US" sz="1600" dirty="0"/>
          </a:p>
        </p:txBody>
      </p:sp>
      <p:sp>
        <p:nvSpPr>
          <p:cNvPr id="15" name="Shape 13"/>
          <p:cNvSpPr/>
          <p:nvPr/>
        </p:nvSpPr>
        <p:spPr>
          <a:xfrm>
            <a:off x="6695872" y="3728936"/>
            <a:ext cx="5017851" cy="713362"/>
          </a:xfrm>
          <a:custGeom>
            <a:avLst/>
            <a:gdLst/>
            <a:ahLst/>
            <a:cxnLst/>
            <a:rect l="l" t="t" r="r" b="b"/>
            <a:pathLst>
              <a:path w="5017851" h="713362">
                <a:moveTo>
                  <a:pt x="0" y="0"/>
                </a:moveTo>
                <a:lnTo>
                  <a:pt x="5017851" y="0"/>
                </a:lnTo>
                <a:lnTo>
                  <a:pt x="5017851" y="713362"/>
                </a:lnTo>
                <a:lnTo>
                  <a:pt x="0" y="713362"/>
                </a:lnTo>
                <a:lnTo>
                  <a:pt x="0" y="0"/>
                </a:lnTo>
                <a:close/>
              </a:path>
            </a:pathLst>
          </a:custGeom>
          <a:solidFill>
            <a:srgbClr val="F8F9FA"/>
          </a:solidFill>
          <a:ln/>
        </p:spPr>
      </p:sp>
      <p:sp>
        <p:nvSpPr>
          <p:cNvPr id="16" name="Shape 14"/>
          <p:cNvSpPr/>
          <p:nvPr/>
        </p:nvSpPr>
        <p:spPr>
          <a:xfrm>
            <a:off x="6695872" y="3728936"/>
            <a:ext cx="32426" cy="713362"/>
          </a:xfrm>
          <a:custGeom>
            <a:avLst/>
            <a:gdLst/>
            <a:ahLst/>
            <a:cxnLst/>
            <a:rect l="l" t="t" r="r" b="b"/>
            <a:pathLst>
              <a:path w="32426" h="713362">
                <a:moveTo>
                  <a:pt x="0" y="0"/>
                </a:moveTo>
                <a:lnTo>
                  <a:pt x="32426" y="0"/>
                </a:lnTo>
                <a:lnTo>
                  <a:pt x="32426" y="713362"/>
                </a:lnTo>
                <a:lnTo>
                  <a:pt x="0" y="713362"/>
                </a:lnTo>
                <a:lnTo>
                  <a:pt x="0" y="0"/>
                </a:lnTo>
                <a:close/>
              </a:path>
            </a:pathLst>
          </a:custGeom>
          <a:solidFill>
            <a:srgbClr val="0984E3"/>
          </a:solidFill>
          <a:ln/>
        </p:spPr>
      </p:sp>
      <p:sp>
        <p:nvSpPr>
          <p:cNvPr id="17" name="Text 15"/>
          <p:cNvSpPr/>
          <p:nvPr/>
        </p:nvSpPr>
        <p:spPr>
          <a:xfrm>
            <a:off x="6841787" y="3858638"/>
            <a:ext cx="4815191"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1944 — von Neumann &amp; Morgenstern</a:t>
            </a:r>
            <a:endParaRPr lang="en-US" sz="1600" dirty="0"/>
          </a:p>
        </p:txBody>
      </p:sp>
      <p:sp>
        <p:nvSpPr>
          <p:cNvPr id="18" name="Text 16"/>
          <p:cNvSpPr/>
          <p:nvPr/>
        </p:nvSpPr>
        <p:spPr>
          <a:xfrm>
            <a:off x="6841787" y="4118043"/>
            <a:ext cx="4807085" cy="194553"/>
          </a:xfrm>
          <a:prstGeom prst="rect">
            <a:avLst/>
          </a:prstGeom>
          <a:noFill/>
          <a:ln/>
        </p:spPr>
        <p:txBody>
          <a:bodyPr wrap="square" lIns="0" tIns="0" rIns="0" bIns="0" rtlCol="0" anchor="ctr"/>
          <a:lstStyle/>
          <a:p>
            <a:pPr>
              <a:lnSpc>
                <a:spcPct val="130000"/>
              </a:lnSpc>
            </a:pPr>
            <a:r>
              <a:rPr lang="en-US" sz="1021" b="1" dirty="0">
                <a:solidFill>
                  <a:srgbClr val="636E72"/>
                </a:solidFill>
                <a:latin typeface="Quattrocento Sans" pitchFamily="34" charset="0"/>
                <a:ea typeface="Quattrocento Sans" pitchFamily="34" charset="-122"/>
                <a:cs typeface="Quattrocento Sans" pitchFamily="34" charset="-120"/>
              </a:rPr>
              <a:t>"Theory of Games and Economic Behavior"</a:t>
            </a:r>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 — established game theory as a discipline</a:t>
            </a:r>
            <a:endParaRPr lang="en-US" sz="1600" dirty="0"/>
          </a:p>
        </p:txBody>
      </p:sp>
      <p:sp>
        <p:nvSpPr>
          <p:cNvPr id="19" name="Shape 17"/>
          <p:cNvSpPr/>
          <p:nvPr/>
        </p:nvSpPr>
        <p:spPr>
          <a:xfrm>
            <a:off x="1476185" y="4572000"/>
            <a:ext cx="4036979" cy="713362"/>
          </a:xfrm>
          <a:custGeom>
            <a:avLst/>
            <a:gdLst/>
            <a:ahLst/>
            <a:cxnLst/>
            <a:rect l="l" t="t" r="r" b="b"/>
            <a:pathLst>
              <a:path w="4036979" h="713362">
                <a:moveTo>
                  <a:pt x="0" y="0"/>
                </a:moveTo>
                <a:lnTo>
                  <a:pt x="4036979" y="0"/>
                </a:lnTo>
                <a:lnTo>
                  <a:pt x="4036979" y="713362"/>
                </a:lnTo>
                <a:lnTo>
                  <a:pt x="0" y="713362"/>
                </a:lnTo>
                <a:lnTo>
                  <a:pt x="0" y="0"/>
                </a:lnTo>
                <a:close/>
              </a:path>
            </a:pathLst>
          </a:custGeom>
          <a:solidFill>
            <a:srgbClr val="2D3436"/>
          </a:solidFill>
          <a:ln/>
        </p:spPr>
      </p:sp>
      <p:sp>
        <p:nvSpPr>
          <p:cNvPr id="20" name="Text 18"/>
          <p:cNvSpPr/>
          <p:nvPr/>
        </p:nvSpPr>
        <p:spPr>
          <a:xfrm>
            <a:off x="1532930" y="4701702"/>
            <a:ext cx="3850532" cy="226979"/>
          </a:xfrm>
          <a:prstGeom prst="rect">
            <a:avLst/>
          </a:prstGeom>
          <a:noFill/>
          <a:ln/>
        </p:spPr>
        <p:txBody>
          <a:bodyPr wrap="square" lIns="0" tIns="0" rIns="0" bIns="0" rtlCol="0" anchor="ctr"/>
          <a:lstStyle/>
          <a:p>
            <a:pPr algn="r">
              <a:lnSpc>
                <a:spcPct val="130000"/>
              </a:lnSpc>
            </a:pPr>
            <a:r>
              <a:rPr lang="en-US" sz="1149" b="1" dirty="0">
                <a:solidFill>
                  <a:srgbClr val="FFFFFF"/>
                </a:solidFill>
                <a:latin typeface="Oranienbaum" pitchFamily="34" charset="0"/>
                <a:ea typeface="Oranienbaum" pitchFamily="34" charset="-122"/>
                <a:cs typeface="Oranienbaum" pitchFamily="34" charset="-120"/>
              </a:rPr>
              <a:t>1950 — John Nash</a:t>
            </a:r>
            <a:endParaRPr lang="en-US" sz="1600" dirty="0"/>
          </a:p>
        </p:txBody>
      </p:sp>
      <p:sp>
        <p:nvSpPr>
          <p:cNvPr id="21" name="Text 19"/>
          <p:cNvSpPr/>
          <p:nvPr/>
        </p:nvSpPr>
        <p:spPr>
          <a:xfrm>
            <a:off x="1541036" y="4961106"/>
            <a:ext cx="3842426" cy="194553"/>
          </a:xfrm>
          <a:prstGeom prst="rect">
            <a:avLst/>
          </a:prstGeom>
          <a:noFill/>
          <a:ln/>
        </p:spPr>
        <p:txBody>
          <a:bodyPr wrap="square" lIns="0" tIns="0" rIns="0" bIns="0" rtlCol="0" anchor="ctr"/>
          <a:lstStyle/>
          <a:p>
            <a:pPr algn="r">
              <a:lnSpc>
                <a:spcPct val="130000"/>
              </a:lnSpc>
            </a:pPr>
            <a:r>
              <a:rPr lang="en-US" sz="1021" b="1" dirty="0">
                <a:solidFill>
                  <a:srgbClr val="E0E0E0"/>
                </a:solidFill>
                <a:latin typeface="Quattrocento Sans" pitchFamily="34" charset="0"/>
                <a:ea typeface="Quattrocento Sans" pitchFamily="34" charset="-122"/>
                <a:cs typeface="Quattrocento Sans" pitchFamily="34" charset="-120"/>
              </a:rPr>
              <a:t>Nash Equilibrium:</a:t>
            </a:r>
            <a:pPr algn="r">
              <a:lnSpc>
                <a:spcPct val="130000"/>
              </a:lnSpc>
            </a:pPr>
            <a:r>
              <a:rPr lang="en-US" sz="1021" dirty="0">
                <a:solidFill>
                  <a:srgbClr val="E0E0E0"/>
                </a:solidFill>
                <a:latin typeface="Quattrocento Sans" pitchFamily="34" charset="0"/>
                <a:ea typeface="Quattrocento Sans" pitchFamily="34" charset="-122"/>
                <a:cs typeface="Quattrocento Sans" pitchFamily="34" charset="-120"/>
              </a:rPr>
              <a:t> Proved existence of equilibrium in all finite games</a:t>
            </a:r>
            <a:endParaRPr lang="en-US" sz="1600" dirty="0"/>
          </a:p>
        </p:txBody>
      </p:sp>
      <p:sp>
        <p:nvSpPr>
          <p:cNvPr id="22" name="Shape 20"/>
          <p:cNvSpPr/>
          <p:nvPr/>
        </p:nvSpPr>
        <p:spPr>
          <a:xfrm>
            <a:off x="6683713" y="5419117"/>
            <a:ext cx="3988340" cy="721468"/>
          </a:xfrm>
          <a:custGeom>
            <a:avLst/>
            <a:gdLst/>
            <a:ahLst/>
            <a:cxn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prstDash val="solid"/>
          </a:ln>
        </p:spPr>
      </p:sp>
      <p:sp>
        <p:nvSpPr>
          <p:cNvPr id="23" name="Text 21"/>
          <p:cNvSpPr/>
          <p:nvPr/>
        </p:nvSpPr>
        <p:spPr>
          <a:xfrm>
            <a:off x="6817468" y="5552872"/>
            <a:ext cx="3793787" cy="226979"/>
          </a:xfrm>
          <a:prstGeom prst="rect">
            <a:avLst/>
          </a:prstGeom>
          <a:noFill/>
          <a:ln/>
        </p:spPr>
        <p:txBody>
          <a:bodyPr wrap="square" lIns="0" tIns="0" rIns="0" bIns="0" rtlCol="0" anchor="ctr"/>
          <a:lstStyle/>
          <a:p>
            <a:pPr>
              <a:lnSpc>
                <a:spcPct val="130000"/>
              </a:lnSpc>
            </a:pPr>
            <a:r>
              <a:rPr lang="en-US" sz="1149" b="1" dirty="0">
                <a:solidFill>
                  <a:srgbClr val="2D3436"/>
                </a:solidFill>
                <a:latin typeface="Oranienbaum" pitchFamily="34" charset="0"/>
                <a:ea typeface="Oranienbaum" pitchFamily="34" charset="-122"/>
                <a:cs typeface="Oranienbaum" pitchFamily="34" charset="-120"/>
              </a:rPr>
              <a:t>1994 — Nobel Prize</a:t>
            </a:r>
            <a:endParaRPr lang="en-US" sz="1600" dirty="0"/>
          </a:p>
        </p:txBody>
      </p:sp>
      <p:sp>
        <p:nvSpPr>
          <p:cNvPr id="24" name="Text 22"/>
          <p:cNvSpPr/>
          <p:nvPr/>
        </p:nvSpPr>
        <p:spPr>
          <a:xfrm>
            <a:off x="6817468" y="5812277"/>
            <a:ext cx="3785681" cy="194553"/>
          </a:xfrm>
          <a:prstGeom prst="rect">
            <a:avLst/>
          </a:prstGeom>
          <a:noFill/>
          <a:ln/>
        </p:spPr>
        <p:txBody>
          <a:bodyPr wrap="square" lIns="0" tIns="0" rIns="0" bIns="0" rtlCol="0" anchor="ctr"/>
          <a:lstStyle/>
          <a:p>
            <a:pPr>
              <a:lnSpc>
                <a:spcPct val="130000"/>
              </a:lnSpc>
            </a:pPr>
            <a:r>
              <a:rPr lang="en-US" sz="1021" dirty="0">
                <a:solidFill>
                  <a:srgbClr val="636E72"/>
                </a:solidFill>
                <a:latin typeface="Quattrocento Sans" pitchFamily="34" charset="0"/>
                <a:ea typeface="Quattrocento Sans" pitchFamily="34" charset="-122"/>
                <a:cs typeface="Quattrocento Sans" pitchFamily="34" charset="-120"/>
              </a:rPr>
              <a:t>Nash, Harsanyi, and Selten awarded for game theory contributions</a:t>
            </a:r>
            <a:endParaRPr lang="en-US" sz="1600" dirty="0"/>
          </a:p>
        </p:txBody>
      </p:sp>
      <p:sp>
        <p:nvSpPr>
          <p:cNvPr id="25" name="Shape 23"/>
          <p:cNvSpPr/>
          <p:nvPr/>
        </p:nvSpPr>
        <p:spPr>
          <a:xfrm>
            <a:off x="6031149" y="1467255"/>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6" name="Shape 24"/>
          <p:cNvSpPr/>
          <p:nvPr/>
        </p:nvSpPr>
        <p:spPr>
          <a:xfrm>
            <a:off x="6031149" y="2326532"/>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7" name="Shape 25"/>
          <p:cNvSpPr/>
          <p:nvPr/>
        </p:nvSpPr>
        <p:spPr>
          <a:xfrm>
            <a:off x="6031149" y="3177702"/>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8" name="Shape 26"/>
          <p:cNvSpPr/>
          <p:nvPr/>
        </p:nvSpPr>
        <p:spPr>
          <a:xfrm>
            <a:off x="6031149" y="4020766"/>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
        <p:nvSpPr>
          <p:cNvPr id="29" name="Shape 27"/>
          <p:cNvSpPr/>
          <p:nvPr/>
        </p:nvSpPr>
        <p:spPr>
          <a:xfrm>
            <a:off x="6031149" y="4863830"/>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p:spPr>
      </p:sp>
      <p:sp>
        <p:nvSpPr>
          <p:cNvPr id="30" name="Shape 28"/>
          <p:cNvSpPr/>
          <p:nvPr/>
        </p:nvSpPr>
        <p:spPr>
          <a:xfrm>
            <a:off x="6031149" y="5715000"/>
            <a:ext cx="129702" cy="129702"/>
          </a:xfrm>
          <a:custGeom>
            <a:avLst/>
            <a:gdLst/>
            <a:ahLst/>
            <a:cxn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KEY FIGURE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John Nash: A Beautiful Mind</a:t>
            </a:r>
            <a:endParaRPr lang="en-US" sz="1600" dirty="0"/>
          </a:p>
        </p:txBody>
      </p:sp>
      <p:pic>
        <p:nvPicPr>
          <p:cNvPr id="4" name="Image 0" descr="https://kimi-web-img.moonshot.cn/img/www.nobelprize.org/de8ae2a97dff022a4df09ecb0a5c4b2a28808652.jpg">    </p:cNvPr>
          <p:cNvPicPr>
            <a:picLocks noChangeAspect="1"/>
          </p:cNvPicPr>
          <p:nvPr/>
        </p:nvPicPr>
        <p:blipFill>
          <a:blip r:embed="rId1"/>
          <a:srcRect l="0" r="0" t="26862" b="26862"/>
          <a:stretch/>
        </p:blipFill>
        <p:spPr>
          <a:xfrm>
            <a:off x="381000" y="1371600"/>
            <a:ext cx="4391025" cy="3048000"/>
          </a:xfrm>
          <a:prstGeom prst="roundRect">
            <a:avLst>
              <a:gd name="adj" fmla="val 0"/>
            </a:avLst>
          </a:prstGeom>
        </p:spPr>
      </p:pic>
      <p:sp>
        <p:nvSpPr>
          <p:cNvPr id="5" name="Shape 2"/>
          <p:cNvSpPr/>
          <p:nvPr/>
        </p:nvSpPr>
        <p:spPr>
          <a:xfrm>
            <a:off x="400050" y="4648200"/>
            <a:ext cx="4371975" cy="1143000"/>
          </a:xfrm>
          <a:custGeom>
            <a:avLst/>
            <a:gdLst/>
            <a:ahLst/>
            <a:cxnLst/>
            <a:rect l="l" t="t" r="r" b="b"/>
            <a:pathLst>
              <a:path w="4371975" h="1143000">
                <a:moveTo>
                  <a:pt x="0" y="0"/>
                </a:moveTo>
                <a:lnTo>
                  <a:pt x="4371975" y="0"/>
                </a:lnTo>
                <a:lnTo>
                  <a:pt x="4371975" y="1143000"/>
                </a:lnTo>
                <a:lnTo>
                  <a:pt x="0" y="1143000"/>
                </a:lnTo>
                <a:lnTo>
                  <a:pt x="0" y="0"/>
                </a:lnTo>
                <a:close/>
              </a:path>
            </a:pathLst>
          </a:custGeom>
          <a:solidFill>
            <a:srgbClr val="F8F9FA"/>
          </a:solidFill>
          <a:ln/>
        </p:spPr>
      </p:sp>
      <p:sp>
        <p:nvSpPr>
          <p:cNvPr id="6" name="Shape 3"/>
          <p:cNvSpPr/>
          <p:nvPr/>
        </p:nvSpPr>
        <p:spPr>
          <a:xfrm>
            <a:off x="400050" y="464820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0984E3"/>
          </a:solidFill>
          <a:ln/>
        </p:spPr>
      </p:sp>
      <p:sp>
        <p:nvSpPr>
          <p:cNvPr id="7" name="Text 4"/>
          <p:cNvSpPr/>
          <p:nvPr/>
        </p:nvSpPr>
        <p:spPr>
          <a:xfrm>
            <a:off x="609600" y="4838700"/>
            <a:ext cx="4048125" cy="4953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 was on the right track. I was doing good work. And then I became mentally disturbed."</a:t>
            </a:r>
            <a:endParaRPr lang="en-US" sz="1600" dirty="0"/>
          </a:p>
        </p:txBody>
      </p:sp>
      <p:sp>
        <p:nvSpPr>
          <p:cNvPr id="8" name="Text 5"/>
          <p:cNvSpPr/>
          <p:nvPr/>
        </p:nvSpPr>
        <p:spPr>
          <a:xfrm>
            <a:off x="609600" y="5410200"/>
            <a:ext cx="4038600" cy="190500"/>
          </a:xfrm>
          <a:prstGeom prst="rect">
            <a:avLst/>
          </a:prstGeom>
          <a:noFill/>
          <a:ln/>
        </p:spPr>
        <p:txBody>
          <a:bodyPr wrap="square" lIns="0" tIns="0" rIns="0" bIns="0" rtlCol="0" anchor="ctr"/>
          <a:lstStyle/>
          <a:p>
            <a:pP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 John Nash, on his recovery</a:t>
            </a:r>
            <a:endParaRPr lang="en-US" sz="1600" dirty="0"/>
          </a:p>
        </p:txBody>
      </p:sp>
      <p:sp>
        <p:nvSpPr>
          <p:cNvPr id="9" name="Text 6"/>
          <p:cNvSpPr/>
          <p:nvPr/>
        </p:nvSpPr>
        <p:spPr>
          <a:xfrm>
            <a:off x="5074890" y="1371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Early Brilliance</a:t>
            </a:r>
            <a:endParaRPr lang="en-US" sz="1600" dirty="0"/>
          </a:p>
        </p:txBody>
      </p:sp>
      <p:sp>
        <p:nvSpPr>
          <p:cNvPr id="10" name="Text 7"/>
          <p:cNvSpPr/>
          <p:nvPr/>
        </p:nvSpPr>
        <p:spPr>
          <a:xfrm>
            <a:off x="5074890" y="1752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lang="en-US" sz="1600" dirty="0"/>
          </a:p>
        </p:txBody>
      </p:sp>
      <p:sp>
        <p:nvSpPr>
          <p:cNvPr id="11" name="Text 8"/>
          <p:cNvSpPr/>
          <p:nvPr/>
        </p:nvSpPr>
        <p:spPr>
          <a:xfrm>
            <a:off x="5074890" y="2895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The Nash Equilibrium</a:t>
            </a:r>
            <a:endParaRPr lang="en-US" sz="1600" dirty="0"/>
          </a:p>
        </p:txBody>
      </p:sp>
      <p:sp>
        <p:nvSpPr>
          <p:cNvPr id="12" name="Text 9"/>
          <p:cNvSpPr/>
          <p:nvPr/>
        </p:nvSpPr>
        <p:spPr>
          <a:xfrm>
            <a:off x="5074890" y="3276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Nash's doctoral thesis introduced the concept that would revolutionize economics: the </a:t>
            </a:r>
            <a:pPr>
              <a:lnSpc>
                <a:spcPct val="140000"/>
              </a:lnSpc>
            </a:pPr>
            <a:r>
              <a:rPr lang="en-US" sz="1200" b="1" dirty="0">
                <a:solidFill>
                  <a:srgbClr val="1E272E"/>
                </a:solidFill>
                <a:latin typeface="Quattrocento Sans" pitchFamily="34" charset="0"/>
                <a:ea typeface="Quattrocento Sans" pitchFamily="34" charset="-122"/>
                <a:cs typeface="Quattrocento Sans" pitchFamily="34" charset="-120"/>
              </a:rPr>
              <a:t>Nash Equilibrium</a:t>
            </a:r>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 He proved that in any finite game, there exists at least one set of strategies where no player can benefit by unilaterally changing their strategy. This elegant solution concept became the cornerstone of non-cooperative game theory.</a:t>
            </a:r>
            <a:endParaRPr lang="en-US" sz="1600" dirty="0"/>
          </a:p>
        </p:txBody>
      </p:sp>
      <p:sp>
        <p:nvSpPr>
          <p:cNvPr id="13" name="Text 10"/>
          <p:cNvSpPr/>
          <p:nvPr/>
        </p:nvSpPr>
        <p:spPr>
          <a:xfrm>
            <a:off x="5074890" y="4419600"/>
            <a:ext cx="6848475" cy="304800"/>
          </a:xfrm>
          <a:prstGeom prst="rect">
            <a:avLst/>
          </a:prstGeom>
          <a:noFill/>
          <a:ln/>
        </p:spPr>
        <p:txBody>
          <a:bodyPr wrap="square" lIns="0" tIns="0" rIns="0" bIns="0" rtlCol="0" anchor="ctr"/>
          <a:lstStyle/>
          <a:p>
            <a:pPr>
              <a:lnSpc>
                <a:spcPct val="110000"/>
              </a:lnSpc>
            </a:pPr>
            <a:r>
              <a:rPr lang="en-US" sz="1800" b="1" dirty="0">
                <a:solidFill>
                  <a:srgbClr val="2D3436"/>
                </a:solidFill>
                <a:latin typeface="Oranienbaum" pitchFamily="34" charset="0"/>
                <a:ea typeface="Oranienbaum" pitchFamily="34" charset="-122"/>
                <a:cs typeface="Oranienbaum" pitchFamily="34" charset="-120"/>
              </a:rPr>
              <a:t>Struggle and Triumph</a:t>
            </a:r>
            <a:endParaRPr lang="en-US" sz="1600" dirty="0"/>
          </a:p>
        </p:txBody>
      </p:sp>
      <p:sp>
        <p:nvSpPr>
          <p:cNvPr id="14" name="Text 11"/>
          <p:cNvSpPr/>
          <p:nvPr/>
        </p:nvSpPr>
        <p:spPr>
          <a:xfrm>
            <a:off x="5074890" y="4800600"/>
            <a:ext cx="6810375" cy="9906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pPr>
              <a:lnSpc>
                <a:spcPct val="140000"/>
              </a:lnSpc>
            </a:pPr>
            <a:r>
              <a:rPr lang="en-US" sz="1200" b="1" dirty="0">
                <a:solidFill>
                  <a:srgbClr val="1E272E"/>
                </a:solidFill>
                <a:latin typeface="Quattrocento Sans" pitchFamily="34" charset="0"/>
                <a:ea typeface="Quattrocento Sans" pitchFamily="34" charset="-122"/>
                <a:cs typeface="Quattrocento Sans" pitchFamily="34" charset="-120"/>
              </a:rPr>
              <a:t>Nobel Prize in Economic Sciences</a:t>
            </a:r>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 for his work on game theory.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03</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Core Concepts &amp;</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Mathematical Framework</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The essential building blocks of strategic analysis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MATHEMATICAL REPRESENTATION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Payoff Matrices &amp; Strategic Representation</a:t>
            </a:r>
            <a:endParaRPr lang="en-US" sz="1600" dirty="0"/>
          </a:p>
        </p:txBody>
      </p:sp>
      <p:sp>
        <p:nvSpPr>
          <p:cNvPr id="4" name="Text 2"/>
          <p:cNvSpPr/>
          <p:nvPr/>
        </p:nvSpPr>
        <p:spPr>
          <a:xfrm>
            <a:off x="381000" y="1371600"/>
            <a:ext cx="5657850" cy="12382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A payoff matrix is the fundamental tool for representing strategic interactions in game theory.</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It organizes all possible outcomes based on the strategies chosen by each player, enabling systematic analysis of decision-making scenarios.</a:t>
            </a:r>
            <a:endParaRPr lang="en-US" sz="1600" dirty="0"/>
          </a:p>
        </p:txBody>
      </p:sp>
      <p:sp>
        <p:nvSpPr>
          <p:cNvPr id="5" name="Text 3"/>
          <p:cNvSpPr/>
          <p:nvPr/>
        </p:nvSpPr>
        <p:spPr>
          <a:xfrm>
            <a:off x="381000" y="2762250"/>
            <a:ext cx="5648325" cy="838200"/>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Each cell in the matrix shows the payoff for every player given a specific combination of strategies. By examining the matrix, we can identify dominant strategies, Nash equilibria, and predict rational behavior.</a:t>
            </a:r>
            <a:endParaRPr lang="en-US" sz="1600" dirty="0"/>
          </a:p>
        </p:txBody>
      </p:sp>
      <p:sp>
        <p:nvSpPr>
          <p:cNvPr id="6" name="Shape 4"/>
          <p:cNvSpPr/>
          <p:nvPr/>
        </p:nvSpPr>
        <p:spPr>
          <a:xfrm>
            <a:off x="400050" y="3750469"/>
            <a:ext cx="5543550" cy="1600200"/>
          </a:xfrm>
          <a:custGeom>
            <a:avLst/>
            <a:gdLst/>
            <a:ahLst/>
            <a:cxnLst/>
            <a:rect l="l" t="t" r="r" b="b"/>
            <a:pathLst>
              <a:path w="5543550" h="1600200">
                <a:moveTo>
                  <a:pt x="0" y="0"/>
                </a:moveTo>
                <a:lnTo>
                  <a:pt x="5543550" y="0"/>
                </a:lnTo>
                <a:lnTo>
                  <a:pt x="5543550" y="1600200"/>
                </a:lnTo>
                <a:lnTo>
                  <a:pt x="0" y="1600200"/>
                </a:lnTo>
                <a:lnTo>
                  <a:pt x="0" y="0"/>
                </a:lnTo>
                <a:close/>
              </a:path>
            </a:pathLst>
          </a:custGeom>
          <a:solidFill>
            <a:srgbClr val="F8F9FA"/>
          </a:solidFill>
          <a:ln/>
        </p:spPr>
      </p:sp>
      <p:sp>
        <p:nvSpPr>
          <p:cNvPr id="7" name="Shape 5"/>
          <p:cNvSpPr/>
          <p:nvPr/>
        </p:nvSpPr>
        <p:spPr>
          <a:xfrm>
            <a:off x="400050" y="3750469"/>
            <a:ext cx="38100" cy="1600200"/>
          </a:xfrm>
          <a:custGeom>
            <a:avLst/>
            <a:gdLst/>
            <a:ahLst/>
            <a:cxnLst/>
            <a:rect l="l" t="t" r="r" b="b"/>
            <a:pathLst>
              <a:path w="38100" h="1600200">
                <a:moveTo>
                  <a:pt x="0" y="0"/>
                </a:moveTo>
                <a:lnTo>
                  <a:pt x="38100" y="0"/>
                </a:lnTo>
                <a:lnTo>
                  <a:pt x="38100" y="1600200"/>
                </a:lnTo>
                <a:lnTo>
                  <a:pt x="0" y="1600200"/>
                </a:lnTo>
                <a:lnTo>
                  <a:pt x="0" y="0"/>
                </a:lnTo>
                <a:close/>
              </a:path>
            </a:pathLst>
          </a:custGeom>
          <a:solidFill>
            <a:srgbClr val="0984E3"/>
          </a:solidFill>
          <a:ln/>
        </p:spPr>
      </p:sp>
      <p:sp>
        <p:nvSpPr>
          <p:cNvPr id="8" name="Text 6"/>
          <p:cNvSpPr/>
          <p:nvPr/>
        </p:nvSpPr>
        <p:spPr>
          <a:xfrm>
            <a:off x="609600" y="3940969"/>
            <a:ext cx="523875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Matrix Components</a:t>
            </a:r>
            <a:endParaRPr lang="en-US" sz="1600" dirty="0"/>
          </a:p>
        </p:txBody>
      </p:sp>
      <p:sp>
        <p:nvSpPr>
          <p:cNvPr id="9" name="Text 7"/>
          <p:cNvSpPr/>
          <p:nvPr/>
        </p:nvSpPr>
        <p:spPr>
          <a:xfrm>
            <a:off x="609600" y="43219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Rows: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Strategies available to Player 1</a:t>
            </a:r>
            <a:endParaRPr lang="en-US" sz="1600" dirty="0"/>
          </a:p>
        </p:txBody>
      </p:sp>
      <p:sp>
        <p:nvSpPr>
          <p:cNvPr id="10" name="Text 8"/>
          <p:cNvSpPr/>
          <p:nvPr/>
        </p:nvSpPr>
        <p:spPr>
          <a:xfrm>
            <a:off x="609600" y="46267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Columns: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Strategies available to Player 2</a:t>
            </a:r>
            <a:endParaRPr lang="en-US" sz="1600" dirty="0"/>
          </a:p>
        </p:txBody>
      </p:sp>
      <p:sp>
        <p:nvSpPr>
          <p:cNvPr id="11" name="Text 9"/>
          <p:cNvSpPr/>
          <p:nvPr/>
        </p:nvSpPr>
        <p:spPr>
          <a:xfrm>
            <a:off x="609600" y="4931569"/>
            <a:ext cx="521970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Cells: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Payoffs (Player 1, Player 2)</a:t>
            </a:r>
            <a:endParaRPr lang="en-US" sz="1600" dirty="0"/>
          </a:p>
        </p:txBody>
      </p:sp>
      <p:sp>
        <p:nvSpPr>
          <p:cNvPr id="12" name="Shape 10"/>
          <p:cNvSpPr/>
          <p:nvPr/>
        </p:nvSpPr>
        <p:spPr>
          <a:xfrm>
            <a:off x="6253163" y="1618059"/>
            <a:ext cx="5553075" cy="3486150"/>
          </a:xfrm>
          <a:custGeom>
            <a:avLst/>
            <a:gdLst/>
            <a:ahLst/>
            <a:cxnLst/>
            <a:rect l="l" t="t" r="r" b="b"/>
            <a:pathLst>
              <a:path w="5553075" h="3486150">
                <a:moveTo>
                  <a:pt x="0" y="0"/>
                </a:moveTo>
                <a:lnTo>
                  <a:pt x="5553075" y="0"/>
                </a:lnTo>
                <a:lnTo>
                  <a:pt x="5553075" y="3486150"/>
                </a:lnTo>
                <a:lnTo>
                  <a:pt x="0" y="3486150"/>
                </a:lnTo>
                <a:lnTo>
                  <a:pt x="0" y="0"/>
                </a:lnTo>
                <a:close/>
              </a:path>
            </a:pathLst>
          </a:custGeom>
          <a:solidFill>
            <a:srgbClr val="FFFFFF"/>
          </a:solidFill>
          <a:ln w="12700">
            <a:solidFill>
              <a:srgbClr val="E0E0E0"/>
            </a:solidFill>
            <a:prstDash val="solid"/>
          </a:ln>
        </p:spPr>
      </p:sp>
      <p:sp>
        <p:nvSpPr>
          <p:cNvPr id="13" name="Text 11"/>
          <p:cNvSpPr/>
          <p:nvPr/>
        </p:nvSpPr>
        <p:spPr>
          <a:xfrm>
            <a:off x="6438900" y="1851422"/>
            <a:ext cx="5181600"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Example: Pricing Game</a:t>
            </a:r>
            <a:endParaRPr lang="en-US" sz="1600" dirty="0"/>
          </a:p>
        </p:txBody>
      </p:sp>
      <p:sp>
        <p:nvSpPr>
          <p:cNvPr id="14" name="Text 12"/>
          <p:cNvSpPr/>
          <p:nvPr/>
        </p:nvSpPr>
        <p:spPr>
          <a:xfrm>
            <a:off x="6448425" y="2270522"/>
            <a:ext cx="5162550" cy="228600"/>
          </a:xfrm>
          <a:prstGeom prst="rect">
            <a:avLst/>
          </a:prstGeom>
          <a:noFill/>
          <a:ln/>
        </p:spPr>
        <p:txBody>
          <a:bodyPr wrap="square" lIns="0" tIns="0" rIns="0" bIns="0" rtlCol="0" anchor="ctr"/>
          <a:lstStyle/>
          <a:p>
            <a:pPr algn="ct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Two firms deciding whether to lower prices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86525" y="2651522"/>
          <a:ext cx="5086350" cy="1409700"/>
        </p:xfrm>
        <a:graphic>
          <a:graphicData uri="http://schemas.openxmlformats.org/drawingml/2006/table">
            <a:tbl>
              <a:tblPr/>
              <a:tblGrid>
                <a:gridCol w="1749628"/>
                <a:gridCol w="1730506"/>
                <a:gridCol w="1606216"/>
              </a:tblGrid>
              <a:tr h="469900">
                <a:tc>
                  <a:txBody>
                    <a:bodyPr/>
                    <a:lstStyle/>
                    <a:p>
                      <a:pPr algn="ct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b="1" u="none" dirty="0">
                          <a:solidFill>
                            <a:srgbClr val="2D3436"/>
                          </a:solidFill>
                          <a:latin typeface="微软雅黑" pitchFamily="34" charset="0"/>
                          <a:ea typeface="微软雅黑" pitchFamily="34" charset="-122"/>
                          <a:cs typeface="微软雅黑" pitchFamily="34" charset="-120"/>
                        </a:rPr>
                        <a:t>Firm B: Lower</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b="1" u="none" dirty="0">
                          <a:solidFill>
                            <a:srgbClr val="2D3436"/>
                          </a:solidFill>
                          <a:latin typeface="微软雅黑" pitchFamily="34" charset="0"/>
                          <a:ea typeface="微软雅黑" pitchFamily="34" charset="-122"/>
                          <a:cs typeface="微软雅黑" pitchFamily="34" charset="-120"/>
                        </a:rPr>
                        <a:t>Firm B: Keep</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469900">
                <a:tc>
                  <a:txBody>
                    <a:bodyPr/>
                    <a:lstStyle/>
                    <a:p>
                      <a:r>
                        <a:t>Firm A: Lower Prices</a:t>
                      </a: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r>
                        <a:t>(4, 4)</a:t>
                      </a: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r>
                        <a:t>(9, 2)</a:t>
                      </a: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469900">
                <a:tc>
                  <a:txBody>
                    <a:bodyPr/>
                    <a:lstStyle/>
                    <a:p>
                      <a:r>
                        <a:rPr lang="en-US" sz="1200" b="1" u="none" dirty="0">
                          <a:solidFill>
                            <a:srgbClr val="2D3436"/>
                          </a:solidFill>
                          <a:latin typeface="微软雅黑" pitchFamily="34" charset="0"/>
                          <a:ea typeface="微软雅黑" pitchFamily="34" charset="-122"/>
                          <a:cs typeface="微软雅黑" pitchFamily="34" charset="-120"/>
                        </a:rPr>
                        <a:t>Firm A: Keep</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(2, 10)</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1E272E"/>
                          </a:solidFill>
                          <a:latin typeface="微软雅黑" pitchFamily="34" charset="0"/>
                          <a:ea typeface="微软雅黑" pitchFamily="34" charset="-122"/>
                          <a:cs typeface="微软雅黑" pitchFamily="34" charset="-120"/>
                        </a:rPr>
                        <a:t>(8, 8)</a:t>
                      </a:r>
                      <a:endParaRPr lang="en-US" sz="1200" dirty="0">
                        <a:latin typeface="微软雅黑" charset="0"/>
                        <a:ea typeface="微软雅黑" charset="0"/>
                        <a:cs typeface="微软雅黑" charset="0"/>
                      </a:endParaRPr>
                    </a:p>
                  </a:txBody>
                  <a:tcPr marL="114300" marR="114300" marT="114300" marB="1143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bl>
          </a:graphicData>
        </a:graphic>
      </p:graphicFrame>
      <p:sp>
        <p:nvSpPr>
          <p:cNvPr id="16" name="Shape 13"/>
          <p:cNvSpPr/>
          <p:nvPr/>
        </p:nvSpPr>
        <p:spPr>
          <a:xfrm>
            <a:off x="6486525" y="4218384"/>
            <a:ext cx="5086350" cy="9525"/>
          </a:xfrm>
          <a:custGeom>
            <a:avLst/>
            <a:gdLst/>
            <a:ahLst/>
            <a:cxnLst/>
            <a:rect l="l" t="t" r="r" b="b"/>
            <a:pathLst>
              <a:path w="5086350" h="9525">
                <a:moveTo>
                  <a:pt x="0" y="0"/>
                </a:moveTo>
                <a:lnTo>
                  <a:pt x="5086350" y="0"/>
                </a:lnTo>
                <a:lnTo>
                  <a:pt x="5086350" y="9525"/>
                </a:lnTo>
                <a:lnTo>
                  <a:pt x="0" y="9525"/>
                </a:lnTo>
                <a:lnTo>
                  <a:pt x="0" y="0"/>
                </a:lnTo>
                <a:close/>
              </a:path>
            </a:pathLst>
          </a:custGeom>
          <a:solidFill>
            <a:srgbClr val="E0E0E0"/>
          </a:solidFill>
          <a:ln/>
        </p:spPr>
      </p:sp>
      <p:sp>
        <p:nvSpPr>
          <p:cNvPr id="17" name="Text 14"/>
          <p:cNvSpPr/>
          <p:nvPr/>
        </p:nvSpPr>
        <p:spPr>
          <a:xfrm>
            <a:off x="6486525" y="4375547"/>
            <a:ext cx="5162550"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Interpretation:</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If both firms lower prices, each earns 5. If Firm A lowers while B keeps, A captures market share and earns 10 while B earns only 2.</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CORE CONCEPT</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Nash Equilibrium: The Cornerstone Concept</a:t>
            </a:r>
            <a:endParaRPr lang="en-US" sz="1600" dirty="0"/>
          </a:p>
        </p:txBody>
      </p:sp>
      <p:sp>
        <p:nvSpPr>
          <p:cNvPr id="4" name="Text 2"/>
          <p:cNvSpPr/>
          <p:nvPr/>
        </p:nvSpPr>
        <p:spPr>
          <a:xfrm>
            <a:off x="381000" y="1419225"/>
            <a:ext cx="5497116" cy="828675"/>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A Nash Equilibrium is a set of strategies, one for each player, such that no player can improve their outcome by unilaterally changing their own strategy.</a:t>
            </a:r>
            <a:endParaRPr lang="en-US" sz="1600" dirty="0"/>
          </a:p>
        </p:txBody>
      </p:sp>
      <p:sp>
        <p:nvSpPr>
          <p:cNvPr id="5" name="Text 3"/>
          <p:cNvSpPr/>
          <p:nvPr/>
        </p:nvSpPr>
        <p:spPr>
          <a:xfrm>
            <a:off x="381000" y="2452688"/>
            <a:ext cx="5648325" cy="838200"/>
          </a:xfrm>
          <a:prstGeom prst="rect">
            <a:avLst/>
          </a:prstGeom>
          <a:noFill/>
          <a:ln/>
        </p:spPr>
        <p:txBody>
          <a:bodyPr wrap="square" lIns="0" tIns="0" rIns="0" bIns="0" rtlCol="0" anchor="ctr"/>
          <a:lstStyle/>
          <a:p>
            <a:pPr>
              <a:lnSpc>
                <a:spcPct val="140000"/>
              </a:lnSpc>
            </a:pPr>
            <a:r>
              <a:rPr lang="en-US" sz="1350" dirty="0">
                <a:solidFill>
                  <a:srgbClr val="636E72"/>
                </a:solidFill>
                <a:latin typeface="Quattrocento Sans" pitchFamily="34" charset="0"/>
                <a:ea typeface="Quattrocento Sans" pitchFamily="34" charset="-122"/>
                <a:cs typeface="Quattrocento Sans" pitchFamily="34" charset="-120"/>
              </a:rPr>
              <a:t>In equilibrium, each player's strategy is optimal given the strategies of all other players. This creates a stable state where everyone is doing the best they can, given what others are doing.</a:t>
            </a:r>
            <a:endParaRPr lang="en-US" sz="1600" dirty="0"/>
          </a:p>
        </p:txBody>
      </p:sp>
      <p:sp>
        <p:nvSpPr>
          <p:cNvPr id="6" name="Shape 4"/>
          <p:cNvSpPr/>
          <p:nvPr/>
        </p:nvSpPr>
        <p:spPr>
          <a:xfrm>
            <a:off x="381000" y="3867150"/>
            <a:ext cx="5562600" cy="2019300"/>
          </a:xfrm>
          <a:custGeom>
            <a:avLst/>
            <a:gdLst/>
            <a:ahLst/>
            <a:cxnLst/>
            <a:rect l="l" t="t" r="r" b="b"/>
            <a:pathLst>
              <a:path w="5562600" h="2019300">
                <a:moveTo>
                  <a:pt x="0" y="0"/>
                </a:moveTo>
                <a:lnTo>
                  <a:pt x="5562600" y="0"/>
                </a:lnTo>
                <a:lnTo>
                  <a:pt x="5562600" y="2019300"/>
                </a:lnTo>
                <a:lnTo>
                  <a:pt x="0" y="2019300"/>
                </a:lnTo>
                <a:lnTo>
                  <a:pt x="0" y="0"/>
                </a:lnTo>
                <a:close/>
              </a:path>
            </a:pathLst>
          </a:custGeom>
          <a:solidFill>
            <a:srgbClr val="2D3436"/>
          </a:solidFill>
          <a:ln/>
        </p:spPr>
      </p:sp>
      <p:sp>
        <p:nvSpPr>
          <p:cNvPr id="7" name="Text 5"/>
          <p:cNvSpPr/>
          <p:nvPr/>
        </p:nvSpPr>
        <p:spPr>
          <a:xfrm>
            <a:off x="609600" y="4095750"/>
            <a:ext cx="5200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Oranienbaum" pitchFamily="34" charset="0"/>
                <a:ea typeface="Oranienbaum" pitchFamily="34" charset="-122"/>
                <a:cs typeface="Oranienbaum" pitchFamily="34" charset="-120"/>
              </a:rPr>
              <a:t>Mathematical Definition</a:t>
            </a:r>
            <a:endParaRPr lang="en-US" sz="1600" dirty="0"/>
          </a:p>
        </p:txBody>
      </p:sp>
      <p:sp>
        <p:nvSpPr>
          <p:cNvPr id="8" name="Text 6"/>
          <p:cNvSpPr/>
          <p:nvPr/>
        </p:nvSpPr>
        <p:spPr>
          <a:xfrm>
            <a:off x="609600" y="4476750"/>
            <a:ext cx="5181600" cy="24765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For a strategy profile s * = (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1</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 ...,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n</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 to be a Nash Equilibrium:</a:t>
            </a:r>
            <a:endParaRPr lang="en-US" sz="1600" dirty="0"/>
          </a:p>
        </p:txBody>
      </p:sp>
      <p:sp>
        <p:nvSpPr>
          <p:cNvPr id="9" name="Shape 7"/>
          <p:cNvSpPr/>
          <p:nvPr/>
        </p:nvSpPr>
        <p:spPr>
          <a:xfrm>
            <a:off x="609600" y="4838700"/>
            <a:ext cx="5105400" cy="457200"/>
          </a:xfrm>
          <a:custGeom>
            <a:avLst/>
            <a:gdLst/>
            <a:ahLst/>
            <a:cxnLst/>
            <a:rect l="l" t="t" r="r" b="b"/>
            <a:pathLst>
              <a:path w="5105400" h="457200">
                <a:moveTo>
                  <a:pt x="0" y="0"/>
                </a:moveTo>
                <a:lnTo>
                  <a:pt x="5105400" y="0"/>
                </a:lnTo>
                <a:lnTo>
                  <a:pt x="5105400" y="457200"/>
                </a:lnTo>
                <a:lnTo>
                  <a:pt x="0" y="457200"/>
                </a:lnTo>
                <a:lnTo>
                  <a:pt x="0" y="0"/>
                </a:lnTo>
                <a:close/>
              </a:path>
            </a:pathLst>
          </a:custGeom>
          <a:solidFill>
            <a:srgbClr val="1E272E"/>
          </a:solidFill>
          <a:ln/>
        </p:spPr>
      </p:sp>
      <p:sp>
        <p:nvSpPr>
          <p:cNvPr id="10" name="Text 8"/>
          <p:cNvSpPr/>
          <p:nvPr/>
        </p:nvSpPr>
        <p:spPr>
          <a:xfrm>
            <a:off x="609600" y="4838700"/>
            <a:ext cx="5181600" cy="457200"/>
          </a:xfrm>
          <a:prstGeom prst="rect">
            <a:avLst/>
          </a:prstGeom>
          <a:noFill/>
          <a:ln/>
        </p:spPr>
        <p:txBody>
          <a:bodyPr wrap="square" lIns="114300" tIns="114300" rIns="114300" bIns="114300" rtlCol="0" anchor="ctr"/>
          <a:lstStyle/>
          <a:p>
            <a:pPr>
              <a:lnSpc>
                <a:spcPct val="130000"/>
              </a:lnSpc>
            </a:pPr>
            <a:r>
              <a:rPr lang="en-US" sz="1200" dirty="0">
                <a:solidFill>
                  <a:srgbClr val="FFFFFF"/>
                </a:solidFill>
                <a:latin typeface="MiSans" pitchFamily="34" charset="0"/>
                <a:ea typeface="MiSans" pitchFamily="34" charset="-122"/>
                <a:cs typeface="MiSans" pitchFamily="34" charset="-120"/>
              </a:rPr>
              <a:t>uᵢ(sᵢ*, s₋ᵢ*) ≥ uᵢ(sᵢ, s₋ᵢ*)</a:t>
            </a:r>
            <a:endParaRPr lang="en-US" sz="1600" dirty="0"/>
          </a:p>
        </p:txBody>
      </p:sp>
      <p:sp>
        <p:nvSpPr>
          <p:cNvPr id="11" name="Text 9"/>
          <p:cNvSpPr/>
          <p:nvPr/>
        </p:nvSpPr>
        <p:spPr>
          <a:xfrm>
            <a:off x="609600" y="5410200"/>
            <a:ext cx="5181600" cy="24765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for all players i and all alternative strategies s</a:t>
            </a:r>
            <a:pPr>
              <a:lnSpc>
                <a:spcPct val="140000"/>
              </a:lnSpc>
            </a:pPr>
            <a:r>
              <a:rPr lang="en-US" sz="900" dirty="0">
                <a:solidFill>
                  <a:srgbClr val="E0E0E0"/>
                </a:solidFill>
                <a:latin typeface="Quattrocento Sans" pitchFamily="34" charset="0"/>
                <a:ea typeface="Quattrocento Sans" pitchFamily="34" charset="-122"/>
                <a:cs typeface="Quattrocento Sans" pitchFamily="34" charset="-120"/>
              </a:rPr>
              <a:t>i</a:t>
            </a:r>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 .</a:t>
            </a:r>
            <a:endParaRPr lang="en-US" sz="1600" dirty="0"/>
          </a:p>
        </p:txBody>
      </p:sp>
      <p:sp>
        <p:nvSpPr>
          <p:cNvPr id="12" name="Shape 10"/>
          <p:cNvSpPr/>
          <p:nvPr/>
        </p:nvSpPr>
        <p:spPr>
          <a:xfrm>
            <a:off x="6253163" y="1376363"/>
            <a:ext cx="5553075" cy="3209925"/>
          </a:xfrm>
          <a:custGeom>
            <a:avLst/>
            <a:gdLst/>
            <a:ahLst/>
            <a:cxnLst/>
            <a:rect l="l" t="t" r="r" b="b"/>
            <a:pathLst>
              <a:path w="5553075" h="3209925">
                <a:moveTo>
                  <a:pt x="0" y="0"/>
                </a:moveTo>
                <a:lnTo>
                  <a:pt x="5553075" y="0"/>
                </a:lnTo>
                <a:lnTo>
                  <a:pt x="5553075" y="3209925"/>
                </a:lnTo>
                <a:lnTo>
                  <a:pt x="0" y="3209925"/>
                </a:lnTo>
                <a:lnTo>
                  <a:pt x="0" y="0"/>
                </a:lnTo>
                <a:close/>
              </a:path>
            </a:pathLst>
          </a:custGeom>
          <a:solidFill>
            <a:srgbClr val="FFFFFF"/>
          </a:solidFill>
          <a:ln w="12700">
            <a:solidFill>
              <a:srgbClr val="E0E0E0"/>
            </a:solidFill>
            <a:prstDash val="solid"/>
          </a:ln>
        </p:spPr>
      </p:sp>
      <p:sp>
        <p:nvSpPr>
          <p:cNvPr id="13" name="Text 11"/>
          <p:cNvSpPr/>
          <p:nvPr/>
        </p:nvSpPr>
        <p:spPr>
          <a:xfrm>
            <a:off x="6486525" y="1609725"/>
            <a:ext cx="518160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Key Properties</a:t>
            </a:r>
            <a:endParaRPr lang="en-US" sz="1600" dirty="0"/>
          </a:p>
        </p:txBody>
      </p:sp>
      <p:sp>
        <p:nvSpPr>
          <p:cNvPr id="14" name="Shape 12"/>
          <p:cNvSpPr/>
          <p:nvPr/>
        </p:nvSpPr>
        <p:spPr>
          <a:xfrm>
            <a:off x="6486525" y="20288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15" name="Text 13"/>
          <p:cNvSpPr/>
          <p:nvPr/>
        </p:nvSpPr>
        <p:spPr>
          <a:xfrm>
            <a:off x="6453188" y="20288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6" name="Text 14"/>
          <p:cNvSpPr/>
          <p:nvPr/>
        </p:nvSpPr>
        <p:spPr>
          <a:xfrm>
            <a:off x="6905625" y="2028825"/>
            <a:ext cx="30670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Stability</a:t>
            </a:r>
            <a:endParaRPr lang="en-US" sz="1600" dirty="0"/>
          </a:p>
        </p:txBody>
      </p:sp>
      <p:sp>
        <p:nvSpPr>
          <p:cNvPr id="17" name="Text 15"/>
          <p:cNvSpPr/>
          <p:nvPr/>
        </p:nvSpPr>
        <p:spPr>
          <a:xfrm>
            <a:off x="6905625" y="2295525"/>
            <a:ext cx="3067050"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No player has incentive to deviate unilaterally</a:t>
            </a:r>
            <a:endParaRPr lang="en-US" sz="1600" dirty="0"/>
          </a:p>
        </p:txBody>
      </p:sp>
      <p:sp>
        <p:nvSpPr>
          <p:cNvPr id="18" name="Shape 16"/>
          <p:cNvSpPr/>
          <p:nvPr/>
        </p:nvSpPr>
        <p:spPr>
          <a:xfrm>
            <a:off x="6486525" y="26384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19" name="Text 17"/>
          <p:cNvSpPr/>
          <p:nvPr/>
        </p:nvSpPr>
        <p:spPr>
          <a:xfrm>
            <a:off x="6453188" y="26384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0" name="Text 18"/>
          <p:cNvSpPr/>
          <p:nvPr/>
        </p:nvSpPr>
        <p:spPr>
          <a:xfrm>
            <a:off x="6905625" y="2638425"/>
            <a:ext cx="3667125"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Self-Enforcing</a:t>
            </a:r>
            <a:endParaRPr lang="en-US" sz="1600" dirty="0"/>
          </a:p>
        </p:txBody>
      </p:sp>
      <p:sp>
        <p:nvSpPr>
          <p:cNvPr id="21" name="Text 19"/>
          <p:cNvSpPr/>
          <p:nvPr/>
        </p:nvSpPr>
        <p:spPr>
          <a:xfrm>
            <a:off x="6905625" y="2905125"/>
            <a:ext cx="3667125"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Equilibrium strategies are best responses to each other</a:t>
            </a:r>
            <a:endParaRPr lang="en-US" sz="1600" dirty="0"/>
          </a:p>
        </p:txBody>
      </p:sp>
      <p:sp>
        <p:nvSpPr>
          <p:cNvPr id="22" name="Shape 20"/>
          <p:cNvSpPr/>
          <p:nvPr/>
        </p:nvSpPr>
        <p:spPr>
          <a:xfrm>
            <a:off x="6486525" y="32480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23" name="Text 21"/>
          <p:cNvSpPr/>
          <p:nvPr/>
        </p:nvSpPr>
        <p:spPr>
          <a:xfrm>
            <a:off x="6453188" y="32480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4" name="Text 22"/>
          <p:cNvSpPr/>
          <p:nvPr/>
        </p:nvSpPr>
        <p:spPr>
          <a:xfrm>
            <a:off x="6905625" y="3248025"/>
            <a:ext cx="3286125"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Existence</a:t>
            </a:r>
            <a:endParaRPr lang="en-US" sz="1600" dirty="0"/>
          </a:p>
        </p:txBody>
      </p:sp>
      <p:sp>
        <p:nvSpPr>
          <p:cNvPr id="25" name="Text 23"/>
          <p:cNvSpPr/>
          <p:nvPr/>
        </p:nvSpPr>
        <p:spPr>
          <a:xfrm>
            <a:off x="6905625" y="3514725"/>
            <a:ext cx="3286125"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Nash proved equilibrium exists in all finite games</a:t>
            </a:r>
            <a:endParaRPr lang="en-US" sz="1600" dirty="0"/>
          </a:p>
        </p:txBody>
      </p:sp>
      <p:sp>
        <p:nvSpPr>
          <p:cNvPr id="26" name="Shape 24"/>
          <p:cNvSpPr/>
          <p:nvPr/>
        </p:nvSpPr>
        <p:spPr>
          <a:xfrm>
            <a:off x="6486525" y="385762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0984E3"/>
          </a:solidFill>
          <a:ln/>
        </p:spPr>
      </p:sp>
      <p:sp>
        <p:nvSpPr>
          <p:cNvPr id="27" name="Text 25"/>
          <p:cNvSpPr/>
          <p:nvPr/>
        </p:nvSpPr>
        <p:spPr>
          <a:xfrm>
            <a:off x="6453188" y="3857625"/>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28" name="Text 26"/>
          <p:cNvSpPr/>
          <p:nvPr/>
        </p:nvSpPr>
        <p:spPr>
          <a:xfrm>
            <a:off x="6905625" y="3857625"/>
            <a:ext cx="41338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Non-Uniqueness</a:t>
            </a:r>
            <a:endParaRPr lang="en-US" sz="1600" dirty="0"/>
          </a:p>
        </p:txBody>
      </p:sp>
      <p:sp>
        <p:nvSpPr>
          <p:cNvPr id="29" name="Text 27"/>
          <p:cNvSpPr/>
          <p:nvPr/>
        </p:nvSpPr>
        <p:spPr>
          <a:xfrm>
            <a:off x="6905625" y="4124325"/>
            <a:ext cx="4133850" cy="228600"/>
          </a:xfrm>
          <a:prstGeom prst="rect">
            <a:avLst/>
          </a:prstGeom>
          <a:noFill/>
          <a:ln/>
        </p:spPr>
        <p:txBody>
          <a:bodyPr wrap="square" lIns="0" tIns="0" rIns="0" bIns="0" rtlCol="0" anchor="ctr"/>
          <a:lstStyle/>
          <a:p>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Games may have multiple equilibria or none in pure strategies</a:t>
            </a:r>
            <a:endParaRPr lang="en-US" sz="1600" dirty="0"/>
          </a:p>
        </p:txBody>
      </p:sp>
      <p:sp>
        <p:nvSpPr>
          <p:cNvPr id="30" name="Shape 28"/>
          <p:cNvSpPr/>
          <p:nvPr/>
        </p:nvSpPr>
        <p:spPr>
          <a:xfrm>
            <a:off x="6267450" y="4743450"/>
            <a:ext cx="5543550" cy="1143000"/>
          </a:xfrm>
          <a:custGeom>
            <a:avLst/>
            <a:gdLst/>
            <a:ahLst/>
            <a:cxnLst/>
            <a:rect l="l" t="t" r="r" b="b"/>
            <a:pathLst>
              <a:path w="5543550" h="1143000">
                <a:moveTo>
                  <a:pt x="0" y="0"/>
                </a:moveTo>
                <a:lnTo>
                  <a:pt x="5543550" y="0"/>
                </a:lnTo>
                <a:lnTo>
                  <a:pt x="5543550" y="1143000"/>
                </a:lnTo>
                <a:lnTo>
                  <a:pt x="0" y="1143000"/>
                </a:lnTo>
                <a:lnTo>
                  <a:pt x="0" y="0"/>
                </a:lnTo>
                <a:close/>
              </a:path>
            </a:pathLst>
          </a:custGeom>
          <a:solidFill>
            <a:srgbClr val="F8F9FA"/>
          </a:solidFill>
          <a:ln/>
        </p:spPr>
      </p:sp>
      <p:sp>
        <p:nvSpPr>
          <p:cNvPr id="31" name="Shape 29"/>
          <p:cNvSpPr/>
          <p:nvPr/>
        </p:nvSpPr>
        <p:spPr>
          <a:xfrm>
            <a:off x="6267450" y="474345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0984E3"/>
          </a:solidFill>
          <a:ln/>
        </p:spPr>
      </p:sp>
      <p:sp>
        <p:nvSpPr>
          <p:cNvPr id="32" name="Text 30"/>
          <p:cNvSpPr/>
          <p:nvPr/>
        </p:nvSpPr>
        <p:spPr>
          <a:xfrm>
            <a:off x="6477000" y="4933950"/>
            <a:ext cx="5219700" cy="495300"/>
          </a:xfrm>
          <a:prstGeom prst="rect">
            <a:avLst/>
          </a:prstGeom>
          <a:noFill/>
          <a:ln/>
        </p:spPr>
        <p:txBody>
          <a:bodyPr wrap="square" lIns="0" tIns="0" rIns="0" bIns="0" rtlCol="0" anchor="ctr"/>
          <a:lstStyle/>
          <a:p>
            <a:pPr>
              <a:lnSpc>
                <a:spcPct val="140000"/>
              </a:lnSpc>
            </a:pPr>
            <a:r>
              <a:rPr lang="en-US" sz="1200" dirty="0">
                <a:solidFill>
                  <a:srgbClr val="1E272E"/>
                </a:solidFill>
                <a:latin typeface="Quattrocento Sans" pitchFamily="34" charset="0"/>
                <a:ea typeface="Quattrocento Sans" pitchFamily="34" charset="-122"/>
                <a:cs typeface="Quattrocento Sans" pitchFamily="34" charset="-120"/>
              </a:rPr>
              <a:t>"In some ways it's a very rational thing to do, and in some ways it's almost crazy."</a:t>
            </a:r>
            <a:endParaRPr lang="en-US" sz="1600" dirty="0"/>
          </a:p>
        </p:txBody>
      </p:sp>
      <p:sp>
        <p:nvSpPr>
          <p:cNvPr id="33" name="Text 31"/>
          <p:cNvSpPr/>
          <p:nvPr/>
        </p:nvSpPr>
        <p:spPr>
          <a:xfrm>
            <a:off x="6477000" y="5505450"/>
            <a:ext cx="5210175" cy="190500"/>
          </a:xfrm>
          <a:prstGeom prst="rect">
            <a:avLst/>
          </a:prstGeom>
          <a:noFill/>
          <a:ln/>
        </p:spPr>
        <p:txBody>
          <a:bodyPr wrap="square" lIns="0" tIns="0" rIns="0" bIns="0" rtlCol="0" anchor="ctr"/>
          <a:lstStyle/>
          <a:p>
            <a:pP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 John Nash, on game theory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9518" y="379518"/>
            <a:ext cx="11508868" cy="227711"/>
          </a:xfrm>
          <a:prstGeom prst="rect">
            <a:avLst/>
          </a:prstGeom>
          <a:noFill/>
          <a:ln/>
        </p:spPr>
        <p:txBody>
          <a:bodyPr wrap="square" lIns="0" tIns="0" rIns="0" bIns="0" rtlCol="0" anchor="ctr"/>
          <a:lstStyle/>
          <a:p>
            <a:pPr>
              <a:lnSpc>
                <a:spcPct val="130000"/>
              </a:lnSpc>
            </a:pPr>
            <a:r>
              <a:rPr lang="en-US" sz="1195" b="1" spc="60" kern="0" dirty="0">
                <a:solidFill>
                  <a:srgbClr val="0984E3"/>
                </a:solidFill>
                <a:latin typeface="Quattrocento Sans" pitchFamily="34" charset="0"/>
                <a:ea typeface="Quattrocento Sans" pitchFamily="34" charset="-122"/>
                <a:cs typeface="Quattrocento Sans" pitchFamily="34" charset="-120"/>
              </a:rPr>
              <a:t>STRATEGIC CONCEPTS</a:t>
            </a:r>
            <a:endParaRPr lang="en-US" sz="1600" dirty="0"/>
          </a:p>
        </p:txBody>
      </p:sp>
      <p:sp>
        <p:nvSpPr>
          <p:cNvPr id="3" name="Text 1"/>
          <p:cNvSpPr/>
          <p:nvPr/>
        </p:nvSpPr>
        <p:spPr>
          <a:xfrm>
            <a:off x="379518" y="683132"/>
            <a:ext cx="11660675" cy="455421"/>
          </a:xfrm>
          <a:prstGeom prst="rect">
            <a:avLst/>
          </a:prstGeom>
          <a:noFill/>
          <a:ln/>
        </p:spPr>
        <p:txBody>
          <a:bodyPr wrap="square" lIns="0" tIns="0" rIns="0" bIns="0" rtlCol="0" anchor="ctr"/>
          <a:lstStyle/>
          <a:p>
            <a:pPr>
              <a:lnSpc>
                <a:spcPct val="80000"/>
              </a:lnSpc>
            </a:pPr>
            <a:r>
              <a:rPr lang="en-US" sz="3586" b="1" dirty="0">
                <a:solidFill>
                  <a:srgbClr val="2D3436"/>
                </a:solidFill>
                <a:latin typeface="Oranienbaum" pitchFamily="34" charset="0"/>
                <a:ea typeface="Oranienbaum" pitchFamily="34" charset="-122"/>
                <a:cs typeface="Oranienbaum" pitchFamily="34" charset="-120"/>
              </a:rPr>
              <a:t>Dominant Strategies &amp; Mixed Strategies</a:t>
            </a:r>
            <a:endParaRPr lang="en-US" sz="1600" dirty="0"/>
          </a:p>
        </p:txBody>
      </p:sp>
      <p:sp>
        <p:nvSpPr>
          <p:cNvPr id="4" name="Text 2"/>
          <p:cNvSpPr/>
          <p:nvPr/>
        </p:nvSpPr>
        <p:spPr>
          <a:xfrm>
            <a:off x="379518" y="1366263"/>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Dominant Strategies</a:t>
            </a:r>
            <a:endParaRPr lang="en-US" sz="1600" dirty="0"/>
          </a:p>
        </p:txBody>
      </p:sp>
      <p:sp>
        <p:nvSpPr>
          <p:cNvPr id="5" name="Text 3"/>
          <p:cNvSpPr/>
          <p:nvPr/>
        </p:nvSpPr>
        <p:spPr>
          <a:xfrm>
            <a:off x="379518" y="1826428"/>
            <a:ext cx="5097246" cy="467281"/>
          </a:xfrm>
          <a:prstGeom prst="rect">
            <a:avLst/>
          </a:prstGeom>
          <a:noFill/>
          <a:ln/>
        </p:spPr>
        <p:txBody>
          <a:bodyPr wrap="square" lIns="0" tIns="0" rIns="0" bIns="0" rtlCol="0" anchor="ctr"/>
          <a:lstStyle/>
          <a:p>
            <a:pPr>
              <a:lnSpc>
                <a:spcPct val="140000"/>
              </a:lnSpc>
            </a:pPr>
            <a:r>
              <a:rPr lang="en-US" sz="1345" b="1" dirty="0">
                <a:solidFill>
                  <a:srgbClr val="1E272E"/>
                </a:solidFill>
                <a:latin typeface="Quattrocento Sans" pitchFamily="34" charset="0"/>
                <a:ea typeface="Quattrocento Sans" pitchFamily="34" charset="-122"/>
                <a:cs typeface="Quattrocento Sans" pitchFamily="34" charset="-120"/>
              </a:rPr>
              <a:t>A dominant strategy is one that yields a higher payoff than any other strategy, regardless of what opponents choose.</a:t>
            </a:r>
            <a:endParaRPr lang="en-US" sz="1600" dirty="0"/>
          </a:p>
        </p:txBody>
      </p:sp>
      <p:sp>
        <p:nvSpPr>
          <p:cNvPr id="6" name="Text 4"/>
          <p:cNvSpPr/>
          <p:nvPr/>
        </p:nvSpPr>
        <p:spPr>
          <a:xfrm>
            <a:off x="379518" y="2452632"/>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When a player has a dominant strategy, rationality dictates they should play it. If both players have dominant strategies, their combination forms a dominant strategy equilibrium—a particularly strong solution concept.</a:t>
            </a:r>
            <a:endParaRPr lang="en-US" sz="1600" dirty="0"/>
          </a:p>
        </p:txBody>
      </p:sp>
      <p:sp>
        <p:nvSpPr>
          <p:cNvPr id="7" name="Shape 5"/>
          <p:cNvSpPr/>
          <p:nvPr/>
        </p:nvSpPr>
        <p:spPr>
          <a:xfrm>
            <a:off x="398493" y="3306546"/>
            <a:ext cx="5550444" cy="759035"/>
          </a:xfrm>
          <a:custGeom>
            <a:avLst/>
            <a:gdLst/>
            <a:ahLst/>
            <a:cxnLst/>
            <a:rect l="l" t="t" r="r" b="b"/>
            <a:pathLst>
              <a:path w="5550444" h="759035">
                <a:moveTo>
                  <a:pt x="0" y="0"/>
                </a:moveTo>
                <a:lnTo>
                  <a:pt x="5550444" y="0"/>
                </a:lnTo>
                <a:lnTo>
                  <a:pt x="5550444" y="759035"/>
                </a:lnTo>
                <a:lnTo>
                  <a:pt x="0" y="759035"/>
                </a:lnTo>
                <a:lnTo>
                  <a:pt x="0" y="0"/>
                </a:lnTo>
                <a:close/>
              </a:path>
            </a:pathLst>
          </a:custGeom>
          <a:solidFill>
            <a:srgbClr val="F8F9FA"/>
          </a:solidFill>
          <a:ln/>
        </p:spPr>
      </p:sp>
      <p:sp>
        <p:nvSpPr>
          <p:cNvPr id="8" name="Shape 6"/>
          <p:cNvSpPr/>
          <p:nvPr/>
        </p:nvSpPr>
        <p:spPr>
          <a:xfrm>
            <a:off x="398493" y="3306546"/>
            <a:ext cx="37952" cy="759035"/>
          </a:xfrm>
          <a:custGeom>
            <a:avLst/>
            <a:gdLst/>
            <a:ahLst/>
            <a:cxnLst/>
            <a:rect l="l" t="t" r="r" b="b"/>
            <a:pathLst>
              <a:path w="37952" h="759035">
                <a:moveTo>
                  <a:pt x="0" y="0"/>
                </a:moveTo>
                <a:lnTo>
                  <a:pt x="37952" y="0"/>
                </a:lnTo>
                <a:lnTo>
                  <a:pt x="37952" y="759035"/>
                </a:lnTo>
                <a:lnTo>
                  <a:pt x="0" y="759035"/>
                </a:lnTo>
                <a:lnTo>
                  <a:pt x="0" y="0"/>
                </a:lnTo>
                <a:close/>
              </a:path>
            </a:pathLst>
          </a:custGeom>
          <a:solidFill>
            <a:srgbClr val="0984E3"/>
          </a:solidFill>
          <a:ln/>
        </p:spPr>
      </p:sp>
      <p:sp>
        <p:nvSpPr>
          <p:cNvPr id="9" name="Text 7"/>
          <p:cNvSpPr/>
          <p:nvPr/>
        </p:nvSpPr>
        <p:spPr>
          <a:xfrm>
            <a:off x="569276" y="3458353"/>
            <a:ext cx="5303757" cy="455421"/>
          </a:xfrm>
          <a:prstGeom prst="rect">
            <a:avLst/>
          </a:prstGeom>
          <a:noFill/>
          <a:ln/>
        </p:spPr>
        <p:txBody>
          <a:bodyPr wrap="square" lIns="0" tIns="0" rIns="0" bIns="0" rtlCol="0" anchor="ctr"/>
          <a:lstStyle/>
          <a:p>
            <a:pPr>
              <a:lnSpc>
                <a:spcPct val="130000"/>
              </a:lnSpc>
            </a:pPr>
            <a:r>
              <a:rPr lang="en-US" sz="1195" b="1" dirty="0">
                <a:solidFill>
                  <a:srgbClr val="1E272E"/>
                </a:solidFill>
                <a:latin typeface="Quattrocento Sans" pitchFamily="34" charset="0"/>
                <a:ea typeface="Quattrocento Sans" pitchFamily="34" charset="-122"/>
                <a:cs typeface="Quattrocento Sans" pitchFamily="34" charset="-120"/>
              </a:rPr>
              <a:t>Strictly Dominant:</a:t>
            </a:r>
            <a:pPr>
              <a:lnSpc>
                <a:spcPct val="130000"/>
              </a:lnSpc>
            </a:pPr>
            <a:r>
              <a:rPr lang="en-US" sz="1195" dirty="0">
                <a:solidFill>
                  <a:srgbClr val="1E272E"/>
                </a:solidFill>
                <a:latin typeface="Quattrocento Sans" pitchFamily="34" charset="0"/>
                <a:ea typeface="Quattrocento Sans" pitchFamily="34" charset="-122"/>
                <a:cs typeface="Quattrocento Sans" pitchFamily="34" charset="-120"/>
              </a:rPr>
              <a:t> Always better than all other strategies</a:t>
            </a:r>
            <a:endParaRPr lang="en-US" sz="1600" dirty="0"/>
          </a:p>
          <a:p>
            <a:pPr>
              <a:lnSpc>
                <a:spcPct val="130000"/>
              </a:lnSpc>
            </a:pPr>
            <a:r>
              <a:rPr lang="en-US" sz="1195" b="1" dirty="0">
                <a:solidFill>
                  <a:srgbClr val="1E272E"/>
                </a:solidFill>
                <a:latin typeface="Quattrocento Sans" pitchFamily="34" charset="0"/>
                <a:ea typeface="Quattrocento Sans" pitchFamily="34" charset="-122"/>
                <a:cs typeface="Quattrocento Sans" pitchFamily="34" charset="-120"/>
              </a:rPr>
              <a:t>Weakly Dominant:</a:t>
            </a:r>
            <a:pPr>
              <a:lnSpc>
                <a:spcPct val="130000"/>
              </a:lnSpc>
            </a:pPr>
            <a:r>
              <a:rPr lang="en-US" sz="1195" dirty="0">
                <a:solidFill>
                  <a:srgbClr val="1E272E"/>
                </a:solidFill>
                <a:latin typeface="Quattrocento Sans" pitchFamily="34" charset="0"/>
                <a:ea typeface="Quattrocento Sans" pitchFamily="34" charset="-122"/>
                <a:cs typeface="Quattrocento Sans" pitchFamily="34" charset="-120"/>
              </a:rPr>
              <a:t> At least as good, and sometimes better</a:t>
            </a:r>
            <a:endParaRPr lang="en-US" sz="1600" dirty="0"/>
          </a:p>
        </p:txBody>
      </p:sp>
      <p:sp>
        <p:nvSpPr>
          <p:cNvPr id="10" name="Text 8"/>
          <p:cNvSpPr/>
          <p:nvPr/>
        </p:nvSpPr>
        <p:spPr>
          <a:xfrm>
            <a:off x="379518" y="4217388"/>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Iterated Elimination</a:t>
            </a:r>
            <a:endParaRPr lang="en-US" sz="1600" dirty="0"/>
          </a:p>
        </p:txBody>
      </p:sp>
      <p:sp>
        <p:nvSpPr>
          <p:cNvPr id="11" name="Text 9"/>
          <p:cNvSpPr/>
          <p:nvPr/>
        </p:nvSpPr>
        <p:spPr>
          <a:xfrm>
            <a:off x="379518" y="4634858"/>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Players can eliminate dominated strategies (those always worse than alternatives), simplifying the game. This process, repeated iteratively, can sometimes lead to a unique equilibrium.</a:t>
            </a:r>
            <a:endParaRPr lang="en-US" sz="1600" dirty="0"/>
          </a:p>
        </p:txBody>
      </p:sp>
      <p:sp>
        <p:nvSpPr>
          <p:cNvPr id="12" name="Text 10"/>
          <p:cNvSpPr/>
          <p:nvPr/>
        </p:nvSpPr>
        <p:spPr>
          <a:xfrm>
            <a:off x="6249364" y="1366263"/>
            <a:ext cx="5683275" cy="303614"/>
          </a:xfrm>
          <a:prstGeom prst="rect">
            <a:avLst/>
          </a:prstGeom>
          <a:noFill/>
          <a:ln/>
        </p:spPr>
        <p:txBody>
          <a:bodyPr wrap="square" lIns="0" tIns="0" rIns="0" bIns="0" rtlCol="0" anchor="ctr"/>
          <a:lstStyle/>
          <a:p>
            <a:pPr>
              <a:lnSpc>
                <a:spcPct val="110000"/>
              </a:lnSpc>
            </a:pPr>
            <a:r>
              <a:rPr lang="en-US" sz="1793" b="1" dirty="0">
                <a:solidFill>
                  <a:srgbClr val="2D3436"/>
                </a:solidFill>
                <a:latin typeface="Oranienbaum" pitchFamily="34" charset="0"/>
                <a:ea typeface="Oranienbaum" pitchFamily="34" charset="-122"/>
                <a:cs typeface="Oranienbaum" pitchFamily="34" charset="-120"/>
              </a:rPr>
              <a:t>Mixed Strategies</a:t>
            </a:r>
            <a:endParaRPr lang="en-US" sz="1600" dirty="0"/>
          </a:p>
        </p:txBody>
      </p:sp>
      <p:sp>
        <p:nvSpPr>
          <p:cNvPr id="13" name="Text 11"/>
          <p:cNvSpPr/>
          <p:nvPr/>
        </p:nvSpPr>
        <p:spPr>
          <a:xfrm>
            <a:off x="6249364" y="1826428"/>
            <a:ext cx="5250610" cy="467281"/>
          </a:xfrm>
          <a:prstGeom prst="rect">
            <a:avLst/>
          </a:prstGeom>
          <a:noFill/>
          <a:ln/>
        </p:spPr>
        <p:txBody>
          <a:bodyPr wrap="square" lIns="0" tIns="0" rIns="0" bIns="0" rtlCol="0" anchor="ctr"/>
          <a:lstStyle/>
          <a:p>
            <a:pPr>
              <a:lnSpc>
                <a:spcPct val="140000"/>
              </a:lnSpc>
            </a:pPr>
            <a:r>
              <a:rPr lang="en-US" sz="1345" b="1" dirty="0">
                <a:solidFill>
                  <a:srgbClr val="1E272E"/>
                </a:solidFill>
                <a:latin typeface="Quattrocento Sans" pitchFamily="34" charset="0"/>
                <a:ea typeface="Quattrocento Sans" pitchFamily="34" charset="-122"/>
                <a:cs typeface="Quattrocento Sans" pitchFamily="34" charset="-120"/>
              </a:rPr>
              <a:t>When no pure strategy equilibrium exists, players can randomize their choices according to specific probabilities.</a:t>
            </a:r>
            <a:endParaRPr lang="en-US" sz="1600" dirty="0"/>
          </a:p>
        </p:txBody>
      </p:sp>
      <p:sp>
        <p:nvSpPr>
          <p:cNvPr id="14" name="Text 12"/>
          <p:cNvSpPr/>
          <p:nvPr/>
        </p:nvSpPr>
        <p:spPr>
          <a:xfrm>
            <a:off x="6249364" y="2452632"/>
            <a:ext cx="5645323" cy="740059"/>
          </a:xfrm>
          <a:prstGeom prst="rect">
            <a:avLst/>
          </a:prstGeom>
          <a:noFill/>
          <a:ln/>
        </p:spPr>
        <p:txBody>
          <a:bodyPr wrap="square" lIns="0" tIns="0" rIns="0" bIns="0" rtlCol="0" anchor="ctr"/>
          <a:lstStyle/>
          <a:p>
            <a:pPr>
              <a:lnSpc>
                <a:spcPct val="140000"/>
              </a:lnSpc>
            </a:pPr>
            <a:r>
              <a:rPr lang="en-US" sz="1195" dirty="0">
                <a:solidFill>
                  <a:srgbClr val="636E72"/>
                </a:solidFill>
                <a:latin typeface="Quattrocento Sans" pitchFamily="34" charset="0"/>
                <a:ea typeface="Quattrocento Sans" pitchFamily="34" charset="-122"/>
                <a:cs typeface="Quattrocento Sans" pitchFamily="34" charset="-120"/>
              </a:rPr>
              <a:t>A mixed strategy specifies the probability distribution over pure strategies. By randomizing unpredictably, players prevent opponents from exploiting predictable behavior.</a:t>
            </a:r>
            <a:endParaRPr lang="en-US" sz="1600" dirty="0"/>
          </a:p>
        </p:txBody>
      </p:sp>
      <p:sp>
        <p:nvSpPr>
          <p:cNvPr id="15" name="Shape 13"/>
          <p:cNvSpPr/>
          <p:nvPr/>
        </p:nvSpPr>
        <p:spPr>
          <a:xfrm>
            <a:off x="6249364" y="3344498"/>
            <a:ext cx="5569419" cy="2182226"/>
          </a:xfrm>
          <a:custGeom>
            <a:avLst/>
            <a:gdLst/>
            <a:ahLst/>
            <a:cxnLst/>
            <a:rect l="l" t="t" r="r" b="b"/>
            <a:pathLst>
              <a:path w="5569419" h="2182226">
                <a:moveTo>
                  <a:pt x="0" y="0"/>
                </a:moveTo>
                <a:lnTo>
                  <a:pt x="5569419" y="0"/>
                </a:lnTo>
                <a:lnTo>
                  <a:pt x="5569419" y="2182226"/>
                </a:lnTo>
                <a:lnTo>
                  <a:pt x="0" y="2182226"/>
                </a:lnTo>
                <a:lnTo>
                  <a:pt x="0" y="0"/>
                </a:lnTo>
                <a:close/>
              </a:path>
            </a:pathLst>
          </a:custGeom>
          <a:solidFill>
            <a:srgbClr val="2D3436"/>
          </a:solidFill>
          <a:ln/>
        </p:spPr>
      </p:sp>
      <p:sp>
        <p:nvSpPr>
          <p:cNvPr id="16" name="Text 14"/>
          <p:cNvSpPr/>
          <p:nvPr/>
        </p:nvSpPr>
        <p:spPr>
          <a:xfrm>
            <a:off x="6439122" y="3534257"/>
            <a:ext cx="5284781" cy="265662"/>
          </a:xfrm>
          <a:prstGeom prst="rect">
            <a:avLst/>
          </a:prstGeom>
          <a:noFill/>
          <a:ln/>
        </p:spPr>
        <p:txBody>
          <a:bodyPr wrap="square" lIns="0" tIns="0" rIns="0" bIns="0" rtlCol="0" anchor="ctr"/>
          <a:lstStyle/>
          <a:p>
            <a:pPr>
              <a:lnSpc>
                <a:spcPct val="120000"/>
              </a:lnSpc>
            </a:pPr>
            <a:r>
              <a:rPr lang="en-US" sz="1494" b="1" dirty="0">
                <a:solidFill>
                  <a:srgbClr val="FFFFFF"/>
                </a:solidFill>
                <a:latin typeface="Oranienbaum" pitchFamily="34" charset="0"/>
                <a:ea typeface="Oranienbaum" pitchFamily="34" charset="-122"/>
                <a:cs typeface="Oranienbaum" pitchFamily="34" charset="-120"/>
              </a:rPr>
              <a:t>The Minimax Theorem</a:t>
            </a:r>
            <a:endParaRPr lang="en-US" sz="1600" dirty="0"/>
          </a:p>
        </p:txBody>
      </p:sp>
      <p:sp>
        <p:nvSpPr>
          <p:cNvPr id="17" name="Text 15"/>
          <p:cNvSpPr/>
          <p:nvPr/>
        </p:nvSpPr>
        <p:spPr>
          <a:xfrm>
            <a:off x="6439122" y="3913774"/>
            <a:ext cx="5265805" cy="246686"/>
          </a:xfrm>
          <a:prstGeom prst="rect">
            <a:avLst/>
          </a:prstGeom>
          <a:noFill/>
          <a:ln/>
        </p:spPr>
        <p:txBody>
          <a:bodyPr wrap="square" lIns="0" tIns="0" rIns="0" bIns="0" rtlCol="0" anchor="ctr"/>
          <a:lstStyle/>
          <a:p>
            <a:pPr>
              <a:lnSpc>
                <a:spcPct val="140000"/>
              </a:lnSpc>
            </a:pPr>
            <a:r>
              <a:rPr lang="en-US" sz="1195" dirty="0">
                <a:solidFill>
                  <a:srgbClr val="E0E0E0"/>
                </a:solidFill>
                <a:latin typeface="Quattrocento Sans" pitchFamily="34" charset="0"/>
                <a:ea typeface="Quattrocento Sans" pitchFamily="34" charset="-122"/>
                <a:cs typeface="Quattrocento Sans" pitchFamily="34" charset="-120"/>
              </a:rPr>
              <a:t>In two-person zero-sum games, von Neumann proved that:</a:t>
            </a:r>
            <a:endParaRPr lang="en-US" sz="1600" dirty="0"/>
          </a:p>
        </p:txBody>
      </p:sp>
      <p:sp>
        <p:nvSpPr>
          <p:cNvPr id="18" name="Shape 16"/>
          <p:cNvSpPr/>
          <p:nvPr/>
        </p:nvSpPr>
        <p:spPr>
          <a:xfrm>
            <a:off x="6439122" y="4274316"/>
            <a:ext cx="5189902" cy="455421"/>
          </a:xfrm>
          <a:custGeom>
            <a:avLst/>
            <a:gdLst/>
            <a:ahLst/>
            <a:cxnLst/>
            <a:rect l="l" t="t" r="r" b="b"/>
            <a:pathLst>
              <a:path w="5189902" h="455421">
                <a:moveTo>
                  <a:pt x="0" y="0"/>
                </a:moveTo>
                <a:lnTo>
                  <a:pt x="5189902" y="0"/>
                </a:lnTo>
                <a:lnTo>
                  <a:pt x="5189902" y="455421"/>
                </a:lnTo>
                <a:lnTo>
                  <a:pt x="0" y="455421"/>
                </a:lnTo>
                <a:lnTo>
                  <a:pt x="0" y="0"/>
                </a:lnTo>
                <a:close/>
              </a:path>
            </a:pathLst>
          </a:custGeom>
          <a:solidFill>
            <a:srgbClr val="1E272E"/>
          </a:solidFill>
          <a:ln/>
        </p:spPr>
      </p:sp>
      <p:sp>
        <p:nvSpPr>
          <p:cNvPr id="19" name="Text 17"/>
          <p:cNvSpPr/>
          <p:nvPr/>
        </p:nvSpPr>
        <p:spPr>
          <a:xfrm>
            <a:off x="6439122" y="4274316"/>
            <a:ext cx="5265805" cy="455421"/>
          </a:xfrm>
          <a:prstGeom prst="rect">
            <a:avLst/>
          </a:prstGeom>
          <a:noFill/>
          <a:ln/>
        </p:spPr>
        <p:txBody>
          <a:bodyPr wrap="square" lIns="113855" tIns="113855" rIns="113855" bIns="113855" rtlCol="0" anchor="ctr"/>
          <a:lstStyle/>
          <a:p>
            <a:pPr>
              <a:lnSpc>
                <a:spcPct val="130000"/>
              </a:lnSpc>
            </a:pPr>
            <a:r>
              <a:rPr lang="en-US" sz="1195" dirty="0">
                <a:solidFill>
                  <a:srgbClr val="FFFFFF"/>
                </a:solidFill>
                <a:latin typeface="MiSans" pitchFamily="34" charset="0"/>
                <a:ea typeface="MiSans" pitchFamily="34" charset="-122"/>
                <a:cs typeface="MiSans" pitchFamily="34" charset="-120"/>
              </a:rPr>
              <a:t>maxₓ minᵧ xAyᵀ = minᵧ maxₓ xAyᵀ</a:t>
            </a:r>
            <a:endParaRPr lang="en-US" sz="1600" dirty="0"/>
          </a:p>
        </p:txBody>
      </p:sp>
      <p:sp>
        <p:nvSpPr>
          <p:cNvPr id="20" name="Text 18"/>
          <p:cNvSpPr/>
          <p:nvPr/>
        </p:nvSpPr>
        <p:spPr>
          <a:xfrm>
            <a:off x="6439122" y="4843592"/>
            <a:ext cx="5265805" cy="493373"/>
          </a:xfrm>
          <a:prstGeom prst="rect">
            <a:avLst/>
          </a:prstGeom>
          <a:noFill/>
          <a:ln/>
        </p:spPr>
        <p:txBody>
          <a:bodyPr wrap="square" lIns="0" tIns="0" rIns="0" bIns="0" rtlCol="0" anchor="ctr"/>
          <a:lstStyle/>
          <a:p>
            <a:pPr>
              <a:lnSpc>
                <a:spcPct val="140000"/>
              </a:lnSpc>
            </a:pPr>
            <a:r>
              <a:rPr lang="en-US" sz="1195" dirty="0">
                <a:solidFill>
                  <a:srgbClr val="E0E0E0"/>
                </a:solidFill>
                <a:latin typeface="Quattrocento Sans" pitchFamily="34" charset="0"/>
                <a:ea typeface="Quattrocento Sans" pitchFamily="34" charset="-122"/>
                <a:cs typeface="Quattrocento Sans" pitchFamily="34" charset="-120"/>
              </a:rPr>
              <a:t>Both players have optimal mixed strategies, and the game's value is uniquely determined.</a:t>
            </a:r>
            <a:endParaRPr lang="en-US" sz="1600" dirty="0"/>
          </a:p>
        </p:txBody>
      </p:sp>
      <p:sp>
        <p:nvSpPr>
          <p:cNvPr id="21" name="Shape 19"/>
          <p:cNvSpPr/>
          <p:nvPr/>
        </p:nvSpPr>
        <p:spPr>
          <a:xfrm>
            <a:off x="6268339" y="5678531"/>
            <a:ext cx="5550444" cy="796987"/>
          </a:xfrm>
          <a:custGeom>
            <a:avLst/>
            <a:gdLst/>
            <a:ahLst/>
            <a:cxnLst/>
            <a:rect l="l" t="t" r="r" b="b"/>
            <a:pathLst>
              <a:path w="5550444" h="796987">
                <a:moveTo>
                  <a:pt x="0" y="0"/>
                </a:moveTo>
                <a:lnTo>
                  <a:pt x="5550444" y="0"/>
                </a:lnTo>
                <a:lnTo>
                  <a:pt x="5550444" y="796987"/>
                </a:lnTo>
                <a:lnTo>
                  <a:pt x="0" y="796987"/>
                </a:lnTo>
                <a:lnTo>
                  <a:pt x="0" y="0"/>
                </a:lnTo>
                <a:close/>
              </a:path>
            </a:pathLst>
          </a:custGeom>
          <a:solidFill>
            <a:srgbClr val="F8F9FA"/>
          </a:solidFill>
          <a:ln/>
        </p:spPr>
      </p:sp>
      <p:sp>
        <p:nvSpPr>
          <p:cNvPr id="22" name="Shape 20"/>
          <p:cNvSpPr/>
          <p:nvPr/>
        </p:nvSpPr>
        <p:spPr>
          <a:xfrm>
            <a:off x="6268339" y="5678531"/>
            <a:ext cx="37952" cy="796987"/>
          </a:xfrm>
          <a:custGeom>
            <a:avLst/>
            <a:gdLst/>
            <a:ahLst/>
            <a:cxnLst/>
            <a:rect l="l" t="t" r="r" b="b"/>
            <a:pathLst>
              <a:path w="37952" h="796987">
                <a:moveTo>
                  <a:pt x="0" y="0"/>
                </a:moveTo>
                <a:lnTo>
                  <a:pt x="37952" y="0"/>
                </a:lnTo>
                <a:lnTo>
                  <a:pt x="37952" y="796987"/>
                </a:lnTo>
                <a:lnTo>
                  <a:pt x="0" y="796987"/>
                </a:lnTo>
                <a:lnTo>
                  <a:pt x="0" y="0"/>
                </a:lnTo>
                <a:close/>
              </a:path>
            </a:pathLst>
          </a:custGeom>
          <a:solidFill>
            <a:srgbClr val="0984E3"/>
          </a:solidFill>
          <a:ln/>
        </p:spPr>
      </p:sp>
      <p:sp>
        <p:nvSpPr>
          <p:cNvPr id="23" name="Text 21"/>
          <p:cNvSpPr/>
          <p:nvPr/>
        </p:nvSpPr>
        <p:spPr>
          <a:xfrm>
            <a:off x="6439122" y="5830338"/>
            <a:ext cx="5303757" cy="493373"/>
          </a:xfrm>
          <a:prstGeom prst="rect">
            <a:avLst/>
          </a:prstGeom>
          <a:noFill/>
          <a:ln/>
        </p:spPr>
        <p:txBody>
          <a:bodyPr wrap="square" lIns="0" tIns="0" rIns="0" bIns="0" rtlCol="0" anchor="ctr"/>
          <a:lstStyle/>
          <a:p>
            <a:pPr>
              <a:lnSpc>
                <a:spcPct val="140000"/>
              </a:lnSpc>
            </a:pPr>
            <a:r>
              <a:rPr lang="en-US" sz="1195" b="1" dirty="0">
                <a:solidFill>
                  <a:srgbClr val="1E272E"/>
                </a:solidFill>
                <a:latin typeface="Quattrocento Sans" pitchFamily="34" charset="0"/>
                <a:ea typeface="Quattrocento Sans" pitchFamily="34" charset="-122"/>
                <a:cs typeface="Quattrocento Sans" pitchFamily="34" charset="-120"/>
              </a:rPr>
              <a:t>Key Insight:</a:t>
            </a:r>
            <a:pPr>
              <a:lnSpc>
                <a:spcPct val="140000"/>
              </a:lnSpc>
            </a:pPr>
            <a:r>
              <a:rPr lang="en-US" sz="1195" dirty="0">
                <a:solidFill>
                  <a:srgbClr val="1E272E"/>
                </a:solidFill>
                <a:latin typeface="Quattrocento Sans" pitchFamily="34" charset="0"/>
                <a:ea typeface="Quattrocento Sans" pitchFamily="34" charset="-122"/>
                <a:cs typeface="Quattrocento Sans" pitchFamily="34" charset="-120"/>
              </a:rPr>
              <a:t> Mixed strategies make players indifferent to opponent's choices, creating equilibrium through unpredictability.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06692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04</a:t>
            </a:r>
            <a:endParaRPr lang="en-US" sz="1600" dirty="0"/>
          </a:p>
        </p:txBody>
      </p:sp>
      <p:sp>
        <p:nvSpPr>
          <p:cNvPr id="3" name="Text 1"/>
          <p:cNvSpPr/>
          <p:nvPr/>
        </p:nvSpPr>
        <p:spPr>
          <a:xfrm>
            <a:off x="609600" y="3438525"/>
            <a:ext cx="11868150" cy="5715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Types of Games</a:t>
            </a:r>
            <a:endParaRPr lang="en-US" sz="1600" dirty="0"/>
          </a:p>
        </p:txBody>
      </p:sp>
      <p:sp>
        <p:nvSpPr>
          <p:cNvPr id="4" name="Shape 2"/>
          <p:cNvSpPr/>
          <p:nvPr/>
        </p:nvSpPr>
        <p:spPr>
          <a:xfrm>
            <a:off x="609600" y="423862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48627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Classifying strategic interactions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6231" y="356231"/>
            <a:ext cx="11550785" cy="213738"/>
          </a:xfrm>
          <a:prstGeom prst="rect">
            <a:avLst/>
          </a:prstGeom>
          <a:noFill/>
          <a:ln/>
        </p:spPr>
        <p:txBody>
          <a:bodyPr wrap="square" lIns="0" tIns="0" rIns="0" bIns="0" rtlCol="0" anchor="ctr"/>
          <a:lstStyle/>
          <a:p>
            <a:pPr>
              <a:lnSpc>
                <a:spcPct val="130000"/>
              </a:lnSpc>
            </a:pPr>
            <a:r>
              <a:rPr lang="en-US" sz="1122" b="1" spc="56" kern="0" dirty="0">
                <a:solidFill>
                  <a:srgbClr val="0984E3"/>
                </a:solidFill>
                <a:latin typeface="Quattrocento Sans" pitchFamily="34" charset="0"/>
                <a:ea typeface="Quattrocento Sans" pitchFamily="34" charset="-122"/>
                <a:cs typeface="Quattrocento Sans" pitchFamily="34" charset="-120"/>
              </a:rPr>
              <a:t>CLASSIFICATION FRAMEWORK</a:t>
            </a:r>
            <a:endParaRPr lang="en-US" sz="1600" dirty="0"/>
          </a:p>
        </p:txBody>
      </p:sp>
      <p:sp>
        <p:nvSpPr>
          <p:cNvPr id="3" name="Text 1"/>
          <p:cNvSpPr/>
          <p:nvPr/>
        </p:nvSpPr>
        <p:spPr>
          <a:xfrm>
            <a:off x="356231" y="641215"/>
            <a:ext cx="11693277" cy="427477"/>
          </a:xfrm>
          <a:prstGeom prst="rect">
            <a:avLst/>
          </a:prstGeom>
          <a:noFill/>
          <a:ln/>
        </p:spPr>
        <p:txBody>
          <a:bodyPr wrap="square" lIns="0" tIns="0" rIns="0" bIns="0" rtlCol="0" anchor="ctr"/>
          <a:lstStyle/>
          <a:p>
            <a:pPr>
              <a:lnSpc>
                <a:spcPct val="80000"/>
              </a:lnSpc>
            </a:pPr>
            <a:r>
              <a:rPr lang="en-US" sz="3366" b="1" dirty="0">
                <a:solidFill>
                  <a:srgbClr val="2D3436"/>
                </a:solidFill>
                <a:latin typeface="Oranienbaum" pitchFamily="34" charset="0"/>
                <a:ea typeface="Oranienbaum" pitchFamily="34" charset="-122"/>
                <a:cs typeface="Oranienbaum" pitchFamily="34" charset="-120"/>
              </a:rPr>
              <a:t>Game Classification Framework</a:t>
            </a:r>
            <a:endParaRPr lang="en-US" sz="1600" dirty="0"/>
          </a:p>
        </p:txBody>
      </p:sp>
      <p:sp>
        <p:nvSpPr>
          <p:cNvPr id="4" name="Shape 2"/>
          <p:cNvSpPr/>
          <p:nvPr/>
        </p:nvSpPr>
        <p:spPr>
          <a:xfrm>
            <a:off x="36068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5" name="Shape 3"/>
          <p:cNvSpPr/>
          <p:nvPr/>
        </p:nvSpPr>
        <p:spPr>
          <a:xfrm>
            <a:off x="54325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6" name="Shape 4"/>
          <p:cNvSpPr/>
          <p:nvPr/>
        </p:nvSpPr>
        <p:spPr>
          <a:xfrm>
            <a:off x="656801" y="1594133"/>
            <a:ext cx="200380" cy="178115"/>
          </a:xfrm>
          <a:custGeom>
            <a:avLst/>
            <a:gdLst/>
            <a:ahLst/>
            <a:cxn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p:spPr>
      </p:sp>
      <p:sp>
        <p:nvSpPr>
          <p:cNvPr id="7" name="Text 5"/>
          <p:cNvSpPr/>
          <p:nvPr/>
        </p:nvSpPr>
        <p:spPr>
          <a:xfrm>
            <a:off x="1077598" y="1558510"/>
            <a:ext cx="2342218"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Cooperative vs Non-Cooperative</a:t>
            </a:r>
            <a:endParaRPr lang="en-US" sz="1600" dirty="0"/>
          </a:p>
        </p:txBody>
      </p:sp>
      <p:sp>
        <p:nvSpPr>
          <p:cNvPr id="8" name="Text 6"/>
          <p:cNvSpPr/>
          <p:nvPr/>
        </p:nvSpPr>
        <p:spPr>
          <a:xfrm>
            <a:off x="54325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Cooperative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allow binding agreements and coalition formation. Players work together to maximize collective payoff, then divide the gains.</a:t>
            </a:r>
            <a:endParaRPr lang="en-US" sz="1600" dirty="0"/>
          </a:p>
        </p:txBody>
      </p:sp>
      <p:sp>
        <p:nvSpPr>
          <p:cNvPr id="9" name="Text 7"/>
          <p:cNvSpPr/>
          <p:nvPr/>
        </p:nvSpPr>
        <p:spPr>
          <a:xfrm>
            <a:off x="543252" y="2805318"/>
            <a:ext cx="3402004" cy="92620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Non-cooperative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assume independent decision-making without enforceable agreements. Each player pursues self-interest through strategic interaction.</a:t>
            </a:r>
            <a:endParaRPr lang="en-US" sz="1600" dirty="0"/>
          </a:p>
        </p:txBody>
      </p:sp>
      <p:sp>
        <p:nvSpPr>
          <p:cNvPr id="10" name="Shape 8"/>
          <p:cNvSpPr/>
          <p:nvPr/>
        </p:nvSpPr>
        <p:spPr>
          <a:xfrm>
            <a:off x="424617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11" name="Shape 9"/>
          <p:cNvSpPr/>
          <p:nvPr/>
        </p:nvSpPr>
        <p:spPr>
          <a:xfrm>
            <a:off x="442874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12" name="Shape 10"/>
          <p:cNvSpPr/>
          <p:nvPr/>
        </p:nvSpPr>
        <p:spPr>
          <a:xfrm>
            <a:off x="4542291" y="1594133"/>
            <a:ext cx="200380" cy="178115"/>
          </a:xfrm>
          <a:custGeom>
            <a:avLst/>
            <a:gdLst/>
            <a:ahLst/>
            <a:cxn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p:spPr>
      </p:sp>
      <p:sp>
        <p:nvSpPr>
          <p:cNvPr id="13" name="Text 11"/>
          <p:cNvSpPr/>
          <p:nvPr/>
        </p:nvSpPr>
        <p:spPr>
          <a:xfrm>
            <a:off x="4963089" y="1558510"/>
            <a:ext cx="2431275"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Perfect vs Imperfect Information</a:t>
            </a:r>
            <a:endParaRPr lang="en-US" sz="1600" dirty="0"/>
          </a:p>
        </p:txBody>
      </p:sp>
      <p:sp>
        <p:nvSpPr>
          <p:cNvPr id="14" name="Text 12"/>
          <p:cNvSpPr/>
          <p:nvPr/>
        </p:nvSpPr>
        <p:spPr>
          <a:xfrm>
            <a:off x="442874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Perfect information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(e.g., chess) allow players to observe all previous moves. Each decision is made with complete knowledge of the game's history.</a:t>
            </a:r>
            <a:endParaRPr lang="en-US" sz="1600" dirty="0"/>
          </a:p>
        </p:txBody>
      </p:sp>
      <p:sp>
        <p:nvSpPr>
          <p:cNvPr id="15" name="Text 13"/>
          <p:cNvSpPr/>
          <p:nvPr/>
        </p:nvSpPr>
        <p:spPr>
          <a:xfrm>
            <a:off x="4428742" y="2805318"/>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Imperfect information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(e.g., poker) involve hidden information. Players must make decisions without knowing opponents' cards or actions.</a:t>
            </a:r>
            <a:endParaRPr lang="en-US" sz="1600" dirty="0"/>
          </a:p>
        </p:txBody>
      </p:sp>
      <p:sp>
        <p:nvSpPr>
          <p:cNvPr id="16" name="Shape 14"/>
          <p:cNvSpPr/>
          <p:nvPr/>
        </p:nvSpPr>
        <p:spPr>
          <a:xfrm>
            <a:off x="8131734" y="1286884"/>
            <a:ext cx="3695895" cy="2627202"/>
          </a:xfrm>
          <a:custGeom>
            <a:avLst/>
            <a:gdLst/>
            <a:ahLst/>
            <a:cxn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prstDash val="solid"/>
          </a:ln>
        </p:spPr>
      </p:sp>
      <p:sp>
        <p:nvSpPr>
          <p:cNvPr id="17" name="Shape 15"/>
          <p:cNvSpPr/>
          <p:nvPr/>
        </p:nvSpPr>
        <p:spPr>
          <a:xfrm>
            <a:off x="8314302" y="1469452"/>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18" name="Shape 16"/>
          <p:cNvSpPr/>
          <p:nvPr/>
        </p:nvSpPr>
        <p:spPr>
          <a:xfrm>
            <a:off x="8438983" y="1594133"/>
            <a:ext cx="178115" cy="178115"/>
          </a:xfrm>
          <a:custGeom>
            <a:avLst/>
            <a:gdLst/>
            <a:ahLst/>
            <a:cxn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p:spPr>
      </p:sp>
      <p:sp>
        <p:nvSpPr>
          <p:cNvPr id="19" name="Text 17"/>
          <p:cNvSpPr/>
          <p:nvPr/>
        </p:nvSpPr>
        <p:spPr>
          <a:xfrm>
            <a:off x="8848648" y="1558510"/>
            <a:ext cx="2039421"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Simultaneous vs Sequential</a:t>
            </a:r>
            <a:endParaRPr lang="en-US" sz="1600" dirty="0"/>
          </a:p>
        </p:txBody>
      </p:sp>
      <p:sp>
        <p:nvSpPr>
          <p:cNvPr id="20" name="Text 18"/>
          <p:cNvSpPr/>
          <p:nvPr/>
        </p:nvSpPr>
        <p:spPr>
          <a:xfrm>
            <a:off x="8314302" y="2003798"/>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Simultaneous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require players to choose strategies without knowing others' choices. Represented by payoff matrices.</a:t>
            </a:r>
            <a:endParaRPr lang="en-US" sz="1600" dirty="0"/>
          </a:p>
        </p:txBody>
      </p:sp>
      <p:sp>
        <p:nvSpPr>
          <p:cNvPr id="21" name="Text 19"/>
          <p:cNvSpPr/>
          <p:nvPr/>
        </p:nvSpPr>
        <p:spPr>
          <a:xfrm>
            <a:off x="8314302" y="2805318"/>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Sequential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involve turn-taking, with later players observing earlier moves. Analyzed using game trees and backward induction.</a:t>
            </a:r>
            <a:endParaRPr lang="en-US" sz="1600" dirty="0"/>
          </a:p>
        </p:txBody>
      </p:sp>
      <p:sp>
        <p:nvSpPr>
          <p:cNvPr id="22" name="Shape 20"/>
          <p:cNvSpPr/>
          <p:nvPr/>
        </p:nvSpPr>
        <p:spPr>
          <a:xfrm>
            <a:off x="360684" y="4101107"/>
            <a:ext cx="3695895" cy="2395652"/>
          </a:xfrm>
          <a:custGeom>
            <a:avLst/>
            <a:gdLst/>
            <a:ahLst/>
            <a:cxn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prstDash val="solid"/>
          </a:ln>
        </p:spPr>
      </p:sp>
      <p:sp>
        <p:nvSpPr>
          <p:cNvPr id="23" name="Shape 21"/>
          <p:cNvSpPr/>
          <p:nvPr/>
        </p:nvSpPr>
        <p:spPr>
          <a:xfrm>
            <a:off x="543252" y="4283676"/>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0984E3"/>
          </a:solidFill>
          <a:ln/>
        </p:spPr>
      </p:sp>
      <p:sp>
        <p:nvSpPr>
          <p:cNvPr id="24" name="Shape 22"/>
          <p:cNvSpPr/>
          <p:nvPr/>
        </p:nvSpPr>
        <p:spPr>
          <a:xfrm>
            <a:off x="645668" y="4408356"/>
            <a:ext cx="222644" cy="178115"/>
          </a:xfrm>
          <a:custGeom>
            <a:avLst/>
            <a:gdLst/>
            <a:ahLst/>
            <a:cxn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p:spPr>
      </p:sp>
      <p:sp>
        <p:nvSpPr>
          <p:cNvPr id="25" name="Text 23"/>
          <p:cNvSpPr/>
          <p:nvPr/>
        </p:nvSpPr>
        <p:spPr>
          <a:xfrm>
            <a:off x="1077598" y="4372733"/>
            <a:ext cx="1932552"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Symmetric vs Asymmetric</a:t>
            </a:r>
            <a:endParaRPr lang="en-US" sz="1600" dirty="0"/>
          </a:p>
        </p:txBody>
      </p:sp>
      <p:sp>
        <p:nvSpPr>
          <p:cNvPr id="26" name="Text 24"/>
          <p:cNvSpPr/>
          <p:nvPr/>
        </p:nvSpPr>
        <p:spPr>
          <a:xfrm>
            <a:off x="543252" y="4818022"/>
            <a:ext cx="3402004"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Symmetric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have identical strategy sets and payoff structures for all players. Players are interchangeable.</a:t>
            </a:r>
            <a:endParaRPr lang="en-US" sz="1600" dirty="0"/>
          </a:p>
        </p:txBody>
      </p:sp>
      <p:sp>
        <p:nvSpPr>
          <p:cNvPr id="27" name="Text 25"/>
          <p:cNvSpPr/>
          <p:nvPr/>
        </p:nvSpPr>
        <p:spPr>
          <a:xfrm>
            <a:off x="543252" y="5619541"/>
            <a:ext cx="3402004" cy="694650"/>
          </a:xfrm>
          <a:prstGeom prst="rect">
            <a:avLst/>
          </a:prstGeom>
          <a:noFill/>
          <a:ln/>
        </p:spPr>
        <p:txBody>
          <a:bodyPr wrap="square" lIns="0" tIns="0" rIns="0" bIns="0" rtlCol="0" anchor="ctr"/>
          <a:lstStyle/>
          <a:p>
            <a:pPr>
              <a:lnSpc>
                <a:spcPct val="140000"/>
              </a:lnSpc>
            </a:pPr>
            <a:r>
              <a:rPr lang="en-US" sz="1122" b="1" dirty="0">
                <a:solidFill>
                  <a:srgbClr val="636E72"/>
                </a:solidFill>
                <a:latin typeface="Quattrocento Sans" pitchFamily="34" charset="0"/>
                <a:ea typeface="Quattrocento Sans" pitchFamily="34" charset="-122"/>
                <a:cs typeface="Quattrocento Sans" pitchFamily="34" charset="-120"/>
              </a:rPr>
              <a:t>Asymmetric games</a:t>
            </a:r>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 feature different roles, strategies, or payoff functions. Players have distinct positions and objectives.</a:t>
            </a:r>
            <a:endParaRPr lang="en-US" sz="1600" dirty="0"/>
          </a:p>
        </p:txBody>
      </p:sp>
      <p:sp>
        <p:nvSpPr>
          <p:cNvPr id="28" name="Shape 26"/>
          <p:cNvSpPr/>
          <p:nvPr/>
        </p:nvSpPr>
        <p:spPr>
          <a:xfrm>
            <a:off x="4246174" y="4101107"/>
            <a:ext cx="7587717" cy="2395652"/>
          </a:xfrm>
          <a:custGeom>
            <a:avLst/>
            <a:gdLst/>
            <a:ahLst/>
            <a:cxn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prstDash val="solid"/>
          </a:ln>
        </p:spPr>
      </p:sp>
      <p:sp>
        <p:nvSpPr>
          <p:cNvPr id="29" name="Shape 27"/>
          <p:cNvSpPr/>
          <p:nvPr/>
        </p:nvSpPr>
        <p:spPr>
          <a:xfrm>
            <a:off x="4428742" y="4283676"/>
            <a:ext cx="427477" cy="427477"/>
          </a:xfrm>
          <a:custGeom>
            <a:avLst/>
            <a:gdLst/>
            <a:ahLst/>
            <a:cxnLst/>
            <a:rect l="l" t="t" r="r" b="b"/>
            <a:pathLst>
              <a:path w="427477" h="427477">
                <a:moveTo>
                  <a:pt x="0" y="0"/>
                </a:moveTo>
                <a:lnTo>
                  <a:pt x="427477" y="0"/>
                </a:lnTo>
                <a:lnTo>
                  <a:pt x="427477" y="427477"/>
                </a:lnTo>
                <a:lnTo>
                  <a:pt x="0" y="427477"/>
                </a:lnTo>
                <a:lnTo>
                  <a:pt x="0" y="0"/>
                </a:lnTo>
                <a:close/>
              </a:path>
            </a:pathLst>
          </a:custGeom>
          <a:solidFill>
            <a:srgbClr val="2D3436"/>
          </a:solidFill>
          <a:ln/>
        </p:spPr>
      </p:sp>
      <p:sp>
        <p:nvSpPr>
          <p:cNvPr id="30" name="Shape 28"/>
          <p:cNvSpPr/>
          <p:nvPr/>
        </p:nvSpPr>
        <p:spPr>
          <a:xfrm>
            <a:off x="4553423" y="4408356"/>
            <a:ext cx="178115" cy="178115"/>
          </a:xfrm>
          <a:custGeom>
            <a:avLst/>
            <a:gdLst/>
            <a:ahLst/>
            <a:cxn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p:spPr>
      </p:sp>
      <p:sp>
        <p:nvSpPr>
          <p:cNvPr id="31" name="Text 29"/>
          <p:cNvSpPr/>
          <p:nvPr/>
        </p:nvSpPr>
        <p:spPr>
          <a:xfrm>
            <a:off x="4963089" y="4372733"/>
            <a:ext cx="2048327" cy="249362"/>
          </a:xfrm>
          <a:prstGeom prst="rect">
            <a:avLst/>
          </a:prstGeom>
          <a:noFill/>
          <a:ln/>
        </p:spPr>
        <p:txBody>
          <a:bodyPr wrap="square" lIns="0" tIns="0" rIns="0" bIns="0" rtlCol="0" anchor="ctr"/>
          <a:lstStyle/>
          <a:p>
            <a:pPr>
              <a:lnSpc>
                <a:spcPct val="120000"/>
              </a:lnSpc>
            </a:pPr>
            <a:r>
              <a:rPr lang="en-US" sz="1402" b="1" dirty="0">
                <a:solidFill>
                  <a:srgbClr val="2D3436"/>
                </a:solidFill>
                <a:latin typeface="Oranienbaum" pitchFamily="34" charset="0"/>
                <a:ea typeface="Oranienbaum" pitchFamily="34" charset="-122"/>
                <a:cs typeface="Oranienbaum" pitchFamily="34" charset="-120"/>
              </a:rPr>
              <a:t>Zero-Sum vs Non-Zero-Sum</a:t>
            </a:r>
            <a:endParaRPr lang="en-US" sz="1600" dirty="0"/>
          </a:p>
        </p:txBody>
      </p:sp>
      <p:sp>
        <p:nvSpPr>
          <p:cNvPr id="32" name="Text 30"/>
          <p:cNvSpPr/>
          <p:nvPr/>
        </p:nvSpPr>
        <p:spPr>
          <a:xfrm>
            <a:off x="4428742" y="4818022"/>
            <a:ext cx="3606837"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Zero-sum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represent pure competition: one player's gain equals another's loss. Total payoff is constant.</a:t>
            </a:r>
            <a:endParaRPr lang="en-US" sz="1600" dirty="0"/>
          </a:p>
        </p:txBody>
      </p:sp>
      <p:sp>
        <p:nvSpPr>
          <p:cNvPr id="33" name="Text 31"/>
          <p:cNvSpPr/>
          <p:nvPr/>
        </p:nvSpPr>
        <p:spPr>
          <a:xfrm>
            <a:off x="4428742" y="5583918"/>
            <a:ext cx="3606837" cy="463100"/>
          </a:xfrm>
          <a:prstGeom prst="rect">
            <a:avLst/>
          </a:prstGeom>
          <a:noFill/>
          <a:ln/>
        </p:spPr>
        <p:txBody>
          <a:bodyPr wrap="square" lIns="0" tIns="0" rIns="0" bIns="0" rtlCol="0" anchor="ctr"/>
          <a:lstStyle/>
          <a:p>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Examples: Poker, chess, competitive sports. Mathematically: Σpayoffs = constant</a:t>
            </a:r>
            <a:endParaRPr lang="en-US" sz="1600" dirty="0"/>
          </a:p>
        </p:txBody>
      </p:sp>
      <p:sp>
        <p:nvSpPr>
          <p:cNvPr id="34" name="Text 32"/>
          <p:cNvSpPr/>
          <p:nvPr/>
        </p:nvSpPr>
        <p:spPr>
          <a:xfrm>
            <a:off x="8109470" y="4818022"/>
            <a:ext cx="3606837" cy="694650"/>
          </a:xfrm>
          <a:prstGeom prst="rect">
            <a:avLst/>
          </a:prstGeom>
          <a:noFill/>
          <a:ln/>
        </p:spPr>
        <p:txBody>
          <a:bodyPr wrap="square" lIns="0" tIns="0" rIns="0" bIns="0" rtlCol="0" anchor="ctr"/>
          <a:lstStyle/>
          <a:p>
            <a:pPr>
              <a:lnSpc>
                <a:spcPct val="140000"/>
              </a:lnSpc>
            </a:pPr>
            <a:r>
              <a:rPr lang="en-US" sz="1122" b="1" dirty="0">
                <a:solidFill>
                  <a:srgbClr val="1E272E"/>
                </a:solidFill>
                <a:latin typeface="Quattrocento Sans" pitchFamily="34" charset="0"/>
                <a:ea typeface="Quattrocento Sans" pitchFamily="34" charset="-122"/>
                <a:cs typeface="Quattrocento Sans" pitchFamily="34" charset="-120"/>
              </a:rPr>
              <a:t>Non-zero-sum games</a:t>
            </a:r>
            <a:pPr>
              <a:lnSpc>
                <a:spcPct val="140000"/>
              </a:lnSpc>
            </a:pPr>
            <a:r>
              <a:rPr lang="en-US" sz="1122" dirty="0">
                <a:solidFill>
                  <a:srgbClr val="1E272E"/>
                </a:solidFill>
                <a:latin typeface="Quattrocento Sans" pitchFamily="34" charset="0"/>
                <a:ea typeface="Quattrocento Sans" pitchFamily="34" charset="-122"/>
                <a:cs typeface="Quattrocento Sans" pitchFamily="34" charset="-120"/>
              </a:rPr>
              <a:t> allow mutual gain or loss. Cooperation can benefit all players; conflict can harm everyone.</a:t>
            </a:r>
            <a:endParaRPr lang="en-US" sz="1600" dirty="0"/>
          </a:p>
        </p:txBody>
      </p:sp>
      <p:sp>
        <p:nvSpPr>
          <p:cNvPr id="35" name="Text 33"/>
          <p:cNvSpPr/>
          <p:nvPr/>
        </p:nvSpPr>
        <p:spPr>
          <a:xfrm>
            <a:off x="8109470" y="5583918"/>
            <a:ext cx="3606837" cy="463100"/>
          </a:xfrm>
          <a:prstGeom prst="rect">
            <a:avLst/>
          </a:prstGeom>
          <a:noFill/>
          <a:ln/>
        </p:spPr>
        <p:txBody>
          <a:bodyPr wrap="square" lIns="0" tIns="0" rIns="0" bIns="0" rtlCol="0" anchor="ctr"/>
          <a:lstStyle/>
          <a:p>
            <a:pPr>
              <a:lnSpc>
                <a:spcPct val="140000"/>
              </a:lnSpc>
            </a:pPr>
            <a:r>
              <a:rPr lang="en-US" sz="1122" dirty="0">
                <a:solidFill>
                  <a:srgbClr val="636E72"/>
                </a:solidFill>
                <a:latin typeface="Quattrocento Sans" pitchFamily="34" charset="0"/>
                <a:ea typeface="Quattrocento Sans" pitchFamily="34" charset="-122"/>
                <a:cs typeface="Quattrocento Sans" pitchFamily="34" charset="-120"/>
              </a:rPr>
              <a:t>Examples: Prisoner's Dilemma, trade negotiations, environmental agreements.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06692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05</a:t>
            </a:r>
            <a:endParaRPr lang="en-US" sz="1600" dirty="0"/>
          </a:p>
        </p:txBody>
      </p:sp>
      <p:sp>
        <p:nvSpPr>
          <p:cNvPr id="3" name="Text 1"/>
          <p:cNvSpPr/>
          <p:nvPr/>
        </p:nvSpPr>
        <p:spPr>
          <a:xfrm>
            <a:off x="609600" y="3438525"/>
            <a:ext cx="11868150" cy="5715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Classic Game Models</a:t>
            </a:r>
            <a:endParaRPr lang="en-US" sz="1600" dirty="0"/>
          </a:p>
        </p:txBody>
      </p:sp>
      <p:sp>
        <p:nvSpPr>
          <p:cNvPr id="4" name="Shape 2"/>
          <p:cNvSpPr/>
          <p:nvPr/>
        </p:nvSpPr>
        <p:spPr>
          <a:xfrm>
            <a:off x="609600" y="423862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48627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Iconic examples that shaped the field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CLASSIC EXAMPLE</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The Prisoner's Dilemma</a:t>
            </a:r>
            <a:endParaRPr lang="en-US" sz="1600" dirty="0"/>
          </a:p>
        </p:txBody>
      </p:sp>
      <p:sp>
        <p:nvSpPr>
          <p:cNvPr id="4" name="Text 2"/>
          <p:cNvSpPr/>
          <p:nvPr/>
        </p:nvSpPr>
        <p:spPr>
          <a:xfrm>
            <a:off x="381000" y="1295400"/>
            <a:ext cx="5657850" cy="12382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Two suspects are arrested and interrogated separately.</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Each must choose: confess (defect) or remain silent (cooperate). The dilemma reveals the tension between individual rationality and collective optimality.</a:t>
            </a:r>
            <a:endParaRPr lang="en-US" sz="1600" dirty="0"/>
          </a:p>
        </p:txBody>
      </p:sp>
      <p:sp>
        <p:nvSpPr>
          <p:cNvPr id="5" name="Text 3"/>
          <p:cNvSpPr/>
          <p:nvPr/>
        </p:nvSpPr>
        <p:spPr>
          <a:xfrm>
            <a:off x="381000" y="2647950"/>
            <a:ext cx="5638800" cy="742950"/>
          </a:xfrm>
          <a:prstGeom prst="rect">
            <a:avLst/>
          </a:prstGeom>
          <a:noFill/>
          <a:ln/>
        </p:spPr>
        <p:txBody>
          <a:bodyPr wrap="square" lIns="0" tIns="0" rIns="0" bIns="0" rtlCol="0" anchor="ctr"/>
          <a:lstStyle/>
          <a:p>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The paradox: rational self-interest leads both to confess, resulting in worse outcomes for both than if they had cooperated. This illustrates how individual incentives can undermine collective welfare.</a:t>
            </a:r>
            <a:endParaRPr lang="en-US" sz="1600" dirty="0"/>
          </a:p>
        </p:txBody>
      </p:sp>
      <p:sp>
        <p:nvSpPr>
          <p:cNvPr id="6" name="Shape 4"/>
          <p:cNvSpPr/>
          <p:nvPr/>
        </p:nvSpPr>
        <p:spPr>
          <a:xfrm>
            <a:off x="385763" y="3548063"/>
            <a:ext cx="5553075" cy="2028825"/>
          </a:xfrm>
          <a:custGeom>
            <a:avLst/>
            <a:gdLst/>
            <a:ahLst/>
            <a:cxnLst/>
            <a:rect l="l" t="t" r="r" b="b"/>
            <a:pathLst>
              <a:path w="5553075" h="2028825">
                <a:moveTo>
                  <a:pt x="0" y="0"/>
                </a:moveTo>
                <a:lnTo>
                  <a:pt x="5553075" y="0"/>
                </a:lnTo>
                <a:lnTo>
                  <a:pt x="5553075" y="2028825"/>
                </a:lnTo>
                <a:lnTo>
                  <a:pt x="0" y="2028825"/>
                </a:lnTo>
                <a:lnTo>
                  <a:pt x="0" y="0"/>
                </a:lnTo>
                <a:close/>
              </a:path>
            </a:pathLst>
          </a:custGeom>
          <a:solidFill>
            <a:srgbClr val="FFFFFF"/>
          </a:solidFill>
          <a:ln w="12700">
            <a:solidFill>
              <a:srgbClr val="E0E0E0"/>
            </a:solidFill>
            <a:prstDash val="solid"/>
          </a:ln>
        </p:spPr>
      </p:sp>
      <p:sp>
        <p:nvSpPr>
          <p:cNvPr id="7" name="Text 5"/>
          <p:cNvSpPr/>
          <p:nvPr/>
        </p:nvSpPr>
        <p:spPr>
          <a:xfrm>
            <a:off x="495300" y="3705225"/>
            <a:ext cx="5334000"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Payoff Matrix (Years in Prison)</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2925" y="4086225"/>
          <a:ext cx="5238750" cy="1066800"/>
        </p:xfrm>
        <a:graphic>
          <a:graphicData uri="http://schemas.openxmlformats.org/drawingml/2006/table">
            <a:tbl>
              <a:tblPr/>
              <a:tblGrid>
                <a:gridCol w="1879843"/>
                <a:gridCol w="1507691"/>
                <a:gridCol w="1851216"/>
              </a:tblGrid>
              <a:tr h="355600">
                <a:tc>
                  <a:txBody>
                    <a:bodyPr/>
                    <a:lstStyle/>
                    <a:p>
                      <a:pPr algn="ct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b="1" u="none" dirty="0">
                          <a:solidFill>
                            <a:srgbClr val="2D3436"/>
                          </a:solidFill>
                          <a:latin typeface="微软雅黑" pitchFamily="34" charset="0"/>
                          <a:ea typeface="微软雅黑" pitchFamily="34" charset="-122"/>
                          <a:cs typeface="微软雅黑" pitchFamily="34" charset="-120"/>
                        </a:rPr>
                        <a:t>B: Silent</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b="1" u="none" dirty="0">
                          <a:solidFill>
                            <a:srgbClr val="2D3436"/>
                          </a:solidFill>
                          <a:latin typeface="微软雅黑" pitchFamily="34" charset="0"/>
                          <a:ea typeface="微软雅黑" pitchFamily="34" charset="-122"/>
                          <a:cs typeface="微软雅黑" pitchFamily="34" charset="-120"/>
                        </a:rPr>
                        <a:t>B: Confess</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55600">
                <a:tc>
                  <a:txBody>
                    <a:bodyPr/>
                    <a:lstStyle/>
                    <a:p>
                      <a:r>
                        <a:rPr lang="en-US" sz="1000" b="1" u="none" dirty="0">
                          <a:solidFill>
                            <a:srgbClr val="2D3436"/>
                          </a:solidFill>
                          <a:latin typeface="微软雅黑" pitchFamily="34" charset="0"/>
                          <a:ea typeface="微软雅黑" pitchFamily="34" charset="-122"/>
                          <a:cs typeface="微软雅黑" pitchFamily="34" charset="-120"/>
                        </a:rPr>
                        <a:t>A: Silent</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(-1, -1)</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(-10, 0)</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55600">
                <a:tc>
                  <a:txBody>
                    <a:bodyPr/>
                    <a:lstStyle/>
                    <a:p>
                      <a:r>
                        <a:rPr lang="en-US" sz="1000" b="1" u="none" dirty="0">
                          <a:solidFill>
                            <a:srgbClr val="2D3436"/>
                          </a:solidFill>
                          <a:latin typeface="微软雅黑" pitchFamily="34" charset="0"/>
                          <a:ea typeface="微软雅黑" pitchFamily="34" charset="-122"/>
                          <a:cs typeface="微软雅黑" pitchFamily="34" charset="-120"/>
                        </a:rPr>
                        <a:t>A: Confess</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(0, -10)</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E272E"/>
                          </a:solidFill>
                          <a:latin typeface="微软雅黑" pitchFamily="34" charset="0"/>
                          <a:ea typeface="微软雅黑" pitchFamily="34" charset="-122"/>
                          <a:cs typeface="微软雅黑" pitchFamily="34" charset="-120"/>
                        </a:rPr>
                        <a:t>(-5, -5)</a:t>
                      </a:r>
                      <a:endParaRPr lang="en-US" sz="1000" dirty="0">
                        <a:latin typeface="微软雅黑" charset="0"/>
                        <a:ea typeface="微软雅黑" charset="0"/>
                        <a:cs typeface="微软雅黑" charset="0"/>
                      </a:endParaRPr>
                    </a:p>
                  </a:txBody>
                  <a:tcPr marL="76200" marR="76200" marT="76200" marB="762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r>
            </a:tbl>
          </a:graphicData>
        </a:graphic>
      </p:graphicFrame>
      <p:sp>
        <p:nvSpPr>
          <p:cNvPr id="9" name="Text 6"/>
          <p:cNvSpPr/>
          <p:nvPr/>
        </p:nvSpPr>
        <p:spPr>
          <a:xfrm>
            <a:off x="509587" y="5229225"/>
            <a:ext cx="5305425" cy="190500"/>
          </a:xfrm>
          <a:prstGeom prst="rect">
            <a:avLst/>
          </a:prstGeom>
          <a:noFill/>
          <a:ln/>
        </p:spPr>
        <p:txBody>
          <a:bodyPr wrap="square" lIns="0" tIns="0" rIns="0" bIns="0" rtlCol="0" anchor="ctr"/>
          <a:lstStyle/>
          <a:p>
            <a:pPr algn="ctr">
              <a:lnSpc>
                <a:spcPct val="120000"/>
              </a:lnSpc>
            </a:pPr>
            <a:r>
              <a:rPr lang="en-US" sz="1050" dirty="0">
                <a:solidFill>
                  <a:srgbClr val="636E72"/>
                </a:solidFill>
                <a:latin typeface="Quattrocento Sans" pitchFamily="34" charset="0"/>
                <a:ea typeface="Quattrocento Sans" pitchFamily="34" charset="-122"/>
                <a:cs typeface="Quattrocento Sans" pitchFamily="34" charset="-120"/>
              </a:rPr>
              <a:t>Nash Equilibrium highlighted in blue</a:t>
            </a:r>
            <a:endParaRPr lang="en-US" sz="1600" dirty="0"/>
          </a:p>
        </p:txBody>
      </p:sp>
      <p:sp>
        <p:nvSpPr>
          <p:cNvPr id="10" name="Shape 7"/>
          <p:cNvSpPr/>
          <p:nvPr/>
        </p:nvSpPr>
        <p:spPr>
          <a:xfrm>
            <a:off x="6253163" y="1300163"/>
            <a:ext cx="5553075" cy="1609725"/>
          </a:xfrm>
          <a:custGeom>
            <a:avLst/>
            <a:gdLst/>
            <a:ahLst/>
            <a:cxnLst/>
            <a:rect l="l" t="t" r="r" b="b"/>
            <a:pathLst>
              <a:path w="5553075" h="1609725">
                <a:moveTo>
                  <a:pt x="0" y="0"/>
                </a:moveTo>
                <a:lnTo>
                  <a:pt x="5553075" y="0"/>
                </a:lnTo>
                <a:lnTo>
                  <a:pt x="5553075" y="1609725"/>
                </a:lnTo>
                <a:lnTo>
                  <a:pt x="0" y="1609725"/>
                </a:lnTo>
                <a:lnTo>
                  <a:pt x="0" y="0"/>
                </a:lnTo>
                <a:close/>
              </a:path>
            </a:pathLst>
          </a:custGeom>
          <a:solidFill>
            <a:srgbClr val="FFFFFF"/>
          </a:solidFill>
          <a:ln w="12700">
            <a:solidFill>
              <a:srgbClr val="E0E0E0"/>
            </a:solidFill>
            <a:prstDash val="solid"/>
          </a:ln>
        </p:spPr>
      </p:sp>
      <p:sp>
        <p:nvSpPr>
          <p:cNvPr id="11" name="Text 8"/>
          <p:cNvSpPr/>
          <p:nvPr/>
        </p:nvSpPr>
        <p:spPr>
          <a:xfrm>
            <a:off x="6448425" y="1495425"/>
            <a:ext cx="525780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Why Confession is Dominant</a:t>
            </a:r>
            <a:endParaRPr lang="en-US" sz="1600" dirty="0"/>
          </a:p>
        </p:txBody>
      </p:sp>
      <p:sp>
        <p:nvSpPr>
          <p:cNvPr id="12" name="Text 9"/>
          <p:cNvSpPr/>
          <p:nvPr/>
        </p:nvSpPr>
        <p:spPr>
          <a:xfrm>
            <a:off x="6448425" y="1876425"/>
            <a:ext cx="52387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If B is silent:</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 gets 0 years (confess) vs. -1 year (silent) → Confess better</a:t>
            </a:r>
            <a:endParaRPr lang="en-US" sz="1600" dirty="0"/>
          </a:p>
        </p:txBody>
      </p:sp>
      <p:sp>
        <p:nvSpPr>
          <p:cNvPr id="13" name="Text 10"/>
          <p:cNvSpPr/>
          <p:nvPr/>
        </p:nvSpPr>
        <p:spPr>
          <a:xfrm>
            <a:off x="6448425" y="2181225"/>
            <a:ext cx="5238750"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Quattrocento Sans" pitchFamily="34" charset="0"/>
                <a:ea typeface="Quattrocento Sans" pitchFamily="34" charset="-122"/>
                <a:cs typeface="Quattrocento Sans" pitchFamily="34" charset="-120"/>
              </a:rPr>
              <a:t>If B confesses: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 gets -5 years (confess) vs. -10 years (silent) → Confess better</a:t>
            </a:r>
            <a:endParaRPr lang="en-US" sz="1600" dirty="0"/>
          </a:p>
        </p:txBody>
      </p:sp>
      <p:sp>
        <p:nvSpPr>
          <p:cNvPr id="14" name="Text 11"/>
          <p:cNvSpPr/>
          <p:nvPr/>
        </p:nvSpPr>
        <p:spPr>
          <a:xfrm>
            <a:off x="6448425" y="2486025"/>
            <a:ext cx="5238750" cy="228600"/>
          </a:xfrm>
          <a:prstGeom prst="rect">
            <a:avLst/>
          </a:prstGeom>
          <a:noFill/>
          <a:ln/>
        </p:spPr>
        <p:txBody>
          <a:bodyPr wrap="square" lIns="0" tIns="0" rIns="0" bIns="0" rtlCol="0" anchor="ctr"/>
          <a:lstStyle/>
          <a:p>
            <a:pPr>
              <a:lnSpc>
                <a:spcPct val="130000"/>
              </a:lnSpc>
            </a:pPr>
            <a:r>
              <a:rPr lang="en-US" sz="1200" b="1" dirty="0">
                <a:solidFill>
                  <a:srgbClr val="0984E3"/>
                </a:solidFill>
                <a:latin typeface="Quattrocento Sans" pitchFamily="34" charset="0"/>
                <a:ea typeface="Quattrocento Sans" pitchFamily="34" charset="-122"/>
                <a:cs typeface="Quattrocento Sans" pitchFamily="34" charset="-120"/>
              </a:rPr>
              <a:t>Confessing is always better, regardless of B's choice</a:t>
            </a:r>
            <a:endParaRPr lang="en-US" sz="1600" dirty="0"/>
          </a:p>
        </p:txBody>
      </p:sp>
      <p:sp>
        <p:nvSpPr>
          <p:cNvPr id="15" name="Shape 12"/>
          <p:cNvSpPr/>
          <p:nvPr/>
        </p:nvSpPr>
        <p:spPr>
          <a:xfrm>
            <a:off x="6267450" y="3067050"/>
            <a:ext cx="5543550" cy="2133600"/>
          </a:xfrm>
          <a:custGeom>
            <a:avLst/>
            <a:gdLst/>
            <a:ahLst/>
            <a:cxnLst/>
            <a:rect l="l" t="t" r="r" b="b"/>
            <a:pathLst>
              <a:path w="5543550" h="2133600">
                <a:moveTo>
                  <a:pt x="0" y="0"/>
                </a:moveTo>
                <a:lnTo>
                  <a:pt x="5543550" y="0"/>
                </a:lnTo>
                <a:lnTo>
                  <a:pt x="5543550" y="2133600"/>
                </a:lnTo>
                <a:lnTo>
                  <a:pt x="0" y="2133600"/>
                </a:lnTo>
                <a:lnTo>
                  <a:pt x="0" y="0"/>
                </a:lnTo>
                <a:close/>
              </a:path>
            </a:pathLst>
          </a:custGeom>
          <a:solidFill>
            <a:srgbClr val="F8F9FA"/>
          </a:solidFill>
          <a:ln/>
        </p:spPr>
      </p:sp>
      <p:sp>
        <p:nvSpPr>
          <p:cNvPr id="16" name="Shape 13"/>
          <p:cNvSpPr/>
          <p:nvPr/>
        </p:nvSpPr>
        <p:spPr>
          <a:xfrm>
            <a:off x="6267450" y="3067050"/>
            <a:ext cx="38100" cy="2133600"/>
          </a:xfrm>
          <a:custGeom>
            <a:avLst/>
            <a:gdLst/>
            <a:ahLst/>
            <a:cxnLst/>
            <a:rect l="l" t="t" r="r" b="b"/>
            <a:pathLst>
              <a:path w="38100" h="2133600">
                <a:moveTo>
                  <a:pt x="0" y="0"/>
                </a:moveTo>
                <a:lnTo>
                  <a:pt x="38100" y="0"/>
                </a:lnTo>
                <a:lnTo>
                  <a:pt x="38100" y="2133600"/>
                </a:lnTo>
                <a:lnTo>
                  <a:pt x="0" y="2133600"/>
                </a:lnTo>
                <a:lnTo>
                  <a:pt x="0" y="0"/>
                </a:lnTo>
                <a:close/>
              </a:path>
            </a:pathLst>
          </a:custGeom>
          <a:solidFill>
            <a:srgbClr val="0984E3"/>
          </a:solidFill>
          <a:ln/>
        </p:spPr>
      </p:sp>
      <p:sp>
        <p:nvSpPr>
          <p:cNvPr id="17" name="Text 14"/>
          <p:cNvSpPr/>
          <p:nvPr/>
        </p:nvSpPr>
        <p:spPr>
          <a:xfrm>
            <a:off x="6477000" y="3257550"/>
            <a:ext cx="5238750"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Real-World Applications</a:t>
            </a:r>
            <a:endParaRPr lang="en-US" sz="1600" dirty="0"/>
          </a:p>
        </p:txBody>
      </p:sp>
      <p:sp>
        <p:nvSpPr>
          <p:cNvPr id="18" name="Shape 15"/>
          <p:cNvSpPr/>
          <p:nvPr/>
        </p:nvSpPr>
        <p:spPr>
          <a:xfrm>
            <a:off x="6496050" y="3671888"/>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984E3"/>
          </a:solidFill>
          <a:ln/>
        </p:spPr>
      </p:sp>
      <p:sp>
        <p:nvSpPr>
          <p:cNvPr id="19" name="Text 16"/>
          <p:cNvSpPr/>
          <p:nvPr/>
        </p:nvSpPr>
        <p:spPr>
          <a:xfrm>
            <a:off x="6724650" y="3638550"/>
            <a:ext cx="4972050"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Arms Races: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Nations build weapons despite mutual disarmament being preferable</a:t>
            </a:r>
            <a:endParaRPr lang="en-US" sz="1600" dirty="0"/>
          </a:p>
        </p:txBody>
      </p:sp>
      <p:sp>
        <p:nvSpPr>
          <p:cNvPr id="20" name="Shape 17"/>
          <p:cNvSpPr/>
          <p:nvPr/>
        </p:nvSpPr>
        <p:spPr>
          <a:xfrm>
            <a:off x="6496050" y="4205288"/>
            <a:ext cx="152400" cy="152400"/>
          </a:xfrm>
          <a:custGeom>
            <a:avLst/>
            <a:gdLst/>
            <a:ahLst/>
            <a:cxn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984E3"/>
          </a:solidFill>
          <a:ln/>
        </p:spPr>
      </p:sp>
      <p:sp>
        <p:nvSpPr>
          <p:cNvPr id="21" name="Text 18"/>
          <p:cNvSpPr/>
          <p:nvPr/>
        </p:nvSpPr>
        <p:spPr>
          <a:xfrm>
            <a:off x="6724650" y="41719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Environment:</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Overfishing and pollution despite collective harm</a:t>
            </a:r>
            <a:endParaRPr lang="en-US" sz="1600" dirty="0"/>
          </a:p>
        </p:txBody>
      </p:sp>
      <p:sp>
        <p:nvSpPr>
          <p:cNvPr id="22" name="Shape 19"/>
          <p:cNvSpPr/>
          <p:nvPr/>
        </p:nvSpPr>
        <p:spPr>
          <a:xfrm>
            <a:off x="6515100" y="4510088"/>
            <a:ext cx="114300" cy="152400"/>
          </a:xfrm>
          <a:custGeom>
            <a:avLst/>
            <a:gdLst/>
            <a:ahLst/>
            <a:cxn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0984E3"/>
          </a:solidFill>
          <a:ln/>
        </p:spPr>
      </p:sp>
      <p:sp>
        <p:nvSpPr>
          <p:cNvPr id="23" name="Text 20"/>
          <p:cNvSpPr/>
          <p:nvPr/>
        </p:nvSpPr>
        <p:spPr>
          <a:xfrm>
            <a:off x="6724650" y="44767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Business: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Price wars that reduce profits for all competitors</a:t>
            </a:r>
            <a:endParaRPr lang="en-US" sz="1600" dirty="0"/>
          </a:p>
        </p:txBody>
      </p:sp>
      <p:sp>
        <p:nvSpPr>
          <p:cNvPr id="24" name="Shape 21"/>
          <p:cNvSpPr/>
          <p:nvPr/>
        </p:nvSpPr>
        <p:spPr>
          <a:xfrm>
            <a:off x="6486525" y="4814888"/>
            <a:ext cx="171450" cy="152400"/>
          </a:xfrm>
          <a:custGeom>
            <a:avLst/>
            <a:gdLst/>
            <a:ahLst/>
            <a:cxn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0984E3"/>
          </a:solidFill>
          <a:ln/>
        </p:spPr>
      </p:sp>
      <p:sp>
        <p:nvSpPr>
          <p:cNvPr id="25" name="Text 22"/>
          <p:cNvSpPr/>
          <p:nvPr/>
        </p:nvSpPr>
        <p:spPr>
          <a:xfrm>
            <a:off x="6724650" y="4781550"/>
            <a:ext cx="4972050" cy="2286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Public Goods: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Free-riding on contributions to shared resources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8588" y="358588"/>
            <a:ext cx="11546541" cy="215153"/>
          </a:xfrm>
          <a:prstGeom prst="rect">
            <a:avLst/>
          </a:prstGeom>
          <a:noFill/>
          <a:ln/>
        </p:spPr>
        <p:txBody>
          <a:bodyPr wrap="square" lIns="0" tIns="0" rIns="0" bIns="0" rtlCol="0" anchor="ctr"/>
          <a:lstStyle/>
          <a:p>
            <a:pPr>
              <a:lnSpc>
                <a:spcPct val="120000"/>
              </a:lnSpc>
            </a:pPr>
            <a:r>
              <a:rPr lang="en-US" sz="1129" b="1" spc="56" kern="0" dirty="0">
                <a:solidFill>
                  <a:srgbClr val="0984E3"/>
                </a:solidFill>
                <a:latin typeface="Quattrocento Sans" pitchFamily="34" charset="0"/>
                <a:ea typeface="Quattrocento Sans" pitchFamily="34" charset="-122"/>
                <a:cs typeface="Quattrocento Sans" pitchFamily="34" charset="-120"/>
              </a:rPr>
              <a:t>COORDINATION &amp; CONFRONTATION</a:t>
            </a:r>
            <a:endParaRPr lang="en-US" sz="1600" dirty="0"/>
          </a:p>
        </p:txBody>
      </p:sp>
      <p:sp>
        <p:nvSpPr>
          <p:cNvPr id="3" name="Text 1"/>
          <p:cNvSpPr/>
          <p:nvPr/>
        </p:nvSpPr>
        <p:spPr>
          <a:xfrm>
            <a:off x="358588" y="645459"/>
            <a:ext cx="11689976" cy="430306"/>
          </a:xfrm>
          <a:prstGeom prst="rect">
            <a:avLst/>
          </a:prstGeom>
          <a:noFill/>
          <a:ln/>
        </p:spPr>
        <p:txBody>
          <a:bodyPr wrap="square" lIns="0" tIns="0" rIns="0" bIns="0" rtlCol="0" anchor="ctr"/>
          <a:lstStyle/>
          <a:p>
            <a:pPr>
              <a:lnSpc>
                <a:spcPct val="80000"/>
              </a:lnSpc>
            </a:pPr>
            <a:r>
              <a:rPr lang="en-US" sz="3388" b="1" dirty="0">
                <a:solidFill>
                  <a:srgbClr val="2D3436"/>
                </a:solidFill>
                <a:latin typeface="Oranienbaum" pitchFamily="34" charset="0"/>
                <a:ea typeface="Oranienbaum" pitchFamily="34" charset="-122"/>
                <a:cs typeface="Oranienbaum" pitchFamily="34" charset="-120"/>
              </a:rPr>
              <a:t>Battle of the Sexes &amp; Chicken Game</a:t>
            </a:r>
            <a:endParaRPr lang="en-US" sz="1600" dirty="0"/>
          </a:p>
        </p:txBody>
      </p:sp>
      <p:sp>
        <p:nvSpPr>
          <p:cNvPr id="4" name="Text 2"/>
          <p:cNvSpPr/>
          <p:nvPr/>
        </p:nvSpPr>
        <p:spPr>
          <a:xfrm>
            <a:off x="358588" y="1290918"/>
            <a:ext cx="5701553" cy="286871"/>
          </a:xfrm>
          <a:prstGeom prst="rect">
            <a:avLst/>
          </a:prstGeom>
          <a:noFill/>
          <a:ln/>
        </p:spPr>
        <p:txBody>
          <a:bodyPr wrap="square" lIns="0" tIns="0" rIns="0" bIns="0" rtlCol="0" anchor="ctr"/>
          <a:lstStyle/>
          <a:p>
            <a:pPr>
              <a:lnSpc>
                <a:spcPct val="110000"/>
              </a:lnSpc>
            </a:pPr>
            <a:r>
              <a:rPr lang="en-US" sz="1694" b="1" dirty="0">
                <a:solidFill>
                  <a:srgbClr val="2D3436"/>
                </a:solidFill>
                <a:latin typeface="Oranienbaum" pitchFamily="34" charset="0"/>
                <a:ea typeface="Oranienbaum" pitchFamily="34" charset="-122"/>
                <a:cs typeface="Oranienbaum" pitchFamily="34" charset="-120"/>
              </a:rPr>
              <a:t>Battle of the Sexes</a:t>
            </a:r>
            <a:endParaRPr lang="en-US" sz="1600" dirty="0"/>
          </a:p>
        </p:txBody>
      </p:sp>
      <p:sp>
        <p:nvSpPr>
          <p:cNvPr id="5" name="Text 3"/>
          <p:cNvSpPr/>
          <p:nvPr/>
        </p:nvSpPr>
        <p:spPr>
          <a:xfrm>
            <a:off x="358588" y="1725706"/>
            <a:ext cx="5474494" cy="441512"/>
          </a:xfrm>
          <a:prstGeom prst="rect">
            <a:avLst/>
          </a:prstGeom>
          <a:noFill/>
          <a:ln/>
        </p:spPr>
        <p:txBody>
          <a:bodyPr wrap="square" lIns="0" tIns="0" rIns="0" bIns="0" rtlCol="0" anchor="ctr"/>
          <a:lstStyle/>
          <a:p>
            <a:pPr>
              <a:lnSpc>
                <a:spcPct val="140000"/>
              </a:lnSpc>
            </a:pPr>
            <a:r>
              <a:rPr lang="en-US" sz="1271" b="1" dirty="0">
                <a:solidFill>
                  <a:srgbClr val="1E272E"/>
                </a:solidFill>
                <a:latin typeface="Quattrocento Sans" pitchFamily="34" charset="0"/>
                <a:ea typeface="Quattrocento Sans" pitchFamily="34" charset="-122"/>
                <a:cs typeface="Quattrocento Sans" pitchFamily="34" charset="-120"/>
              </a:rPr>
              <a:t>A coordination game where two players prefer to be together but disagree on the preferred activity.</a:t>
            </a:r>
            <a:endParaRPr lang="en-US" sz="1600" dirty="0"/>
          </a:p>
        </p:txBody>
      </p:sp>
      <p:sp>
        <p:nvSpPr>
          <p:cNvPr id="6" name="Text 4"/>
          <p:cNvSpPr/>
          <p:nvPr/>
        </p:nvSpPr>
        <p:spPr>
          <a:xfrm>
            <a:off x="358588" y="2317376"/>
            <a:ext cx="5665694" cy="466165"/>
          </a:xfrm>
          <a:prstGeom prst="rect">
            <a:avLst/>
          </a:prstGeom>
          <a:noFill/>
          <a:ln/>
        </p:spPr>
        <p:txBody>
          <a:bodyPr wrap="square" lIns="0" tIns="0" rIns="0" bIns="0" rtlCol="0" anchor="ctr"/>
          <a:lstStyle/>
          <a:p>
            <a:pPr>
              <a:lnSpc>
                <a:spcPct val="140000"/>
              </a:lnSpc>
            </a:pPr>
            <a:r>
              <a:rPr lang="en-US" sz="1129" dirty="0">
                <a:solidFill>
                  <a:srgbClr val="636E72"/>
                </a:solidFill>
                <a:latin typeface="Quattrocento Sans" pitchFamily="34" charset="0"/>
                <a:ea typeface="Quattrocento Sans" pitchFamily="34" charset="-122"/>
                <a:cs typeface="Quattrocento Sans" pitchFamily="34" charset="-120"/>
              </a:rPr>
              <a:t>Classic scenario: Alice prefers ballet, Bob prefers boxing, but both prefer being together over being apart. The challenge is achieving coordination when preferences diverge.</a:t>
            </a:r>
            <a:endParaRPr lang="en-US" sz="1600" dirty="0"/>
          </a:p>
        </p:txBody>
      </p:sp>
      <p:sp>
        <p:nvSpPr>
          <p:cNvPr id="7" name="Shape 5"/>
          <p:cNvSpPr/>
          <p:nvPr/>
        </p:nvSpPr>
        <p:spPr>
          <a:xfrm>
            <a:off x="363071" y="2931459"/>
            <a:ext cx="5585012" cy="1873624"/>
          </a:xfrm>
          <a:custGeom>
            <a:avLst/>
            <a:gdLst/>
            <a:ahLst/>
            <a:cxn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prstDash val="solid"/>
          </a:ln>
        </p:spPr>
      </p:sp>
      <p:sp>
        <p:nvSpPr>
          <p:cNvPr id="8" name="Text 6"/>
          <p:cNvSpPr/>
          <p:nvPr/>
        </p:nvSpPr>
        <p:spPr>
          <a:xfrm>
            <a:off x="470647" y="3079376"/>
            <a:ext cx="5369859" cy="251012"/>
          </a:xfrm>
          <a:prstGeom prst="rect">
            <a:avLst/>
          </a:prstGeom>
          <a:noFill/>
          <a:ln/>
        </p:spPr>
        <p:txBody>
          <a:bodyPr wrap="square" lIns="0" tIns="0" rIns="0" bIns="0" rtlCol="0" anchor="ctr"/>
          <a:lstStyle/>
          <a:p>
            <a:pPr algn="ctr">
              <a:lnSpc>
                <a:spcPct val="130000"/>
              </a:lnSpc>
            </a:pPr>
            <a:r>
              <a:rPr lang="en-US" sz="1271" b="1" dirty="0">
                <a:solidFill>
                  <a:srgbClr val="2D3436"/>
                </a:solidFill>
                <a:latin typeface="Oranienbaum" pitchFamily="34" charset="0"/>
                <a:ea typeface="Oranienbaum" pitchFamily="34" charset="-122"/>
                <a:cs typeface="Oranienbaum" pitchFamily="34" charset="-120"/>
              </a:rPr>
              <a:t>Payoff Matrix</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0988" y="3402106"/>
          <a:ext cx="5289176" cy="1004047"/>
        </p:xfrm>
        <a:graphic>
          <a:graphicData uri="http://schemas.openxmlformats.org/drawingml/2006/table">
            <a:tbl>
              <a:tblPr/>
              <a:tblGrid>
                <a:gridCol w="1894764"/>
                <a:gridCol w="1616387"/>
                <a:gridCol w="1778025"/>
              </a:tblGrid>
              <a:tr h="334682">
                <a:tc>
                  <a:txBody>
                    <a:bodyPr/>
                    <a:lstStyle/>
                    <a:p>
                      <a:pPr algn="ct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Bob: Ballet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Bob: Boxing</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Alice: Ballet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(3, 2)</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Alice: Boxing</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(2, 3)</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984E3"/>
                    </a:solidFill>
                  </a:tcPr>
                </a:tc>
              </a:tr>
            </a:tbl>
          </a:graphicData>
        </a:graphic>
      </p:graphicFrame>
      <p:sp>
        <p:nvSpPr>
          <p:cNvPr id="10" name="Text 7"/>
          <p:cNvSpPr/>
          <p:nvPr/>
        </p:nvSpPr>
        <p:spPr>
          <a:xfrm>
            <a:off x="479612" y="4477871"/>
            <a:ext cx="5351929" cy="179294"/>
          </a:xfrm>
          <a:prstGeom prst="rect">
            <a:avLst/>
          </a:prstGeom>
          <a:noFill/>
          <a:ln/>
        </p:spPr>
        <p:txBody>
          <a:bodyPr wrap="square" lIns="0" tIns="0" rIns="0" bIns="0" rtlCol="0" anchor="ctr"/>
          <a:lstStyle/>
          <a:p>
            <a:pPr algn="ctr">
              <a:lnSpc>
                <a:spcPct val="120000"/>
              </a:lnSpc>
            </a:pPr>
            <a:r>
              <a:rPr lang="en-US" sz="988" dirty="0">
                <a:solidFill>
                  <a:srgbClr val="636E72"/>
                </a:solidFill>
                <a:latin typeface="Quattrocento Sans" pitchFamily="34" charset="0"/>
                <a:ea typeface="Quattrocento Sans" pitchFamily="34" charset="-122"/>
                <a:cs typeface="Quattrocento Sans" pitchFamily="34" charset="-120"/>
              </a:rPr>
              <a:t>Two pure-strategy Nash equilibria (highlighted)</a:t>
            </a:r>
            <a:endParaRPr lang="en-US" sz="1600" dirty="0"/>
          </a:p>
        </p:txBody>
      </p:sp>
      <p:sp>
        <p:nvSpPr>
          <p:cNvPr id="11" name="Shape 8"/>
          <p:cNvSpPr/>
          <p:nvPr/>
        </p:nvSpPr>
        <p:spPr>
          <a:xfrm>
            <a:off x="376518" y="4953000"/>
            <a:ext cx="5576047" cy="753035"/>
          </a:xfrm>
          <a:custGeom>
            <a:avLst/>
            <a:gdLst/>
            <a:ahLst/>
            <a:cxnLst/>
            <a:rect l="l" t="t" r="r" b="b"/>
            <a:pathLst>
              <a:path w="5576047" h="753035">
                <a:moveTo>
                  <a:pt x="0" y="0"/>
                </a:moveTo>
                <a:lnTo>
                  <a:pt x="5576047" y="0"/>
                </a:lnTo>
                <a:lnTo>
                  <a:pt x="5576047" y="753035"/>
                </a:lnTo>
                <a:lnTo>
                  <a:pt x="0" y="753035"/>
                </a:lnTo>
                <a:lnTo>
                  <a:pt x="0" y="0"/>
                </a:lnTo>
                <a:close/>
              </a:path>
            </a:pathLst>
          </a:custGeom>
          <a:solidFill>
            <a:srgbClr val="F8F9FA"/>
          </a:solidFill>
          <a:ln/>
        </p:spPr>
      </p:sp>
      <p:sp>
        <p:nvSpPr>
          <p:cNvPr id="12" name="Shape 9"/>
          <p:cNvSpPr/>
          <p:nvPr/>
        </p:nvSpPr>
        <p:spPr>
          <a:xfrm>
            <a:off x="376518" y="4953000"/>
            <a:ext cx="35859" cy="753035"/>
          </a:xfrm>
          <a:custGeom>
            <a:avLst/>
            <a:gdLst/>
            <a:ahLst/>
            <a:cxnLst/>
            <a:rect l="l" t="t" r="r" b="b"/>
            <a:pathLst>
              <a:path w="35859" h="753035">
                <a:moveTo>
                  <a:pt x="0" y="0"/>
                </a:moveTo>
                <a:lnTo>
                  <a:pt x="35859" y="0"/>
                </a:lnTo>
                <a:lnTo>
                  <a:pt x="35859" y="753035"/>
                </a:lnTo>
                <a:lnTo>
                  <a:pt x="0" y="753035"/>
                </a:lnTo>
                <a:lnTo>
                  <a:pt x="0" y="0"/>
                </a:lnTo>
                <a:close/>
              </a:path>
            </a:pathLst>
          </a:custGeom>
          <a:solidFill>
            <a:srgbClr val="0984E3"/>
          </a:solidFill>
          <a:ln/>
        </p:spPr>
      </p:sp>
      <p:sp>
        <p:nvSpPr>
          <p:cNvPr id="13" name="Text 10"/>
          <p:cNvSpPr/>
          <p:nvPr/>
        </p:nvSpPr>
        <p:spPr>
          <a:xfrm>
            <a:off x="537882" y="5096435"/>
            <a:ext cx="5342965" cy="466165"/>
          </a:xfrm>
          <a:prstGeom prst="rect">
            <a:avLst/>
          </a:prstGeom>
          <a:noFill/>
          <a:ln/>
        </p:spPr>
        <p:txBody>
          <a:bodyPr wrap="square" lIns="0" tIns="0" rIns="0" bIns="0" rtlCol="0" anchor="ctr"/>
          <a:lstStyle/>
          <a:p>
            <a:pPr>
              <a:lnSpc>
                <a:spcPct val="140000"/>
              </a:lnSpc>
            </a:pPr>
            <a:r>
              <a:rPr lang="en-US" sz="1129" b="1" dirty="0">
                <a:solidFill>
                  <a:srgbClr val="1E272E"/>
                </a:solidFill>
                <a:latin typeface="Quattrocento Sans" pitchFamily="34" charset="0"/>
                <a:ea typeface="Quattrocento Sans" pitchFamily="34" charset="-122"/>
                <a:cs typeface="Quattrocento Sans" pitchFamily="34" charset="-120"/>
              </a:rPr>
              <a:t>Key Challenge:</a:t>
            </a:r>
            <a:pPr>
              <a:lnSpc>
                <a:spcPct val="140000"/>
              </a:lnSpc>
            </a:pPr>
            <a:r>
              <a:rPr lang="en-US" sz="1129" dirty="0">
                <a:solidFill>
                  <a:srgbClr val="1E272E"/>
                </a:solidFill>
                <a:latin typeface="Quattrocento Sans" pitchFamily="34" charset="0"/>
                <a:ea typeface="Quattrocento Sans" pitchFamily="34" charset="-122"/>
                <a:cs typeface="Quattrocento Sans" pitchFamily="34" charset="-120"/>
              </a:rPr>
              <a:t> Multiple equilibria create coordination problems. Players need mechanisms (communication, conventions, focal points) to select among equilibria.</a:t>
            </a:r>
            <a:endParaRPr lang="en-US" sz="1600" dirty="0"/>
          </a:p>
        </p:txBody>
      </p:sp>
      <p:sp>
        <p:nvSpPr>
          <p:cNvPr id="14" name="Text 11"/>
          <p:cNvSpPr/>
          <p:nvPr/>
        </p:nvSpPr>
        <p:spPr>
          <a:xfrm>
            <a:off x="6239435" y="1290918"/>
            <a:ext cx="5701553" cy="286871"/>
          </a:xfrm>
          <a:prstGeom prst="rect">
            <a:avLst/>
          </a:prstGeom>
          <a:noFill/>
          <a:ln/>
        </p:spPr>
        <p:txBody>
          <a:bodyPr wrap="square" lIns="0" tIns="0" rIns="0" bIns="0" rtlCol="0" anchor="ctr"/>
          <a:lstStyle/>
          <a:p>
            <a:pPr>
              <a:lnSpc>
                <a:spcPct val="110000"/>
              </a:lnSpc>
            </a:pPr>
            <a:r>
              <a:rPr lang="en-US" sz="1694" b="1" dirty="0">
                <a:solidFill>
                  <a:srgbClr val="2D3436"/>
                </a:solidFill>
                <a:latin typeface="Oranienbaum" pitchFamily="34" charset="0"/>
                <a:ea typeface="Oranienbaum" pitchFamily="34" charset="-122"/>
                <a:cs typeface="Oranienbaum" pitchFamily="34" charset="-120"/>
              </a:rPr>
              <a:t>Chicken Game</a:t>
            </a:r>
            <a:endParaRPr lang="en-US" sz="1600" dirty="0"/>
          </a:p>
        </p:txBody>
      </p:sp>
      <p:sp>
        <p:nvSpPr>
          <p:cNvPr id="15" name="Text 12"/>
          <p:cNvSpPr/>
          <p:nvPr/>
        </p:nvSpPr>
        <p:spPr>
          <a:xfrm>
            <a:off x="6239435" y="1685365"/>
            <a:ext cx="5674659" cy="528918"/>
          </a:xfrm>
          <a:prstGeom prst="rect">
            <a:avLst/>
          </a:prstGeom>
          <a:noFill/>
          <a:ln/>
        </p:spPr>
        <p:txBody>
          <a:bodyPr wrap="square" lIns="0" tIns="0" rIns="0" bIns="0" rtlCol="0" anchor="ctr"/>
          <a:lstStyle/>
          <a:p>
            <a:pPr>
              <a:lnSpc>
                <a:spcPct val="140000"/>
              </a:lnSpc>
            </a:pPr>
            <a:r>
              <a:rPr lang="en-US" sz="1271" b="1" dirty="0">
                <a:solidFill>
                  <a:srgbClr val="1E272E"/>
                </a:solidFill>
                <a:latin typeface="Quattrocento Sans" pitchFamily="34" charset="0"/>
                <a:ea typeface="Quattrocento Sans" pitchFamily="34" charset="-122"/>
                <a:cs typeface="Quattrocento Sans" pitchFamily="34" charset="-120"/>
              </a:rPr>
              <a:t>Two drivers head toward each other; the first to swerve is "chicken."</a:t>
            </a:r>
            <a:pPr>
              <a:lnSpc>
                <a:spcPct val="140000"/>
              </a:lnSpc>
            </a:pPr>
            <a:r>
              <a:rPr lang="en-US" sz="1271" dirty="0">
                <a:solidFill>
                  <a:srgbClr val="1E272E"/>
                </a:solidFill>
                <a:latin typeface="Quattrocento Sans" pitchFamily="34" charset="0"/>
                <a:ea typeface="Quattrocento Sans" pitchFamily="34" charset="-122"/>
                <a:cs typeface="Quattrocento Sans" pitchFamily="34" charset="-120"/>
              </a:rPr>
              <a:t> Mutual destruction occurs if neither swerves.</a:t>
            </a:r>
            <a:endParaRPr lang="en-US" sz="1600" dirty="0"/>
          </a:p>
        </p:txBody>
      </p:sp>
      <p:sp>
        <p:nvSpPr>
          <p:cNvPr id="16" name="Text 13"/>
          <p:cNvSpPr/>
          <p:nvPr/>
        </p:nvSpPr>
        <p:spPr>
          <a:xfrm>
            <a:off x="6239435" y="2317376"/>
            <a:ext cx="5665694" cy="699247"/>
          </a:xfrm>
          <a:prstGeom prst="rect">
            <a:avLst/>
          </a:prstGeom>
          <a:noFill/>
          <a:ln/>
        </p:spPr>
        <p:txBody>
          <a:bodyPr wrap="square" lIns="0" tIns="0" rIns="0" bIns="0" rtlCol="0" anchor="ctr"/>
          <a:lstStyle/>
          <a:p>
            <a:pPr>
              <a:lnSpc>
                <a:spcPct val="140000"/>
              </a:lnSpc>
            </a:pPr>
            <a:r>
              <a:rPr lang="en-US" sz="1129" dirty="0">
                <a:solidFill>
                  <a:srgbClr val="636E72"/>
                </a:solidFill>
                <a:latin typeface="Quattrocento Sans" pitchFamily="34" charset="0"/>
                <a:ea typeface="Quattrocento Sans" pitchFamily="34" charset="-122"/>
                <a:cs typeface="Quattrocento Sans" pitchFamily="34" charset="-120"/>
              </a:rPr>
              <a:t>This game models brinkmanship—pushing situations to the edge of disaster to force opponent concession. It has profound implications for nuclear strategy and conflict resolution.</a:t>
            </a:r>
            <a:endParaRPr lang="en-US" sz="1600" dirty="0"/>
          </a:p>
        </p:txBody>
      </p:sp>
      <p:sp>
        <p:nvSpPr>
          <p:cNvPr id="17" name="Shape 14"/>
          <p:cNvSpPr/>
          <p:nvPr/>
        </p:nvSpPr>
        <p:spPr>
          <a:xfrm>
            <a:off x="6243918" y="3164541"/>
            <a:ext cx="5585012" cy="1873624"/>
          </a:xfrm>
          <a:custGeom>
            <a:avLst/>
            <a:gdLst/>
            <a:ahLst/>
            <a:cxn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prstDash val="solid"/>
          </a:ln>
        </p:spPr>
      </p:sp>
      <p:sp>
        <p:nvSpPr>
          <p:cNvPr id="18" name="Text 15"/>
          <p:cNvSpPr/>
          <p:nvPr/>
        </p:nvSpPr>
        <p:spPr>
          <a:xfrm>
            <a:off x="6351494" y="3312459"/>
            <a:ext cx="5369859" cy="251012"/>
          </a:xfrm>
          <a:prstGeom prst="rect">
            <a:avLst/>
          </a:prstGeom>
          <a:noFill/>
          <a:ln/>
        </p:spPr>
        <p:txBody>
          <a:bodyPr wrap="square" lIns="0" tIns="0" rIns="0" bIns="0" rtlCol="0" anchor="ctr"/>
          <a:lstStyle/>
          <a:p>
            <a:pPr algn="ctr">
              <a:lnSpc>
                <a:spcPct val="130000"/>
              </a:lnSpc>
            </a:pPr>
            <a:r>
              <a:rPr lang="en-US" sz="1271" b="1" dirty="0">
                <a:solidFill>
                  <a:srgbClr val="2D3436"/>
                </a:solidFill>
                <a:latin typeface="Oranienbaum" pitchFamily="34" charset="0"/>
                <a:ea typeface="Oranienbaum" pitchFamily="34" charset="-122"/>
                <a:cs typeface="Oranienbaum" pitchFamily="34" charset="-120"/>
              </a:rPr>
              <a:t>Payoff Matrix</a:t>
            </a:r>
            <a:endParaRPr lang="en-US" sz="16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91835" y="3635188"/>
          <a:ext cx="5289176" cy="1004047"/>
        </p:xfrm>
        <a:graphic>
          <a:graphicData uri="http://schemas.openxmlformats.org/drawingml/2006/table">
            <a:tbl>
              <a:tblPr/>
              <a:tblGrid>
                <a:gridCol w="1778025"/>
                <a:gridCol w="1751086"/>
                <a:gridCol w="1760066"/>
              </a:tblGrid>
              <a:tr h="334682">
                <a:tc>
                  <a:txBody>
                    <a:bodyPr/>
                    <a:lstStyle/>
                    <a:p>
                      <a:pPr algn="ct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Driver B: Swerve</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b="1" u="none" dirty="0">
                          <a:solidFill>
                            <a:srgbClr val="2D3436"/>
                          </a:solidFill>
                          <a:latin typeface="微软雅黑" pitchFamily="34" charset="0"/>
                          <a:ea typeface="微软雅黑" pitchFamily="34" charset="-122"/>
                          <a:cs typeface="微软雅黑" pitchFamily="34" charset="-120"/>
                        </a:rPr>
                        <a:t>Driver B: Straight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Driver A: Swerve</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(0, 0)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(-1, 2)</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r>
              <a:tr h="334682">
                <a:tc>
                  <a:txBody>
                    <a:bodyPr/>
                    <a:lstStyle/>
                    <a:p>
                      <a:r>
                        <a:rPr lang="en-US" sz="900" b="1" u="none" dirty="0">
                          <a:solidFill>
                            <a:srgbClr val="2D3436"/>
                          </a:solidFill>
                          <a:latin typeface="微软雅黑" pitchFamily="34" charset="0"/>
                          <a:ea typeface="微软雅黑" pitchFamily="34" charset="-122"/>
                          <a:cs typeface="微软雅黑" pitchFamily="34" charset="-120"/>
                        </a:rPr>
                        <a:t>Driver A: Straight</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(2, -1)</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E272E"/>
                          </a:solidFill>
                          <a:latin typeface="微软雅黑" pitchFamily="34" charset="0"/>
                          <a:ea typeface="微软雅黑" pitchFamily="34" charset="-122"/>
                          <a:cs typeface="微软雅黑" pitchFamily="34" charset="-120"/>
                        </a:rPr>
                        <a:t>(-10, -10)</a:t>
                      </a:r>
                      <a:endParaRPr lang="en-US" sz="900" dirty="0">
                        <a:latin typeface="微软雅黑" charset="0"/>
                        <a:ea typeface="微软雅黑" charset="0"/>
                        <a:cs typeface="微软雅黑" charset="0"/>
                      </a:endParaRPr>
                    </a:p>
                  </a:txBody>
                  <a:tcPr marL="71718" marR="71718" marT="71718" marB="7171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B2C36"/>
                    </a:solidFill>
                  </a:tcPr>
                </a:tc>
              </a:tr>
            </a:tbl>
          </a:graphicData>
        </a:graphic>
      </p:graphicFrame>
      <p:sp>
        <p:nvSpPr>
          <p:cNvPr id="20" name="Text 16"/>
          <p:cNvSpPr/>
          <p:nvPr/>
        </p:nvSpPr>
        <p:spPr>
          <a:xfrm>
            <a:off x="6360459" y="4710953"/>
            <a:ext cx="5351929" cy="179294"/>
          </a:xfrm>
          <a:prstGeom prst="rect">
            <a:avLst/>
          </a:prstGeom>
          <a:noFill/>
          <a:ln/>
        </p:spPr>
        <p:txBody>
          <a:bodyPr wrap="square" lIns="0" tIns="0" rIns="0" bIns="0" rtlCol="0" anchor="ctr"/>
          <a:lstStyle/>
          <a:p>
            <a:pPr algn="ctr">
              <a:lnSpc>
                <a:spcPct val="120000"/>
              </a:lnSpc>
            </a:pPr>
            <a:r>
              <a:rPr lang="en-US" sz="988" dirty="0">
                <a:solidFill>
                  <a:srgbClr val="636E72"/>
                </a:solidFill>
                <a:latin typeface="Quattrocento Sans" pitchFamily="34" charset="0"/>
                <a:ea typeface="Quattrocento Sans" pitchFamily="34" charset="-122"/>
                <a:cs typeface="Quattrocento Sans" pitchFamily="34" charset="-120"/>
              </a:rPr>
              <a:t>Mutual destruction (highlighted in red) is the worst outcome</a:t>
            </a:r>
            <a:endParaRPr lang="en-US" sz="1600" dirty="0"/>
          </a:p>
        </p:txBody>
      </p:sp>
      <p:sp>
        <p:nvSpPr>
          <p:cNvPr id="21" name="Shape 17"/>
          <p:cNvSpPr/>
          <p:nvPr/>
        </p:nvSpPr>
        <p:spPr>
          <a:xfrm>
            <a:off x="6239435" y="5186082"/>
            <a:ext cx="5593976" cy="1308847"/>
          </a:xfrm>
          <a:custGeom>
            <a:avLst/>
            <a:gdLst/>
            <a:ahLst/>
            <a:cxnLst/>
            <a:rect l="l" t="t" r="r" b="b"/>
            <a:pathLst>
              <a:path w="5593976" h="1308847">
                <a:moveTo>
                  <a:pt x="0" y="0"/>
                </a:moveTo>
                <a:lnTo>
                  <a:pt x="5593976" y="0"/>
                </a:lnTo>
                <a:lnTo>
                  <a:pt x="5593976" y="1308847"/>
                </a:lnTo>
                <a:lnTo>
                  <a:pt x="0" y="1308847"/>
                </a:lnTo>
                <a:lnTo>
                  <a:pt x="0" y="0"/>
                </a:lnTo>
                <a:close/>
              </a:path>
            </a:pathLst>
          </a:custGeom>
          <a:solidFill>
            <a:srgbClr val="2D3436"/>
          </a:solidFill>
          <a:ln/>
        </p:spPr>
      </p:sp>
      <p:sp>
        <p:nvSpPr>
          <p:cNvPr id="22" name="Text 18"/>
          <p:cNvSpPr/>
          <p:nvPr/>
        </p:nvSpPr>
        <p:spPr>
          <a:xfrm>
            <a:off x="6382871" y="5329518"/>
            <a:ext cx="5387788" cy="251012"/>
          </a:xfrm>
          <a:prstGeom prst="rect">
            <a:avLst/>
          </a:prstGeom>
          <a:noFill/>
          <a:ln/>
        </p:spPr>
        <p:txBody>
          <a:bodyPr wrap="square" lIns="0" tIns="0" rIns="0" bIns="0" rtlCol="0" anchor="ctr"/>
          <a:lstStyle/>
          <a:p>
            <a:pPr>
              <a:lnSpc>
                <a:spcPct val="130000"/>
              </a:lnSpc>
            </a:pPr>
            <a:r>
              <a:rPr lang="en-US" sz="1271" b="1" dirty="0">
                <a:solidFill>
                  <a:srgbClr val="FFFFFF"/>
                </a:solidFill>
                <a:latin typeface="Oranienbaum" pitchFamily="34" charset="0"/>
                <a:ea typeface="Oranienbaum" pitchFamily="34" charset="-122"/>
                <a:cs typeface="Oranienbaum" pitchFamily="34" charset="-120"/>
              </a:rPr>
              <a:t>Nuclear Deterrence Application</a:t>
            </a:r>
            <a:endParaRPr lang="en-US" sz="1600" dirty="0"/>
          </a:p>
        </p:txBody>
      </p:sp>
      <p:sp>
        <p:nvSpPr>
          <p:cNvPr id="23" name="Text 19"/>
          <p:cNvSpPr/>
          <p:nvPr/>
        </p:nvSpPr>
        <p:spPr>
          <a:xfrm>
            <a:off x="6382871" y="5652247"/>
            <a:ext cx="5378824" cy="699247"/>
          </a:xfrm>
          <a:prstGeom prst="rect">
            <a:avLst/>
          </a:prstGeom>
          <a:noFill/>
          <a:ln/>
        </p:spPr>
        <p:txBody>
          <a:bodyPr wrap="square" lIns="0" tIns="0" rIns="0" bIns="0" rtlCol="0" anchor="ctr"/>
          <a:lstStyle/>
          <a:p>
            <a:pPr>
              <a:lnSpc>
                <a:spcPct val="140000"/>
              </a:lnSpc>
            </a:pPr>
            <a:r>
              <a:rPr lang="en-US" sz="1129" dirty="0">
                <a:solidFill>
                  <a:srgbClr val="E0E0E0"/>
                </a:solidFill>
                <a:latin typeface="Quattrocento Sans" pitchFamily="34" charset="0"/>
                <a:ea typeface="Quattrocento Sans" pitchFamily="34" charset="-122"/>
                <a:cs typeface="Quattrocento Sans" pitchFamily="34" charset="-120"/>
              </a:rPr>
              <a:t>During the Cold War, the Chicken Game modeled nuclear brinkmanship. Both superpowers threatened mutual assured destruction (MAD) to deter first strikes. The key was making threats credible while avoiding actual catastrophe.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1781175"/>
            <a:ext cx="12192000" cy="1219200"/>
          </a:xfrm>
          <a:prstGeom prst="rect">
            <a:avLst/>
          </a:prstGeom>
          <a:noFill/>
          <a:ln/>
        </p:spPr>
        <p:txBody>
          <a:bodyPr wrap="square" lIns="0" tIns="0" rIns="0" bIns="0" rtlCol="0" anchor="ctr"/>
          <a:lstStyle/>
          <a:p>
            <a:pPr>
              <a:lnSpc>
                <a:spcPct val="80000"/>
              </a:lnSpc>
            </a:pPr>
            <a:r>
              <a:rPr lang="en-US" sz="9600" b="1" dirty="0">
                <a:solidFill>
                  <a:srgbClr val="0984E3">
                    <a:alpha val="10000"/>
                  </a:srgbClr>
                </a:solidFill>
                <a:latin typeface="Oranienbaum" pitchFamily="34" charset="0"/>
                <a:ea typeface="Oranienbaum" pitchFamily="34" charset="-122"/>
                <a:cs typeface="Oranienbaum" pitchFamily="34" charset="-120"/>
              </a:rPr>
              <a:t>06</a:t>
            </a:r>
            <a:endParaRPr lang="en-US" sz="1600" dirty="0"/>
          </a:p>
        </p:txBody>
      </p:sp>
      <p:sp>
        <p:nvSpPr>
          <p:cNvPr id="3" name="Text 1"/>
          <p:cNvSpPr/>
          <p:nvPr/>
        </p:nvSpPr>
        <p:spPr>
          <a:xfrm>
            <a:off x="609600" y="3152775"/>
            <a:ext cx="11868150" cy="1143000"/>
          </a:xfrm>
          <a:prstGeom prst="rect">
            <a:avLst/>
          </a:prstGeom>
          <a:noFill/>
          <a:ln/>
        </p:spPr>
        <p:txBody>
          <a:bodyPr wrap="square" lIns="0" tIns="0" rIns="0" bIns="0" rtlCol="0" anchor="ctr"/>
          <a:lstStyle/>
          <a:p>
            <a:pPr>
              <a:lnSpc>
                <a:spcPct val="80000"/>
              </a:lnSpc>
            </a:pPr>
            <a:r>
              <a:rPr lang="en-US" sz="4500" b="1" dirty="0">
                <a:solidFill>
                  <a:srgbClr val="2D3436"/>
                </a:solidFill>
                <a:latin typeface="Oranienbaum" pitchFamily="34" charset="0"/>
                <a:ea typeface="Oranienbaum" pitchFamily="34" charset="-122"/>
                <a:cs typeface="Oranienbaum" pitchFamily="34" charset="-120"/>
              </a:rPr>
              <a:t>Real-World</a:t>
            </a:r>
            <a:endParaRPr lang="en-US" sz="1600" dirty="0"/>
          </a:p>
          <a:p>
            <a:pPr>
              <a:lnSpc>
                <a:spcPct val="80000"/>
              </a:lnSpc>
            </a:pPr>
            <a:r>
              <a:rPr lang="en-US" sz="4500" b="1" dirty="0">
                <a:solidFill>
                  <a:srgbClr val="2D3436"/>
                </a:solidFill>
                <a:latin typeface="Oranienbaum" pitchFamily="34" charset="0"/>
                <a:ea typeface="Oranienbaum" pitchFamily="34" charset="-122"/>
                <a:cs typeface="Oranienbaum" pitchFamily="34" charset="-120"/>
              </a:rPr>
              <a:t>Applications</a:t>
            </a:r>
            <a:endParaRPr lang="en-US" sz="1600" dirty="0"/>
          </a:p>
        </p:txBody>
      </p:sp>
      <p:sp>
        <p:nvSpPr>
          <p:cNvPr id="4" name="Shape 2"/>
          <p:cNvSpPr/>
          <p:nvPr/>
        </p:nvSpPr>
        <p:spPr>
          <a:xfrm>
            <a:off x="609600" y="4524375"/>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609600" y="4772025"/>
            <a:ext cx="11696700" cy="304800"/>
          </a:xfrm>
          <a:prstGeom prst="rect">
            <a:avLst/>
          </a:prstGeom>
          <a:noFill/>
          <a:ln/>
        </p:spPr>
        <p:txBody>
          <a:bodyPr wrap="square" lIns="0" tIns="0" rIns="0" bIns="0" rtlCol="0" anchor="ctr"/>
          <a:lstStyle/>
          <a:p>
            <a:pPr>
              <a:lnSpc>
                <a:spcPct val="110000"/>
              </a:lnSpc>
            </a:pPr>
            <a:r>
              <a:rPr lang="en-US" sz="1800" dirty="0">
                <a:solidFill>
                  <a:srgbClr val="636E72"/>
                </a:solidFill>
                <a:latin typeface="Liter" pitchFamily="34" charset="0"/>
                <a:ea typeface="Liter" pitchFamily="34" charset="-122"/>
                <a:cs typeface="Liter" pitchFamily="34" charset="-120"/>
              </a:rPr>
              <a:t>Game theory in action across disciplines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2D3436"/>
                </a:solidFill>
                <a:latin typeface="Oranienbaum" pitchFamily="34" charset="0"/>
                <a:ea typeface="Oranienbaum" pitchFamily="34" charset="-122"/>
                <a:cs typeface="Oranienbaum" pitchFamily="34" charset="-120"/>
              </a:rPr>
              <a:t>Economics &amp; Business Strategy</a:t>
            </a:r>
            <a:endParaRPr lang="en-US" sz="1600" dirty="0"/>
          </a:p>
        </p:txBody>
      </p:sp>
      <p:sp>
        <p:nvSpPr>
          <p:cNvPr id="4" name="Text 2"/>
          <p:cNvSpPr/>
          <p:nvPr/>
        </p:nvSpPr>
        <p:spPr>
          <a:xfrm>
            <a:off x="381000" y="1295400"/>
            <a:ext cx="7648575" cy="933450"/>
          </a:xfrm>
          <a:prstGeom prst="rect">
            <a:avLst/>
          </a:prstGeom>
          <a:noFill/>
          <a:ln/>
        </p:spPr>
        <p:txBody>
          <a:bodyPr wrap="square" lIns="0" tIns="0" rIns="0" bIns="0" rtlCol="0" anchor="ctr"/>
          <a:lstStyle/>
          <a:p>
            <a:pPr>
              <a:lnSpc>
                <a:spcPct val="140000"/>
              </a:lnSpc>
            </a:pPr>
            <a:r>
              <a:rPr lang="en-US" sz="1500" b="1" dirty="0">
                <a:solidFill>
                  <a:srgbClr val="1E272E"/>
                </a:solidFill>
                <a:latin typeface="Quattrocento Sans" pitchFamily="34" charset="0"/>
                <a:ea typeface="Quattrocento Sans" pitchFamily="34" charset="-122"/>
                <a:cs typeface="Quattrocento Sans" pitchFamily="34" charset="-120"/>
              </a:rPr>
              <a:t>Game theory revolutionized economics by providing rigorous tools to model strategic interactions among firms, consumers, and market participants.</a:t>
            </a:r>
            <a:pPr>
              <a:lnSpc>
                <a:spcPct val="140000"/>
              </a:lnSpc>
            </a:pPr>
            <a:r>
              <a:rPr lang="en-US" sz="1500" dirty="0">
                <a:solidFill>
                  <a:srgbClr val="1E272E"/>
                </a:solidFill>
                <a:latin typeface="Quattrocento Sans" pitchFamily="34" charset="0"/>
                <a:ea typeface="Quattrocento Sans" pitchFamily="34" charset="-122"/>
                <a:cs typeface="Quattrocento Sans" pitchFamily="34" charset="-120"/>
              </a:rPr>
              <a:t> It enables prediction of competitor behavior and optimization of strategic decisions.</a:t>
            </a:r>
            <a:endParaRPr lang="en-US" sz="1600" dirty="0"/>
          </a:p>
        </p:txBody>
      </p:sp>
      <p:sp>
        <p:nvSpPr>
          <p:cNvPr id="5" name="Shape 3"/>
          <p:cNvSpPr/>
          <p:nvPr/>
        </p:nvSpPr>
        <p:spPr>
          <a:xfrm>
            <a:off x="385763" y="2381250"/>
            <a:ext cx="3695700" cy="1724025"/>
          </a:xfrm>
          <a:custGeom>
            <a:avLst/>
            <a:gdLst/>
            <a:ahLst/>
            <a:cxn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prstDash val="solid"/>
          </a:ln>
        </p:spPr>
      </p:sp>
      <p:sp>
        <p:nvSpPr>
          <p:cNvPr id="6" name="Text 4"/>
          <p:cNvSpPr/>
          <p:nvPr/>
        </p:nvSpPr>
        <p:spPr>
          <a:xfrm>
            <a:off x="542925" y="2538413"/>
            <a:ext cx="347662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Oligopoly Competition</a:t>
            </a:r>
            <a:endParaRPr lang="en-US" sz="1600" dirty="0"/>
          </a:p>
        </p:txBody>
      </p:sp>
      <p:sp>
        <p:nvSpPr>
          <p:cNvPr id="7" name="Text 5"/>
          <p:cNvSpPr/>
          <p:nvPr/>
        </p:nvSpPr>
        <p:spPr>
          <a:xfrm>
            <a:off x="542925" y="28813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Cournot Model:</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Firms compete by choosing quantities simultaneously.</a:t>
            </a:r>
            <a:endParaRPr lang="en-US" sz="1600" dirty="0"/>
          </a:p>
        </p:txBody>
      </p:sp>
      <p:sp>
        <p:nvSpPr>
          <p:cNvPr id="8" name="Text 6"/>
          <p:cNvSpPr/>
          <p:nvPr/>
        </p:nvSpPr>
        <p:spPr>
          <a:xfrm>
            <a:off x="542925" y="34528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Bertrand Model:</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Firms compete by setting prices, undercutting rivals.</a:t>
            </a:r>
            <a:endParaRPr lang="en-US" sz="1600" dirty="0"/>
          </a:p>
        </p:txBody>
      </p:sp>
      <p:sp>
        <p:nvSpPr>
          <p:cNvPr id="9" name="Shape 7"/>
          <p:cNvSpPr/>
          <p:nvPr/>
        </p:nvSpPr>
        <p:spPr>
          <a:xfrm>
            <a:off x="4240188" y="2381250"/>
            <a:ext cx="3695700" cy="1724025"/>
          </a:xfrm>
          <a:custGeom>
            <a:avLst/>
            <a:gdLst/>
            <a:ahLst/>
            <a:cxn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prstDash val="solid"/>
          </a:ln>
        </p:spPr>
      </p:sp>
      <p:sp>
        <p:nvSpPr>
          <p:cNvPr id="10" name="Text 8"/>
          <p:cNvSpPr/>
          <p:nvPr/>
        </p:nvSpPr>
        <p:spPr>
          <a:xfrm>
            <a:off x="4397350" y="2538413"/>
            <a:ext cx="347662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Auction Design</a:t>
            </a:r>
            <a:endParaRPr lang="en-US" sz="1600" dirty="0"/>
          </a:p>
        </p:txBody>
      </p:sp>
      <p:sp>
        <p:nvSpPr>
          <p:cNvPr id="11" name="Text 9"/>
          <p:cNvSpPr/>
          <p:nvPr/>
        </p:nvSpPr>
        <p:spPr>
          <a:xfrm>
            <a:off x="4397350" y="28813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Mechanism Design:</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Creating rules to achieve efficient outcomes.</a:t>
            </a:r>
            <a:endParaRPr lang="en-US" sz="1600" dirty="0"/>
          </a:p>
        </p:txBody>
      </p:sp>
      <p:sp>
        <p:nvSpPr>
          <p:cNvPr id="12" name="Text 10"/>
          <p:cNvSpPr/>
          <p:nvPr/>
        </p:nvSpPr>
        <p:spPr>
          <a:xfrm>
            <a:off x="4397350" y="3452813"/>
            <a:ext cx="3457575" cy="495300"/>
          </a:xfrm>
          <a:prstGeom prst="rect">
            <a:avLst/>
          </a:prstGeom>
          <a:noFill/>
          <a:ln/>
        </p:spPr>
        <p:txBody>
          <a:bodyPr wrap="square" lIns="0" tIns="0" rIns="0" bIns="0" rtlCol="0" anchor="ctr"/>
          <a:lstStyle/>
          <a:p>
            <a:pPr>
              <a:lnSpc>
                <a:spcPct val="140000"/>
              </a:lnSpc>
            </a:pPr>
            <a:r>
              <a:rPr lang="en-US" sz="1200" b="1" dirty="0">
                <a:solidFill>
                  <a:srgbClr val="636E72"/>
                </a:solidFill>
                <a:latin typeface="Quattrocento Sans" pitchFamily="34" charset="0"/>
                <a:ea typeface="Quattrocento Sans" pitchFamily="34" charset="-122"/>
                <a:cs typeface="Quattrocento Sans" pitchFamily="34" charset="-120"/>
              </a:rPr>
              <a:t>Bidding Strategies:</a:t>
            </a:r>
            <a:pP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 Analyzing optimal behavior in different auction formats.</a:t>
            </a:r>
            <a:endParaRPr lang="en-US" sz="1600" dirty="0"/>
          </a:p>
        </p:txBody>
      </p:sp>
      <p:sp>
        <p:nvSpPr>
          <p:cNvPr id="13" name="Shape 11"/>
          <p:cNvSpPr/>
          <p:nvPr/>
        </p:nvSpPr>
        <p:spPr>
          <a:xfrm>
            <a:off x="400050" y="4262438"/>
            <a:ext cx="7534275" cy="1638300"/>
          </a:xfrm>
          <a:custGeom>
            <a:avLst/>
            <a:gdLst/>
            <a:ahLst/>
            <a:cxnLst/>
            <a:rect l="l" t="t" r="r" b="b"/>
            <a:pathLst>
              <a:path w="7534275" h="1638300">
                <a:moveTo>
                  <a:pt x="0" y="0"/>
                </a:moveTo>
                <a:lnTo>
                  <a:pt x="7534275" y="0"/>
                </a:lnTo>
                <a:lnTo>
                  <a:pt x="7534275" y="1638300"/>
                </a:lnTo>
                <a:lnTo>
                  <a:pt x="0" y="1638300"/>
                </a:lnTo>
                <a:lnTo>
                  <a:pt x="0" y="0"/>
                </a:lnTo>
                <a:close/>
              </a:path>
            </a:pathLst>
          </a:custGeom>
          <a:solidFill>
            <a:srgbClr val="F8F9FA"/>
          </a:solidFill>
          <a:ln/>
        </p:spPr>
      </p:sp>
      <p:sp>
        <p:nvSpPr>
          <p:cNvPr id="14" name="Shape 12"/>
          <p:cNvSpPr/>
          <p:nvPr/>
        </p:nvSpPr>
        <p:spPr>
          <a:xfrm>
            <a:off x="400050" y="4262438"/>
            <a:ext cx="38100" cy="1638300"/>
          </a:xfrm>
          <a:custGeom>
            <a:avLst/>
            <a:gdLst/>
            <a:ahLst/>
            <a:cxnLst/>
            <a:rect l="l" t="t" r="r" b="b"/>
            <a:pathLst>
              <a:path w="38100" h="1638300">
                <a:moveTo>
                  <a:pt x="0" y="0"/>
                </a:moveTo>
                <a:lnTo>
                  <a:pt x="38100" y="0"/>
                </a:lnTo>
                <a:lnTo>
                  <a:pt x="38100" y="1638300"/>
                </a:lnTo>
                <a:lnTo>
                  <a:pt x="0" y="1638300"/>
                </a:lnTo>
                <a:lnTo>
                  <a:pt x="0" y="0"/>
                </a:lnTo>
                <a:close/>
              </a:path>
            </a:pathLst>
          </a:custGeom>
          <a:solidFill>
            <a:srgbClr val="0984E3"/>
          </a:solidFill>
          <a:ln/>
        </p:spPr>
      </p:sp>
      <p:sp>
        <p:nvSpPr>
          <p:cNvPr id="15" name="Text 13"/>
          <p:cNvSpPr/>
          <p:nvPr/>
        </p:nvSpPr>
        <p:spPr>
          <a:xfrm>
            <a:off x="571500" y="4414838"/>
            <a:ext cx="7305675" cy="266700"/>
          </a:xfrm>
          <a:prstGeom prst="rect">
            <a:avLst/>
          </a:prstGeom>
          <a:noFill/>
          <a:ln/>
        </p:spPr>
        <p:txBody>
          <a:bodyPr wrap="square" lIns="0" tIns="0" rIns="0" bIns="0" rtlCol="0" anchor="ctr"/>
          <a:lstStyle/>
          <a:p>
            <a:pPr>
              <a:lnSpc>
                <a:spcPct val="120000"/>
              </a:lnSpc>
            </a:pPr>
            <a:r>
              <a:rPr lang="en-US" sz="1500" b="1" dirty="0">
                <a:solidFill>
                  <a:srgbClr val="2D3436"/>
                </a:solidFill>
                <a:latin typeface="Oranienbaum" pitchFamily="34" charset="0"/>
                <a:ea typeface="Oranienbaum" pitchFamily="34" charset="-122"/>
                <a:cs typeface="Oranienbaum" pitchFamily="34" charset="-120"/>
              </a:rPr>
              <a:t>Strategic Business Decisions</a:t>
            </a:r>
            <a:endParaRPr lang="en-US" sz="1600" dirty="0"/>
          </a:p>
        </p:txBody>
      </p:sp>
      <p:sp>
        <p:nvSpPr>
          <p:cNvPr id="16" name="Shape 14"/>
          <p:cNvSpPr/>
          <p:nvPr/>
        </p:nvSpPr>
        <p:spPr>
          <a:xfrm>
            <a:off x="619125" y="4791075"/>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0984E3"/>
          </a:solidFill>
          <a:ln/>
        </p:spPr>
      </p:sp>
      <p:sp>
        <p:nvSpPr>
          <p:cNvPr id="17" name="Text 15"/>
          <p:cNvSpPr/>
          <p:nvPr/>
        </p:nvSpPr>
        <p:spPr>
          <a:xfrm>
            <a:off x="819150" y="47577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Pricing:</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Optimal pricing under competitive pressure</a:t>
            </a:r>
            <a:endParaRPr lang="en-US" sz="1600" dirty="0"/>
          </a:p>
        </p:txBody>
      </p:sp>
      <p:sp>
        <p:nvSpPr>
          <p:cNvPr id="18" name="Shape 16"/>
          <p:cNvSpPr/>
          <p:nvPr/>
        </p:nvSpPr>
        <p:spPr>
          <a:xfrm>
            <a:off x="4283050" y="4791075"/>
            <a:ext cx="133350" cy="152400"/>
          </a:xfrm>
          <a:custGeom>
            <a:avLst/>
            <a:gdLst/>
            <a:ahLst/>
            <a:cxnLst/>
            <a:rect l="l" t="t" r="r" b="b"/>
            <a:pathLst>
              <a:path w="133350" h="152400">
                <a:moveTo>
                  <a:pt x="85725" y="0"/>
                </a:moveTo>
                <a:lnTo>
                  <a:pt x="38100" y="0"/>
                </a:lnTo>
                <a:cubicBezTo>
                  <a:pt x="32831" y="0"/>
                  <a:pt x="28575" y="4256"/>
                  <a:pt x="28575" y="9525"/>
                </a:cubicBezTo>
                <a:cubicBezTo>
                  <a:pt x="28575" y="14794"/>
                  <a:pt x="32831" y="19050"/>
                  <a:pt x="38100" y="19050"/>
                </a:cubicBezTo>
                <a:lnTo>
                  <a:pt x="38100" y="64145"/>
                </a:lnTo>
                <a:lnTo>
                  <a:pt x="2232" y="126891"/>
                </a:lnTo>
                <a:cubicBezTo>
                  <a:pt x="774" y="129480"/>
                  <a:pt x="0" y="132368"/>
                  <a:pt x="0" y="135344"/>
                </a:cubicBezTo>
                <a:cubicBezTo>
                  <a:pt x="0" y="144780"/>
                  <a:pt x="7620" y="152400"/>
                  <a:pt x="17056" y="152400"/>
                </a:cubicBezTo>
                <a:lnTo>
                  <a:pt x="116294" y="152400"/>
                </a:lnTo>
                <a:cubicBezTo>
                  <a:pt x="125700" y="152400"/>
                  <a:pt x="133350" y="144780"/>
                  <a:pt x="133350" y="135344"/>
                </a:cubicBezTo>
                <a:cubicBezTo>
                  <a:pt x="133350" y="132368"/>
                  <a:pt x="132576" y="129451"/>
                  <a:pt x="131118" y="126891"/>
                </a:cubicBezTo>
                <a:lnTo>
                  <a:pt x="95250" y="64145"/>
                </a:lnTo>
                <a:lnTo>
                  <a:pt x="95250" y="19050"/>
                </a:lnTo>
                <a:cubicBezTo>
                  <a:pt x="100519" y="19050"/>
                  <a:pt x="104775" y="14794"/>
                  <a:pt x="104775" y="9525"/>
                </a:cubicBezTo>
                <a:cubicBezTo>
                  <a:pt x="104775" y="4256"/>
                  <a:pt x="100519" y="0"/>
                  <a:pt x="95250" y="0"/>
                </a:cubicBezTo>
                <a:lnTo>
                  <a:pt x="85725" y="0"/>
                </a:lnTo>
                <a:close/>
                <a:moveTo>
                  <a:pt x="57150" y="64145"/>
                </a:moveTo>
                <a:lnTo>
                  <a:pt x="57150" y="19050"/>
                </a:lnTo>
                <a:lnTo>
                  <a:pt x="76200" y="19050"/>
                </a:lnTo>
                <a:lnTo>
                  <a:pt x="76200" y="64145"/>
                </a:lnTo>
                <a:cubicBezTo>
                  <a:pt x="76200" y="67449"/>
                  <a:pt x="77063" y="70723"/>
                  <a:pt x="78700" y="73610"/>
                </a:cubicBezTo>
                <a:lnTo>
                  <a:pt x="91083" y="95250"/>
                </a:lnTo>
                <a:lnTo>
                  <a:pt x="42267" y="95250"/>
                </a:lnTo>
                <a:lnTo>
                  <a:pt x="54650" y="73610"/>
                </a:lnTo>
                <a:cubicBezTo>
                  <a:pt x="56287" y="70723"/>
                  <a:pt x="57150" y="67479"/>
                  <a:pt x="57150" y="64145"/>
                </a:cubicBezTo>
                <a:close/>
              </a:path>
            </a:pathLst>
          </a:custGeom>
          <a:solidFill>
            <a:srgbClr val="0984E3"/>
          </a:solidFill>
          <a:ln/>
        </p:spPr>
      </p:sp>
      <p:sp>
        <p:nvSpPr>
          <p:cNvPr id="19" name="Text 17"/>
          <p:cNvSpPr/>
          <p:nvPr/>
        </p:nvSpPr>
        <p:spPr>
          <a:xfrm>
            <a:off x="4502125" y="47577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R&amp;D:</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Innovation races and patent strategies</a:t>
            </a:r>
            <a:endParaRPr lang="en-US" sz="1600" dirty="0"/>
          </a:p>
        </p:txBody>
      </p:sp>
      <p:sp>
        <p:nvSpPr>
          <p:cNvPr id="20" name="Shape 18"/>
          <p:cNvSpPr/>
          <p:nvPr/>
        </p:nvSpPr>
        <p:spPr>
          <a:xfrm>
            <a:off x="590550" y="5324475"/>
            <a:ext cx="152400" cy="152400"/>
          </a:xfrm>
          <a:custGeom>
            <a:avLst/>
            <a:gdLst/>
            <a:ahLst/>
            <a:cxnLst/>
            <a:rect l="l" t="t" r="r" b="b"/>
            <a:pathLst>
              <a:path w="152400" h="152400">
                <a:moveTo>
                  <a:pt x="19050" y="19050"/>
                </a:moveTo>
                <a:cubicBezTo>
                  <a:pt x="8543" y="19050"/>
                  <a:pt x="0" y="27593"/>
                  <a:pt x="0" y="38100"/>
                </a:cubicBezTo>
                <a:lnTo>
                  <a:pt x="0" y="114300"/>
                </a:lnTo>
                <a:cubicBezTo>
                  <a:pt x="0" y="124807"/>
                  <a:pt x="8543" y="133350"/>
                  <a:pt x="19050" y="133350"/>
                </a:cubicBezTo>
                <a:lnTo>
                  <a:pt x="133350" y="133350"/>
                </a:lnTo>
                <a:cubicBezTo>
                  <a:pt x="143857" y="133350"/>
                  <a:pt x="152400" y="124807"/>
                  <a:pt x="152400" y="114300"/>
                </a:cubicBezTo>
                <a:lnTo>
                  <a:pt x="152400" y="38100"/>
                </a:lnTo>
                <a:cubicBezTo>
                  <a:pt x="152400" y="27593"/>
                  <a:pt x="143857" y="19050"/>
                  <a:pt x="133350" y="19050"/>
                </a:cubicBezTo>
                <a:lnTo>
                  <a:pt x="19050" y="19050"/>
                </a:lnTo>
                <a:close/>
                <a:moveTo>
                  <a:pt x="123825" y="54769"/>
                </a:moveTo>
                <a:lnTo>
                  <a:pt x="123825" y="97631"/>
                </a:lnTo>
                <a:cubicBezTo>
                  <a:pt x="123825" y="101590"/>
                  <a:pt x="120640" y="104775"/>
                  <a:pt x="116681" y="104775"/>
                </a:cubicBezTo>
                <a:cubicBezTo>
                  <a:pt x="114568" y="104775"/>
                  <a:pt x="112663" y="103852"/>
                  <a:pt x="111353" y="102394"/>
                </a:cubicBezTo>
                <a:cubicBezTo>
                  <a:pt x="108317" y="103912"/>
                  <a:pt x="104864" y="104775"/>
                  <a:pt x="101203" y="104775"/>
                </a:cubicBezTo>
                <a:cubicBezTo>
                  <a:pt x="88702" y="104775"/>
                  <a:pt x="78581" y="94655"/>
                  <a:pt x="78581" y="82153"/>
                </a:cubicBezTo>
                <a:cubicBezTo>
                  <a:pt x="78581" y="69652"/>
                  <a:pt x="88702" y="59531"/>
                  <a:pt x="101203" y="59531"/>
                </a:cubicBezTo>
                <a:cubicBezTo>
                  <a:pt x="104150" y="59531"/>
                  <a:pt x="106948" y="60097"/>
                  <a:pt x="109537" y="61109"/>
                </a:cubicBezTo>
                <a:lnTo>
                  <a:pt x="109537" y="54769"/>
                </a:lnTo>
                <a:cubicBezTo>
                  <a:pt x="109537" y="50810"/>
                  <a:pt x="112722" y="47625"/>
                  <a:pt x="116681" y="47625"/>
                </a:cubicBezTo>
                <a:cubicBezTo>
                  <a:pt x="120640" y="47625"/>
                  <a:pt x="123825" y="50810"/>
                  <a:pt x="123825" y="54769"/>
                </a:cubicBezTo>
                <a:close/>
                <a:moveTo>
                  <a:pt x="109537" y="82153"/>
                </a:moveTo>
                <a:cubicBezTo>
                  <a:pt x="109537" y="77553"/>
                  <a:pt x="105803" y="73819"/>
                  <a:pt x="101203" y="73819"/>
                </a:cubicBezTo>
                <a:cubicBezTo>
                  <a:pt x="96603" y="73819"/>
                  <a:pt x="92869" y="77553"/>
                  <a:pt x="92869" y="82153"/>
                </a:cubicBezTo>
                <a:cubicBezTo>
                  <a:pt x="92869" y="86753"/>
                  <a:pt x="96603" y="90488"/>
                  <a:pt x="101203" y="90488"/>
                </a:cubicBezTo>
                <a:cubicBezTo>
                  <a:pt x="105803" y="90488"/>
                  <a:pt x="109537" y="86753"/>
                  <a:pt x="109537" y="82153"/>
                </a:cubicBezTo>
                <a:close/>
                <a:moveTo>
                  <a:pt x="47625" y="61912"/>
                </a:moveTo>
                <a:cubicBezTo>
                  <a:pt x="45006" y="61912"/>
                  <a:pt x="42863" y="64056"/>
                  <a:pt x="42863" y="66675"/>
                </a:cubicBezTo>
                <a:lnTo>
                  <a:pt x="42863" y="76200"/>
                </a:lnTo>
                <a:lnTo>
                  <a:pt x="57150" y="76200"/>
                </a:lnTo>
                <a:lnTo>
                  <a:pt x="57150" y="66675"/>
                </a:lnTo>
                <a:cubicBezTo>
                  <a:pt x="57150" y="64056"/>
                  <a:pt x="55007" y="61912"/>
                  <a:pt x="52388" y="61912"/>
                </a:cubicBezTo>
                <a:lnTo>
                  <a:pt x="47625" y="61912"/>
                </a:lnTo>
                <a:close/>
                <a:moveTo>
                  <a:pt x="57150" y="90488"/>
                </a:moveTo>
                <a:lnTo>
                  <a:pt x="42863" y="90488"/>
                </a:lnTo>
                <a:lnTo>
                  <a:pt x="42863" y="97631"/>
                </a:lnTo>
                <a:cubicBezTo>
                  <a:pt x="42863" y="101590"/>
                  <a:pt x="39678" y="104775"/>
                  <a:pt x="35719" y="104775"/>
                </a:cubicBezTo>
                <a:cubicBezTo>
                  <a:pt x="31760" y="104775"/>
                  <a:pt x="28575" y="101590"/>
                  <a:pt x="28575" y="97631"/>
                </a:cubicBezTo>
                <a:lnTo>
                  <a:pt x="28575" y="66675"/>
                </a:lnTo>
                <a:cubicBezTo>
                  <a:pt x="28575" y="56168"/>
                  <a:pt x="37118" y="47625"/>
                  <a:pt x="47625" y="47625"/>
                </a:cubicBezTo>
                <a:lnTo>
                  <a:pt x="52388" y="47625"/>
                </a:lnTo>
                <a:cubicBezTo>
                  <a:pt x="62895" y="47625"/>
                  <a:pt x="71438" y="56168"/>
                  <a:pt x="71438" y="66675"/>
                </a:cubicBezTo>
                <a:lnTo>
                  <a:pt x="71438" y="97631"/>
                </a:lnTo>
                <a:cubicBezTo>
                  <a:pt x="71438" y="101590"/>
                  <a:pt x="68253" y="104775"/>
                  <a:pt x="64294" y="104775"/>
                </a:cubicBezTo>
                <a:cubicBezTo>
                  <a:pt x="60335" y="104775"/>
                  <a:pt x="57150" y="101590"/>
                  <a:pt x="57150" y="97631"/>
                </a:cubicBezTo>
                <a:lnTo>
                  <a:pt x="57150" y="90488"/>
                </a:lnTo>
                <a:close/>
              </a:path>
            </a:pathLst>
          </a:custGeom>
          <a:solidFill>
            <a:srgbClr val="0984E3"/>
          </a:solidFill>
          <a:ln/>
        </p:spPr>
      </p:sp>
      <p:sp>
        <p:nvSpPr>
          <p:cNvPr id="21" name="Text 19"/>
          <p:cNvSpPr/>
          <p:nvPr/>
        </p:nvSpPr>
        <p:spPr>
          <a:xfrm>
            <a:off x="819150" y="52911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Marketing:</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Advertising campaigns and market positioning</a:t>
            </a:r>
            <a:endParaRPr lang="en-US" sz="1600" dirty="0"/>
          </a:p>
        </p:txBody>
      </p:sp>
      <p:sp>
        <p:nvSpPr>
          <p:cNvPr id="22" name="Shape 20"/>
          <p:cNvSpPr/>
          <p:nvPr/>
        </p:nvSpPr>
        <p:spPr>
          <a:xfrm>
            <a:off x="4264000" y="5324475"/>
            <a:ext cx="171450" cy="152400"/>
          </a:xfrm>
          <a:custGeom>
            <a:avLst/>
            <a:gdLst/>
            <a:ahLst/>
            <a:cxnLst/>
            <a:rect l="l" t="t" r="r" b="b"/>
            <a:pathLst>
              <a:path w="171450" h="152400">
                <a:moveTo>
                  <a:pt x="80040" y="25360"/>
                </a:moveTo>
                <a:lnTo>
                  <a:pt x="45333" y="63937"/>
                </a:lnTo>
                <a:cubicBezTo>
                  <a:pt x="43964" y="65455"/>
                  <a:pt x="44023" y="67806"/>
                  <a:pt x="45482" y="69265"/>
                </a:cubicBezTo>
                <a:cubicBezTo>
                  <a:pt x="54560" y="78343"/>
                  <a:pt x="69294" y="78343"/>
                  <a:pt x="78373" y="69265"/>
                </a:cubicBezTo>
                <a:lnTo>
                  <a:pt x="87838" y="59799"/>
                </a:lnTo>
                <a:cubicBezTo>
                  <a:pt x="89089" y="58549"/>
                  <a:pt x="90666" y="57864"/>
                  <a:pt x="92273" y="57745"/>
                </a:cubicBezTo>
                <a:cubicBezTo>
                  <a:pt x="94298" y="57567"/>
                  <a:pt x="96381" y="58251"/>
                  <a:pt x="97929" y="59799"/>
                </a:cubicBezTo>
                <a:lnTo>
                  <a:pt x="150495" y="111919"/>
                </a:lnTo>
                <a:lnTo>
                  <a:pt x="171450" y="95250"/>
                </a:lnTo>
                <a:lnTo>
                  <a:pt x="171450" y="9525"/>
                </a:lnTo>
                <a:lnTo>
                  <a:pt x="138113" y="28575"/>
                </a:lnTo>
                <a:lnTo>
                  <a:pt x="131028" y="23842"/>
                </a:lnTo>
                <a:cubicBezTo>
                  <a:pt x="126325" y="20717"/>
                  <a:pt x="120819" y="19050"/>
                  <a:pt x="115163" y="19050"/>
                </a:cubicBezTo>
                <a:lnTo>
                  <a:pt x="94208" y="19050"/>
                </a:lnTo>
                <a:cubicBezTo>
                  <a:pt x="93881" y="19050"/>
                  <a:pt x="93524" y="19050"/>
                  <a:pt x="93196" y="19080"/>
                </a:cubicBezTo>
                <a:cubicBezTo>
                  <a:pt x="88166" y="19348"/>
                  <a:pt x="83433" y="21610"/>
                  <a:pt x="80040" y="25360"/>
                </a:cubicBezTo>
                <a:close/>
                <a:moveTo>
                  <a:pt x="34707" y="54382"/>
                </a:moveTo>
                <a:lnTo>
                  <a:pt x="66496" y="19050"/>
                </a:lnTo>
                <a:lnTo>
                  <a:pt x="54709" y="19050"/>
                </a:lnTo>
                <a:cubicBezTo>
                  <a:pt x="47119" y="19050"/>
                  <a:pt x="39856" y="22056"/>
                  <a:pt x="34498" y="27414"/>
                </a:cubicBezTo>
                <a:lnTo>
                  <a:pt x="33338" y="28575"/>
                </a:lnTo>
                <a:lnTo>
                  <a:pt x="0" y="9525"/>
                </a:lnTo>
                <a:lnTo>
                  <a:pt x="0" y="95250"/>
                </a:lnTo>
                <a:lnTo>
                  <a:pt x="46553" y="134035"/>
                </a:lnTo>
                <a:cubicBezTo>
                  <a:pt x="53400" y="139750"/>
                  <a:pt x="62032" y="142875"/>
                  <a:pt x="70931" y="142875"/>
                </a:cubicBezTo>
                <a:lnTo>
                  <a:pt x="75605" y="142875"/>
                </a:lnTo>
                <a:lnTo>
                  <a:pt x="73521" y="140791"/>
                </a:lnTo>
                <a:cubicBezTo>
                  <a:pt x="70723" y="137993"/>
                  <a:pt x="70723" y="133469"/>
                  <a:pt x="73521" y="130701"/>
                </a:cubicBezTo>
                <a:cubicBezTo>
                  <a:pt x="76319" y="127933"/>
                  <a:pt x="80843" y="127903"/>
                  <a:pt x="83612" y="130701"/>
                </a:cubicBezTo>
                <a:lnTo>
                  <a:pt x="95816" y="142905"/>
                </a:lnTo>
                <a:lnTo>
                  <a:pt x="98494" y="142905"/>
                </a:lnTo>
                <a:cubicBezTo>
                  <a:pt x="104180" y="142905"/>
                  <a:pt x="109746" y="141625"/>
                  <a:pt x="114806" y="139244"/>
                </a:cubicBezTo>
                <a:lnTo>
                  <a:pt x="106859" y="131266"/>
                </a:lnTo>
                <a:cubicBezTo>
                  <a:pt x="104061" y="128468"/>
                  <a:pt x="104061" y="123944"/>
                  <a:pt x="106859" y="121176"/>
                </a:cubicBezTo>
                <a:cubicBezTo>
                  <a:pt x="109657" y="118408"/>
                  <a:pt x="114181" y="118378"/>
                  <a:pt x="116949" y="121176"/>
                </a:cubicBezTo>
                <a:lnTo>
                  <a:pt x="126474" y="130701"/>
                </a:lnTo>
                <a:lnTo>
                  <a:pt x="131683" y="125492"/>
                </a:lnTo>
                <a:cubicBezTo>
                  <a:pt x="134332" y="122843"/>
                  <a:pt x="135106" y="119003"/>
                  <a:pt x="133945" y="115639"/>
                </a:cubicBezTo>
                <a:lnTo>
                  <a:pt x="92899" y="74920"/>
                </a:lnTo>
                <a:lnTo>
                  <a:pt x="88463" y="79355"/>
                </a:lnTo>
                <a:cubicBezTo>
                  <a:pt x="73789" y="94030"/>
                  <a:pt x="50036" y="94030"/>
                  <a:pt x="35362" y="79355"/>
                </a:cubicBezTo>
                <a:cubicBezTo>
                  <a:pt x="28515" y="72509"/>
                  <a:pt x="28248" y="61526"/>
                  <a:pt x="34707" y="54352"/>
                </a:cubicBezTo>
                <a:close/>
              </a:path>
            </a:pathLst>
          </a:custGeom>
          <a:solidFill>
            <a:srgbClr val="0984E3"/>
          </a:solidFill>
          <a:ln/>
        </p:spPr>
      </p:sp>
      <p:sp>
        <p:nvSpPr>
          <p:cNvPr id="23" name="Text 21"/>
          <p:cNvSpPr/>
          <p:nvPr/>
        </p:nvSpPr>
        <p:spPr>
          <a:xfrm>
            <a:off x="4502125" y="5291138"/>
            <a:ext cx="3362325" cy="457200"/>
          </a:xfrm>
          <a:prstGeom prst="rect">
            <a:avLst/>
          </a:prstGeom>
          <a:noFill/>
          <a:ln/>
        </p:spPr>
        <p:txBody>
          <a:bodyPr wrap="square" lIns="0" tIns="0" rIns="0" bIns="0" rtlCol="0" anchor="ctr"/>
          <a:lstStyle/>
          <a:p>
            <a:pPr>
              <a:lnSpc>
                <a:spcPct val="130000"/>
              </a:lnSpc>
            </a:pPr>
            <a:r>
              <a:rPr lang="en-US" sz="1200" b="1" dirty="0">
                <a:solidFill>
                  <a:srgbClr val="636E72"/>
                </a:solidFill>
                <a:latin typeface="Quattrocento Sans" pitchFamily="34" charset="0"/>
                <a:ea typeface="Quattrocento Sans" pitchFamily="34" charset="-122"/>
                <a:cs typeface="Quattrocento Sans" pitchFamily="34" charset="-120"/>
              </a:rPr>
              <a:t>Mergers:</a:t>
            </a:r>
            <a:pPr>
              <a:lnSpc>
                <a:spcPct val="130000"/>
              </a:lnSpc>
            </a:pPr>
            <a:r>
              <a:rPr lang="en-US" sz="1200" dirty="0">
                <a:solidFill>
                  <a:srgbClr val="636E72"/>
                </a:solidFill>
                <a:latin typeface="Quattrocento Sans" pitchFamily="34" charset="0"/>
                <a:ea typeface="Quattrocento Sans" pitchFamily="34" charset="-122"/>
                <a:cs typeface="Quattrocento Sans" pitchFamily="34" charset="-120"/>
              </a:rPr>
              <a:t> Strategic acquisitions and antitrust analysis</a:t>
            </a:r>
            <a:endParaRPr lang="en-US" sz="1600" dirty="0"/>
          </a:p>
        </p:txBody>
      </p:sp>
      <p:sp>
        <p:nvSpPr>
          <p:cNvPr id="24" name="Shape 22"/>
          <p:cNvSpPr/>
          <p:nvPr/>
        </p:nvSpPr>
        <p:spPr>
          <a:xfrm>
            <a:off x="8132713" y="1300163"/>
            <a:ext cx="3676650" cy="2638425"/>
          </a:xfrm>
          <a:custGeom>
            <a:avLst/>
            <a:gdLst/>
            <a:ahLst/>
            <a:cxnLst/>
            <a:rect l="l" t="t" r="r" b="b"/>
            <a:pathLst>
              <a:path w="3676650" h="2638425">
                <a:moveTo>
                  <a:pt x="0" y="0"/>
                </a:moveTo>
                <a:lnTo>
                  <a:pt x="3676650" y="0"/>
                </a:lnTo>
                <a:lnTo>
                  <a:pt x="3676650" y="2638425"/>
                </a:lnTo>
                <a:lnTo>
                  <a:pt x="0" y="2638425"/>
                </a:lnTo>
                <a:lnTo>
                  <a:pt x="0" y="0"/>
                </a:lnTo>
                <a:close/>
              </a:path>
            </a:pathLst>
          </a:custGeom>
          <a:solidFill>
            <a:srgbClr val="FFFFFF"/>
          </a:solidFill>
          <a:ln w="12700">
            <a:solidFill>
              <a:srgbClr val="E0E0E0"/>
            </a:solidFill>
            <a:prstDash val="solid"/>
          </a:ln>
        </p:spPr>
      </p:sp>
      <p:sp>
        <p:nvSpPr>
          <p:cNvPr id="25" name="Text 23"/>
          <p:cNvSpPr/>
          <p:nvPr/>
        </p:nvSpPr>
        <p:spPr>
          <a:xfrm>
            <a:off x="8242250" y="1457325"/>
            <a:ext cx="3457575" cy="266700"/>
          </a:xfrm>
          <a:prstGeom prst="rect">
            <a:avLst/>
          </a:prstGeom>
          <a:noFill/>
          <a:ln/>
        </p:spPr>
        <p:txBody>
          <a:bodyPr wrap="square" lIns="0" tIns="0" rIns="0" bIns="0" rtlCol="0" anchor="ctr"/>
          <a:lstStyle/>
          <a:p>
            <a:pPr algn="ctr">
              <a:lnSpc>
                <a:spcPct val="120000"/>
              </a:lnSpc>
            </a:pPr>
            <a:r>
              <a:rPr lang="en-US" sz="1500" b="1" dirty="0">
                <a:solidFill>
                  <a:srgbClr val="2D3436"/>
                </a:solidFill>
                <a:latin typeface="Oranienbaum" pitchFamily="34" charset="0"/>
                <a:ea typeface="Oranienbaum" pitchFamily="34" charset="-122"/>
                <a:cs typeface="Oranienbaum" pitchFamily="34" charset="-120"/>
              </a:rPr>
              <a:t>Competitive Dynamics</a:t>
            </a:r>
            <a:endParaRPr lang="en-US" sz="1600" dirty="0"/>
          </a:p>
        </p:txBody>
      </p:sp>
      <p:pic>
        <p:nvPicPr>
          <p:cNvPr id="26" name="Image 0" descr="https://kimi-web-img.moonshot.cn/img/www.strategy-business.com/62dd758fab9070507bb20738503e83b9db3de3b5.jpg">    </p:cNvPr>
          <p:cNvPicPr>
            <a:picLocks noChangeAspect="1"/>
          </p:cNvPicPr>
          <p:nvPr/>
        </p:nvPicPr>
        <p:blipFill>
          <a:blip r:embed="rId1"/>
          <a:srcRect l="0" r="0" t="10340" b="10340"/>
          <a:stretch/>
        </p:blipFill>
        <p:spPr>
          <a:xfrm>
            <a:off x="8289875" y="1838325"/>
            <a:ext cx="3362325" cy="1333500"/>
          </a:xfrm>
          <a:prstGeom prst="roundRect">
            <a:avLst>
              <a:gd name="adj" fmla="val 0"/>
            </a:avLst>
          </a:prstGeom>
        </p:spPr>
      </p:pic>
      <p:sp>
        <p:nvSpPr>
          <p:cNvPr id="27" name="Text 24"/>
          <p:cNvSpPr/>
          <p:nvPr/>
        </p:nvSpPr>
        <p:spPr>
          <a:xfrm>
            <a:off x="8251775" y="3286125"/>
            <a:ext cx="3438525" cy="495300"/>
          </a:xfrm>
          <a:prstGeom prst="rect">
            <a:avLst/>
          </a:prstGeom>
          <a:noFill/>
          <a:ln/>
        </p:spPr>
        <p:txBody>
          <a:bodyPr wrap="square" lIns="0" tIns="0" rIns="0" bIns="0" rtlCol="0" anchor="ctr"/>
          <a:lstStyle/>
          <a:p>
            <a:pPr algn="ctr">
              <a:lnSpc>
                <a:spcPct val="140000"/>
              </a:lnSpc>
            </a:pPr>
            <a:r>
              <a:rPr lang="en-US" sz="1200" dirty="0">
                <a:solidFill>
                  <a:srgbClr val="636E72"/>
                </a:solidFill>
                <a:latin typeface="Quattrocento Sans" pitchFamily="34" charset="0"/>
                <a:ea typeface="Quattrocento Sans" pitchFamily="34" charset="-122"/>
                <a:cs typeface="Quattrocento Sans" pitchFamily="34" charset="-120"/>
              </a:rPr>
              <a:t>Firms form strategic networks, competing and cooperating in complex ecosystems.</a:t>
            </a:r>
            <a:endParaRPr lang="en-US" sz="1600" dirty="0"/>
          </a:p>
        </p:txBody>
      </p:sp>
      <p:sp>
        <p:nvSpPr>
          <p:cNvPr id="28" name="Shape 25"/>
          <p:cNvSpPr/>
          <p:nvPr/>
        </p:nvSpPr>
        <p:spPr>
          <a:xfrm>
            <a:off x="8127950" y="4095750"/>
            <a:ext cx="3686175" cy="1638300"/>
          </a:xfrm>
          <a:custGeom>
            <a:avLst/>
            <a:gdLst/>
            <a:ahLst/>
            <a:cxnLst/>
            <a:rect l="l" t="t" r="r" b="b"/>
            <a:pathLst>
              <a:path w="3686175" h="1638300">
                <a:moveTo>
                  <a:pt x="0" y="0"/>
                </a:moveTo>
                <a:lnTo>
                  <a:pt x="3686175" y="0"/>
                </a:lnTo>
                <a:lnTo>
                  <a:pt x="3686175" y="1638300"/>
                </a:lnTo>
                <a:lnTo>
                  <a:pt x="0" y="1638300"/>
                </a:lnTo>
                <a:lnTo>
                  <a:pt x="0" y="0"/>
                </a:lnTo>
                <a:close/>
              </a:path>
            </a:pathLst>
          </a:custGeom>
          <a:solidFill>
            <a:srgbClr val="2D3436"/>
          </a:solidFill>
          <a:ln/>
        </p:spPr>
      </p:sp>
      <p:sp>
        <p:nvSpPr>
          <p:cNvPr id="29" name="Text 26"/>
          <p:cNvSpPr/>
          <p:nvPr/>
        </p:nvSpPr>
        <p:spPr>
          <a:xfrm>
            <a:off x="8280350" y="4248150"/>
            <a:ext cx="34671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Oranienbaum" pitchFamily="34" charset="0"/>
                <a:ea typeface="Oranienbaum" pitchFamily="34" charset="-122"/>
                <a:cs typeface="Oranienbaum" pitchFamily="34" charset="-120"/>
              </a:rPr>
              <a:t>Case Study: Airline Pricing</a:t>
            </a:r>
            <a:endParaRPr lang="en-US" sz="1600" dirty="0"/>
          </a:p>
        </p:txBody>
      </p:sp>
      <p:sp>
        <p:nvSpPr>
          <p:cNvPr id="30" name="Text 27"/>
          <p:cNvSpPr/>
          <p:nvPr/>
        </p:nvSpPr>
        <p:spPr>
          <a:xfrm>
            <a:off x="8280350" y="4591050"/>
            <a:ext cx="3457575" cy="990600"/>
          </a:xfrm>
          <a:prstGeom prst="rect">
            <a:avLst/>
          </a:prstGeom>
          <a:noFill/>
          <a:ln/>
        </p:spPr>
        <p:txBody>
          <a:bodyPr wrap="square" lIns="0" tIns="0" rIns="0" bIns="0" rtlCol="0" anchor="ctr"/>
          <a:lstStyle/>
          <a:p>
            <a:pPr>
              <a:lnSpc>
                <a:spcPct val="140000"/>
              </a:lnSpc>
            </a:pPr>
            <a:r>
              <a:rPr lang="en-US" sz="1200" dirty="0">
                <a:solidFill>
                  <a:srgbClr val="E0E0E0"/>
                </a:solidFill>
                <a:latin typeface="Quattrocento Sans" pitchFamily="34" charset="0"/>
                <a:ea typeface="Quattrocento Sans" pitchFamily="34" charset="-122"/>
                <a:cs typeface="Quattrocento Sans" pitchFamily="34" charset="-120"/>
              </a:rPr>
              <a:t>Airlines use game theory to set fares, anticipating competitor responses to price changes. This explains why fares often move in lockstep and why price wars erupt.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0578" y="370578"/>
            <a:ext cx="11524960" cy="222347"/>
          </a:xfrm>
          <a:prstGeom prst="rect">
            <a:avLst/>
          </a:prstGeom>
          <a:noFill/>
          <a:ln/>
        </p:spPr>
        <p:txBody>
          <a:bodyPr wrap="square" lIns="0" tIns="0" rIns="0" bIns="0" rtlCol="0" anchor="ctr"/>
          <a:lstStyle/>
          <a:p>
            <a:pPr>
              <a:lnSpc>
                <a:spcPct val="130000"/>
              </a:lnSpc>
            </a:pPr>
            <a:r>
              <a:rPr lang="en-US" sz="1167" b="1" spc="58"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70578" y="667040"/>
            <a:ext cx="11673191" cy="444693"/>
          </a:xfrm>
          <a:prstGeom prst="rect">
            <a:avLst/>
          </a:prstGeom>
          <a:noFill/>
          <a:ln/>
        </p:spPr>
        <p:txBody>
          <a:bodyPr wrap="square" lIns="0" tIns="0" rIns="0" bIns="0" rtlCol="0" anchor="ctr"/>
          <a:lstStyle/>
          <a:p>
            <a:pPr>
              <a:lnSpc>
                <a:spcPct val="80000"/>
              </a:lnSpc>
            </a:pPr>
            <a:r>
              <a:rPr lang="en-US" sz="3502" b="1" dirty="0">
                <a:solidFill>
                  <a:srgbClr val="2D3436"/>
                </a:solidFill>
                <a:latin typeface="Oranienbaum" pitchFamily="34" charset="0"/>
                <a:ea typeface="Oranienbaum" pitchFamily="34" charset="-122"/>
                <a:cs typeface="Oranienbaum" pitchFamily="34" charset="-120"/>
              </a:rPr>
              <a:t>Political Science &amp; International Relations</a:t>
            </a:r>
            <a:endParaRPr lang="en-US" sz="1600" dirty="0"/>
          </a:p>
        </p:txBody>
      </p:sp>
      <p:sp>
        <p:nvSpPr>
          <p:cNvPr id="4" name="Text 2"/>
          <p:cNvSpPr/>
          <p:nvPr/>
        </p:nvSpPr>
        <p:spPr>
          <a:xfrm>
            <a:off x="370578" y="1334079"/>
            <a:ext cx="5669836" cy="1204377"/>
          </a:xfrm>
          <a:prstGeom prst="rect">
            <a:avLst/>
          </a:prstGeom>
          <a:noFill/>
          <a:ln/>
        </p:spPr>
        <p:txBody>
          <a:bodyPr wrap="square" lIns="0" tIns="0" rIns="0" bIns="0" rtlCol="0" anchor="ctr"/>
          <a:lstStyle/>
          <a:p>
            <a:pPr>
              <a:lnSpc>
                <a:spcPct val="140000"/>
              </a:lnSpc>
            </a:pPr>
            <a:r>
              <a:rPr lang="en-US" sz="1459" b="1" dirty="0">
                <a:solidFill>
                  <a:srgbClr val="1E272E"/>
                </a:solidFill>
                <a:latin typeface="Quattrocento Sans" pitchFamily="34" charset="0"/>
                <a:ea typeface="Quattrocento Sans" pitchFamily="34" charset="-122"/>
                <a:cs typeface="Quattrocento Sans" pitchFamily="34" charset="-120"/>
              </a:rPr>
              <a:t>Game theory provides essential frameworks for understanding political behavior, from voting systems to international conflicts.</a:t>
            </a:r>
            <a:pPr>
              <a:lnSpc>
                <a:spcPct val="140000"/>
              </a:lnSpc>
            </a:pPr>
            <a:r>
              <a:rPr lang="en-US" sz="1459" dirty="0">
                <a:solidFill>
                  <a:srgbClr val="1E272E"/>
                </a:solidFill>
                <a:latin typeface="Quattrocento Sans" pitchFamily="34" charset="0"/>
                <a:ea typeface="Quattrocento Sans" pitchFamily="34" charset="-122"/>
                <a:cs typeface="Quattrocento Sans" pitchFamily="34" charset="-120"/>
              </a:rPr>
              <a:t> It illuminates why nations cooperate or compete and how institutions shape strategic interactions.</a:t>
            </a:r>
            <a:endParaRPr lang="en-US" sz="1600" dirty="0"/>
          </a:p>
        </p:txBody>
      </p:sp>
      <p:sp>
        <p:nvSpPr>
          <p:cNvPr id="5" name="Shape 3"/>
          <p:cNvSpPr/>
          <p:nvPr/>
        </p:nvSpPr>
        <p:spPr>
          <a:xfrm>
            <a:off x="375210" y="2691319"/>
            <a:ext cx="5567927" cy="2158614"/>
          </a:xfrm>
          <a:custGeom>
            <a:avLst/>
            <a:gdLst/>
            <a:ahLst/>
            <a:cxnLst/>
            <a:rect l="l" t="t" r="r" b="b"/>
            <a:pathLst>
              <a:path w="5567927" h="2158614">
                <a:moveTo>
                  <a:pt x="0" y="0"/>
                </a:moveTo>
                <a:lnTo>
                  <a:pt x="5567927" y="0"/>
                </a:lnTo>
                <a:lnTo>
                  <a:pt x="5567927" y="2158614"/>
                </a:lnTo>
                <a:lnTo>
                  <a:pt x="0" y="2158614"/>
                </a:lnTo>
                <a:lnTo>
                  <a:pt x="0" y="0"/>
                </a:lnTo>
                <a:close/>
              </a:path>
            </a:pathLst>
          </a:custGeom>
          <a:solidFill>
            <a:srgbClr val="FFFFFF"/>
          </a:solidFill>
          <a:ln w="12700">
            <a:solidFill>
              <a:srgbClr val="E0E0E0"/>
            </a:solidFill>
            <a:prstDash val="solid"/>
          </a:ln>
        </p:spPr>
      </p:sp>
      <p:sp>
        <p:nvSpPr>
          <p:cNvPr id="6" name="Text 4"/>
          <p:cNvSpPr/>
          <p:nvPr/>
        </p:nvSpPr>
        <p:spPr>
          <a:xfrm>
            <a:off x="565131" y="2881240"/>
            <a:ext cx="5280729" cy="259404"/>
          </a:xfrm>
          <a:prstGeom prst="rect">
            <a:avLst/>
          </a:prstGeom>
          <a:noFill/>
          <a:ln/>
        </p:spPr>
        <p:txBody>
          <a:bodyPr wrap="square" lIns="0" tIns="0" rIns="0" bIns="0" rtlCol="0" anchor="ctr"/>
          <a:lstStyle/>
          <a:p>
            <a:pPr>
              <a:lnSpc>
                <a:spcPct val="120000"/>
              </a:lnSpc>
            </a:pPr>
            <a:r>
              <a:rPr lang="en-US" sz="1459" b="1" dirty="0">
                <a:solidFill>
                  <a:srgbClr val="2D3436"/>
                </a:solidFill>
                <a:latin typeface="Oranienbaum" pitchFamily="34" charset="0"/>
                <a:ea typeface="Oranienbaum" pitchFamily="34" charset="-122"/>
                <a:cs typeface="Oranienbaum" pitchFamily="34" charset="-120"/>
              </a:rPr>
              <a:t>Voting Systems &amp; Elections</a:t>
            </a:r>
            <a:endParaRPr lang="en-US" sz="1600" dirty="0"/>
          </a:p>
        </p:txBody>
      </p:sp>
      <p:sp>
        <p:nvSpPr>
          <p:cNvPr id="7" name="Text 5"/>
          <p:cNvSpPr/>
          <p:nvPr/>
        </p:nvSpPr>
        <p:spPr>
          <a:xfrm>
            <a:off x="565131" y="3251818"/>
            <a:ext cx="5262201" cy="481751"/>
          </a:xfrm>
          <a:prstGeom prst="rect">
            <a:avLst/>
          </a:prstGeom>
          <a:noFill/>
          <a:ln/>
        </p:spPr>
        <p:txBody>
          <a:bodyPr wrap="square" lIns="0" tIns="0" rIns="0" bIns="0" rtlCol="0" anchor="ctr"/>
          <a:lstStyle/>
          <a:p>
            <a:pPr>
              <a:lnSpc>
                <a:spcPct val="140000"/>
              </a:lnSpc>
            </a:pPr>
            <a:r>
              <a:rPr lang="en-US" sz="1167" dirty="0">
                <a:solidFill>
                  <a:srgbClr val="636E72"/>
                </a:solidFill>
                <a:latin typeface="Quattrocento Sans" pitchFamily="34" charset="0"/>
                <a:ea typeface="Quattrocento Sans" pitchFamily="34" charset="-122"/>
                <a:cs typeface="Quattrocento Sans" pitchFamily="34" charset="-120"/>
              </a:rPr>
              <a:t>Game theory analyzes strategic voting, where voters may not choose their true preference to avoid "wasting" votes. It explains:</a:t>
            </a:r>
            <a:endParaRPr lang="en-US" sz="1600" dirty="0"/>
          </a:p>
        </p:txBody>
      </p:sp>
      <p:sp>
        <p:nvSpPr>
          <p:cNvPr id="8" name="Shape 6"/>
          <p:cNvSpPr/>
          <p:nvPr/>
        </p:nvSpPr>
        <p:spPr>
          <a:xfrm>
            <a:off x="592924" y="3877167"/>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9" name="Text 7"/>
          <p:cNvSpPr/>
          <p:nvPr/>
        </p:nvSpPr>
        <p:spPr>
          <a:xfrm>
            <a:off x="804485" y="3844742"/>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Why two-party systems dominate under plurality voting</a:t>
            </a:r>
            <a:endParaRPr lang="en-US" sz="1600" dirty="0"/>
          </a:p>
        </p:txBody>
      </p:sp>
      <p:sp>
        <p:nvSpPr>
          <p:cNvPr id="10" name="Shape 8"/>
          <p:cNvSpPr/>
          <p:nvPr/>
        </p:nvSpPr>
        <p:spPr>
          <a:xfrm>
            <a:off x="592924" y="4173629"/>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11" name="Text 9"/>
          <p:cNvSpPr/>
          <p:nvPr/>
        </p:nvSpPr>
        <p:spPr>
          <a:xfrm>
            <a:off x="804485" y="4141204"/>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Strategic candidate positioning (median voter theorem)</a:t>
            </a:r>
            <a:endParaRPr lang="en-US" sz="1600" dirty="0"/>
          </a:p>
        </p:txBody>
      </p:sp>
      <p:sp>
        <p:nvSpPr>
          <p:cNvPr id="12" name="Shape 10"/>
          <p:cNvSpPr/>
          <p:nvPr/>
        </p:nvSpPr>
        <p:spPr>
          <a:xfrm>
            <a:off x="592924" y="4470091"/>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p:spPr>
      </p:sp>
      <p:sp>
        <p:nvSpPr>
          <p:cNvPr id="13" name="Text 11"/>
          <p:cNvSpPr/>
          <p:nvPr/>
        </p:nvSpPr>
        <p:spPr>
          <a:xfrm>
            <a:off x="804485" y="4437666"/>
            <a:ext cx="5022846" cy="222347"/>
          </a:xfrm>
          <a:prstGeom prst="rect">
            <a:avLst/>
          </a:prstGeom>
          <a:noFill/>
          <a:ln/>
        </p:spPr>
        <p:txBody>
          <a:bodyPr wrap="square" lIns="0" tIns="0" rIns="0" bIns="0" rtlCol="0" anchor="ctr"/>
          <a:lstStyle/>
          <a:p>
            <a:pPr>
              <a:lnSpc>
                <a:spcPct val="130000"/>
              </a:lnSpc>
            </a:pPr>
            <a:r>
              <a:rPr lang="en-US" sz="1167" dirty="0">
                <a:solidFill>
                  <a:srgbClr val="636E72"/>
                </a:solidFill>
                <a:latin typeface="Quattrocento Sans" pitchFamily="34" charset="0"/>
                <a:ea typeface="Quattrocento Sans" pitchFamily="34" charset="-122"/>
                <a:cs typeface="Quattrocento Sans" pitchFamily="34" charset="-120"/>
              </a:rPr>
              <a:t>Coalition formation in parliamentary systems</a:t>
            </a:r>
            <a:endParaRPr lang="en-US" sz="1600" dirty="0"/>
          </a:p>
        </p:txBody>
      </p:sp>
      <p:sp>
        <p:nvSpPr>
          <p:cNvPr id="14" name="Shape 12"/>
          <p:cNvSpPr/>
          <p:nvPr/>
        </p:nvSpPr>
        <p:spPr>
          <a:xfrm>
            <a:off x="375210" y="5007429"/>
            <a:ext cx="5567927" cy="1473046"/>
          </a:xfrm>
          <a:custGeom>
            <a:avLst/>
            <a:gdLst/>
            <a:ahLst/>
            <a:cxnLst/>
            <a:rect l="l" t="t" r="r" b="b"/>
            <a:pathLst>
              <a:path w="5567927" h="1473046">
                <a:moveTo>
                  <a:pt x="0" y="0"/>
                </a:moveTo>
                <a:lnTo>
                  <a:pt x="5567927" y="0"/>
                </a:lnTo>
                <a:lnTo>
                  <a:pt x="5567927" y="1473046"/>
                </a:lnTo>
                <a:lnTo>
                  <a:pt x="0" y="1473046"/>
                </a:lnTo>
                <a:lnTo>
                  <a:pt x="0" y="0"/>
                </a:lnTo>
                <a:close/>
              </a:path>
            </a:pathLst>
          </a:custGeom>
          <a:solidFill>
            <a:srgbClr val="FFFFFF"/>
          </a:solidFill>
          <a:ln w="12700">
            <a:solidFill>
              <a:srgbClr val="E0E0E0"/>
            </a:solidFill>
            <a:prstDash val="solid"/>
          </a:ln>
        </p:spPr>
      </p:sp>
      <p:sp>
        <p:nvSpPr>
          <p:cNvPr id="15" name="Text 13"/>
          <p:cNvSpPr/>
          <p:nvPr/>
        </p:nvSpPr>
        <p:spPr>
          <a:xfrm>
            <a:off x="565131" y="5197350"/>
            <a:ext cx="5280729" cy="259404"/>
          </a:xfrm>
          <a:prstGeom prst="rect">
            <a:avLst/>
          </a:prstGeom>
          <a:noFill/>
          <a:ln/>
        </p:spPr>
        <p:txBody>
          <a:bodyPr wrap="square" lIns="0" tIns="0" rIns="0" bIns="0" rtlCol="0" anchor="ctr"/>
          <a:lstStyle/>
          <a:p>
            <a:pPr>
              <a:lnSpc>
                <a:spcPct val="120000"/>
              </a:lnSpc>
            </a:pPr>
            <a:r>
              <a:rPr lang="en-US" sz="1459" b="1" dirty="0">
                <a:solidFill>
                  <a:srgbClr val="2D3436"/>
                </a:solidFill>
                <a:latin typeface="Oranienbaum" pitchFamily="34" charset="0"/>
                <a:ea typeface="Oranienbaum" pitchFamily="34" charset="-122"/>
                <a:cs typeface="Oranienbaum" pitchFamily="34" charset="-120"/>
              </a:rPr>
              <a:t>International Negotiations</a:t>
            </a:r>
            <a:endParaRPr lang="en-US" sz="1600" dirty="0"/>
          </a:p>
        </p:txBody>
      </p:sp>
      <p:sp>
        <p:nvSpPr>
          <p:cNvPr id="16" name="Text 14"/>
          <p:cNvSpPr/>
          <p:nvPr/>
        </p:nvSpPr>
        <p:spPr>
          <a:xfrm>
            <a:off x="565131" y="5567927"/>
            <a:ext cx="5262201" cy="722626"/>
          </a:xfrm>
          <a:prstGeom prst="rect">
            <a:avLst/>
          </a:prstGeom>
          <a:noFill/>
          <a:ln/>
        </p:spPr>
        <p:txBody>
          <a:bodyPr wrap="square" lIns="0" tIns="0" rIns="0" bIns="0" rtlCol="0" anchor="ctr"/>
          <a:lstStyle/>
          <a:p>
            <a:pPr>
              <a:lnSpc>
                <a:spcPct val="140000"/>
              </a:lnSpc>
            </a:pPr>
            <a:r>
              <a:rPr lang="en-US" sz="1167" dirty="0">
                <a:solidFill>
                  <a:srgbClr val="636E72"/>
                </a:solidFill>
                <a:latin typeface="Quattrocento Sans" pitchFamily="34" charset="0"/>
                <a:ea typeface="Quattrocento Sans" pitchFamily="34" charset="-122"/>
                <a:cs typeface="Quattrocento Sans" pitchFamily="34" charset="-120"/>
              </a:rPr>
              <a:t>Trade agreements, climate treaties, and arms control all involve strategic bargaining. Game theory reveals why enforceable commitments and repeated interactions foster cooperation.</a:t>
            </a:r>
            <a:endParaRPr lang="en-US" sz="1600" dirty="0"/>
          </a:p>
        </p:txBody>
      </p:sp>
      <p:sp>
        <p:nvSpPr>
          <p:cNvPr id="17" name="Shape 15"/>
          <p:cNvSpPr/>
          <p:nvPr/>
        </p:nvSpPr>
        <p:spPr>
          <a:xfrm>
            <a:off x="6242132" y="1334079"/>
            <a:ext cx="5577191" cy="2844182"/>
          </a:xfrm>
          <a:custGeom>
            <a:avLst/>
            <a:gdLst/>
            <a:ahLst/>
            <a:cxnLst/>
            <a:rect l="l" t="t" r="r" b="b"/>
            <a:pathLst>
              <a:path w="5577191" h="2844182">
                <a:moveTo>
                  <a:pt x="0" y="0"/>
                </a:moveTo>
                <a:lnTo>
                  <a:pt x="5577191" y="0"/>
                </a:lnTo>
                <a:lnTo>
                  <a:pt x="5577191" y="2844182"/>
                </a:lnTo>
                <a:lnTo>
                  <a:pt x="0" y="2844182"/>
                </a:lnTo>
                <a:lnTo>
                  <a:pt x="0" y="0"/>
                </a:lnTo>
                <a:close/>
              </a:path>
            </a:pathLst>
          </a:custGeom>
          <a:solidFill>
            <a:srgbClr val="2D3436"/>
          </a:solidFill>
          <a:ln/>
        </p:spPr>
      </p:sp>
      <p:sp>
        <p:nvSpPr>
          <p:cNvPr id="18" name="Text 16"/>
          <p:cNvSpPr/>
          <p:nvPr/>
        </p:nvSpPr>
        <p:spPr>
          <a:xfrm>
            <a:off x="6427421" y="1519368"/>
            <a:ext cx="5317787" cy="296462"/>
          </a:xfrm>
          <a:prstGeom prst="rect">
            <a:avLst/>
          </a:prstGeom>
          <a:noFill/>
          <a:ln/>
        </p:spPr>
        <p:txBody>
          <a:bodyPr wrap="square" lIns="0" tIns="0" rIns="0" bIns="0" rtlCol="0" anchor="ctr"/>
          <a:lstStyle/>
          <a:p>
            <a:pPr>
              <a:lnSpc>
                <a:spcPct val="110000"/>
              </a:lnSpc>
            </a:pPr>
            <a:r>
              <a:rPr lang="en-US" sz="1751" b="1" dirty="0">
                <a:solidFill>
                  <a:srgbClr val="FFFFFF"/>
                </a:solidFill>
                <a:latin typeface="Oranienbaum" pitchFamily="34" charset="0"/>
                <a:ea typeface="Oranienbaum" pitchFamily="34" charset="-122"/>
                <a:cs typeface="Oranienbaum" pitchFamily="34" charset="-120"/>
              </a:rPr>
              <a:t>Nuclear Deterrence Theory</a:t>
            </a:r>
            <a:endParaRPr lang="en-US" sz="1600" dirty="0"/>
          </a:p>
        </p:txBody>
      </p:sp>
      <p:sp>
        <p:nvSpPr>
          <p:cNvPr id="19" name="Text 17"/>
          <p:cNvSpPr/>
          <p:nvPr/>
        </p:nvSpPr>
        <p:spPr>
          <a:xfrm>
            <a:off x="6427421" y="1968693"/>
            <a:ext cx="5146395" cy="456274"/>
          </a:xfrm>
          <a:prstGeom prst="rect">
            <a:avLst/>
          </a:prstGeom>
          <a:noFill/>
          <a:ln/>
        </p:spPr>
        <p:txBody>
          <a:bodyPr wrap="square" lIns="0" tIns="0" rIns="0" bIns="0" rtlCol="0" anchor="ctr"/>
          <a:lstStyle/>
          <a:p>
            <a:pPr>
              <a:lnSpc>
                <a:spcPct val="140000"/>
              </a:lnSpc>
            </a:pPr>
            <a:r>
              <a:rPr lang="en-US" sz="1313" b="1" dirty="0">
                <a:solidFill>
                  <a:srgbClr val="E0E0E0"/>
                </a:solidFill>
                <a:latin typeface="Quattrocento Sans" pitchFamily="34" charset="0"/>
                <a:ea typeface="Quattrocento Sans" pitchFamily="34" charset="-122"/>
                <a:cs typeface="Quattrocento Sans" pitchFamily="34" charset="-120"/>
              </a:rPr>
              <a:t>The Cold War's most critical strategic problem was preventing nuclear war while maintaining credible deterrence.</a:t>
            </a:r>
            <a:endParaRPr lang="en-US" sz="1600" dirty="0"/>
          </a:p>
        </p:txBody>
      </p:sp>
      <p:sp>
        <p:nvSpPr>
          <p:cNvPr id="20" name="Text 18"/>
          <p:cNvSpPr/>
          <p:nvPr/>
        </p:nvSpPr>
        <p:spPr>
          <a:xfrm>
            <a:off x="6427421" y="2580146"/>
            <a:ext cx="5280729" cy="481751"/>
          </a:xfrm>
          <a:prstGeom prst="rect">
            <a:avLst/>
          </a:prstGeom>
          <a:noFill/>
          <a:ln/>
        </p:spPr>
        <p:txBody>
          <a:bodyPr wrap="square" lIns="0" tIns="0" rIns="0" bIns="0" rtlCol="0" anchor="ctr"/>
          <a:lstStyle/>
          <a:p>
            <a:pPr>
              <a:lnSpc>
                <a:spcPct val="140000"/>
              </a:lnSpc>
            </a:pPr>
            <a:r>
              <a:rPr lang="en-US" sz="1167" dirty="0">
                <a:solidFill>
                  <a:srgbClr val="E0E0E0"/>
                </a:solidFill>
                <a:latin typeface="Quattrocento Sans" pitchFamily="34" charset="0"/>
                <a:ea typeface="Quattrocento Sans" pitchFamily="34" charset="-122"/>
                <a:cs typeface="Quattrocento Sans" pitchFamily="34" charset="-120"/>
              </a:rPr>
              <a:t>Game theorists like Thomas Schelling applied the Chicken Game to model nuclear brinkmanship. Key insights:</a:t>
            </a:r>
            <a:endParaRPr lang="en-US" sz="1600" dirty="0"/>
          </a:p>
        </p:txBody>
      </p:sp>
      <p:sp>
        <p:nvSpPr>
          <p:cNvPr id="21" name="Shape 19"/>
          <p:cNvSpPr/>
          <p:nvPr/>
        </p:nvSpPr>
        <p:spPr>
          <a:xfrm>
            <a:off x="6436685" y="3205495"/>
            <a:ext cx="166760" cy="148231"/>
          </a:xfrm>
          <a:custGeom>
            <a:avLst/>
            <a:gdLst/>
            <a:ahLst/>
            <a:cxnLst/>
            <a:rect l="l" t="t" r="r" b="b"/>
            <a:pathLst>
              <a:path w="166760" h="148231">
                <a:moveTo>
                  <a:pt x="138967" y="-4632"/>
                </a:moveTo>
                <a:cubicBezTo>
                  <a:pt x="140964" y="-4632"/>
                  <a:pt x="142730" y="-3358"/>
                  <a:pt x="143367" y="-1477"/>
                </a:cubicBezTo>
                <a:lnTo>
                  <a:pt x="147276" y="10220"/>
                </a:lnTo>
                <a:lnTo>
                  <a:pt x="158972" y="14128"/>
                </a:lnTo>
                <a:cubicBezTo>
                  <a:pt x="160854" y="14765"/>
                  <a:pt x="162128" y="16531"/>
                  <a:pt x="162128" y="18529"/>
                </a:cubicBezTo>
                <a:cubicBezTo>
                  <a:pt x="162128" y="20527"/>
                  <a:pt x="160854" y="22293"/>
                  <a:pt x="158972" y="22929"/>
                </a:cubicBezTo>
                <a:lnTo>
                  <a:pt x="147276" y="26838"/>
                </a:lnTo>
                <a:lnTo>
                  <a:pt x="143367" y="38534"/>
                </a:lnTo>
                <a:cubicBezTo>
                  <a:pt x="142730" y="40416"/>
                  <a:pt x="140964" y="41690"/>
                  <a:pt x="138967" y="41690"/>
                </a:cubicBezTo>
                <a:cubicBezTo>
                  <a:pt x="136969" y="41690"/>
                  <a:pt x="135203" y="40416"/>
                  <a:pt x="134566" y="38534"/>
                </a:cubicBezTo>
                <a:lnTo>
                  <a:pt x="130658" y="26838"/>
                </a:lnTo>
                <a:lnTo>
                  <a:pt x="118961" y="22929"/>
                </a:lnTo>
                <a:cubicBezTo>
                  <a:pt x="117079" y="22293"/>
                  <a:pt x="115805" y="20527"/>
                  <a:pt x="115805" y="18529"/>
                </a:cubicBezTo>
                <a:cubicBezTo>
                  <a:pt x="115805" y="16531"/>
                  <a:pt x="117079" y="14765"/>
                  <a:pt x="118961" y="14128"/>
                </a:cubicBezTo>
                <a:lnTo>
                  <a:pt x="130658" y="10220"/>
                </a:lnTo>
                <a:lnTo>
                  <a:pt x="134566" y="-1477"/>
                </a:lnTo>
                <a:cubicBezTo>
                  <a:pt x="135203" y="-3358"/>
                  <a:pt x="136969" y="-4632"/>
                  <a:pt x="138967" y="-4632"/>
                </a:cubicBezTo>
                <a:close/>
                <a:moveTo>
                  <a:pt x="93050" y="28199"/>
                </a:moveTo>
                <a:cubicBezTo>
                  <a:pt x="96669" y="24580"/>
                  <a:pt x="102546" y="24580"/>
                  <a:pt x="106165" y="28199"/>
                </a:cubicBezTo>
                <a:lnTo>
                  <a:pt x="129326" y="51360"/>
                </a:lnTo>
                <a:cubicBezTo>
                  <a:pt x="132945" y="54979"/>
                  <a:pt x="132945" y="60856"/>
                  <a:pt x="129326" y="64475"/>
                </a:cubicBezTo>
                <a:lnTo>
                  <a:pt x="126170" y="67630"/>
                </a:lnTo>
                <a:cubicBezTo>
                  <a:pt x="128457" y="74000"/>
                  <a:pt x="129702" y="80861"/>
                  <a:pt x="129702" y="88041"/>
                </a:cubicBezTo>
                <a:cubicBezTo>
                  <a:pt x="129702" y="121306"/>
                  <a:pt x="102748" y="148260"/>
                  <a:pt x="69483" y="148260"/>
                </a:cubicBezTo>
                <a:cubicBezTo>
                  <a:pt x="36218" y="148260"/>
                  <a:pt x="9264" y="121277"/>
                  <a:pt x="9264" y="88012"/>
                </a:cubicBezTo>
                <a:cubicBezTo>
                  <a:pt x="9264" y="54747"/>
                  <a:pt x="36218" y="27793"/>
                  <a:pt x="69483" y="27793"/>
                </a:cubicBezTo>
                <a:cubicBezTo>
                  <a:pt x="76634" y="27793"/>
                  <a:pt x="83525" y="29038"/>
                  <a:pt x="89894" y="31354"/>
                </a:cubicBezTo>
                <a:lnTo>
                  <a:pt x="93050" y="28199"/>
                </a:lnTo>
                <a:close/>
                <a:moveTo>
                  <a:pt x="41690" y="88012"/>
                </a:moveTo>
                <a:cubicBezTo>
                  <a:pt x="41690" y="72668"/>
                  <a:pt x="54139" y="60219"/>
                  <a:pt x="69483" y="60219"/>
                </a:cubicBezTo>
                <a:cubicBezTo>
                  <a:pt x="73334" y="60219"/>
                  <a:pt x="76432" y="57121"/>
                  <a:pt x="76432" y="53271"/>
                </a:cubicBezTo>
                <a:cubicBezTo>
                  <a:pt x="76432" y="49420"/>
                  <a:pt x="73334" y="46322"/>
                  <a:pt x="69483" y="46322"/>
                </a:cubicBezTo>
                <a:cubicBezTo>
                  <a:pt x="46467" y="46322"/>
                  <a:pt x="27793" y="64996"/>
                  <a:pt x="27793" y="88012"/>
                </a:cubicBezTo>
                <a:cubicBezTo>
                  <a:pt x="27793" y="91863"/>
                  <a:pt x="30891" y="94960"/>
                  <a:pt x="34742" y="94960"/>
                </a:cubicBezTo>
                <a:cubicBezTo>
                  <a:pt x="38592" y="94960"/>
                  <a:pt x="41690" y="91863"/>
                  <a:pt x="41690" y="88012"/>
                </a:cubicBezTo>
                <a:close/>
              </a:path>
            </a:pathLst>
          </a:custGeom>
          <a:solidFill>
            <a:srgbClr val="0984E3"/>
          </a:solidFill>
          <a:ln/>
        </p:spPr>
      </p:sp>
      <p:sp>
        <p:nvSpPr>
          <p:cNvPr id="22" name="Text 20"/>
          <p:cNvSpPr/>
          <p:nvPr/>
        </p:nvSpPr>
        <p:spPr>
          <a:xfrm>
            <a:off x="6666776" y="3173070"/>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Credible Threats:</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Making retaliation automatic (doomsday devices)</a:t>
            </a:r>
            <a:endParaRPr lang="en-US" sz="1600" dirty="0"/>
          </a:p>
        </p:txBody>
      </p:sp>
      <p:sp>
        <p:nvSpPr>
          <p:cNvPr id="23" name="Shape 21"/>
          <p:cNvSpPr/>
          <p:nvPr/>
        </p:nvSpPr>
        <p:spPr>
          <a:xfrm>
            <a:off x="6445950" y="3501957"/>
            <a:ext cx="148231" cy="148231"/>
          </a:xfrm>
          <a:custGeom>
            <a:avLst/>
            <a:gdLst/>
            <a:ahLst/>
            <a:cxnLst/>
            <a:rect l="l" t="t" r="r" b="b"/>
            <a:pathLst>
              <a:path w="148231" h="148231">
                <a:moveTo>
                  <a:pt x="83380" y="9264"/>
                </a:moveTo>
                <a:cubicBezTo>
                  <a:pt x="83380" y="4140"/>
                  <a:pt x="79240" y="0"/>
                  <a:pt x="74116" y="0"/>
                </a:cubicBezTo>
                <a:cubicBezTo>
                  <a:pt x="68991" y="0"/>
                  <a:pt x="64851" y="4140"/>
                  <a:pt x="64851" y="9264"/>
                </a:cubicBezTo>
                <a:lnTo>
                  <a:pt x="64851" y="69483"/>
                </a:lnTo>
                <a:cubicBezTo>
                  <a:pt x="64851" y="72031"/>
                  <a:pt x="62767" y="74116"/>
                  <a:pt x="60219" y="74116"/>
                </a:cubicBezTo>
                <a:cubicBezTo>
                  <a:pt x="57671" y="74116"/>
                  <a:pt x="55587" y="72031"/>
                  <a:pt x="55587" y="69483"/>
                </a:cubicBezTo>
                <a:lnTo>
                  <a:pt x="55587" y="18529"/>
                </a:lnTo>
                <a:cubicBezTo>
                  <a:pt x="55587" y="13404"/>
                  <a:pt x="51447" y="9264"/>
                  <a:pt x="46322" y="9264"/>
                </a:cubicBezTo>
                <a:cubicBezTo>
                  <a:pt x="41198" y="9264"/>
                  <a:pt x="37058" y="13404"/>
                  <a:pt x="37058" y="18529"/>
                </a:cubicBezTo>
                <a:lnTo>
                  <a:pt x="37058" y="97277"/>
                </a:lnTo>
                <a:cubicBezTo>
                  <a:pt x="37058" y="97711"/>
                  <a:pt x="37058" y="98174"/>
                  <a:pt x="37087" y="98608"/>
                </a:cubicBezTo>
                <a:lnTo>
                  <a:pt x="19571" y="81932"/>
                </a:lnTo>
                <a:cubicBezTo>
                  <a:pt x="14939" y="77532"/>
                  <a:pt x="7614" y="77705"/>
                  <a:pt x="3185" y="82338"/>
                </a:cubicBezTo>
                <a:cubicBezTo>
                  <a:pt x="-1245" y="86970"/>
                  <a:pt x="-1042" y="94295"/>
                  <a:pt x="3590" y="98724"/>
                </a:cubicBezTo>
                <a:lnTo>
                  <a:pt x="36131" y="129702"/>
                </a:lnTo>
                <a:cubicBezTo>
                  <a:pt x="48609" y="141601"/>
                  <a:pt x="65198" y="148231"/>
                  <a:pt x="82453" y="148231"/>
                </a:cubicBezTo>
                <a:lnTo>
                  <a:pt x="88012" y="148231"/>
                </a:lnTo>
                <a:cubicBezTo>
                  <a:pt x="116153" y="148231"/>
                  <a:pt x="138967" y="125417"/>
                  <a:pt x="138967" y="97277"/>
                </a:cubicBezTo>
                <a:lnTo>
                  <a:pt x="138967" y="37058"/>
                </a:lnTo>
                <a:cubicBezTo>
                  <a:pt x="138967" y="31933"/>
                  <a:pt x="134827" y="27793"/>
                  <a:pt x="129702" y="27793"/>
                </a:cubicBezTo>
                <a:cubicBezTo>
                  <a:pt x="124578" y="27793"/>
                  <a:pt x="120438" y="31933"/>
                  <a:pt x="120438" y="37058"/>
                </a:cubicBezTo>
                <a:lnTo>
                  <a:pt x="120438" y="69483"/>
                </a:lnTo>
                <a:cubicBezTo>
                  <a:pt x="120438" y="72031"/>
                  <a:pt x="118353" y="74116"/>
                  <a:pt x="115805" y="74116"/>
                </a:cubicBezTo>
                <a:cubicBezTo>
                  <a:pt x="113258" y="74116"/>
                  <a:pt x="111173" y="72031"/>
                  <a:pt x="111173" y="69483"/>
                </a:cubicBezTo>
                <a:lnTo>
                  <a:pt x="111173" y="18529"/>
                </a:lnTo>
                <a:cubicBezTo>
                  <a:pt x="111173" y="13404"/>
                  <a:pt x="107033" y="9264"/>
                  <a:pt x="101909" y="9264"/>
                </a:cubicBezTo>
                <a:cubicBezTo>
                  <a:pt x="96784" y="9264"/>
                  <a:pt x="92644" y="13404"/>
                  <a:pt x="92644" y="18529"/>
                </a:cubicBezTo>
                <a:lnTo>
                  <a:pt x="92644" y="69483"/>
                </a:lnTo>
                <a:cubicBezTo>
                  <a:pt x="92644" y="72031"/>
                  <a:pt x="90560" y="74116"/>
                  <a:pt x="88012" y="74116"/>
                </a:cubicBezTo>
                <a:cubicBezTo>
                  <a:pt x="85464" y="74116"/>
                  <a:pt x="83380" y="72031"/>
                  <a:pt x="83380" y="69483"/>
                </a:cubicBezTo>
                <a:lnTo>
                  <a:pt x="83380" y="9264"/>
                </a:lnTo>
                <a:close/>
              </a:path>
            </a:pathLst>
          </a:custGeom>
          <a:solidFill>
            <a:srgbClr val="0984E3"/>
          </a:solidFill>
          <a:ln/>
        </p:spPr>
      </p:sp>
      <p:sp>
        <p:nvSpPr>
          <p:cNvPr id="24" name="Text 22"/>
          <p:cNvSpPr/>
          <p:nvPr/>
        </p:nvSpPr>
        <p:spPr>
          <a:xfrm>
            <a:off x="6666776" y="3469532"/>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Brinkmanship:</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Deliberately creating risk to force concessions</a:t>
            </a:r>
            <a:endParaRPr lang="en-US" sz="1600" dirty="0"/>
          </a:p>
        </p:txBody>
      </p:sp>
      <p:sp>
        <p:nvSpPr>
          <p:cNvPr id="25" name="Shape 23"/>
          <p:cNvSpPr/>
          <p:nvPr/>
        </p:nvSpPr>
        <p:spPr>
          <a:xfrm>
            <a:off x="6427421" y="3798419"/>
            <a:ext cx="185289" cy="148231"/>
          </a:xfrm>
          <a:custGeom>
            <a:avLst/>
            <a:gdLst/>
            <a:ahLst/>
            <a:cxnLst/>
            <a:rect l="l" t="t" r="r" b="b"/>
            <a:pathLst>
              <a:path w="185289" h="148231">
                <a:moveTo>
                  <a:pt x="111173" y="9264"/>
                </a:moveTo>
                <a:lnTo>
                  <a:pt x="148231" y="9264"/>
                </a:lnTo>
                <a:cubicBezTo>
                  <a:pt x="153355" y="9264"/>
                  <a:pt x="157495" y="13404"/>
                  <a:pt x="157495" y="18529"/>
                </a:cubicBezTo>
                <a:cubicBezTo>
                  <a:pt x="157495" y="23653"/>
                  <a:pt x="153355" y="27793"/>
                  <a:pt x="148231" y="27793"/>
                </a:cubicBezTo>
                <a:lnTo>
                  <a:pt x="115342" y="27793"/>
                </a:lnTo>
                <a:cubicBezTo>
                  <a:pt x="113837" y="35263"/>
                  <a:pt x="108712" y="41429"/>
                  <a:pt x="101909" y="44382"/>
                </a:cubicBezTo>
                <a:lnTo>
                  <a:pt x="101909" y="129702"/>
                </a:lnTo>
                <a:lnTo>
                  <a:pt x="148231" y="129702"/>
                </a:lnTo>
                <a:cubicBezTo>
                  <a:pt x="153355" y="129702"/>
                  <a:pt x="157495" y="133842"/>
                  <a:pt x="157495" y="138967"/>
                </a:cubicBezTo>
                <a:cubicBezTo>
                  <a:pt x="157495" y="144091"/>
                  <a:pt x="153355" y="148231"/>
                  <a:pt x="148231" y="148231"/>
                </a:cubicBezTo>
                <a:lnTo>
                  <a:pt x="37058" y="148231"/>
                </a:lnTo>
                <a:cubicBezTo>
                  <a:pt x="31933" y="148231"/>
                  <a:pt x="27793" y="144091"/>
                  <a:pt x="27793" y="138967"/>
                </a:cubicBezTo>
                <a:cubicBezTo>
                  <a:pt x="27793" y="133842"/>
                  <a:pt x="31933" y="129702"/>
                  <a:pt x="37058" y="129702"/>
                </a:cubicBezTo>
                <a:lnTo>
                  <a:pt x="83380" y="129702"/>
                </a:lnTo>
                <a:lnTo>
                  <a:pt x="83380" y="44382"/>
                </a:lnTo>
                <a:cubicBezTo>
                  <a:pt x="76576" y="41400"/>
                  <a:pt x="71452" y="35234"/>
                  <a:pt x="69947" y="27793"/>
                </a:cubicBezTo>
                <a:lnTo>
                  <a:pt x="37058" y="27793"/>
                </a:lnTo>
                <a:cubicBezTo>
                  <a:pt x="31933" y="27793"/>
                  <a:pt x="27793" y="23653"/>
                  <a:pt x="27793" y="18529"/>
                </a:cubicBezTo>
                <a:cubicBezTo>
                  <a:pt x="27793" y="13404"/>
                  <a:pt x="31933" y="9264"/>
                  <a:pt x="37058" y="9264"/>
                </a:cubicBezTo>
                <a:lnTo>
                  <a:pt x="74116" y="9264"/>
                </a:lnTo>
                <a:cubicBezTo>
                  <a:pt x="78342" y="3648"/>
                  <a:pt x="85059" y="0"/>
                  <a:pt x="92644" y="0"/>
                </a:cubicBezTo>
                <a:cubicBezTo>
                  <a:pt x="100230" y="0"/>
                  <a:pt x="106946" y="3648"/>
                  <a:pt x="111173" y="9264"/>
                </a:cubicBezTo>
                <a:close/>
                <a:moveTo>
                  <a:pt x="127270" y="92644"/>
                </a:moveTo>
                <a:lnTo>
                  <a:pt x="169192" y="92644"/>
                </a:lnTo>
                <a:lnTo>
                  <a:pt x="148231" y="56687"/>
                </a:lnTo>
                <a:lnTo>
                  <a:pt x="127270" y="92644"/>
                </a:lnTo>
                <a:close/>
                <a:moveTo>
                  <a:pt x="148231" y="120438"/>
                </a:moveTo>
                <a:cubicBezTo>
                  <a:pt x="130021" y="120438"/>
                  <a:pt x="114879" y="110594"/>
                  <a:pt x="111752" y="97595"/>
                </a:cubicBezTo>
                <a:cubicBezTo>
                  <a:pt x="111000" y="94410"/>
                  <a:pt x="112042" y="91139"/>
                  <a:pt x="113692" y="88302"/>
                </a:cubicBezTo>
                <a:lnTo>
                  <a:pt x="141254" y="41053"/>
                </a:lnTo>
                <a:cubicBezTo>
                  <a:pt x="142701" y="38563"/>
                  <a:pt x="145365" y="37058"/>
                  <a:pt x="148231" y="37058"/>
                </a:cubicBezTo>
                <a:cubicBezTo>
                  <a:pt x="151097" y="37058"/>
                  <a:pt x="153761" y="38592"/>
                  <a:pt x="155208" y="41053"/>
                </a:cubicBezTo>
                <a:lnTo>
                  <a:pt x="182770" y="88302"/>
                </a:lnTo>
                <a:cubicBezTo>
                  <a:pt x="184420" y="91139"/>
                  <a:pt x="185462" y="94410"/>
                  <a:pt x="184710" y="97595"/>
                </a:cubicBezTo>
                <a:cubicBezTo>
                  <a:pt x="181583" y="110565"/>
                  <a:pt x="166441" y="120438"/>
                  <a:pt x="148231" y="120438"/>
                </a:cubicBezTo>
                <a:close/>
                <a:moveTo>
                  <a:pt x="36710" y="56687"/>
                </a:moveTo>
                <a:lnTo>
                  <a:pt x="15750" y="92644"/>
                </a:lnTo>
                <a:lnTo>
                  <a:pt x="57700" y="92644"/>
                </a:lnTo>
                <a:lnTo>
                  <a:pt x="36710" y="56687"/>
                </a:lnTo>
                <a:close/>
                <a:moveTo>
                  <a:pt x="261" y="97595"/>
                </a:moveTo>
                <a:cubicBezTo>
                  <a:pt x="-492" y="94410"/>
                  <a:pt x="550" y="91139"/>
                  <a:pt x="2200" y="88302"/>
                </a:cubicBezTo>
                <a:lnTo>
                  <a:pt x="29762" y="41053"/>
                </a:lnTo>
                <a:cubicBezTo>
                  <a:pt x="31210" y="38563"/>
                  <a:pt x="33873" y="37058"/>
                  <a:pt x="36739" y="37058"/>
                </a:cubicBezTo>
                <a:cubicBezTo>
                  <a:pt x="39605" y="37058"/>
                  <a:pt x="42269" y="38592"/>
                  <a:pt x="43717" y="41053"/>
                </a:cubicBezTo>
                <a:lnTo>
                  <a:pt x="71278" y="88302"/>
                </a:lnTo>
                <a:cubicBezTo>
                  <a:pt x="72928" y="91139"/>
                  <a:pt x="73971" y="94410"/>
                  <a:pt x="73218" y="97595"/>
                </a:cubicBezTo>
                <a:cubicBezTo>
                  <a:pt x="70091" y="110565"/>
                  <a:pt x="54950" y="120438"/>
                  <a:pt x="36739" y="120438"/>
                </a:cubicBezTo>
                <a:cubicBezTo>
                  <a:pt x="18529" y="120438"/>
                  <a:pt x="3387" y="110594"/>
                  <a:pt x="261" y="97595"/>
                </a:cubicBezTo>
                <a:close/>
              </a:path>
            </a:pathLst>
          </a:custGeom>
          <a:solidFill>
            <a:srgbClr val="0984E3"/>
          </a:solidFill>
          <a:ln/>
        </p:spPr>
      </p:sp>
      <p:sp>
        <p:nvSpPr>
          <p:cNvPr id="26" name="Text 24"/>
          <p:cNvSpPr/>
          <p:nvPr/>
        </p:nvSpPr>
        <p:spPr>
          <a:xfrm>
            <a:off x="6666776" y="3765994"/>
            <a:ext cx="5041375" cy="222347"/>
          </a:xfrm>
          <a:prstGeom prst="rect">
            <a:avLst/>
          </a:prstGeom>
          <a:noFill/>
          <a:ln/>
        </p:spPr>
        <p:txBody>
          <a:bodyPr wrap="square" lIns="0" tIns="0" rIns="0" bIns="0" rtlCol="0" anchor="ctr"/>
          <a:lstStyle/>
          <a:p>
            <a:pPr>
              <a:lnSpc>
                <a:spcPct val="130000"/>
              </a:lnSpc>
            </a:pPr>
            <a:r>
              <a:rPr lang="en-US" sz="1167" b="1" dirty="0">
                <a:solidFill>
                  <a:srgbClr val="E0E0E0"/>
                </a:solidFill>
                <a:latin typeface="Quattrocento Sans" pitchFamily="34" charset="0"/>
                <a:ea typeface="Quattrocento Sans" pitchFamily="34" charset="-122"/>
                <a:cs typeface="Quattrocento Sans" pitchFamily="34" charset="-120"/>
              </a:rPr>
              <a:t>MAD Doctrine:</a:t>
            </a:r>
            <a:pPr>
              <a:lnSpc>
                <a:spcPct val="130000"/>
              </a:lnSpc>
            </a:pPr>
            <a:r>
              <a:rPr lang="en-US" sz="1167" dirty="0">
                <a:solidFill>
                  <a:srgbClr val="E0E0E0"/>
                </a:solidFill>
                <a:latin typeface="Quattrocento Sans" pitchFamily="34" charset="0"/>
                <a:ea typeface="Quattrocento Sans" pitchFamily="34" charset="-122"/>
                <a:cs typeface="Quattrocento Sans" pitchFamily="34" charset="-120"/>
              </a:rPr>
              <a:t> Mutual Assured Destruction as deterrent</a:t>
            </a:r>
            <a:endParaRPr lang="en-US" sz="1600" dirty="0"/>
          </a:p>
        </p:txBody>
      </p:sp>
      <p:sp>
        <p:nvSpPr>
          <p:cNvPr id="27" name="Shape 25"/>
          <p:cNvSpPr/>
          <p:nvPr/>
        </p:nvSpPr>
        <p:spPr>
          <a:xfrm>
            <a:off x="6260661" y="4321860"/>
            <a:ext cx="5558663" cy="870857"/>
          </a:xfrm>
          <a:custGeom>
            <a:avLst/>
            <a:gdLst/>
            <a:ahLst/>
            <a:cxnLst/>
            <a:rect l="l" t="t" r="r" b="b"/>
            <a:pathLst>
              <a:path w="5558663" h="870857">
                <a:moveTo>
                  <a:pt x="0" y="0"/>
                </a:moveTo>
                <a:lnTo>
                  <a:pt x="5558663" y="0"/>
                </a:lnTo>
                <a:lnTo>
                  <a:pt x="5558663" y="870857"/>
                </a:lnTo>
                <a:lnTo>
                  <a:pt x="0" y="870857"/>
                </a:lnTo>
                <a:lnTo>
                  <a:pt x="0" y="0"/>
                </a:lnTo>
                <a:close/>
              </a:path>
            </a:pathLst>
          </a:custGeom>
          <a:solidFill>
            <a:srgbClr val="F8F9FA"/>
          </a:solidFill>
          <a:ln/>
        </p:spPr>
      </p:sp>
      <p:sp>
        <p:nvSpPr>
          <p:cNvPr id="28" name="Shape 26"/>
          <p:cNvSpPr/>
          <p:nvPr/>
        </p:nvSpPr>
        <p:spPr>
          <a:xfrm>
            <a:off x="6260661" y="4321860"/>
            <a:ext cx="37058" cy="870857"/>
          </a:xfrm>
          <a:custGeom>
            <a:avLst/>
            <a:gdLst/>
            <a:ahLst/>
            <a:cxnLst/>
            <a:rect l="l" t="t" r="r" b="b"/>
            <a:pathLst>
              <a:path w="37058" h="870857">
                <a:moveTo>
                  <a:pt x="0" y="0"/>
                </a:moveTo>
                <a:lnTo>
                  <a:pt x="37058" y="0"/>
                </a:lnTo>
                <a:lnTo>
                  <a:pt x="37058" y="870857"/>
                </a:lnTo>
                <a:lnTo>
                  <a:pt x="0" y="870857"/>
                </a:lnTo>
                <a:lnTo>
                  <a:pt x="0" y="0"/>
                </a:lnTo>
                <a:close/>
              </a:path>
            </a:pathLst>
          </a:custGeom>
          <a:solidFill>
            <a:srgbClr val="0984E3"/>
          </a:solidFill>
          <a:ln/>
        </p:spPr>
      </p:sp>
      <p:sp>
        <p:nvSpPr>
          <p:cNvPr id="29" name="Text 27"/>
          <p:cNvSpPr/>
          <p:nvPr/>
        </p:nvSpPr>
        <p:spPr>
          <a:xfrm>
            <a:off x="6464479" y="4507149"/>
            <a:ext cx="5243672" cy="240875"/>
          </a:xfrm>
          <a:prstGeom prst="rect">
            <a:avLst/>
          </a:prstGeom>
          <a:noFill/>
          <a:ln/>
        </p:spPr>
        <p:txBody>
          <a:bodyPr wrap="square" lIns="0" tIns="0" rIns="0" bIns="0" rtlCol="0" anchor="ctr"/>
          <a:lstStyle/>
          <a:p>
            <a:pPr>
              <a:lnSpc>
                <a:spcPct val="140000"/>
              </a:lnSpc>
            </a:pPr>
            <a:r>
              <a:rPr lang="en-US" sz="1167" dirty="0">
                <a:solidFill>
                  <a:srgbClr val="1E272E"/>
                </a:solidFill>
                <a:latin typeface="Quattrocento Sans" pitchFamily="34" charset="0"/>
                <a:ea typeface="Quattrocento Sans" pitchFamily="34" charset="-122"/>
                <a:cs typeface="Quattrocento Sans" pitchFamily="34" charset="-120"/>
              </a:rPr>
              <a:t>"The power to constrain an adversary depends upon the power to bind oneself."</a:t>
            </a:r>
            <a:endParaRPr lang="en-US" sz="1600" dirty="0"/>
          </a:p>
        </p:txBody>
      </p:sp>
      <p:sp>
        <p:nvSpPr>
          <p:cNvPr id="30" name="Text 28"/>
          <p:cNvSpPr/>
          <p:nvPr/>
        </p:nvSpPr>
        <p:spPr>
          <a:xfrm>
            <a:off x="6464479" y="4822140"/>
            <a:ext cx="5234407" cy="185289"/>
          </a:xfrm>
          <a:prstGeom prst="rect">
            <a:avLst/>
          </a:prstGeom>
          <a:noFill/>
          <a:ln/>
        </p:spPr>
        <p:txBody>
          <a:bodyPr wrap="square" lIns="0" tIns="0" rIns="0" bIns="0" rtlCol="0" anchor="ctr"/>
          <a:lstStyle/>
          <a:p>
            <a:pPr>
              <a:lnSpc>
                <a:spcPct val="120000"/>
              </a:lnSpc>
            </a:pPr>
            <a:r>
              <a:rPr lang="en-US" sz="1021" dirty="0">
                <a:solidFill>
                  <a:srgbClr val="636E72"/>
                </a:solidFill>
                <a:latin typeface="Quattrocento Sans" pitchFamily="34" charset="0"/>
                <a:ea typeface="Quattrocento Sans" pitchFamily="34" charset="-122"/>
                <a:cs typeface="Quattrocento Sans" pitchFamily="34" charset="-120"/>
              </a:rPr>
              <a:t>— Thomas Schelling, Nobel Laureate 2005</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53" kern="0" dirty="0">
                <a:solidFill>
                  <a:srgbClr val="0984E3"/>
                </a:solidFill>
                <a:latin typeface="Quattrocento Sans" pitchFamily="34" charset="0"/>
                <a:ea typeface="Quattrocento Sans" pitchFamily="34" charset="-122"/>
                <a:cs typeface="Quattrocento Sans" pitchFamily="34" charset="-120"/>
              </a:rPr>
              <a:t>APPLICATION DOMAIN</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2D3436"/>
                </a:solidFill>
                <a:latin typeface="Oranienbaum" pitchFamily="34" charset="0"/>
                <a:ea typeface="Oranienbaum" pitchFamily="34" charset="-122"/>
                <a:cs typeface="Oranienbaum" pitchFamily="34" charset="-120"/>
              </a:rPr>
              <a:t>Biology &amp; Evolutionary Game Theory</a:t>
            </a:r>
            <a:endParaRPr lang="en-US" sz="1600" dirty="0"/>
          </a:p>
        </p:txBody>
      </p:sp>
      <p:sp>
        <p:nvSpPr>
          <p:cNvPr id="4" name="Text 2"/>
          <p:cNvSpPr/>
          <p:nvPr/>
        </p:nvSpPr>
        <p:spPr>
          <a:xfrm>
            <a:off x="335868" y="1251107"/>
            <a:ext cx="5996092" cy="457620"/>
          </a:xfrm>
          <a:prstGeom prst="rect">
            <a:avLst/>
          </a:prstGeom>
          <a:noFill/>
          <a:ln/>
        </p:spPr>
        <p:txBody>
          <a:bodyPr wrap="square" lIns="0" tIns="0" rIns="0" bIns="0" rtlCol="0" anchor="ctr"/>
          <a:lstStyle/>
          <a:p>
            <a:pPr>
              <a:lnSpc>
                <a:spcPct val="140000"/>
              </a:lnSpc>
            </a:pPr>
            <a:r>
              <a:rPr lang="en-US" sz="1322" b="1" dirty="0">
                <a:solidFill>
                  <a:srgbClr val="1E272E"/>
                </a:solidFill>
                <a:latin typeface="Quattrocento Sans" pitchFamily="34" charset="0"/>
                <a:ea typeface="Quattrocento Sans" pitchFamily="34" charset="-122"/>
                <a:cs typeface="Quattrocento Sans" pitchFamily="34" charset="-120"/>
              </a:rPr>
              <a:t>In 1973, John Maynard Smith and George Price introduced game theory to biology, revolutionizing our understanding of animal behavior and evolution.</a:t>
            </a:r>
            <a:endParaRPr lang="en-US" sz="1600" dirty="0"/>
          </a:p>
        </p:txBody>
      </p:sp>
      <p:sp>
        <p:nvSpPr>
          <p:cNvPr id="5" name="Text 3"/>
          <p:cNvSpPr/>
          <p:nvPr/>
        </p:nvSpPr>
        <p:spPr>
          <a:xfrm>
            <a:off x="335868" y="1889256"/>
            <a:ext cx="6876893" cy="654942"/>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Evolutionary game theory applies strategic concepts to populations where successful strategies spread through natural selection. Unlike classical game theory, it doesn't assume rationality—only that successful strategies reproduce.</a:t>
            </a:r>
            <a:endParaRPr lang="en-US" sz="1600" dirty="0"/>
          </a:p>
        </p:txBody>
      </p:sp>
      <p:sp>
        <p:nvSpPr>
          <p:cNvPr id="6" name="Shape 4"/>
          <p:cNvSpPr/>
          <p:nvPr/>
        </p:nvSpPr>
        <p:spPr>
          <a:xfrm>
            <a:off x="340066" y="2682744"/>
            <a:ext cx="6801322" cy="1956430"/>
          </a:xfrm>
          <a:custGeom>
            <a:avLst/>
            <a:gdLst/>
            <a:ahLst/>
            <a:cxnLst/>
            <a:rect l="l" t="t" r="r" b="b"/>
            <a:pathLst>
              <a:path w="6801322" h="1956430">
                <a:moveTo>
                  <a:pt x="0" y="0"/>
                </a:moveTo>
                <a:lnTo>
                  <a:pt x="6801322" y="0"/>
                </a:lnTo>
                <a:lnTo>
                  <a:pt x="6801322" y="1956430"/>
                </a:lnTo>
                <a:lnTo>
                  <a:pt x="0" y="1956430"/>
                </a:lnTo>
                <a:lnTo>
                  <a:pt x="0" y="0"/>
                </a:lnTo>
                <a:close/>
              </a:path>
            </a:pathLst>
          </a:custGeom>
          <a:solidFill>
            <a:srgbClr val="FFFFFF"/>
          </a:solidFill>
          <a:ln w="12700">
            <a:solidFill>
              <a:srgbClr val="E0E0E0"/>
            </a:solidFill>
            <a:prstDash val="solid"/>
          </a:ln>
        </p:spPr>
      </p:sp>
      <p:sp>
        <p:nvSpPr>
          <p:cNvPr id="7" name="Text 5"/>
          <p:cNvSpPr/>
          <p:nvPr/>
        </p:nvSpPr>
        <p:spPr>
          <a:xfrm>
            <a:off x="512198" y="2854876"/>
            <a:ext cx="6541025" cy="235107"/>
          </a:xfrm>
          <a:prstGeom prst="rect">
            <a:avLst/>
          </a:prstGeom>
          <a:noFill/>
          <a:ln/>
        </p:spPr>
        <p:txBody>
          <a:bodyPr wrap="square" lIns="0" tIns="0" rIns="0" bIns="0" rtlCol="0" anchor="ctr"/>
          <a:lstStyle/>
          <a:p>
            <a:pPr>
              <a:lnSpc>
                <a:spcPct val="120000"/>
              </a:lnSpc>
            </a:pPr>
            <a:r>
              <a:rPr lang="en-US" sz="1322" b="1" dirty="0">
                <a:solidFill>
                  <a:srgbClr val="2D3436"/>
                </a:solidFill>
                <a:latin typeface="Oranienbaum" pitchFamily="34" charset="0"/>
                <a:ea typeface="Oranienbaum" pitchFamily="34" charset="-122"/>
                <a:cs typeface="Oranienbaum" pitchFamily="34" charset="-120"/>
              </a:rPr>
              <a:t>Evolutionarily Stable Strategy (ESS)</a:t>
            </a:r>
            <a:endParaRPr lang="en-US" sz="1600" dirty="0"/>
          </a:p>
        </p:txBody>
      </p:sp>
      <p:sp>
        <p:nvSpPr>
          <p:cNvPr id="8" name="Text 6"/>
          <p:cNvSpPr/>
          <p:nvPr/>
        </p:nvSpPr>
        <p:spPr>
          <a:xfrm>
            <a:off x="512198" y="3190744"/>
            <a:ext cx="6524231" cy="218314"/>
          </a:xfrm>
          <a:prstGeom prst="rect">
            <a:avLst/>
          </a:prstGeom>
          <a:noFill/>
          <a:ln/>
        </p:spPr>
        <p:txBody>
          <a:bodyPr wrap="square" lIns="0" tIns="0" rIns="0" bIns="0" rtlCol="0" anchor="ctr"/>
          <a:lstStyle/>
          <a:p>
            <a:pPr>
              <a:lnSpc>
                <a:spcPct val="140000"/>
              </a:lnSpc>
            </a:pPr>
            <a:r>
              <a:rPr lang="en-US" sz="1058" dirty="0">
                <a:solidFill>
                  <a:srgbClr val="1E272E"/>
                </a:solidFill>
                <a:latin typeface="Quattrocento Sans" pitchFamily="34" charset="0"/>
                <a:ea typeface="Quattrocento Sans" pitchFamily="34" charset="-122"/>
                <a:cs typeface="Quattrocento Sans" pitchFamily="34" charset="-120"/>
              </a:rPr>
              <a:t>An ESS is a strategy that, if adopted by a population, cannot be invaded by any alternative strategy. It satisfies:</a:t>
            </a:r>
            <a:endParaRPr lang="en-US" sz="1600" dirty="0"/>
          </a:p>
        </p:txBody>
      </p:sp>
      <p:sp>
        <p:nvSpPr>
          <p:cNvPr id="9" name="Shape 7"/>
          <p:cNvSpPr/>
          <p:nvPr/>
        </p:nvSpPr>
        <p:spPr>
          <a:xfrm>
            <a:off x="512198" y="3509818"/>
            <a:ext cx="6457058" cy="638149"/>
          </a:xfrm>
          <a:custGeom>
            <a:avLst/>
            <a:gdLst/>
            <a:ahLst/>
            <a:cxnLst/>
            <a:rect l="l" t="t" r="r" b="b"/>
            <a:pathLst>
              <a:path w="6457058" h="638149">
                <a:moveTo>
                  <a:pt x="0" y="0"/>
                </a:moveTo>
                <a:lnTo>
                  <a:pt x="6457058" y="0"/>
                </a:lnTo>
                <a:lnTo>
                  <a:pt x="6457058" y="638149"/>
                </a:lnTo>
                <a:lnTo>
                  <a:pt x="0" y="638149"/>
                </a:lnTo>
                <a:lnTo>
                  <a:pt x="0" y="0"/>
                </a:lnTo>
                <a:close/>
              </a:path>
            </a:pathLst>
          </a:custGeom>
          <a:solidFill>
            <a:srgbClr val="F8F9FA"/>
          </a:solidFill>
          <a:ln/>
        </p:spPr>
      </p:sp>
      <p:sp>
        <p:nvSpPr>
          <p:cNvPr id="10" name="Text 8"/>
          <p:cNvSpPr/>
          <p:nvPr/>
        </p:nvSpPr>
        <p:spPr>
          <a:xfrm>
            <a:off x="612959" y="3610579"/>
            <a:ext cx="6322711" cy="201521"/>
          </a:xfrm>
          <a:prstGeom prst="rect">
            <a:avLst/>
          </a:prstGeom>
          <a:noFill/>
          <a:ln/>
        </p:spPr>
        <p:txBody>
          <a:bodyPr wrap="square" lIns="0" tIns="0" rIns="0" bIns="0" rtlCol="0" anchor="ctr"/>
          <a:lstStyle/>
          <a:p>
            <a:pPr>
              <a:lnSpc>
                <a:spcPct val="130000"/>
              </a:lnSpc>
            </a:pPr>
            <a:r>
              <a:rPr lang="en-US" sz="1058" dirty="0">
                <a:solidFill>
                  <a:srgbClr val="636E72"/>
                </a:solidFill>
                <a:latin typeface="MiSans" pitchFamily="34" charset="0"/>
                <a:ea typeface="MiSans" pitchFamily="34" charset="-122"/>
                <a:cs typeface="MiSans" pitchFamily="34" charset="-120"/>
              </a:rPr>
              <a:t>u(ESS, ESS) ≥ u(Mutant, ESS)</a:t>
            </a:r>
            <a:endParaRPr lang="en-US" sz="1600" dirty="0"/>
          </a:p>
        </p:txBody>
      </p:sp>
      <p:sp>
        <p:nvSpPr>
          <p:cNvPr id="11" name="Text 9"/>
          <p:cNvSpPr/>
          <p:nvPr/>
        </p:nvSpPr>
        <p:spPr>
          <a:xfrm>
            <a:off x="612959" y="3845686"/>
            <a:ext cx="6322711" cy="201521"/>
          </a:xfrm>
          <a:prstGeom prst="rect">
            <a:avLst/>
          </a:prstGeom>
          <a:noFill/>
          <a:ln/>
        </p:spPr>
        <p:txBody>
          <a:bodyPr wrap="square" lIns="0" tIns="0" rIns="0" bIns="0" rtlCol="0" anchor="ctr"/>
          <a:lstStyle/>
          <a:p>
            <a:pPr>
              <a:lnSpc>
                <a:spcPct val="130000"/>
              </a:lnSpc>
            </a:pPr>
            <a:r>
              <a:rPr lang="en-US" sz="1058" dirty="0">
                <a:solidFill>
                  <a:srgbClr val="636E72"/>
                </a:solidFill>
                <a:latin typeface="MiSans" pitchFamily="34" charset="0"/>
                <a:ea typeface="MiSans" pitchFamily="34" charset="-122"/>
                <a:cs typeface="MiSans" pitchFamily="34" charset="-120"/>
              </a:rPr>
              <a:t>If equal: u(ESS, Mutant) &gt; u(Mutant, Mutant)</a:t>
            </a:r>
            <a:endParaRPr lang="en-US" sz="1600" dirty="0"/>
          </a:p>
        </p:txBody>
      </p:sp>
      <p:sp>
        <p:nvSpPr>
          <p:cNvPr id="12" name="Text 10"/>
          <p:cNvSpPr/>
          <p:nvPr/>
        </p:nvSpPr>
        <p:spPr>
          <a:xfrm>
            <a:off x="512198" y="4248727"/>
            <a:ext cx="6524231" cy="218314"/>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An ESS is a refined Nash Equilibrium that is robust to evolutionary pressures.</a:t>
            </a:r>
            <a:endParaRPr lang="en-US" sz="1600" dirty="0"/>
          </a:p>
        </p:txBody>
      </p:sp>
      <p:sp>
        <p:nvSpPr>
          <p:cNvPr id="13" name="Shape 11"/>
          <p:cNvSpPr/>
          <p:nvPr/>
        </p:nvSpPr>
        <p:spPr>
          <a:xfrm>
            <a:off x="352661" y="4777719"/>
            <a:ext cx="6792926" cy="1528198"/>
          </a:xfrm>
          <a:custGeom>
            <a:avLst/>
            <a:gdLst/>
            <a:ahLst/>
            <a:cxnLst/>
            <a:rect l="l" t="t" r="r" b="b"/>
            <a:pathLst>
              <a:path w="6792926" h="1528198">
                <a:moveTo>
                  <a:pt x="0" y="0"/>
                </a:moveTo>
                <a:lnTo>
                  <a:pt x="6792926" y="0"/>
                </a:lnTo>
                <a:lnTo>
                  <a:pt x="6792926" y="1528198"/>
                </a:lnTo>
                <a:lnTo>
                  <a:pt x="0" y="1528198"/>
                </a:lnTo>
                <a:lnTo>
                  <a:pt x="0" y="0"/>
                </a:lnTo>
                <a:close/>
              </a:path>
            </a:pathLst>
          </a:custGeom>
          <a:solidFill>
            <a:srgbClr val="F8F9FA"/>
          </a:solidFill>
          <a:ln/>
        </p:spPr>
      </p:sp>
      <p:sp>
        <p:nvSpPr>
          <p:cNvPr id="14" name="Shape 12"/>
          <p:cNvSpPr/>
          <p:nvPr/>
        </p:nvSpPr>
        <p:spPr>
          <a:xfrm>
            <a:off x="352661" y="4777719"/>
            <a:ext cx="33587" cy="1528198"/>
          </a:xfrm>
          <a:custGeom>
            <a:avLst/>
            <a:gdLst/>
            <a:ahLst/>
            <a:cxnLst/>
            <a:rect l="l" t="t" r="r" b="b"/>
            <a:pathLst>
              <a:path w="33587" h="1528198">
                <a:moveTo>
                  <a:pt x="0" y="0"/>
                </a:moveTo>
                <a:lnTo>
                  <a:pt x="33587" y="0"/>
                </a:lnTo>
                <a:lnTo>
                  <a:pt x="33587" y="1528198"/>
                </a:lnTo>
                <a:lnTo>
                  <a:pt x="0" y="1528198"/>
                </a:lnTo>
                <a:lnTo>
                  <a:pt x="0" y="0"/>
                </a:lnTo>
                <a:close/>
              </a:path>
            </a:pathLst>
          </a:custGeom>
          <a:solidFill>
            <a:srgbClr val="0984E3"/>
          </a:solidFill>
          <a:ln/>
        </p:spPr>
      </p:sp>
      <p:sp>
        <p:nvSpPr>
          <p:cNvPr id="15" name="Text 13"/>
          <p:cNvSpPr/>
          <p:nvPr/>
        </p:nvSpPr>
        <p:spPr>
          <a:xfrm>
            <a:off x="537388" y="4945653"/>
            <a:ext cx="6524231" cy="235107"/>
          </a:xfrm>
          <a:prstGeom prst="rect">
            <a:avLst/>
          </a:prstGeom>
          <a:noFill/>
          <a:ln/>
        </p:spPr>
        <p:txBody>
          <a:bodyPr wrap="square" lIns="0" tIns="0" rIns="0" bIns="0" rtlCol="0" anchor="ctr"/>
          <a:lstStyle/>
          <a:p>
            <a:pPr>
              <a:lnSpc>
                <a:spcPct val="120000"/>
              </a:lnSpc>
            </a:pPr>
            <a:r>
              <a:rPr lang="en-US" sz="1322" b="1" dirty="0">
                <a:solidFill>
                  <a:srgbClr val="2D3436"/>
                </a:solidFill>
                <a:latin typeface="Oranienbaum" pitchFamily="34" charset="0"/>
                <a:ea typeface="Oranienbaum" pitchFamily="34" charset="-122"/>
                <a:cs typeface="Oranienbaum" pitchFamily="34" charset="-120"/>
              </a:rPr>
              <a:t>The Hawk-Dove Game</a:t>
            </a:r>
            <a:endParaRPr lang="en-US" sz="1600" dirty="0"/>
          </a:p>
        </p:txBody>
      </p:sp>
      <p:sp>
        <p:nvSpPr>
          <p:cNvPr id="16" name="Text 14"/>
          <p:cNvSpPr/>
          <p:nvPr/>
        </p:nvSpPr>
        <p:spPr>
          <a:xfrm>
            <a:off x="537388" y="5281521"/>
            <a:ext cx="6507438" cy="218314"/>
          </a:xfrm>
          <a:prstGeom prst="rect">
            <a:avLst/>
          </a:prstGeom>
          <a:noFill/>
          <a:ln/>
        </p:spPr>
        <p:txBody>
          <a:bodyPr wrap="square" lIns="0" tIns="0" rIns="0" bIns="0" rtlCol="0" anchor="ctr"/>
          <a:lstStyle/>
          <a:p>
            <a:pPr>
              <a:lnSpc>
                <a:spcPct val="140000"/>
              </a:lnSpc>
            </a:pPr>
            <a:r>
              <a:rPr lang="en-US" sz="1058" dirty="0">
                <a:solidFill>
                  <a:srgbClr val="636E72"/>
                </a:solidFill>
                <a:latin typeface="Quattrocento Sans" pitchFamily="34" charset="0"/>
                <a:ea typeface="Quattrocento Sans" pitchFamily="34" charset="-122"/>
                <a:cs typeface="Quattrocento Sans" pitchFamily="34" charset="-120"/>
              </a:rPr>
              <a:t>Models conflict over resources between aggressive (Hawk) and peaceful (Dove) strategies:</a:t>
            </a:r>
            <a:endParaRPr lang="en-US" sz="1600" dirty="0"/>
          </a:p>
        </p:txBody>
      </p:sp>
      <p:sp>
        <p:nvSpPr>
          <p:cNvPr id="17" name="Text 15"/>
          <p:cNvSpPr/>
          <p:nvPr/>
        </p:nvSpPr>
        <p:spPr>
          <a:xfrm>
            <a:off x="537388" y="5600595"/>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Hawk vs. Hawk:</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Fight, high cost</a:t>
            </a:r>
            <a:endParaRPr lang="en-US" sz="1600" dirty="0"/>
          </a:p>
        </p:txBody>
      </p:sp>
      <p:sp>
        <p:nvSpPr>
          <p:cNvPr id="18" name="Text 16"/>
          <p:cNvSpPr/>
          <p:nvPr/>
        </p:nvSpPr>
        <p:spPr>
          <a:xfrm>
            <a:off x="3823251" y="5600595"/>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Hawk vs. Dove:</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Hawk takes all</a:t>
            </a:r>
            <a:endParaRPr lang="en-US" sz="1600" dirty="0"/>
          </a:p>
        </p:txBody>
      </p:sp>
      <p:sp>
        <p:nvSpPr>
          <p:cNvPr id="19" name="Text 17"/>
          <p:cNvSpPr/>
          <p:nvPr/>
        </p:nvSpPr>
        <p:spPr>
          <a:xfrm>
            <a:off x="537388" y="5936463"/>
            <a:ext cx="3215934" cy="201521"/>
          </a:xfrm>
          <a:prstGeom prst="rect">
            <a:avLst/>
          </a:prstGeom>
          <a:noFill/>
          <a:ln/>
        </p:spPr>
        <p:txBody>
          <a:bodyPr wrap="square" lIns="0" tIns="0" rIns="0" bIns="0" rtlCol="0" anchor="ctr"/>
          <a:lstStyle/>
          <a:p>
            <a:pPr>
              <a:lnSpc>
                <a:spcPct val="130000"/>
              </a:lnSpc>
            </a:pPr>
            <a:r>
              <a:rPr lang="en-US" sz="1058" b="1" dirty="0">
                <a:solidFill>
                  <a:srgbClr val="2D3436"/>
                </a:solidFill>
                <a:latin typeface="Quattrocento Sans" pitchFamily="34" charset="0"/>
                <a:ea typeface="Quattrocento Sans" pitchFamily="34" charset="-122"/>
                <a:cs typeface="Quattrocento Sans" pitchFamily="34" charset="-120"/>
              </a:rPr>
              <a:t>Dove vs. Dove:</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Share peacefully</a:t>
            </a:r>
            <a:endParaRPr lang="en-US" sz="1600" dirty="0"/>
          </a:p>
        </p:txBody>
      </p:sp>
      <p:sp>
        <p:nvSpPr>
          <p:cNvPr id="20" name="Text 18"/>
          <p:cNvSpPr/>
          <p:nvPr/>
        </p:nvSpPr>
        <p:spPr>
          <a:xfrm>
            <a:off x="3823251" y="5936463"/>
            <a:ext cx="3215934" cy="201521"/>
          </a:xfrm>
          <a:prstGeom prst="rect">
            <a:avLst/>
          </a:prstGeom>
          <a:noFill/>
          <a:ln/>
        </p:spPr>
        <p:txBody>
          <a:bodyPr wrap="square" lIns="0" tIns="0" rIns="0" bIns="0" rtlCol="0" anchor="ctr"/>
          <a:lstStyle/>
          <a:p>
            <a:pPr>
              <a:lnSpc>
                <a:spcPct val="130000"/>
              </a:lnSpc>
            </a:pPr>
            <a:r>
              <a:rPr lang="en-US" sz="1058" b="1" dirty="0">
                <a:solidFill>
                  <a:srgbClr val="0984E3"/>
                </a:solidFill>
                <a:latin typeface="Quattrocento Sans" pitchFamily="34" charset="0"/>
                <a:ea typeface="Quattrocento Sans" pitchFamily="34" charset="-122"/>
                <a:cs typeface="Quattrocento Sans" pitchFamily="34" charset="-120"/>
              </a:rPr>
              <a:t>ESS:</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Mixed population</a:t>
            </a:r>
            <a:endParaRPr lang="en-US" sz="1600" dirty="0"/>
          </a:p>
        </p:txBody>
      </p:sp>
      <p:sp>
        <p:nvSpPr>
          <p:cNvPr id="21" name="Shape 19"/>
          <p:cNvSpPr/>
          <p:nvPr/>
        </p:nvSpPr>
        <p:spPr>
          <a:xfrm>
            <a:off x="7415593" y="1213322"/>
            <a:ext cx="4441851" cy="3501421"/>
          </a:xfrm>
          <a:custGeom>
            <a:avLst/>
            <a:gdLst/>
            <a:ahLst/>
            <a:cxnLst/>
            <a:rect l="l" t="t" r="r" b="b"/>
            <a:pathLst>
              <a:path w="4441851" h="3501421">
                <a:moveTo>
                  <a:pt x="0" y="0"/>
                </a:moveTo>
                <a:lnTo>
                  <a:pt x="4441851" y="0"/>
                </a:lnTo>
                <a:lnTo>
                  <a:pt x="4441851" y="3501421"/>
                </a:lnTo>
                <a:lnTo>
                  <a:pt x="0" y="3501421"/>
                </a:lnTo>
                <a:lnTo>
                  <a:pt x="0" y="0"/>
                </a:lnTo>
                <a:close/>
              </a:path>
            </a:pathLst>
          </a:custGeom>
          <a:solidFill>
            <a:srgbClr val="FFFFFF"/>
          </a:solidFill>
          <a:ln w="12700">
            <a:solidFill>
              <a:srgbClr val="E0E0E0"/>
            </a:solidFill>
            <a:prstDash val="solid"/>
          </a:ln>
        </p:spPr>
      </p:sp>
      <p:pic>
        <p:nvPicPr>
          <p:cNvPr id="22" name="Image 0" descr="https://kimi-web-img.moonshot.cn/img/images.stockcake.com/5c4c6a9244608e44d4cdc47c5d5db9e3cb6b6222.jpg">    </p:cNvPr>
          <p:cNvPicPr>
            <a:picLocks noChangeAspect="1"/>
          </p:cNvPicPr>
          <p:nvPr/>
        </p:nvPicPr>
        <p:blipFill>
          <a:blip r:embed="rId1"/>
          <a:srcRect l="0" r="0" t="38290" b="38290"/>
          <a:stretch/>
        </p:blipFill>
        <p:spPr>
          <a:xfrm>
            <a:off x="7587725" y="1385455"/>
            <a:ext cx="4097587" cy="1679339"/>
          </a:xfrm>
          <a:prstGeom prst="roundRect">
            <a:avLst>
              <a:gd name="adj" fmla="val 0"/>
            </a:avLst>
          </a:prstGeom>
        </p:spPr>
      </p:pic>
      <p:sp>
        <p:nvSpPr>
          <p:cNvPr id="23" name="Text 20"/>
          <p:cNvSpPr/>
          <p:nvPr/>
        </p:nvSpPr>
        <p:spPr>
          <a:xfrm>
            <a:off x="7545742" y="3199140"/>
            <a:ext cx="4181554" cy="235107"/>
          </a:xfrm>
          <a:prstGeom prst="rect">
            <a:avLst/>
          </a:prstGeom>
          <a:noFill/>
          <a:ln/>
        </p:spPr>
        <p:txBody>
          <a:bodyPr wrap="square" lIns="0" tIns="0" rIns="0" bIns="0" rtlCol="0" anchor="ctr"/>
          <a:lstStyle/>
          <a:p>
            <a:pPr algn="ctr">
              <a:lnSpc>
                <a:spcPct val="120000"/>
              </a:lnSpc>
            </a:pPr>
            <a:r>
              <a:rPr lang="en-US" sz="1322" b="1" dirty="0">
                <a:solidFill>
                  <a:srgbClr val="2D3436"/>
                </a:solidFill>
                <a:latin typeface="Oranienbaum" pitchFamily="34" charset="0"/>
                <a:ea typeface="Oranienbaum" pitchFamily="34" charset="-122"/>
                <a:cs typeface="Oranienbaum" pitchFamily="34" charset="-120"/>
              </a:rPr>
              <a:t>Applications in Biology</a:t>
            </a:r>
            <a:endParaRPr lang="en-US" sz="1600" dirty="0"/>
          </a:p>
        </p:txBody>
      </p:sp>
      <p:sp>
        <p:nvSpPr>
          <p:cNvPr id="24" name="Shape 21"/>
          <p:cNvSpPr/>
          <p:nvPr/>
        </p:nvSpPr>
        <p:spPr>
          <a:xfrm>
            <a:off x="7621312" y="3564397"/>
            <a:ext cx="100760" cy="134347"/>
          </a:xfrm>
          <a:custGeom>
            <a:avLst/>
            <a:gdLst/>
            <a:ahLst/>
            <a:cxnLst/>
            <a:rect l="l" t="t" r="r" b="b"/>
            <a:pathLst>
              <a:path w="100760" h="134347">
                <a:moveTo>
                  <a:pt x="92364" y="0"/>
                </a:moveTo>
                <a:cubicBezTo>
                  <a:pt x="97008" y="0"/>
                  <a:pt x="100760" y="3752"/>
                  <a:pt x="100760" y="8397"/>
                </a:cubicBezTo>
                <a:cubicBezTo>
                  <a:pt x="100760" y="23563"/>
                  <a:pt x="94358" y="35896"/>
                  <a:pt x="85699" y="46313"/>
                </a:cubicBezTo>
                <a:cubicBezTo>
                  <a:pt x="79375" y="53896"/>
                  <a:pt x="71582" y="60771"/>
                  <a:pt x="63762" y="67174"/>
                </a:cubicBezTo>
                <a:cubicBezTo>
                  <a:pt x="71582" y="73602"/>
                  <a:pt x="79375" y="80451"/>
                  <a:pt x="85699" y="88034"/>
                </a:cubicBezTo>
                <a:cubicBezTo>
                  <a:pt x="94358" y="98425"/>
                  <a:pt x="100760" y="110784"/>
                  <a:pt x="100760" y="125950"/>
                </a:cubicBezTo>
                <a:cubicBezTo>
                  <a:pt x="100760" y="130595"/>
                  <a:pt x="97008" y="134347"/>
                  <a:pt x="92364" y="134347"/>
                </a:cubicBezTo>
                <a:cubicBezTo>
                  <a:pt x="87719" y="134347"/>
                  <a:pt x="83967" y="130595"/>
                  <a:pt x="83967" y="125950"/>
                </a:cubicBezTo>
                <a:lnTo>
                  <a:pt x="16793" y="125950"/>
                </a:lnTo>
                <a:cubicBezTo>
                  <a:pt x="16793" y="130595"/>
                  <a:pt x="13041" y="134347"/>
                  <a:pt x="8397" y="134347"/>
                </a:cubicBezTo>
                <a:cubicBezTo>
                  <a:pt x="3752" y="134347"/>
                  <a:pt x="0" y="130595"/>
                  <a:pt x="0" y="125950"/>
                </a:cubicBezTo>
                <a:cubicBezTo>
                  <a:pt x="0" y="110784"/>
                  <a:pt x="6402" y="98451"/>
                  <a:pt x="15062" y="88034"/>
                </a:cubicBezTo>
                <a:cubicBezTo>
                  <a:pt x="21385" y="80451"/>
                  <a:pt x="29179" y="73602"/>
                  <a:pt x="36998" y="67174"/>
                </a:cubicBezTo>
                <a:cubicBezTo>
                  <a:pt x="29179" y="60745"/>
                  <a:pt x="21385" y="53896"/>
                  <a:pt x="15062" y="46313"/>
                </a:cubicBezTo>
                <a:cubicBezTo>
                  <a:pt x="6402" y="35896"/>
                  <a:pt x="0" y="23563"/>
                  <a:pt x="0" y="8397"/>
                </a:cubicBezTo>
                <a:cubicBezTo>
                  <a:pt x="0" y="3752"/>
                  <a:pt x="3752" y="0"/>
                  <a:pt x="8397" y="0"/>
                </a:cubicBezTo>
                <a:cubicBezTo>
                  <a:pt x="13041" y="0"/>
                  <a:pt x="16793" y="3752"/>
                  <a:pt x="16793" y="8397"/>
                </a:cubicBezTo>
                <a:lnTo>
                  <a:pt x="83967" y="8397"/>
                </a:lnTo>
                <a:cubicBezTo>
                  <a:pt x="83967" y="3752"/>
                  <a:pt x="87719" y="0"/>
                  <a:pt x="92364" y="0"/>
                </a:cubicBezTo>
                <a:close/>
                <a:moveTo>
                  <a:pt x="74389" y="100760"/>
                </a:moveTo>
                <a:lnTo>
                  <a:pt x="26397" y="100760"/>
                </a:lnTo>
                <a:cubicBezTo>
                  <a:pt x="24245" y="103515"/>
                  <a:pt x="22435" y="106297"/>
                  <a:pt x="20992" y="109157"/>
                </a:cubicBezTo>
                <a:lnTo>
                  <a:pt x="79821" y="109157"/>
                </a:lnTo>
                <a:cubicBezTo>
                  <a:pt x="78352" y="106297"/>
                  <a:pt x="76541" y="103515"/>
                  <a:pt x="74416" y="100760"/>
                </a:cubicBezTo>
                <a:close/>
                <a:moveTo>
                  <a:pt x="62450" y="88165"/>
                </a:moveTo>
                <a:cubicBezTo>
                  <a:pt x="58698" y="84754"/>
                  <a:pt x="54631" y="81395"/>
                  <a:pt x="50380" y="77932"/>
                </a:cubicBezTo>
                <a:cubicBezTo>
                  <a:pt x="46129" y="81369"/>
                  <a:pt x="42062" y="84754"/>
                  <a:pt x="38310" y="88165"/>
                </a:cubicBezTo>
                <a:lnTo>
                  <a:pt x="62450" y="88165"/>
                </a:lnTo>
                <a:close/>
                <a:moveTo>
                  <a:pt x="26371" y="33587"/>
                </a:moveTo>
                <a:lnTo>
                  <a:pt x="74363" y="33587"/>
                </a:lnTo>
                <a:cubicBezTo>
                  <a:pt x="76515" y="30832"/>
                  <a:pt x="78325" y="28050"/>
                  <a:pt x="79769" y="25190"/>
                </a:cubicBezTo>
                <a:lnTo>
                  <a:pt x="20965" y="25190"/>
                </a:lnTo>
                <a:cubicBezTo>
                  <a:pt x="22435" y="28050"/>
                  <a:pt x="24245" y="30832"/>
                  <a:pt x="26371" y="33587"/>
                </a:cubicBezTo>
                <a:close/>
                <a:moveTo>
                  <a:pt x="38310" y="46182"/>
                </a:moveTo>
                <a:cubicBezTo>
                  <a:pt x="42062" y="49593"/>
                  <a:pt x="46129" y="52952"/>
                  <a:pt x="50380" y="56415"/>
                </a:cubicBezTo>
                <a:cubicBezTo>
                  <a:pt x="54631" y="52978"/>
                  <a:pt x="58698" y="49593"/>
                  <a:pt x="62450" y="46182"/>
                </a:cubicBezTo>
                <a:lnTo>
                  <a:pt x="38310" y="46182"/>
                </a:lnTo>
                <a:close/>
              </a:path>
            </a:pathLst>
          </a:custGeom>
          <a:solidFill>
            <a:srgbClr val="0984E3"/>
          </a:solidFill>
          <a:ln/>
        </p:spPr>
      </p:sp>
      <p:sp>
        <p:nvSpPr>
          <p:cNvPr id="25" name="Text 22"/>
          <p:cNvSpPr/>
          <p:nvPr/>
        </p:nvSpPr>
        <p:spPr>
          <a:xfrm>
            <a:off x="7800071" y="3535008"/>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Animal Behavior:</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Mating rituals, territorial disputes</a:t>
            </a:r>
            <a:endParaRPr lang="en-US" sz="1600" dirty="0"/>
          </a:p>
        </p:txBody>
      </p:sp>
      <p:sp>
        <p:nvSpPr>
          <p:cNvPr id="26" name="Shape 23"/>
          <p:cNvSpPr/>
          <p:nvPr/>
        </p:nvSpPr>
        <p:spPr>
          <a:xfrm>
            <a:off x="7604519" y="3833091"/>
            <a:ext cx="134347" cy="134347"/>
          </a:xfrm>
          <a:custGeom>
            <a:avLst/>
            <a:gdLst/>
            <a:ahLst/>
            <a:cxnLst/>
            <a:rect l="l" t="t" r="r" b="b"/>
            <a:pathLst>
              <a:path w="134347" h="134347">
                <a:moveTo>
                  <a:pt x="77669" y="10496"/>
                </a:moveTo>
                <a:cubicBezTo>
                  <a:pt x="77669" y="4697"/>
                  <a:pt x="72973" y="0"/>
                  <a:pt x="67174" y="0"/>
                </a:cubicBezTo>
                <a:cubicBezTo>
                  <a:pt x="61375" y="0"/>
                  <a:pt x="56678" y="4697"/>
                  <a:pt x="56678" y="10496"/>
                </a:cubicBezTo>
                <a:cubicBezTo>
                  <a:pt x="56678" y="22068"/>
                  <a:pt x="42692" y="27840"/>
                  <a:pt x="34505" y="19680"/>
                </a:cubicBezTo>
                <a:cubicBezTo>
                  <a:pt x="30412" y="15586"/>
                  <a:pt x="23773" y="15586"/>
                  <a:pt x="19654" y="19680"/>
                </a:cubicBezTo>
                <a:cubicBezTo>
                  <a:pt x="15534" y="23773"/>
                  <a:pt x="15560" y="30412"/>
                  <a:pt x="19654" y="34531"/>
                </a:cubicBezTo>
                <a:cubicBezTo>
                  <a:pt x="27840" y="42718"/>
                  <a:pt x="22041" y="56704"/>
                  <a:pt x="10470" y="56704"/>
                </a:cubicBezTo>
                <a:cubicBezTo>
                  <a:pt x="4671" y="56704"/>
                  <a:pt x="-26" y="61401"/>
                  <a:pt x="-26" y="67200"/>
                </a:cubicBezTo>
                <a:cubicBezTo>
                  <a:pt x="-26" y="72999"/>
                  <a:pt x="4671" y="77696"/>
                  <a:pt x="10470" y="77696"/>
                </a:cubicBezTo>
                <a:cubicBezTo>
                  <a:pt x="22041" y="77696"/>
                  <a:pt x="27814" y="91681"/>
                  <a:pt x="19654" y="99868"/>
                </a:cubicBezTo>
                <a:cubicBezTo>
                  <a:pt x="15560" y="103962"/>
                  <a:pt x="15560" y="110600"/>
                  <a:pt x="19654" y="114720"/>
                </a:cubicBezTo>
                <a:cubicBezTo>
                  <a:pt x="23747" y="118839"/>
                  <a:pt x="30386" y="118813"/>
                  <a:pt x="34505" y="114720"/>
                </a:cubicBezTo>
                <a:cubicBezTo>
                  <a:pt x="42692" y="106533"/>
                  <a:pt x="56678" y="112332"/>
                  <a:pt x="56678" y="123904"/>
                </a:cubicBezTo>
                <a:cubicBezTo>
                  <a:pt x="56678" y="129703"/>
                  <a:pt x="61375" y="134400"/>
                  <a:pt x="67174" y="134400"/>
                </a:cubicBezTo>
                <a:cubicBezTo>
                  <a:pt x="72973" y="134400"/>
                  <a:pt x="77669" y="129703"/>
                  <a:pt x="77669" y="123904"/>
                </a:cubicBezTo>
                <a:cubicBezTo>
                  <a:pt x="77669" y="112332"/>
                  <a:pt x="91655" y="106559"/>
                  <a:pt x="99842" y="114720"/>
                </a:cubicBezTo>
                <a:cubicBezTo>
                  <a:pt x="103935" y="118813"/>
                  <a:pt x="110574" y="118813"/>
                  <a:pt x="114694" y="114720"/>
                </a:cubicBezTo>
                <a:cubicBezTo>
                  <a:pt x="118813" y="110626"/>
                  <a:pt x="118787" y="103988"/>
                  <a:pt x="114694" y="99868"/>
                </a:cubicBezTo>
                <a:cubicBezTo>
                  <a:pt x="106507" y="91681"/>
                  <a:pt x="112306" y="77696"/>
                  <a:pt x="123877" y="77696"/>
                </a:cubicBezTo>
                <a:cubicBezTo>
                  <a:pt x="129676" y="77696"/>
                  <a:pt x="134373" y="72999"/>
                  <a:pt x="134373" y="67200"/>
                </a:cubicBezTo>
                <a:cubicBezTo>
                  <a:pt x="134373" y="61401"/>
                  <a:pt x="129676" y="56704"/>
                  <a:pt x="123877" y="56704"/>
                </a:cubicBezTo>
                <a:cubicBezTo>
                  <a:pt x="112306" y="56704"/>
                  <a:pt x="106533" y="42718"/>
                  <a:pt x="114694" y="34531"/>
                </a:cubicBezTo>
                <a:cubicBezTo>
                  <a:pt x="118787" y="30438"/>
                  <a:pt x="118787" y="23799"/>
                  <a:pt x="114694" y="19680"/>
                </a:cubicBezTo>
                <a:cubicBezTo>
                  <a:pt x="110600" y="15560"/>
                  <a:pt x="103962" y="15586"/>
                  <a:pt x="99842" y="19680"/>
                </a:cubicBezTo>
                <a:cubicBezTo>
                  <a:pt x="91655" y="27840"/>
                  <a:pt x="77669" y="22068"/>
                  <a:pt x="77669" y="10496"/>
                </a:cubicBezTo>
                <a:close/>
                <a:moveTo>
                  <a:pt x="41983" y="58777"/>
                </a:moveTo>
                <a:cubicBezTo>
                  <a:pt x="41983" y="54143"/>
                  <a:pt x="45746" y="50380"/>
                  <a:pt x="50380" y="50380"/>
                </a:cubicBezTo>
                <a:cubicBezTo>
                  <a:pt x="55014" y="50380"/>
                  <a:pt x="58777" y="54143"/>
                  <a:pt x="58777" y="58777"/>
                </a:cubicBezTo>
                <a:cubicBezTo>
                  <a:pt x="58777" y="63411"/>
                  <a:pt x="55014" y="67174"/>
                  <a:pt x="50380" y="67174"/>
                </a:cubicBezTo>
                <a:cubicBezTo>
                  <a:pt x="45746" y="67174"/>
                  <a:pt x="41983" y="63411"/>
                  <a:pt x="41983" y="58777"/>
                </a:cubicBezTo>
                <a:close/>
                <a:moveTo>
                  <a:pt x="83967" y="67174"/>
                </a:moveTo>
                <a:cubicBezTo>
                  <a:pt x="88601" y="67174"/>
                  <a:pt x="92364" y="70936"/>
                  <a:pt x="92364" y="75570"/>
                </a:cubicBezTo>
                <a:cubicBezTo>
                  <a:pt x="92364" y="80205"/>
                  <a:pt x="88601" y="83967"/>
                  <a:pt x="83967" y="83967"/>
                </a:cubicBezTo>
                <a:cubicBezTo>
                  <a:pt x="79333" y="83967"/>
                  <a:pt x="75570" y="80205"/>
                  <a:pt x="75570" y="75570"/>
                </a:cubicBezTo>
                <a:cubicBezTo>
                  <a:pt x="75570" y="70936"/>
                  <a:pt x="79333" y="67174"/>
                  <a:pt x="83967" y="67174"/>
                </a:cubicBezTo>
                <a:close/>
              </a:path>
            </a:pathLst>
          </a:custGeom>
          <a:solidFill>
            <a:srgbClr val="0984E3"/>
          </a:solidFill>
          <a:ln/>
        </p:spPr>
      </p:sp>
      <p:sp>
        <p:nvSpPr>
          <p:cNvPr id="27" name="Text 24"/>
          <p:cNvSpPr/>
          <p:nvPr/>
        </p:nvSpPr>
        <p:spPr>
          <a:xfrm>
            <a:off x="7800071" y="3803702"/>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Pathogen Evolution:</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Virulence and transmission strategies</a:t>
            </a:r>
            <a:endParaRPr lang="en-US" sz="1600" dirty="0"/>
          </a:p>
        </p:txBody>
      </p:sp>
      <p:sp>
        <p:nvSpPr>
          <p:cNvPr id="28" name="Shape 25"/>
          <p:cNvSpPr/>
          <p:nvPr/>
        </p:nvSpPr>
        <p:spPr>
          <a:xfrm>
            <a:off x="7604519" y="4101785"/>
            <a:ext cx="134347" cy="134347"/>
          </a:xfrm>
          <a:custGeom>
            <a:avLst/>
            <a:gdLst/>
            <a:ahLst/>
            <a:cxnLst/>
            <a:rect l="l" t="t" r="r" b="b"/>
            <a:pathLst>
              <a:path w="134347" h="134347">
                <a:moveTo>
                  <a:pt x="67174" y="28313"/>
                </a:moveTo>
                <a:lnTo>
                  <a:pt x="63238" y="22855"/>
                </a:lnTo>
                <a:cubicBezTo>
                  <a:pt x="56678" y="13776"/>
                  <a:pt x="46156" y="8397"/>
                  <a:pt x="34925" y="8397"/>
                </a:cubicBezTo>
                <a:cubicBezTo>
                  <a:pt x="15639" y="8397"/>
                  <a:pt x="0" y="24036"/>
                  <a:pt x="0" y="43322"/>
                </a:cubicBezTo>
                <a:lnTo>
                  <a:pt x="0" y="44004"/>
                </a:lnTo>
                <a:cubicBezTo>
                  <a:pt x="0" y="50196"/>
                  <a:pt x="1627" y="56599"/>
                  <a:pt x="4356" y="62975"/>
                </a:cubicBezTo>
                <a:lnTo>
                  <a:pt x="32170" y="62975"/>
                </a:lnTo>
                <a:cubicBezTo>
                  <a:pt x="33010" y="62975"/>
                  <a:pt x="33770" y="62477"/>
                  <a:pt x="34112" y="61689"/>
                </a:cubicBezTo>
                <a:lnTo>
                  <a:pt x="42456" y="41669"/>
                </a:lnTo>
                <a:cubicBezTo>
                  <a:pt x="43427" y="39360"/>
                  <a:pt x="45683" y="37838"/>
                  <a:pt x="48176" y="37785"/>
                </a:cubicBezTo>
                <a:cubicBezTo>
                  <a:pt x="50669" y="37733"/>
                  <a:pt x="52978" y="39202"/>
                  <a:pt x="54001" y="41485"/>
                </a:cubicBezTo>
                <a:lnTo>
                  <a:pt x="67462" y="71372"/>
                </a:lnTo>
                <a:lnTo>
                  <a:pt x="78325" y="49645"/>
                </a:lnTo>
                <a:cubicBezTo>
                  <a:pt x="79401" y="47520"/>
                  <a:pt x="81579" y="46156"/>
                  <a:pt x="83967" y="46156"/>
                </a:cubicBezTo>
                <a:cubicBezTo>
                  <a:pt x="86355" y="46156"/>
                  <a:pt x="88533" y="47494"/>
                  <a:pt x="89608" y="49645"/>
                </a:cubicBezTo>
                <a:lnTo>
                  <a:pt x="95696" y="61794"/>
                </a:lnTo>
                <a:cubicBezTo>
                  <a:pt x="96063" y="62503"/>
                  <a:pt x="96772" y="62949"/>
                  <a:pt x="97585" y="62949"/>
                </a:cubicBezTo>
                <a:lnTo>
                  <a:pt x="130018" y="62949"/>
                </a:lnTo>
                <a:cubicBezTo>
                  <a:pt x="132773" y="56573"/>
                  <a:pt x="134373" y="50170"/>
                  <a:pt x="134373" y="43978"/>
                </a:cubicBezTo>
                <a:lnTo>
                  <a:pt x="134373" y="43295"/>
                </a:lnTo>
                <a:cubicBezTo>
                  <a:pt x="134347" y="24036"/>
                  <a:pt x="118708" y="8397"/>
                  <a:pt x="99422" y="8397"/>
                </a:cubicBezTo>
                <a:cubicBezTo>
                  <a:pt x="88218" y="8397"/>
                  <a:pt x="77669" y="13776"/>
                  <a:pt x="71110" y="22855"/>
                </a:cubicBezTo>
                <a:lnTo>
                  <a:pt x="67174" y="28286"/>
                </a:lnTo>
                <a:close/>
                <a:moveTo>
                  <a:pt x="123221" y="75570"/>
                </a:moveTo>
                <a:lnTo>
                  <a:pt x="97559" y="75570"/>
                </a:lnTo>
                <a:cubicBezTo>
                  <a:pt x="91996" y="75570"/>
                  <a:pt x="86906" y="72421"/>
                  <a:pt x="84413" y="67436"/>
                </a:cubicBezTo>
                <a:lnTo>
                  <a:pt x="83967" y="66544"/>
                </a:lnTo>
                <a:lnTo>
                  <a:pt x="72815" y="88874"/>
                </a:lnTo>
                <a:cubicBezTo>
                  <a:pt x="71739" y="91052"/>
                  <a:pt x="69483" y="92416"/>
                  <a:pt x="67042" y="92364"/>
                </a:cubicBezTo>
                <a:cubicBezTo>
                  <a:pt x="64602" y="92311"/>
                  <a:pt x="62424" y="90868"/>
                  <a:pt x="61427" y="88664"/>
                </a:cubicBezTo>
                <a:lnTo>
                  <a:pt x="48491" y="59931"/>
                </a:lnTo>
                <a:lnTo>
                  <a:pt x="45736" y="66544"/>
                </a:lnTo>
                <a:cubicBezTo>
                  <a:pt x="43453" y="72028"/>
                  <a:pt x="38100" y="75596"/>
                  <a:pt x="32170" y="75596"/>
                </a:cubicBezTo>
                <a:lnTo>
                  <a:pt x="11126" y="75596"/>
                </a:lnTo>
                <a:cubicBezTo>
                  <a:pt x="23511" y="94961"/>
                  <a:pt x="43400" y="112778"/>
                  <a:pt x="55838" y="122277"/>
                </a:cubicBezTo>
                <a:cubicBezTo>
                  <a:pt x="59092" y="124743"/>
                  <a:pt x="63080" y="125977"/>
                  <a:pt x="67147" y="125977"/>
                </a:cubicBezTo>
                <a:cubicBezTo>
                  <a:pt x="71214" y="125977"/>
                  <a:pt x="75229" y="124770"/>
                  <a:pt x="78457" y="122277"/>
                </a:cubicBezTo>
                <a:cubicBezTo>
                  <a:pt x="90947" y="112752"/>
                  <a:pt x="110836" y="94935"/>
                  <a:pt x="123221" y="75570"/>
                </a:cubicBezTo>
                <a:close/>
              </a:path>
            </a:pathLst>
          </a:custGeom>
          <a:solidFill>
            <a:srgbClr val="0984E3"/>
          </a:solidFill>
          <a:ln/>
        </p:spPr>
      </p:sp>
      <p:sp>
        <p:nvSpPr>
          <p:cNvPr id="29" name="Text 26"/>
          <p:cNvSpPr/>
          <p:nvPr/>
        </p:nvSpPr>
        <p:spPr>
          <a:xfrm>
            <a:off x="7800071" y="4072397"/>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Cancer Therapy:</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Treatment resistance evolution</a:t>
            </a:r>
            <a:endParaRPr lang="en-US" sz="1600" dirty="0"/>
          </a:p>
        </p:txBody>
      </p:sp>
      <p:sp>
        <p:nvSpPr>
          <p:cNvPr id="30" name="Shape 27"/>
          <p:cNvSpPr/>
          <p:nvPr/>
        </p:nvSpPr>
        <p:spPr>
          <a:xfrm>
            <a:off x="7587725" y="4370479"/>
            <a:ext cx="167934" cy="134347"/>
          </a:xfrm>
          <a:custGeom>
            <a:avLst/>
            <a:gdLst/>
            <a:ahLst/>
            <a:cxnLst/>
            <a:rect l="l" t="t" r="r" b="b"/>
            <a:pathLst>
              <a:path w="167934" h="134347">
                <a:moveTo>
                  <a:pt x="83967" y="4198"/>
                </a:moveTo>
                <a:cubicBezTo>
                  <a:pt x="99028" y="4198"/>
                  <a:pt x="111256" y="16426"/>
                  <a:pt x="111256" y="31488"/>
                </a:cubicBezTo>
                <a:cubicBezTo>
                  <a:pt x="111256" y="46549"/>
                  <a:pt x="99028" y="58777"/>
                  <a:pt x="83967" y="58777"/>
                </a:cubicBezTo>
                <a:cubicBezTo>
                  <a:pt x="68906" y="58777"/>
                  <a:pt x="56678" y="46549"/>
                  <a:pt x="56678" y="31488"/>
                </a:cubicBezTo>
                <a:cubicBezTo>
                  <a:pt x="56678" y="16426"/>
                  <a:pt x="68906" y="4198"/>
                  <a:pt x="83967" y="4198"/>
                </a:cubicBezTo>
                <a:close/>
                <a:moveTo>
                  <a:pt x="25190" y="23091"/>
                </a:moveTo>
                <a:cubicBezTo>
                  <a:pt x="35617" y="23091"/>
                  <a:pt x="44083" y="31556"/>
                  <a:pt x="44083" y="41983"/>
                </a:cubicBezTo>
                <a:cubicBezTo>
                  <a:pt x="44083" y="52411"/>
                  <a:pt x="35617" y="60876"/>
                  <a:pt x="25190" y="60876"/>
                </a:cubicBezTo>
                <a:cubicBezTo>
                  <a:pt x="14763" y="60876"/>
                  <a:pt x="6298" y="52411"/>
                  <a:pt x="6298" y="41983"/>
                </a:cubicBezTo>
                <a:cubicBezTo>
                  <a:pt x="6298" y="31556"/>
                  <a:pt x="14763" y="23091"/>
                  <a:pt x="25190" y="23091"/>
                </a:cubicBezTo>
                <a:close/>
                <a:moveTo>
                  <a:pt x="0" y="109157"/>
                </a:moveTo>
                <a:cubicBezTo>
                  <a:pt x="0" y="90606"/>
                  <a:pt x="15035" y="75570"/>
                  <a:pt x="33587" y="75570"/>
                </a:cubicBezTo>
                <a:cubicBezTo>
                  <a:pt x="36945" y="75570"/>
                  <a:pt x="40199" y="76069"/>
                  <a:pt x="43269" y="76987"/>
                </a:cubicBezTo>
                <a:cubicBezTo>
                  <a:pt x="34636" y="86643"/>
                  <a:pt x="29388" y="99396"/>
                  <a:pt x="29388" y="113355"/>
                </a:cubicBezTo>
                <a:lnTo>
                  <a:pt x="29388" y="117554"/>
                </a:lnTo>
                <a:cubicBezTo>
                  <a:pt x="29388" y="120545"/>
                  <a:pt x="30018" y="123379"/>
                  <a:pt x="31146" y="125950"/>
                </a:cubicBezTo>
                <a:lnTo>
                  <a:pt x="8397" y="125950"/>
                </a:lnTo>
                <a:cubicBezTo>
                  <a:pt x="3752" y="125950"/>
                  <a:pt x="0" y="122198"/>
                  <a:pt x="0" y="117554"/>
                </a:cubicBezTo>
                <a:lnTo>
                  <a:pt x="0" y="109157"/>
                </a:lnTo>
                <a:close/>
                <a:moveTo>
                  <a:pt x="136787" y="125950"/>
                </a:moveTo>
                <a:cubicBezTo>
                  <a:pt x="137916" y="123379"/>
                  <a:pt x="138545" y="120545"/>
                  <a:pt x="138545" y="117554"/>
                </a:cubicBezTo>
                <a:lnTo>
                  <a:pt x="138545" y="113355"/>
                </a:lnTo>
                <a:cubicBezTo>
                  <a:pt x="138545" y="99396"/>
                  <a:pt x="133298" y="86643"/>
                  <a:pt x="124665" y="76987"/>
                </a:cubicBezTo>
                <a:cubicBezTo>
                  <a:pt x="127735" y="76069"/>
                  <a:pt x="130988" y="75570"/>
                  <a:pt x="134347" y="75570"/>
                </a:cubicBezTo>
                <a:cubicBezTo>
                  <a:pt x="152899" y="75570"/>
                  <a:pt x="167934" y="90606"/>
                  <a:pt x="167934" y="109157"/>
                </a:cubicBezTo>
                <a:lnTo>
                  <a:pt x="167934" y="117554"/>
                </a:lnTo>
                <a:cubicBezTo>
                  <a:pt x="167934" y="122198"/>
                  <a:pt x="164182" y="125950"/>
                  <a:pt x="159537" y="125950"/>
                </a:cubicBezTo>
                <a:lnTo>
                  <a:pt x="136787" y="125950"/>
                </a:lnTo>
                <a:close/>
                <a:moveTo>
                  <a:pt x="123851" y="41983"/>
                </a:moveTo>
                <a:cubicBezTo>
                  <a:pt x="123851" y="31556"/>
                  <a:pt x="132317" y="23091"/>
                  <a:pt x="142744" y="23091"/>
                </a:cubicBezTo>
                <a:cubicBezTo>
                  <a:pt x="153171" y="23091"/>
                  <a:pt x="161636" y="31556"/>
                  <a:pt x="161636" y="41983"/>
                </a:cubicBezTo>
                <a:cubicBezTo>
                  <a:pt x="161636" y="52411"/>
                  <a:pt x="153171" y="60876"/>
                  <a:pt x="142744" y="60876"/>
                </a:cubicBezTo>
                <a:cubicBezTo>
                  <a:pt x="132317" y="60876"/>
                  <a:pt x="123851" y="52411"/>
                  <a:pt x="123851" y="41983"/>
                </a:cubicBezTo>
                <a:close/>
                <a:moveTo>
                  <a:pt x="41983" y="113355"/>
                </a:moveTo>
                <a:cubicBezTo>
                  <a:pt x="41983" y="90160"/>
                  <a:pt x="60771" y="71372"/>
                  <a:pt x="83967" y="71372"/>
                </a:cubicBezTo>
                <a:cubicBezTo>
                  <a:pt x="107163" y="71372"/>
                  <a:pt x="125950" y="90160"/>
                  <a:pt x="125950" y="113355"/>
                </a:cubicBezTo>
                <a:lnTo>
                  <a:pt x="125950" y="117554"/>
                </a:lnTo>
                <a:cubicBezTo>
                  <a:pt x="125950" y="122198"/>
                  <a:pt x="122198" y="125950"/>
                  <a:pt x="117554" y="125950"/>
                </a:cubicBezTo>
                <a:lnTo>
                  <a:pt x="50380" y="125950"/>
                </a:lnTo>
                <a:cubicBezTo>
                  <a:pt x="45736" y="125950"/>
                  <a:pt x="41983" y="122198"/>
                  <a:pt x="41983" y="117554"/>
                </a:cubicBezTo>
                <a:lnTo>
                  <a:pt x="41983" y="113355"/>
                </a:lnTo>
                <a:close/>
              </a:path>
            </a:pathLst>
          </a:custGeom>
          <a:solidFill>
            <a:srgbClr val="0984E3"/>
          </a:solidFill>
          <a:ln/>
        </p:spPr>
      </p:sp>
      <p:sp>
        <p:nvSpPr>
          <p:cNvPr id="31" name="Text 28"/>
          <p:cNvSpPr/>
          <p:nvPr/>
        </p:nvSpPr>
        <p:spPr>
          <a:xfrm>
            <a:off x="7800071" y="4341091"/>
            <a:ext cx="3952414" cy="201521"/>
          </a:xfrm>
          <a:prstGeom prst="rect">
            <a:avLst/>
          </a:prstGeom>
          <a:noFill/>
          <a:ln/>
        </p:spPr>
        <p:txBody>
          <a:bodyPr wrap="square" lIns="0" tIns="0" rIns="0" bIns="0" rtlCol="0" anchor="ctr"/>
          <a:lstStyle/>
          <a:p>
            <a:pPr>
              <a:lnSpc>
                <a:spcPct val="130000"/>
              </a:lnSpc>
            </a:pPr>
            <a:r>
              <a:rPr lang="en-US" sz="1058" b="1" dirty="0">
                <a:solidFill>
                  <a:srgbClr val="636E72"/>
                </a:solidFill>
                <a:latin typeface="Quattrocento Sans" pitchFamily="34" charset="0"/>
                <a:ea typeface="Quattrocento Sans" pitchFamily="34" charset="-122"/>
                <a:cs typeface="Quattrocento Sans" pitchFamily="34" charset="-120"/>
              </a:rPr>
              <a:t>Social Behavior:</a:t>
            </a:r>
            <a:pPr>
              <a:lnSpc>
                <a:spcPct val="130000"/>
              </a:lnSpc>
            </a:pPr>
            <a:r>
              <a:rPr lang="en-US" sz="1058" dirty="0">
                <a:solidFill>
                  <a:srgbClr val="636E72"/>
                </a:solidFill>
                <a:latin typeface="Quattrocento Sans" pitchFamily="34" charset="0"/>
                <a:ea typeface="Quattrocento Sans" pitchFamily="34" charset="-122"/>
                <a:cs typeface="Quattrocento Sans" pitchFamily="34" charset="-120"/>
              </a:rPr>
              <a:t> Altruism and cooperation evolution</a:t>
            </a:r>
            <a:endParaRPr lang="en-US" sz="1600" dirty="0"/>
          </a:p>
        </p:txBody>
      </p:sp>
      <p:sp>
        <p:nvSpPr>
          <p:cNvPr id="32" name="Shape 29"/>
          <p:cNvSpPr/>
          <p:nvPr/>
        </p:nvSpPr>
        <p:spPr>
          <a:xfrm>
            <a:off x="7411395" y="4853289"/>
            <a:ext cx="4450248" cy="1293091"/>
          </a:xfrm>
          <a:custGeom>
            <a:avLst/>
            <a:gdLst/>
            <a:ahLst/>
            <a:cxnLst/>
            <a:rect l="l" t="t" r="r" b="b"/>
            <a:pathLst>
              <a:path w="4450248" h="1293091">
                <a:moveTo>
                  <a:pt x="0" y="0"/>
                </a:moveTo>
                <a:lnTo>
                  <a:pt x="4450248" y="0"/>
                </a:lnTo>
                <a:lnTo>
                  <a:pt x="4450248" y="1293091"/>
                </a:lnTo>
                <a:lnTo>
                  <a:pt x="0" y="1293091"/>
                </a:lnTo>
                <a:lnTo>
                  <a:pt x="0" y="0"/>
                </a:lnTo>
                <a:close/>
              </a:path>
            </a:pathLst>
          </a:custGeom>
          <a:solidFill>
            <a:srgbClr val="2D3436"/>
          </a:solidFill>
          <a:ln/>
        </p:spPr>
      </p:sp>
      <p:sp>
        <p:nvSpPr>
          <p:cNvPr id="33" name="Text 30"/>
          <p:cNvSpPr/>
          <p:nvPr/>
        </p:nvSpPr>
        <p:spPr>
          <a:xfrm>
            <a:off x="7579329" y="5021223"/>
            <a:ext cx="4189950" cy="235107"/>
          </a:xfrm>
          <a:prstGeom prst="rect">
            <a:avLst/>
          </a:prstGeom>
          <a:noFill/>
          <a:ln/>
        </p:spPr>
        <p:txBody>
          <a:bodyPr wrap="square" lIns="0" tIns="0" rIns="0" bIns="0" rtlCol="0" anchor="ctr"/>
          <a:lstStyle/>
          <a:p>
            <a:pPr>
              <a:lnSpc>
                <a:spcPct val="130000"/>
              </a:lnSpc>
            </a:pPr>
            <a:r>
              <a:rPr lang="en-US" sz="1190" b="1" dirty="0">
                <a:solidFill>
                  <a:srgbClr val="FFFFFF"/>
                </a:solidFill>
                <a:latin typeface="Oranienbaum" pitchFamily="34" charset="0"/>
                <a:ea typeface="Oranienbaum" pitchFamily="34" charset="-122"/>
                <a:cs typeface="Oranienbaum" pitchFamily="34" charset="-120"/>
              </a:rPr>
              <a:t>Evolution of Cooperation</a:t>
            </a:r>
            <a:endParaRPr lang="en-US" sz="1600" dirty="0"/>
          </a:p>
        </p:txBody>
      </p:sp>
      <p:sp>
        <p:nvSpPr>
          <p:cNvPr id="34" name="Text 31"/>
          <p:cNvSpPr/>
          <p:nvPr/>
        </p:nvSpPr>
        <p:spPr>
          <a:xfrm>
            <a:off x="7579329" y="5323504"/>
            <a:ext cx="4181554" cy="654942"/>
          </a:xfrm>
          <a:prstGeom prst="rect">
            <a:avLst/>
          </a:prstGeom>
          <a:noFill/>
          <a:ln/>
        </p:spPr>
        <p:txBody>
          <a:bodyPr wrap="square" lIns="0" tIns="0" rIns="0" bIns="0" rtlCol="0" anchor="ctr"/>
          <a:lstStyle/>
          <a:p>
            <a:pPr>
              <a:lnSpc>
                <a:spcPct val="140000"/>
              </a:lnSpc>
            </a:pPr>
            <a:r>
              <a:rPr lang="en-US" sz="1058" dirty="0">
                <a:solidFill>
                  <a:srgbClr val="E0E0E0"/>
                </a:solidFill>
                <a:latin typeface="Quattrocento Sans" pitchFamily="34" charset="0"/>
                <a:ea typeface="Quattrocento Sans" pitchFamily="34" charset="-122"/>
                <a:cs typeface="Quattrocento Sans" pitchFamily="34" charset="-120"/>
              </a:rPr>
              <a:t>Despite individual incentives to defect, cooperation evolves through mechanisms like reciprocity, kin selection, and group selection—explaining altruism across species.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326" y="585788"/>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3" name="Text 1"/>
          <p:cNvSpPr/>
          <p:nvPr/>
        </p:nvSpPr>
        <p:spPr>
          <a:xfrm>
            <a:off x="3664223" y="909638"/>
            <a:ext cx="4867275" cy="1428750"/>
          </a:xfrm>
          <a:prstGeom prst="rect">
            <a:avLst/>
          </a:prstGeom>
          <a:noFill/>
          <a:ln/>
        </p:spPr>
        <p:txBody>
          <a:bodyPr wrap="square" lIns="0" tIns="0" rIns="0" bIns="0" rtlCol="0" anchor="ctr"/>
          <a:lstStyle/>
          <a:p>
            <a:pPr algn="ctr">
              <a:lnSpc>
                <a:spcPct val="100000"/>
              </a:lnSpc>
            </a:pPr>
            <a:r>
              <a:rPr lang="en-US" sz="4500" b="1" dirty="0">
                <a:solidFill>
                  <a:srgbClr val="2D3436"/>
                </a:solidFill>
                <a:latin typeface="Oranienbaum" pitchFamily="34" charset="0"/>
                <a:ea typeface="Oranienbaum" pitchFamily="34" charset="-122"/>
                <a:cs typeface="Oranienbaum" pitchFamily="34" charset="-120"/>
              </a:rPr>
              <a:t>The Enduring Power</a:t>
            </a:r>
            <a:endParaRPr lang="en-US" sz="1600" dirty="0"/>
          </a:p>
          <a:p>
            <a:pPr algn="ctr">
              <a:lnSpc>
                <a:spcPct val="100000"/>
              </a:lnSpc>
            </a:pPr>
            <a:r>
              <a:rPr lang="en-US" sz="4500" b="1" dirty="0">
                <a:solidFill>
                  <a:srgbClr val="2D3436"/>
                </a:solidFill>
                <a:latin typeface="Oranienbaum" pitchFamily="34" charset="0"/>
                <a:ea typeface="Oranienbaum" pitchFamily="34" charset="-122"/>
                <a:cs typeface="Oranienbaum" pitchFamily="34" charset="-120"/>
              </a:rPr>
              <a:t>of Game Theory</a:t>
            </a:r>
            <a:endParaRPr lang="en-US" sz="1600" dirty="0"/>
          </a:p>
        </p:txBody>
      </p:sp>
      <p:sp>
        <p:nvSpPr>
          <p:cNvPr id="4" name="Shape 2"/>
          <p:cNvSpPr/>
          <p:nvPr/>
        </p:nvSpPr>
        <p:spPr>
          <a:xfrm>
            <a:off x="5486326" y="2643188"/>
            <a:ext cx="1219200" cy="19050"/>
          </a:xfrm>
          <a:custGeom>
            <a:avLst/>
            <a:gdLst/>
            <a:ahLst/>
            <a:cxnLst/>
            <a:rect l="l" t="t" r="r" b="b"/>
            <a:pathLst>
              <a:path w="1219200" h="19050">
                <a:moveTo>
                  <a:pt x="0" y="0"/>
                </a:moveTo>
                <a:lnTo>
                  <a:pt x="1219200" y="0"/>
                </a:lnTo>
                <a:lnTo>
                  <a:pt x="1219200" y="19050"/>
                </a:lnTo>
                <a:lnTo>
                  <a:pt x="0" y="19050"/>
                </a:lnTo>
                <a:lnTo>
                  <a:pt x="0" y="0"/>
                </a:lnTo>
                <a:close/>
              </a:path>
            </a:pathLst>
          </a:custGeom>
          <a:solidFill>
            <a:srgbClr val="0984E3"/>
          </a:solidFill>
          <a:ln/>
        </p:spPr>
      </p:sp>
      <p:sp>
        <p:nvSpPr>
          <p:cNvPr id="5" name="Text 3"/>
          <p:cNvSpPr/>
          <p:nvPr/>
        </p:nvSpPr>
        <p:spPr>
          <a:xfrm>
            <a:off x="1771650" y="2967038"/>
            <a:ext cx="8648700" cy="1114425"/>
          </a:xfrm>
          <a:prstGeom prst="rect">
            <a:avLst/>
          </a:prstGeom>
          <a:noFill/>
          <a:ln/>
        </p:spPr>
        <p:txBody>
          <a:bodyPr wrap="square" lIns="0" tIns="0" rIns="0" bIns="0" rtlCol="0" anchor="ctr"/>
          <a:lstStyle/>
          <a:p>
            <a:pPr algn="ctr">
              <a:lnSpc>
                <a:spcPct val="140000"/>
              </a:lnSpc>
            </a:pPr>
            <a:r>
              <a:rPr lang="en-US" sz="1800" dirty="0">
                <a:solidFill>
                  <a:srgbClr val="1E272E"/>
                </a:solidFill>
                <a:latin typeface="Quattrocento Sans" pitchFamily="34" charset="0"/>
                <a:ea typeface="Quattrocento Sans" pitchFamily="34" charset="-122"/>
                <a:cs typeface="Quattrocento Sans" pitchFamily="34" charset="-120"/>
              </a:rPr>
              <a:t>Game theory transforms our understanding of strategic interaction across all domains of life. From economics to biology, from politics to everyday decisions, its mathematical precision reveals the hidden logic of competition and cooperation.</a:t>
            </a:r>
            <a:endParaRPr lang="en-US" sz="1600" dirty="0"/>
          </a:p>
        </p:txBody>
      </p:sp>
      <p:sp>
        <p:nvSpPr>
          <p:cNvPr id="6" name="Text 4"/>
          <p:cNvSpPr/>
          <p:nvPr/>
        </p:nvSpPr>
        <p:spPr>
          <a:xfrm>
            <a:off x="1781175" y="4310063"/>
            <a:ext cx="8629650" cy="1238250"/>
          </a:xfrm>
          <a:prstGeom prst="rect">
            <a:avLst/>
          </a:prstGeom>
          <a:noFill/>
          <a:ln/>
        </p:spPr>
        <p:txBody>
          <a:bodyPr wrap="square" lIns="0" tIns="0" rIns="0" bIns="0" rtlCol="0" anchor="ctr"/>
          <a:lstStyle/>
          <a:p>
            <a:pPr algn="ctr">
              <a:lnSpc>
                <a:spcPct val="140000"/>
              </a:lnSpc>
            </a:pPr>
            <a:r>
              <a:rPr lang="en-US" sz="1500" dirty="0">
                <a:solidFill>
                  <a:srgbClr val="636E72"/>
                </a:solidFill>
                <a:latin typeface="Quattrocento Sans" pitchFamily="34" charset="0"/>
                <a:ea typeface="Quattrocento Sans" pitchFamily="34" charset="-122"/>
                <a:cs typeface="Quattrocento Sans" pitchFamily="34" charset="-120"/>
              </a:rPr>
              <a:t>As we face increasingly complex global challenges—climate change, pandemics, technological disruption—the insights of game theory become more vital than ever. By understanding the strategic structures that shape our world, we become better equipped to design institutions, craft policies, and make decisions that lead to better outcomes for all.</a:t>
            </a:r>
            <a:endParaRPr lang="en-US" sz="1600" dirty="0"/>
          </a:p>
        </p:txBody>
      </p:sp>
      <p:sp>
        <p:nvSpPr>
          <p:cNvPr id="7" name="Text 5"/>
          <p:cNvSpPr/>
          <p:nvPr/>
        </p:nvSpPr>
        <p:spPr>
          <a:xfrm>
            <a:off x="2615357" y="6005513"/>
            <a:ext cx="6962775" cy="266700"/>
          </a:xfrm>
          <a:prstGeom prst="rect">
            <a:avLst/>
          </a:prstGeom>
          <a:noFill/>
          <a:ln/>
        </p:spPr>
        <p:txBody>
          <a:bodyPr wrap="square" lIns="0" tIns="0" rIns="0" bIns="0" rtlCol="0" anchor="ctr"/>
          <a:lstStyle/>
          <a:p>
            <a:pPr algn="ctr">
              <a:lnSpc>
                <a:spcPct val="130000"/>
              </a:lnSpc>
            </a:pPr>
            <a:r>
              <a:rPr lang="en-US" sz="1350" dirty="0">
                <a:solidFill>
                  <a:srgbClr val="636E72"/>
                </a:solidFill>
                <a:latin typeface="Liter" pitchFamily="34" charset="0"/>
                <a:ea typeface="Liter" pitchFamily="34" charset="-122"/>
                <a:cs typeface="Liter" pitchFamily="34" charset="-120"/>
              </a:rPr>
              <a:t>"In the long run, we're all dead. But game theory helps us navigate the short run more wisely."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Theory</dc:title>
  <dc:subject>Game Theory</dc:subject>
  <dc:creator>Kimi</dc:creator>
  <cp:lastModifiedBy>Kimi</cp:lastModifiedBy>
  <cp:revision>1</cp:revision>
  <dcterms:created xsi:type="dcterms:W3CDTF">2026-03-18T11:54:39Z</dcterms:created>
  <dcterms:modified xsi:type="dcterms:W3CDTF">2026-03-18T11:54:39Z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{"Label":"Game Theory","ContentProducer":"001191110108MACG2KBH8F10000","ProduceID":"19d00906-6002-88af-8000-00001a6b51f9","ReservedCode1":"","ContentPropagator":"001191110108MACG2KBH8F20000","PropagateID":"19d00906-6002-88af-8000-00001a6b51f9","ReservedCode2":""}</vt:lpwstr>
  </property>
</Properties>
</file>